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MongoDB Schema Design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3517822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5F5F5F"/>
                </a:solidFill>
                <a:latin typeface="Aptos"/>
              </a:defRPr>
            </a:pPr>
            <a:r>
              <a:rPr dirty="0"/>
              <a:t> schema design and the Outlier Pattern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/>
              <a:t>Schema design determines how application data is organized, related, accessed, and updated in MongoDB.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/>
              <a:t>MongoDB uses a flexible document model, so schema design should be driven by application requirements rather than a rigid relational</a:t>
            </a:r>
            <a:r>
              <a:rPr lang="en-IN" dirty="0"/>
              <a:t> </a:t>
            </a:r>
            <a:r>
              <a:rPr dirty="0"/>
              <a:t>table</a:t>
            </a:r>
            <a:r>
              <a:rPr lang="en-IN" dirty="0"/>
              <a:t> </a:t>
            </a:r>
            <a:r>
              <a:rPr dirty="0"/>
              <a:t>first approach.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/>
              <a:t>This presentation covers core schema design principles and explains the Outlier Pattern with examples, benefits, limitations, and use cases.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What Is Schema Design?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A MongoDB schema describes the structure of documents stored in a collection.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A document can contain scalar fields, nested documents, and arrays.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MongoDB does not require every document in a collection to have exactly the same fields.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Good schema design focuses on how data will be read, written, updated, and related by the application.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The goal is to make common operations efficient while keeping documents manageable and understandable.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Why Schema Design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3580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Performance: the schema affects how many queries are required and how much data must be read or transferred.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Scalability: a suitable design helps documents and collections grow without creating bottlenecks.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Maintainability: clear document structures make application development and data management easier.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Consistency: the design should support appropriate validation and predictable application behavior.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Flexibility: MongoDB allows embedded data and references, so the design can reflect the application's access patterns.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Principle 1: Design for How Data Is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89920" cy="2759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Start with the application's most common queries and operations.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Ask: What data is normally requested together?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Ask: Which fields are frequently updated?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Ask: Which relationships are one-to-one, one-to-many, or many-to-many?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Ask: How large can arrays or embedded structures become?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Example: If a student profile and address are almost always displayed together, embedding the address can be convenient.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Principle 2: Embed Related Data When Appropriate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89920" cy="2926080"/>
          </a:xfrm>
          <a:prstGeom prst="roundRect">
            <a:avLst/>
          </a:prstGeom>
          <a:solidFill>
            <a:srgbClr val="F2F7FC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490472"/>
            <a:ext cx="103327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  <a:latin typeface="Consolas"/>
              </a:defRPr>
            </a:pPr>
            <a:r>
              <a:t>// Student with embedded address</a:t>
            </a:r>
            <a:br/>
            <a:r>
              <a:t>{</a:t>
            </a:r>
            <a:br/>
            <a:r>
              <a:t>  _id: 101,</a:t>
            </a:r>
            <a:br/>
            <a:r>
              <a:t>  name: "Anita",</a:t>
            </a:r>
            <a:br/>
            <a:r>
              <a:t>  course: "AIML",</a:t>
            </a:r>
            <a:br/>
            <a:r>
              <a:t>  address: {</a:t>
            </a:r>
            <a:br/>
            <a:r>
              <a:t>    city: "Jaipur",</a:t>
            </a:r>
            <a:br/>
            <a:r>
              <a:t>    state: "Rajasthan",</a:t>
            </a:r>
            <a:br/>
            <a:r>
              <a:t>    pin: 303007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262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Embedding keeps closely related data in one document.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It can reduce the need for additional queries or application-side joins.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It is especially useful when the embedded data is usually accessed with its parent.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Avoid embedding when the nested data can grow without a practical bound or is independently accessed and updated.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Principle 3: Use References When Data Is Shared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89920" cy="2926080"/>
          </a:xfrm>
          <a:prstGeom prst="roundRect">
            <a:avLst/>
          </a:prstGeom>
          <a:solidFill>
            <a:srgbClr val="F2F7FC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490472"/>
            <a:ext cx="1033272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32323"/>
                </a:solidFill>
                <a:latin typeface="Consolas"/>
              </a:defRPr>
            </a:pPr>
            <a:r>
              <a:t>// Students collection</a:t>
            </a:r>
            <a:br/>
            <a:r>
              <a:t>{ _id: 101, name: "Anita", department_id: 10 }</a:t>
            </a:r>
            <a:br/>
            <a:br/>
            <a:r>
              <a:t>// Departments collection</a:t>
            </a:r>
            <a:br/>
            <a:r>
              <a:t>{ _id: 10, name: "Artificial Intelligence" 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262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References store a relationship using an identifier instead of copying the complete related document.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Useful when related data is large, shared by many documents, or changes independently.</a:t>
            </a:r>
          </a:p>
          <a:p>
            <a:pPr>
              <a:spcAft>
                <a:spcPts val="800"/>
              </a:spcAft>
              <a:defRPr sz="1600">
                <a:solidFill>
                  <a:srgbClr val="232323"/>
                </a:solidFill>
                <a:latin typeface="Aptos"/>
              </a:defRPr>
            </a:pPr>
            <a:r>
              <a:t>Trade-off: retrieving complete related information may require additional queries or aggregation with $lookup.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Principle 4: Avoid Unbounded Arrays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An array that grows continuously can make a document very large and difficult to manage.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Large documents can increase read/write cost and may approach MongoDB's BSON document size limit.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Example of a risky design: storing every comment ever received inside one product document.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Possible alternative: store comments as separate documents and reference the product.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The correct choice depends on access patterns, expected growth, and application requirements.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Principle 5: Consider Read and Write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Read-heavy workloads may benefit from storing commonly retrieved data together.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Write-heavy or frequently changing data may benefit from separating independently updated information.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Consider whether an operation should update one document or many documents.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Consider indexing fields used frequently in filters, sorting, and joins/lookup operations.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Schema design and indexing should be considered together rather than independently.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Principle 6: Keep Documents Focused and Manageable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Avoid duplicating large amounts of data unless the performance benefit justifies it.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Store data together when it has a strong lifecycle relationship.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Separate data when it has a different lifecycle, access frequency, or growth pattern.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Use validation where appropriate to maintain required field types and structures.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A good schema balances performance, storage, consistency, and simplicity.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Schema Design Decision: Embed or Reference?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EMBED when: data is tightly related; data is usually read together; the embedded portion is bounded; and atomic single-document updates are useful.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REFERENCE when: data is shared; related data is large; it grows independently; or it is commonly accessed separately.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There is no universal rule: choose according to actual application access patterns.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The same application may use both embedding and references in different collections.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What Is the Outlier Pattern?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 Outlier Pattern is a MongoDB schema design pattern for handling a small number of documents that have unusually large or exceptional amounts of related data.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Most documents follow the normal structure, while a few 'outlier' documents require special treatment.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Instead of allowing an exceptional document to grow without bound, the design can move the excess data into separate documents.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This preserves efficient access for normal documents while preventing extreme cases from damaging the overall schema.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Outlier Pattern: Basic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89920" cy="4480560"/>
          </a:xfrm>
          <a:prstGeom prst="roundRect">
            <a:avLst/>
          </a:prstGeom>
          <a:solidFill>
            <a:srgbClr val="F2F7FC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490472"/>
            <a:ext cx="10332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t>// Normal book document</a:t>
            </a:r>
            <a:br/>
            <a:r>
              <a:t>{</a:t>
            </a:r>
            <a:br/>
            <a:r>
              <a:t>  _id: 1,</a:t>
            </a:r>
            <a:br/>
            <a:r>
              <a:t>  title: "MongoDB Basics",</a:t>
            </a:r>
            <a:br/>
            <a:r>
              <a:t>  authors: ["A", "B"],</a:t>
            </a:r>
            <a:br/>
            <a:r>
              <a:t>  reviews: ["Good", "Useful", "Clear"]</a:t>
            </a:r>
            <a:br/>
            <a:r>
              <a:t>}</a:t>
            </a:r>
            <a:br/>
            <a:br/>
            <a:r>
              <a:t>// Outlier: unusually many reviews</a:t>
            </a:r>
            <a:br/>
            <a:r>
              <a:t>{</a:t>
            </a:r>
            <a:br/>
            <a:r>
              <a:t>  _id: 2,</a:t>
            </a:r>
            <a:br/>
            <a:r>
              <a:t>  title: "Popular MongoDB Guide",</a:t>
            </a:r>
            <a:br/>
            <a:r>
              <a:t>  authors: ["A"],</a:t>
            </a:r>
            <a:br/>
            <a:r>
              <a:t>  reviews: ["review1", "review2", "..."],</a:t>
            </a:r>
            <a:br/>
            <a:r>
              <a:t>  hasMoreReviews: true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9788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Most books keep a small, bounded reviews array.</a:t>
            </a:r>
          </a:p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The exceptional book is marked as an outlier when its related data becomes unusually large.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Outlier Pattern: Moving Excess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10789920" cy="4663440"/>
          </a:xfrm>
          <a:prstGeom prst="roundRect">
            <a:avLst/>
          </a:prstGeom>
          <a:solidFill>
            <a:srgbClr val="F2F7FC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444751"/>
            <a:ext cx="10332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323"/>
                </a:solidFill>
                <a:latin typeface="Consolas"/>
              </a:defRPr>
            </a:pPr>
            <a:r>
              <a:t>// Main document for the outlier</a:t>
            </a:r>
            <a:br/>
            <a:r>
              <a:t>{</a:t>
            </a:r>
            <a:br/>
            <a:r>
              <a:t>  _id: 2,</a:t>
            </a:r>
            <a:br/>
            <a:r>
              <a:t>  title: "Popular MongoDB Guide",</a:t>
            </a:r>
            <a:br/>
            <a:r>
              <a:t>  reviews: ["review1", "review2", "...", "review100"],</a:t>
            </a:r>
            <a:br/>
            <a:r>
              <a:t>  hasMoreReviews: true</a:t>
            </a:r>
            <a:br/>
            <a:r>
              <a:t>}</a:t>
            </a:r>
            <a:br/>
            <a:br/>
            <a:r>
              <a:t>// Additional review documents</a:t>
            </a:r>
            <a:br/>
            <a:r>
              <a:t>{</a:t>
            </a:r>
            <a:br/>
            <a:r>
              <a:t>  bookId: 2,</a:t>
            </a:r>
            <a:br/>
            <a:r>
              <a:t>  reviews: ["review101", "review102", "review103"]</a:t>
            </a:r>
            <a:br/>
            <a:r>
              <a:t>}</a:t>
            </a:r>
            <a:br/>
            <a:br/>
            <a:r>
              <a:t>{</a:t>
            </a:r>
            <a:br/>
            <a:r>
              <a:t>  bookId: 2,</a:t>
            </a:r>
            <a:br/>
            <a:r>
              <a:t>  reviews: ["review104", "review105"]</a:t>
            </a:r>
            <a:br/>
            <a: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893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The parent document remains useful for common reads, while overflow data is stored separately.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Outlier Pattern: Step-by-Step Working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1. Identify the normal document structure and expected size.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2. Monitor for documents whose related arrays or nested data become unusually large.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3. Keep a manageable portion in the main document.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4. Store additional related data in separate documents linked by the parent document's identifier.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5. Use a flag or field such as hasMoreData to indicate that overflow data exists.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6. The application reads the main document first and retrieves overflow data only when required.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Outlier Pattern: 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Prevents a small number of exceptional documents from becoming excessively large.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Keeps the common case simple and efficient.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Reduces the impact of unbounded arrays on normal document access.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Allows overflow information to be queried separately when needed.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Provides a practical compromise between full embedding and fully normalized/reference-based design.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Useful when outliers are rare rather than the normal state.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Outlier Pattern: Disadvantages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Application logic becomes more complex because it must detect and handle outliers.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Retrieving the complete data for an outlier may require additional queries.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The schema contains two related storage patterns: normal embedded data and overflow data.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The application must maintain the relationship between the main document and overflow documents correctly.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If most documents become outliers, the pattern may no longer be appropriate.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When Should You Use the Outlier Pattern?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Use it when only a small percentage of documents have unusually large related arrays or nested data.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Use it when the majority of reads benefit from keeping the common data in the parent document.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Use it when a bounded embedded structure becomes exceptional for a few records.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Typical conceptual examples include highly reviewed products, extremely popular posts, or entities with unusually many related events.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t>Do not use it simply because a collection is large; the issue is unusually large individual documents.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Outlier Pattern vs. Other Schema Choices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Full embedding: simplest reads, but can be risky when embedded data grows without bounds.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Full referencing: controls document size, but may require additional queries for common reads.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Outlier Pattern: keeps normal cases embedded while moving exceptional overflow data separately.</a:t>
            </a:r>
          </a:p>
          <a:p>
            <a:pPr>
              <a:spcAft>
                <a:spcPts val="8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Therefore, the Outlier Pattern is a hybrid strategy designed specifically for rare exceptional documents.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t>Practical MongoDB Query Example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25880"/>
            <a:ext cx="10789920" cy="4389120"/>
          </a:xfrm>
          <a:prstGeom prst="roundRect">
            <a:avLst/>
          </a:prstGeom>
          <a:solidFill>
            <a:srgbClr val="F2F7FC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490472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323"/>
                </a:solidFill>
                <a:latin typeface="Consolas"/>
              </a:defRPr>
            </a:pPr>
            <a:r>
              <a:t>// Find documents that contain overflow data</a:t>
            </a:r>
            <a:br/>
            <a:r>
              <a:t>db.books.find({ hasMoreReviews: true })</a:t>
            </a:r>
            <a:br/>
            <a:br/>
            <a:r>
              <a:t>// Find overflow documents for a book</a:t>
            </a:r>
            <a:br/>
            <a:r>
              <a:t>db.bookReviews.find({ bookId: 2 })</a:t>
            </a:r>
            <a:br/>
            <a:br/>
            <a:r>
              <a:t>// Retrieve a limited number of reviews</a:t>
            </a:r>
            <a:br/>
            <a:r>
              <a:t>db.books.find(</a:t>
            </a:r>
            <a:br/>
            <a:r>
              <a:t>  { _id: 2 },</a:t>
            </a:r>
            <a:br/>
            <a:r>
              <a:t>  { title: 1, reviews: { $slice: 10 } }</a:t>
            </a:r>
            <a:br/>
            <a:r>
              <a:t>)</a:t>
            </a:r>
            <a:br/>
            <a:br/>
            <a:r>
              <a:t>// Index the reference field for efficient lookup</a:t>
            </a:r>
            <a:br/>
            <a:r>
              <a:t>db.bookReviews.createIndex({ bookId: 1 })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89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$slice can limit the number of array elements returned from a document projection</a:t>
            </a:r>
            <a:r>
              <a:rPr dirty="0"/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56032"/>
            <a:ext cx="17370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 Display"/>
              </a:defRPr>
            </a:pPr>
            <a:r>
              <a:rPr dirty="0"/>
              <a:t>Summary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Schema design should begin with application access patterns, not only with data structure.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Embed closely related, bounded data that is commonly accessed together.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Use references for large, shared, independently changing, or separately accessed data.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Avoid unbounded arrays and excessively large documents.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The Outlier Pattern handles rare documents whose related data grows much larger than normal.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It combines the benefits of embedding for common cases with separate storage for exceptional overflow data.</a:t>
            </a:r>
          </a:p>
          <a:p>
            <a:pPr>
              <a:spcAft>
                <a:spcPts val="800"/>
              </a:spcAft>
              <a:defRPr sz="1700">
                <a:solidFill>
                  <a:srgbClr val="232323"/>
                </a:solidFill>
                <a:latin typeface="Aptos"/>
              </a:defRPr>
            </a:pPr>
            <a:r>
              <a:rPr sz="2000" dirty="0"/>
              <a:t>Always evaluate performance, growth, consistency, and application complexity before selecting a schema pattern.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F5F5F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1828</Words>
  <Application>Microsoft Office PowerPoint</Application>
  <PresentationFormat>Widescreen</PresentationFormat>
  <Paragraphs>132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Dr. Arunangshu Pal [MU - Jaipur]</cp:lastModifiedBy>
  <cp:revision>4</cp:revision>
  <dcterms:created xsi:type="dcterms:W3CDTF">2013-01-27T09:14:16Z</dcterms:created>
  <dcterms:modified xsi:type="dcterms:W3CDTF">2026-08-13T05:04:06Z</dcterms:modified>
  <cp:category/>
</cp:coreProperties>
</file>