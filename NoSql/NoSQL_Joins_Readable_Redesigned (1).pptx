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49808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A43"/>
                </a:solidFill>
              </a:rPr>
              <a:t>Joins Allowed in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02A43"/>
                </a:solidFill>
              </a:rPr>
              <a:t>NoSQL Databases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MongoDB • Couchbase SQL++ • Azure Cosmos DB • Neo4j • Cassandra-style alternatives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" y="3063240"/>
            <a:ext cx="544068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Readable redesigned lecture deck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Definitions • queries • examples • case studies • pros &amp; cons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35240" y="777240"/>
            <a:ext cx="1691640" cy="8229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Document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Collection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46920" y="777240"/>
            <a:ext cx="1691640" cy="822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Graph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Nodes &amp; Edges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35240" y="1965960"/>
            <a:ext cx="169164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Key–Value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Access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46920" y="1965960"/>
            <a:ext cx="1691640" cy="822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Wide Column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58200" y="1600200"/>
            <a:ext cx="0" cy="36576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469880" y="1600200"/>
            <a:ext cx="0" cy="36576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26880" y="1188720"/>
            <a:ext cx="3200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26880" y="2377440"/>
            <a:ext cx="3200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3152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Course focus: know which joins are truly supported, when to use them, and when to redesign the schema.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FROM SQL THINKING TO NOSQL MODELING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Learning Outcomes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41148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53312" y="1271016"/>
            <a:ext cx="6583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Compare join techniques across major NoSQL models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41148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020824"/>
            <a:ext cx="6583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Explain why NoSQL joins are limited or avoided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77240" y="2825496"/>
            <a:ext cx="41148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53312" y="2770632"/>
            <a:ext cx="6583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Write MongoDB $lookup and $graphLookup queries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77240" y="3575304"/>
            <a:ext cx="41148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53312" y="3520440"/>
            <a:ext cx="6583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Use recursive, graph-style, and application-side joins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77240" y="4325112"/>
            <a:ext cx="41148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53312" y="4270248"/>
            <a:ext cx="6583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</a:rPr>
              <a:t>Choose embed, reference, join, or denormalize for a use case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229600" y="1417320"/>
            <a:ext cx="3108960" cy="1143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1D4E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Main classroom question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Can we use SQL-style joins in NoSQL?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83880" y="2880360"/>
            <a:ext cx="34747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</a:rPr>
              <a:t>Yes, in selected databases such as MongoDB and Couchbase — but support is not universal. Many NoSQL databases intentionally avoid joins to protect scalability and low-latency access.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77240" y="5577840"/>
            <a:ext cx="10698480" cy="512064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</a:rPr>
              <a:t>Better question: join at query time or model data differently?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CORE DESIGN IDEA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Why Joins Are Different in NoSQL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2468880" cy="46863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Relational DBMS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82112" y="1389888"/>
            <a:ext cx="2468880" cy="46863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NoSQL DBMS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858518"/>
            <a:ext cx="2468880" cy="46863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Normalization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82112" y="1858518"/>
            <a:ext cx="2468880" cy="46863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Query pattern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327148"/>
            <a:ext cx="2468880" cy="46863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Foreign keys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82112" y="2327148"/>
            <a:ext cx="2468880" cy="46863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Data locality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2795778"/>
            <a:ext cx="2468880" cy="46863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JOIN query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82112" y="2795778"/>
            <a:ext cx="2468880" cy="46863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Fast read path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1389888"/>
            <a:ext cx="5230368" cy="7132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891B2"/>
                </a:solidFill>
              </a:rPr>
              <a:t>NoSQL systems optimize for scale, flexible schema, and access-pattern-first design.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172200" y="2423160"/>
            <a:ext cx="50749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11827"/>
                </a:solidFill>
              </a:rPr>
              <a:t>Joins are possible in some systems, but they are less central than in SQL.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11827"/>
                </a:solidFill>
              </a:rPr>
              <a:t>Repeated cross-collection joins can increase latency, memory use, and sharding cost.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11827"/>
                </a:solidFill>
              </a:rPr>
              <a:t>Many NoSQL designs duplicate stable fields to avoid runtime joins.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713232" y="5349240"/>
            <a:ext cx="10698480" cy="64008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B45309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5309"/>
                </a:solidFill>
              </a:rPr>
              <a:t>Teaching analogy: SQL asks “how are tables related?”  NoSQL asks “which screen or API must be served fastest?”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ALLOWED DOES NOT ALWAYS MEAN RECOMMENDED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Join Support Across NoSQL Families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1508760" cy="69342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NoSQL family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2057400" cy="69342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Typical products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977640" y="1234440"/>
            <a:ext cx="3474720" cy="69342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Join support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452360" y="1234440"/>
            <a:ext cx="4297680" cy="69342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Common strategy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11480" y="1927860"/>
            <a:ext cx="150876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Document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920240" y="1927860"/>
            <a:ext cx="205740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MongoDB, Couchbase, Cosmos DB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977640" y="1927860"/>
            <a:ext cx="347472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$lookup; SQL++ JOIN; Cosmos DB intra-item self JOIN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452360" y="1927860"/>
            <a:ext cx="429768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Embed, reference, computed values, selective lookup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11480" y="2621280"/>
            <a:ext cx="1508760" cy="6934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Graph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920240" y="2621280"/>
            <a:ext cx="2057400" cy="6934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Neo4j, Memgraph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977640" y="2621280"/>
            <a:ext cx="3474720" cy="6934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Pattern matching and traversal are native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452360" y="2621280"/>
            <a:ext cx="4297680" cy="6934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Model relationships as edges; traverse paths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11480" y="3314700"/>
            <a:ext cx="150876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Wide-column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920240" y="3314700"/>
            <a:ext cx="205740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Cassandra, ScyllaDB, HBase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977640" y="3314700"/>
            <a:ext cx="347472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Usually no server-side joins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452360" y="3314700"/>
            <a:ext cx="429768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One-query-per-table; denormalized read tables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11480" y="4008120"/>
            <a:ext cx="1508760" cy="6934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Key–value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920240" y="4008120"/>
            <a:ext cx="2057400" cy="6934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DynamoDB, Redis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977640" y="4008120"/>
            <a:ext cx="3474720" cy="6934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No relational joins in core path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452360" y="4008120"/>
            <a:ext cx="4297680" cy="6934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Single-table design, composite keys, application join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11480" y="4701540"/>
            <a:ext cx="150876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Search / analytics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1920240" y="4701540"/>
            <a:ext cx="205740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Elasticsearch, OpenSearch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977640" y="4701540"/>
            <a:ext cx="347472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Nested / parent-child / enrich alternatives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452360" y="4701540"/>
            <a:ext cx="4297680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Index documents for search/read pattern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49808" y="5705856"/>
            <a:ext cx="1069848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B91C1C"/>
                </a:solidFill>
              </a:rPr>
              <a:t>Check partitioning, indexes, document size, update frequency, and read latency before using a join.</a:t>
            </a:r>
            <a:endParaRPr lang="en-US" sz="158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CHOOSE WHERE RELATED DATA SHOULD LIVE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Relationship Modeling Before Joining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42316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Embed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4231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Place child data inside parent document.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Example: order with line items.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3474720" y="1417320"/>
            <a:ext cx="2423160" cy="5943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Reference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148840"/>
            <a:ext cx="24231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Store only IDs / foreign keys.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Example: order stores customerId.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355080" y="1417320"/>
            <a:ext cx="242316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Join / Lookup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55080" y="2148840"/>
            <a:ext cx="24231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Combine data at query time.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Example: $lookup orders → customers.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235440" y="1417320"/>
            <a:ext cx="2423160" cy="594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Denormalize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35440" y="2148840"/>
            <a:ext cx="24231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Duplicate fields needed for reads.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Example: order stores customerName.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86384" y="3931920"/>
            <a:ext cx="274320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2A4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Simple rule for students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526280"/>
            <a:ext cx="99669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</a:rPr>
              <a:t>Embed when data is read together and bounded in size.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</a:rPr>
              <a:t>Reference when the related entity is shared or changes independently.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</a:rPr>
              <a:t>Join when occasional cross-collection enrichment is required.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</a:rPr>
              <a:t>Denormalize when read speed is more important than write simplicity.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786384" y="5989320"/>
            <a:ext cx="10607040" cy="39319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B91C1C"/>
                </a:solidFill>
              </a:rPr>
              <a:t>Join is one option, not the default design target.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SAME BUSINESS RELATION, DIFFERENT IMPLEMENTATION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Conceptual Join Types Used in NoSQL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2057400" cy="620486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</a:rPr>
              <a:t>Pattern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2834640" y="1280160"/>
            <a:ext cx="4572000" cy="620486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</a:rPr>
              <a:t>Meaning in NoSQL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777240" y="1900646"/>
            <a:ext cx="20574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Left outer join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2834640" y="1900646"/>
            <a:ext cx="4572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$lookup keeps all left documents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777240" y="2521131"/>
            <a:ext cx="2057400" cy="62048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Inner join behavior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2834640" y="2521131"/>
            <a:ext cx="4572000" cy="62048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$lookup + $unwind / $match removes non-matches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777240" y="3141617"/>
            <a:ext cx="20574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Conditional join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2834640" y="3141617"/>
            <a:ext cx="4572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Join with filters using pipeline / SQL++ predicates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777240" y="3762103"/>
            <a:ext cx="2057400" cy="62048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Self / intra-document join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2834640" y="3762103"/>
            <a:ext cx="4572000" cy="62048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Join arrays inside the same document or item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777240" y="4382589"/>
            <a:ext cx="20574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Recursive / graph join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2834640" y="4382589"/>
            <a:ext cx="4572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$graphLookup or graph traversal path query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777240" y="5003074"/>
            <a:ext cx="2057400" cy="62048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Application join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2834640" y="5003074"/>
            <a:ext cx="4572000" cy="620486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11827"/>
                </a:solidFill>
              </a:rPr>
              <a:t>Fetch data separately and merge in service code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7818120" y="1325880"/>
            <a:ext cx="3383280" cy="15087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1D4E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D4ED8"/>
                </a:solidFill>
              </a:rPr>
              <a:t>MongoDB and Couchbase support several SQL-like patterns. Other NoSQL systems solve the same need through data modeling alternatives.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156448" y="3657600"/>
            <a:ext cx="160020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Business need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765792" y="3913632"/>
            <a:ext cx="47548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241280" y="3657600"/>
            <a:ext cx="146304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Database family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235440" y="4160520"/>
            <a:ext cx="0" cy="45720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458200" y="4617720"/>
            <a:ext cx="205740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Technique choice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KEEP ALL DOCUMENTS FROM THE MAIN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MongoDB Join 1: $lookup = Left Outer Join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61872"/>
            <a:ext cx="5074920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db.orders.aggregate([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$lookup: {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from: "customers",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localField: "customerId",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foreignField: "_id",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as: "customer"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}}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446520" y="1353312"/>
            <a:ext cx="2057400" cy="7132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orders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{orderId, customerId}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0" y="1353312"/>
            <a:ext cx="2057400" cy="7132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customers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{_id, name, city}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1700784"/>
            <a:ext cx="6400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46520" y="2487168"/>
            <a:ext cx="47548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orderId: 501, customerId: 1, total: 2500,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customer: [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 _id: 1, name: "Asha", city: "Jaipur"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77240" y="4041648"/>
            <a:ext cx="1056132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Use when the main collection must remain complete even if foreign data is missing.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Example: show all orders; customer details may or may not exist.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Index the foreignField for better lookup performance.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Advantage: easy cross-collection enrichment.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Disadvantage: larger result and possible performance cost on large data.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SIMULATE INNER JOIN AFTER $LOOKUP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MongoDB Join 2: Inner Join Behavior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5074920" cy="2423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db.orders.aggregate([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$lookup: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from: "customers",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localField: "customerId",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foreignField: "_id",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as: "customer"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}},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$unwind: "$customer"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46520" y="1417320"/>
            <a:ext cx="196596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</a:rPr>
              <a:t>orders with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</a:rPr>
              <a:t>matching customer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8641080" y="1463040"/>
            <a:ext cx="141732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matched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intersection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0259568" y="1417320"/>
            <a:ext cx="1600200" cy="6858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</a:rPr>
              <a:t>customers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</a:rPr>
              <a:t>matched by _id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8412480" y="1755648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0" y="1755648"/>
            <a:ext cx="20116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46520" y="2834640"/>
            <a:ext cx="51663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Only documents with at least one match remain.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Useful for reports where unmatched records should be excluded.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preserveNullAndEmptyArrays only when you want left-join behavior after unwind.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Risk: if the joined array has many elements, $unwind multiplies output documents.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257800"/>
            <a:ext cx="10607040" cy="5760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5803D"/>
                </a:solidFill>
              </a:rPr>
              <a:t>When to use: validated records, audit reports, active enrollments, paid orders with valid user records.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MULTI-FIELD MATCHING AND FILTERED LOOKUP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MongoDB Join 3: Pipeline / Conditional Join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6035040" cy="4160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db.orders.aggregate([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$lookup: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from: "inventory",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let: { pid: "$productId", wh: "$warehouse" 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pipeline: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{ $match: { $expr: { $and: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{ $eq: ["$productId", "$$pid"] 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{ $eq: ["$warehouse", "$$wh"] 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{ $gte: ["$stock", 1]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]}}}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as: "availableStock"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903720" y="1280160"/>
            <a:ext cx="33375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2A43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What it does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95160" y="1865376"/>
            <a:ext cx="44805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</a:rPr>
              <a:t>Matches on productId and warehouse together.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</a:rPr>
              <a:t>Filters only inventory rows where stock is available.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11827"/>
                </a:solidFill>
              </a:rPr>
              <a:t>Performs join and filtering inside the foreign collection pipeline.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0" y="3886200"/>
            <a:ext cx="182880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</a:rPr>
              <a:t>Order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</a:rPr>
              <a:t>productId + warehouse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8961120" y="4233672"/>
            <a:ext cx="62179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582912" y="3886200"/>
            <a:ext cx="178308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</a:rPr>
              <a:t>Inventory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</a:rPr>
              <a:t>stock ≥ 1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7040880" y="5257800"/>
            <a:ext cx="416052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</a:rPr>
              <a:t>Advantage: precise filtering before output.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</a:rPr>
              <a:t>Disadvantage: careful index design is required.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WHEN ONE-LEVEL LOOKUP IS NOT ENOUGH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MongoDB Join 4: Recursive Join with $graphLookup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88720"/>
            <a:ext cx="53492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db.employees.aggregate([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$match: { name: "CEO" } },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$graphLookup: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from: "employees",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startWith: "$_id",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connectFromField: "_id",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connectToField: "managerId",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as: "subordinates",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maxDepth: 3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}}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8732520" y="1874520"/>
            <a:ext cx="-822960" cy="73152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32520" y="1874520"/>
            <a:ext cx="914400" cy="73152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909560" y="3246120"/>
            <a:ext cx="-758952" cy="73152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09560" y="3246120"/>
            <a:ext cx="850392" cy="73152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46920" y="3246120"/>
            <a:ext cx="667512" cy="73152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046720" y="1371600"/>
            <a:ext cx="137160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606040"/>
            <a:ext cx="173736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Manager 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0" y="2606040"/>
            <a:ext cx="173736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Manager 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977640"/>
            <a:ext cx="1234440" cy="457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Lead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3977640"/>
            <a:ext cx="1325880" cy="457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Engineer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46920" y="3977640"/>
            <a:ext cx="1325880" cy="457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Analyst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106984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11827"/>
                </a:solidFill>
              </a:rPr>
              <a:t>Use for organization charts, category trees, referral chains, routes, bill-of-materials, and dependency graphs.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11827"/>
                </a:solidFill>
              </a:rPr>
              <a:t>Limit recursion depth to control cost.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11827"/>
                </a:solidFill>
              </a:rPr>
              <a:t>Output is usually an array of reachable documents, not a perfectly nested tree.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AUDIT-STYLE COMPLETENESS FROM BOTH SIDES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MongoDB Join 5: Full-Outer-Like Result with $unionWith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92024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A: customers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46120" y="1325880"/>
            <a:ext cx="219456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All customers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+ matched orders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92024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B: orders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2651760"/>
            <a:ext cx="219456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Unmatched orders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from right side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1664208"/>
            <a:ext cx="5029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2990088"/>
            <a:ext cx="5029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26480" y="1234440"/>
            <a:ext cx="5349240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Conceptual pipeline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db.customers.aggregate([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$lookup: { from: "orders", ... } },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$unionWith: {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coll: "orders",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pipeline: [ /* keep right-side unmatched */ ]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}}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105156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</a:rPr>
              <a:t>Use when you must report unmatched records from both collections.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</a:rPr>
              <a:t>Common in reconciliation, migration validation, and billing audits.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</a:rPr>
              <a:t>Requires careful duplicate handling and consistent output shape.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</a:rPr>
              <a:t>Advantage: supports audit-style completeness.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</a:rPr>
              <a:t>Disadvantage: more complex than SQL full outer join and may require extra grouping.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DESIGN FOR OPERATIONAL PAGE, ADMIN AUDIT, AND ANALYTICS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Case Study 1: E-Commerce Order View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43000"/>
            <a:ext cx="1088136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891B2"/>
                </a:solidFill>
              </a:rPr>
              <a:t>Business goal: show an order with customer, products, delivery status, and payment summary.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2377440" cy="533400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FFFFF"/>
                </a:solidFill>
              </a:rPr>
              <a:t>Requirement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4251960" cy="533400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FFFFF"/>
                </a:solidFill>
              </a:rPr>
              <a:t>Preferred NoSQL modeling choice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685800" y="2407920"/>
            <a:ext cx="237744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Show order line items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3063240" y="2407920"/>
            <a:ext cx="425196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Embed lineItems in order: bounded and read together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685800" y="2941320"/>
            <a:ext cx="2377440" cy="5334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Show customer name, tier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3063240" y="2941320"/>
            <a:ext cx="4251960" cy="5334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Extended reference in order; avoid join every time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237744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Show latest product price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3063240" y="3474720"/>
            <a:ext cx="425196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Reference productId; lookup only if real-time price needed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85800" y="4008120"/>
            <a:ext cx="2377440" cy="5334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Show total amount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3063240" y="4008120"/>
            <a:ext cx="4251960" cy="5334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Computed pattern: store orderTotal and update on change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85800" y="4541520"/>
            <a:ext cx="237744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Audit payment state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3063240" y="4541520"/>
            <a:ext cx="425196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$lookup payment record when needed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7909560" y="1874520"/>
            <a:ext cx="123444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orders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0" y="1874520"/>
            <a:ext cx="1508760" cy="4114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customers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09560" y="2606040"/>
            <a:ext cx="1234440" cy="411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products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2606040"/>
            <a:ext cx="150876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payments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22208" y="2286000"/>
            <a:ext cx="0" cy="32004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85832" y="2286000"/>
            <a:ext cx="0" cy="32004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0" y="2075688"/>
            <a:ext cx="1828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2816352"/>
            <a:ext cx="1828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726680" y="3584448"/>
            <a:ext cx="374904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111827"/>
                </a:solidFill>
              </a:rPr>
              <a:t>Operational order page: embed + extended reference for speed.</a:t>
            </a:r>
            <a:endParaRPr lang="en-US" sz="1360" dirty="0"/>
          </a:p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111827"/>
                </a:solidFill>
              </a:rPr>
              <a:t>Admin audit page: joins are acceptable because it is less frequent.</a:t>
            </a:r>
            <a:endParaRPr lang="en-US" sz="1360" dirty="0"/>
          </a:p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111827"/>
                </a:solidFill>
              </a:rPr>
              <a:t>Analytics: use pre-aggregated views or a warehouse instead of repeated live joins.</a:t>
            </a:r>
            <a:endParaRPr lang="en-US" sz="1360" dirty="0"/>
          </a:p>
        </p:txBody>
      </p:sp>
      <p:sp>
        <p:nvSpPr>
          <p:cNvPr id="27" name="Text 25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FIRST-CLASS QUERY FEATURE OVER JSON DOCUMENTS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Couchbase SQL++: Document Joins with SQL-Like Syntax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07008"/>
            <a:ext cx="4892040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o.orderId, c.name, o.total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AS o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customers AS c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o.customerId = META(c).id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o.status = "PAID";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5989320" y="1188720"/>
            <a:ext cx="1143000" cy="55626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Join form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7132320" y="1188720"/>
            <a:ext cx="2240280" cy="55626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Simple meaning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9372600" y="1188720"/>
            <a:ext cx="1965960" cy="55626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Typical use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5989320" y="1744980"/>
            <a:ext cx="1143000" cy="5562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ANSI JOIN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7132320" y="1744980"/>
            <a:ext cx="2240280" cy="5562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Join sources using ON conditions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9372600" y="1744980"/>
            <a:ext cx="1965960" cy="5562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Flexible document relationship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5989320" y="2301240"/>
            <a:ext cx="1143000" cy="5562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Lookup JOIN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7132320" y="2301240"/>
            <a:ext cx="2240280" cy="5562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Join by document key / primary key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9372600" y="2301240"/>
            <a:ext cx="1965960" cy="5562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Fast key-based lookup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5989320" y="2857500"/>
            <a:ext cx="1143000" cy="5562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Index JOIN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7132320" y="2857500"/>
            <a:ext cx="2240280" cy="5562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Use index on child side to join back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372600" y="2857500"/>
            <a:ext cx="1965960" cy="5562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Parent-child access pattern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5989320" y="3413760"/>
            <a:ext cx="1143000" cy="5562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NEST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7132320" y="3413760"/>
            <a:ext cx="2240280" cy="5562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Join and keep right-side results as array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9372600" y="3413760"/>
            <a:ext cx="1965960" cy="5562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Produce nested JSON result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5989320" y="3970020"/>
            <a:ext cx="1143000" cy="5562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UNNEST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7132320" y="3970020"/>
            <a:ext cx="2240280" cy="5562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Flatten arrays inside documents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9372600" y="3970020"/>
            <a:ext cx="1965960" cy="55626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Query line items, tags, nested objects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777240" y="3246120"/>
            <a:ext cx="48006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70" dirty="0">
                <a:solidFill>
                  <a:srgbClr val="111827"/>
                </a:solidFill>
              </a:rPr>
              <a:t>Use when a document database needs SQL-like querying over related JSON documents.</a:t>
            </a:r>
            <a:endParaRPr lang="en-US" sz="1470" dirty="0"/>
          </a:p>
          <a:p>
            <a:pPr marL="152400" indent="-152400">
              <a:buSzPct val="100000"/>
              <a:buChar char="•"/>
            </a:pPr>
            <a:r>
              <a:rPr lang="en-US" sz="1470" dirty="0">
                <a:solidFill>
                  <a:srgbClr val="111827"/>
                </a:solidFill>
              </a:rPr>
              <a:t>Advantage: expressive and familiar for SQL users.</a:t>
            </a:r>
            <a:endParaRPr lang="en-US" sz="1470" dirty="0"/>
          </a:p>
          <a:p>
            <a:pPr marL="152400" indent="-152400">
              <a:buSzPct val="100000"/>
              <a:buChar char="•"/>
            </a:pPr>
            <a:r>
              <a:rPr lang="en-US" sz="1470" dirty="0">
                <a:solidFill>
                  <a:srgbClr val="111827"/>
                </a:solidFill>
              </a:rPr>
              <a:t>Disadvantage: join cost can grow with weak indexing or high-cardinality relationships.</a:t>
            </a:r>
            <a:endParaRPr lang="en-US" sz="1470" dirty="0"/>
          </a:p>
        </p:txBody>
      </p:sp>
      <p:sp>
        <p:nvSpPr>
          <p:cNvPr id="25" name="Text 23"/>
          <p:cNvSpPr/>
          <p:nvPr/>
        </p:nvSpPr>
        <p:spPr>
          <a:xfrm>
            <a:off x="822960" y="5532120"/>
            <a:ext cx="1042416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B45309"/>
                </a:solidFill>
              </a:rPr>
              <a:t>Data modeling still matters even when joins are supported.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GROUPED RELATED DATA VS FLATTENED ARRAY ROWS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Couchbase NEST and UNNEST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70432"/>
            <a:ext cx="5623560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NEST: keep related orders as an array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c.name, orders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AS c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 orders AS orders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orders.customerId = META(c).id;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UNNEST: query embedded order lines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o.orderId, item.productId, item.qty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AS o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UNNEST o.items AS item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item.qty &gt;= 2;</a:t>
            </a:r>
            <a:endParaRPr lang="en-US" sz="1060" dirty="0"/>
          </a:p>
        </p:txBody>
      </p:sp>
      <p:sp>
        <p:nvSpPr>
          <p:cNvPr id="6" name="Text 4"/>
          <p:cNvSpPr/>
          <p:nvPr/>
        </p:nvSpPr>
        <p:spPr>
          <a:xfrm>
            <a:off x="6720840" y="1325880"/>
            <a:ext cx="2194560" cy="7498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NEST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customer → [orders]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0" y="1325880"/>
            <a:ext cx="2194560" cy="7498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UNNEST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order.items → rows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29400" y="2514600"/>
            <a:ext cx="466344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 result shape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"Asha",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orders: [ {id:501}, {id:502} ] }</a:t>
            </a:r>
            <a:endParaRPr lang="en-US" sz="1010" dirty="0"/>
          </a:p>
          <a:p>
            <a:pPr indent="0" marL="0">
              <a:buNone/>
            </a:pP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UNNEST result shape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orderId: 501, productId: "P1", qty: 3 }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orderId: 501, productId: "P2", qty: 1 }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6720840" y="4956048"/>
            <a:ext cx="45262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Use NEST for API response documents.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Use UNNEST for filtering, analytics, and searching inside arrays.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Avoid unnesting very large arrays without limits or filters.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ARRAY EXPANSION INSIDE THE SAME ITEM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Azure Cosmos DB for NoSQL: Intra-Document Self JOIN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07008"/>
            <a:ext cx="4434840" cy="13533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p.name, s.size, s.stock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 IN p.sizes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s.stock &gt; 0</a:t>
            </a:r>
            <a:endParaRPr lang="en-US" sz="1510" dirty="0"/>
          </a:p>
        </p:txBody>
      </p:sp>
      <p:sp>
        <p:nvSpPr>
          <p:cNvPr id="6" name="Text 4"/>
          <p:cNvSpPr/>
          <p:nvPr/>
        </p:nvSpPr>
        <p:spPr>
          <a:xfrm>
            <a:off x="658368" y="2834640"/>
            <a:ext cx="443484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"id": "P101",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"name": "T-Shirt",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"sizes": [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{"size":"S", "stock":0},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{"size":"M", "stock":12}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5806440" y="1828800"/>
            <a:ext cx="2103120" cy="548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JOIN s IN p.sizes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38928" y="3337560"/>
            <a:ext cx="667512" cy="-123444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09560" y="2103120"/>
            <a:ext cx="576072" cy="96012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485632" y="2788920"/>
            <a:ext cx="278892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name:"T-Shirt", size:"M", stock:12 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06440" y="4251960"/>
            <a:ext cx="534924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111827"/>
                </a:solidFill>
              </a:rPr>
              <a:t>Use for flattening nested arrays within the same item.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111827"/>
                </a:solidFill>
              </a:rPr>
              <a:t>Good for product variants, ingredients, tags, measurements, and nested events.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111827"/>
                </a:solidFill>
              </a:rPr>
              <a:t>Do not treat it as a cross-container relational join.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111827"/>
                </a:solidFill>
              </a:rPr>
              <a:t>Advantage: simple array expansion inside JSON item.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111827"/>
                </a:solidFill>
              </a:rPr>
              <a:t>Disadvantage: not a general cross-document join; model related data carefully.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RELATIONSHIPS ARE STORED DIRECTLY AS EDGES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Graph Databases: Joins Become Traversals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07008"/>
            <a:ext cx="512064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(s:Student)-[:ENROLLED_IN]-&gt;(c:Course)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s.name = "Amit"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s.name, c.title;</a:t>
            </a:r>
            <a:endParaRPr lang="en-US" sz="136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132588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Student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Amit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023360" y="2834640"/>
            <a:ext cx="1325880" cy="594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Course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DBMS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423160" y="3127248"/>
            <a:ext cx="16002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487168" y="2807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[:ENROLLED_IN]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1207008"/>
            <a:ext cx="5166360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path = (a:Airport {code:"JAI"})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-[:ROUTE*1..3]-&gt;(b:Airport)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b.code, length(path);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77724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JAI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0" y="2788920"/>
            <a:ext cx="777240" cy="457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DEL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61120" y="2788920"/>
            <a:ext cx="777240" cy="457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BOM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149840" y="2788920"/>
            <a:ext cx="777240" cy="457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GOA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60920" y="3017520"/>
            <a:ext cx="4114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49640" y="3017520"/>
            <a:ext cx="4114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38360" y="3017520"/>
            <a:ext cx="4114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04672" y="4754880"/>
            <a:ext cx="10515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</a:rPr>
              <a:t>Use for many-to-many and multi-hop relationships: recommendations, fraud rings, routes, and social networks.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</a:rPr>
              <a:t>Advantage: relationship traversal is natural and expressive.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</a:rPr>
              <a:t>Disadvantage: not ideal for simple key-value access or massive unbounded path expansion.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PREDICTABLE DISTRIBUTED READS OVER RUNTIME JOINS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Wide-Column Databases: Cassandra-Style “No Joins”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28016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Question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03120" y="1673352"/>
            <a:ext cx="7315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834640" y="1325880"/>
            <a:ext cx="2011680" cy="6858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</a:rPr>
              <a:t>Table designed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</a:rPr>
              <a:t>for that query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4846320" y="1673352"/>
            <a:ext cx="7315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577840" y="1325880"/>
            <a:ext cx="182880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</a:rPr>
              <a:t>Single partition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</a:rPr>
              <a:t>read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7406640" y="1673352"/>
            <a:ext cx="7315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138160" y="1417320"/>
            <a:ext cx="169164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Fast response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5577840" cy="2423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Query needed: orders by customer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orders_by_customer (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customer_id text,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order_time timestamp,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order_id text,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total decimal,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customer_name text,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PRIMARY KEY (customer_id, order_time)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6766560" y="2761488"/>
            <a:ext cx="44805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111827"/>
                </a:solidFill>
              </a:rPr>
              <a:t>Store data in the shape needed by the query.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111827"/>
                </a:solidFill>
              </a:rPr>
              <a:t>Duplicate selected fields such as customer_name or product_name.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111827"/>
                </a:solidFill>
              </a:rPr>
              <a:t>Maintain multiple query tables for different access patterns.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111827"/>
                </a:solidFill>
              </a:rPr>
              <a:t>Advantage: predictable low-latency reads at scale.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111827"/>
                </a:solidFill>
              </a:rPr>
              <a:t>Disadvantage: duplicate data and more write/update complexity.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MERGE SEPARATE RESULT SETS IN SERVICE CODE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Application-Side Join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182880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API request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/customer-orders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42032" y="1755648"/>
            <a:ext cx="61264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154680" y="1417320"/>
            <a:ext cx="1600200" cy="6858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Fetch customer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by id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0" y="1755648"/>
            <a:ext cx="5486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303520" y="1417320"/>
            <a:ext cx="178308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Fetch orders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by customerId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86600" y="1755648"/>
            <a:ext cx="6400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26680" y="1417320"/>
            <a:ext cx="169164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Merge in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service code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418320" y="1755648"/>
            <a:ext cx="5943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12680" y="1508760"/>
            <a:ext cx="141732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JSON response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761488"/>
            <a:ext cx="548640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customer = await db.customers.findOne({_id: id});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orders = await db.orders.find({customerId: id});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 ...customer, orders };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6675120" y="2743200"/>
            <a:ext cx="2286000" cy="50292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When to use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0" y="2743200"/>
            <a:ext cx="2286000" cy="50292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Avoid when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0" y="3246120"/>
            <a:ext cx="22860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Small result sets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0" y="3246120"/>
            <a:ext cx="22860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Large many-to-many joins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0" y="3749040"/>
            <a:ext cx="2286000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Occasional admin screens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1120" y="3749040"/>
            <a:ext cx="2286000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High-volume user-facing pages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4251960"/>
            <a:ext cx="22860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Different data sources/services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1120" y="4251960"/>
            <a:ext cx="22860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Strict transaction consistency needed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75120" y="4754880"/>
            <a:ext cx="2286000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Caching is available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61120" y="4754880"/>
            <a:ext cx="2286000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Repeated N+1 query pattern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46988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B91C1C"/>
                </a:solidFill>
              </a:rPr>
              <a:t>Common risk: N+1 query problem — one query to get N documents, then N more queries to enrich them.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PREFER INDEX-TIME MODELING INSTEAD OF RUNTIME JOINS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Search-Oriented NoSQL: Nested and Parent–Child Alternatives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324612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Nested object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3063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Store arrays of structured objects inside the indexed document; query nested fields safely.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4453128" y="1325880"/>
            <a:ext cx="324612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Parent–child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44568" y="1965960"/>
            <a:ext cx="3063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Represent relationship between two indexed document types where full embedding is not suitable.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247888" y="1325880"/>
            <a:ext cx="324612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Enriched index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39328" y="1965960"/>
            <a:ext cx="3063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Copy searchable fields from related entities during indexing so search is fast.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534924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product: "Laptop",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brandName: "Dell",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categoryName: "Electronics",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reviews: [ {rating:5, text:"fast"} ]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6629400" y="3657600"/>
            <a:ext cx="45720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11827"/>
                </a:solidFill>
              </a:rPr>
              <a:t>Use for search pages, filtering, ranking, recommendations, and log exploration.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11827"/>
                </a:solidFill>
              </a:rPr>
              <a:t>Advantage: fast reads because data is prepared for the index.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11827"/>
                </a:solidFill>
              </a:rPr>
              <a:t>Disadvantage: duplicate data; index must be refreshed when source fields change.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EACH SCREEN NEEDS ITS OWN OPTIMIZED ACCESS PATTERN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Case Study 2: University Course Enrollment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1069848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0891B2"/>
                </a:solidFill>
              </a:rPr>
              <a:t>Goal: show each student with courses, faculty, marks, and attendance.</a:t>
            </a:r>
            <a:endParaRPr lang="en-US" sz="1570" dirty="0"/>
          </a:p>
        </p:txBody>
      </p:sp>
      <p:sp>
        <p:nvSpPr>
          <p:cNvPr id="6" name="Text 4"/>
          <p:cNvSpPr/>
          <p:nvPr/>
        </p:nvSpPr>
        <p:spPr>
          <a:xfrm>
            <a:off x="594360" y="1901952"/>
            <a:ext cx="2057400" cy="571500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FFFFF"/>
                </a:solidFill>
              </a:rPr>
              <a:t>Screen / report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2651760" y="1901952"/>
            <a:ext cx="3291840" cy="571500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FFFFF"/>
                </a:solidFill>
              </a:rPr>
              <a:t>Best technique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5943600" y="1901952"/>
            <a:ext cx="2651760" cy="571500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FFFFF"/>
                </a:solidFill>
              </a:rPr>
              <a:t>Reason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594360" y="2473452"/>
            <a:ext cx="2057400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Student profile page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651760" y="2473452"/>
            <a:ext cx="3291840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Embed current semester course summary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5943600" y="2473452"/>
            <a:ext cx="2651760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Read together; bounded count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94360" y="3044952"/>
            <a:ext cx="2057400" cy="5715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Course roster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651760" y="3044952"/>
            <a:ext cx="3291840" cy="5715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Denormalized enrollments_by_course table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5943600" y="3044952"/>
            <a:ext cx="2651760" cy="5715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Fast list by course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594360" y="3616452"/>
            <a:ext cx="2057400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Faculty workload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2651760" y="3616452"/>
            <a:ext cx="3291840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Join / lookup course → faculty occasionally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5943600" y="3616452"/>
            <a:ext cx="2651760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Admin report; less frequent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94360" y="4187952"/>
            <a:ext cx="2057400" cy="5715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Attendance dashboard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651760" y="4187952"/>
            <a:ext cx="3291840" cy="5715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Bucket pattern by student + month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943600" y="4187952"/>
            <a:ext cx="2651760" cy="5715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High-volume time-series data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94360" y="4759452"/>
            <a:ext cx="2057400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Transcript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2651760" y="4759452"/>
            <a:ext cx="3291840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Computed GPA/credits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5943600" y="4759452"/>
            <a:ext cx="2651760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11827"/>
                </a:solidFill>
              </a:rPr>
              <a:t>Avoid recalculating every page load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9006840" y="1901952"/>
            <a:ext cx="1874520" cy="38404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students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006840" y="2514600"/>
            <a:ext cx="1874520" cy="38404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enrollments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06840" y="3127248"/>
            <a:ext cx="187452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courses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06840" y="3739896"/>
            <a:ext cx="187452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faculty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006840" y="4352544"/>
            <a:ext cx="1874520" cy="38404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attendance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9808" y="5715000"/>
            <a:ext cx="1056132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B45309"/>
                </a:solidFill>
              </a:rPr>
              <a:t>Teaching conclusion: do not use one giant join for every page.</a:t>
            </a:r>
            <a:endParaRPr lang="en-US" sz="162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JOINING LIVE READINGS WITH METADATA, INCIDENTS, AND PREDICTIONS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Case Study 3: Intelligent Traffic Prediction System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07008"/>
            <a:ext cx="2148840" cy="57912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Need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2715768" y="1207008"/>
            <a:ext cx="3108960" cy="57912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Join/design choice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5824728" y="1207008"/>
            <a:ext cx="2743200" cy="57912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Why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66928" y="1786128"/>
            <a:ext cx="214884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Live dashboard per road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715768" y="1786128"/>
            <a:ext cx="310896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Extended reference road zone inside sensor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824728" y="1786128"/>
            <a:ext cx="274320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Avoid road lookup every refresh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66928" y="2365248"/>
            <a:ext cx="2148840" cy="5791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Historical prediction training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2715768" y="2365248"/>
            <a:ext cx="3108960" cy="5791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Offline analytics join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5824728" y="2365248"/>
            <a:ext cx="2743200" cy="5791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Batch job can join large data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66928" y="2944368"/>
            <a:ext cx="214884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Incident-aware view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715768" y="2944368"/>
            <a:ext cx="310896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$lookup sensor/road with active incidents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824728" y="2944368"/>
            <a:ext cx="274320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Operational enrichment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566928" y="3523488"/>
            <a:ext cx="2148840" cy="5791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High-frequency readings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2715768" y="3523488"/>
            <a:ext cx="3108960" cy="5791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Bucket pattern by sensor + time window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824728" y="3523488"/>
            <a:ext cx="2743200" cy="5791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Controls document size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66928" y="4102608"/>
            <a:ext cx="214884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Congestion score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715768" y="4102608"/>
            <a:ext cx="310896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Computed pattern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824728" y="4102608"/>
            <a:ext cx="274320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Fast dashboard metric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006840" y="1234440"/>
            <a:ext cx="251460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 {id, roadId, lat, lon}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road_segments {roadId, zone, lanes}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 {sensorId, time, speed}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 {roadId, severity}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372600" y="2999232"/>
            <a:ext cx="1463040" cy="53035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sensor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metadata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372600" y="3703320"/>
            <a:ext cx="146304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live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reading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104120" y="3529584"/>
            <a:ext cx="0" cy="173736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77240" y="5394960"/>
            <a:ext cx="10561320" cy="7498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</a:rPr>
              <a:t>Important design lesson: do not repeatedly join high-frequency sensor readings with static metadata during every prediction request; cache or duplicate stable metadata.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BENEFITS DEPEND ON WHETHER THE DATABASE JOINS OR THE SCHEMA AVOIDS 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Advantages of NoSQL Join Techniques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2057400" cy="43891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02A43"/>
                </a:solidFill>
              </a:rPr>
              <a:t>Flexible enrichment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2971800" y="1344168"/>
            <a:ext cx="29260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Add customer, profile, product, or metadata only when needed.</a:t>
            </a: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2057400" cy="43891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02A43"/>
                </a:solidFill>
              </a:rPr>
              <a:t>Cleaner source data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8458200" y="1344168"/>
            <a:ext cx="29260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Keep master entities separate when they change independently.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05740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02A43"/>
                </a:solidFill>
              </a:rPr>
              <a:t>Reduced duplication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2971800" y="2715768"/>
            <a:ext cx="29260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References plus lookup reduce repeated storage for shared entities.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6217920" y="2697480"/>
            <a:ext cx="2057400" cy="4389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02A43"/>
                </a:solidFill>
              </a:rPr>
              <a:t>Hierarchical traversal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8458200" y="2715768"/>
            <a:ext cx="29260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Recursive/graph joins handle trees and networks naturally.</a:t>
            </a:r>
            <a:endParaRPr lang="en-US" sz="137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2057400" cy="43891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02A43"/>
                </a:solidFill>
              </a:rPr>
              <a:t>Report generation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2971800" y="4087368"/>
            <a:ext cx="29260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Audit and reconciliation views can combine multiple collections.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6217920" y="4069080"/>
            <a:ext cx="2057400" cy="43891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02A43"/>
                </a:solidFill>
              </a:rPr>
              <a:t>Schema evolution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8458200" y="4087368"/>
            <a:ext cx="29260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Add relationships without rewriting all existing documents immediately.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822960" y="5715000"/>
            <a:ext cx="1037844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F766E"/>
                </a:solidFill>
              </a:rPr>
              <a:t>Practical takeaway: use joins to enrich occasional views; use schema design patterns for the hot read path.</a:t>
            </a:r>
            <a:endParaRPr lang="en-US" sz="1620" dirty="0"/>
          </a:p>
        </p:txBody>
      </p:sp>
      <p:sp>
        <p:nvSpPr>
          <p:cNvPr id="18" name="Text 16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POWERFUL JOINS CAN DAMAGE THE REASON YOU CHOSE NOSQL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Disadvantages and Risks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88720"/>
            <a:ext cx="1920240" cy="646611"/>
          </a:xfrm>
          <a:prstGeom prst="rect">
            <a:avLst/>
          </a:prstGeom>
          <a:solidFill>
            <a:srgbClr val="B91C1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50592" y="1188720"/>
            <a:ext cx="4572000" cy="646611"/>
          </a:xfrm>
          <a:prstGeom prst="rect">
            <a:avLst/>
          </a:prstGeom>
          <a:solidFill>
            <a:srgbClr val="B91C1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Explanation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22592" y="1188720"/>
            <a:ext cx="4480560" cy="646611"/>
          </a:xfrm>
          <a:prstGeom prst="rect">
            <a:avLst/>
          </a:prstGeom>
          <a:solidFill>
            <a:srgbClr val="B91C1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Mitigation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835331"/>
            <a:ext cx="192024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Latency increase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50592" y="1835331"/>
            <a:ext cx="457200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Join waits for foreign collection lookup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22592" y="1835331"/>
            <a:ext cx="448056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Filter early, index join fields, cache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481943"/>
            <a:ext cx="1920240" cy="646611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Large memory 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50592" y="2481943"/>
            <a:ext cx="4572000" cy="646611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Big joined arrays or recursive results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22592" y="2481943"/>
            <a:ext cx="4480560" cy="646611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Limit fields, maxDepth, pagination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128554"/>
            <a:ext cx="192024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Sharding complexity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3128554"/>
            <a:ext cx="457200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Cross-partition lookup may be expensive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22592" y="3128554"/>
            <a:ext cx="448056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Co-locate by key, redesign access pattern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775166"/>
            <a:ext cx="1920240" cy="646611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N+1 queries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50592" y="3775166"/>
            <a:ext cx="4572000" cy="646611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Application join fires many database calls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22592" y="3775166"/>
            <a:ext cx="4480560" cy="646611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Batch reads, use IN queries, cache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4421777"/>
            <a:ext cx="192024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Data inconsistency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50592" y="4421777"/>
            <a:ext cx="457200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Denormalized fields become stale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22592" y="4421777"/>
            <a:ext cx="448056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Change streams, events, controlled updates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5068389"/>
            <a:ext cx="1920240" cy="646611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Query complexity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50592" y="5068389"/>
            <a:ext cx="4572000" cy="646611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Pipeline joins become hard to maintain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22592" y="5068389"/>
            <a:ext cx="4480560" cy="646611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Use views, helper functions, documentation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897880"/>
            <a:ext cx="1046988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B45309"/>
                </a:solidFill>
              </a:rPr>
              <a:t>Practical warning: do not directly convert every SQL foreign key into a runtime NoSQL join.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CHECKLIST BEFORE DECIDING TO USE A JOIN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Decision Guide: Join, Embed, Reference, or Denormalize?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1645920"/>
            <a:ext cx="14630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394960" y="1645920"/>
            <a:ext cx="1371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321040" y="1645920"/>
            <a:ext cx="12801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7440" y="2971800"/>
            <a:ext cx="14630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94960" y="2971800"/>
            <a:ext cx="1371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321040" y="2971800"/>
            <a:ext cx="12801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1261872"/>
            <a:ext cx="1691640" cy="777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Related data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always read together?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40480" y="1389888"/>
            <a:ext cx="155448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Yes → Embed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1261872"/>
            <a:ext cx="1554480" cy="7772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No → Is data shared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by many parents?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9601200" y="1261872"/>
            <a:ext cx="182880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Yes → Reference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Need view now? → Lookup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2587752"/>
            <a:ext cx="1691640" cy="777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Read very frequent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and data stable?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2587752"/>
            <a:ext cx="155448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Yes → Denormalize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/ Extended Reference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66560" y="2587752"/>
            <a:ext cx="1554480" cy="7772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Hierarchy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or network?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0" y="2587752"/>
            <a:ext cx="182880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Use graph traversal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or $graphLookup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1037844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</a:rPr>
              <a:t>Rule of thumb: use runtime joins for occasional enrichment. Use schema design patterns for high-frequency production reads.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PERFORMANCE IS CONTROLLED BY MODELING, FILTERING, AND INDEXING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Best Practices for NoSQL Joins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70432"/>
            <a:ext cx="6858000" cy="3977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11827"/>
                </a:solidFill>
              </a:rPr>
              <a:t>Filter early before join: reduce documents entering $lookup or SQL++ JOIN.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11827"/>
                </a:solidFill>
              </a:rPr>
              <a:t>Project only required fields: avoid returning entire foreign documents.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11827"/>
                </a:solidFill>
              </a:rPr>
              <a:t>Index join keys: foreignField, document keys, relationship properties, or partition keys.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11827"/>
                </a:solidFill>
              </a:rPr>
              <a:t>Bound arrays and recursion: use limits, maxDepth, date ranges, or pagination.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11827"/>
                </a:solidFill>
              </a:rPr>
              <a:t>Prefer read models for hot paths: extended reference, computed pattern, materialized views.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11827"/>
                </a:solidFill>
              </a:rPr>
              <a:t>Test with production-sized data, not only small classroom samples.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11827"/>
                </a:solidFill>
              </a:rPr>
              <a:t>Monitor explain plans, RU/IO cost, memory usage, and query latency.</a:t>
            </a:r>
            <a:endParaRPr lang="en-US" sz="1460" dirty="0"/>
          </a:p>
        </p:txBody>
      </p:sp>
      <p:sp>
        <p:nvSpPr>
          <p:cNvPr id="6" name="Text 4"/>
          <p:cNvSpPr/>
          <p:nvPr/>
        </p:nvSpPr>
        <p:spPr>
          <a:xfrm>
            <a:off x="8046720" y="1325880"/>
            <a:ext cx="123444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Filter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early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46920" y="1325880"/>
            <a:ext cx="1234440" cy="6858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Index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keys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2423160"/>
            <a:ext cx="123444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Project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small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46920" y="2423160"/>
            <a:ext cx="123444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Cache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hot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3520440"/>
            <a:ext cx="1234440" cy="685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Bound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results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46920" y="3520440"/>
            <a:ext cx="123444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Measure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669280"/>
            <a:ext cx="1051560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</a:rPr>
              <a:t>Optimization target: minimize data movement across partitions and avoid repeatedly joining unchanged data.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QUICK REVISION SHEET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Comparison of Join Techniques — Part 1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98448"/>
            <a:ext cx="2148840" cy="832104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Technique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2532888" y="1298448"/>
            <a:ext cx="2057400" cy="832104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Supported / common in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4590288" y="1298448"/>
            <a:ext cx="2423160" cy="832104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Use when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7013448" y="1298448"/>
            <a:ext cx="2377440" cy="832104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Major advantage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390888" y="1298448"/>
            <a:ext cx="2423160" cy="832104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Major limitation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84048" y="2130552"/>
            <a:ext cx="21488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$lookup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532888" y="2130552"/>
            <a:ext cx="205740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MongoDB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590288" y="2130552"/>
            <a:ext cx="242316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Need left outer enrichment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013448" y="2130552"/>
            <a:ext cx="23774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Simple cross-collection join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390888" y="2130552"/>
            <a:ext cx="242316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Can be costly on large collections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84048" y="2962656"/>
            <a:ext cx="214884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$lookup + $unwind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2532888" y="2962656"/>
            <a:ext cx="205740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MongoDB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590288" y="2962656"/>
            <a:ext cx="242316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Need inner join behavior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013448" y="2962656"/>
            <a:ext cx="237744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Removes non-matches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9390888" y="2962656"/>
            <a:ext cx="242316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Output explosion with arrays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84048" y="3794760"/>
            <a:ext cx="21488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$graphLookup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532888" y="3794760"/>
            <a:ext cx="205740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MongoDB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590288" y="3794760"/>
            <a:ext cx="242316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Hierarchy or graph traversal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013448" y="3794760"/>
            <a:ext cx="23774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Recursive search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9390888" y="3794760"/>
            <a:ext cx="242316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Needs depth/control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384048" y="4626864"/>
            <a:ext cx="214884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JOIN / NEST / UNNEST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2532888" y="4626864"/>
            <a:ext cx="205740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Couchbase SQL++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590288" y="4626864"/>
            <a:ext cx="242316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SQL-like JSON querying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7013448" y="4626864"/>
            <a:ext cx="237744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Expressive syntax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9390888" y="4626864"/>
            <a:ext cx="242316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Indexing and cardinality matter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QUICK REVISION SHEET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Comparison of Join Techniques — Part 2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98448"/>
            <a:ext cx="2148840" cy="832104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Technique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2532888" y="1298448"/>
            <a:ext cx="2057400" cy="832104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Supported / common in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4590288" y="1298448"/>
            <a:ext cx="2423160" cy="832104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Use when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7013448" y="1298448"/>
            <a:ext cx="2377440" cy="832104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Major advantage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390888" y="1298448"/>
            <a:ext cx="2423160" cy="832104"/>
          </a:xfrm>
          <a:prstGeom prst="rect">
            <a:avLst/>
          </a:prstGeom>
          <a:solidFill>
            <a:srgbClr val="0F766E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Major limitation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84048" y="2130552"/>
            <a:ext cx="21488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JOIN IN array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532888" y="2130552"/>
            <a:ext cx="205740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Cosmos DB NoSQL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590288" y="2130552"/>
            <a:ext cx="242316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Flatten nested arrays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013448" y="2130552"/>
            <a:ext cx="23774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Good intra-item query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390888" y="2130552"/>
            <a:ext cx="242316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Not cross-container join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84048" y="2962656"/>
            <a:ext cx="214884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Cypher MATCH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2532888" y="2962656"/>
            <a:ext cx="205740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Neo4j / Graph DB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590288" y="2962656"/>
            <a:ext cx="242316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Many-to-many paths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013448" y="2962656"/>
            <a:ext cx="237744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Native relationships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9390888" y="2962656"/>
            <a:ext cx="242316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Path explosion possible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84048" y="3794760"/>
            <a:ext cx="21488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Denormalized table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532888" y="3794760"/>
            <a:ext cx="205740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Cassandra-style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590288" y="3794760"/>
            <a:ext cx="242316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Hot read path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013448" y="3794760"/>
            <a:ext cx="23774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Fast predictable reads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9390888" y="3794760"/>
            <a:ext cx="242316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Write/update complexity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384048" y="4626864"/>
            <a:ext cx="214884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Application join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2532888" y="4626864"/>
            <a:ext cx="205740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Any NoSQL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590288" y="4626864"/>
            <a:ext cx="242316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Small/occasional joins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7013448" y="4626864"/>
            <a:ext cx="237744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Works across services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9390888" y="4626864"/>
            <a:ext cx="2423160" cy="832104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N+1 and consistency issues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DISCUSSION OR EXAM-STYLE PROMPTS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Classroom Practice Questions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50292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179576"/>
            <a:ext cx="9966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A shopping app stores orders and customers separately. Write a MongoDB query to show all orders with customer details. Which join is this?</a:t>
            </a: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50292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20824"/>
            <a:ext cx="9966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A course portal must show only students enrolled in at least one active course. Which MongoDB stages create inner-join behavior?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685800" y="2916936"/>
            <a:ext cx="50292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862072"/>
            <a:ext cx="9966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A traffic dashboard refreshes every five seconds and needs road-zone metadata with each sensor reading. Should we use lookup every time? Justify.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685800" y="3758184"/>
            <a:ext cx="50292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703320"/>
            <a:ext cx="9966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An organization chart requires all employees under a manager up to four levels. Which MongoDB stage or graph query pattern is suitable?</a:t>
            </a:r>
            <a:endParaRPr lang="en-US" sz="1370" dirty="0"/>
          </a:p>
        </p:txBody>
      </p:sp>
      <p:sp>
        <p:nvSpPr>
          <p:cNvPr id="13" name="Text 11"/>
          <p:cNvSpPr/>
          <p:nvPr/>
        </p:nvSpPr>
        <p:spPr>
          <a:xfrm>
            <a:off x="685800" y="4599432"/>
            <a:ext cx="50292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544568"/>
            <a:ext cx="9966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11827"/>
                </a:solidFill>
              </a:rPr>
              <a:t>Cassandra cannot do server-side joins. Design a table for “orders by customer” and explain why duplicate data may be acceptable.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777240" y="5715000"/>
            <a:ext cx="1046988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</a:rPr>
              <a:t>Expected answer style: identify the technique, write a small query/schema, explain when to use it, and mention one advantage and one disadvantage.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DATABASE-SPECIFIC JOINS REQUIRE MODELING AWARENESS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Summary: What Students Must Remember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2011680" cy="53340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Database family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2788920" y="1261872"/>
            <a:ext cx="4572000" cy="533400"/>
          </a:xfrm>
          <a:prstGeom prst="rect">
            <a:avLst/>
          </a:prstGeom>
          <a:solidFill>
            <a:srgbClr val="102A43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Key memory point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77240" y="1795272"/>
            <a:ext cx="201168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MongoDB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2788920" y="1795272"/>
            <a:ext cx="457200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$lookup, $graphLookup, $unionWith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77240" y="2328672"/>
            <a:ext cx="2011680" cy="5334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Couchbase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788920" y="2328672"/>
            <a:ext cx="4572000" cy="5334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JOIN, NEST, UNNEST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77240" y="2862072"/>
            <a:ext cx="201168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Cosmos DB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788920" y="2862072"/>
            <a:ext cx="457200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Self / intra-document array JOIN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77240" y="3395472"/>
            <a:ext cx="2011680" cy="5334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Graph DB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2788920" y="3395472"/>
            <a:ext cx="4572000" cy="5334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Relationships as edges; traversals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77240" y="3928872"/>
            <a:ext cx="201168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Cassandra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788920" y="3928872"/>
            <a:ext cx="457200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No joins; denormalized query tables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001000" y="1298448"/>
            <a:ext cx="3246120" cy="2057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B91C1C"/>
                </a:solidFill>
              </a:rPr>
              <a:t>Final rule</a:t>
            </a:r>
            <a:endParaRPr lang="en-US" sz="1630" dirty="0"/>
          </a:p>
          <a:p>
            <a:pPr indent="0" marL="0">
              <a:buNone/>
            </a:pPr>
            <a:r>
              <a:rPr lang="en-US" sz="1630" b="1" dirty="0">
                <a:solidFill>
                  <a:srgbClr val="B91C1C"/>
                </a:solidFill>
              </a:rPr>
              <a:t>Do not force SQL-style thinking into every NoSQL database. First identify the access pattern, then select embed, reference, join, graph traversal, or denormalized read model.</a:t>
            </a:r>
            <a:endParaRPr lang="en-US" sz="163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424160" cy="6858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Best design = correct data shape + correct query operator + correct index.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OFFICIAL DOCUMENTATION USED TO ALIGN TERMINOLOGY AND EXAMPLES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A43"/>
                </a:solidFill>
              </a:rPr>
              <a:t>References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373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234440"/>
            <a:ext cx="1033272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MongoDB Manual: $lookup aggregation stage — left outer join and pipeline lookup.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MongoDB Manual: $graphLookup aggregation stage — recursive search across connected documents.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MongoDB Manual: $unionWith aggregation stage — combine aggregation results from collections.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Couchbase Docs: SQL++ JOIN, NEST and UNNEST clauses.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Microsoft Learn: Azure Cosmos DB for NoSQL JOIN keyword for intra-document/self joins.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Neo4j Cypher Manual: MATCH clause and graph pattern traversal.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Apache Cassandra Documentation: data modeling guidance and no server-side joins.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22960" y="5577840"/>
            <a:ext cx="1033272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1D4E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D4ED8"/>
                </a:solidFill>
              </a:rPr>
              <a:t>Suggested reading task: compare one MongoDB $lookup example with a Cassandra denormalized table design for the same use case.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NoSQL Joins • MongoDB • Couchbase • Cosmos DB • Neo4j • Cassandra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47572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Joins Allowed in NoSQL Databases</dc:title>
  <dc:subject>Readable redesigned NoSQL joins lecture deck</dc:subject>
  <dc:creator>OpenAI</dc:creator>
  <cp:lastModifiedBy>OpenAI</cp:lastModifiedBy>
  <cp:revision>1</cp:revision>
  <dcterms:created xsi:type="dcterms:W3CDTF">2026-08-19T04:34:56Z</dcterms:created>
  <dcterms:modified xsi:type="dcterms:W3CDTF">2026-08-19T04:34:56Z</dcterms:modified>
</cp:coreProperties>
</file>