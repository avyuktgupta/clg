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67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Aggregation Framework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9E6FE"/>
                </a:solidFill>
              </a:rPr>
              <a:t>Pipeline &amp; Stages • $match • $project • $group • $sort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743200" cy="82296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94436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1880" y="2971800"/>
            <a:ext cx="640080" cy="411480"/>
          </a:xfrm>
          <a:prstGeom prst="rightArrow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434840" y="2542032"/>
            <a:ext cx="3383280" cy="1325880"/>
          </a:xfrm>
          <a:prstGeom prst="roundRect">
            <a:avLst/>
          </a:prstGeom>
          <a:solidFill>
            <a:srgbClr val="102A43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28072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F2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$match → $project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0F2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$group → $sort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2971800"/>
            <a:ext cx="640080" cy="411480"/>
          </a:xfrm>
          <a:prstGeom prst="rightArrow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823960" y="2788920"/>
            <a:ext cx="2560320" cy="8229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961120" y="294436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E7F2FF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1. Explain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Define aggregation and explain why pipeline order matters.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34840" y="9144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2. Build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Write pipelines using $match, $project, $group and $sort.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91440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3. Optimize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Place stages correctly, use indexes, and read explain results.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By the end, learners can: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transform raw documents into summary reports without exporting to application code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design small pipelines step-by-step and debug intermediate output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apply operators such as $sum, $avg, $multiply, $dateToString and $cond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recognize advantages, disadvantages and performance risks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0" y="5303520"/>
            <a:ext cx="123444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Concept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why?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90104" y="5678424"/>
            <a:ext cx="11887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0" y="5303520"/>
            <a:ext cx="123444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Syntax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how?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53144" y="5678424"/>
            <a:ext cx="11887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0" y="5303520"/>
            <a:ext cx="123444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Example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practice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16184" y="5678424"/>
            <a:ext cx="11887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789920" y="5303520"/>
            <a:ext cx="123444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Case study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apply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is aggregation in MongoDB?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2120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Definition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Aggregation means processing many documents to produce a transformed or summarized result.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It is used for filtering, reshaping, grouping, computing totals/averages and reporting.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MongoDB provides an aggregation pipeline where documents flow through ordered stages.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Each stage transforms the documents and passes the output to the next stage.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80760" y="100584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Simple analogy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Like a factory line: raw documents enter; each machine/stage performs one operation; final analytics report comes out.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2834640"/>
            <a:ext cx="91440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Raw orders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1000 docs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41464" y="3209544"/>
            <a:ext cx="5486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251192" y="2834640"/>
            <a:ext cx="914400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Filter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Delivered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0456" y="3209544"/>
            <a:ext cx="5486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30184" y="2834640"/>
            <a:ext cx="914400" cy="749808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Total amount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299448" y="3209544"/>
            <a:ext cx="5486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409176" y="2834640"/>
            <a:ext cx="914400" cy="749808"/>
          </a:xfrm>
          <a:prstGeom prst="roundRect">
            <a:avLst/>
          </a:prstGeom>
          <a:solidFill>
            <a:srgbClr val="F3E8FF"/>
          </a:solidFill>
          <a:ln w="1397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Summarize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By region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78440" y="3209544"/>
            <a:ext cx="5486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488168" y="2834640"/>
            <a:ext cx="914400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Ranked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4572000"/>
            <a:ext cx="5074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Used for: dashboards • analytics • report generation • API summaries • ETL-style transformations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Why use aggregation instead of only find()?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347472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find() is good when: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you need raw matching documents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simple filters and projections are enough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the application will do small formatting only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43400" y="868680"/>
            <a:ext cx="347472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</a:rPr>
              <a:t>Aggregation is better when: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you must calculate totals, averages, counts or rankings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you need grouping by category, region, month or department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you want to reduce network transfer by returning final summaries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you need multi-step transformations inside the database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92440" y="868680"/>
            <a:ext cx="347472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</a:rPr>
              <a:t>Client-side processing risks: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too much data sent to the application server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slower reports for large datasets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duplicated business logic across services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harder to keep analytics consistent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Aggregation pipeline mental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E7F2FF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Pipeline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An array of ordered stages passed to db.collection.aggregate([...]).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34840" y="9144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Stage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 document with one stage operator, such as { $match: {...} }.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91440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Expression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 formula inside a stage, such as { $sum: "$amount" }.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303520" cy="342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status: "Delivered" }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 customer: 1, amount: 1 }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 _id: "$customer", total: { $sum: "$amount" } }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total: -1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446520" y="2423160"/>
            <a:ext cx="493776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</a:rPr>
              <a:t>Important rules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Documents move through stages in sequence.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A stage can filter out documents or create new document shapes.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The same stage can appear multiple times, except special output stages.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Move selective $match early to reduce work for later stages.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Basic syntax of aggregate()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54406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General form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db.collection.aggregate(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[ &lt;stage1&gt;, &lt;stage2&gt;, &lt;stage3&gt; ],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&lt;options&gt;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Example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region: "North" }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 _id: "$category", revenue: { $sum: "$amount" }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446520" y="914400"/>
            <a:ext cx="50749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Syntax explanation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collection: the source collection, e.g., orders, students or employees.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pipeline: an array; each element is one stage document.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stage operator: begins with $, such as $match or $group.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options: advanced settings such as allowDiskUse or collation.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Output: a cursor containing transformed result documents.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5715000"/>
            <a:ext cx="10607040" cy="41148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220"/>
                </a:solidFill>
              </a:rPr>
              <a:t>Remember: aggregation output is also documents; it can be read by the application, stored, or used by another process.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Sample collection used throughout the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25780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_id: ObjectId("..."),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orderId: "O1001",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customerId: "C101",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region: "North",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category: "Electronics",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status: "Delivered",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orderDate: ISODate("2026-08-01"),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items: [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 product: "Laptop", qty: 1, price: 55000 },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 product: "Mouse",  qty: 2, price: 600 }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rating: 4.6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263640" y="914400"/>
            <a:ext cx="51663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Why this data is useful for aggregation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Contains normal fields, dates, numbers, strings and arrays.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Supports filtering by status/region/category/date.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Supports computed fields such as order amount.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Supports grouping by region, month or category.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246120"/>
            <a:ext cx="5166360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Learning questions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What is the total revenue by region?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Which category has maximum sale?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What is average rating by product category?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Which customers placed high-value orders?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Aggregation stages vs aggregation operators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4983480" cy="502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Stages: pipeline steps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$match filters documents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$project reshapes documents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$group combines documents into summaries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$sort orders documents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A pipeline stage appears as a top-level key inside the pipeline array.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6520" y="914400"/>
            <a:ext cx="4983480" cy="502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</a:rPr>
              <a:t>Operators: expressions used inside stages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$sum, $avg, $min, $max calculate aggregates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$multiply, $add, $subtract compute numeric values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$cond, $ifNull handle logic and missing data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$dateToString formats dates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Operators are building blocks inside stage specifications.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80760" y="914400"/>
            <a:ext cx="0" cy="4937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$match stage: filter documents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0292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What $match does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Passes only documents that satisfy the query predicate.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Uses the same query syntax used in find().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Best placed early when possible because it reduces the number of documents processed later.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Can use indexes when placed at the beginning of the pipeline and written on indexed fields.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914400"/>
            <a:ext cx="5349240" cy="2743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Delivered electronics orders from North region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status: "Delivered",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region: "North",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category: "Electronics"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989320" y="3977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Teaching tip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Ask students: how many documents should go to the next stage if $match is placed first versus placed after $group?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$match stage: advanced filters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5349240" cy="4709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orderDate: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$gte: ISODate("2026-08-01"),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$lt:  ISODate("2026-09-01")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"items.product": "Laptop",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rating: { $gte: 4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status: { $in: ["Delivered", "Shipped"]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355080" y="914400"/>
            <a:ext cx="50749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Common match predicates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$gt, $gte, $lt, $lte for ranges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$in for selected values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$and, $or for logic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dot notation for nested fields and arrays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3611880"/>
            <a:ext cx="50749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Best practices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date range queries instead of string matching for dates.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Avoid unnecessary $expr unless you need expression-based comparison.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Create indexes on frequently matched fields.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$project stage: select and reshape fields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9834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What $project does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Controls which fields appear in the output.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Can include, exclude, rename or compute fields.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Reduces document size for later stages or final response.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Can create a clean API/report-friendly output shape.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914400"/>
            <a:ext cx="5349240" cy="3063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0,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orderId: 1,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customer: "$customerId",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region: 1,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status: 1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989320" y="434340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Important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Use _id: 0 if you do not want MongoDB to include the _id field in output.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$project with computed fields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577840" cy="5303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orderId: 1,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region: 1,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firstItemTotal: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$multiply: [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{ $arrayElemAt: ["$items.qty", 0] 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{ $arrayElemAt: ["$items.price", 0]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feedback: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$cond: [ { $gte: ["$rating", 4] }, "Good", "Needs Review" 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492240" y="868680"/>
            <a:ext cx="4983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Useful project expressions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$multiply, $add, $subtract for calculations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$cond for if-else logic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$ifNull for missing values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$dateToString for report dates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3520440"/>
            <a:ext cx="4983480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Advanced note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For array totals, combine $map + $sum or use $unwind before grouping.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$project can make the pipeline easier to understand by naming intermediate computed fields.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Avoid projecting huge fields if they are not needed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$group stage: summarize documents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93776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What $group does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Combines documents that share the same group key.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The group key must be stored in the _id field of $group.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One output document is produced for each unique group key.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Accumulators such as $sum, $avg, $min and $max compute results.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914400"/>
            <a:ext cx="534924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"$region",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orderCount: { $sum: 1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avgRating: { $avg: "$rating"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989320" y="41148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Meaning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This returns one summary document per region with count and average rating.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$group accumulators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2103120" cy="50292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Accumulator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2697480" y="914400"/>
            <a:ext cx="3108960" cy="50292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Purpose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806440" y="914400"/>
            <a:ext cx="5760720" cy="50292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Example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$sum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97480" y="14173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Total or count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06440" y="141732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{ total: { $sum: "$amount" }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$avg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Average value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06440" y="192024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{ avgRating: { $avg: "$rating" }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$min / $max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242316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Lowest or highest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42316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{ maxOrder: { $max: "$amount" }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$push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292608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Collect values with duplicates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292608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{ allOrders: { $push: "$orderId" } 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$addToSet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342900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Collect unique values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342900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{ products: { $addToSet: "$category" } 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4032503"/>
            <a:ext cx="5349240" cy="217525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 $group: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_id: "$category",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revenue: { $sum: "$amount"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orders:  { $sum: 1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avgRating: { $avg: "$rating"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regions: { $addToSet: "$region"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 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57200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Exam point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$group changes the document shape. Fields not included in _id or accumulators disappear from output.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$sort stage: order documents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937760" cy="4663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</a:rPr>
              <a:t>What $sort does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Orders documents by one or more fields.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Use 1 for ascending and -1 for descending.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Can sort raw documents before grouping or final summary documents after grouping.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For consistent ordering, include a tie-breaker field such as _id when values can repeat.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914400"/>
            <a:ext cx="534924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Sort final summary by revenue high to 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"$region",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revenue: { $sum: "$amount"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revenue: -1, _id: 1 }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89320" y="4754880"/>
            <a:ext cx="5349240" cy="143256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Performance tip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If sorting a large number of raw documents, use an index-compatible sort or reduce documents first using $match.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Full pipeline walkthrough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oundRect">
            <a:avLst>
              <a:gd name="adj" fmla="val 7500"/>
            </a:avLst>
          </a:prstGeom>
          <a:solidFill>
            <a:srgbClr val="E7F2FF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Business question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For delivered Electronics orders in August 2026, find total revenue and number of orders by region, sorted by revenue.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219456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$match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filter docs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92424" y="2340864"/>
            <a:ext cx="21031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0" y="1965960"/>
            <a:ext cx="2194560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$project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compute amount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07024" y="2340864"/>
            <a:ext cx="21031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72200" y="1965960"/>
            <a:ext cx="2194560" cy="749808"/>
          </a:xfrm>
          <a:prstGeom prst="roundRect">
            <a:avLst/>
          </a:prstGeom>
          <a:solidFill>
            <a:srgbClr val="F3E8FF"/>
          </a:solidFill>
          <a:ln w="1397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$group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by region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21624" y="2340864"/>
            <a:ext cx="21031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0" y="1965960"/>
            <a:ext cx="2194560" cy="749808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$sort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rank results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1092708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status: "Delivered",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category: "Electronics",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orderDate: { $gte: ISODate("2026-08-01"), $lt: ISODate("2026-09-01")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region: 1,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amount: { $sum: { $map: { input: "$items", as: "i", in: { $multiply: ["$$i.qty", "$$i.price"] } } }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 _id: "$region", orders: { $sum: 1 }, revenue: { $sum: "$amount" } }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revenue: -1 }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Understand output after each stage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32461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After $match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Only relevant delivered Electronics documents remain.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Document shape is almost unchanged.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a temporary $count to check how many documents survived.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34840" y="914400"/>
            <a:ext cx="32461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After $project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Documents now contain region and computed amount.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Unneeded fields are removed.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Each input document usually produces one output document.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75320" y="914400"/>
            <a:ext cx="32461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After $group + $sort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One document per region appears.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Revenue and orders are summary values.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Sort ranks the summarized output.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5989320"/>
            <a:ext cx="9966960" cy="329184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Debug method: build one stage at a time → run → inspect output → add next stage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Case study 1: E-commerce sales analytics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212080" cy="4937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Scenario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An online shopping platform stores orders in MongoDB.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Management wants to identify top-performing regions and product categories.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The report must include revenue, number of orders and average rating.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Only delivered orders should be counted to avoid inflated revenue.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2578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Collections / fields used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orders: orderId, region, category, status, orderDate, items, rating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items: product, qty, price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Computed value: amount = sum(qty × price)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3429000"/>
            <a:ext cx="52578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Analytical questions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Which region generated maximum revenue?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Which category gives the highest average rating?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How many delivered orders came from each region?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Which output should be displayed first? Highest revenue.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Case study 1 pipeline: revenue by region + category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035040" cy="5440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db.orders.aggregate([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status: "Delivered"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region: 1,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category: 1,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rating: 1,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amount: { $sum: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$map: { input: "$items", as: "i", in: { $multiply: ["$$i.qty", "$$i.price"] }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{ region: "$region", category: "$category"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orders: { $sum: 1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revenue: { $sum: "$amount"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avgRating: { $avg: "$rating"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revenue: -1 }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903720" y="822960"/>
            <a:ext cx="47091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Stage-by-stage explanation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$match removes cancelled or pending orders.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$project calculates each order amount from items array.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03720" y="2560320"/>
            <a:ext cx="47091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Grouping key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_id is an object with region and category.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This creates summaries for each region-category pair.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4297680"/>
            <a:ext cx="470916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Expected output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{ _id: {region:"North", category:"Electronics"}, orders: 120, revenue: 8500000, avgRating: 4.4 }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Sorted from highest revenue to lowest.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Case study 2: Student marks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074920" cy="4343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students collection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rollNo: "AIML101",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name: "Riya",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semester: 5,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department: "AIML",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subjects: 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 name: "NoSQL", marks: 78 },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 name: "AI", marks: 84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attendance: 82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172200" y="914400"/>
            <a:ext cx="52578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Question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Find average marks by department for Semester 5 students.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Only include students having attendance &gt;= 75.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Sort departments by average marks descending.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3429000"/>
            <a:ext cx="5257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New stage introduced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$unwind can flatten the subjects array.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Then $group can summarize marks by department and subject.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Case study 2 pipeline: department-wise marks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94360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db.students.aggregate([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semester: 5, attendance: { $gte: 75 }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$unwind: "$subjects"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"subjects.name": "NoSQL"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"$department",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students: { $sum: 1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avgMarks: { $avg: "$subjects.marks"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highest: { $max: "$subjects.marks"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$project: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_id: 0, department: "$_id", students: 1,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avgMarks: { $round: ["$avgMarks", 2] }, highest: 1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avgMarks: -1 }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903720" y="868680"/>
            <a:ext cx="4709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Why two $match stages?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First $match uses student-level filters.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Second $match filters the array elements after $unwind.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03720" y="2651760"/>
            <a:ext cx="4709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Role of $project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Renames _id to department.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Rounds average marks for readable report output.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4343400"/>
            <a:ext cx="4709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Classroom task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Modify the query to show results for all subjects, not only NoSQL.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Hint: group by {dept, subject}.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Useful aggregation expression operators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92024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Category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514600" y="914400"/>
            <a:ext cx="402336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Operators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37960" y="914400"/>
            <a:ext cx="502920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 in reports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Arithmetic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$add, $subtract, $multiply, $divide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Revenue, discount, tax, profit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String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$concat, $toUpper, $substr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Formatting labels and IDs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Date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14600" y="256032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$year, $month, $dateToString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Monthly/weekly dashboards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Array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514600" y="310896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$map, $filter, $size, $arrayElemAt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Calculate order totals and nested summaries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Conditional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2514600" y="365760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$cond, $ifNull, $switch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537960" y="365760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Grade/status labels and missing data handling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102870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 $project: {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month: { $dateToString: { format: "%Y-%m", date: "$orderDate" } },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label: { $concat: ["Order-", "$orderId"] },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ratingType: { $cond: [ { $gte: ["$rating", 4] }, "High", "Low" ] }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 }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Performance optimization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33832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1. Filter early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Put selective $match as early as possible.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indexes for fields used in early $match.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Reduce document count before expensive stages.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914400"/>
            <a:ext cx="33832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2. Project wisely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Remove large unused fields before grouping/sorting.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Compute intermediate fields with clear names.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Do not project fields needed later out of the pipeline.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914400"/>
            <a:ext cx="33832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3. Sort carefully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Sort only required results.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Sort after grouping when ranking summary output.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indexes for sorting raw documents where possible.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Check explain plans for large pipelines.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Advanced execution options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5532120" cy="4343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Check how MongoDB executes the pipeline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db.orders.explain("executionStats").aggregate([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$match: { status: "Delivered", region: "North" } },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$group: { _id: "$category", revenue: { $sum: "$amount" } } },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$sort: { revenue: -1 }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Allow temporary disk use for large work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db.orders.aggregate(pipeline, { allowDiskUse: true })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37960" y="914400"/>
            <a:ext cx="48006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explain helps answer: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Was an index used?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How many documents were examined?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Which stages are expensive?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Where should the pipeline be redesigned?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3337560"/>
            <a:ext cx="4800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Large aggregation tips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Avoid sorting huge unfiltered datasets.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$match and $project before $group when possible.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allowDiskUse carefully; it helps complete work but may be slower than a better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Advantages of the aggregation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21208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Technical advantages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Data processing happens close to the data, reducing application-server work.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Pipeline stages are composable: small steps combine into powerful reports.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Supports nested documents and arrays naturally.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Can express analytics that would require complex application loops.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Works well for API summaries, dashboards and ETL-style transformations.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868680"/>
            <a:ext cx="521208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Teaching-friendly advantages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Easy to explain stage-by-stage.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Build pipelines progressively and inspect intermediate results.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Maps well to SQL concepts: WHERE, SELECT, GROUP BY, ORDER BY.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Encourages thinking about data flow and data shape.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Useful in practical labs and case-study questions.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Disadvantages and 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21208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Limitations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Complex pipelines can become hard to read and maintain.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Large $sort and $group stages can be memory-intensive.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Poorly placed $match can process unnecessary documents.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Pipeline results may be difficult to debug if too many transformations happen at once.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Not every report should be done inside the database; some business logic may belong in the application.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868680"/>
            <a:ext cx="521208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Mitigation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Write pipelines stage-by-stage.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comments in code and meaningful field names.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indexes for common $match and $sort patterns.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explain() and sample data to validate performance.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Move repeated reporting logic into views or well-tested service functions.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Common mistakes and fixes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2743200" cy="621792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Mistake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3337560" y="960120"/>
            <a:ext cx="3657600" cy="621792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What happens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995160" y="960120"/>
            <a:ext cx="4572000" cy="621792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Fix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94360" y="1581912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Using $group before 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7560" y="1581912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Unnecessary documents are processed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95160" y="1581912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Move $match earlier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Forgetting _id in $group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203704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Aggregation error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95160" y="2203704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Set _id to the grouping key or null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2549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Removing fields too early in $project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825496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Later stage cannot access them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2825496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Keep all fields needed later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Sorting huge raw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3447288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Slow or memory-heavy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344728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Match first, index sort field, or sort summary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069080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Mixing stage and expression syntax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4069080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Invalid pipeline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95160" y="4069080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Remember: stage at top level, expressions inside stages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E7F2FF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Debug formula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Run pipeline with only the first stage → inspect output → add the next stage → repeat.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SQL to MongoDB aggregation mapping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201168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06040" y="868680"/>
            <a:ext cx="310896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 aggregation equivalent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0" y="868680"/>
            <a:ext cx="5852160" cy="54864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WHERE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$match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{ $match: { status: "Delivered" } }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SELECT columns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$project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715000" y="196596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{ $project: { orderId: 1, amount: 1 } }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GROUP BY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606040" y="251460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$group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715000" y="251460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{ $group: { _id: "$region", total: { $sum: "$amount" } } }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ORDER BY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606040" y="306324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$sort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{ $sort: { total: -1 } }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COUNT(*)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606040" y="361188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$sum: 1 inside $group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715000" y="361188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orders: { $sum: 1 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HAVING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606040" y="41605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$match after $group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715000" y="416052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{ $match: { total: { $gt: 100000 } } }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143000" y="5486400"/>
            <a:ext cx="97840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SQL-like flow: WHERE → SELECT → GROUP BY → ORDER 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$match, $project, $group, $sort 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Mini project / lab activity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166360" cy="4937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Dataset: restaurant_orders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Fields: orderId, customerId, city, cuisine, items, billAmount, discount, rating, orderDate, paymentMode.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Insert at least 20 sample orders.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Build a pipeline that reports monthly revenue by city and cuisine.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Add one pipeline that finds high-value customers.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914400"/>
            <a:ext cx="5166360" cy="4937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Expected tasks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$match to filter delivered orders in a given month.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$project to calculate finalAmount = billAmount - discount.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$group to summarize total revenue and average rating.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$sort to show highest revenue first.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Explain where indexes should be created.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Practice questions for students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3474720" cy="5349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Basic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Define aggregation pipeline.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Differentiate stage and operator.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Write syntax of $match.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What is the purpose of $project?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43400" y="822960"/>
            <a:ext cx="3474720" cy="5349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Intermediate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Find orders where amount &gt; 5000 and sort by amount descending.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Group employees by department and calculate average salary.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Project only name, department and incremented salary.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Explain why $match is placed early.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92440" y="822960"/>
            <a:ext cx="3474720" cy="5349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Advanced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Build a complete retail revenue report pipeline.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Use $unwind with $group to analyze array fields.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Compare client-side processing and aggregation.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Identify performance issues in a given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E7F2FF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Aggregation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Transforms and summarizes documents directly inside MongoDB.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34840" y="9144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Pipeline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Ordered stages; output of one stage becomes input to the next.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91440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stages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$match filters, $project reshapes, $group summarizes, $sort orders.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155448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$match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filter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9584" y="3118104"/>
            <a:ext cx="19202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76472" y="2743200"/>
            <a:ext cx="155448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$project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shape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85816" y="3118104"/>
            <a:ext cx="19202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32704" y="2743200"/>
            <a:ext cx="155448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$group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summarize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3118104"/>
            <a:ext cx="192024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88936" y="2743200"/>
            <a:ext cx="1554480" cy="749808"/>
          </a:xfrm>
          <a:prstGeom prst="roundRect">
            <a:avLst/>
          </a:prstGeom>
          <a:solidFill>
            <a:srgbClr val="E7F2FF"/>
          </a:solidFill>
          <a:ln w="13970">
            <a:solidFill>
              <a:srgbClr val="1F77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$sort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order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9966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Best final advice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Build pipelines incrementally, keep only fields needed later, use indexes for selective filters, and validate performance with explain().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 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8813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MongoDB official documentation and supporting sources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Aggregation Pipeline — definition, stage sequence and stage behavior. https://www.mongodb.com/docs/manual/core/aggregation-pipeline/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Aggregation Stages — list of stages and constraints. https://www.mongodb.com/docs/manual/reference/mql/aggregation-stages/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$match stage — syntax and behavior. https://www.mongodb.com/docs/manual/reference/operator/aggregation/match/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$group stage — grouping key and accumulator behavior. https://www.mongodb.com/docs/manual/reference/operator/aggregation/group/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$sort stage — ascending/descending sorting. https://www.mongodb.com/docs/manual/reference/operator/aggregation/sort/</a:t>
            </a:r>
            <a:endParaRPr lang="en-US" sz="130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• MongoDB Docs: BSON Types — BSON as binary serialization format used by MongoDB. https://www.mongodb.com/docs/manual/reference/bson-types/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4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MongoDB Aggregation Framework | Pipeline, stages, and operators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4928</Words>
  <Application>Microsoft Office PowerPoint</Application>
  <PresentationFormat>Widescreen</PresentationFormat>
  <Paragraphs>677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Aggregation Framework: Pipeline, Stages, Operators</dc:title>
  <dc:subject>MongoDB Aggregation Framework</dc:subject>
  <dc:creator>OpenAI</dc:creator>
  <cp:lastModifiedBy>Dr. Arunangshu Pal [MU - Jaipur]</cp:lastModifiedBy>
  <cp:revision>6</cp:revision>
  <dcterms:created xsi:type="dcterms:W3CDTF">2026-08-14T04:01:07Z</dcterms:created>
  <dcterms:modified xsi:type="dcterms:W3CDTF">2026-08-14T04:42:09Z</dcterms:modified>
</cp:coreProperties>
</file>