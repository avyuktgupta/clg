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E"/>
          </a:solidFill>
          <a:ln w="12700">
            <a:solidFill>
              <a:srgbClr val="1023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68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Architecture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04088" y="15727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FFFD4"/>
                </a:solidFill>
              </a:rPr>
              <a:t>Documents • Collections • BSON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" y="2240280"/>
            <a:ext cx="621792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E7F5"/>
                </a:solidFill>
              </a:rPr>
              <a:t>Detailed step-by-step lecture deck with expanded explanations, examples, BSON characteristics, advantages, disadvantages and advanced architecture.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0" y="1051560"/>
            <a:ext cx="1920240" cy="50292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0" y="2011680"/>
            <a:ext cx="1920240" cy="50292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Driver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0" y="2971800"/>
            <a:ext cx="1920240" cy="50292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mongod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0" y="3931920"/>
            <a:ext cx="1920240" cy="502920"/>
          </a:xfrm>
          <a:prstGeom prst="rect">
            <a:avLst/>
          </a:prstGeom>
          <a:solidFill>
            <a:srgbClr val="0A7A43"/>
          </a:solidFill>
          <a:ln>
            <a:solidFill>
              <a:srgbClr val="0A7A4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BSON + storage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0" y="4892040"/>
            <a:ext cx="192024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Replica / shard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921240" y="1554480"/>
            <a:ext cx="0" cy="457200"/>
          </a:xfrm>
          <a:prstGeom prst="line">
            <a:avLst/>
          </a:prstGeom>
          <a:noFill/>
          <a:ln w="17780">
            <a:solidFill>
              <a:srgbClr val="7FFF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21240" y="2514600"/>
            <a:ext cx="0" cy="457200"/>
          </a:xfrm>
          <a:prstGeom prst="line">
            <a:avLst/>
          </a:prstGeom>
          <a:noFill/>
          <a:ln w="17780">
            <a:solidFill>
              <a:srgbClr val="7FFF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21240" y="3474720"/>
            <a:ext cx="0" cy="457200"/>
          </a:xfrm>
          <a:prstGeom prst="line">
            <a:avLst/>
          </a:prstGeom>
          <a:noFill/>
          <a:ln w="17780">
            <a:solidFill>
              <a:srgbClr val="7FFF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921240" y="4434840"/>
            <a:ext cx="0" cy="457200"/>
          </a:xfrm>
          <a:prstGeom prst="line">
            <a:avLst/>
          </a:prstGeom>
          <a:noFill/>
          <a:ln w="17780">
            <a:solidFill>
              <a:srgbClr val="7FFFD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roadmap: basic to advanced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Data model first, BSON internals second, distributed architecture third.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1024128" cy="50292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" y="2048256"/>
            <a:ext cx="13533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33E"/>
                </a:solidFill>
              </a:rPr>
              <a:t>Hierarchy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429768" y="2331720"/>
            <a:ext cx="1353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Database → collection → document → field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1618488" y="1664208"/>
            <a:ext cx="39319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194560" y="1417320"/>
            <a:ext cx="1024128" cy="50292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29968" y="2048256"/>
            <a:ext cx="13533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33E"/>
                </a:solidFill>
              </a:rPr>
              <a:t>Documents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2029968" y="2331720"/>
            <a:ext cx="1353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Nested objects, arrays, embedding, references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218688" y="1664208"/>
            <a:ext cx="39319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794760" y="1417320"/>
            <a:ext cx="1024128" cy="50292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30168" y="2048256"/>
            <a:ext cx="13533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33E"/>
                </a:solidFill>
              </a:rPr>
              <a:t>BSON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3630168" y="2331720"/>
            <a:ext cx="1353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Binary encoding, types, ObjectId, Extended JSON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818888" y="1664208"/>
            <a:ext cx="39319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394960" y="1417320"/>
            <a:ext cx="1024128" cy="50292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0368" y="2048256"/>
            <a:ext cx="13533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33E"/>
                </a:solidFill>
              </a:rPr>
              <a:t>CRUD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5230368" y="2331720"/>
            <a:ext cx="1353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Query path, update operators, indexes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419088" y="1664208"/>
            <a:ext cx="39319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995160" y="1417320"/>
            <a:ext cx="1024128" cy="50292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30568" y="2048256"/>
            <a:ext cx="13533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33E"/>
                </a:solidFill>
              </a:rPr>
              <a:t>Replica set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6830568" y="2331720"/>
            <a:ext cx="1353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Primary, secondaries, elections, concerns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019288" y="1664208"/>
            <a:ext cx="39319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595360" y="1417320"/>
            <a:ext cx="1024128" cy="50292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30768" y="2048256"/>
            <a:ext cx="13533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33E"/>
                </a:solidFill>
              </a:rPr>
              <a:t>Sharding</a:t>
            </a:r>
            <a:endParaRPr lang="en-US" sz="1060" dirty="0"/>
          </a:p>
        </p:txBody>
      </p:sp>
      <p:sp>
        <p:nvSpPr>
          <p:cNvPr id="31" name="Text 29"/>
          <p:cNvSpPr/>
          <p:nvPr/>
        </p:nvSpPr>
        <p:spPr>
          <a:xfrm>
            <a:off x="8430768" y="2331720"/>
            <a:ext cx="1353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mongos, config servers, shards, shard keys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619488" y="1664208"/>
            <a:ext cx="393192" cy="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195560" y="1417320"/>
            <a:ext cx="1024128" cy="50292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030968" y="2048256"/>
            <a:ext cx="135331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33E"/>
                </a:solidFill>
              </a:rPr>
              <a:t>Design</a:t>
            </a:r>
            <a:endParaRPr lang="en-US" sz="1060" dirty="0"/>
          </a:p>
        </p:txBody>
      </p:sp>
      <p:sp>
        <p:nvSpPr>
          <p:cNvPr id="35" name="Text 33"/>
          <p:cNvSpPr/>
          <p:nvPr/>
        </p:nvSpPr>
        <p:spPr>
          <a:xfrm>
            <a:off x="10030968" y="2331720"/>
            <a:ext cx="1353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67085"/>
                </a:solidFill>
              </a:rPr>
              <a:t>Validation, transactions, patterns, anti-patterns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749808" y="3657600"/>
            <a:ext cx="3063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3749040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Teaching goal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77824" y="4032504"/>
            <a:ext cx="280720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2230"/>
                </a:solidFill>
              </a:rPr>
              <a:t>Students should be able to draw MongoDB architecture, explain BSON, and design collections using query-first thinking.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4160520" y="3657600"/>
            <a:ext cx="3063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88536" y="3749040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Examples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288536" y="4032504"/>
            <a:ext cx="280720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2230"/>
                </a:solidFill>
              </a:rPr>
              <a:t>Every core idea is paired with a command, sample document or design rule.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7571232" y="3657600"/>
            <a:ext cx="3063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99248" y="3749040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Advanced outcome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699248" y="4032504"/>
            <a:ext cx="280720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82230"/>
                </a:solidFill>
              </a:rPr>
              <a:t>Students can justify replication, sharding, schema validation and transaction choices.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1874520" y="52578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02536" y="5349240"/>
            <a:ext cx="8156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Syntax style used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2002536" y="5568696"/>
            <a:ext cx="8156448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semester: 5 }).sort({ score: -1 })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MongoDB? Data that changes fast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MongoDB is useful when application data is nested, evolving and closely aligned with code objects.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7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50876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1792224"/>
            <a:ext cx="2350008" cy="978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82230"/>
                </a:solidFill>
              </a:rPr>
              <a:t>Modern data is not always flat: profiles, orders, products, logs and IoT events naturally contain nested values and arrays.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36118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50876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MongoDB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39896" y="1792224"/>
            <a:ext cx="2350008" cy="978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82230"/>
                </a:solidFill>
              </a:rPr>
              <a:t>Store each real-world object as a document. Related information that is read together can be embedded in the same document.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653796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150876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Benefit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65976" y="1792224"/>
            <a:ext cx="2350008" cy="978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82230"/>
                </a:solidFill>
              </a:rPr>
              <a:t>Less object-relational mapping, fewer joins for common reads, easier evolution when fields change.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464040" y="14173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FFF1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92056" y="150876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2D20"/>
                </a:solidFill>
              </a:rPr>
              <a:t>Trade-off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92056" y="1792224"/>
            <a:ext cx="1709928" cy="9784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230"/>
                </a:solidFill>
              </a:rPr>
              <a:t>Flexibility does not remove design. Poor schema choices cause duplication or slow queries.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2523744" cy="384048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Relational model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209544" y="3429000"/>
            <a:ext cx="2734056" cy="384048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MongoDB document model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85800" y="3813048"/>
            <a:ext cx="25237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Tables with fixed columns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209544" y="3813048"/>
            <a:ext cx="273405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Collections with flexible documents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685800" y="4197096"/>
            <a:ext cx="252374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Rows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3209544" y="4197096"/>
            <a:ext cx="2734056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Documents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85800" y="4581144"/>
            <a:ext cx="252374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Joins combine rows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3209544" y="4581144"/>
            <a:ext cx="273405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Embedding/references model relations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685800" y="4965192"/>
            <a:ext cx="2523744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Schema first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3209544" y="4965192"/>
            <a:ext cx="2734056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Query pattern first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400800" y="3291840"/>
            <a:ext cx="4937760" cy="2194560"/>
          </a:xfrm>
          <a:prstGeom prst="roundRect">
            <a:avLst>
              <a:gd name="adj" fmla="val 2083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8816" y="3383280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Document mirrors application object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28816" y="3602736"/>
            <a:ext cx="4681728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"U101",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"Asha",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address: { city: "Jaipur", pin: 302001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skills: ["MongoDB", "Node.js"]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architecture: big picture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Think in layers: client → driver → server process → database/collection → storage engine.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1170432" cy="50292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Client app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1856232" y="1664208"/>
            <a:ext cx="566928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423160" y="1417320"/>
            <a:ext cx="1170432" cy="50292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Driver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3593592" y="1664208"/>
            <a:ext cx="566928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160520" y="1417320"/>
            <a:ext cx="1170432" cy="50292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mongod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330952" y="1664208"/>
            <a:ext cx="566928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897880" y="1417320"/>
            <a:ext cx="1170432" cy="502920"/>
          </a:xfrm>
          <a:prstGeom prst="rect">
            <a:avLst/>
          </a:prstGeom>
          <a:solidFill>
            <a:srgbClr val="0A7A43"/>
          </a:solidFill>
          <a:ln>
            <a:solidFill>
              <a:srgbClr val="0A7A4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Database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068312" y="1664208"/>
            <a:ext cx="566928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635240" y="1417320"/>
            <a:ext cx="1170432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Collection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8805672" y="1664208"/>
            <a:ext cx="566928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372600" y="1417320"/>
            <a:ext cx="1170432" cy="502920"/>
          </a:xfrm>
          <a:prstGeom prst="rect">
            <a:avLst/>
          </a:prstGeom>
          <a:solidFill>
            <a:srgbClr val="10233E"/>
          </a:solidFill>
          <a:ln>
            <a:solidFill>
              <a:srgbClr val="10233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</a:rPr>
              <a:t>Storage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77240" y="27432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28346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Client app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256" y="311810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Backend, web API, script or analytics process sends CRUD commands.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4680" y="27432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8346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Driver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82696" y="311810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Language library that manages connections, BSON serialization and server selection.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27432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0136" y="28346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mongod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0136" y="311810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Database server process that handles queries, writes, replication and storage.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09560" y="274320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37576" y="28346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Storage 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37576" y="311810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WiredTiger manages cache, compression, indexes, journal and disk files.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" y="4572000"/>
            <a:ext cx="5029200" cy="1051560"/>
          </a:xfrm>
          <a:prstGeom prst="roundRect">
            <a:avLst>
              <a:gd name="adj" fmla="val 4348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5256" y="4663440"/>
            <a:ext cx="477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Application uses driver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905256" y="4882896"/>
            <a:ext cx="477316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client = new MongoClient(uri)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db.collection("orders").findOne({ orderId: 101 })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217920" y="4572000"/>
            <a:ext cx="5029200" cy="1051560"/>
          </a:xfrm>
          <a:prstGeom prst="roundRect">
            <a:avLst>
              <a:gd name="adj" fmla="val 4348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4663440"/>
            <a:ext cx="4773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Server side concept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6345936" y="4882896"/>
            <a:ext cx="4773168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Server processes command, plans query,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reads data/index pages and returns BSON result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MongoDB data hierarchy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MongoDB organizes information through a simple hierarchy.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05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1828800" cy="530352"/>
          </a:xfrm>
          <a:prstGeom prst="rect">
            <a:avLst/>
          </a:prstGeom>
          <a:solidFill>
            <a:srgbClr val="10233E"/>
          </a:solidFill>
          <a:ln>
            <a:solidFill>
              <a:srgbClr val="10233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MongoDB Cluster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1682496"/>
            <a:ext cx="50292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154680" y="1417320"/>
            <a:ext cx="1463040" cy="530352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682496"/>
            <a:ext cx="54864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166360" y="1417320"/>
            <a:ext cx="1600200" cy="530352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Collection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66560" y="1682496"/>
            <a:ext cx="54864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315200" y="1417320"/>
            <a:ext cx="1463040" cy="530352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778240" y="1682496"/>
            <a:ext cx="54864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326880" y="1417320"/>
            <a:ext cx="1463040" cy="5303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Field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2743200"/>
            <a:ext cx="1156716" cy="4114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Layer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1933956" y="2743200"/>
            <a:ext cx="2366010" cy="4114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Meaning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299966" y="2743200"/>
            <a:ext cx="1735074" cy="4114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Example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" y="3154680"/>
            <a:ext cx="115671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Cluster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933956" y="3154680"/>
            <a:ext cx="236601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Deployment containing servers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299966" y="3154680"/>
            <a:ext cx="173507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Atlas cluster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77240" y="3566160"/>
            <a:ext cx="1156716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Database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933956" y="3566160"/>
            <a:ext cx="236601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Logical namespace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299966" y="3566160"/>
            <a:ext cx="1735074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collegeDB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77240" y="3977640"/>
            <a:ext cx="115671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Collection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933956" y="3977640"/>
            <a:ext cx="236601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Group of documents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299966" y="3977640"/>
            <a:ext cx="173507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students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777240" y="4389120"/>
            <a:ext cx="1156716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Document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933956" y="4389120"/>
            <a:ext cx="236601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One record/object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299966" y="4389120"/>
            <a:ext cx="1735074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one student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777240" y="4800600"/>
            <a:ext cx="1156716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Field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1933956" y="4800600"/>
            <a:ext cx="236601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Key-value property</a:t>
            </a:r>
            <a:endParaRPr lang="en-US" sz="820" dirty="0"/>
          </a:p>
        </p:txBody>
      </p:sp>
      <p:sp>
        <p:nvSpPr>
          <p:cNvPr id="35" name="Text 33"/>
          <p:cNvSpPr/>
          <p:nvPr/>
        </p:nvSpPr>
        <p:spPr>
          <a:xfrm>
            <a:off x="4299966" y="4800600"/>
            <a:ext cx="1735074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name, age, score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400800" y="2788920"/>
            <a:ext cx="4709160" cy="2423160"/>
          </a:xfrm>
          <a:prstGeom prst="roundRect">
            <a:avLst>
              <a:gd name="adj" fmla="val 188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2880360"/>
            <a:ext cx="4453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Hierarchy in commands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528816" y="3099816"/>
            <a:ext cx="4453128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collegeDB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db.createCollection("students")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rollNo: "CSE501", name: "Riya",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21, score: 86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Collections: grouping related documents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A collection is like a table in purpose, but it does not require every document to have identical fields.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50876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Definition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1792224"/>
            <a:ext cx="248716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A collection stores documents that represent the same entity or event type: students, products, orders or sensor readings.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3703320" y="141732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50876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Flexible schema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31336" y="1792224"/>
            <a:ext cx="248716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Documents can have different fields, but production systems should still follow a planned document shape.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720840" y="1417320"/>
            <a:ext cx="2743200" cy="1207008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48856" y="150876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Indexes live here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48856" y="1792224"/>
            <a:ext cx="248716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Indexes are defined per collection and should match the most common queries.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738360" y="1417320"/>
            <a:ext cx="1691640" cy="1207008"/>
          </a:xfrm>
          <a:prstGeom prst="roundRect">
            <a:avLst>
              <a:gd name="adj" fmla="val 6061"/>
            </a:avLst>
          </a:prstGeom>
          <a:solidFill>
            <a:srgbClr val="FFF1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66376" y="150876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2D20"/>
                </a:solidFill>
              </a:rPr>
              <a:t>Limit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66376" y="1792224"/>
            <a:ext cx="143560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82230"/>
                </a:solidFill>
              </a:rPr>
              <a:t>Too many unrelated document types make queries and validation difficult.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731520" y="3154680"/>
            <a:ext cx="5120640" cy="2148840"/>
          </a:xfrm>
          <a:prstGeom prst="roundRect">
            <a:avLst>
              <a:gd name="adj" fmla="val 2128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246120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Flexible collection example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859536" y="3465576"/>
            <a:ext cx="4864608" cy="1764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db.students.insertMany([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name: "Riya", semester: 5, skills: ["DBMS"]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name: "Aman", semester: 5, internship: true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309360" y="3154680"/>
            <a:ext cx="2520086" cy="429768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Good collection design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829446" y="3154680"/>
            <a:ext cx="2326234" cy="429768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Poor collection design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309360" y="3584448"/>
            <a:ext cx="2520086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One business entity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8829446" y="3584448"/>
            <a:ext cx="232623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Mixed unrelated objects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309360" y="4014216"/>
            <a:ext cx="2520086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Predictable queries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8829446" y="4014216"/>
            <a:ext cx="2326234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Random fields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309360" y="4443984"/>
            <a:ext cx="2520086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Indexes match workload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829446" y="4443984"/>
            <a:ext cx="2326234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Indexes added without use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6309360" y="4873752"/>
            <a:ext cx="2520086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Validation when needed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829446" y="4873752"/>
            <a:ext cx="2326234" cy="429768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No data governance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Documents: the basic unit of MongoDB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A document is a set of field–value pairs, stored internally as BSON.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07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800600" cy="4434840"/>
          </a:xfrm>
          <a:prstGeom prst="roundRect">
            <a:avLst>
              <a:gd name="adj" fmla="val 1031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508760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Example document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905256" y="1728216"/>
            <a:ext cx="4544568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_id: ObjectId("66ad..."),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{ first: "Alan", last: "Turing"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birth: ISODate("1912-06-23"),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contributions: ["Turing machine", "Turing test"],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views: NumberLong(1250000),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active: true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3056" y="1508760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Field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63056" y="1792224"/>
            <a:ext cx="22585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82230"/>
                </a:solidFill>
              </a:rPr>
              <a:t>A named key such as name, birth, views or active.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8869680" y="141732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696" y="1508760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97696" y="1792224"/>
            <a:ext cx="22585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82230"/>
                </a:solidFill>
              </a:rPr>
              <a:t>String, number, boolean, date, object, array, binary and more.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035040" y="269748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2788920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Nested document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3056" y="3072384"/>
            <a:ext cx="22585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82230"/>
                </a:solidFill>
              </a:rPr>
              <a:t>Document inside document; useful for structured sub-information.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8869680" y="2697480"/>
            <a:ext cx="25146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97696" y="2788920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Array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97696" y="3072384"/>
            <a:ext cx="225856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82230"/>
                </a:solidFill>
              </a:rPr>
              <a:t>Stores multiple values or embedded documents in one field.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6080760" y="4251960"/>
            <a:ext cx="5303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40" dirty="0">
                <a:solidFill>
                  <a:srgbClr val="182230"/>
                </a:solidFill>
              </a:rPr>
              <a:t>Every document has an _id field, automatically generated if not supplied.</a:t>
            </a:r>
            <a:endParaRPr lang="en-US" sz="1140" dirty="0"/>
          </a:p>
          <a:p>
            <a:r>
              <a:rPr lang="en-US" sz="1140" dirty="0">
                <a:solidFill>
                  <a:srgbClr val="182230"/>
                </a:solidFill>
              </a:rPr>
              <a:t>Fields may be added over time, but uncontrolled variation should be avoided.</a:t>
            </a:r>
            <a:endParaRPr lang="en-US" sz="1140" dirty="0"/>
          </a:p>
          <a:p>
            <a:r>
              <a:rPr lang="en-US" sz="1140" dirty="0">
                <a:solidFill>
                  <a:srgbClr val="182230"/>
                </a:solidFill>
              </a:rPr>
              <a:t>Document design should follow how the application reads and writes data.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BSON?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BSON stands for Binary JSON. It is the binary representation MongoDB uses for documents.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173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Simple definition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1700784"/>
            <a:ext cx="2578608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82230"/>
                </a:solidFill>
              </a:rPr>
              <a:t>BSON is a binary-encoded serialization format for JSON-like documents. MongoDB stores documents and sends them over the network as BSON.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70332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31336" y="14173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Why not only JSON?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31336" y="1700784"/>
            <a:ext cx="2578608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82230"/>
                </a:solidFill>
              </a:rPr>
              <a:t>JSON is text and easy for humans. BSON is designed for database processing with richer data types and type preservation.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72084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48856" y="1417320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Where used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48856" y="1700784"/>
            <a:ext cx="2578608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82230"/>
                </a:solidFill>
              </a:rPr>
              <a:t>Drivers convert programming-language objects into BSON before sending them to MongoDB and convert BSON results back to objects.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9738360" y="132588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FF7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66376" y="141732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Core idea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66376" y="1700784"/>
            <a:ext cx="1435608" cy="7955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82230"/>
                </a:solidFill>
              </a:rPr>
              <a:t>Same logical document shape; more database-friendly representation.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1828800" cy="50292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JSON-like object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639312"/>
            <a:ext cx="91440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657600" y="3383280"/>
            <a:ext cx="1828800" cy="50292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BSON bytes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3639312"/>
            <a:ext cx="91440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00800" y="3383280"/>
            <a:ext cx="1828800" cy="50292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Storage / wire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639312"/>
            <a:ext cx="91440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44000" y="3383280"/>
            <a:ext cx="1828800" cy="502920"/>
          </a:xfrm>
          <a:prstGeom prst="rect">
            <a:avLst/>
          </a:prstGeom>
          <a:solidFill>
            <a:srgbClr val="10233E"/>
          </a:solidFill>
          <a:ln>
            <a:solidFill>
              <a:srgbClr val="10233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Driver object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97280" y="4800600"/>
            <a:ext cx="4526280" cy="1005840"/>
          </a:xfrm>
          <a:prstGeom prst="roundRect">
            <a:avLst>
              <a:gd name="adj" fmla="val 4545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25296" y="4892040"/>
            <a:ext cx="4270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BSON-aware values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1225296" y="5111496"/>
            <a:ext cx="427024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createdAt: ISODate("2026-08-12"),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Decimal128("499.99") }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172200" y="4828032"/>
            <a:ext cx="4983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33E"/>
                </a:solidFill>
              </a:rPr>
              <a:t>Teaching point: examples look like JSON, but MongoDB stores typed BSON values internally.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BSON characteristics: why it suits databases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BSON is not only binary JSON; it carries type information and supports database-oriented values.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2523744" cy="5638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Characteristic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209544" y="1417320"/>
            <a:ext cx="5047488" cy="5638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Meaning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257032" y="1417320"/>
            <a:ext cx="3401568" cy="5638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Example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85800" y="1981200"/>
            <a:ext cx="2523744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Binary encoded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3209544" y="1981200"/>
            <a:ext cx="5047488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Stored/transmitted as bytes rather than plain text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8257032" y="1981200"/>
            <a:ext cx="3401568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Driver sends BSON to server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85800" y="2545080"/>
            <a:ext cx="2523744" cy="5638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Type-rich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3209544" y="2545080"/>
            <a:ext cx="5047488" cy="5638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Supports Date, ObjectId, Decimal128, binary, int32/int64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8257032" y="2545080"/>
            <a:ext cx="3401568" cy="5638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createdAt: ISODate(...)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85800" y="3108960"/>
            <a:ext cx="2523744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Length-prefixed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3209544" y="3108960"/>
            <a:ext cx="5047488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Documents/fields include size information for parsing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8257032" y="3108960"/>
            <a:ext cx="3401568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Server can scan encoded structure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685800" y="3672840"/>
            <a:ext cx="2523744" cy="5638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Ordered fields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3209544" y="3672840"/>
            <a:ext cx="5047488" cy="5638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Field order is preserved in encoded documents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8257032" y="3672840"/>
            <a:ext cx="3401568" cy="5638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Useful internally and for some comparisons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85800" y="4236720"/>
            <a:ext cx="2523744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Driver supported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3209544" y="4236720"/>
            <a:ext cx="5047488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Official drivers handle conversion automatically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8257032" y="4236720"/>
            <a:ext cx="3401568" cy="563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Python dict ↔ BSON document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868680" y="5166360"/>
            <a:ext cx="3063240" cy="685800"/>
          </a:xfrm>
          <a:prstGeom prst="roundRect">
            <a:avLst>
              <a:gd name="adj" fmla="val 10667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" y="5257800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Remember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" y="5541264"/>
            <a:ext cx="280720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BSON keeps values typed, so dates are dates and ObjectIds are not just strings.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389120" y="5166360"/>
            <a:ext cx="3063240" cy="685800"/>
          </a:xfrm>
          <a:prstGeom prst="roundRect">
            <a:avLst>
              <a:gd name="adj" fmla="val 10667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5257800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Developer impact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17136" y="5541264"/>
            <a:ext cx="280720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Drivers convert automatically, but you must choose suitable types intentionally.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7909560" y="5166360"/>
            <a:ext cx="3063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37576" y="5257800"/>
            <a:ext cx="2807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Design impact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37576" y="5541264"/>
            <a:ext cx="2807208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Correct types improve sorting, comparison, indexing and query correctness.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BSON data types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Choosing correct data types prevents incorrect sorting, filtering and precision errors.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1371600" cy="4876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Type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965960" y="1280160"/>
            <a:ext cx="2084832" cy="4876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Use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050792" y="1280160"/>
            <a:ext cx="2029968" cy="48768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Example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594360" y="1767840"/>
            <a:ext cx="13716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String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965960" y="1767840"/>
            <a:ext cx="2084832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Text values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050792" y="1767840"/>
            <a:ext cx="2029968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"Jaipur"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94360" y="2255520"/>
            <a:ext cx="1371600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Boolean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965960" y="2255520"/>
            <a:ext cx="2084832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true/false flags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4050792" y="2255520"/>
            <a:ext cx="2029968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active: true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594360" y="2743200"/>
            <a:ext cx="13716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Int32 / Int64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965960" y="2743200"/>
            <a:ext cx="2084832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Whole numbers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050792" y="2743200"/>
            <a:ext cx="2029968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views: NumberLong(...)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94360" y="3230880"/>
            <a:ext cx="1371600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Double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1965960" y="3230880"/>
            <a:ext cx="2084832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Floating point values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050792" y="3230880"/>
            <a:ext cx="2029968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rating: 4.5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594360" y="3718560"/>
            <a:ext cx="13716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Decimal128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965960" y="3718560"/>
            <a:ext cx="2084832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Precise decimal values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050792" y="3718560"/>
            <a:ext cx="2029968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price: Decimal128("99.90")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594360" y="4206240"/>
            <a:ext cx="1371600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Date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965960" y="4206240"/>
            <a:ext cx="2084832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Time-based comparisons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050792" y="4206240"/>
            <a:ext cx="2029968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ISODate(...)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94360" y="4693920"/>
            <a:ext cx="1371600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ObjectId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965960" y="4693920"/>
            <a:ext cx="2084832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Unique document identity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050792" y="4693920"/>
            <a:ext cx="2029968" cy="48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ObjectId("...")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594360" y="5181600"/>
            <a:ext cx="1371600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Array / Object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965960" y="5181600"/>
            <a:ext cx="2084832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Nested structures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4050792" y="5181600"/>
            <a:ext cx="2029968" cy="48768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82230"/>
                </a:solidFill>
              </a:rPr>
              <a:t>items: [{...}]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446520" y="1417320"/>
            <a:ext cx="4617720" cy="1920240"/>
          </a:xfrm>
          <a:prstGeom prst="roundRect">
            <a:avLst>
              <a:gd name="adj" fmla="val 2381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4536" y="1508760"/>
            <a:ext cx="4361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Correct type choices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6574536" y="1728216"/>
            <a:ext cx="4361688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db.products.insertOne({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"Laptop",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Decimal128("58999.99"),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launchDate: ISODate("2026-08-12"),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stock: NumberInt(50)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6446520" y="3657600"/>
            <a:ext cx="4617720" cy="1005840"/>
          </a:xfrm>
          <a:prstGeom prst="roundRect">
            <a:avLst>
              <a:gd name="adj" fmla="val 7273"/>
            </a:avLst>
          </a:prstGeom>
          <a:solidFill>
            <a:srgbClr val="FFF1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74536" y="3749040"/>
            <a:ext cx="4361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2D20"/>
                </a:solidFill>
              </a:rPr>
              <a:t>Common mistake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74536" y="4032504"/>
            <a:ext cx="43616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82230"/>
                </a:solidFill>
              </a:rPr>
              <a:t>Storing numbers or dates as strings makes range queries and sorting behave incorrectly.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6446520" y="4983480"/>
            <a:ext cx="4617720" cy="822960"/>
          </a:xfrm>
          <a:prstGeom prst="roundRect">
            <a:avLst>
              <a:gd name="adj" fmla="val 5556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5074920"/>
            <a:ext cx="4361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Avoid string dates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6574536" y="5294376"/>
            <a:ext cx="43616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Bad for date comparison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launchDate: "12-08-2026" }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BSON: advantages and disadvantages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BSON is practical for database systems, but it also has trade-offs.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1942186" cy="670560"/>
          </a:xfrm>
          <a:prstGeom prst="rect">
            <a:avLst/>
          </a:prstGeom>
          <a:solidFill>
            <a:srgbClr val="13AA52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Advantages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627986" y="1325880"/>
            <a:ext cx="3452774" cy="670560"/>
          </a:xfrm>
          <a:prstGeom prst="rect">
            <a:avLst/>
          </a:prstGeom>
          <a:solidFill>
            <a:srgbClr val="13AA52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Explanation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685800" y="1996440"/>
            <a:ext cx="1942186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Richer types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2627986" y="1996440"/>
            <a:ext cx="3452774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Dates, ObjectId, Decimal128, binary data and integer sizes are represented explicitly.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685800" y="2667000"/>
            <a:ext cx="1942186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Fast driver/server exchange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27986" y="2667000"/>
            <a:ext cx="3452774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Drivers serialize objects into a consistent database format.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685800" y="3337560"/>
            <a:ext cx="1942186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Type-safe querying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2627986" y="3337560"/>
            <a:ext cx="3452774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Range and sort operations work correctly for date/number types.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685800" y="4008120"/>
            <a:ext cx="1942186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Nested data support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2627986" y="4008120"/>
            <a:ext cx="3452774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Objects and arrays are first-class values.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685800" y="4678680"/>
            <a:ext cx="1942186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Cross-language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2627986" y="4678680"/>
            <a:ext cx="3452774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Drivers map BSON values to language-specific objects.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6400800" y="1325880"/>
            <a:ext cx="2131466" cy="670560"/>
          </a:xfrm>
          <a:prstGeom prst="rect">
            <a:avLst/>
          </a:prstGeom>
          <a:solidFill>
            <a:srgbClr val="D92D20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Disadvantages / cautions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532266" y="1325880"/>
            <a:ext cx="2943454" cy="670560"/>
          </a:xfrm>
          <a:prstGeom prst="rect">
            <a:avLst/>
          </a:prstGeom>
          <a:solidFill>
            <a:srgbClr val="D92D20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Explanation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400800" y="1996440"/>
            <a:ext cx="2131466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Less human-readable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8532266" y="1996440"/>
            <a:ext cx="2943454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Raw BSON is binary; JSON display is for humans.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6400800" y="2667000"/>
            <a:ext cx="2131466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Can be larger than compact JSON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8532266" y="2667000"/>
            <a:ext cx="2943454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BSON includes type and length metadata.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400800" y="3337560"/>
            <a:ext cx="2131466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Type mismatch risk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8532266" y="3337560"/>
            <a:ext cx="2943454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Wrong type choices cause query bugs or precision problems.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6400800" y="4008120"/>
            <a:ext cx="2131466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Document size limit</a:t>
            </a:r>
            <a:endParaRPr lang="en-US" sz="810" dirty="0"/>
          </a:p>
        </p:txBody>
      </p:sp>
      <p:sp>
        <p:nvSpPr>
          <p:cNvPr id="30" name="Text 28"/>
          <p:cNvSpPr/>
          <p:nvPr/>
        </p:nvSpPr>
        <p:spPr>
          <a:xfrm>
            <a:off x="8532266" y="4008120"/>
            <a:ext cx="2943454" cy="6705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Unbounded arrays are dangerous.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400800" y="4678680"/>
            <a:ext cx="2131466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Needs driver support</a:t>
            </a:r>
            <a:endParaRPr lang="en-US" sz="810" dirty="0"/>
          </a:p>
        </p:txBody>
      </p:sp>
      <p:sp>
        <p:nvSpPr>
          <p:cNvPr id="32" name="Text 30"/>
          <p:cNvSpPr/>
          <p:nvPr/>
        </p:nvSpPr>
        <p:spPr>
          <a:xfrm>
            <a:off x="8532266" y="4678680"/>
            <a:ext cx="2943454" cy="67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Use official drivers for safe conversion.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960120" y="5715000"/>
            <a:ext cx="102412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33E"/>
                </a:solidFill>
              </a:rPr>
              <a:t>Bottom line: BSON preserves database-friendly types, but developers must design document shape and field types carefully.</a:t>
            </a:r>
            <a:endParaRPr lang="en-US" sz="12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Extended JSON: showing BSON values in text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Extended JSON represents BSON-only types in a JSON-compatible way.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5349240" cy="1920240"/>
          </a:xfrm>
          <a:prstGeom prst="roundRect">
            <a:avLst>
              <a:gd name="adj" fmla="val 2381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508760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mongosh display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59536" y="1728216"/>
            <a:ext cx="5093208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Normal-looking shell syntax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db.events.insertOne({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time: ISODate("2026-08-12T09:00:00Z"),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Decimal128("1499.50")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349240" cy="1828800"/>
          </a:xfrm>
          <a:prstGeom prst="roundRect">
            <a:avLst>
              <a:gd name="adj" fmla="val 25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749040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Interoperable text representation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859536" y="3968496"/>
            <a:ext cx="509320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Extended JSON form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"time": { "$date": "2026-08-12T09:00:00Z"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"total": { "$numberDecimal": "1499.50"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446520" y="150876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74536" y="160020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Why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74536" y="1883664"/>
            <a:ext cx="440740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82230"/>
                </a:solidFill>
              </a:rPr>
              <a:t>Plain JSON has no native ObjectId, Date or Decimal128. Extended JSON safely represents these values in text.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446520" y="274320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74536" y="283464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Where seen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74536" y="3118104"/>
            <a:ext cx="440740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82230"/>
                </a:solidFill>
              </a:rPr>
              <a:t>Data export/import, APIs, logs, documentation, MongoDB tools and drivers.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446520" y="39776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74536" y="406908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Teaching note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74536" y="4352544"/>
            <a:ext cx="440740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82230"/>
                </a:solidFill>
              </a:rPr>
              <a:t>Do not confuse display syntax with storage. MongoDB still stores the typed BSON value.</a:t>
            </a:r>
            <a:endParaRPr lang="en-US" sz="10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_id and ObjectId: document identity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Every MongoDB document must have a unique _id inside its collection.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4983480" cy="2286000"/>
          </a:xfrm>
          <a:prstGeom prst="roundRect">
            <a:avLst>
              <a:gd name="adj" fmla="val 20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508760"/>
            <a:ext cx="4727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Automatic _id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59536" y="1728216"/>
            <a:ext cx="472744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"Karan",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semester: 5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MongoDB/driver adds _id if absent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_id: ObjectId("66aa..."), name: "Karan", semester: 5 }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50876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Primary identity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8776" y="1792224"/>
            <a:ext cx="216712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_id behaves like a primary key for the document in that collection.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823960" y="141732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150876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ObjectId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51976" y="1792224"/>
            <a:ext cx="216712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Common 12-byte identifier generated without a central counter.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80760" y="26517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274320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Unique index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3026664"/>
            <a:ext cx="216712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MongoDB automatically creates a unique index on _id.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823960" y="2651760"/>
            <a:ext cx="24231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51976" y="2743200"/>
            <a:ext cx="2167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Custom _id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51976" y="3026664"/>
            <a:ext cx="216712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Use roll number, email, UUID or business ID if uniqueness is guaranteed.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6080760" y="4069080"/>
            <a:ext cx="1808226" cy="35433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ID choice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888986" y="4069080"/>
            <a:ext cx="3358134" cy="35433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When appropriate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080760" y="4423410"/>
            <a:ext cx="1808226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ObjectId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888986" y="4423410"/>
            <a:ext cx="3358134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General records, distributed inserts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080760" y="4777740"/>
            <a:ext cx="1808226" cy="35433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Business key as _id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7888986" y="4777740"/>
            <a:ext cx="3358134" cy="35433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Unique rollNo/orderNo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6080760" y="5132070"/>
            <a:ext cx="1808226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UUID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7888986" y="5132070"/>
            <a:ext cx="3358134" cy="35433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82230"/>
                </a:solidFill>
              </a:rPr>
              <a:t>Cross-system identity or privacy-sensitive ID</a:t>
            </a:r>
            <a:endParaRPr lang="en-US" sz="8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Embedding: storing related data together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Embedding is the main design pattern for data owned by and read with the parent document.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800600" cy="4343400"/>
          </a:xfrm>
          <a:prstGeom prst="roundRect">
            <a:avLst>
              <a:gd name="adj" fmla="val 1053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508760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Order with embedded objects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905256" y="1728216"/>
            <a:ext cx="4544568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orderId: "O1001",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customerId: "C501",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shippingAddress: { city: "Jaipur", pin: 302001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sku: "B101", qty: 2, price: 500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sku: "P205", qty: 1, price: 1200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"Packed"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80760" y="14173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15087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Use when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08776" y="1792224"/>
            <a:ext cx="23042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Data has one-to-one or one-to-few relation and is frequently read together.</a:t>
            </a:r>
            <a:endParaRPr lang="en-US" sz="990" dirty="0"/>
          </a:p>
        </p:txBody>
      </p:sp>
      <p:sp>
        <p:nvSpPr>
          <p:cNvPr id="15" name="Shape 13"/>
          <p:cNvSpPr/>
          <p:nvPr/>
        </p:nvSpPr>
        <p:spPr>
          <a:xfrm>
            <a:off x="8823960" y="141732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15087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51976" y="1792224"/>
            <a:ext cx="23042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One document read can return the whole object; fewer queries and joins.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6080760" y="2606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269748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2D20"/>
                </a:solidFill>
              </a:rPr>
              <a:t>Caution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2980944"/>
            <a:ext cx="23042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Large or unbounded arrays can hit document limits and slow updates.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8823960" y="2606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51976" y="269748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Examples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51976" y="2980944"/>
            <a:ext cx="23042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Order line items, profile settings, address, small comments list.</a:t>
            </a:r>
            <a:endParaRPr lang="en-US" sz="990" dirty="0"/>
          </a:p>
        </p:txBody>
      </p:sp>
      <p:sp>
        <p:nvSpPr>
          <p:cNvPr id="24" name="Text 22"/>
          <p:cNvSpPr/>
          <p:nvPr/>
        </p:nvSpPr>
        <p:spPr>
          <a:xfrm>
            <a:off x="6126480" y="4251960"/>
            <a:ext cx="52120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20" dirty="0">
                <a:solidFill>
                  <a:srgbClr val="182230"/>
                </a:solidFill>
              </a:rPr>
              <a:t>Question to ask: Will the application usually read this data together?</a:t>
            </a:r>
            <a:endParaRPr lang="en-US" sz="1120" dirty="0"/>
          </a:p>
          <a:p>
            <a:r>
              <a:rPr lang="en-US" sz="1120" dirty="0">
                <a:solidFill>
                  <a:srgbClr val="182230"/>
                </a:solidFill>
              </a:rPr>
              <a:t>If yes and the data is bounded, embedding is often a good fit.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Referencing: linking documents by ID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Use references when related data is large, independent, shared or updated separately.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892040" cy="2011680"/>
          </a:xfrm>
          <a:prstGeom prst="roundRect">
            <a:avLst>
              <a:gd name="adj" fmla="val 2273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50876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Separate collections linked by ID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905256" y="1728216"/>
            <a:ext cx="4636008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products collection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_id: ObjectId("P1"), name: "Keyboard", price: 999 }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reviews collection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productId: ObjectId("P1"), user: "Asha", rating: 5 }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126480" y="1417320"/>
            <a:ext cx="2583180" cy="484632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Choose embedding when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709660" y="1417320"/>
            <a:ext cx="2583180" cy="484632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Choose referencing when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126480" y="1901952"/>
            <a:ext cx="25831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Data is owned by parent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709660" y="1901952"/>
            <a:ext cx="25831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Data is shared by many parents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2386584"/>
            <a:ext cx="2583180" cy="484632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Small and bounded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709660" y="2386584"/>
            <a:ext cx="2583180" cy="484632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Large or unbounded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2871216"/>
            <a:ext cx="25831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Read together most of the 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09660" y="2871216"/>
            <a:ext cx="258318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Read separately most of the time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3355848"/>
            <a:ext cx="2583180" cy="484632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Atomic update useful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09660" y="3355848"/>
            <a:ext cx="2583180" cy="484632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Independent update lifecycle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68680" y="406908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6696" y="41605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Product reviews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696" y="4443984"/>
            <a:ext cx="28529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30"/>
                </a:solidFill>
              </a:rPr>
              <a:t>A product can have thousands of reviews. Referencing keeps reviews scalable.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343400" y="406908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71416" y="41605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Users and roles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71416" y="4443984"/>
            <a:ext cx="28529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30"/>
                </a:solidFill>
              </a:rPr>
              <a:t>A role may be shared by many users; store it separately and reference it.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7818120" y="4069080"/>
            <a:ext cx="3108960" cy="1097280"/>
          </a:xfrm>
          <a:prstGeom prst="roundRect">
            <a:avLst>
              <a:gd name="adj" fmla="val 6667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46136" y="4160520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Trade-off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46136" y="4443984"/>
            <a:ext cx="28529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82230"/>
                </a:solidFill>
              </a:rPr>
              <a:t>Referencing may require an extra query or $lookup, but avoids uncontrolled growth.</a:t>
            </a:r>
            <a:endParaRPr lang="en-US" sz="9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CRUD operations: create, read, update, delete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MongoDB Query Language uses JSON-like documents for filters and update operators.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5486400" cy="2331720"/>
          </a:xfrm>
          <a:prstGeom prst="roundRect">
            <a:avLst>
              <a:gd name="adj" fmla="val 1961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1732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Insert and find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13816" y="1636776"/>
            <a:ext cx="523036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db.students.insertOne({ name: "Riya", age: 21, score: 86 })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age: { $gt: 20 } }).sort({ score: -1 })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5486400" cy="1691640"/>
          </a:xfrm>
          <a:prstGeom prst="roundRect">
            <a:avLst>
              <a:gd name="adj" fmla="val 2703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406908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Update and delete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813816" y="4288536"/>
            <a:ext cx="5230368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db.students.updateOne({ name: "Riya" }, { $set: { score: 90 } })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Delete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db.students.deleteMany({ semester: { $lt: 3 } })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583680" y="14173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150876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Filter document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11696" y="1792224"/>
            <a:ext cx="44074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Specifies which documents match. Example: { age: { $gt: 20 } }</a:t>
            </a:r>
            <a:endParaRPr lang="en-US" sz="990" dirty="0"/>
          </a:p>
        </p:txBody>
      </p:sp>
      <p:sp>
        <p:nvSpPr>
          <p:cNvPr id="18" name="Shape 16"/>
          <p:cNvSpPr/>
          <p:nvPr/>
        </p:nvSpPr>
        <p:spPr>
          <a:xfrm>
            <a:off x="6583680" y="25603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265176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Projection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11696" y="2935224"/>
            <a:ext cx="44074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Selects fields to return. Example: { name: 1, score: 1, _id: 0 }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6583680" y="37033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379476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Update operators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11696" y="4078224"/>
            <a:ext cx="44074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Operators like $set, $inc and $push change selected fields safely.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6583680" y="484632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1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11696" y="4937760"/>
            <a:ext cx="4407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2D20"/>
                </a:solidFill>
              </a:rPr>
              <a:t>Write safety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5221224"/>
            <a:ext cx="440740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82230"/>
                </a:solidFill>
              </a:rPr>
              <a:t>Use filters carefully; updateMany/deleteMany can affect many records.</a:t>
            </a:r>
            <a:endParaRPr lang="en-US" sz="99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path: what happens when a query runs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A query is planned, executed using indexes or scans, and returned as BSON results.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1188720" cy="475488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Application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1600200" y="1664208"/>
            <a:ext cx="32004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920240" y="1417320"/>
            <a:ext cx="1188720" cy="47548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Driver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3108960" y="1664208"/>
            <a:ext cx="32004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429000" y="1417320"/>
            <a:ext cx="1188720" cy="475488"/>
          </a:xfrm>
          <a:prstGeom prst="rect">
            <a:avLst/>
          </a:prstGeom>
          <a:solidFill>
            <a:srgbClr val="00B894"/>
          </a:solidFill>
          <a:ln>
            <a:solidFill>
              <a:srgbClr val="00B894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Network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617720" y="1664208"/>
            <a:ext cx="32004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937760" y="1417320"/>
            <a:ext cx="1188720" cy="475488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mongod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126480" y="1664208"/>
            <a:ext cx="32004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46520" y="1417320"/>
            <a:ext cx="1188720" cy="475488"/>
          </a:xfrm>
          <a:prstGeom prst="rect">
            <a:avLst/>
          </a:prstGeom>
          <a:solidFill>
            <a:srgbClr val="0A7A43"/>
          </a:solidFill>
          <a:ln>
            <a:solidFill>
              <a:srgbClr val="0A7A4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Query planner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7635240" y="1664208"/>
            <a:ext cx="45720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8092440" y="1417320"/>
            <a:ext cx="1188720" cy="475488"/>
          </a:xfrm>
          <a:prstGeom prst="rect">
            <a:avLst/>
          </a:prstGeom>
          <a:solidFill>
            <a:srgbClr val="10233E"/>
          </a:solidFill>
          <a:ln>
            <a:solidFill>
              <a:srgbClr val="10233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Storage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9281160" y="1664208"/>
            <a:ext cx="64008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921240" y="1417320"/>
            <a:ext cx="1188720" cy="475488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Result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40080" y="278892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88036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1. Serialize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" y="316382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Driver converts filter and options to BSON.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971800" y="278892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9816" y="288036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2. Plan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99816" y="316382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Server chooses index or collection scan based on query and statistics.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303520" y="278892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288036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3. Execute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31536" y="316382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Storage engine reads index/data pages from cache or disk.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7635240" y="2788920"/>
            <a:ext cx="21488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63256" y="288036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4. Return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63256" y="3163824"/>
            <a:ext cx="1892808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Matching documents are converted back through driver objects.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914400" y="4709160"/>
            <a:ext cx="4754880" cy="822960"/>
          </a:xfrm>
          <a:prstGeom prst="roundRect">
            <a:avLst>
              <a:gd name="adj" fmla="val 5556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4800600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Query example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1042416" y="5020056"/>
            <a:ext cx="44988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db.orders.find({ customerId: "C501", status: "Packed" })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6217920" y="4736592"/>
            <a:ext cx="475488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10233E"/>
                </a:solidFill>
              </a:rPr>
              <a:t>If an index exists on { customerId: 1, status: 1 }, the planner can avoid scanning every order document.</a:t>
            </a:r>
            <a:endParaRPr lang="en-US" sz="12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Indexes: speed for reads, cost for writes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Indexes are separate data structures that help MongoDB find matching documents quickly.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18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5212080" cy="1325880"/>
          </a:xfrm>
          <a:prstGeom prst="roundRect">
            <a:avLst>
              <a:gd name="adj" fmla="val 3448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17320"/>
            <a:ext cx="4956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Compound index example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13816" y="1636776"/>
            <a:ext cx="495604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db.students.createIndex({ semester: 1, score: -1 })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semester: 5 }).sort({ score: -1 })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1824228" cy="36576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Index type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510028" y="2971800"/>
            <a:ext cx="3387852" cy="36576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Use case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85800" y="3337560"/>
            <a:ext cx="18242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Single-field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510028" y="3337560"/>
            <a:ext cx="33878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Filter by one field: email, status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685800" y="3703320"/>
            <a:ext cx="182422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Compound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2510028" y="3703320"/>
            <a:ext cx="3387852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Filter/sort by multiple fields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18242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Multikey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2510028" y="4069080"/>
            <a:ext cx="33878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Index array fields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685800" y="4434840"/>
            <a:ext cx="1824228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Text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2510028" y="4434840"/>
            <a:ext cx="3387852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Text search on string content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685800" y="4800600"/>
            <a:ext cx="182422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TTL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2510028" y="4800600"/>
            <a:ext cx="3387852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Automatically remove expired documents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6400800" y="132588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8816" y="141732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Advantage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28816" y="1700784"/>
            <a:ext cx="198424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Greatly improves reads when the index matches filter/sort pattern.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961120" y="132588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89136" y="1417320"/>
            <a:ext cx="1984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Cost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89136" y="1700784"/>
            <a:ext cx="198424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Each index uses storage and must be updated during writes.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400800" y="25603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2651760"/>
            <a:ext cx="4544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Design rule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28816" y="2935224"/>
            <a:ext cx="4544568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Do not index everything. Create indexes based on real query patterns and verify with explain().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400800" y="4023360"/>
            <a:ext cx="4800600" cy="1097280"/>
          </a:xfrm>
          <a:prstGeom prst="roundRect">
            <a:avLst>
              <a:gd name="adj" fmla="val 416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4114800"/>
            <a:ext cx="4544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Check query plan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528816" y="4334256"/>
            <a:ext cx="454456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db.students.find({ semester: 5 })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.sort({ score: -1 })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.explain("executionStats")</a:t>
            </a:r>
            <a:endParaRPr lang="en-US" sz="8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Aggregation pipeline: processing documents step by step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Aggregation filters, transforms, groups and summarizes documents.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19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463040" cy="45720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$match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1691640"/>
            <a:ext cx="50292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743200" y="1463040"/>
            <a:ext cx="1463040" cy="457200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$group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691640"/>
            <a:ext cx="50292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709160" y="1463040"/>
            <a:ext cx="1463040" cy="45720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$sort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50292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675120" y="1463040"/>
            <a:ext cx="1463040" cy="4572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$project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50292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41080" y="1463040"/>
            <a:ext cx="1463040" cy="457200"/>
          </a:xfrm>
          <a:prstGeom prst="rect">
            <a:avLst/>
          </a:prstGeom>
          <a:solidFill>
            <a:srgbClr val="10233E"/>
          </a:solidFill>
          <a:ln>
            <a:solidFill>
              <a:srgbClr val="10233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2743200"/>
            <a:ext cx="5577840" cy="2286000"/>
          </a:xfrm>
          <a:prstGeom prst="roundRect">
            <a:avLst>
              <a:gd name="adj" fmla="val 20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2834640"/>
            <a:ext cx="5321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Top 5 customers by order value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859536" y="3054096"/>
            <a:ext cx="532180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db.orders.aggregate([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$match: { status: "Delivered" }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 _id: "$customerId", total: { $sum: "$amount" } }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$sort: { total: -1 }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$limit: 5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6766560" y="27432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2834640"/>
            <a:ext cx="3950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Why aggregation matters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94576" y="3118104"/>
            <a:ext cx="395020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It performs analytics close to data instead of transferring all documents to the app.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766560" y="39776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4069080"/>
            <a:ext cx="3950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Advanced use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4352544"/>
            <a:ext cx="395020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Can reshape documents, join with $lookup, unwind arrays and compute reports.</a:t>
            </a:r>
            <a:endParaRPr lang="en-US" sz="10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Replica sets: high availability and data redundancy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A replica set is a group of mongod servers that maintain the same data set.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892040" y="1325880"/>
            <a:ext cx="2011680" cy="566928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Primary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154680"/>
            <a:ext cx="2011680" cy="5669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Secondary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3154680"/>
            <a:ext cx="2011680" cy="5669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Secondary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49640" y="3154680"/>
            <a:ext cx="2011680" cy="56692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Secondary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97880" y="1892808"/>
            <a:ext cx="-3657600" cy="1261872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897880" y="1892808"/>
            <a:ext cx="0" cy="1261872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97880" y="1892808"/>
            <a:ext cx="3657600" cy="1261872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4617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7091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Primary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4992624"/>
            <a:ext cx="23042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Receives writes and records operations in the oplog.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611880" y="4617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9896" y="47091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Secondaries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39896" y="4992624"/>
            <a:ext cx="23042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Replicate operations from primary and can serve reads if configured.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6492240" y="461772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470916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Election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0256" y="4992624"/>
            <a:ext cx="230428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If primary fails, members elect a new primary automatically.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9372600" y="46177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0616" y="470916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Goal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0616" y="4992624"/>
            <a:ext cx="1664208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82230"/>
                </a:solidFill>
              </a:rPr>
              <a:t>Keep service available during server failure.</a:t>
            </a:r>
            <a:endParaRPr lang="en-US" sz="89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 concern and read concern: consistency controls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MongoDB lets you choose how strongly a write/read should be acknowledged or isolated.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1250899" cy="603504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Concept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1936699" y="1371600"/>
            <a:ext cx="2606040" cy="603504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Meaning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542739" y="1371600"/>
            <a:ext cx="1355141" cy="603504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Example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85800" y="1975104"/>
            <a:ext cx="1250899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writeConcern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1936699" y="1975104"/>
            <a:ext cx="26060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How many members acknowledge a write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542739" y="1975104"/>
            <a:ext cx="1355141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w: "majority"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685800" y="2578608"/>
            <a:ext cx="1250899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readConcern</a:t>
            </a:r>
            <a:endParaRPr lang="en-US" sz="830" dirty="0"/>
          </a:p>
        </p:txBody>
      </p:sp>
      <p:sp>
        <p:nvSpPr>
          <p:cNvPr id="16" name="Text 14"/>
          <p:cNvSpPr/>
          <p:nvPr/>
        </p:nvSpPr>
        <p:spPr>
          <a:xfrm>
            <a:off x="1936699" y="2578608"/>
            <a:ext cx="260604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What level of committed data a read returns</a:t>
            </a:r>
            <a:endParaRPr lang="en-US" sz="830" dirty="0"/>
          </a:p>
        </p:txBody>
      </p:sp>
      <p:sp>
        <p:nvSpPr>
          <p:cNvPr id="17" name="Text 15"/>
          <p:cNvSpPr/>
          <p:nvPr/>
        </p:nvSpPr>
        <p:spPr>
          <a:xfrm>
            <a:off x="4542739" y="2578608"/>
            <a:ext cx="1355141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"majority"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685800" y="3182112"/>
            <a:ext cx="1250899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readPreference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936699" y="3182112"/>
            <a:ext cx="26060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Which replica member serves reads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542739" y="3182112"/>
            <a:ext cx="1355141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primary / secondary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685800" y="3785616"/>
            <a:ext cx="1250899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Trade-off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936699" y="3785616"/>
            <a:ext cx="260604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Stronger guarantees may add latency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4542739" y="3785616"/>
            <a:ext cx="1355141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majority vs local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400800" y="1417320"/>
            <a:ext cx="4754880" cy="1463040"/>
          </a:xfrm>
          <a:prstGeom prst="roundRect">
            <a:avLst>
              <a:gd name="adj" fmla="val 3125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8816" y="1508760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Majority acknowledged write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6528816" y="1728216"/>
            <a:ext cx="4498848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db.orders.insertOne(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orderId: "O501", amount: 900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writeConcern: { w: "majority" }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400800" y="333756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8816" y="3429000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Why important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28816" y="3712464"/>
            <a:ext cx="449884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For banking-like data you may prefer stronger acknowledgement. For logs, lower latency may matter more.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400800" y="452628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4617720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Teaching example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28816" y="4901184"/>
            <a:ext cx="449884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Attendance updates are serious; use safe write concern. Clickstream logs may tolerate weaker guarantees.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Sharding: horizontal scaling across servers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Sharding splits a large collection across machines so data and workload can scale out.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1645920" cy="475488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325880"/>
            <a:ext cx="1645920" cy="475488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mongos router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143000"/>
            <a:ext cx="1645920" cy="47548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Shard 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965960"/>
            <a:ext cx="1645920" cy="47548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Shard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2788920"/>
            <a:ext cx="1645920" cy="475488"/>
          </a:xfrm>
          <a:prstGeom prst="rect">
            <a:avLst/>
          </a:prstGeom>
          <a:solidFill>
            <a:srgbClr val="2B6CB0"/>
          </a:solidFill>
          <a:ln>
            <a:solidFill>
              <a:srgbClr val="2B6CB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Shard 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1325880"/>
            <a:ext cx="1920240" cy="475488"/>
          </a:xfrm>
          <a:prstGeom prst="rect">
            <a:avLst/>
          </a:prstGeom>
          <a:solidFill>
            <a:srgbClr val="10233E"/>
          </a:solidFill>
          <a:ln>
            <a:solidFill>
              <a:srgbClr val="10233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Config servers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1572768"/>
            <a:ext cx="36576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1572768"/>
            <a:ext cx="640080" cy="-192024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1572768"/>
            <a:ext cx="640080" cy="630936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80560" y="1572768"/>
            <a:ext cx="640080" cy="1453896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55280" y="1572768"/>
            <a:ext cx="-1143000" cy="0"/>
          </a:xfrm>
          <a:prstGeom prst="line">
            <a:avLst/>
          </a:prstGeom>
          <a:noFill/>
          <a:ln w="1397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" y="37033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37947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mongos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5256" y="4078224"/>
            <a:ext cx="23957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82230"/>
                </a:solidFill>
              </a:rPr>
              <a:t>Query router. Application connects to mongos as if it were a normal server.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3703320" y="37033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31336" y="37947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Shards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31336" y="4078224"/>
            <a:ext cx="23957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82230"/>
                </a:solidFill>
              </a:rPr>
              <a:t>Each shard stores a subset of data. A shard is usually a replica set.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629400" y="37033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37947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Config servers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57416" y="4078224"/>
            <a:ext cx="23957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82230"/>
                </a:solidFill>
              </a:rPr>
              <a:t>Store metadata: which chunks live on which shards.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555480" y="3703320"/>
            <a:ext cx="1691640" cy="1097280"/>
          </a:xfrm>
          <a:prstGeom prst="roundRect">
            <a:avLst>
              <a:gd name="adj" fmla="val 6667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83496" y="3794760"/>
            <a:ext cx="1435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Goal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83496" y="4078224"/>
            <a:ext cx="143560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182230"/>
                </a:solidFill>
              </a:rPr>
              <a:t>Scale data volume and throughput.</a:t>
            </a:r>
            <a:endParaRPr lang="en-US" sz="89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Shard key: the most important sharding decision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The shard key determines distribution and query routing.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5120640" cy="1097280"/>
          </a:xfrm>
          <a:prstGeom prst="roundRect">
            <a:avLst>
              <a:gd name="adj" fmla="val 416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17320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Shard by customerId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59536" y="1636776"/>
            <a:ext cx="4864608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sh.shardCollection("shop.orders", { customerId: 1 })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731520" y="2743200"/>
            <a:ext cx="1843430" cy="44196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Shard key property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574950" y="2743200"/>
            <a:ext cx="3277210" cy="441960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Why it matters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731520" y="3185160"/>
            <a:ext cx="184343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High cardinality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2574950" y="3185160"/>
            <a:ext cx="327721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Many values prevent hot partitions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731520" y="3627120"/>
            <a:ext cx="1843430" cy="4419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Good distribution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2574950" y="3627120"/>
            <a:ext cx="3277210" cy="4419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Avoids one shard receiving most writes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731520" y="4069080"/>
            <a:ext cx="184343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Query aligned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2574950" y="4069080"/>
            <a:ext cx="327721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Queries including shard key target fewer shards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731520" y="4511040"/>
            <a:ext cx="1843430" cy="4419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Stable value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2574950" y="4511040"/>
            <a:ext cx="3277210" cy="441960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Changing shard key value can be expensive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731520" y="4953000"/>
            <a:ext cx="184343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Avoid monotonic hotspots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2574950" y="4953000"/>
            <a:ext cx="3277210" cy="441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Increasing keys may overload one shard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6309360" y="132588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37376" y="1417320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Good example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37376" y="1700784"/>
            <a:ext cx="449884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customerId for orders when workload often queries orders by customer and customers are balanced.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309360" y="25146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1F0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2606040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2D20"/>
                </a:solidFill>
              </a:rPr>
              <a:t>Bad example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37376" y="2889504"/>
            <a:ext cx="449884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createdAt alone for heavy inserts: new documents arrive in the same time range and create hotspots.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309360" y="370332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37376" y="3794760"/>
            <a:ext cx="449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Advanced idea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37376" y="4078224"/>
            <a:ext cx="449884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Compound or hashed keys can improve distribution, but must support query patterns.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6309360" y="4983480"/>
            <a:ext cx="4754880" cy="594360"/>
          </a:xfrm>
          <a:prstGeom prst="roundRect">
            <a:avLst>
              <a:gd name="adj" fmla="val 7692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5074920"/>
            <a:ext cx="4498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Compound key idea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437376" y="5294376"/>
            <a:ext cx="4498848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Possible compound key: { customerId: 1, createdAt: -1 }</a:t>
            </a:r>
            <a:endParaRPr lang="en-US" sz="8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engine: WiredTiger concepts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WiredTiger manages cache, compression, journaling and concurrency.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17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Cache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" y="1700784"/>
            <a:ext cx="235000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Frequently accessed data and index pages are kept in memory to reduce disk access.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9896" y="1417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Compression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39896" y="1700784"/>
            <a:ext cx="235000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Data/index compression can reduce disk usage depending on data patterns.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37960" y="132588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5976" y="1417320"/>
            <a:ext cx="235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Journal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65976" y="1700784"/>
            <a:ext cx="235000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82230"/>
                </a:solidFill>
              </a:rPr>
              <a:t>Write-ahead logging helps recover consistent state after crashes.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64040" y="132588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92056" y="1417320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Concurrency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92056" y="1700784"/>
            <a:ext cx="1709928" cy="7040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2230"/>
                </a:solidFill>
              </a:rPr>
              <a:t>Document-level concurrency supports many simultaneous operations.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3566160"/>
            <a:ext cx="1828800" cy="502920"/>
          </a:xfrm>
          <a:prstGeom prst="rect">
            <a:avLst/>
          </a:prstGeom>
          <a:solidFill>
            <a:srgbClr val="6D5BD0"/>
          </a:solidFill>
          <a:ln>
            <a:solidFill>
              <a:srgbClr val="6D5BD0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 / Write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3822192"/>
            <a:ext cx="86868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703320" y="3566160"/>
            <a:ext cx="1828800" cy="502920"/>
          </a:xfrm>
          <a:prstGeom prst="rect">
            <a:avLst/>
          </a:prstGeom>
          <a:solidFill>
            <a:srgbClr val="13AA52"/>
          </a:solidFill>
          <a:ln>
            <a:solidFill>
              <a:srgbClr val="13AA52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WiredTiger cache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3822192"/>
            <a:ext cx="86868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6400800" y="3566160"/>
            <a:ext cx="182880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Journal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822192"/>
            <a:ext cx="868680" cy="0"/>
          </a:xfrm>
          <a:prstGeom prst="line">
            <a:avLst/>
          </a:prstGeom>
          <a:noFill/>
          <a:ln w="1778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098280" y="3566160"/>
            <a:ext cx="1828800" cy="502920"/>
          </a:xfrm>
          <a:prstGeom prst="rect">
            <a:avLst/>
          </a:prstGeom>
          <a:solidFill>
            <a:srgbClr val="10233E"/>
          </a:solidFill>
          <a:ln>
            <a:solidFill>
              <a:srgbClr val="10233E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Disk files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257800"/>
            <a:ext cx="1060704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33E"/>
                </a:solidFill>
              </a:rPr>
              <a:t>Performance note: enough RAM for the working set and good indexes often matters more than raw disk size.</a:t>
            </a:r>
            <a:endParaRPr lang="en-US" sz="12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Schema validation: control flexibility when needed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MongoDB is schema-flexible, but collections can enforce rules using JSON Schema validation.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5349240" cy="3108960"/>
          </a:xfrm>
          <a:prstGeom prst="roundRect">
            <a:avLst>
              <a:gd name="adj" fmla="val 1471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17320"/>
            <a:ext cx="5093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Collection validation example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13816" y="1636776"/>
            <a:ext cx="5093208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db.createCollection("students",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validator: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$jsonSchema: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bsonType: "object",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required: ["name", "age", "email"],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properties: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{ bsonType: "string"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age: { bsonType: "int", minimum: 16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email: { bsonType: "string"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1508760"/>
            <a:ext cx="4453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Why use 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8816" y="1792224"/>
            <a:ext cx="445312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Prevents obviously wrong documents from entering important collections.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2697480"/>
            <a:ext cx="4453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When to use 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8816" y="2980944"/>
            <a:ext cx="445312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Financial records, user profiles, academic records, inventory and regulated data.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400800" y="3794760"/>
            <a:ext cx="47091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3886200"/>
            <a:ext cx="4453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Advanced control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28816" y="4169664"/>
            <a:ext cx="445312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Validation can be strict/moderate and can warn or error depending on migration needs.</a:t>
            </a:r>
            <a:endParaRPr lang="en-US" sz="10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Transactions: when multiple operations must succeed together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MongoDB supports multi-document transactions, but good schema design often reduces the need.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5669280" cy="2606040"/>
          </a:xfrm>
          <a:prstGeom prst="roundRect">
            <a:avLst>
              <a:gd name="adj" fmla="val 1754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17320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Transfer example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13816" y="1636776"/>
            <a:ext cx="5413248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session = client.startSession()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session.withTransaction(async () =&gt;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accounts.updateOne({ _id: "A" }, { $inc: { balance: -500 } }, { session })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accounts.updateOne({ _id: "B" }, { $inc: { balance: 500 } }, { session })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720840" y="137160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48856" y="1463040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ACID use case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48856" y="1746504"/>
            <a:ext cx="41330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Money transfer, inventory reservation, seat booking and multi-record invariants.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720840" y="256032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FFF7E6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48856" y="2651760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Trade-off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48856" y="2935224"/>
            <a:ext cx="41330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Transactions add coordination overhead. Use them when correctness requires it.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720840" y="3749040"/>
            <a:ext cx="4389120" cy="914400"/>
          </a:xfrm>
          <a:prstGeom prst="roundRect">
            <a:avLst>
              <a:gd name="adj" fmla="val 8000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3840480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Design tip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48856" y="4123944"/>
            <a:ext cx="4133088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82230"/>
                </a:solidFill>
              </a:rPr>
              <a:t>If related data fits inside one document, a single-document update is atomic and simpler.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68680" y="5486400"/>
            <a:ext cx="10332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33E"/>
                </a:solidFill>
              </a:rPr>
              <a:t>MongoDB is not "no transactions"; it is "design documents first, use transactions when needed."</a:t>
            </a:r>
            <a:endParaRPr lang="en-US" sz="12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document design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MongoDB schema design is query-pattern driven. These patterns solve common scaling problems.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2194560" cy="574766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Pattern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880360" y="1325880"/>
            <a:ext cx="4937760" cy="574766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Problem it solves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818120" y="1325880"/>
            <a:ext cx="3840480" cy="574766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Example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85800" y="1900646"/>
            <a:ext cx="219456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Embedding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2880360" y="1900646"/>
            <a:ext cx="493776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Fast read of parent + children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7818120" y="1900646"/>
            <a:ext cx="384048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Order with line items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685800" y="2475411"/>
            <a:ext cx="219456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Referencing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2880360" y="2475411"/>
            <a:ext cx="493776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Related data is large/shared</a:t>
            </a:r>
            <a:endParaRPr lang="en-US" sz="810" dirty="0"/>
          </a:p>
        </p:txBody>
      </p:sp>
      <p:sp>
        <p:nvSpPr>
          <p:cNvPr id="17" name="Text 15"/>
          <p:cNvSpPr/>
          <p:nvPr/>
        </p:nvSpPr>
        <p:spPr>
          <a:xfrm>
            <a:off x="7818120" y="2475411"/>
            <a:ext cx="384048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Product and reviews</a:t>
            </a:r>
            <a:endParaRPr lang="en-US" sz="810" dirty="0"/>
          </a:p>
        </p:txBody>
      </p:sp>
      <p:sp>
        <p:nvSpPr>
          <p:cNvPr id="18" name="Text 16"/>
          <p:cNvSpPr/>
          <p:nvPr/>
        </p:nvSpPr>
        <p:spPr>
          <a:xfrm>
            <a:off x="685800" y="3050177"/>
            <a:ext cx="219456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Bucket pattern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2880360" y="3050177"/>
            <a:ext cx="493776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Many time-series/event records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7818120" y="3050177"/>
            <a:ext cx="384048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Sensor readings per hour/day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685800" y="3624943"/>
            <a:ext cx="219456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Subset pattern</a:t>
            </a:r>
            <a:endParaRPr lang="en-US" sz="810" dirty="0"/>
          </a:p>
        </p:txBody>
      </p:sp>
      <p:sp>
        <p:nvSpPr>
          <p:cNvPr id="22" name="Text 20"/>
          <p:cNvSpPr/>
          <p:nvPr/>
        </p:nvSpPr>
        <p:spPr>
          <a:xfrm>
            <a:off x="2880360" y="3624943"/>
            <a:ext cx="493776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Keep frequent data embedded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818120" y="3624943"/>
            <a:ext cx="384048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Recent comments in post</a:t>
            </a:r>
            <a:endParaRPr lang="en-US" sz="810" dirty="0"/>
          </a:p>
        </p:txBody>
      </p:sp>
      <p:sp>
        <p:nvSpPr>
          <p:cNvPr id="24" name="Text 22"/>
          <p:cNvSpPr/>
          <p:nvPr/>
        </p:nvSpPr>
        <p:spPr>
          <a:xfrm>
            <a:off x="685800" y="4199709"/>
            <a:ext cx="219456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Computed pattern</a:t>
            </a:r>
            <a:endParaRPr lang="en-US" sz="810" dirty="0"/>
          </a:p>
        </p:txBody>
      </p:sp>
      <p:sp>
        <p:nvSpPr>
          <p:cNvPr id="25" name="Text 23"/>
          <p:cNvSpPr/>
          <p:nvPr/>
        </p:nvSpPr>
        <p:spPr>
          <a:xfrm>
            <a:off x="2880360" y="4199709"/>
            <a:ext cx="493776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Avoid repeated aggregation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7818120" y="4199709"/>
            <a:ext cx="3840480" cy="574766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Store orderTotal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685800" y="4774474"/>
            <a:ext cx="219456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Outlier pattern</a:t>
            </a:r>
            <a:endParaRPr lang="en-US" sz="810" dirty="0"/>
          </a:p>
        </p:txBody>
      </p:sp>
      <p:sp>
        <p:nvSpPr>
          <p:cNvPr id="28" name="Text 26"/>
          <p:cNvSpPr/>
          <p:nvPr/>
        </p:nvSpPr>
        <p:spPr>
          <a:xfrm>
            <a:off x="2880360" y="4774474"/>
            <a:ext cx="493776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Handle rare huge records separately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7818120" y="4774474"/>
            <a:ext cx="3840480" cy="574766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82230"/>
                </a:solidFill>
              </a:rPr>
              <a:t>Special large customer record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914400" y="553212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2416" y="5623560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Design principle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42416" y="5907024"/>
            <a:ext cx="4590288" cy="64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2230"/>
                </a:solidFill>
              </a:rPr>
              <a:t>Model data for important reads and writes, not for theoretical normalization.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6400800" y="5532120"/>
            <a:ext cx="484632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28816" y="5623560"/>
            <a:ext cx="4590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Advanced principle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28816" y="5907024"/>
            <a:ext cx="4590288" cy="64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82230"/>
                </a:solidFill>
              </a:rPr>
              <a:t>Measure query plans and update patterns; redesign when workload changes.</a:t>
            </a:r>
            <a:endParaRPr lang="en-US" sz="8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MongoDB anti-patterns and fixes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Most performance problems come from schema and index mismatch with workload.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2743200" cy="607423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Anti-pattern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383280" y="1325880"/>
            <a:ext cx="4389120" cy="607423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Why it hurts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7772400" y="1325880"/>
            <a:ext cx="3840480" cy="607423"/>
          </a:xfrm>
          <a:prstGeom prst="rect">
            <a:avLst/>
          </a:prstGeom>
          <a:solidFill>
            <a:srgbClr val="10233E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Better approach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40080" y="1933303"/>
            <a:ext cx="274320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Unbounded arrays</a:t>
            </a:r>
            <a:endParaRPr lang="en-US" sz="790" dirty="0"/>
          </a:p>
        </p:txBody>
      </p:sp>
      <p:sp>
        <p:nvSpPr>
          <p:cNvPr id="13" name="Text 11"/>
          <p:cNvSpPr/>
          <p:nvPr/>
        </p:nvSpPr>
        <p:spPr>
          <a:xfrm>
            <a:off x="3383280" y="1933303"/>
            <a:ext cx="438912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Document grows forever and updates slow down</a:t>
            </a:r>
            <a:endParaRPr lang="en-US" sz="790" dirty="0"/>
          </a:p>
        </p:txBody>
      </p:sp>
      <p:sp>
        <p:nvSpPr>
          <p:cNvPr id="14" name="Text 12"/>
          <p:cNvSpPr/>
          <p:nvPr/>
        </p:nvSpPr>
        <p:spPr>
          <a:xfrm>
            <a:off x="7772400" y="1933303"/>
            <a:ext cx="384048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Separate collection or bucket pattern</a:t>
            </a:r>
            <a:endParaRPr lang="en-US" sz="790" dirty="0"/>
          </a:p>
        </p:txBody>
      </p:sp>
      <p:sp>
        <p:nvSpPr>
          <p:cNvPr id="15" name="Text 13"/>
          <p:cNvSpPr/>
          <p:nvPr/>
        </p:nvSpPr>
        <p:spPr>
          <a:xfrm>
            <a:off x="640080" y="2540726"/>
            <a:ext cx="274320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Indexing every field</a:t>
            </a:r>
            <a:endParaRPr lang="en-US" sz="790" dirty="0"/>
          </a:p>
        </p:txBody>
      </p:sp>
      <p:sp>
        <p:nvSpPr>
          <p:cNvPr id="16" name="Text 14"/>
          <p:cNvSpPr/>
          <p:nvPr/>
        </p:nvSpPr>
        <p:spPr>
          <a:xfrm>
            <a:off x="3383280" y="2540726"/>
            <a:ext cx="438912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High write cost and storage overhead</a:t>
            </a:r>
            <a:endParaRPr lang="en-US" sz="790" dirty="0"/>
          </a:p>
        </p:txBody>
      </p:sp>
      <p:sp>
        <p:nvSpPr>
          <p:cNvPr id="17" name="Text 15"/>
          <p:cNvSpPr/>
          <p:nvPr/>
        </p:nvSpPr>
        <p:spPr>
          <a:xfrm>
            <a:off x="7772400" y="2540726"/>
            <a:ext cx="384048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Index common filters/sorts only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640080" y="3148149"/>
            <a:ext cx="274320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Strings for dates/numbers</a:t>
            </a:r>
            <a:endParaRPr lang="en-US" sz="790" dirty="0"/>
          </a:p>
        </p:txBody>
      </p:sp>
      <p:sp>
        <p:nvSpPr>
          <p:cNvPr id="19" name="Text 17"/>
          <p:cNvSpPr/>
          <p:nvPr/>
        </p:nvSpPr>
        <p:spPr>
          <a:xfrm>
            <a:off x="3383280" y="3148149"/>
            <a:ext cx="438912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Wrong sorting and range queries</a:t>
            </a:r>
            <a:endParaRPr lang="en-US" sz="790" dirty="0"/>
          </a:p>
        </p:txBody>
      </p:sp>
      <p:sp>
        <p:nvSpPr>
          <p:cNvPr id="20" name="Text 18"/>
          <p:cNvSpPr/>
          <p:nvPr/>
        </p:nvSpPr>
        <p:spPr>
          <a:xfrm>
            <a:off x="7772400" y="3148149"/>
            <a:ext cx="384048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Use Date, Int64, Decimal128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640080" y="3755571"/>
            <a:ext cx="274320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Ignoring shard key</a:t>
            </a:r>
            <a:endParaRPr lang="en-US" sz="790" dirty="0"/>
          </a:p>
        </p:txBody>
      </p:sp>
      <p:sp>
        <p:nvSpPr>
          <p:cNvPr id="22" name="Text 20"/>
          <p:cNvSpPr/>
          <p:nvPr/>
        </p:nvSpPr>
        <p:spPr>
          <a:xfrm>
            <a:off x="3383280" y="3755571"/>
            <a:ext cx="438912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Hot shards or scatter-gather queries</a:t>
            </a:r>
            <a:endParaRPr lang="en-US" sz="790" dirty="0"/>
          </a:p>
        </p:txBody>
      </p:sp>
      <p:sp>
        <p:nvSpPr>
          <p:cNvPr id="23" name="Text 21"/>
          <p:cNvSpPr/>
          <p:nvPr/>
        </p:nvSpPr>
        <p:spPr>
          <a:xfrm>
            <a:off x="7772400" y="3755571"/>
            <a:ext cx="384048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Choose key from real workload</a:t>
            </a:r>
            <a:endParaRPr lang="en-US" sz="790" dirty="0"/>
          </a:p>
        </p:txBody>
      </p:sp>
      <p:sp>
        <p:nvSpPr>
          <p:cNvPr id="24" name="Text 22"/>
          <p:cNvSpPr/>
          <p:nvPr/>
        </p:nvSpPr>
        <p:spPr>
          <a:xfrm>
            <a:off x="640080" y="4362994"/>
            <a:ext cx="274320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Mixing unrelated docs</a:t>
            </a:r>
            <a:endParaRPr lang="en-US" sz="790" dirty="0"/>
          </a:p>
        </p:txBody>
      </p:sp>
      <p:sp>
        <p:nvSpPr>
          <p:cNvPr id="25" name="Text 23"/>
          <p:cNvSpPr/>
          <p:nvPr/>
        </p:nvSpPr>
        <p:spPr>
          <a:xfrm>
            <a:off x="3383280" y="4362994"/>
            <a:ext cx="438912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Validation and queries become messy</a:t>
            </a:r>
            <a:endParaRPr lang="en-US" sz="790" dirty="0"/>
          </a:p>
        </p:txBody>
      </p:sp>
      <p:sp>
        <p:nvSpPr>
          <p:cNvPr id="26" name="Text 24"/>
          <p:cNvSpPr/>
          <p:nvPr/>
        </p:nvSpPr>
        <p:spPr>
          <a:xfrm>
            <a:off x="7772400" y="4362994"/>
            <a:ext cx="3840480" cy="607423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Separate collections by entity/type</a:t>
            </a:r>
            <a:endParaRPr lang="en-US" sz="790" dirty="0"/>
          </a:p>
        </p:txBody>
      </p:sp>
      <p:sp>
        <p:nvSpPr>
          <p:cNvPr id="27" name="Text 25"/>
          <p:cNvSpPr/>
          <p:nvPr/>
        </p:nvSpPr>
        <p:spPr>
          <a:xfrm>
            <a:off x="640080" y="4970417"/>
            <a:ext cx="274320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No validation</a:t>
            </a:r>
            <a:endParaRPr lang="en-US" sz="790" dirty="0"/>
          </a:p>
        </p:txBody>
      </p:sp>
      <p:sp>
        <p:nvSpPr>
          <p:cNvPr id="28" name="Text 26"/>
          <p:cNvSpPr/>
          <p:nvPr/>
        </p:nvSpPr>
        <p:spPr>
          <a:xfrm>
            <a:off x="3383280" y="4970417"/>
            <a:ext cx="438912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Bad data enters silently</a:t>
            </a:r>
            <a:endParaRPr lang="en-US" sz="790" dirty="0"/>
          </a:p>
        </p:txBody>
      </p:sp>
      <p:sp>
        <p:nvSpPr>
          <p:cNvPr id="29" name="Text 27"/>
          <p:cNvSpPr/>
          <p:nvPr/>
        </p:nvSpPr>
        <p:spPr>
          <a:xfrm>
            <a:off x="7772400" y="4970417"/>
            <a:ext cx="3840480" cy="607423"/>
          </a:xfrm>
          <a:prstGeom prst="rect">
            <a:avLst/>
          </a:prstGeom>
          <a:solidFill>
            <a:srgbClr val="F1F5F9"/>
          </a:solidFill>
          <a:ln w="6350">
            <a:solidFill>
              <a:srgbClr val="D9E2E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182230"/>
                </a:solidFill>
              </a:rPr>
              <a:t>Add JSON Schema where needed</a:t>
            </a:r>
            <a:endParaRPr lang="en-US" sz="790" dirty="0"/>
          </a:p>
        </p:txBody>
      </p:sp>
      <p:sp>
        <p:nvSpPr>
          <p:cNvPr id="30" name="Text 28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33E"/>
                </a:solidFill>
              </a:rPr>
              <a:t>Exam tip: whenever you propose MongoDB, justify data model, indexes and scaling strategy.</a:t>
            </a:r>
            <a:endParaRPr lang="en-US" sz="12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Worked example: e-commerce order system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Apply documents, collections, BSON types, indexes and design choices together.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29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5486400" cy="3291840"/>
          </a:xfrm>
          <a:prstGeom prst="roundRect">
            <a:avLst>
              <a:gd name="adj" fmla="val 138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417320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orders document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813816" y="1636776"/>
            <a:ext cx="5230368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_id: ObjectId("..."),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orderNo: "ORD-2026-0001",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customerId: ObjectId("..."),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orderDate: ISODate("2026-08-12T10:00:00Z"),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"Delivered",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items: [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sku: "B101", qty: 2, price: Decimal128("500.00")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total: Decimal128("1000.00")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583680" y="132588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417320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33E"/>
                </a:solidFill>
              </a:rPr>
              <a:t>Collection choice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11696" y="1700784"/>
            <a:ext cx="422452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orders collection because each document represents one order.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83680" y="242316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1696" y="2514600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Embedded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11696" y="2798064"/>
            <a:ext cx="422452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items embedded because line items belong to the order and are read with it.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583680" y="35204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3611880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BSON types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11696" y="3895344"/>
            <a:ext cx="4224528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82230"/>
                </a:solidFill>
              </a:rPr>
              <a:t>Date for orderDate, Decimal128 for money, ObjectId for identity.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583680" y="4754880"/>
            <a:ext cx="4480560" cy="822960"/>
          </a:xfrm>
          <a:prstGeom prst="roundRect">
            <a:avLst>
              <a:gd name="adj" fmla="val 5556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4846320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FFFD4"/>
                </a:solidFill>
              </a:rPr>
              <a:t>Index for customer order history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711696" y="5065776"/>
            <a:ext cx="422452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F4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db.orders.createIndex({ customerId: 1, orderDate: -1 })</a:t>
            </a:r>
            <a:endParaRPr lang="en-US" sz="8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3AA52"/>
          </a:solidFill>
          <a:ln w="12700">
            <a:solidFill>
              <a:srgbClr val="13AA5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10896"/>
            <a:ext cx="10698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questions for students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58952"/>
            <a:ext cx="10744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67085"/>
                </a:solidFill>
              </a:rPr>
              <a:t>Use these prompts for classroom discussion or lab assessment.</a:t>
            </a:r>
            <a:endParaRPr lang="en-US" sz="104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28816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MongoDB Architecture • Documents • Collections • BSON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30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1078992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20" dirty="0">
                <a:solidFill>
                  <a:srgbClr val="182230"/>
                </a:solidFill>
              </a:rPr>
              <a:t>Draw MongoDB architecture and label: driver, mongod, storage engine, replica set and shard components.</a:t>
            </a:r>
            <a:endParaRPr lang="en-US" sz="1220" dirty="0"/>
          </a:p>
          <a:p>
            <a:r>
              <a:rPr lang="en-US" sz="1220" dirty="0">
                <a:solidFill>
                  <a:srgbClr val="182230"/>
                </a:solidFill>
              </a:rPr>
              <a:t>Create a student document with nested address, array of skills, and correct BSON types for date and score.</a:t>
            </a:r>
            <a:endParaRPr lang="en-US" sz="1220" dirty="0"/>
          </a:p>
          <a:p>
            <a:r>
              <a:rPr lang="en-US" sz="1220" dirty="0">
                <a:solidFill>
                  <a:srgbClr val="182230"/>
                </a:solidFill>
              </a:rPr>
              <a:t>Explain BSON in 5 points: definition, characteristics, advantages, disadvantages and example types.</a:t>
            </a:r>
            <a:endParaRPr lang="en-US" sz="1220" dirty="0"/>
          </a:p>
          <a:p>
            <a:r>
              <a:rPr lang="en-US" sz="1220" dirty="0">
                <a:solidFill>
                  <a:srgbClr val="182230"/>
                </a:solidFill>
              </a:rPr>
              <a:t>Design collections for a social-media post system: posts, users, comments and likes. Justify embedding/reference choices.</a:t>
            </a:r>
            <a:endParaRPr lang="en-US" sz="1220" dirty="0"/>
          </a:p>
          <a:p>
            <a:r>
              <a:rPr lang="en-US" sz="1220" dirty="0">
                <a:solidFill>
                  <a:srgbClr val="182230"/>
                </a:solidFill>
              </a:rPr>
              <a:t>Create two indexes for an orders collection and explain which query each index supports.</a:t>
            </a:r>
            <a:endParaRPr lang="en-US" sz="1220" dirty="0"/>
          </a:p>
          <a:p>
            <a:r>
              <a:rPr lang="en-US" sz="1220" dirty="0">
                <a:solidFill>
                  <a:srgbClr val="182230"/>
                </a:solidFill>
              </a:rPr>
              <a:t>Choose a shard key for IoT sensor readings and explain why timestamp alone may cause hotspots.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143000" y="571500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E9FF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71016" y="5806440"/>
            <a:ext cx="9619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3AA52"/>
                </a:solidFill>
              </a:rPr>
              <a:t>Expected learning outcome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1016" y="6089904"/>
            <a:ext cx="9619488" cy="64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82230"/>
                </a:solidFill>
              </a:rPr>
              <a:t>Students should not only write commands; they should justify architecture and design trade-offs.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 Architecture: Documents, Collections and BSON - Detailed Redesign</dc:title>
  <dc:subject>Detailed MongoDB Architecture, Documents, Collections and BSON</dc:subject>
  <dc:creator>OpenAI</dc:creator>
  <cp:lastModifiedBy>OpenAI</cp:lastModifiedBy>
  <cp:revision>1</cp:revision>
  <dcterms:created xsi:type="dcterms:W3CDTF">2026-08-12T04:10:57Z</dcterms:created>
  <dcterms:modified xsi:type="dcterms:W3CDTF">2026-08-12T04:10:57Z</dcterms:modified>
</cp:coreProperties>
</file>