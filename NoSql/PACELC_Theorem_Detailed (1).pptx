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PACELC Theorem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5379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Systems • Student Notes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4C77"/>
                </a:solidFill>
              </a:rPr>
              <a:t>PACELC Theorem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2057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</a:rPr>
              <a:t>Understanding consistency, availability and latency trade-offs in distributed databases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46120" y="3063240"/>
            <a:ext cx="5715000" cy="109728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AFC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3310128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IF Partition → Availability vs Consistency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ELSE → Latency vs Consistency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4754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Detailed classroom presentation with examples, block diagrams, case studies and practice questions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By the end, students should be able to explain and apply PACELC.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1024128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Recall the limitation of CAP when the network is healthy.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Interpret the PACELC expression and each symbol.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Differentiate partition-time and normal-time trade-offs.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Classify systems as PA/EL, PC/EC, PC/EL or PA/EC.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Use real application requirements to justify a suitable trade-off.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Relate PACELC to eventual consistency, replication and latency.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Why Do We Need PACELC?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CAP explains failures; PACELC also explains everyday operation.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EEF4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6642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CAP asks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" y="2029968"/>
            <a:ext cx="3054096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When a network partition occurs, should the system preserve Consistency or Availability?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EEF4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6642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Missing question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53712" y="2029968"/>
            <a:ext cx="3054096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What trade-off does the database make when there is no partition and the system is operating normally?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15544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EEF4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7032" y="166420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PACELC adds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7032" y="2029968"/>
            <a:ext cx="3054096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During normal operation, distributed databases often trade Consistency against Latency.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Key idea: CAP is mainly about failure conditions; PACELC adds the important latency–consistency trade-off in normal conditions.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Quick CAP Refresher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CAP = Consistency, Availability, Partition tolerance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DDEA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18488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Consistency (C)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1984248"/>
            <a:ext cx="296265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Every read sees the latest committed write, or an error.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5087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DDEA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618488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Availability (A)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99432" y="1984248"/>
            <a:ext cx="296265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Every request to a non-failing node receives a response.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15087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DDEA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618488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Partition Tolerance (P)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2752" y="1984248"/>
            <a:ext cx="296265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system continues despite lost/delayed messages between network parts.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76F51"/>
                </a:solidFill>
              </a:rPr>
              <a:t>During a partition, a distributed system cannot guarantee both C and A simultaneously.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97280" y="46177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Therefore, a partition-tolerant design chooses either CP or AP behavior under failure.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The PACELC Formula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 compact way to remember the theorem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60520" y="1417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4C77"/>
                </a:solidFill>
              </a:rPr>
              <a:t>PACELC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IF P → choose A or C      ELSE E → choose L or C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DDEA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538728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3904488"/>
            <a:ext cx="163677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Partition exists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34290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DDEA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3538728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A / 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36392" y="3904488"/>
            <a:ext cx="163677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Availability or Consistency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0" y="34290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DDEA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3538728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50992" y="3904488"/>
            <a:ext cx="163677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Else: normal operation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35240" y="34290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DDEAF7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3538728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L / 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99832" y="3904488"/>
            <a:ext cx="163677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Latency or Consistency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Read it as: “If there is a Partition, choose Availability or Consistency; Else, choose Latency or Consistency.”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Partition-Time Trade-off: P → A or 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What happens when replicas cannot communicate?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286000" cy="109728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Replica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Value = ₹500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961120" y="1828800"/>
            <a:ext cx="2286000" cy="109728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2057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Replica 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Value = ₹500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5196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</a:rPr>
              <a:t>NETWORK PARTITION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749040" y="2423160"/>
            <a:ext cx="4572000" cy="0"/>
          </a:xfrm>
          <a:prstGeom prst="line">
            <a:avLst/>
          </a:prstGeom>
          <a:noFill/>
          <a:ln w="50800">
            <a:solidFill>
              <a:srgbClr val="E76F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4904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CE8E3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858768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Choose Availability (PA)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4224528"/>
            <a:ext cx="433425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Both sides continue accepting requests. Risk: temporary inconsistent values.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0" y="374904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E9F1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3858768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Choose Consistency (PC)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48272" y="4224528"/>
            <a:ext cx="433425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One side may reject/block requests to avoid conflicting values.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Normal-Time Trade-off: E → L or 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Even without failures, replication creates a speed-versus-truth decision.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194560" cy="914400"/>
          </a:xfrm>
          <a:prstGeom prst="roundRect">
            <a:avLst/>
          </a:prstGeom>
          <a:solidFill>
            <a:srgbClr val="E7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User Request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0" y="1234440"/>
            <a:ext cx="2926080" cy="91440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Nearest Replica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03920" y="1234440"/>
            <a:ext cx="2743200" cy="91440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1536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Remote Replica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17520" y="2331720"/>
            <a:ext cx="1554480" cy="-64008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1691640"/>
            <a:ext cx="100584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7033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3E6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813048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Choose Low Latency (EL)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4178808"/>
            <a:ext cx="433425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Return from the nearest replica immediately. Faster, but it may not contain the newest update.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37033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3813048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Choose Consistency (EC)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02552" y="4178808"/>
            <a:ext cx="433425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Coordinate/confirm with replicas before responding. More current result, but extra network delay.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Why Consistency Can Increase Latency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Distributed consistency usually requires communication.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5486400" cy="429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 write may need acknowledgement from multiple replicas.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 read may need to contact the leader or a quorum of replicas.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Cross-region communication adds propagation and round-trip delay.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Consensus or coordination may be necessary before returning a result.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Relaxing consistency can allow local reads/writes and therefore lower latency.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29400" y="1554480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EEF4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93992" y="1664208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Simple example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93992" y="2029968"/>
            <a:ext cx="4425696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 user in Jaipur writes to a database whose leader is in Mumbai and replicas are in Delhi and Bengaluru.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If the system waits for acknowledgements before confirming the write, consistency improves but response time rises.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If it confirms locally and replicates asynchronously, the response is faster but another replica can temporarily be stale.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The Four PACELC Categories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Two choices under partition × two choices during normal operation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18520" cy="4206240"/>
        </p:xfrm>
        <a:graphic>
          <a:graphicData uri="http://schemas.openxmlformats.org/drawingml/2006/table">
            <a:tbl>
              <a:tblPr/>
              <a:tblGrid>
                <a:gridCol w="1325880"/>
                <a:gridCol w="2514600"/>
                <a:gridCol w="2697480"/>
                <a:gridCol w="4480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Class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If Partition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Else Normal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Typical implication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PC / EC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Consistency during partition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Consistency during normal operation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Strong correctness, higher blocking/latency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PA / EL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Availability during partition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Low latency during normal operation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Fast and highly available; accepts temporary inconsistency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PC / EL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Consistency during partition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Low latency during normal operation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Less common hybrid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PA / EC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Availability during partition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Consistency during normal operation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Possible in special/tunable designs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PA / EL: Availability + Low Latency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 common choice for user-facing, geo-distributed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DECE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18488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During partition: PA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1984248"/>
            <a:ext cx="3328416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Keep accepting reads/writes on reachable replicas. The service remains available, but replicas may diverge temporarily.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1508760"/>
            <a:ext cx="3154680" cy="3474720"/>
          </a:xfrm>
          <a:prstGeom prst="roundRect">
            <a:avLst>
              <a:gd name="adj" fmla="val 2319"/>
            </a:avLst>
          </a:prstGeom>
          <a:solidFill>
            <a:srgbClr val="FFF5E8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618488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During normal operation: 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90872" y="1984248"/>
            <a:ext cx="2825496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Serve requests from a nearby replica and replicate asynchronously to minimize response time.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150876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EDF6F3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2" y="1618488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Example applications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82712" y="1984248"/>
            <a:ext cx="3282696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Social feeds, shopping carts, likes/counters, recommendation metadata, telemetry where short-lived inconsistency is tolerable.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Many Dynamo-style and Cassandra-style deployments can be configured toward PA/EL behavior, but exact behavior depends on consistency settings.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PC / EC: Consistency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Used when incorrect or conflicting state is unacceptable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E9F1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18488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During partition: PC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1984248"/>
            <a:ext cx="3328416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Reject or block operations that cannot safely preserve consistency. Some requests may become unavailable.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1508760"/>
            <a:ext cx="3154680" cy="3474720"/>
          </a:xfrm>
          <a:prstGeom prst="roundRect">
            <a:avLst>
              <a:gd name="adj" fmla="val 2319"/>
            </a:avLst>
          </a:prstGeom>
          <a:solidFill>
            <a:srgbClr val="EAF3FB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618488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During normal operation: EC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90872" y="1984248"/>
            <a:ext cx="2825496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Coordinate reads/writes to maintain a stronger single-system view, accepting additional latency.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150876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EDF6F3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2" y="1618488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Example applications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82712" y="1984248"/>
            <a:ext cx="3282696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Financial balance transfer, inventory reservation, unique username allocation, critical configuration, strongly ordered metadata.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Strongly consistent distributed systems are commonly described as PC/EC when they prioritize correctness both during failures and normal operation.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PC / EL and PA / EC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The less common combinations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F2F6FB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18488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PC / 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1832" y="1984248"/>
            <a:ext cx="4928616" cy="3026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Partition: preserve consistency, possibly sacrificing availability.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Else: prefer low latency and allow weaker consistency during normal operation.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Historical example discussed by Daniel Abadi: PNUTS/Sherpa-style behavior.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F2F6FB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618488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PA / EC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36792" y="1984248"/>
            <a:ext cx="4928616" cy="3026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Partition: preserve availability.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Else: prefer consistency during healthy operation.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This category is less common and often appears in tunable or special-purpose designs rather than a fixed one-size behavior.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PACELC is a design lens—not every modern database has one permanent classification. Configuration, operation type and deployment topology matter.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PACELC vs CAP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What PACELC adds to the older model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89920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48463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Aspect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CAP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PACELC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Focus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Network partition/failure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Partition + normal operation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Primary trade-off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Consistency vs Availability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P: Availability vs Consistency; E: Latency vs Consistency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Latency considered?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Not explicitly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Useful for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Failure behavior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Everyday distributed database design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Main question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What do we sacrifice during partition?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What do we sacrifice during partition and when healthy?</a:t>
                      </a:r>
                      <a:endParaRPr lang="en-US" sz="17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2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PACELC and Eventual Consistency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Why many low-latency systems allow temporary staleness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423160" cy="1051560"/>
          </a:xfrm>
          <a:prstGeom prst="roundRect">
            <a:avLst/>
          </a:prstGeom>
          <a:solidFill>
            <a:srgbClr val="E7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Write X = 100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846320" y="1600200"/>
            <a:ext cx="2423160" cy="105156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792224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Replica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X = 100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823960" y="1600200"/>
            <a:ext cx="2423160" cy="105156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1160" y="1792224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Replica 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X = 90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2121408"/>
            <a:ext cx="160020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69480" y="2121408"/>
            <a:ext cx="155448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26948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Replication delay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703320"/>
            <a:ext cx="10241280" cy="1325880"/>
          </a:xfrm>
          <a:prstGeom prst="roundRect">
            <a:avLst>
              <a:gd name="adj" fmla="val 5517"/>
            </a:avLst>
          </a:prstGeom>
          <a:solidFill>
            <a:srgbClr val="EEF4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813048"/>
            <a:ext cx="9912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Eventual consistency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" y="4178808"/>
            <a:ext cx="991209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 replica may temporarily return an older value. If no new updates occur and communication continues, replicas eventually converge to the same value.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Quorum and Tunable Consistency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PACELC choices can sometimes be adjusted per workload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4C77"/>
                </a:solidFill>
              </a:rPr>
              <a:t>N = total replicas     W = write acknowledgements     R = read replicas consulted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3E6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441448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Lower R/W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807208"/>
            <a:ext cx="2962656" cy="1746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Fewer replicas contacted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→ lower latency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→ higher availability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→ greater chance of stale/conflicting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233172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EAF3FB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441448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Higher R/W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9432" y="2807208"/>
            <a:ext cx="2962656" cy="1746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More replicas contacted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→ stronger consistency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→ higher latency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→ may reduce availability during failure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EDF6F3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2441448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Typical rule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11312" y="2807208"/>
            <a:ext cx="2962656" cy="1746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When R + W &gt; N, read/write quorums overlap, which can support stronger consistency assumptions in suitable designs.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This is why some databases cannot be assigned a single PACELC label without stating the consistency level and deployment configuration.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Case Study 1: Online Shopping Cart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Why PA/EL can be a practical choice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103120" cy="868680"/>
          </a:xfrm>
          <a:prstGeom prst="roundRect">
            <a:avLst/>
          </a:prstGeom>
          <a:solidFill>
            <a:srgbClr val="E7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Customer adds item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1554480"/>
            <a:ext cx="2103120" cy="86868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7739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Nearest region accepts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0" y="1554480"/>
            <a:ext cx="2103120" cy="86868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Async replication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0" y="1554480"/>
            <a:ext cx="2103120" cy="86868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Temporary mismatch possible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834640" y="1993392"/>
            <a:ext cx="82296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1993392"/>
            <a:ext cx="82296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0" y="1993392"/>
            <a:ext cx="64008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3154680"/>
            <a:ext cx="1014984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Requirement: cart should remain responsive even if one region is isolated.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short delay before all replicas agree is usually acceptable.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Therefore the design may favor Availability during partition and Low Latency during normal operation.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Final checkout/inventory deduction can still use a stronger consistency mechanism.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Case Study 2: Bank Transfer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Why PC/EC is often preferred for critical money movement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011680" cy="914400"/>
          </a:xfrm>
          <a:prstGeom prst="roundRect">
            <a:avLst/>
          </a:prstGeom>
          <a:solidFill>
            <a:srgbClr val="E7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Debit A ₹1000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749040" y="1645920"/>
            <a:ext cx="2011680" cy="91440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901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Coordinate replicas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1645920"/>
            <a:ext cx="2011680" cy="91440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1901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Commit once safe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72600" y="1645920"/>
            <a:ext cx="2011680" cy="914400"/>
          </a:xfrm>
          <a:prstGeom prst="roundRect">
            <a:avLst/>
          </a:prstGeom>
          <a:solidFill>
            <a:srgbClr val="E7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692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Credit B ₹1000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34640" y="2103120"/>
            <a:ext cx="91440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2103120"/>
            <a:ext cx="91440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0" y="2103120"/>
            <a:ext cx="685800" cy="0"/>
          </a:xfrm>
          <a:prstGeom prst="line">
            <a:avLst/>
          </a:prstGeom>
          <a:noFill/>
          <a:ln w="25400">
            <a:solidFill>
              <a:srgbClr val="274C77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101498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Requirement: never show two conflicting authoritative balances.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During a partition, rejecting a transfer may be safer than accepting an inconsistent one.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During normal operation, extra coordination latency is acceptable to preserve correctness.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This requirement pattern aligns with PC/EC thinking.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Case Study 3: Social Media “Like” Counter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Why temporary inconsistency may be harmless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EEF4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61848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User expectation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1984248"/>
            <a:ext cx="2916936" cy="2843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interface should respond quickly. A count of 10,521 instead of 10,523 for a few seconds usually does not damage the application.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150876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EEF4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61848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Design choice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45152" y="1984248"/>
            <a:ext cx="2916936" cy="2843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Accept updates locally, replicate in the background, and merge/converge counts later. This reduces response time and preserves availability.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150876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EEF4F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61848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PACELC interpretation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2752" y="1984248"/>
            <a:ext cx="2916936" cy="2843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Often aligns with PA/EL: stay available during a partition and prioritize latency when healthy.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The correct PACELC choice depends on business impact—not simply on which option is “better.”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Selecting a PACELC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Ask business questions before choosing a database behavior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389120"/>
        </p:xfrm>
        <a:graphic>
          <a:graphicData uri="http://schemas.openxmlformats.org/drawingml/2006/table">
            <a:tbl>
              <a:tblPr/>
              <a:tblGrid>
                <a:gridCol w="7315200"/>
                <a:gridCol w="2926080"/>
              </a:tblGrid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Question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If YES, tends toward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Can temporary stale data be tolerated?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A / L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Must every user immediately see the latest update?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C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Is 24×7 availability more important than perfect freshness?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A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Would an incorrect result cause financial/legal harm?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C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Is global low response time a major requirement?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L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Can the application resolve conflicts later?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</a:rPr>
                        <a:t>A / L</a:t>
                      </a:r>
                      <a:endParaRPr lang="en-US" sz="18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Common Misconceptions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Important corrections for students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“CAP says choose any two permanently.” → Oversimplified. The C/A choice is specifically relevant when a partition occurs.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“Low latency means no consistency.” → Not necessarily. It means systems may relax or optimize consistency to avoid coordination delay.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“Every database has one fixed PACELC label.” → Often false; configuration, read/write mode and topology can change behavior.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“Eventual consistency means data will always be wrong.” → No. It means replicas may be temporarily different but converge when updates stop and communication continues.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“PACELC replaces CAP.” → It extends the design conversation by adding the normal-operation latency trade-off.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Classroom Practice: Identify the Trade-off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Choose the most appropriate PACELC thinking for each scenario.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14984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1. A stock trading ledger must not accept conflicting order states during a partition.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2. A global news feed should load instantly and may show a newly posted article a few seconds late.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3. An online exam system must prevent two simultaneous final submissions from producing contradictory results.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4. A sensor dashboard can temporarily show slightly stale readings but must remain accessible.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5. A unique username service must never allocate the same username twice.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Ask students to justify both the partition-time choice (A/C) and normal-time choice (L/C).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Practice Answers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One reasonable classification based on the stated requirements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443484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6400800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Scenario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Likely choice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Reason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Stock trading ledger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PC/EC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Correctness outweighs availability and latency.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Global news feed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PA/EL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Availability and fast local reads outweigh short-lived staleness.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Online exam final submission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PC/EC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Prevent contradictory final state.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Sensor dashboard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PA/EL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Freshness can lag briefly; availability is important.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Unique username service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PC/EC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</a:rPr>
                        <a:t>Uniqueness requires strong coordination.</a:t>
                      </a:r>
                      <a:endParaRPr lang="en-US" sz="1700" dirty="0"/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Short Exam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Suitable for quiz, viva or written assessment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149840" cy="4434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Define PACELC theorem and explain each symbol.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Why is CAP alone insufficient to explain normal distributed database behavior?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Differentiate PA/EL and PC/EC with one application example each.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Explain how replication affects latency and consistency.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What is eventual consistency? Relate it to PACELC.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Why can a database have different PACELC behavior under different configurations?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Classify a banking system and a social feed using PACELC and justify your answer.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One-Slide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Remember the decision pattern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4C77"/>
                </a:solidFill>
              </a:rPr>
              <a:t>PACELC = P → A/C   ELSE E → L/C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DECEA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7157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During partition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33272" y="3081528"/>
            <a:ext cx="2916936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Choose whether to preserve Availability or Consistency.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26060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5E8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7157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When healthy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3081528"/>
            <a:ext cx="2916936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Choose whether to optimize Latency or preserve stronger Consistency.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26060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EDF6F3"/>
          </a:solidFill>
          <a:ln w="12700">
            <a:solidFill>
              <a:srgbClr val="B8C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27157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4C77"/>
                </a:solidFill>
              </a:rPr>
              <a:t>Design principle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57032" y="3081528"/>
            <a:ext cx="2916936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There is no universal best option. Choose according to application requirements.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3232" y="5650992"/>
            <a:ext cx="10789920" cy="5669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5779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516"/>
                </a:solidFill>
              </a:rPr>
              <a:t>PACELC helps students reason about what a distributed database sacrifices both during failures and during ordinary operation.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References and Further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3327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Sources used to build this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1. Daniel J. Abadi, “Consistency Tradeoffs in Modern Distributed Database System Design: CAP is Only Part of the Story,” IEEE Computer, 2012.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2. Daniel Abadi, DBMS Musings posts introducing and clarifying PACELC.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3. YouTube search reviewed: “PACELC theorem” — recent explanatory videos discussing CAP limitations, normal-operation latency and the PA/EL, PC/EC, PC/EL, PA/EC categories.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4. Example video: “PACELC Theorem Explained | The Real Tradeoffs in Distributed Systems” (Vivek Panchal, 2026).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5. Example video: “CAP Theorem &amp; PACELC Explained” (techinitializer, 2026).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</a:rPr>
              <a:t>Instructor note: database classifications can depend on configuration and deployment; treat examples as design tendencies, not immutable labels.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PACELC Theorem - Detailed Student Presentation</dc:title>
  <dc:subject>PACELC Theorem</dc:subject>
  <dc:creator>OpenAI</dc:creator>
  <cp:lastModifiedBy>OpenAI</cp:lastModifiedBy>
  <cp:revision>1</cp:revision>
  <dcterms:created xsi:type="dcterms:W3CDTF">2026-08-07T04:05:18Z</dcterms:created>
  <dcterms:modified xsi:type="dcterms:W3CDTF">2026-08-07T04:05:18Z</dcterms:modified>
</cp:coreProperties>
</file>