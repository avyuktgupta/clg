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3F"/>
          </a:solidFill>
          <a:ln w="12700">
            <a:solidFill>
              <a:srgbClr val="112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548640"/>
            <a:ext cx="5303520" cy="5303520"/>
          </a:xfrm>
          <a:prstGeom prst="arc">
            <a:avLst/>
          </a:prstGeom>
          <a:solidFill>
            <a:srgbClr val="1D3766">
              <a:alpha val="90000"/>
            </a:srgbClr>
          </a:solidFill>
          <a:ln w="12700">
            <a:solidFill>
              <a:srgbClr val="1D37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206240"/>
            <a:ext cx="3291840" cy="3291840"/>
          </a:xfrm>
          <a:prstGeom prst="arc">
            <a:avLst/>
          </a:prstGeom>
          <a:solidFill>
            <a:srgbClr val="0B9BD7">
              <a:alpha val="85000"/>
            </a:srgbClr>
          </a:solidFill>
          <a:ln w="12700">
            <a:solidFill>
              <a:srgbClr val="0B9BD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ACID vs BASE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Properties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F"/>
                </a:solidFill>
              </a:rPr>
              <a:t>Understanding transaction guarantees and distributed consistency models in SQL and NoSQL databases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4343400"/>
            <a:ext cx="1371600" cy="0"/>
          </a:xfrm>
          <a:prstGeom prst="line">
            <a:avLst/>
          </a:prstGeom>
          <a:noFill/>
          <a:ln w="19050">
            <a:solidFill>
              <a:srgbClr val="BFD0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98280" y="4343400"/>
            <a:ext cx="1280160" cy="0"/>
          </a:xfrm>
          <a:prstGeom prst="line">
            <a:avLst/>
          </a:prstGeom>
          <a:noFill/>
          <a:ln w="19050">
            <a:solidFill>
              <a:srgbClr val="BFD0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0" y="38862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3950208"/>
            <a:ext cx="14721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33F"/>
                </a:solidFill>
              </a:rPr>
              <a:t>Account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233F"/>
                </a:solidFill>
              </a:rPr>
              <a:t>Debit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58200" y="38862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EAF1FF"/>
          </a:solidFill>
          <a:ln w="13970">
            <a:solidFill>
              <a:srgbClr val="EAF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22208" y="3950208"/>
            <a:ext cx="1289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33F"/>
                </a:solidFill>
              </a:rPr>
              <a:t>Transaction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233F"/>
                </a:solidFill>
              </a:rPr>
              <a:t>Commit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104120" y="38862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8128" y="3950208"/>
            <a:ext cx="14721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33F"/>
                </a:solidFill>
              </a:rPr>
              <a:t>Account 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233F"/>
                </a:solidFill>
              </a:rPr>
              <a:t>Credit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62636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DEBFF"/>
                </a:solidFill>
              </a:rPr>
              <a:t>Complete teaching deck with examples, case studies, and transaction diagrams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 and Roadmap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What students should understand after this lecture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52144"/>
            <a:ext cx="5257800" cy="4892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80" dirty="0">
                <a:solidFill>
                  <a:srgbClr val="313847"/>
                </a:solidFill>
              </a:rPr>
              <a:t>Explain why database systems need transaction properties.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Differentiate ACID and BASE using practical examples.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Identify when SQL databases and NoSQL databases are appropriate.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Analyze case studies such as bank transfer, seat booking, social media likes, and e-commerce carts.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Connect ACID and BASE with scalability, availability, and consistency decisions.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035040" y="1170432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2435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1709928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3847"/>
                </a:solidFill>
              </a:rPr>
              <a:t>1. Need for properties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5128" y="1709928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3847"/>
                </a:solidFill>
              </a:rPr>
              <a:t>2. ACID concepts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2944368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3847"/>
                </a:solidFill>
              </a:rPr>
              <a:t>3. BASE concepts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8961120" y="288036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5128" y="2944368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3847"/>
                </a:solidFill>
              </a:rPr>
              <a:t>4. Comparison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4178808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3847"/>
                </a:solidFill>
              </a:rPr>
              <a:t>5. Case studies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8961120" y="411480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5128" y="4178808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3847"/>
                </a:solidFill>
              </a:rPr>
              <a:t>6. Design choice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Databases Need Properties?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Data must stay meaningful even during failure and concurrency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2120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50" dirty="0">
                <a:solidFill>
                  <a:srgbClr val="313847"/>
                </a:solidFill>
              </a:rPr>
              <a:t>A database rarely receives one request at a time. Many users perform operations together.</a:t>
            </a:r>
            <a:endParaRPr lang="en-US" sz="1550" dirty="0"/>
          </a:p>
          <a:p>
            <a:r>
              <a:rPr lang="en-US" sz="1550" dirty="0">
                <a:solidFill>
                  <a:srgbClr val="313847"/>
                </a:solidFill>
              </a:rPr>
              <a:t>Failures can happen between two steps of the same operation.</a:t>
            </a:r>
            <a:endParaRPr lang="en-US" sz="1550" dirty="0"/>
          </a:p>
          <a:p>
            <a:r>
              <a:rPr lang="en-US" sz="1550" dirty="0">
                <a:solidFill>
                  <a:srgbClr val="313847"/>
                </a:solidFill>
              </a:rPr>
              <a:t>Some domains require immediate correctness, while others accept short temporary inconsistency.</a:t>
            </a:r>
            <a:endParaRPr lang="en-US" sz="1550" dirty="0"/>
          </a:p>
          <a:p>
            <a:r>
              <a:rPr lang="en-US" sz="1550" dirty="0">
                <a:solidFill>
                  <a:srgbClr val="313847"/>
                </a:solidFill>
              </a:rPr>
              <a:t>The main design question is: should the system prefer strict correctness or continuous availability?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6928" y="548640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5559552"/>
            <a:ext cx="49926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Example difference: A missing ₹1000 in a bank is unacceptable, but a like count being late by two seconds is usually acceptable.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971800"/>
            <a:ext cx="1234440" cy="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92440" y="2971800"/>
            <a:ext cx="1234440" cy="0"/>
          </a:xfrm>
          <a:prstGeom prst="line">
            <a:avLst/>
          </a:prstGeom>
          <a:noFill/>
          <a:ln w="1778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24688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2532888"/>
            <a:ext cx="1609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User 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Transfer, order, like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246888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F3F5F8"/>
          </a:solidFill>
          <a:ln w="13970">
            <a:solidFill>
              <a:srgbClr val="D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62088" y="2532888"/>
            <a:ext cx="12893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3847"/>
                </a:solidFill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13847"/>
                </a:solidFill>
              </a:rPr>
              <a:t>Rules + storage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81160" y="2468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2532888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Correct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or Fast Response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DEDEC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413308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Challenge 1: partial failure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49640" y="40690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0EAFE"/>
          </a:solidFill>
          <a:ln w="13970">
            <a:solidFill>
              <a:srgbClr val="7E5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13648" y="413308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Challenge 2: concurrent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 vs Replication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ACID focuses on transaction correctness; BASE focuses on distributed availability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2920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80" b="1" dirty="0">
                <a:solidFill>
                  <a:srgbClr val="313847"/>
                </a:solidFill>
              </a:rPr>
              <a:t>Transaction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A logical unit of work that may contain many operations.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Example: debit sender and credit receiver in one money transfer.</a:t>
            </a:r>
            <a:endParaRPr lang="en-US" sz="1480" dirty="0"/>
          </a:p>
          <a:p>
            <a:r>
              <a:rPr lang="en-US" sz="1480" b="1" dirty="0">
                <a:solidFill>
                  <a:srgbClr val="313847"/>
                </a:solidFill>
              </a:rPr>
              <a:t>Replication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Copying data across multiple servers or data centers.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Example: user profile update reaching several app servers.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080760" y="1261872"/>
            <a:ext cx="5212080" cy="384048"/>
          </a:xfrm>
          <a:prstGeom prst="roundRect">
            <a:avLst>
              <a:gd name="adj" fmla="val 19048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325880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ACID Transaction Boundary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2148840"/>
            <a:ext cx="1188720" cy="0"/>
          </a:xfrm>
          <a:prstGeom prst="line">
            <a:avLst/>
          </a:prstGeom>
          <a:noFill/>
          <a:ln w="1651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02752" y="2148840"/>
            <a:ext cx="1344168" cy="0"/>
          </a:xfrm>
          <a:prstGeom prst="line">
            <a:avLst/>
          </a:prstGeom>
          <a:noFill/>
          <a:ln w="1651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72200" y="1828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892808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233F"/>
                </a:solidFill>
              </a:rPr>
              <a:t>Operation 1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1233F"/>
                </a:solidFill>
              </a:rPr>
              <a:t>Debit A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635240" y="1828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1892808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233F"/>
                </a:solidFill>
              </a:rPr>
              <a:t>Operation 2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1233F"/>
                </a:solidFill>
              </a:rPr>
              <a:t>Credit B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281160" y="18288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1892808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233F"/>
                </a:solidFill>
              </a:rPr>
              <a:t>Commit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1233F"/>
                </a:solidFill>
              </a:rPr>
              <a:t>Both saved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80760" y="3474720"/>
            <a:ext cx="5212080" cy="384048"/>
          </a:xfrm>
          <a:prstGeom prst="roundRect">
            <a:avLst>
              <a:gd name="adj" fmla="val 19048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538728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BASE Replication Path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20840" y="4434840"/>
            <a:ext cx="1188720" cy="-18288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20840" y="4434840"/>
            <a:ext cx="1188720" cy="36576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32520" y="4526280"/>
            <a:ext cx="1143000" cy="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72200" y="411480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4178808"/>
            <a:ext cx="1014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Node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new value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18120" y="384048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2128" y="3904488"/>
            <a:ext cx="1014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Node 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old→new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18120" y="457200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4636008"/>
            <a:ext cx="1014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Node 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old→new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38360" y="4224528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2368" y="4288536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233F"/>
                </a:solidFill>
              </a:rPr>
              <a:t>Eventually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233F"/>
                </a:solidFill>
              </a:rPr>
              <a:t>same value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ACID Properties: Overview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 reliable transaction model mainly used by relational databases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20" dirty="0">
                <a:solidFill>
                  <a:srgbClr val="313847"/>
                </a:solidFill>
              </a:rPr>
              <a:t>ACID gives strong guarantees for operations that must be correct immediately.</a:t>
            </a:r>
            <a:endParaRPr lang="en-US" sz="1520" dirty="0"/>
          </a:p>
          <a:p>
            <a:r>
              <a:rPr lang="en-US" sz="1520" dirty="0">
                <a:solidFill>
                  <a:srgbClr val="313847"/>
                </a:solidFill>
              </a:rPr>
              <a:t>It treats a transaction as a complete unit of work.</a:t>
            </a:r>
            <a:endParaRPr lang="en-US" sz="1520" dirty="0"/>
          </a:p>
          <a:p>
            <a:r>
              <a:rPr lang="en-US" sz="1520" dirty="0">
                <a:solidFill>
                  <a:srgbClr val="313847"/>
                </a:solidFill>
              </a:rPr>
              <a:t>It is commonly used in SQL databases such as Oracle, MySQL, PostgreSQL, and SQL Server.</a:t>
            </a:r>
            <a:endParaRPr lang="en-US" sz="1520" dirty="0"/>
          </a:p>
          <a:p>
            <a:r>
              <a:rPr lang="en-US" sz="1520" dirty="0">
                <a:solidFill>
                  <a:srgbClr val="313847"/>
                </a:solidFill>
              </a:rPr>
              <a:t>It is preferred when wrong or lost data can cause financial, legal, or operational loss.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080760" y="1417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1233F"/>
          </a:solidFill>
          <a:ln w="13970">
            <a:solidFill>
              <a:srgbClr val="11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66560" y="14173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148132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233F"/>
                </a:solidFill>
              </a:rPr>
              <a:t>Atomicity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233F"/>
                </a:solidFill>
              </a:rPr>
              <a:t>All or nothing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778240" y="14173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1233F"/>
          </a:solidFill>
          <a:ln w="13970">
            <a:solidFill>
              <a:srgbClr val="112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4224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464040" y="14173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8048" y="148132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233F"/>
                </a:solidFill>
              </a:rPr>
              <a:t>Consistency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233F"/>
                </a:solidFill>
              </a:rPr>
              <a:t>Valid state only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80760" y="2880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1233F"/>
          </a:solidFill>
          <a:ln w="13970">
            <a:solidFill>
              <a:srgbClr val="1123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66560" y="28803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294436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233F"/>
                </a:solidFill>
              </a:rPr>
              <a:t>Isolation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233F"/>
                </a:solidFill>
              </a:rPr>
              <a:t>No interference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778240" y="2880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1233F"/>
          </a:solidFill>
          <a:ln w="13970">
            <a:solidFill>
              <a:srgbClr val="1123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42248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464040" y="28803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294436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233F"/>
                </a:solidFill>
              </a:rPr>
              <a:t>Durability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1233F"/>
                </a:solidFill>
              </a:rPr>
              <a:t>Saved forever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172200" y="4800600"/>
            <a:ext cx="4983480" cy="713232"/>
          </a:xfrm>
          <a:prstGeom prst="roundRect">
            <a:avLst>
              <a:gd name="adj" fmla="val 7692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4873752"/>
            <a:ext cx="4764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233F"/>
                </a:solidFill>
              </a:rPr>
              <a:t>Simple memory line: ACID is chosen when correctness must be visible immediately.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Atomicity: All Operations or No Operation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 transaction should not remain half-complete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663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313847"/>
                </a:solidFill>
              </a:rPr>
              <a:t>Atomicity means the complete transaction succeeds, or the database cancels all its effects.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It prevents incomplete updates after power failure, network loss, or application crash.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Banking example: sender debit and receiver credit must be treated as one unit.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If credit fails after debit, rollback restores the sender balance.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53328" y="1234440"/>
            <a:ext cx="5257800" cy="384048"/>
          </a:xfrm>
          <a:prstGeom prst="roundRect">
            <a:avLst>
              <a:gd name="adj" fmla="val 19048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17336" y="1298448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Atomic Transaction Boundary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2331720"/>
            <a:ext cx="1143000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49640" y="2331720"/>
            <a:ext cx="1143000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72200" y="1938528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2002536"/>
            <a:ext cx="11521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Debit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₹1000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1938528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2002536"/>
            <a:ext cx="11521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Credit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₹1000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72600" y="1938528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2002536"/>
            <a:ext cx="11521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Commit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Success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58200" y="2880360"/>
            <a:ext cx="0" cy="777240"/>
          </a:xfrm>
          <a:prstGeom prst="line">
            <a:avLst/>
          </a:prstGeom>
          <a:noFill/>
          <a:ln w="1524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3657600"/>
            <a:ext cx="-1463040" cy="0"/>
          </a:xfrm>
          <a:prstGeom prst="line">
            <a:avLst/>
          </a:prstGeom>
          <a:noFill/>
          <a:ln w="15240">
            <a:solidFill>
              <a:srgbClr val="E74C3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3429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DEDEC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349300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If credit fails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310128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DEDEC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3374136"/>
            <a:ext cx="11521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74C3C"/>
                </a:solidFill>
              </a:rPr>
              <a:t>Rollback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E74C3C"/>
                </a:solidFill>
              </a:rPr>
              <a:t>undo debit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17920" y="4919472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992624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Result: money is never deducted without being credited.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Consistency: Valid State to Valid State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Rules, constraints, and invariants must remain true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80" dirty="0">
                <a:solidFill>
                  <a:srgbClr val="313847"/>
                </a:solidFill>
              </a:rPr>
              <a:t>Consistency means a transaction must obey all database rules.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Examples of rules: primary key uniqueness, foreign key validity, minimum balance, stock cannot be negative.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A transaction cannot leave the database in an illegal condition.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Application logic and database constraints work together to preserve consistency.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1481328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Before Transfer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15400" y="1417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79408" y="1481328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After Transfer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2651760"/>
            <a:ext cx="640080" cy="0"/>
          </a:xfrm>
          <a:prstGeom prst="line">
            <a:avLst/>
          </a:prstGeom>
          <a:noFill/>
          <a:ln w="15240">
            <a:solidFill>
              <a:srgbClr val="59627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214884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21284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A = ₹5000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65176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71576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B = ₹3000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1546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21868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Total = ₹8000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14884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8008" y="221284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A = ₹4000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0" y="265176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8008" y="271576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B = ₹4000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0" y="31546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321868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Total = ₹8000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343400"/>
            <a:ext cx="4572000" cy="594360"/>
          </a:xfrm>
          <a:prstGeom prst="roundRect">
            <a:avLst>
              <a:gd name="adj" fmla="val 9231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4416552"/>
            <a:ext cx="43525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Invariant preserved: total money in the two accounts is unchanged.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Isolation: Concurrent Transactions Act Safely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Each transaction behaves as if it has a protected turn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663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70" dirty="0">
                <a:solidFill>
                  <a:srgbClr val="313847"/>
                </a:solidFill>
              </a:rPr>
              <a:t>Isolation prevents one transaction from seeing the unfinished work of another transaction.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It protects against dirty reads, lost updates, and double booking.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Example: two users try to book the last available seat at the same time.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Database locking or multi-version concurrency control is often used to enforce isolation.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7178040" y="123444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42048" y="1298448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Seat S1 = Available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1783080"/>
            <a:ext cx="0" cy="356616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96596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02996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13847"/>
                </a:solidFill>
              </a:rPr>
              <a:t>T1: User A reads S1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080760" y="260604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267004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13847"/>
                </a:solidFill>
              </a:rPr>
              <a:t>T1: lock S1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080760" y="324612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31012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13847"/>
                </a:solidFill>
              </a:rPr>
              <a:t>T1: book and commit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8366760" y="224028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0EAFE"/>
          </a:solidFill>
          <a:ln w="13970">
            <a:solidFill>
              <a:srgbClr val="7E57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230428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13847"/>
                </a:solidFill>
              </a:rPr>
              <a:t>T2: User B reads S1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366760" y="288036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294436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13847"/>
                </a:solidFill>
              </a:rPr>
              <a:t>T2: waits / retries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8366760" y="352044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358444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13847"/>
                </a:solidFill>
              </a:rPr>
              <a:t>T2: sees sold out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263640" y="5074920"/>
            <a:ext cx="4663440" cy="512064"/>
          </a:xfrm>
          <a:prstGeom prst="roundRect">
            <a:avLst>
              <a:gd name="adj" fmla="val 10714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514807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Only one seat is sold. Both users cannot receive the same seat.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Durability: Committed Means Permanent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 completed transaction survives crashes and restarts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663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70" dirty="0">
                <a:solidFill>
                  <a:srgbClr val="313847"/>
                </a:solidFill>
              </a:rPr>
              <a:t>Durability guarantees that committed data is stored permanently.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Even if the system crashes after commit, the database can recover the transaction.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Databases use logs, checkpoints, backups, and replication for durability.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Example: after a UPI payment succeeds, the record should not disappear after server restart.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6675120" y="1965960"/>
            <a:ext cx="1325880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32520" y="1965960"/>
            <a:ext cx="1188720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72200" y="1627632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691640"/>
            <a:ext cx="9235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Commit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26680" y="1627632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0688" y="1691640"/>
            <a:ext cx="11064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Write-ahead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0" y="1627632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65208" y="1691640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Disk / SSD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Storage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2514600"/>
            <a:ext cx="0" cy="914400"/>
          </a:xfrm>
          <a:prstGeom prst="line">
            <a:avLst/>
          </a:prstGeom>
          <a:noFill/>
          <a:ln w="1397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338328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FDEDEC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7848" y="3447288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Crash occurs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3794760"/>
            <a:ext cx="0" cy="548640"/>
          </a:xfrm>
          <a:prstGeom prst="line">
            <a:avLst/>
          </a:prstGeom>
          <a:noFill/>
          <a:ln w="1651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12280" y="4343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4407408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33F"/>
                </a:solidFill>
              </a:rPr>
              <a:t>Recovery reads log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1233F"/>
                </a:solidFill>
              </a:rPr>
              <a:t>and restores transaction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5577840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565099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1233F"/>
                </a:solidFill>
              </a:rPr>
              <a:t>Durability answers: “Will my committed data still exist after failure?”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 Case Study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ACID Case Study: Online Banking Transfer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 single money transfer has many internal steps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2920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70" dirty="0">
                <a:solidFill>
                  <a:srgbClr val="313847"/>
                </a:solidFill>
              </a:rPr>
              <a:t>Scenario: transfer ₹10,000 from Rahul to Priya using mobile banking.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The transaction checks balance, debits sender, credits receiver, records audit trail, and commits.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Any failure must cancel the complete transfer.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Correctness is more important than serving an approximate answer quickly.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5989320" y="1207008"/>
            <a:ext cx="5349240" cy="402336"/>
          </a:xfrm>
          <a:prstGeom prst="roundRect">
            <a:avLst>
              <a:gd name="adj" fmla="val 18182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53328" y="127101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Bank Transfer Transaction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76872" y="2148840"/>
            <a:ext cx="265176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82880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892808"/>
            <a:ext cx="859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Check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balance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229600" y="2148840"/>
            <a:ext cx="265176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42048" y="182880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06056" y="1892808"/>
            <a:ext cx="859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Debit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sender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9482328" y="2148840"/>
            <a:ext cx="265176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94776" y="182880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58784" y="1892808"/>
            <a:ext cx="859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Credit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receiver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747504" y="1828800"/>
            <a:ext cx="987552" cy="685800"/>
          </a:xfrm>
          <a:prstGeom prst="roundRect">
            <a:avLst>
              <a:gd name="adj" fmla="val 10667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11512" y="1892808"/>
            <a:ext cx="859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Audit +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commit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9006840" y="2633472"/>
            <a:ext cx="0" cy="1097280"/>
          </a:xfrm>
          <a:prstGeom prst="line">
            <a:avLst/>
          </a:prstGeom>
          <a:noFill/>
          <a:ln w="15240">
            <a:solidFill>
              <a:srgbClr val="E74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6840" y="3730752"/>
            <a:ext cx="-2423160" cy="0"/>
          </a:xfrm>
          <a:prstGeom prst="line">
            <a:avLst/>
          </a:prstGeom>
          <a:noFill/>
          <a:ln w="15240">
            <a:solidFill>
              <a:srgbClr val="E74C3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21040" y="3429000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DEDEC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5048" y="3493008"/>
            <a:ext cx="1289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Failure after debit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342900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DEDEC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3493008"/>
            <a:ext cx="20208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E74C3C"/>
                </a:solidFill>
              </a:rPr>
              <a:t>Rollback: sender balance restored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172200" y="49834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5056632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ACID protects money, auditability, and user trust.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 Examples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ACID Examples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Where immediate correctness matters more than raw scalability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21208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30" dirty="0">
                <a:solidFill>
                  <a:srgbClr val="313847"/>
                </a:solidFill>
              </a:rPr>
              <a:t>Railway reservation: two people cannot get the same confirmed seat.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Hospital system: prescription and patient record updates must remain linked.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Inventory system: stock should not become negative after order placement.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Payroll system: salary debit, tax deduction, and employee credit must match.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Exam portal: final marks should not be partially saved during result publication.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29844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Domain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123444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33688" y="129844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ACID Need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89280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95681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Banking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080760" y="255117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61518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Travel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80760" y="320954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2735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Healthcare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80760" y="386791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9319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ERP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080760" y="452628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459028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Education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869680" y="189280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33688" y="195681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No lost money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869680" y="255117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33688" y="261518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No double seat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869680" y="320954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3688" y="32735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No broken record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869680" y="386791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33688" y="39319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Accurate stock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869680" y="452628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33688" y="459028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Correct results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172200" y="51663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5239512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Design hint: use ACID when wrong data is costlier than slower response.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Properties: Overview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 practical model for highly available distributed systems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313847"/>
                </a:solidFill>
              </a:rPr>
              <a:t>BASE is commonly associated with distributed NoSQL systems.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It relaxes immediate consistency to improve availability and scalability.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The system may return a response even while replicas are still synchronizing.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It works well when temporary inconsistency is acceptable for the business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621792" cy="566928"/>
          </a:xfrm>
          <a:prstGeom prst="roundRect">
            <a:avLst>
              <a:gd name="adj" fmla="val 12903"/>
            </a:avLst>
          </a:prstGeom>
          <a:solidFill>
            <a:srgbClr val="00A99D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148132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41732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148132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Basically Available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System responds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621792" cy="566928"/>
          </a:xfrm>
          <a:prstGeom prst="roundRect">
            <a:avLst>
              <a:gd name="adj" fmla="val 12903"/>
            </a:avLst>
          </a:prstGeom>
          <a:solidFill>
            <a:srgbClr val="00A99D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262432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03720" y="256032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262432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Soft State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Data may change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703320"/>
            <a:ext cx="621792" cy="566928"/>
          </a:xfrm>
          <a:prstGeom prst="roundRect">
            <a:avLst>
              <a:gd name="adj" fmla="val 12903"/>
            </a:avLst>
          </a:prstGeom>
          <a:solidFill>
            <a:srgbClr val="00A99D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376732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03720" y="370332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376732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Eventual Consistency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Replicas converge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507492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5148072"/>
            <a:ext cx="45811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Simple memory line: BASE is chosen when the service must remain available across many nodes.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Basically Available: Service Responds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The application keeps working even if part of the system fails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80" dirty="0">
                <a:solidFill>
                  <a:srgbClr val="313847"/>
                </a:solidFill>
              </a:rPr>
              <a:t>The database aims to return a response whenever possible.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A replica can serve users even if another replica is unreachable.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The response may use the latest available local copy of data.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Example: a shopping application continues to show product pages during a server failure.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25328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User Request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2788920"/>
            <a:ext cx="822960" cy="-73152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89520" y="2788920"/>
            <a:ext cx="822960" cy="4572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89520" y="2788920"/>
            <a:ext cx="822960" cy="82296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58200" y="173736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DEDEC"/>
          </a:solidFill>
          <a:ln w="1397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2208" y="1801368"/>
            <a:ext cx="1014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Node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Down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58200" y="256032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2624328"/>
            <a:ext cx="1014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Node 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Responds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58200" y="338328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3447288"/>
            <a:ext cx="1014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Node 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Responds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0" y="256032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22408" y="2624328"/>
            <a:ext cx="1014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Application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Available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0" y="2834640"/>
            <a:ext cx="457200" cy="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4754880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4828032"/>
            <a:ext cx="4581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1233F"/>
                </a:solidFill>
              </a:rPr>
              <a:t>Availability is prioritized over immediate global agreement.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State: Temporary Differences Are Allowed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Replicas can show different values for a short period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663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80" dirty="0">
                <a:solidFill>
                  <a:srgbClr val="313847"/>
                </a:solidFill>
              </a:rPr>
              <a:t>Soft state means the stored value may change over time because replicas are being synchronized.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The system does not require every server to have the exact same value at every instant.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This is useful in large distributed applications with many users and many locations.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Example: like count or view count differs briefly across app servers.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949440" y="1325880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389888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Instagram Post Likes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2402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2304288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Server India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100 likes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22402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2304288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Server Singapore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98 likes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4040" y="22402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8048" y="2304288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Server Europe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99 likes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3730752"/>
            <a:ext cx="777240" cy="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9680" y="3730752"/>
            <a:ext cx="777240" cy="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406908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4133088"/>
            <a:ext cx="4169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After sync: all servers show 100 likes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516636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5239512"/>
            <a:ext cx="4489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Soft state is acceptable when users can tolerate a small delay.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Eventual Consistency: Replicas Converge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All copies become consistent after updates finish propagating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70" dirty="0">
                <a:solidFill>
                  <a:srgbClr val="313847"/>
                </a:solidFill>
              </a:rPr>
              <a:t>Eventual consistency means all replicas will agree eventually if no new updates occur.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The system may temporarily serve stale data from one replica.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This model improves scalability and availability across regions.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Example: profile photo, product review count, recommendation list, or notification counter.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6080760" y="1325880"/>
            <a:ext cx="5029200" cy="438912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38988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t0: User updates profile 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212848"/>
            <a:ext cx="1106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Node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New 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21488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3568" y="2212848"/>
            <a:ext cx="1106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Node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Old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55480" y="21488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19488" y="2212848"/>
            <a:ext cx="1106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Node 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Old value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337560"/>
            <a:ext cx="1188720" cy="64008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58200" y="3337560"/>
            <a:ext cx="1188720" cy="64008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80960" y="365760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44968" y="3721608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13847"/>
                </a:solidFill>
              </a:rPr>
              <a:t>Sync event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35440" y="365760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3721608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13847"/>
                </a:solidFill>
              </a:rPr>
              <a:t>Sync event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457200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4636008"/>
            <a:ext cx="38039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t1: Node A = Node B = Node 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 Study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Case Study: Social Media Likes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Temporary inconsistency is acceptable for high user activity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800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40" dirty="0">
                <a:solidFill>
                  <a:srgbClr val="313847"/>
                </a:solidFill>
              </a:rPr>
              <a:t>Scenario: a post receives thousands of likes from different countries.</a:t>
            </a:r>
            <a:endParaRPr lang="en-US" sz="1440" dirty="0"/>
          </a:p>
          <a:p>
            <a:r>
              <a:rPr lang="en-US" sz="1440" dirty="0">
                <a:solidFill>
                  <a:srgbClr val="313847"/>
                </a:solidFill>
              </a:rPr>
              <a:t>Each regional server accepts local interactions quickly.</a:t>
            </a:r>
            <a:endParaRPr lang="en-US" sz="1440" dirty="0"/>
          </a:p>
          <a:p>
            <a:r>
              <a:rPr lang="en-US" sz="1440" dirty="0">
                <a:solidFill>
                  <a:srgbClr val="313847"/>
                </a:solidFill>
              </a:rPr>
              <a:t>Like counters are merged and synchronized across replicas.</a:t>
            </a:r>
            <a:endParaRPr lang="en-US" sz="1440" dirty="0"/>
          </a:p>
          <a:p>
            <a:r>
              <a:rPr lang="en-US" sz="1440" dirty="0">
                <a:solidFill>
                  <a:srgbClr val="313847"/>
                </a:solidFill>
              </a:rPr>
              <a:t>A few users may briefly see different counts, but the service remains fast and available.</a:t>
            </a:r>
            <a:endParaRPr lang="en-US" sz="1440" dirty="0"/>
          </a:p>
          <a:p>
            <a:r>
              <a:rPr lang="en-US" sz="1440" dirty="0">
                <a:solidFill>
                  <a:srgbClr val="313847"/>
                </a:solidFill>
              </a:rPr>
              <a:t>The business impact of a short delay is usually low.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5166360" cy="384048"/>
          </a:xfrm>
          <a:prstGeom prst="roundRect">
            <a:avLst>
              <a:gd name="adj" fmla="val 19048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298448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Like Transaction in Distributed 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2075688"/>
            <a:ext cx="1014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User clicks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Like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201168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2075688"/>
            <a:ext cx="1014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Regional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Server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15400" y="201168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9408" y="2075688"/>
            <a:ext cx="1014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Counter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Service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95560" y="201168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59568" y="2075688"/>
            <a:ext cx="1014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Other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233F"/>
                </a:solidFill>
              </a:rPr>
              <a:t>Regions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2322576"/>
            <a:ext cx="228600" cy="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0" y="2322576"/>
            <a:ext cx="228600" cy="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0" y="2322576"/>
            <a:ext cx="137160" cy="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33375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3401568"/>
            <a:ext cx="1883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13847"/>
                </a:solidFill>
              </a:rPr>
              <a:t>Immediate response to user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32520" y="333756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96528" y="3401568"/>
            <a:ext cx="2020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13847"/>
                </a:solidFill>
              </a:rPr>
              <a:t>Background synchronization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4892040"/>
            <a:ext cx="4800600" cy="594360"/>
          </a:xfrm>
          <a:prstGeom prst="roundRect">
            <a:avLst>
              <a:gd name="adj" fmla="val 9231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4965192"/>
            <a:ext cx="4581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BASE makes the app responsive during very large write volume.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 Study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Case Study: Shopping Cart and Reviews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Not every e-commerce feature needs the same consistency level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7492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60" dirty="0">
                <a:solidFill>
                  <a:srgbClr val="313847"/>
                </a:solidFill>
              </a:rPr>
              <a:t>Product browsing, recommendations, ratings, and reviews can use eventual consistency.</a:t>
            </a:r>
            <a:endParaRPr lang="en-US" sz="1460" dirty="0"/>
          </a:p>
          <a:p>
            <a:r>
              <a:rPr lang="en-US" sz="1460" dirty="0">
                <a:solidFill>
                  <a:srgbClr val="313847"/>
                </a:solidFill>
              </a:rPr>
              <a:t>Cart updates may be accepted locally and synchronized with the user account later.</a:t>
            </a:r>
            <a:endParaRPr lang="en-US" sz="1460" dirty="0"/>
          </a:p>
          <a:p>
            <a:r>
              <a:rPr lang="en-US" sz="1460" dirty="0">
                <a:solidFill>
                  <a:srgbClr val="313847"/>
                </a:solidFill>
              </a:rPr>
              <a:t>Payment and final order creation should still use ACID because money and inventory are involved.</a:t>
            </a:r>
            <a:endParaRPr lang="en-US" sz="1460" dirty="0"/>
          </a:p>
          <a:p>
            <a:r>
              <a:rPr lang="en-US" sz="1460" dirty="0">
                <a:solidFill>
                  <a:srgbClr val="313847"/>
                </a:solidFill>
              </a:rPr>
              <a:t>Large e-commerce systems often combine BASE for scale and ACID for critical transactions.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5166360" cy="384048"/>
          </a:xfrm>
          <a:prstGeom prst="roundRect">
            <a:avLst>
              <a:gd name="adj" fmla="val 19048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298448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E-commerce Data Zones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93852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BASE-friendly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87452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33688" y="193852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ACID-critical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53288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59689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Product views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80760" y="319125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25526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Ratings &amp; reviews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80760" y="384962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9136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Recommendations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080760" y="450799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457200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Cart draft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869680" y="253288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33688" y="259689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Payment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869680" y="319125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33688" y="325526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Final order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869680" y="384962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3688" y="39136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Inventory lock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869680" y="450799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33688" y="457200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Invoice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72200" y="516636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5239512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Practical architecture: BASE for browsing scale, ACID for checkout correctness.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ACID vs BASE: Compact Comparison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The two models solve different design problems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4846320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80" dirty="0">
                <a:solidFill>
                  <a:srgbClr val="313847"/>
                </a:solidFill>
              </a:rPr>
              <a:t>ACID is strict, reliable, and transaction-centered.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BASE is scalable, available, and replication-centered.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Neither model is universally better; the correct choice depends on the application risk.</a:t>
            </a:r>
            <a:endParaRPr lang="en-US" sz="1480" dirty="0"/>
          </a:p>
          <a:p>
            <a:r>
              <a:rPr lang="en-US" sz="1480" dirty="0">
                <a:solidFill>
                  <a:srgbClr val="313847"/>
                </a:solidFill>
              </a:rPr>
              <a:t>Many modern systems combine both models in different modules.</a:t>
            </a:r>
            <a:endParaRPr lang="en-US" sz="148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234440"/>
          <a:ext cx="6080760" cy="4434840"/>
        </p:xfrm>
        <a:graphic>
          <a:graphicData uri="http://schemas.openxmlformats.org/drawingml/2006/table">
            <a:tbl>
              <a:tblPr/>
              <a:tblGrid>
                <a:gridCol w="1325880"/>
                <a:gridCol w="2240280"/>
                <a:gridCol w="2240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ACID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goal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Immediate correctness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availability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Consistency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Eventual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Failure handling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Rollback / recovery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 from replicas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DB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SQL / NewSQL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NoSQL / distributed stores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example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Bank transfer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138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Social feed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 Diagrams: ACID and BASE Side by Side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Visualizing how each model treats an update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143000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216152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ACID: one protected transaction boundary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143000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216152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BASE: fast local write with replica propagation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43000" y="2423160"/>
            <a:ext cx="1280160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2423160"/>
            <a:ext cx="1280160" cy="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2029968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093976"/>
            <a:ext cx="1014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Step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Debit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2029968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2093976"/>
            <a:ext cx="1014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Step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Credit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202996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0208" y="2093976"/>
            <a:ext cx="1197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Commit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or Rollback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25880" y="374904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888" y="3813048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Visible only when safe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2468880"/>
            <a:ext cx="1325880" cy="-50292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20840" y="2468880"/>
            <a:ext cx="1325880" cy="45720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06840" y="2468880"/>
            <a:ext cx="1143000" cy="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21031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21671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Local Node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Accepts write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18120" y="160020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82128" y="166420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Replica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updates later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18120" y="274320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82128" y="280720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Replica 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updates later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966960" y="21031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30968" y="21671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Converged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state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374904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3448" y="381304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Visible quickly; may be temporarily stale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Context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Connection with CAP Theorem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Distributed databases must reason about consistency, availability, and partition tolerance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29200" cy="4663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70" dirty="0">
                <a:solidFill>
                  <a:srgbClr val="313847"/>
                </a:solidFill>
              </a:rPr>
              <a:t>CAP is mainly discussed for distributed systems where network partitions can occur.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ACID relates strongly to correctness and strong consistency inside transactions.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BASE relates strongly to availability and eventual consistency during distribution.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During network partition, a system often chooses whether to reject some requests or serve possibly stale data.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8092440" y="155448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6448" y="1618488"/>
            <a:ext cx="1289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Consistency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4160520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4224528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46920" y="4160520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0928" y="4224528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Partition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Tolerance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32520" y="2103120"/>
            <a:ext cx="-1417320" cy="2057400"/>
          </a:xfrm>
          <a:prstGeom prst="line">
            <a:avLst/>
          </a:prstGeom>
          <a:noFill/>
          <a:ln w="16510">
            <a:solidFill>
              <a:srgbClr val="5962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2103120"/>
            <a:ext cx="1691640" cy="2057400"/>
          </a:xfrm>
          <a:prstGeom prst="line">
            <a:avLst/>
          </a:prstGeom>
          <a:noFill/>
          <a:ln w="16510">
            <a:solidFill>
              <a:srgbClr val="5962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434840"/>
            <a:ext cx="1645920" cy="0"/>
          </a:xfrm>
          <a:prstGeom prst="line">
            <a:avLst/>
          </a:prstGeom>
          <a:noFill/>
          <a:ln w="16510">
            <a:solidFill>
              <a:srgbClr val="5962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525780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53218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13847"/>
                </a:solidFill>
              </a:rPr>
              <a:t>ACID leans toward stronger consistency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5257800"/>
            <a:ext cx="2194560" cy="438912"/>
          </a:xfrm>
          <a:prstGeom prst="roundRect">
            <a:avLst>
              <a:gd name="adj" fmla="val 16667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53218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13847"/>
                </a:solidFill>
              </a:rPr>
              <a:t>BASE leans toward availability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Guidance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Should We Choose ACID?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Use ACID when wrong data is unacceptable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2920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313847"/>
                </a:solidFill>
              </a:rPr>
              <a:t>Use ACID when every transaction must be correct immediately.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Use it when rollback, audit trail, and legal accountability are important.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Use it when operations contain multiple dependent steps that must succeed together.</a:t>
            </a:r>
            <a:endParaRPr lang="en-US" sz="1500" dirty="0"/>
          </a:p>
          <a:p>
            <a:r>
              <a:rPr lang="en-US" sz="1500" dirty="0">
                <a:solidFill>
                  <a:srgbClr val="313847"/>
                </a:solidFill>
              </a:rPr>
              <a:t>Choose SQL or transactional systems for final payment, inventory locking, and financial ledgers.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32588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38988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132588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33688" y="138988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Why ACID?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98424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04825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Bank transfer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080760" y="264261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7066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Airline seat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80760" y="330098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Hospital billing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80760" y="395935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40233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Salary payroll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080760" y="461772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46817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Stock trade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869680" y="198424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33688" y="204825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No lost money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869680" y="264261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33688" y="27066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No double booking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869680" y="330098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3688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Legal accuracy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869680" y="395935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33688" y="40233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Exact payment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869680" y="461772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33688" y="46817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Auditable ledger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Guidance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Should We Choose BASE?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Use BASE when availability and scale are more important than instant agreement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2920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70" dirty="0">
                <a:solidFill>
                  <a:srgbClr val="313847"/>
                </a:solidFill>
              </a:rPr>
              <a:t>Use BASE when the system has global users and high request volume.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Use it when temporary stale reads do not damage the core business process.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Use it for feeds, analytics counters, recommendations, IoT telemetry, logs, and notifications.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Design the user experience so delayed consistency is acceptable and transparent.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6080760" y="132588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38988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132588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33688" y="138988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Why BASE?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98424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04825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Social feed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080760" y="264261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7066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Video views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80760" y="330098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Product ratings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80760" y="395935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40233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IoT sensors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080760" y="461772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9FBFF"/>
          </a:solidFill>
          <a:ln w="13970">
            <a:solidFill>
              <a:srgbClr val="CAD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46817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Search index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869680" y="198424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33688" y="204825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Fast response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869680" y="264261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33688" y="27066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Massive scale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869680" y="330098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3688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Delay allowed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869680" y="395935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33688" y="40233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High throughput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869680" y="461772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F8FFFD"/>
          </a:solidFill>
          <a:ln w="13970">
            <a:solidFill>
              <a:srgbClr val="BDED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33688" y="46817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313847"/>
                </a:solidFill>
              </a:rPr>
              <a:t>Async update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Guidance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Architecture: Both Models Together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Most real systems do not use only one model everywhere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0292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70" dirty="0">
                <a:solidFill>
                  <a:srgbClr val="313847"/>
                </a:solidFill>
              </a:rPr>
              <a:t>A modern e-commerce system may use ACID for checkout and BASE for browsing experience.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Critical records are stored in transactional databases.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High-volume user activity is stored in distributed NoSQL or event systems.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Event streams can synchronize data between strict and eventually consistent components.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6080760" y="260604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2670048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User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69480" y="2880360"/>
            <a:ext cx="1097280" cy="-822960"/>
          </a:xfrm>
          <a:prstGeom prst="line">
            <a:avLst/>
          </a:prstGeom>
          <a:noFill/>
          <a:ln w="1524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2880360"/>
            <a:ext cx="1097280" cy="822960"/>
          </a:xfrm>
          <a:prstGeom prst="line">
            <a:avLst/>
          </a:prstGeom>
          <a:noFill/>
          <a:ln w="15240">
            <a:solidFill>
              <a:srgbClr val="00A99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21040" y="16916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755648"/>
            <a:ext cx="1426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Checkout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ACID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333756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3401568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Feeds, reviews, logs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233F"/>
                </a:solidFill>
              </a:rPr>
              <a:t>BASE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75520" y="2057400"/>
            <a:ext cx="868680" cy="868680"/>
          </a:xfrm>
          <a:prstGeom prst="line">
            <a:avLst/>
          </a:prstGeom>
          <a:noFill/>
          <a:ln w="15240">
            <a:solidFill>
              <a:srgbClr val="5962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104120" y="3703320"/>
            <a:ext cx="640080" cy="-548640"/>
          </a:xfrm>
          <a:prstGeom prst="line">
            <a:avLst/>
          </a:prstGeom>
          <a:noFill/>
          <a:ln w="15240">
            <a:solidFill>
              <a:srgbClr val="59627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561320" y="26060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25328" y="2670048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Analytics /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1233F"/>
                </a:solidFill>
              </a:rPr>
              <a:t>Recommendations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17920" y="493776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5010912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Key lesson: choose consistency level per module, not per whole company.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Misconceptions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Avoid overgeneralizing SQL, NoSQL, ACID, and BASE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303520" cy="4846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313847"/>
                </a:solidFill>
              </a:rPr>
              <a:t>Misconception 1: “NoSQL means no transactions.” Modern NoSQL systems may support limited or configurable transactions.</a:t>
            </a:r>
            <a:endParaRPr lang="en-US" sz="1400" dirty="0"/>
          </a:p>
          <a:p>
            <a:r>
              <a:rPr lang="en-US" sz="1400" dirty="0">
                <a:solidFill>
                  <a:srgbClr val="313847"/>
                </a:solidFill>
              </a:rPr>
              <a:t>Misconception 2: “BASE means data is always wrong.” It means data may be temporarily different across replicas.</a:t>
            </a:r>
            <a:endParaRPr lang="en-US" sz="1400" dirty="0"/>
          </a:p>
          <a:p>
            <a:r>
              <a:rPr lang="en-US" sz="1400" dirty="0">
                <a:solidFill>
                  <a:srgbClr val="313847"/>
                </a:solidFill>
              </a:rPr>
              <a:t>Misconception 3: “ACID cannot scale.” It can scale, but usually with higher coordination cost.</a:t>
            </a:r>
            <a:endParaRPr lang="en-US" sz="1400" dirty="0"/>
          </a:p>
          <a:p>
            <a:r>
              <a:rPr lang="en-US" sz="1400" dirty="0">
                <a:solidFill>
                  <a:srgbClr val="313847"/>
                </a:solidFill>
              </a:rPr>
              <a:t>Misconception 4: “One application must choose only one model.” Large systems usually mix both.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481328"/>
            <a:ext cx="33467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33F"/>
                </a:solidFill>
              </a:rPr>
              <a:t>Think in terms of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395728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313847"/>
                </a:solidFill>
              </a:rPr>
              <a:t>Money / seat / invoice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313847"/>
                </a:solidFill>
              </a:rPr>
              <a:t>High risk → ACID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458200" y="2331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2395728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313847"/>
                </a:solidFill>
              </a:rPr>
              <a:t>Likes / views / logs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313847"/>
                </a:solidFill>
              </a:rPr>
              <a:t>Lower risk → BASE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269480" y="4023360"/>
            <a:ext cx="2011680" cy="0"/>
          </a:xfrm>
          <a:prstGeom prst="line">
            <a:avLst/>
          </a:prstGeom>
          <a:noFill/>
          <a:ln w="15240">
            <a:solidFill>
              <a:srgbClr val="5962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43434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3DB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4407408"/>
            <a:ext cx="3803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Right design = correct consistency for each data item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Activity and Practice Questions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Use examples to test understanding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212080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60" dirty="0">
                <a:solidFill>
                  <a:srgbClr val="313847"/>
                </a:solidFill>
              </a:rPr>
              <a:t>Activity: classify each operation as ACID, BASE, or Hybrid.</a:t>
            </a:r>
            <a:endParaRPr lang="en-US" sz="1460" dirty="0"/>
          </a:p>
          <a:p>
            <a:r>
              <a:rPr lang="en-US" sz="1460" dirty="0">
                <a:solidFill>
                  <a:srgbClr val="313847"/>
                </a:solidFill>
              </a:rPr>
              <a:t>1. UPI money transfer between two accounts.</a:t>
            </a:r>
            <a:endParaRPr lang="en-US" sz="1460" dirty="0"/>
          </a:p>
          <a:p>
            <a:r>
              <a:rPr lang="en-US" sz="1460" dirty="0">
                <a:solidFill>
                  <a:srgbClr val="313847"/>
                </a:solidFill>
              </a:rPr>
              <a:t>2. Adding a product to a shopping cart from a mobile app.</a:t>
            </a:r>
            <a:endParaRPr lang="en-US" sz="1460" dirty="0"/>
          </a:p>
          <a:p>
            <a:r>
              <a:rPr lang="en-US" sz="1460" dirty="0">
                <a:solidFill>
                  <a:srgbClr val="313847"/>
                </a:solidFill>
              </a:rPr>
              <a:t>3. Publishing marks in a university result portal.</a:t>
            </a:r>
            <a:endParaRPr lang="en-US" sz="1460" dirty="0"/>
          </a:p>
          <a:p>
            <a:r>
              <a:rPr lang="en-US" sz="1460" dirty="0">
                <a:solidFill>
                  <a:srgbClr val="313847"/>
                </a:solidFill>
              </a:rPr>
              <a:t>4. Updating a YouTube video view counter.</a:t>
            </a:r>
            <a:endParaRPr lang="en-US" sz="1460" dirty="0"/>
          </a:p>
          <a:p>
            <a:r>
              <a:rPr lang="en-US" sz="1460" dirty="0">
                <a:solidFill>
                  <a:srgbClr val="313847"/>
                </a:solidFill>
              </a:rPr>
              <a:t>5. Confirming the last available hotel room.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6629400" y="13716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1397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3560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Expected Direction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25856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UPI → ACID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1945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25856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Cart → Hybrid/BASE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9718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303580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Marks → ACID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29718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303580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Views → 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379476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3858768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13847"/>
                </a:solidFill>
              </a:rPr>
              <a:t>Hotel room → ACID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89204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4965192"/>
            <a:ext cx="4443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33F"/>
                </a:solidFill>
              </a:rPr>
              <a:t>Ask students to justify each classification based on risk and tolerance for delay.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ACID and BASE are design choices for different needs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5303520" cy="4846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70" dirty="0">
                <a:solidFill>
                  <a:srgbClr val="313847"/>
                </a:solidFill>
              </a:rPr>
              <a:t>ACID provides strong transaction reliability: atomicity, consistency, isolation, and durability.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BASE provides high availability in distributed systems: basically available, soft state, and eventual consistency.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ACID is best for critical transactions such as payments, reservations, and ledgers.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BASE is best for massive distributed workloads such as feeds, likes, logs, counters, and recommendations.</a:t>
            </a:r>
            <a:endParaRPr lang="en-US" sz="1470" dirty="0"/>
          </a:p>
          <a:p>
            <a:r>
              <a:rPr lang="en-US" sz="1470" dirty="0">
                <a:solidFill>
                  <a:srgbClr val="313847"/>
                </a:solidFill>
              </a:rPr>
              <a:t>The best architecture often combines ACID and BASE in different modules.</a:t>
            </a:r>
            <a:endParaRPr lang="en-US" sz="147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11233F"/>
          </a:solidFill>
          <a:ln w="13970">
            <a:solidFill>
              <a:srgbClr val="11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81328"/>
            <a:ext cx="4169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Rule of Thumb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 w="1397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395728"/>
            <a:ext cx="1655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33F"/>
                </a:solidFill>
              </a:rPr>
              <a:t>Correct immediately?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233F"/>
                </a:solidFill>
              </a:rPr>
              <a:t>Choose ACID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3960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13970">
            <a:solidFill>
              <a:srgbClr val="00A9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7968" y="2395728"/>
            <a:ext cx="1655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33F"/>
                </a:solidFill>
              </a:rPr>
              <a:t>Available globally?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233F"/>
                </a:solidFill>
              </a:rPr>
              <a:t>Choose 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788920"/>
            <a:ext cx="594360" cy="0"/>
          </a:xfrm>
          <a:prstGeom prst="line">
            <a:avLst/>
          </a:prstGeom>
          <a:noFill/>
          <a:ln w="15240">
            <a:solidFill>
              <a:srgbClr val="5962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41148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3DB"/>
          </a:solidFill>
          <a:ln w="12700">
            <a:solidFill>
              <a:srgbClr val="FFF3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4187952"/>
            <a:ext cx="3895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233F"/>
                </a:solidFill>
              </a:rPr>
              <a:t>Always decide based on business impact of inconsistency.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66751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9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38912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1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96273"/>
                </a:solidFill>
              </a:rPr>
              <a:t>Suggested reading for students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70432"/>
            <a:ext cx="10789920" cy="5120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30" dirty="0">
                <a:solidFill>
                  <a:srgbClr val="313847"/>
                </a:solidFill>
              </a:rPr>
              <a:t>Abraham Silberschatz, Henry F. Korth, and S. Sudarshan, Database System Concepts.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Raghu Ramakrishnan and Johannes Gehrke, Database Management Systems.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Martin Kleppmann, Designing Data-Intensive Applications.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Eric Brewer, CAP Twelve Years Later: How the Rules Have Changed.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MongoDB Documentation: Transactions, Replication, and Read Concern.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Apache Cassandra Documentation: Tunable Consistency and Replication.</a:t>
            </a:r>
            <a:endParaRPr lang="en-US" sz="1430" dirty="0"/>
          </a:p>
          <a:p>
            <a:r>
              <a:rPr lang="en-US" sz="1430" dirty="0">
                <a:solidFill>
                  <a:srgbClr val="313847"/>
                </a:solidFill>
              </a:rPr>
              <a:t>Amazon DynamoDB Documentation: Consistency Models and Global Tables.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438912" y="6675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96273"/>
                </a:solidFill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 vs BASE Properties in Database Systems</dc:title>
  <dc:subject>ACID versus BASE properties</dc:subject>
  <dc:creator>OpenAI</dc:creator>
  <cp:lastModifiedBy>OpenAI</cp:lastModifiedBy>
  <cp:revision>1</cp:revision>
  <dcterms:created xsi:type="dcterms:W3CDTF">2026-08-05T04:14:24Z</dcterms:created>
  <dcterms:modified xsi:type="dcterms:W3CDTF">2026-08-05T04:14:24Z</dcterms:modified>
</cp:coreProperties>
</file>