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8"/>
  </p:notesMasterIdLst>
  <p:sldIdLst>
    <p:sldId id="300" r:id="rId2"/>
    <p:sldId id="301" r:id="rId3"/>
    <p:sldId id="302" r:id="rId4"/>
    <p:sldId id="303" r:id="rId5"/>
    <p:sldId id="315" r:id="rId6"/>
    <p:sldId id="316" r:id="rId7"/>
    <p:sldId id="317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0" r:id="rId48"/>
    <p:sldId id="304" r:id="rId49"/>
    <p:sldId id="318" r:id="rId50"/>
    <p:sldId id="319" r:id="rId51"/>
    <p:sldId id="32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81" r:id="rId73"/>
    <p:sldId id="382" r:id="rId74"/>
    <p:sldId id="383" r:id="rId75"/>
    <p:sldId id="384" r:id="rId76"/>
    <p:sldId id="385" r:id="rId77"/>
    <p:sldId id="386" r:id="rId78"/>
    <p:sldId id="387" r:id="rId79"/>
    <p:sldId id="389" r:id="rId80"/>
    <p:sldId id="390" r:id="rId81"/>
    <p:sldId id="388" r:id="rId82"/>
    <p:sldId id="391" r:id="rId83"/>
    <p:sldId id="392" r:id="rId84"/>
    <p:sldId id="393" r:id="rId85"/>
    <p:sldId id="394" r:id="rId86"/>
    <p:sldId id="395" r:id="rId87"/>
    <p:sldId id="398" r:id="rId88"/>
    <p:sldId id="399" r:id="rId89"/>
    <p:sldId id="396" r:id="rId90"/>
    <p:sldId id="397" r:id="rId91"/>
    <p:sldId id="400" r:id="rId92"/>
    <p:sldId id="402" r:id="rId93"/>
    <p:sldId id="305" r:id="rId94"/>
    <p:sldId id="306" r:id="rId95"/>
    <p:sldId id="307" r:id="rId96"/>
    <p:sldId id="308" r:id="rId97"/>
    <p:sldId id="309" r:id="rId98"/>
    <p:sldId id="310" r:id="rId99"/>
    <p:sldId id="311" r:id="rId100"/>
    <p:sldId id="312" r:id="rId101"/>
    <p:sldId id="314" r:id="rId102"/>
    <p:sldId id="403" r:id="rId103"/>
    <p:sldId id="404" r:id="rId104"/>
    <p:sldId id="405" r:id="rId105"/>
    <p:sldId id="406" r:id="rId106"/>
    <p:sldId id="407" r:id="rId107"/>
    <p:sldId id="408" r:id="rId108"/>
    <p:sldId id="409" r:id="rId109"/>
    <p:sldId id="410" r:id="rId110"/>
    <p:sldId id="411" r:id="rId111"/>
    <p:sldId id="412" r:id="rId112"/>
    <p:sldId id="413" r:id="rId113"/>
    <p:sldId id="414" r:id="rId114"/>
    <p:sldId id="415" r:id="rId115"/>
    <p:sldId id="416" r:id="rId116"/>
    <p:sldId id="417" r:id="rId117"/>
    <p:sldId id="418" r:id="rId118"/>
    <p:sldId id="419" r:id="rId119"/>
    <p:sldId id="420" r:id="rId120"/>
    <p:sldId id="421" r:id="rId121"/>
    <p:sldId id="422" r:id="rId122"/>
    <p:sldId id="423" r:id="rId123"/>
    <p:sldId id="424" r:id="rId124"/>
    <p:sldId id="425" r:id="rId125"/>
    <p:sldId id="426" r:id="rId126"/>
    <p:sldId id="427" r:id="rId127"/>
    <p:sldId id="439" r:id="rId128"/>
    <p:sldId id="440" r:id="rId129"/>
    <p:sldId id="428" r:id="rId130"/>
    <p:sldId id="429" r:id="rId131"/>
    <p:sldId id="430" r:id="rId132"/>
    <p:sldId id="431" r:id="rId133"/>
    <p:sldId id="432" r:id="rId134"/>
    <p:sldId id="433" r:id="rId135"/>
    <p:sldId id="434" r:id="rId136"/>
    <p:sldId id="435" r:id="rId137"/>
    <p:sldId id="436" r:id="rId138"/>
    <p:sldId id="437" r:id="rId139"/>
    <p:sldId id="438" r:id="rId140"/>
    <p:sldId id="441" r:id="rId141"/>
    <p:sldId id="442" r:id="rId142"/>
    <p:sldId id="443" r:id="rId143"/>
    <p:sldId id="444" r:id="rId144"/>
    <p:sldId id="445" r:id="rId145"/>
    <p:sldId id="446" r:id="rId146"/>
    <p:sldId id="266" r:id="rId1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E0670-3872-4A09-8719-47CAA932F243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2900E-F97A-4D31-BE5D-307AC3D1C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6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678-471F-B704-D701-5C4168EB2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FA90E-73B8-83C3-30D1-D3F316F66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13169-94DD-4F2A-D4A7-6C267C81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5703A-684C-1FF0-7152-9DB2F097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A25E8-DF3D-BDE0-4F5E-31477296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5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FD7E-4931-1C30-C8C8-58335017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B5B5B-E8B9-E817-AADD-13BAB2833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23D8-0ACC-A050-486E-091A88AA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02FF-DAD4-A8EB-15E5-93104D98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33165-588E-5301-5332-84FA65B2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D300-1E2E-4E16-E484-8620F6C3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0743B-3A72-576A-2A0D-77DA7ED0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6180D-9711-0DD8-8249-6FEC6669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02403-D262-EA94-7C68-C9709AF7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16897-CF18-2095-FBB9-18FA8A59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85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D2BE-0805-B76D-0C11-35C5DFE6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DAA1-21E4-E9BC-27CC-ACD8938C2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B6FB9-4B9F-71F3-AC0D-ECA4C1779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58AD0-CE85-4609-7CB6-DBAA820F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4D56C-45C6-F3EE-0469-4494E614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062CD-F122-567E-79DE-24BD028E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4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EBED-155A-EF93-9405-1449A4D6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EF7EC-6B96-D6A9-E139-4D4D4910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B57FD-3F0D-F5C6-5BAE-DCAF9ABAE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9A2ED-2CFC-8594-D640-0438DFF5E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AEE7E-8CAF-5C57-E285-82227063A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345A3-6B18-8E8B-CD74-B0317A8E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04489-DE59-F055-35E5-56C28932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63983-80EB-F197-E54B-D44862E2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70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867E-1BA2-3E93-B219-95A65585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499DA-A874-4799-639C-6F4CEEE1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4D6AC-897F-2123-8C9A-9AB480F1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E1BE0-E32B-EEC4-13BB-B4B2FACA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52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6672-74BF-1770-0F05-83AF14DD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EA6E4-DE62-C60A-41FD-C416B0156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1AAE4-AF19-2B39-317A-13218865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54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955C-980D-80EB-D3D1-B612B930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FB08-0E05-ED74-EC55-ADF17CDFB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577C6-2001-889E-6708-0DC1C0937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1BA57-1FBA-F83F-093F-10563E0B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BFCA4-9F39-5F25-559F-7A55077B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D5FB1-B8DA-29F8-874D-58AD13CD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80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E1DA-15EF-D9C8-CB97-08962A94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407A1-D18F-9C3C-3D7C-AE77E4C6D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2B907-48CE-78E3-BF70-4DA3839F1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6873E-C4A8-A455-CE46-6CEFFFB1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701E8-70CC-7A6C-F88F-B3CD6326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06CC6-A853-FB3B-EC7E-F6C35EA7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8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F26D-1495-835F-7769-421D0704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56480-2155-53E1-22B1-369FC6E20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8410C-F152-F357-906B-43F8DE7A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61DC-F3AD-1D1B-A889-0A16339F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C2670-47EB-9DF3-7D7E-8D8A74C0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CAE0A-3A15-3288-DC7A-8644BE4FC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E2E8A-1635-A1EF-E236-9DB03579C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B16CC-9C0C-F8E3-0AA5-9F1DB3B2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6ADA4-3E93-527B-36AE-38FFF3B4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932E-ACBB-9C57-69CB-689C9A2A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6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208107-84FE-AAEA-C045-BE148156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11359-5ABA-02F8-D0C7-1C8314E8E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44B49-7E65-35D0-6C39-D3241759E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FEFB1-551B-4F09-A7EB-5F7547827FB7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DAD0-9BD6-319B-6BAC-BA5BC1018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D353B-D76E-EC3C-9FE2-AAD6A7D67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72BBD-C4D7-4C66-BFC3-B3973AEEA5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9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rahul@gmail.com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AC1D-7C82-0694-A819-CFEF41F3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60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US" sz="6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NoSQL Database</a:t>
            </a:r>
            <a:endParaRPr lang="en-IN" sz="60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969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D9AA-9D7F-A514-AFF3-911B5C2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Previous Class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42FB9-966B-CA83-77CF-48082DDF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Aggregation operators: match, project, group, sort</a:t>
            </a:r>
          </a:p>
          <a:p>
            <a:r>
              <a:rPr lang="en-IN" dirty="0"/>
              <a:t>Advanced aggregation: lookup, unwind, facet </a:t>
            </a:r>
          </a:p>
          <a:p>
            <a:r>
              <a:rPr lang="en-IN" dirty="0"/>
              <a:t>Embedded versus referenced documents  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67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4C9F-C6A9-594A-486A-7C1B578D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78FC-26EC-D0A3-E3D2-CB3FE2CC5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Schema validation and data integrity </a:t>
            </a:r>
          </a:p>
          <a:p>
            <a:r>
              <a:rPr lang="en-IN" dirty="0"/>
              <a:t>Application connectivity using </a:t>
            </a:r>
            <a:r>
              <a:rPr lang="en-IN" dirty="0" err="1"/>
              <a:t>PyMongo</a:t>
            </a:r>
            <a:r>
              <a:rPr lang="en-IN" dirty="0"/>
              <a:t> </a:t>
            </a:r>
          </a:p>
          <a:p>
            <a:r>
              <a:rPr lang="en-IN" dirty="0"/>
              <a:t>Application connectivity using Node.js</a:t>
            </a:r>
          </a:p>
        </p:txBody>
      </p:sp>
    </p:spTree>
    <p:extLst>
      <p:ext uri="{BB962C8B-B14F-4D97-AF65-F5344CB8AC3E}">
        <p14:creationId xmlns:p14="http://schemas.microsoft.com/office/powerpoint/2010/main" val="371922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EB7C2-A698-C767-1F58-19BA28472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80"/>
            <a:ext cx="10515600" cy="576548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</a:t>
            </a:r>
          </a:p>
          <a:p>
            <a:pPr marL="0" indent="0">
              <a:buNone/>
            </a:pPr>
            <a:r>
              <a:rPr lang="en-IN" sz="3600" b="1" dirty="0"/>
              <a:t>             Schema validation and data integrity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93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172D-C60A-D7A6-CA0B-E61B5C5C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Schema Validation and Data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C8A8B-788E-A959-9E4D-496E98103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1. What is Schema Validation?</a:t>
            </a:r>
          </a:p>
          <a:p>
            <a:pPr marL="0" indent="0">
              <a:buNone/>
            </a:pPr>
            <a:r>
              <a:rPr lang="en-IN" b="1" dirty="0"/>
              <a:t>Schema validation</a:t>
            </a:r>
            <a:r>
              <a:rPr lang="en-IN" dirty="0"/>
              <a:t> means defining rules for the data that can be stored in a MongoDB collection.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MongoDB is </a:t>
            </a:r>
            <a:r>
              <a:rPr lang="en-IN" b="1" dirty="0"/>
              <a:t>schema-flexible</a:t>
            </a:r>
            <a:r>
              <a:rPr lang="en-IN" dirty="0"/>
              <a:t>, which means documents in the same collection can normally have different fields and data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77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0DC-C2C0-C3BD-1AF8-9CDDA454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67964-FFA5-28B2-52FE-861CA1E1D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For example, without validation, we can insert: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"Rahul",</a:t>
            </a:r>
          </a:p>
          <a:p>
            <a:pPr marL="0" indent="0">
              <a:buNone/>
            </a:pPr>
            <a:r>
              <a:rPr lang="en-IN" dirty="0"/>
              <a:t>  age: "twenty"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Here, age is a string.</a:t>
            </a:r>
          </a:p>
          <a:p>
            <a:pPr marL="0" indent="0">
              <a:buNone/>
            </a:pPr>
            <a:r>
              <a:rPr lang="en-IN" dirty="0"/>
              <a:t>We may want age to always be a number. </a:t>
            </a:r>
            <a:r>
              <a:rPr lang="en-IN" b="1" dirty="0"/>
              <a:t>Schema validation helps us enforce this rule.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54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A7E5-D3C8-F583-802F-55FE6822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408"/>
            <a:ext cx="10515600" cy="519855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 What is Data Integrity?</a:t>
            </a:r>
          </a:p>
          <a:p>
            <a:pPr marL="0" indent="0">
              <a:buNone/>
            </a:pPr>
            <a:r>
              <a:rPr lang="en-IN" b="1" dirty="0"/>
              <a:t>Data integrity</a:t>
            </a:r>
            <a:r>
              <a:rPr lang="en-IN" dirty="0"/>
              <a:t> means keeping data </a:t>
            </a:r>
            <a:r>
              <a:rPr lang="en-IN" b="1" dirty="0"/>
              <a:t>correct, consistent, and reliable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E6D5B2-9AB8-8F71-140F-57B2828B6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350024"/>
              </p:ext>
            </p:extLst>
          </p:nvPr>
        </p:nvGraphicFramePr>
        <p:xfrm>
          <a:off x="838200" y="2904014"/>
          <a:ext cx="10515600" cy="3272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367753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4859801"/>
                    </a:ext>
                  </a:extLst>
                </a:gridCol>
              </a:tblGrid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74032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 must be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"name": "Rahul"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1460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must be a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"age":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712800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 should be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788832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must be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"email": "rahul@gmail.com"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111500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should be 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"course": "CSE"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428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C75249-1F4B-082A-8AF1-049CA9375947}"/>
              </a:ext>
            </a:extLst>
          </p:cNvPr>
          <p:cNvSpPr txBox="1"/>
          <p:nvPr/>
        </p:nvSpPr>
        <p:spPr>
          <a:xfrm>
            <a:off x="1255014" y="622527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So, schema validation helps maintain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66589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574D-0CB0-C8CC-6F62-B973B559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192"/>
            <a:ext cx="10515600" cy="578377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Why Do We Need Schema Validation?</a:t>
            </a:r>
          </a:p>
          <a:p>
            <a:pPr marL="0" indent="0">
              <a:buNone/>
            </a:pPr>
            <a:r>
              <a:rPr lang="en-IN" dirty="0"/>
              <a:t>Suppose we have a students collection.</a:t>
            </a:r>
          </a:p>
          <a:p>
            <a:pPr marL="0" indent="0">
              <a:buNone/>
            </a:pPr>
            <a:r>
              <a:rPr lang="en-IN" dirty="0"/>
              <a:t>Without validation, we may have documents like: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"Rahul",</a:t>
            </a:r>
          </a:p>
          <a:p>
            <a:pPr marL="0" indent="0">
              <a:buNone/>
            </a:pPr>
            <a:r>
              <a:rPr lang="en-IN" dirty="0"/>
              <a:t>  age: 20,</a:t>
            </a:r>
          </a:p>
          <a:p>
            <a:pPr marL="0" indent="0">
              <a:buNone/>
            </a:pPr>
            <a:r>
              <a:rPr lang="en-IN" dirty="0"/>
              <a:t>  email: "rahul@gmail.com"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72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3818-F749-0D40-CEFC-5AAB94E5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3776"/>
            <a:ext cx="10515600" cy="5683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Another document: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"Amit",</a:t>
            </a:r>
          </a:p>
          <a:p>
            <a:pPr marL="0" indent="0">
              <a:buNone/>
            </a:pPr>
            <a:r>
              <a:rPr lang="en-IN" dirty="0"/>
              <a:t>  age: "twenty",</a:t>
            </a:r>
          </a:p>
          <a:p>
            <a:pPr marL="0" indent="0">
              <a:buNone/>
            </a:pPr>
            <a:r>
              <a:rPr lang="en-IN" dirty="0"/>
              <a:t>  email: 12345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Another document: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age: 25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This creates </a:t>
            </a:r>
            <a:r>
              <a:rPr lang="en-IN" b="1" dirty="0"/>
              <a:t>inconsistent data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01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95EB-F32C-0146-800B-B3DC53E6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515600" cy="574719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With schema validation, we can define rules such as:</a:t>
            </a:r>
          </a:p>
          <a:p>
            <a:r>
              <a:rPr lang="en-IN" dirty="0"/>
              <a:t>name is required. </a:t>
            </a:r>
          </a:p>
          <a:p>
            <a:r>
              <a:rPr lang="en-IN" dirty="0"/>
              <a:t>age is required. </a:t>
            </a:r>
          </a:p>
          <a:p>
            <a:r>
              <a:rPr lang="en-IN" dirty="0"/>
              <a:t>age must be an integer. </a:t>
            </a:r>
          </a:p>
          <a:p>
            <a:r>
              <a:rPr lang="en-IN" dirty="0"/>
              <a:t>email is required. </a:t>
            </a:r>
          </a:p>
          <a:p>
            <a:r>
              <a:rPr lang="en-IN" dirty="0"/>
              <a:t>email must be a string.</a:t>
            </a:r>
          </a:p>
        </p:txBody>
      </p:sp>
    </p:spTree>
    <p:extLst>
      <p:ext uri="{BB962C8B-B14F-4D97-AF65-F5344CB8AC3E}">
        <p14:creationId xmlns:p14="http://schemas.microsoft.com/office/powerpoint/2010/main" val="77065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1085-58FA-E582-034A-F3AA9F9A5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515600" cy="57471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4. MongoDB Schema Validation</a:t>
            </a:r>
          </a:p>
          <a:p>
            <a:pPr marL="0" indent="0">
              <a:buNone/>
            </a:pPr>
            <a:r>
              <a:rPr lang="en-IN" dirty="0"/>
              <a:t>MongoDB uses </a:t>
            </a:r>
            <a:r>
              <a:rPr lang="en-IN" b="1" dirty="0"/>
              <a:t>JSON Schema</a:t>
            </a:r>
            <a:r>
              <a:rPr lang="en-IN" dirty="0"/>
              <a:t> for validation.</a:t>
            </a:r>
          </a:p>
          <a:p>
            <a:pPr marL="0" indent="0">
              <a:buNone/>
            </a:pPr>
            <a:r>
              <a:rPr lang="en-IN" dirty="0"/>
              <a:t>The main keyword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$</a:t>
            </a:r>
            <a:r>
              <a:rPr lang="en-IN" dirty="0" err="1"/>
              <a:t>jsonSchema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 simple structure is: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$</a:t>
            </a:r>
            <a:r>
              <a:rPr lang="en-IN" dirty="0" err="1"/>
              <a:t>jsonSchema</a:t>
            </a:r>
            <a:r>
              <a:rPr lang="en-IN" dirty="0"/>
              <a:t>: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bsonType</a:t>
            </a:r>
            <a:r>
              <a:rPr lang="en-IN" dirty="0"/>
              <a:t>: "object",</a:t>
            </a:r>
          </a:p>
          <a:p>
            <a:pPr marL="0" indent="0">
              <a:buNone/>
            </a:pPr>
            <a:r>
              <a:rPr lang="en-IN" dirty="0"/>
              <a:t>    required: [ ... ],</a:t>
            </a:r>
          </a:p>
          <a:p>
            <a:pPr marL="0" indent="0">
              <a:buNone/>
            </a:pPr>
            <a:r>
              <a:rPr lang="en-IN" dirty="0"/>
              <a:t>    properties: {</a:t>
            </a:r>
          </a:p>
          <a:p>
            <a:pPr marL="0" indent="0">
              <a:buNone/>
            </a:pPr>
            <a:r>
              <a:rPr lang="en-IN" dirty="0"/>
              <a:t>      ...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63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9B48B-063C-0A77-803B-8A66D1AB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>
              <a:buNone/>
            </a:pPr>
            <a:r>
              <a:rPr lang="en-IN" b="1"/>
              <a:t>Important terms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5F1571-A3AC-07BE-3243-57A0AC000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476983"/>
              </p:ext>
            </p:extLst>
          </p:nvPr>
        </p:nvGraphicFramePr>
        <p:xfrm>
          <a:off x="1163716" y="1926266"/>
          <a:ext cx="9864567" cy="4357530"/>
        </p:xfrm>
        <a:graphic>
          <a:graphicData uri="http://schemas.openxmlformats.org/drawingml/2006/table">
            <a:tbl>
              <a:tblPr/>
              <a:tblGrid>
                <a:gridCol w="3537354">
                  <a:extLst>
                    <a:ext uri="{9D8B030D-6E8A-4147-A177-3AD203B41FA5}">
                      <a16:colId xmlns:a16="http://schemas.microsoft.com/office/drawing/2014/main" val="2160806605"/>
                    </a:ext>
                  </a:extLst>
                </a:gridCol>
                <a:gridCol w="6327213">
                  <a:extLst>
                    <a:ext uri="{9D8B030D-6E8A-4147-A177-3AD203B41FA5}">
                      <a16:colId xmlns:a16="http://schemas.microsoft.com/office/drawing/2014/main" val="2588032434"/>
                    </a:ext>
                  </a:extLst>
                </a:gridCol>
              </a:tblGrid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46742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$jsonSchema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Defines validation rules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037402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 err="1">
                          <a:effectLst/>
                          <a:latin typeface="Courier New" panose="02070309020205020404" pitchFamily="49" charset="0"/>
                        </a:rPr>
                        <a:t>bsonType</a:t>
                      </a:r>
                      <a:endParaRPr lang="en-I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Specifies the data type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749012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required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Specifies mandatory fields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90965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properties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Defines rules for individual fields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716496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minimum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Defines minimum numeric value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07595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maximum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Defines maximum numeric value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58172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enum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Allows only specific values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633770"/>
                  </a:ext>
                </a:extLst>
              </a:tr>
              <a:tr h="48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Courier New" panose="02070309020205020404" pitchFamily="49" charset="0"/>
                        </a:rPr>
                        <a:t>minLength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Defines minimum string length</a:t>
                      </a:r>
                    </a:p>
                  </a:txBody>
                  <a:tcPr marL="110038" marR="110038" marT="55019" marB="55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811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28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34AE7-1148-FB50-43B0-AD5E85CD7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5. Simple Example: Student Collection</a:t>
            </a:r>
          </a:p>
          <a:p>
            <a:pPr marL="0" indent="0">
              <a:buNone/>
            </a:pPr>
            <a:r>
              <a:rPr lang="en-IN" dirty="0"/>
              <a:t>Suppose we want to create a students collection.</a:t>
            </a:r>
          </a:p>
          <a:p>
            <a:pPr marL="0" indent="0">
              <a:buNone/>
            </a:pPr>
            <a:r>
              <a:rPr lang="en-IN" dirty="0"/>
              <a:t>Our rules are:</a:t>
            </a:r>
          </a:p>
          <a:p>
            <a:r>
              <a:rPr lang="en-IN" dirty="0"/>
              <a:t>name is required. </a:t>
            </a:r>
          </a:p>
          <a:p>
            <a:r>
              <a:rPr lang="en-IN" dirty="0"/>
              <a:t>name must be a string. </a:t>
            </a:r>
          </a:p>
          <a:p>
            <a:r>
              <a:rPr lang="en-IN" dirty="0"/>
              <a:t>age is required. </a:t>
            </a:r>
          </a:p>
          <a:p>
            <a:r>
              <a:rPr lang="en-IN" dirty="0"/>
              <a:t>age must be an integer. </a:t>
            </a:r>
          </a:p>
          <a:p>
            <a:r>
              <a:rPr lang="en-IN" dirty="0"/>
              <a:t>age must be at least 18. </a:t>
            </a:r>
          </a:p>
          <a:p>
            <a:r>
              <a:rPr lang="en-IN" dirty="0"/>
              <a:t>email is required. </a:t>
            </a:r>
          </a:p>
          <a:p>
            <a:r>
              <a:rPr lang="en-IN" dirty="0"/>
              <a:t>email must be a string. </a:t>
            </a:r>
          </a:p>
          <a:p>
            <a:r>
              <a:rPr lang="en-IN" dirty="0"/>
              <a:t>course must be either CSE, ECE, or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426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0104D-7C4C-55FB-008C-CB8CF2FCC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296"/>
            <a:ext cx="4373880" cy="609466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800" b="1" dirty="0"/>
              <a:t>We can create the collection like this:</a:t>
            </a:r>
          </a:p>
          <a:p>
            <a:pPr marL="0" indent="0">
              <a:buNone/>
            </a:pPr>
            <a:endParaRPr lang="en-IN" sz="3800" b="1" dirty="0"/>
          </a:p>
          <a:p>
            <a:pPr marL="0" indent="0">
              <a:buNone/>
            </a:pPr>
            <a:r>
              <a:rPr lang="en-IN" sz="3300" dirty="0" err="1"/>
              <a:t>db.createCollection</a:t>
            </a:r>
            <a:r>
              <a:rPr lang="en-IN" sz="3300" dirty="0"/>
              <a:t>("students", {</a:t>
            </a:r>
          </a:p>
          <a:p>
            <a:pPr marL="0" indent="0">
              <a:buNone/>
            </a:pPr>
            <a:r>
              <a:rPr lang="en-IN" sz="3300" dirty="0"/>
              <a:t>  validator: {</a:t>
            </a:r>
          </a:p>
          <a:p>
            <a:pPr marL="0" indent="0">
              <a:buNone/>
            </a:pPr>
            <a:r>
              <a:rPr lang="en-IN" sz="3300" dirty="0"/>
              <a:t>    $</a:t>
            </a:r>
            <a:r>
              <a:rPr lang="en-IN" sz="3300" dirty="0" err="1"/>
              <a:t>jsonSchema</a:t>
            </a:r>
            <a:r>
              <a:rPr lang="en-IN" sz="3300" dirty="0"/>
              <a:t>: {</a:t>
            </a:r>
          </a:p>
          <a:p>
            <a:pPr marL="0" indent="0">
              <a:buNone/>
            </a:pPr>
            <a:r>
              <a:rPr lang="en-IN" sz="3300" dirty="0"/>
              <a:t>      </a:t>
            </a:r>
            <a:r>
              <a:rPr lang="en-IN" sz="3300" dirty="0" err="1"/>
              <a:t>bsonType</a:t>
            </a:r>
            <a:r>
              <a:rPr lang="en-IN" sz="3300" dirty="0"/>
              <a:t>: "object",</a:t>
            </a:r>
          </a:p>
          <a:p>
            <a:pPr marL="0" indent="0">
              <a:buNone/>
            </a:pPr>
            <a:r>
              <a:rPr lang="en-IN" sz="3300" dirty="0"/>
              <a:t>      required: ["name", "age", "email", "course"],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      properties: {</a:t>
            </a:r>
          </a:p>
          <a:p>
            <a:pPr marL="0" indent="0">
              <a:buNone/>
            </a:pPr>
            <a:r>
              <a:rPr lang="en-IN" sz="3300" dirty="0"/>
              <a:t>        name: {</a:t>
            </a:r>
          </a:p>
          <a:p>
            <a:pPr marL="0" indent="0">
              <a:buNone/>
            </a:pPr>
            <a:r>
              <a:rPr lang="en-IN" sz="3300" dirty="0"/>
              <a:t>          </a:t>
            </a:r>
            <a:r>
              <a:rPr lang="en-IN" sz="3300" dirty="0" err="1"/>
              <a:t>bsonType</a:t>
            </a:r>
            <a:r>
              <a:rPr lang="en-IN" sz="3300" dirty="0"/>
              <a:t>: "string",</a:t>
            </a:r>
          </a:p>
          <a:p>
            <a:pPr marL="0" indent="0">
              <a:buNone/>
            </a:pPr>
            <a:r>
              <a:rPr lang="en-IN" sz="3300" dirty="0"/>
              <a:t>          description: "Name must be a string"</a:t>
            </a:r>
          </a:p>
          <a:p>
            <a:pPr marL="0" indent="0">
              <a:buNone/>
            </a:pPr>
            <a:r>
              <a:rPr lang="en-IN" sz="3300" dirty="0"/>
              <a:t>        },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        age: {</a:t>
            </a:r>
          </a:p>
          <a:p>
            <a:pPr marL="0" indent="0">
              <a:buNone/>
            </a:pPr>
            <a:r>
              <a:rPr lang="en-IN" sz="3300" dirty="0"/>
              <a:t>          </a:t>
            </a:r>
            <a:r>
              <a:rPr lang="en-IN" sz="3300" dirty="0" err="1"/>
              <a:t>bsonType</a:t>
            </a:r>
            <a:r>
              <a:rPr lang="en-IN" sz="3300" dirty="0"/>
              <a:t>: "int",</a:t>
            </a:r>
          </a:p>
          <a:p>
            <a:pPr marL="0" indent="0">
              <a:buNone/>
            </a:pPr>
            <a:r>
              <a:rPr lang="en-IN" sz="3300" dirty="0"/>
              <a:t>          minimum: 18,</a:t>
            </a:r>
          </a:p>
          <a:p>
            <a:pPr marL="0" indent="0">
              <a:buNone/>
            </a:pPr>
            <a:r>
              <a:rPr lang="en-IN" sz="3300" dirty="0"/>
              <a:t>          description: "Age must be an integer and at least 18"</a:t>
            </a:r>
          </a:p>
          <a:p>
            <a:pPr marL="0" indent="0">
              <a:buNone/>
            </a:pPr>
            <a:r>
              <a:rPr lang="en-IN" sz="3300" dirty="0"/>
              <a:t>        },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0E5D3-E6F6-F216-0871-FA1296A7EBBC}"/>
              </a:ext>
            </a:extLst>
          </p:cNvPr>
          <p:cNvSpPr txBox="1"/>
          <p:nvPr/>
        </p:nvSpPr>
        <p:spPr>
          <a:xfrm>
            <a:off x="5881878" y="151180"/>
            <a:ext cx="6094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/>
              <a:t> </a:t>
            </a:r>
            <a:r>
              <a:rPr lang="en-IN" sz="1600" dirty="0"/>
              <a:t>email: {</a:t>
            </a:r>
          </a:p>
          <a:p>
            <a:pPr marL="0" indent="0">
              <a:buNone/>
            </a:pPr>
            <a:r>
              <a:rPr lang="en-IN" sz="1600" dirty="0"/>
              <a:t>          </a:t>
            </a:r>
            <a:r>
              <a:rPr lang="en-IN" sz="1600" dirty="0" err="1"/>
              <a:t>bsonType</a:t>
            </a:r>
            <a:r>
              <a:rPr lang="en-IN" sz="1600" dirty="0"/>
              <a:t>: "string",</a:t>
            </a:r>
          </a:p>
          <a:p>
            <a:pPr marL="0" indent="0">
              <a:buNone/>
            </a:pPr>
            <a:r>
              <a:rPr lang="en-IN" sz="1600" dirty="0"/>
              <a:t>          description: "Email must be a string"</a:t>
            </a:r>
          </a:p>
          <a:p>
            <a:pPr marL="0" indent="0">
              <a:buNone/>
            </a:pPr>
            <a:r>
              <a:rPr lang="en-IN" sz="1600" dirty="0"/>
              <a:t>        },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course: {</a:t>
            </a:r>
          </a:p>
          <a:p>
            <a:pPr marL="0" indent="0">
              <a:buNone/>
            </a:pPr>
            <a:r>
              <a:rPr lang="en-IN" sz="1600" dirty="0"/>
              <a:t>          </a:t>
            </a:r>
            <a:r>
              <a:rPr lang="en-IN" sz="1600" dirty="0" err="1"/>
              <a:t>enum</a:t>
            </a:r>
            <a:r>
              <a:rPr lang="en-IN" sz="1600" dirty="0"/>
              <a:t>: ["CSE", "ECE", "IT"],</a:t>
            </a:r>
          </a:p>
          <a:p>
            <a:pPr marL="0" indent="0">
              <a:buNone/>
            </a:pPr>
            <a:r>
              <a:rPr lang="en-IN" sz="1600" dirty="0"/>
              <a:t>          description: "Course must be CSE, ECE, or IT"</a:t>
            </a:r>
          </a:p>
          <a:p>
            <a:pPr marL="0" indent="0">
              <a:buNone/>
            </a:pPr>
            <a:r>
              <a:rPr lang="en-IN" sz="1600" dirty="0"/>
              <a:t>        }</a:t>
            </a:r>
          </a:p>
          <a:p>
            <a:pPr marL="0" indent="0">
              <a:buNone/>
            </a:pPr>
            <a:r>
              <a:rPr lang="en-IN" sz="1600" dirty="0"/>
              <a:t>      }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  }</a:t>
            </a:r>
          </a:p>
          <a:p>
            <a:pPr marL="0" indent="0">
              <a:buNone/>
            </a:pPr>
            <a:r>
              <a:rPr lang="en-IN" sz="1600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750913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8B7DF-ACF7-D533-5E5C-5C0F912B0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80"/>
            <a:ext cx="10515600" cy="576548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6. Inserting Correct Data</a:t>
            </a:r>
          </a:p>
          <a:p>
            <a:pPr marL="0" indent="0">
              <a:buNone/>
            </a:pPr>
            <a:r>
              <a:rPr lang="en-IN" dirty="0"/>
              <a:t>Now we insert a valid document:</a:t>
            </a:r>
          </a:p>
          <a:p>
            <a:pPr marL="0" indent="0">
              <a:buNone/>
            </a:pPr>
            <a:r>
              <a:rPr lang="en-IN" dirty="0" err="1"/>
              <a:t>db.students.insertOne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name: "Rahul",</a:t>
            </a:r>
          </a:p>
          <a:p>
            <a:pPr marL="0" indent="0">
              <a:buNone/>
            </a:pPr>
            <a:r>
              <a:rPr lang="en-IN" dirty="0"/>
              <a:t>  age: 21,</a:t>
            </a:r>
          </a:p>
          <a:p>
            <a:pPr marL="0" indent="0">
              <a:buNone/>
            </a:pPr>
            <a:r>
              <a:rPr lang="en-IN" dirty="0"/>
              <a:t>  email: "rahul@gmail.com",</a:t>
            </a:r>
          </a:p>
          <a:p>
            <a:pPr marL="0" indent="0">
              <a:buNone/>
            </a:pPr>
            <a:r>
              <a:rPr lang="en-IN" dirty="0"/>
              <a:t>  course: "CSE"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8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F4F85-A68C-9D68-FE2D-B36096665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9224"/>
            <a:ext cx="10515600" cy="5527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Result</a:t>
            </a:r>
          </a:p>
          <a:p>
            <a:pPr marL="0" indent="0">
              <a:buNone/>
            </a:pPr>
            <a:r>
              <a:rPr lang="en-IN" dirty="0"/>
              <a:t>The document is accepted.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"Rahul",</a:t>
            </a:r>
          </a:p>
          <a:p>
            <a:pPr marL="0" indent="0">
              <a:buNone/>
            </a:pPr>
            <a:r>
              <a:rPr lang="en-IN" dirty="0"/>
              <a:t>  age: 21,</a:t>
            </a:r>
          </a:p>
          <a:p>
            <a:pPr marL="0" indent="0">
              <a:buNone/>
            </a:pPr>
            <a:r>
              <a:rPr lang="en-IN" dirty="0"/>
              <a:t>  email: "rahul@gmail.com",</a:t>
            </a:r>
          </a:p>
          <a:p>
            <a:pPr marL="0" indent="0">
              <a:buNone/>
            </a:pPr>
            <a:r>
              <a:rPr lang="en-IN" dirty="0"/>
              <a:t>  course: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Why?</a:t>
            </a:r>
          </a:p>
          <a:p>
            <a:pPr marL="0" indent="0">
              <a:buNone/>
            </a:pPr>
            <a:r>
              <a:rPr lang="en-IN" dirty="0"/>
              <a:t>Because all validation rules are satisfied.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10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C0150-5EF4-EAE6-E386-3DF6BDDE1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616"/>
            <a:ext cx="10515600" cy="582034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7. Example of Invalid Data</a:t>
            </a:r>
          </a:p>
          <a:p>
            <a:pPr marL="0" indent="0">
              <a:buNone/>
            </a:pPr>
            <a:r>
              <a:rPr lang="en-IN" dirty="0"/>
              <a:t>Suppose we insert:</a:t>
            </a:r>
          </a:p>
          <a:p>
            <a:pPr marL="0" indent="0">
              <a:buNone/>
            </a:pPr>
            <a:r>
              <a:rPr lang="en-IN" dirty="0" err="1"/>
              <a:t>db.students.insertOne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name: "Amit",</a:t>
            </a:r>
          </a:p>
          <a:p>
            <a:pPr marL="0" indent="0">
              <a:buNone/>
            </a:pPr>
            <a:r>
              <a:rPr lang="en-IN" dirty="0"/>
              <a:t>  age: "twenty",</a:t>
            </a:r>
          </a:p>
          <a:p>
            <a:pPr marL="0" indent="0">
              <a:buNone/>
            </a:pPr>
            <a:r>
              <a:rPr lang="en-IN" dirty="0"/>
              <a:t>  email: "amit@gmail.com",</a:t>
            </a:r>
          </a:p>
          <a:p>
            <a:pPr marL="0" indent="0">
              <a:buNone/>
            </a:pPr>
            <a:r>
              <a:rPr lang="en-IN" dirty="0"/>
              <a:t>  course: "CSE"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34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A8F1-CE3E-4CAC-D641-B4FCEB40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7784"/>
            <a:ext cx="10515600" cy="5619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age: "twenty"</a:t>
            </a:r>
          </a:p>
          <a:p>
            <a:pPr marL="0" indent="0">
              <a:buNone/>
            </a:pPr>
            <a:r>
              <a:rPr lang="en-IN" dirty="0"/>
              <a:t>is a </a:t>
            </a:r>
            <a:r>
              <a:rPr lang="en-IN" b="1" dirty="0"/>
              <a:t>string</a:t>
            </a:r>
            <a:r>
              <a:rPr lang="en-IN" dirty="0"/>
              <a:t>, but our rule says:</a:t>
            </a:r>
          </a:p>
          <a:p>
            <a:pPr marL="0" indent="0">
              <a:buNone/>
            </a:pPr>
            <a:r>
              <a:rPr lang="en-IN" dirty="0" err="1"/>
              <a:t>bsonType</a:t>
            </a:r>
            <a:r>
              <a:rPr lang="en-IN" dirty="0"/>
              <a:t>: "int"</a:t>
            </a:r>
          </a:p>
          <a:p>
            <a:pPr marL="0" indent="0">
              <a:buNone/>
            </a:pPr>
            <a:r>
              <a:rPr lang="en-IN" dirty="0"/>
              <a:t>Therefore, MongoDB rejects the document.</a:t>
            </a:r>
          </a:p>
          <a:p>
            <a:pPr marL="0" indent="0">
              <a:buNone/>
            </a:pPr>
            <a:r>
              <a:rPr lang="en-IN" b="1" dirty="0"/>
              <a:t>Simple explanation</a:t>
            </a:r>
          </a:p>
          <a:p>
            <a:pPr marL="0" indent="0">
              <a:buNone/>
            </a:pPr>
            <a:r>
              <a:rPr lang="en-IN" dirty="0"/>
              <a:t>The database says: "Age must be an integer."</a:t>
            </a:r>
          </a:p>
          <a:p>
            <a:pPr marL="0" indent="0">
              <a:buNone/>
            </a:pPr>
            <a:r>
              <a:rPr lang="en-IN" dirty="0"/>
              <a:t>But we provided:</a:t>
            </a:r>
          </a:p>
          <a:p>
            <a:pPr marL="0" indent="0">
              <a:buNone/>
            </a:pPr>
            <a:r>
              <a:rPr lang="en-IN" dirty="0"/>
              <a:t>"twenty" → string.</a:t>
            </a:r>
          </a:p>
          <a:p>
            <a:pPr marL="0" indent="0">
              <a:buNone/>
            </a:pPr>
            <a:r>
              <a:rPr lang="en-IN" dirty="0"/>
              <a:t>So the insertion fails.</a:t>
            </a:r>
          </a:p>
        </p:txBody>
      </p:sp>
    </p:spTree>
    <p:extLst>
      <p:ext uri="{BB962C8B-B14F-4D97-AF65-F5344CB8AC3E}">
        <p14:creationId xmlns:p14="http://schemas.microsoft.com/office/powerpoint/2010/main" val="1611800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65A0A-029C-9162-D32E-5629FE58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8. Required Fields</a:t>
            </a:r>
          </a:p>
          <a:p>
            <a:pPr marL="0" indent="0">
              <a:buNone/>
            </a:pPr>
            <a:r>
              <a:rPr lang="en-IN" dirty="0"/>
              <a:t>The required option specifies fields that </a:t>
            </a:r>
            <a:r>
              <a:rPr lang="en-IN" b="1" dirty="0"/>
              <a:t>must be present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required: ["name", "age", "email", "course"]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"Ravi",</a:t>
            </a:r>
          </a:p>
          <a:p>
            <a:pPr marL="0" indent="0">
              <a:buNone/>
            </a:pPr>
            <a:r>
              <a:rPr lang="en-IN" dirty="0"/>
              <a:t>  age: 20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89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5F99-9F0D-3685-B60B-951C839F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document does not contain:</a:t>
            </a:r>
          </a:p>
          <a:p>
            <a:pPr marL="0" indent="0">
              <a:buNone/>
            </a:pPr>
            <a:r>
              <a:rPr lang="en-IN" dirty="0"/>
              <a:t>email</a:t>
            </a:r>
          </a:p>
          <a:p>
            <a:pPr marL="0" indent="0">
              <a:buNone/>
            </a:pPr>
            <a:r>
              <a:rPr lang="en-IN" dirty="0"/>
              <a:t>course</a:t>
            </a:r>
          </a:p>
          <a:p>
            <a:pPr marL="0" indent="0">
              <a:buNone/>
            </a:pPr>
            <a:r>
              <a:rPr lang="en-IN" dirty="0"/>
              <a:t>Therefore, it fails validation.</a:t>
            </a:r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b="1" dirty="0"/>
              <a:t>Required means the field cannot be missing.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847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BEFB-F172-270F-22B5-133F55DF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A0D1-9C47-7AAC-A95C-F81284B4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9. Data Type Validation</a:t>
            </a:r>
          </a:p>
          <a:p>
            <a:pPr marL="0" indent="0">
              <a:buNone/>
            </a:pPr>
            <a:r>
              <a:rPr lang="en-IN" dirty="0"/>
              <a:t>We can specify the type of a field using </a:t>
            </a:r>
            <a:r>
              <a:rPr lang="en-IN" dirty="0" err="1"/>
              <a:t>bsonType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age: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bsonType</a:t>
            </a:r>
            <a:r>
              <a:rPr lang="en-IN" dirty="0"/>
              <a:t>: "int"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This means:</a:t>
            </a:r>
          </a:p>
          <a:p>
            <a:pPr marL="0" indent="0">
              <a:buNone/>
            </a:pPr>
            <a:r>
              <a:rPr lang="en-IN" dirty="0"/>
              <a:t>Age must be an integer.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age: 20</a:t>
            </a:r>
          </a:p>
          <a:p>
            <a:pPr marL="0" indent="0">
              <a:buNone/>
            </a:pPr>
            <a:r>
              <a:rPr lang="en-IN" dirty="0"/>
              <a:t>is valid.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239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459F-2627-9CE8-EFB2-5F7BD35A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846E8-7847-6F9A-933A-52E5B592D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But:</a:t>
            </a:r>
          </a:p>
          <a:p>
            <a:pPr marL="0" indent="0">
              <a:buNone/>
            </a:pPr>
            <a:r>
              <a:rPr lang="en-IN" dirty="0"/>
              <a:t>age: "20"</a:t>
            </a:r>
          </a:p>
          <a:p>
            <a:pPr marL="0" indent="0">
              <a:buNone/>
            </a:pPr>
            <a:r>
              <a:rPr lang="en-IN" dirty="0"/>
              <a:t>is a string and may fail the rule.</a:t>
            </a:r>
          </a:p>
          <a:p>
            <a:pPr marL="0" indent="0">
              <a:buNone/>
            </a:pPr>
            <a:r>
              <a:rPr lang="en-IN" dirty="0"/>
              <a:t>Similarly:</a:t>
            </a:r>
          </a:p>
          <a:p>
            <a:pPr marL="0" indent="0">
              <a:buNone/>
            </a:pPr>
            <a:r>
              <a:rPr lang="en-IN" dirty="0"/>
              <a:t>email: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bsonType</a:t>
            </a:r>
            <a:r>
              <a:rPr lang="en-IN" dirty="0"/>
              <a:t>: "string"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means:</a:t>
            </a:r>
          </a:p>
          <a:p>
            <a:pPr marL="0" indent="0">
              <a:buNone/>
            </a:pPr>
            <a:r>
              <a:rPr lang="en-IN" dirty="0"/>
              <a:t>Email must be a string.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2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5784-9F49-9799-4404-4EA5E198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515600" cy="5747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10. Minimum and Maximum Values</a:t>
            </a:r>
          </a:p>
          <a:p>
            <a:pPr marL="0" indent="0">
              <a:buNone/>
            </a:pPr>
            <a:r>
              <a:rPr lang="en-IN" dirty="0"/>
              <a:t>We can also restrict numeric values.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age: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bsonType</a:t>
            </a:r>
            <a:r>
              <a:rPr lang="en-IN" dirty="0"/>
              <a:t>: "int",</a:t>
            </a:r>
          </a:p>
          <a:p>
            <a:pPr marL="0" indent="0">
              <a:buNone/>
            </a:pPr>
            <a:r>
              <a:rPr lang="en-IN" dirty="0"/>
              <a:t>  minimum: 18,</a:t>
            </a:r>
          </a:p>
          <a:p>
            <a:pPr marL="0" indent="0">
              <a:buNone/>
            </a:pPr>
            <a:r>
              <a:rPr lang="en-IN" dirty="0"/>
              <a:t>  maximum: 60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This means:</a:t>
            </a:r>
          </a:p>
          <a:p>
            <a:pPr marL="0" indent="0">
              <a:buNone/>
            </a:pPr>
            <a:r>
              <a:rPr lang="en-IN" dirty="0"/>
              <a:t>18 ≤ age ≤ 60</a:t>
            </a:r>
          </a:p>
          <a:p>
            <a:pPr marL="0" indent="0">
              <a:buNone/>
            </a:pPr>
            <a:r>
              <a:rPr lang="en-IN" b="1" dirty="0"/>
              <a:t>Valid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656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4B72-8BEE-666F-40FB-09FDD7272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632"/>
            <a:ext cx="10515600" cy="569233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age: 25</a:t>
            </a:r>
          </a:p>
          <a:p>
            <a:pPr marL="0" indent="0">
              <a:buNone/>
            </a:pPr>
            <a:r>
              <a:rPr lang="en-IN" b="1" dirty="0"/>
              <a:t>Invalid</a:t>
            </a:r>
          </a:p>
          <a:p>
            <a:pPr marL="0" indent="0">
              <a:buNone/>
            </a:pPr>
            <a:r>
              <a:rPr lang="en-IN" dirty="0"/>
              <a:t>age: 15</a:t>
            </a:r>
          </a:p>
          <a:p>
            <a:pPr marL="0" indent="0">
              <a:buNone/>
            </a:pPr>
            <a:r>
              <a:rPr lang="en-IN" dirty="0"/>
              <a:t>because 15 is less than 18.</a:t>
            </a:r>
          </a:p>
          <a:p>
            <a:pPr marL="0" indent="0">
              <a:buNone/>
            </a:pPr>
            <a:r>
              <a:rPr lang="en-IN" dirty="0"/>
              <a:t>Another invalid example:</a:t>
            </a:r>
          </a:p>
          <a:p>
            <a:pPr marL="0" indent="0">
              <a:buNone/>
            </a:pPr>
            <a:r>
              <a:rPr lang="en-IN" dirty="0"/>
              <a:t>age: 70</a:t>
            </a:r>
          </a:p>
          <a:p>
            <a:pPr marL="0" indent="0">
              <a:buNone/>
            </a:pPr>
            <a:r>
              <a:rPr lang="en-IN" dirty="0"/>
              <a:t>because 70 is greater than 60.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099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D8FF-C2AD-050D-E32F-AAAE76F5F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624"/>
            <a:ext cx="10515600" cy="5756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11. Using </a:t>
            </a:r>
            <a:r>
              <a:rPr lang="en-IN" b="1" dirty="0" err="1"/>
              <a:t>enum</a:t>
            </a:r>
            <a:endParaRPr lang="en-IN" b="1" dirty="0"/>
          </a:p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 means that only specific values are allowed.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course: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enum</a:t>
            </a:r>
            <a:r>
              <a:rPr lang="en-IN" dirty="0"/>
              <a:t>: ["CSE", "ECE", "IT"]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Allowed:</a:t>
            </a:r>
          </a:p>
          <a:p>
            <a:pPr marL="0" indent="0">
              <a:buNone/>
            </a:pPr>
            <a:r>
              <a:rPr lang="en-IN" dirty="0"/>
              <a:t>CSE</a:t>
            </a:r>
          </a:p>
          <a:p>
            <a:pPr marL="0" indent="0">
              <a:buNone/>
            </a:pPr>
            <a:r>
              <a:rPr lang="en-IN" dirty="0"/>
              <a:t>ECE</a:t>
            </a:r>
          </a:p>
          <a:p>
            <a:pPr marL="0" indent="0">
              <a:buNone/>
            </a:pPr>
            <a:r>
              <a:rPr lang="en-IN" dirty="0"/>
              <a:t>IT</a:t>
            </a:r>
          </a:p>
          <a:p>
            <a:pPr marL="0" indent="0">
              <a:buNone/>
            </a:pPr>
            <a:r>
              <a:rPr lang="en-IN" dirty="0"/>
              <a:t>Not allowed: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94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EC4B-AF39-06C5-049A-21214444C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ME</a:t>
            </a:r>
          </a:p>
          <a:p>
            <a:pPr marL="0" indent="0">
              <a:buNone/>
            </a:pPr>
            <a:r>
              <a:rPr lang="en-IN" dirty="0"/>
              <a:t>Civil</a:t>
            </a:r>
          </a:p>
          <a:p>
            <a:pPr marL="0" indent="0">
              <a:buNone/>
            </a:pPr>
            <a:r>
              <a:rPr lang="en-IN" dirty="0"/>
              <a:t>MBA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name: "Ravi",</a:t>
            </a:r>
          </a:p>
          <a:p>
            <a:pPr marL="0" indent="0">
              <a:buNone/>
            </a:pPr>
            <a:r>
              <a:rPr lang="en-IN" dirty="0"/>
              <a:t>  age: 22,</a:t>
            </a:r>
          </a:p>
          <a:p>
            <a:pPr marL="0" indent="0">
              <a:buNone/>
            </a:pPr>
            <a:r>
              <a:rPr lang="en-IN" dirty="0"/>
              <a:t>  email: "ravi@gmail.com",</a:t>
            </a:r>
          </a:p>
          <a:p>
            <a:pPr marL="0" indent="0">
              <a:buNone/>
            </a:pPr>
            <a:r>
              <a:rPr lang="en-IN" dirty="0"/>
              <a:t>  course: "MBA"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MongoDB rejects this document because MBA is not in the allowed list.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582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D05F2-C341-730F-5D71-70592C480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176"/>
            <a:ext cx="10515600" cy="5911787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12. Validation During Updates</a:t>
            </a:r>
          </a:p>
          <a:p>
            <a:r>
              <a:rPr lang="en-IN" dirty="0"/>
              <a:t>Validation is also important when we </a:t>
            </a:r>
            <a:r>
              <a:rPr lang="en-IN" b="1" dirty="0"/>
              <a:t>update</a:t>
            </a:r>
            <a:r>
              <a:rPr lang="en-IN" dirty="0"/>
              <a:t> documents.</a:t>
            </a:r>
          </a:p>
          <a:p>
            <a:r>
              <a:rPr lang="en-IN" dirty="0"/>
              <a:t>For example:</a:t>
            </a:r>
          </a:p>
          <a:p>
            <a:r>
              <a:rPr lang="en-IN" dirty="0" err="1"/>
              <a:t>db.students.updateOne</a:t>
            </a:r>
            <a:r>
              <a:rPr lang="en-IN" dirty="0"/>
              <a:t>(</a:t>
            </a:r>
          </a:p>
          <a:p>
            <a:r>
              <a:rPr lang="en-IN" dirty="0"/>
              <a:t>  { name: "Rahul" },</a:t>
            </a:r>
          </a:p>
          <a:p>
            <a:r>
              <a:rPr lang="en-IN" dirty="0"/>
              <a:t>  { $set: { age: "twenty" } }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If validation is enabled, MongoDB rejects the update because:</a:t>
            </a:r>
          </a:p>
          <a:p>
            <a:r>
              <a:rPr lang="en-IN" dirty="0"/>
              <a:t>"twenty"</a:t>
            </a:r>
          </a:p>
          <a:p>
            <a:r>
              <a:rPr lang="en-IN" dirty="0"/>
              <a:t>is not an integer.</a:t>
            </a:r>
          </a:p>
          <a:p>
            <a:r>
              <a:rPr lang="en-IN" dirty="0"/>
              <a:t>So validation protects the collection from incorrect updates as well.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13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B514-1208-2337-63BF-C97D073F8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192"/>
            <a:ext cx="10515600" cy="5783771"/>
          </a:xfrm>
        </p:spPr>
        <p:txBody>
          <a:bodyPr>
            <a:normAutofit/>
          </a:bodyPr>
          <a:lstStyle/>
          <a:p>
            <a:r>
              <a:rPr lang="en-IN" b="1" dirty="0"/>
              <a:t>13. Validation Level</a:t>
            </a:r>
          </a:p>
          <a:p>
            <a:r>
              <a:rPr lang="en-IN" dirty="0"/>
              <a:t>MongoDB provides a </a:t>
            </a:r>
            <a:r>
              <a:rPr lang="en-IN" dirty="0" err="1"/>
              <a:t>validationLevel</a:t>
            </a:r>
            <a:r>
              <a:rPr lang="en-IN" dirty="0"/>
              <a:t> option.</a:t>
            </a:r>
          </a:p>
          <a:p>
            <a:r>
              <a:rPr lang="en-IN" dirty="0"/>
              <a:t>Common values are:</a:t>
            </a:r>
          </a:p>
          <a:p>
            <a:r>
              <a:rPr lang="en-IN" dirty="0" err="1"/>
              <a:t>validationLevel</a:t>
            </a:r>
            <a:r>
              <a:rPr lang="en-IN" dirty="0"/>
              <a:t>: "strict"</a:t>
            </a:r>
          </a:p>
          <a:p>
            <a:r>
              <a:rPr lang="en-IN" dirty="0"/>
              <a:t>and</a:t>
            </a:r>
          </a:p>
          <a:p>
            <a:r>
              <a:rPr lang="en-IN" dirty="0" err="1"/>
              <a:t>validationLevel</a:t>
            </a:r>
            <a:r>
              <a:rPr lang="en-IN" dirty="0"/>
              <a:t>: "moderate"</a:t>
            </a:r>
          </a:p>
          <a:p>
            <a:r>
              <a:rPr lang="en-IN" b="1" dirty="0"/>
              <a:t>Strict</a:t>
            </a:r>
          </a:p>
          <a:p>
            <a:r>
              <a:rPr lang="en-IN" dirty="0"/>
              <a:t>Validation is applied to all inserts and updates.</a:t>
            </a:r>
          </a:p>
          <a:p>
            <a:r>
              <a:rPr lang="en-IN" dirty="0" err="1"/>
              <a:t>validationLevel</a:t>
            </a:r>
            <a:r>
              <a:rPr lang="en-IN" dirty="0"/>
              <a:t>: "strict"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657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F750-DC6A-BA93-7DDE-9554D5CC4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336"/>
            <a:ext cx="10515600" cy="5774627"/>
          </a:xfrm>
        </p:spPr>
        <p:txBody>
          <a:bodyPr/>
          <a:lstStyle/>
          <a:p>
            <a:r>
              <a:rPr lang="en-IN" b="1" dirty="0"/>
              <a:t>Simple meaning:</a:t>
            </a:r>
            <a:endParaRPr lang="en-IN" dirty="0"/>
          </a:p>
          <a:p>
            <a:r>
              <a:rPr lang="en-IN" dirty="0"/>
              <a:t>Follow the validation rules strictly.</a:t>
            </a:r>
          </a:p>
          <a:p>
            <a:r>
              <a:rPr lang="en-IN" b="1" dirty="0"/>
              <a:t>Moderate</a:t>
            </a:r>
          </a:p>
          <a:p>
            <a:r>
              <a:rPr lang="en-IN" dirty="0"/>
              <a:t>Validation is applied more selectively, especially to documents that already satisfy the validation rules.</a:t>
            </a:r>
          </a:p>
          <a:p>
            <a:r>
              <a:rPr lang="en-IN" b="1" dirty="0"/>
              <a:t>Simple meaning:</a:t>
            </a:r>
            <a:endParaRPr lang="en-IN" dirty="0"/>
          </a:p>
          <a:p>
            <a:r>
              <a:rPr lang="en-IN" dirty="0"/>
              <a:t>Apply validation, but allow some existing documents that do not meet the new rules to remain.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14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5B119-B311-807A-89C8-37FC1D28A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14. Validation Action</a:t>
            </a:r>
          </a:p>
          <a:p>
            <a:pPr marL="0" indent="0">
              <a:buNone/>
            </a:pPr>
            <a:r>
              <a:rPr lang="en-IN" dirty="0"/>
              <a:t>MongoDB also provides </a:t>
            </a:r>
            <a:r>
              <a:rPr lang="en-IN" dirty="0" err="1"/>
              <a:t>validationAction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Two important options are:</a:t>
            </a:r>
          </a:p>
          <a:p>
            <a:pPr marL="0" indent="0">
              <a:buNone/>
            </a:pPr>
            <a:r>
              <a:rPr lang="en-IN" b="1" dirty="0"/>
              <a:t>error</a:t>
            </a:r>
          </a:p>
          <a:p>
            <a:pPr marL="0" indent="0">
              <a:buNone/>
            </a:pPr>
            <a:r>
              <a:rPr lang="en-IN" dirty="0" err="1"/>
              <a:t>validationAction</a:t>
            </a:r>
            <a:r>
              <a:rPr lang="en-IN" dirty="0"/>
              <a:t>: "error"</a:t>
            </a:r>
          </a:p>
          <a:p>
            <a:pPr marL="0" indent="0">
              <a:buNone/>
            </a:pPr>
            <a:r>
              <a:rPr lang="en-IN" dirty="0"/>
              <a:t>MongoDB rejects invalid documents.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011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F6FC-6832-6053-C84E-E3A6B0B2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064"/>
            <a:ext cx="10515600" cy="56648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warn</a:t>
            </a:r>
          </a:p>
          <a:p>
            <a:pPr marL="0" indent="0">
              <a:buNone/>
            </a:pPr>
            <a:r>
              <a:rPr lang="en-IN" dirty="0" err="1"/>
              <a:t>validationAction</a:t>
            </a:r>
            <a:r>
              <a:rPr lang="en-IN" dirty="0"/>
              <a:t>: "warn"</a:t>
            </a:r>
          </a:p>
          <a:p>
            <a:pPr marL="0" indent="0">
              <a:buNone/>
            </a:pPr>
            <a:r>
              <a:rPr lang="en-IN" dirty="0"/>
              <a:t>MongoDB allows the operation but records a warning.</a:t>
            </a:r>
          </a:p>
          <a:p>
            <a:pPr marL="0" indent="0">
              <a:buNone/>
            </a:pPr>
            <a:r>
              <a:rPr lang="en-IN" dirty="0"/>
              <a:t>For most applications where data correctness is important, we normally use:</a:t>
            </a:r>
          </a:p>
          <a:p>
            <a:pPr marL="0" indent="0">
              <a:buNone/>
            </a:pPr>
            <a:r>
              <a:rPr lang="en-IN" dirty="0" err="1"/>
              <a:t>validationAction</a:t>
            </a:r>
            <a:r>
              <a:rPr lang="en-IN" dirty="0"/>
              <a:t>: "error"</a:t>
            </a:r>
          </a:p>
        </p:txBody>
      </p:sp>
    </p:spTree>
    <p:extLst>
      <p:ext uri="{BB962C8B-B14F-4D97-AF65-F5344CB8AC3E}">
        <p14:creationId xmlns:p14="http://schemas.microsoft.com/office/powerpoint/2010/main" val="670221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8DE66-FF02-7035-2ECD-E0945F88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15. Complete Example</a:t>
            </a:r>
          </a:p>
          <a:p>
            <a:pPr marL="0" indent="0">
              <a:buNone/>
            </a:pPr>
            <a:r>
              <a:rPr lang="en-IN" dirty="0"/>
              <a:t>Let's create an employees collection.</a:t>
            </a:r>
          </a:p>
          <a:p>
            <a:pPr marL="0" indent="0">
              <a:buNone/>
            </a:pPr>
            <a:r>
              <a:rPr lang="en-IN" dirty="0"/>
              <a:t>Our rules:</a:t>
            </a:r>
          </a:p>
          <a:p>
            <a:pPr marL="0" lvl="0" indent="0">
              <a:buNone/>
            </a:pPr>
            <a:r>
              <a:rPr lang="en-IN" dirty="0"/>
              <a:t>name is required. </a:t>
            </a:r>
          </a:p>
          <a:p>
            <a:pPr marL="0" lvl="0" indent="0">
              <a:buNone/>
            </a:pPr>
            <a:r>
              <a:rPr lang="en-IN" dirty="0"/>
              <a:t>name must be a string. </a:t>
            </a:r>
          </a:p>
          <a:p>
            <a:pPr marL="0" lvl="0" indent="0">
              <a:buNone/>
            </a:pPr>
            <a:r>
              <a:rPr lang="en-IN" dirty="0"/>
              <a:t>age must be an integer. </a:t>
            </a:r>
          </a:p>
          <a:p>
            <a:pPr marL="0" lvl="0" indent="0">
              <a:buNone/>
            </a:pPr>
            <a:r>
              <a:rPr lang="en-IN" dirty="0"/>
              <a:t>age must be between 18 and 60. </a:t>
            </a:r>
          </a:p>
          <a:p>
            <a:pPr marL="0" lvl="0" indent="0">
              <a:buNone/>
            </a:pPr>
            <a:r>
              <a:rPr lang="en-IN" dirty="0"/>
              <a:t>department must be CSE, ECE, or IT. </a:t>
            </a:r>
          </a:p>
          <a:p>
            <a:pPr marL="0" lvl="0" indent="0">
              <a:buNone/>
            </a:pPr>
            <a:r>
              <a:rPr lang="en-IN" dirty="0"/>
              <a:t>salary must be a number.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70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BD73-1821-6CE8-699A-F7CB0025E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6"/>
            <a:ext cx="4565904" cy="60032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/>
              <a:t>db.createCollection</a:t>
            </a:r>
            <a:r>
              <a:rPr lang="en-IN" dirty="0"/>
              <a:t>("employees", {</a:t>
            </a:r>
          </a:p>
          <a:p>
            <a:pPr marL="0" indent="0">
              <a:buNone/>
            </a:pPr>
            <a:r>
              <a:rPr lang="en-IN" dirty="0"/>
              <a:t>  validator: {</a:t>
            </a:r>
          </a:p>
          <a:p>
            <a:pPr marL="0" indent="0">
              <a:buNone/>
            </a:pPr>
            <a:r>
              <a:rPr lang="en-IN" dirty="0"/>
              <a:t>    $</a:t>
            </a:r>
            <a:r>
              <a:rPr lang="en-IN" dirty="0" err="1"/>
              <a:t>jsonSchema</a:t>
            </a:r>
            <a:r>
              <a:rPr lang="en-IN" dirty="0"/>
              <a:t>: 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bsonType</a:t>
            </a:r>
            <a:r>
              <a:rPr lang="en-IN" dirty="0"/>
              <a:t>: "object",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required: [</a:t>
            </a:r>
          </a:p>
          <a:p>
            <a:pPr marL="0" indent="0">
              <a:buNone/>
            </a:pPr>
            <a:r>
              <a:rPr lang="en-IN" dirty="0"/>
              <a:t>        "name",</a:t>
            </a:r>
          </a:p>
          <a:p>
            <a:pPr marL="0" indent="0">
              <a:buNone/>
            </a:pPr>
            <a:r>
              <a:rPr lang="en-IN" dirty="0"/>
              <a:t>        "age",</a:t>
            </a:r>
          </a:p>
          <a:p>
            <a:pPr marL="0" indent="0">
              <a:buNone/>
            </a:pPr>
            <a:r>
              <a:rPr lang="en-IN" dirty="0"/>
              <a:t>        "department",</a:t>
            </a:r>
          </a:p>
          <a:p>
            <a:pPr marL="0" indent="0">
              <a:buNone/>
            </a:pPr>
            <a:r>
              <a:rPr lang="en-IN" dirty="0"/>
              <a:t>        "salary"</a:t>
            </a:r>
          </a:p>
          <a:p>
            <a:pPr marL="0" indent="0">
              <a:buNone/>
            </a:pPr>
            <a:r>
              <a:rPr lang="en-IN" dirty="0"/>
              <a:t>      ],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properties: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name: {</a:t>
            </a:r>
          </a:p>
          <a:p>
            <a:pPr marL="0" indent="0">
              <a:buNone/>
            </a:pPr>
            <a:r>
              <a:rPr lang="en-IN" dirty="0"/>
              <a:t>          </a:t>
            </a:r>
            <a:r>
              <a:rPr lang="en-IN" dirty="0" err="1"/>
              <a:t>bsonType</a:t>
            </a:r>
            <a:r>
              <a:rPr lang="en-IN" dirty="0"/>
              <a:t>: "string"</a:t>
            </a:r>
          </a:p>
          <a:p>
            <a:pPr marL="0" indent="0">
              <a:buNone/>
            </a:pPr>
            <a:r>
              <a:rPr lang="en-IN" dirty="0"/>
              <a:t>        },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AC5B2-7281-EB90-D2BC-631E19D3949E}"/>
              </a:ext>
            </a:extLst>
          </p:cNvPr>
          <p:cNvSpPr txBox="1"/>
          <p:nvPr/>
        </p:nvSpPr>
        <p:spPr>
          <a:xfrm>
            <a:off x="5735574" y="111246"/>
            <a:ext cx="6094476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/>
              <a:t> </a:t>
            </a:r>
            <a:r>
              <a:rPr lang="en-IN" sz="2000" dirty="0"/>
              <a:t>age: {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bsonType</a:t>
            </a:r>
            <a:r>
              <a:rPr lang="en-IN" sz="2000" dirty="0"/>
              <a:t>: "int",</a:t>
            </a:r>
          </a:p>
          <a:p>
            <a:pPr marL="0" indent="0">
              <a:buNone/>
            </a:pPr>
            <a:r>
              <a:rPr lang="en-IN" sz="2000" dirty="0"/>
              <a:t>          minimum: 18,</a:t>
            </a:r>
          </a:p>
          <a:p>
            <a:pPr marL="0" indent="0">
              <a:buNone/>
            </a:pPr>
            <a:r>
              <a:rPr lang="en-IN" sz="2000" dirty="0"/>
              <a:t>          maximum: 60</a:t>
            </a:r>
          </a:p>
          <a:p>
            <a:pPr marL="0" indent="0">
              <a:buNone/>
            </a:pPr>
            <a:r>
              <a:rPr lang="en-IN" sz="2000" dirty="0"/>
              <a:t>        },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department: {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enum</a:t>
            </a:r>
            <a:r>
              <a:rPr lang="en-IN" sz="2000" dirty="0"/>
              <a:t>: ["CSE", "ECE", "IT"]</a:t>
            </a:r>
          </a:p>
          <a:p>
            <a:pPr marL="0" indent="0">
              <a:buNone/>
            </a:pPr>
            <a:r>
              <a:rPr lang="en-IN" sz="2000" dirty="0"/>
              <a:t>        },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salary: {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bsonType</a:t>
            </a:r>
            <a:r>
              <a:rPr lang="en-IN" sz="2000" dirty="0"/>
              <a:t>: "double",</a:t>
            </a:r>
          </a:p>
          <a:p>
            <a:pPr marL="0" indent="0">
              <a:buNone/>
            </a:pPr>
            <a:r>
              <a:rPr lang="en-IN" sz="2000" dirty="0"/>
              <a:t>          minimum: 0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  }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},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</a:t>
            </a:r>
            <a:r>
              <a:rPr lang="en-IN" sz="2000" dirty="0" err="1"/>
              <a:t>validationLevel</a:t>
            </a:r>
            <a:r>
              <a:rPr lang="en-IN" sz="2000" dirty="0"/>
              <a:t>: "strict",</a:t>
            </a:r>
          </a:p>
          <a:p>
            <a:pPr marL="0" indent="0">
              <a:buNone/>
            </a:pPr>
            <a:r>
              <a:rPr lang="en-IN" sz="2000" dirty="0"/>
              <a:t>  </a:t>
            </a:r>
            <a:r>
              <a:rPr lang="en-IN" sz="2000" dirty="0" err="1"/>
              <a:t>validationAction</a:t>
            </a:r>
            <a:r>
              <a:rPr lang="en-IN" sz="2000" dirty="0"/>
              <a:t>: "error"</a:t>
            </a:r>
          </a:p>
          <a:p>
            <a:pPr marL="0" indent="0">
              <a:buNone/>
            </a:pPr>
            <a:r>
              <a:rPr lang="en-IN" sz="2000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83693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802A1-8373-61A6-376A-8E9C698E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336"/>
            <a:ext cx="10515600" cy="577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16. Valid Document</a:t>
            </a:r>
          </a:p>
          <a:p>
            <a:pPr marL="0" indent="0">
              <a:buNone/>
            </a:pPr>
            <a:r>
              <a:rPr lang="en-IN" dirty="0" err="1"/>
              <a:t>db.employees.insertOne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name: "Raj",</a:t>
            </a:r>
          </a:p>
          <a:p>
            <a:pPr marL="0" indent="0">
              <a:buNone/>
            </a:pPr>
            <a:r>
              <a:rPr lang="en-IN" dirty="0"/>
              <a:t>  age: 30,</a:t>
            </a:r>
          </a:p>
          <a:p>
            <a:pPr marL="0" indent="0">
              <a:buNone/>
            </a:pPr>
            <a:r>
              <a:rPr lang="en-IN" dirty="0"/>
              <a:t>  department: "CSE",</a:t>
            </a:r>
          </a:p>
          <a:p>
            <a:pPr marL="0" indent="0">
              <a:buNone/>
            </a:pPr>
            <a:r>
              <a:rPr lang="en-IN" dirty="0"/>
              <a:t>  salary: 50000.0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r>
              <a:rPr lang="en-IN" dirty="0"/>
              <a:t>This is accepted.</a:t>
            </a:r>
          </a:p>
          <a:p>
            <a:pPr marL="0" indent="0">
              <a:buNone/>
            </a:pPr>
            <a:r>
              <a:rPr lang="en-IN" dirty="0"/>
              <a:t>Why?</a:t>
            </a:r>
          </a:p>
          <a:p>
            <a:pPr marL="0" indent="0">
              <a:buNone/>
            </a:pPr>
            <a:r>
              <a:rPr lang="en-IN" dirty="0"/>
              <a:t>All fields have valid values and valid data types.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14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2535A-4F46-49F4-7B58-28096A648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17. Invalid Document</a:t>
            </a:r>
          </a:p>
          <a:p>
            <a:pPr marL="0" indent="0">
              <a:buNone/>
            </a:pPr>
            <a:r>
              <a:rPr lang="en-IN" dirty="0" err="1"/>
              <a:t>db.employees.insertOne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name: "Raj",</a:t>
            </a:r>
          </a:p>
          <a:p>
            <a:pPr marL="0" indent="0">
              <a:buNone/>
            </a:pPr>
            <a:r>
              <a:rPr lang="en-IN" dirty="0"/>
              <a:t>  age: 15,</a:t>
            </a:r>
          </a:p>
          <a:p>
            <a:pPr marL="0" indent="0">
              <a:buNone/>
            </a:pPr>
            <a:r>
              <a:rPr lang="en-IN" dirty="0"/>
              <a:t>  department: "CSE",</a:t>
            </a:r>
          </a:p>
          <a:p>
            <a:pPr marL="0" indent="0">
              <a:buNone/>
            </a:pPr>
            <a:r>
              <a:rPr lang="en-IN" dirty="0"/>
              <a:t>  salary: 50000.0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r>
              <a:rPr lang="en-IN" dirty="0"/>
              <a:t>This is rejected.</a:t>
            </a:r>
          </a:p>
          <a:p>
            <a:pPr marL="0" indent="0">
              <a:buNone/>
            </a:pPr>
            <a:r>
              <a:rPr lang="en-IN" dirty="0"/>
              <a:t>Why?</a:t>
            </a:r>
          </a:p>
          <a:p>
            <a:pPr marL="0" indent="0">
              <a:buNone/>
            </a:pPr>
            <a:r>
              <a:rPr lang="en-IN" dirty="0"/>
              <a:t>age = 15</a:t>
            </a:r>
          </a:p>
          <a:p>
            <a:pPr marL="0" indent="0">
              <a:buNone/>
            </a:pPr>
            <a:r>
              <a:rPr lang="en-IN" dirty="0"/>
              <a:t>But our rule says:</a:t>
            </a:r>
          </a:p>
          <a:p>
            <a:pPr marL="0" indent="0">
              <a:buNone/>
            </a:pPr>
            <a:r>
              <a:rPr lang="en-IN" dirty="0"/>
              <a:t>age &gt;= 18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656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0C5E-5367-73F3-B376-26795F9C3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368"/>
            <a:ext cx="10515600" cy="5518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18. Another Invalid Example</a:t>
            </a:r>
          </a:p>
          <a:p>
            <a:pPr marL="0" indent="0">
              <a:buNone/>
            </a:pPr>
            <a:r>
              <a:rPr lang="en-IN" dirty="0" err="1"/>
              <a:t>db.employees.insertOne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name: "Raj",</a:t>
            </a:r>
          </a:p>
          <a:p>
            <a:pPr marL="0" indent="0">
              <a:buNone/>
            </a:pPr>
            <a:r>
              <a:rPr lang="en-IN" dirty="0"/>
              <a:t>  age: 30,</a:t>
            </a:r>
          </a:p>
          <a:p>
            <a:pPr marL="0" indent="0">
              <a:buNone/>
            </a:pPr>
            <a:r>
              <a:rPr lang="en-IN" dirty="0"/>
              <a:t>  department: "MBA",</a:t>
            </a:r>
          </a:p>
          <a:p>
            <a:pPr marL="0" indent="0">
              <a:buNone/>
            </a:pPr>
            <a:r>
              <a:rPr lang="en-IN" dirty="0"/>
              <a:t>  salary: 50000.0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r>
              <a:rPr lang="en-IN" dirty="0"/>
              <a:t>This is rejected.</a:t>
            </a:r>
          </a:p>
          <a:p>
            <a:pPr marL="0" indent="0">
              <a:buNone/>
            </a:pPr>
            <a:r>
              <a:rPr lang="en-IN" dirty="0"/>
              <a:t>Why?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BDA2-1500-0401-B5ED-0F06DECC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1A15-FF49-F678-6540-52FA5AD3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allowed departments are:</a:t>
            </a:r>
          </a:p>
          <a:p>
            <a:pPr marL="0" indent="0">
              <a:buNone/>
            </a:pPr>
            <a:r>
              <a:rPr lang="en-IN" dirty="0"/>
              <a:t>CSE</a:t>
            </a:r>
          </a:p>
          <a:p>
            <a:pPr marL="0" indent="0">
              <a:buNone/>
            </a:pPr>
            <a:r>
              <a:rPr lang="en-IN" dirty="0"/>
              <a:t>ECE</a:t>
            </a:r>
          </a:p>
          <a:p>
            <a:pPr marL="0" indent="0">
              <a:buNone/>
            </a:pPr>
            <a:r>
              <a:rPr lang="en-IN" dirty="0"/>
              <a:t>IT</a:t>
            </a:r>
          </a:p>
          <a:p>
            <a:pPr marL="0" indent="0">
              <a:buNone/>
            </a:pPr>
            <a:r>
              <a:rPr lang="en-IN" dirty="0"/>
              <a:t>But we provided:</a:t>
            </a:r>
          </a:p>
          <a:p>
            <a:pPr marL="0" indent="0">
              <a:buNone/>
            </a:pPr>
            <a:r>
              <a:rPr lang="en-IN" dirty="0"/>
              <a:t>MBA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303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EF36-475D-62C9-D6D3-3A97408F7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504"/>
            <a:ext cx="10515600" cy="55734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19. Schema Validation vs Data Integrity</a:t>
            </a:r>
          </a:p>
          <a:p>
            <a:pPr marL="0" indent="0">
              <a:buNone/>
            </a:pPr>
            <a:r>
              <a:rPr lang="en-IN" dirty="0"/>
              <a:t>These two terms are related but not exactly the same.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38B72-178C-B9C0-BBF8-3D6BB9117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06009"/>
              </p:ext>
            </p:extLst>
          </p:nvPr>
        </p:nvGraphicFramePr>
        <p:xfrm>
          <a:off x="838200" y="1773936"/>
          <a:ext cx="10515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965226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12161580"/>
                    </a:ext>
                  </a:extLst>
                </a:gridCol>
              </a:tblGrid>
              <a:tr h="66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Schema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Data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506876"/>
                  </a:ext>
                </a:extLst>
              </a:tr>
              <a:tr h="66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Defines rules for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data remains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051049"/>
                  </a:ext>
                </a:extLst>
              </a:tr>
              <a:tr h="66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data format and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Focuses on correctness and consistency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818223"/>
                  </a:ext>
                </a:extLst>
              </a:tr>
              <a:tr h="116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$jsonSchema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involve validation, unique indexes, references,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079100"/>
                  </a:ext>
                </a:extLst>
              </a:tr>
              <a:tr h="66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age must be 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no duplicate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619810"/>
                  </a:ext>
                </a:extLst>
              </a:tr>
              <a:tr h="66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name is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valid relationship between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99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7187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DE41-5BED-2D5A-AD9A-A1A6D45E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208"/>
            <a:ext cx="10515600" cy="565575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Simple relationship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Schema Validation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Checks incoming data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Rejects invalid data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Better Data Integrity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897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C543-55EE-F81D-4D9F-1C3914F72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20. Schema Validation and Unique Index</a:t>
            </a:r>
          </a:p>
          <a:p>
            <a:pPr marL="0" indent="0">
              <a:buNone/>
            </a:pPr>
            <a:r>
              <a:rPr lang="en-IN" dirty="0"/>
              <a:t>Schema validation alone does not necessarily prevent duplicate values.</a:t>
            </a:r>
          </a:p>
          <a:p>
            <a:pPr marL="0" indent="0">
              <a:buNone/>
            </a:pPr>
            <a:r>
              <a:rPr lang="en-IN" dirty="0"/>
              <a:t>Suppose we want every student's email to be unique.</a:t>
            </a:r>
          </a:p>
          <a:p>
            <a:pPr marL="0" indent="0">
              <a:buNone/>
            </a:pPr>
            <a:r>
              <a:rPr lang="en-IN" dirty="0"/>
              <a:t>We can create a </a:t>
            </a:r>
            <a:r>
              <a:rPr lang="en-IN" b="1" dirty="0"/>
              <a:t>unique index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 err="1"/>
              <a:t>db.students.createIndex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{ email: 1 },</a:t>
            </a:r>
          </a:p>
          <a:p>
            <a:pPr marL="0" indent="0">
              <a:buNone/>
            </a:pPr>
            <a:r>
              <a:rPr lang="en-IN" dirty="0"/>
              <a:t>  { unique: true 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795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7E88-70D0-62E5-D1F3-6045E1D4E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904"/>
            <a:ext cx="10515600" cy="580205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Now: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hlinkClick r:id="rId2"/>
              </a:rPr>
              <a:t>rahul@gmail.com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cannot be stored for two different students.</a:t>
            </a:r>
          </a:p>
          <a:p>
            <a:pPr marL="0" indent="0">
              <a:buNone/>
            </a:pPr>
            <a:r>
              <a:rPr lang="en-IN" dirty="0"/>
              <a:t>So MongoDB can use both:</a:t>
            </a:r>
          </a:p>
          <a:p>
            <a:pPr marL="0" indent="0">
              <a:buNone/>
            </a:pPr>
            <a:r>
              <a:rPr lang="en-IN" dirty="0"/>
              <a:t>Schema Validation + Indexes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 improve data integrity.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750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A5D1-CF13-621F-CBB9-8C5DF89C8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48"/>
            <a:ext cx="10515600" cy="579291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21. Real-Life Example</a:t>
            </a:r>
          </a:p>
          <a:p>
            <a:pPr marL="0" indent="0">
              <a:buNone/>
            </a:pPr>
            <a:r>
              <a:rPr lang="en-IN" dirty="0"/>
              <a:t>Consider a </a:t>
            </a:r>
            <a:r>
              <a:rPr lang="en-IN" b="1" dirty="0"/>
              <a:t>bank account</a:t>
            </a:r>
            <a:r>
              <a:rPr lang="en-IN" dirty="0"/>
              <a:t> collection.</a:t>
            </a:r>
          </a:p>
          <a:p>
            <a:pPr marL="0" indent="0">
              <a:buNone/>
            </a:pPr>
            <a:r>
              <a:rPr lang="en-IN" dirty="0"/>
              <a:t>We may define:</a:t>
            </a:r>
          </a:p>
          <a:p>
            <a:pPr marL="0" indent="0">
              <a:buNone/>
            </a:pPr>
            <a:r>
              <a:rPr lang="en-IN" dirty="0" err="1"/>
              <a:t>accountNumber</a:t>
            </a:r>
            <a:r>
              <a:rPr lang="en-IN" dirty="0"/>
              <a:t> → required</a:t>
            </a:r>
          </a:p>
          <a:p>
            <a:pPr marL="0" indent="0">
              <a:buNone/>
            </a:pPr>
            <a:r>
              <a:rPr lang="en-IN" dirty="0" err="1"/>
              <a:t>customerName</a:t>
            </a:r>
            <a:r>
              <a:rPr lang="en-IN" dirty="0"/>
              <a:t>  → required</a:t>
            </a:r>
          </a:p>
          <a:p>
            <a:pPr marL="0" indent="0">
              <a:buNone/>
            </a:pPr>
            <a:r>
              <a:rPr lang="en-IN" dirty="0"/>
              <a:t>balance       → number</a:t>
            </a:r>
          </a:p>
          <a:p>
            <a:pPr marL="0" indent="0">
              <a:buNone/>
            </a:pPr>
            <a:r>
              <a:rPr lang="en-IN" dirty="0" err="1"/>
              <a:t>accountType</a:t>
            </a:r>
            <a:r>
              <a:rPr lang="en-IN" dirty="0"/>
              <a:t>   → Savings or Current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232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D71C6-A066-1E9D-5E7C-44D1E5E2C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accountNumber</a:t>
            </a:r>
            <a:r>
              <a:rPr lang="en-IN" dirty="0"/>
              <a:t>: "ACC101",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customerName</a:t>
            </a:r>
            <a:r>
              <a:rPr lang="en-IN" dirty="0"/>
              <a:t>: "Rahul",</a:t>
            </a:r>
          </a:p>
          <a:p>
            <a:pPr marL="0" indent="0">
              <a:buNone/>
            </a:pPr>
            <a:r>
              <a:rPr lang="en-IN" dirty="0"/>
              <a:t>  balance: 50000,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accountType</a:t>
            </a:r>
            <a:r>
              <a:rPr lang="en-IN" dirty="0"/>
              <a:t>: "Savings"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595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71682-F2A4-02F5-9493-FE54AB972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"/>
            <a:ext cx="10515600" cy="5875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We should not allow: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accountNumber</a:t>
            </a:r>
            <a:r>
              <a:rPr lang="en-IN" dirty="0"/>
              <a:t>: "ACC102",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customerName</a:t>
            </a:r>
            <a:r>
              <a:rPr lang="en-IN" dirty="0"/>
              <a:t>: "Amit",</a:t>
            </a:r>
          </a:p>
          <a:p>
            <a:pPr marL="0" indent="0">
              <a:buNone/>
            </a:pPr>
            <a:r>
              <a:rPr lang="en-IN" dirty="0"/>
              <a:t>  balance: "fifty thousand",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accountType</a:t>
            </a:r>
            <a:r>
              <a:rPr lang="en-IN" dirty="0"/>
              <a:t>: "ABC"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because:</a:t>
            </a:r>
          </a:p>
          <a:p>
            <a:pPr marL="0" lvl="0" indent="0">
              <a:buNone/>
            </a:pPr>
            <a:r>
              <a:rPr lang="en-IN" dirty="0"/>
              <a:t>balance should be a number. </a:t>
            </a:r>
          </a:p>
          <a:p>
            <a:pPr marL="0" lvl="0" indent="0">
              <a:buNone/>
            </a:pPr>
            <a:r>
              <a:rPr lang="en-IN" dirty="0" err="1"/>
              <a:t>accountType</a:t>
            </a:r>
            <a:r>
              <a:rPr lang="en-IN" dirty="0"/>
              <a:t> should be a valid value. </a:t>
            </a:r>
          </a:p>
          <a:p>
            <a:pPr marL="0" indent="0">
              <a:buNone/>
            </a:pPr>
            <a:r>
              <a:rPr lang="en-IN" dirty="0"/>
              <a:t>This is how schema validation protects application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522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5FD6-9EF2-585F-0B8C-6A55C77AD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24"/>
            <a:ext cx="10515600" cy="59849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22. Key Points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Remember these points:</a:t>
            </a:r>
          </a:p>
          <a:p>
            <a:r>
              <a:rPr lang="en-IN" b="1" dirty="0"/>
              <a:t>MongoDB is schema-flexible.</a:t>
            </a:r>
            <a:r>
              <a:rPr lang="en-IN" dirty="0"/>
              <a:t> </a:t>
            </a:r>
          </a:p>
          <a:p>
            <a:r>
              <a:rPr lang="en-IN" b="1" dirty="0"/>
              <a:t>Schema validation adds rules to MongoDB collections.</a:t>
            </a:r>
            <a:r>
              <a:rPr lang="en-IN" dirty="0"/>
              <a:t> </a:t>
            </a:r>
          </a:p>
          <a:p>
            <a:r>
              <a:rPr lang="en-IN" dirty="0"/>
              <a:t>MongoDB supports </a:t>
            </a:r>
            <a:r>
              <a:rPr lang="en-IN" b="1" dirty="0"/>
              <a:t>JSON Schema validation</a:t>
            </a:r>
            <a:r>
              <a:rPr lang="en-IN" dirty="0"/>
              <a:t>. </a:t>
            </a:r>
          </a:p>
          <a:p>
            <a:r>
              <a:rPr lang="en-IN" dirty="0"/>
              <a:t>$</a:t>
            </a:r>
            <a:r>
              <a:rPr lang="en-IN" dirty="0" err="1"/>
              <a:t>jsonSchema</a:t>
            </a:r>
            <a:r>
              <a:rPr lang="en-IN" dirty="0"/>
              <a:t> is used to define validation rules. </a:t>
            </a:r>
          </a:p>
          <a:p>
            <a:r>
              <a:rPr lang="en-IN" dirty="0"/>
              <a:t>required specifies mandatory fields. </a:t>
            </a:r>
          </a:p>
          <a:p>
            <a:r>
              <a:rPr lang="en-IN" dirty="0" err="1"/>
              <a:t>bsonType</a:t>
            </a:r>
            <a:r>
              <a:rPr lang="en-IN" dirty="0"/>
              <a:t> specifies the data type. </a:t>
            </a:r>
          </a:p>
          <a:p>
            <a:r>
              <a:rPr lang="en-IN" dirty="0"/>
              <a:t>minimum and maximum restrict numeric values. </a:t>
            </a:r>
          </a:p>
          <a:p>
            <a:r>
              <a:rPr lang="en-IN" dirty="0" err="1"/>
              <a:t>enum</a:t>
            </a:r>
            <a:r>
              <a:rPr lang="en-IN" dirty="0"/>
              <a:t> restricts values to a predefined list. </a:t>
            </a:r>
          </a:p>
          <a:p>
            <a:r>
              <a:rPr lang="en-IN" dirty="0" err="1"/>
              <a:t>validationAction</a:t>
            </a:r>
            <a:r>
              <a:rPr lang="en-IN" dirty="0"/>
              <a:t>: "error" rejects invalid data. </a:t>
            </a:r>
          </a:p>
          <a:p>
            <a:r>
              <a:rPr lang="en-IN" dirty="0"/>
              <a:t>Schema validation helps maintain </a:t>
            </a:r>
            <a:r>
              <a:rPr lang="en-IN" b="1" dirty="0"/>
              <a:t>data integrity</a:t>
            </a:r>
            <a:r>
              <a:rPr lang="en-IN" dirty="0"/>
              <a:t>. </a:t>
            </a:r>
          </a:p>
          <a:p>
            <a:r>
              <a:rPr lang="en-IN" dirty="0"/>
              <a:t>Unique indexes can be used to prevent duplicate values. </a:t>
            </a:r>
          </a:p>
          <a:p>
            <a:r>
              <a:rPr lang="en-IN" dirty="0"/>
              <a:t>Validation can apply to both </a:t>
            </a:r>
            <a:r>
              <a:rPr lang="en-IN" b="1" dirty="0"/>
              <a:t>inserts and updates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2834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C680-37F9-A471-D66E-5DAEF367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1"/>
            <a:ext cx="10515600" cy="23134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Schema validation in MongoDB is a mechanism for defining and enforcing rules on documents so that only valid and consistent data is stored in a collection.</a:t>
            </a:r>
          </a:p>
        </p:txBody>
      </p:sp>
    </p:spTree>
    <p:extLst>
      <p:ext uri="{BB962C8B-B14F-4D97-AF65-F5344CB8AC3E}">
        <p14:creationId xmlns:p14="http://schemas.microsoft.com/office/powerpoint/2010/main" val="1849699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592D-7804-3963-AF17-21458B0A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C00D-21DE-A16F-24FF-72287DDA4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68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D820-7814-BC4C-92F0-BC375612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7784"/>
            <a:ext cx="10515600" cy="5619179"/>
          </a:xfrm>
        </p:spPr>
        <p:txBody>
          <a:bodyPr/>
          <a:lstStyle/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          </a:t>
            </a:r>
          </a:p>
          <a:p>
            <a:pPr marL="0" indent="0">
              <a:buNone/>
            </a:pPr>
            <a:r>
              <a:rPr lang="en-IN" sz="3600" b="1" dirty="0"/>
              <a:t>             Application connectivity using </a:t>
            </a:r>
            <a:r>
              <a:rPr lang="en-IN" sz="3600" b="1" dirty="0" err="1"/>
              <a:t>PyMongo</a:t>
            </a:r>
            <a:r>
              <a:rPr lang="en-IN" sz="3600" b="1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3819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ACAC-AF46-C106-0C68-5978225D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48C8-D559-FF10-65C1-B752BA048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1. What is </a:t>
            </a:r>
            <a:r>
              <a:rPr lang="en-IN" b="1" dirty="0" err="1"/>
              <a:t>PyMongo</a:t>
            </a:r>
            <a:r>
              <a:rPr lang="en-IN" b="1" dirty="0"/>
              <a:t>?</a:t>
            </a:r>
          </a:p>
          <a:p>
            <a:pPr marL="0" indent="0">
              <a:buNone/>
            </a:pPr>
            <a:r>
              <a:rPr lang="en-IN" b="1" dirty="0" err="1"/>
              <a:t>PyMongo</a:t>
            </a:r>
            <a:r>
              <a:rPr lang="en-IN" dirty="0"/>
              <a:t> is a Python library used to connect a Python application with </a:t>
            </a:r>
            <a:r>
              <a:rPr lang="en-IN" b="1" dirty="0"/>
              <a:t>MongoDB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In simple words:</a:t>
            </a:r>
          </a:p>
          <a:p>
            <a:pPr marL="0" indent="0">
              <a:buNone/>
            </a:pPr>
            <a:r>
              <a:rPr lang="en-IN" b="1" dirty="0" err="1"/>
              <a:t>PyMongo</a:t>
            </a:r>
            <a:r>
              <a:rPr lang="en-IN" b="1" dirty="0"/>
              <a:t> acts as a bridge between Python and MongoDB.</a:t>
            </a:r>
            <a:endParaRPr lang="en-IN" dirty="0"/>
          </a:p>
          <a:p>
            <a:r>
              <a:rPr lang="en-IN" dirty="0"/>
              <a:t>A Python program can use </a:t>
            </a:r>
            <a:r>
              <a:rPr lang="en-IN" dirty="0" err="1"/>
              <a:t>PyMongo</a:t>
            </a:r>
            <a:r>
              <a:rPr lang="en-IN" dirty="0"/>
              <a:t> to:</a:t>
            </a:r>
          </a:p>
          <a:p>
            <a:pPr lvl="0"/>
            <a:r>
              <a:rPr lang="en-IN" dirty="0"/>
              <a:t>Connect to MongoDB </a:t>
            </a:r>
          </a:p>
          <a:p>
            <a:pPr lvl="0"/>
            <a:r>
              <a:rPr lang="en-IN" dirty="0"/>
              <a:t>Create databases </a:t>
            </a:r>
          </a:p>
          <a:p>
            <a:pPr lvl="0"/>
            <a:r>
              <a:rPr lang="en-IN" dirty="0"/>
              <a:t>Create collections </a:t>
            </a:r>
          </a:p>
          <a:p>
            <a:pPr lvl="0"/>
            <a:r>
              <a:rPr lang="en-IN" dirty="0"/>
              <a:t>Insert documents </a:t>
            </a:r>
          </a:p>
          <a:p>
            <a:pPr lvl="0"/>
            <a:r>
              <a:rPr lang="en-IN" dirty="0"/>
              <a:t>Read documents </a:t>
            </a:r>
          </a:p>
          <a:p>
            <a:pPr lvl="0"/>
            <a:r>
              <a:rPr lang="en-IN" dirty="0"/>
              <a:t>Update documents </a:t>
            </a:r>
          </a:p>
          <a:p>
            <a:pPr lvl="0"/>
            <a:r>
              <a:rPr lang="en-IN" dirty="0"/>
              <a:t>Delete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228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5172-339D-F4C6-ABEA-29EEC355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ED776-752F-AF1A-CB3A-BCCC2FF41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Basic flow</a:t>
            </a:r>
          </a:p>
          <a:p>
            <a:pPr marL="0" indent="0">
              <a:buNone/>
            </a:pPr>
            <a:r>
              <a:rPr lang="en-IN" dirty="0"/>
              <a:t>Python Application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PyMongo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  MongoDB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 Database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Collection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 Documents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424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FBB9-7D7D-CA82-6A92-BA21DE0A1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 Why Do We Need </a:t>
            </a:r>
            <a:r>
              <a:rPr lang="en-IN" b="1" dirty="0" err="1"/>
              <a:t>PyMongo</a:t>
            </a:r>
            <a:r>
              <a:rPr lang="en-IN" b="1" dirty="0"/>
              <a:t>?</a:t>
            </a:r>
          </a:p>
          <a:p>
            <a:pPr marL="0" indent="0">
              <a:buNone/>
            </a:pPr>
            <a:r>
              <a:rPr lang="en-IN" dirty="0"/>
              <a:t>Suppose we create a student management application in Python.</a:t>
            </a:r>
          </a:p>
          <a:p>
            <a:pPr marL="0" indent="0">
              <a:buNone/>
            </a:pPr>
            <a:r>
              <a:rPr lang="en-IN" dirty="0"/>
              <a:t>The application needs to store student information:</a:t>
            </a:r>
          </a:p>
          <a:p>
            <a:pPr marL="0" indent="0">
              <a:buNone/>
            </a:pPr>
            <a:r>
              <a:rPr lang="en-IN" dirty="0"/>
              <a:t>Name: Rahul</a:t>
            </a:r>
          </a:p>
          <a:p>
            <a:pPr marL="0" indent="0">
              <a:buNone/>
            </a:pPr>
            <a:r>
              <a:rPr lang="en-IN" dirty="0"/>
              <a:t>Age: 21</a:t>
            </a:r>
          </a:p>
          <a:p>
            <a:pPr marL="0" indent="0">
              <a:buNone/>
            </a:pPr>
            <a:r>
              <a:rPr lang="en-IN" dirty="0"/>
              <a:t>Course: CSE</a:t>
            </a:r>
          </a:p>
          <a:p>
            <a:pPr marL="0" indent="0">
              <a:buNone/>
            </a:pPr>
            <a:r>
              <a:rPr lang="en-IN" dirty="0"/>
              <a:t>MongoDB stores this information.</a:t>
            </a:r>
          </a:p>
          <a:p>
            <a:pPr marL="0" indent="0">
              <a:buNone/>
            </a:pPr>
            <a:r>
              <a:rPr lang="en-IN" dirty="0"/>
              <a:t>Python needs a way to communicate with MongoDB.</a:t>
            </a:r>
          </a:p>
          <a:p>
            <a:pPr marL="0" indent="0">
              <a:buNone/>
            </a:pPr>
            <a:r>
              <a:rPr lang="en-IN" b="1" dirty="0" err="1"/>
              <a:t>PyMongo</a:t>
            </a:r>
            <a:r>
              <a:rPr lang="en-IN" b="1" dirty="0"/>
              <a:t> provides this communication.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529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EE47C-89DC-06AA-C053-14DF59351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Installing </a:t>
            </a:r>
            <a:r>
              <a:rPr lang="en-IN" b="1" dirty="0" err="1"/>
              <a:t>PyMongo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First, install the </a:t>
            </a:r>
            <a:r>
              <a:rPr lang="en-IN" dirty="0" err="1"/>
              <a:t>PyMongo</a:t>
            </a:r>
            <a:r>
              <a:rPr lang="en-IN" dirty="0"/>
              <a:t> package.</a:t>
            </a:r>
          </a:p>
          <a:p>
            <a:pPr marL="0" indent="0">
              <a:buNone/>
            </a:pPr>
            <a:r>
              <a:rPr lang="en-IN" dirty="0"/>
              <a:t>Open the terminal or command prompt and run: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pip install </a:t>
            </a:r>
            <a:r>
              <a:rPr lang="en-IN" dirty="0" err="1"/>
              <a:t>pymongo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After installation, Python can use the MongoDB library.</a:t>
            </a:r>
          </a:p>
          <a:p>
            <a:pPr marL="0" indent="0">
              <a:buNone/>
            </a:pPr>
            <a:r>
              <a:rPr lang="en-IN" dirty="0"/>
              <a:t>We import it using: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199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2AD7E-D70C-A690-423C-CB62D7F79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344"/>
            <a:ext cx="10515600" cy="57106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4. Connecting Python to MongoDB</a:t>
            </a:r>
          </a:p>
          <a:p>
            <a:pPr marL="0" indent="0">
              <a:buNone/>
            </a:pPr>
            <a:r>
              <a:rPr lang="en-IN" dirty="0"/>
              <a:t>The most basic connection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r>
              <a:rPr lang="en-IN" dirty="0" err="1"/>
              <a:t>MongoClient</a:t>
            </a:r>
            <a:r>
              <a:rPr lang="en-IN" dirty="0"/>
              <a:t> creates a connection to MongoDB. </a:t>
            </a:r>
          </a:p>
          <a:p>
            <a:r>
              <a:rPr lang="en-IN" dirty="0"/>
              <a:t>localhost means MongoDB is running on the same computer. </a:t>
            </a:r>
          </a:p>
          <a:p>
            <a:r>
              <a:rPr lang="en-IN" dirty="0"/>
              <a:t>27017 is the default MongoDB port. </a:t>
            </a:r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 err="1"/>
              <a:t>MongoClient</a:t>
            </a:r>
            <a:r>
              <a:rPr lang="en-IN" dirty="0"/>
              <a:t> helps Python connect to MongoDB.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9919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7774B-7859-2056-7D69-3C427B0F6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5. Selecting a Database</a:t>
            </a:r>
          </a:p>
          <a:p>
            <a:pPr marL="0" indent="0">
              <a:buNone/>
            </a:pPr>
            <a:r>
              <a:rPr lang="en-IN" dirty="0"/>
              <a:t>After connecting, we select a database.</a:t>
            </a:r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college</a:t>
            </a:r>
          </a:p>
          <a:p>
            <a:pPr marL="0" indent="0">
              <a:buNone/>
            </a:pPr>
            <a:r>
              <a:rPr lang="en-IN" dirty="0"/>
              <a:t>is the database name.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0410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7984-6E45-BB44-E528-40FF447DD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complete code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</p:txBody>
      </p:sp>
    </p:spTree>
    <p:extLst>
      <p:ext uri="{BB962C8B-B14F-4D97-AF65-F5344CB8AC3E}">
        <p14:creationId xmlns:p14="http://schemas.microsoft.com/office/powerpoint/2010/main" val="38653263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FBD0A-E45A-D906-95CC-733F72728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624"/>
            <a:ext cx="10515600" cy="575633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6. Selecting a Collection</a:t>
            </a:r>
          </a:p>
          <a:p>
            <a:pPr marL="0" indent="0">
              <a:buNone/>
            </a:pPr>
            <a:r>
              <a:rPr lang="en-IN" dirty="0"/>
              <a:t>Suppose our database has a collection called students.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students = </a:t>
            </a:r>
            <a:r>
              <a:rPr lang="en-IN" dirty="0" err="1"/>
              <a:t>db</a:t>
            </a:r>
            <a:r>
              <a:rPr lang="en-IN" dirty="0"/>
              <a:t>["students"]</a:t>
            </a:r>
          </a:p>
          <a:p>
            <a:pPr marL="0" indent="0">
              <a:buNone/>
            </a:pPr>
            <a:r>
              <a:rPr lang="en-IN" dirty="0"/>
              <a:t>Now the structure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college database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students 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4675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568AB-096E-EF71-4FC6-92C6847F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515600" cy="5747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Complete code: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students = </a:t>
            </a:r>
            <a:r>
              <a:rPr lang="en-IN" dirty="0" err="1"/>
              <a:t>db</a:t>
            </a:r>
            <a:r>
              <a:rPr lang="en-IN" dirty="0"/>
              <a:t>["students"]</a:t>
            </a:r>
          </a:p>
        </p:txBody>
      </p:sp>
    </p:spTree>
    <p:extLst>
      <p:ext uri="{BB962C8B-B14F-4D97-AF65-F5344CB8AC3E}">
        <p14:creationId xmlns:p14="http://schemas.microsoft.com/office/powerpoint/2010/main" val="34605822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0578-F143-6784-87FE-FAE44196C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072"/>
            <a:ext cx="10515600" cy="56008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7. Complete Connection Example</a:t>
            </a:r>
          </a:p>
          <a:p>
            <a:pPr marL="0" indent="0">
              <a:buNone/>
            </a:pPr>
            <a:r>
              <a:rPr lang="en-IN" dirty="0"/>
              <a:t>We can check whether the connection is working.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try: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client.admin.command</a:t>
            </a:r>
            <a:r>
              <a:rPr lang="en-IN" dirty="0"/>
              <a:t>("ping")</a:t>
            </a:r>
          </a:p>
          <a:p>
            <a:pPr marL="0" indent="0">
              <a:buNone/>
            </a:pPr>
            <a:r>
              <a:rPr lang="en-IN" dirty="0"/>
              <a:t>    print("MongoDB connection successful!")</a:t>
            </a:r>
          </a:p>
          <a:p>
            <a:pPr marL="0" indent="0">
              <a:buNone/>
            </a:pPr>
            <a:r>
              <a:rPr lang="en-IN" dirty="0"/>
              <a:t>except Exception as e:</a:t>
            </a:r>
          </a:p>
          <a:p>
            <a:pPr marL="0" indent="0">
              <a:buNone/>
            </a:pPr>
            <a:r>
              <a:rPr lang="en-IN" dirty="0"/>
              <a:t>    print("MongoDB connection failed:", e)</a:t>
            </a:r>
          </a:p>
        </p:txBody>
      </p:sp>
    </p:spTree>
    <p:extLst>
      <p:ext uri="{BB962C8B-B14F-4D97-AF65-F5344CB8AC3E}">
        <p14:creationId xmlns:p14="http://schemas.microsoft.com/office/powerpoint/2010/main" val="3098381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C26C8-18CD-FCF2-4F07-5C474D465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504"/>
            <a:ext cx="10515600" cy="55734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Explanation</a:t>
            </a:r>
          </a:p>
          <a:p>
            <a:pPr marL="0" indent="0">
              <a:buNone/>
            </a:pPr>
            <a:r>
              <a:rPr lang="en-IN" dirty="0" err="1"/>
              <a:t>client.admin.command</a:t>
            </a:r>
            <a:r>
              <a:rPr lang="en-IN" dirty="0"/>
              <a:t>("ping")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sends a simple request to MongoDB.</a:t>
            </a:r>
          </a:p>
          <a:p>
            <a:pPr marL="0" indent="0">
              <a:buNone/>
            </a:pPr>
            <a:r>
              <a:rPr lang="en-IN" dirty="0"/>
              <a:t>If MongoDB responds, the connection is working.</a:t>
            </a:r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MongoDB connection successful!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162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78C0F-8361-9E1F-A168-7754ADE1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301752"/>
            <a:ext cx="11932920" cy="63825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8. Inserting a Document</a:t>
            </a:r>
          </a:p>
          <a:p>
            <a:pPr marL="0" indent="0">
              <a:buNone/>
            </a:pPr>
            <a:r>
              <a:rPr lang="en-IN" dirty="0"/>
              <a:t>Now let's insert a student.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students = </a:t>
            </a:r>
            <a:r>
              <a:rPr lang="en-IN" dirty="0" err="1"/>
              <a:t>db</a:t>
            </a:r>
            <a:r>
              <a:rPr lang="en-IN" dirty="0"/>
              <a:t>["students"]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 = {</a:t>
            </a:r>
          </a:p>
          <a:p>
            <a:pPr marL="0" indent="0">
              <a:buNone/>
            </a:pPr>
            <a:r>
              <a:rPr lang="en-IN" dirty="0"/>
              <a:t>    "name": "Rahul",</a:t>
            </a:r>
          </a:p>
          <a:p>
            <a:pPr marL="0" indent="0">
              <a:buNone/>
            </a:pPr>
            <a:r>
              <a:rPr lang="en-IN" dirty="0"/>
              <a:t>    "age": 21,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result = </a:t>
            </a:r>
            <a:r>
              <a:rPr lang="en-IN" dirty="0" err="1"/>
              <a:t>students.insert_one</a:t>
            </a:r>
            <a:r>
              <a:rPr lang="en-IN" dirty="0"/>
              <a:t>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print("Student ID:", </a:t>
            </a:r>
            <a:r>
              <a:rPr lang="en-IN" dirty="0" err="1"/>
              <a:t>result.inserted_id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94358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D970-959E-9A1A-3122-2E0B671C9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"/>
            <a:ext cx="10515600" cy="590264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MongoDB stores: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"name": "Rahul",</a:t>
            </a:r>
          </a:p>
          <a:p>
            <a:pPr marL="0" indent="0">
              <a:buNone/>
            </a:pPr>
            <a:r>
              <a:rPr lang="en-IN" dirty="0"/>
              <a:t>    "age": 21,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33399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3E0E-076C-42FE-4026-58013FDA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588435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What does </a:t>
            </a:r>
            <a:r>
              <a:rPr lang="en-IN" dirty="0" err="1"/>
              <a:t>insert_one</a:t>
            </a:r>
            <a:r>
              <a:rPr lang="en-IN" dirty="0"/>
              <a:t>() do?</a:t>
            </a:r>
          </a:p>
          <a:p>
            <a:pPr marL="0" indent="0">
              <a:buNone/>
            </a:pPr>
            <a:r>
              <a:rPr lang="en-IN" dirty="0" err="1"/>
              <a:t>students.insert_one</a:t>
            </a:r>
            <a:r>
              <a:rPr lang="en-IN" dirty="0"/>
              <a:t>(student)</a:t>
            </a:r>
          </a:p>
          <a:p>
            <a:pPr marL="0" indent="0">
              <a:buNone/>
            </a:pPr>
            <a:r>
              <a:rPr lang="en-IN" dirty="0"/>
              <a:t>It inserts </a:t>
            </a:r>
            <a:r>
              <a:rPr lang="en-IN" b="1" dirty="0"/>
              <a:t>one document</a:t>
            </a:r>
            <a:r>
              <a:rPr lang="en-IN" dirty="0"/>
              <a:t> into the collection.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3669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5E53C-D82B-D00B-2F54-5E608EF73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64"/>
            <a:ext cx="4794504" cy="58934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9. Inserting Multiple Documents</a:t>
            </a:r>
          </a:p>
          <a:p>
            <a:pPr marL="0" indent="0">
              <a:buNone/>
            </a:pPr>
            <a:r>
              <a:rPr lang="en-IN" dirty="0"/>
              <a:t>We can insert multiple documents using </a:t>
            </a:r>
            <a:r>
              <a:rPr lang="en-IN" dirty="0" err="1"/>
              <a:t>insert_many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/>
              <a:t>students = [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"name": "Rahul",</a:t>
            </a:r>
          </a:p>
          <a:p>
            <a:pPr marL="0" indent="0">
              <a:buNone/>
            </a:pPr>
            <a:r>
              <a:rPr lang="en-IN" dirty="0"/>
              <a:t>        "age": 21,</a:t>
            </a:r>
          </a:p>
          <a:p>
            <a:pPr marL="0" indent="0">
              <a:buNone/>
            </a:pPr>
            <a:r>
              <a:rPr lang="en-IN" dirty="0"/>
              <a:t>        "course": "CSE"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"name": "Amit",</a:t>
            </a:r>
          </a:p>
          <a:p>
            <a:pPr marL="0" indent="0">
              <a:buNone/>
            </a:pPr>
            <a:r>
              <a:rPr lang="en-IN" dirty="0"/>
              <a:t>        "age": 22,</a:t>
            </a:r>
          </a:p>
          <a:p>
            <a:pPr marL="0" indent="0">
              <a:buNone/>
            </a:pPr>
            <a:r>
              <a:rPr lang="en-IN" dirty="0"/>
              <a:t>        "course": "ECE"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753E4-02BD-C544-FF56-B10878780E9D}"/>
              </a:ext>
            </a:extLst>
          </p:cNvPr>
          <p:cNvSpPr txBox="1"/>
          <p:nvPr/>
        </p:nvSpPr>
        <p:spPr>
          <a:xfrm>
            <a:off x="5909310" y="1012954"/>
            <a:ext cx="609447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/>
              <a:t> {</a:t>
            </a:r>
          </a:p>
          <a:p>
            <a:pPr marL="0" indent="0">
              <a:buNone/>
            </a:pPr>
            <a:r>
              <a:rPr lang="en-IN" sz="2800" dirty="0"/>
              <a:t>        "name": "Priya",</a:t>
            </a:r>
          </a:p>
          <a:p>
            <a:pPr marL="0" indent="0">
              <a:buNone/>
            </a:pPr>
            <a:r>
              <a:rPr lang="en-IN" sz="2800" dirty="0"/>
              <a:t>        "age": 20,</a:t>
            </a:r>
          </a:p>
          <a:p>
            <a:pPr marL="0" indent="0">
              <a:buNone/>
            </a:pPr>
            <a:r>
              <a:rPr lang="en-IN" sz="2800" dirty="0"/>
              <a:t>        "course": "IT"</a:t>
            </a:r>
          </a:p>
          <a:p>
            <a:pPr marL="0" indent="0">
              <a:buNone/>
            </a:pPr>
            <a:r>
              <a:rPr lang="en-IN" sz="2800" dirty="0"/>
              <a:t>    }</a:t>
            </a:r>
          </a:p>
          <a:p>
            <a:pPr marL="0" indent="0">
              <a:buNone/>
            </a:pPr>
            <a:r>
              <a:rPr lang="en-IN" sz="2800" dirty="0"/>
              <a:t>]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result = </a:t>
            </a:r>
            <a:r>
              <a:rPr lang="en-IN" sz="2800" dirty="0" err="1"/>
              <a:t>db</a:t>
            </a:r>
            <a:r>
              <a:rPr lang="en-IN" sz="2800" dirty="0"/>
              <a:t>["students"].</a:t>
            </a:r>
            <a:r>
              <a:rPr lang="en-IN" sz="2800" dirty="0" err="1"/>
              <a:t>insert_many</a:t>
            </a:r>
            <a:r>
              <a:rPr lang="en-IN" sz="2800" dirty="0"/>
              <a:t>(students)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print(</a:t>
            </a:r>
            <a:r>
              <a:rPr lang="en-IN" sz="2800" dirty="0" err="1"/>
              <a:t>result.inserted_ids</a:t>
            </a:r>
            <a:r>
              <a:rPr lang="en-IN" sz="2800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5816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A7C8-9FF3-BF3D-63AE-4853BAEEC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48"/>
            <a:ext cx="10515600" cy="579291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Simple difference</a:t>
            </a:r>
          </a:p>
          <a:p>
            <a:pPr marL="0" indent="0">
              <a:buNone/>
            </a:pPr>
            <a:r>
              <a:rPr lang="en-IN" dirty="0" err="1"/>
              <a:t>insert_one</a:t>
            </a:r>
            <a:r>
              <a:rPr lang="en-IN" dirty="0"/>
              <a:t>() → inserts one document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insert_many</a:t>
            </a:r>
            <a:r>
              <a:rPr lang="en-IN" dirty="0"/>
              <a:t>() → inserts multiple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0230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7C3A2-90C6-E22B-BED7-1D25AA16D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457200"/>
            <a:ext cx="11161776" cy="62910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10. Reading Data from MongoDB</a:t>
            </a:r>
          </a:p>
          <a:p>
            <a:pPr marL="0" indent="0">
              <a:buNone/>
            </a:pPr>
            <a:r>
              <a:rPr lang="en-IN" dirty="0"/>
              <a:t>We use find() to retrieve documents.</a:t>
            </a:r>
          </a:p>
          <a:p>
            <a:pPr marL="0" indent="0">
              <a:buNone/>
            </a:pPr>
            <a:r>
              <a:rPr lang="en-IN" dirty="0"/>
              <a:t>for student in </a:t>
            </a:r>
            <a:r>
              <a:rPr lang="en-IN" dirty="0" err="1"/>
              <a:t>students.find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print(student)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 output: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{'_id': </a:t>
            </a:r>
            <a:r>
              <a:rPr lang="en-IN" dirty="0" err="1"/>
              <a:t>ObjectId</a:t>
            </a:r>
            <a:r>
              <a:rPr lang="en-IN" dirty="0"/>
              <a:t>('...'),</a:t>
            </a:r>
          </a:p>
          <a:p>
            <a:pPr marL="0" indent="0">
              <a:buNone/>
            </a:pPr>
            <a:r>
              <a:rPr lang="en-IN" dirty="0"/>
              <a:t> 'name': 'Rahul',</a:t>
            </a:r>
          </a:p>
          <a:p>
            <a:pPr marL="0" indent="0">
              <a:buNone/>
            </a:pPr>
            <a:r>
              <a:rPr lang="en-IN" dirty="0"/>
              <a:t> 'age': 21,</a:t>
            </a:r>
          </a:p>
          <a:p>
            <a:pPr marL="0" indent="0">
              <a:buNone/>
            </a:pPr>
            <a:r>
              <a:rPr lang="en-IN" dirty="0"/>
              <a:t> 'course': 'CSE'}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{'_id': </a:t>
            </a:r>
            <a:r>
              <a:rPr lang="en-IN" dirty="0" err="1"/>
              <a:t>ObjectId</a:t>
            </a:r>
            <a:r>
              <a:rPr lang="en-IN" dirty="0"/>
              <a:t>('...'),</a:t>
            </a:r>
          </a:p>
          <a:p>
            <a:pPr marL="0" indent="0">
              <a:buNone/>
            </a:pPr>
            <a:r>
              <a:rPr lang="en-IN" dirty="0"/>
              <a:t> 'name': 'Amit',</a:t>
            </a:r>
          </a:p>
          <a:p>
            <a:pPr marL="0" indent="0">
              <a:buNone/>
            </a:pPr>
            <a:r>
              <a:rPr lang="en-IN" dirty="0"/>
              <a:t> 'age': 22,</a:t>
            </a:r>
          </a:p>
          <a:p>
            <a:pPr marL="0" indent="0">
              <a:buNone/>
            </a:pPr>
            <a:r>
              <a:rPr lang="en-IN" dirty="0"/>
              <a:t> 'course': 'ECE'}</a:t>
            </a:r>
          </a:p>
          <a:p>
            <a:pPr marL="0" indent="0">
              <a:buNone/>
            </a:pPr>
            <a:r>
              <a:rPr lang="en-IN" dirty="0"/>
              <a:t>MongoDB automatically creates an _id field if we do not provide one.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612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0F83-6811-6F02-3D04-2684BF3F2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888"/>
            <a:ext cx="10515600" cy="5930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11. Finding One Document</a:t>
            </a:r>
          </a:p>
          <a:p>
            <a:pPr marL="0" indent="0">
              <a:buNone/>
            </a:pPr>
            <a:r>
              <a:rPr lang="en-IN" dirty="0"/>
              <a:t>We can use </a:t>
            </a:r>
            <a:r>
              <a:rPr lang="en-IN" dirty="0" err="1"/>
              <a:t>find_one</a:t>
            </a:r>
            <a:r>
              <a:rPr lang="en-IN" dirty="0"/>
              <a:t>().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 = </a:t>
            </a:r>
            <a:r>
              <a:rPr lang="en-IN" dirty="0" err="1"/>
              <a:t>students.find_one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"name": "Rahul"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finds the first document where:</a:t>
            </a:r>
          </a:p>
          <a:p>
            <a:pPr marL="0" indent="0">
              <a:buNone/>
            </a:pPr>
            <a:r>
              <a:rPr lang="en-IN" dirty="0"/>
              <a:t>name = Rahul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9906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9A5A-5B89-EA7E-538E-89D43361B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80"/>
            <a:ext cx="10515600" cy="576548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12. Finding Students from CSE</a:t>
            </a:r>
          </a:p>
          <a:p>
            <a:pPr marL="0" indent="0">
              <a:buNone/>
            </a:pPr>
            <a:r>
              <a:rPr lang="en-IN" dirty="0"/>
              <a:t>We can use a filter.</a:t>
            </a:r>
          </a:p>
          <a:p>
            <a:pPr marL="0" indent="0">
              <a:buNone/>
            </a:pPr>
            <a:r>
              <a:rPr lang="en-IN" dirty="0"/>
              <a:t>for student in </a:t>
            </a:r>
            <a:r>
              <a:rPr lang="en-IN" dirty="0" err="1"/>
              <a:t>students.find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}):</a:t>
            </a:r>
          </a:p>
          <a:p>
            <a:pPr marL="0" indent="0">
              <a:buNone/>
            </a:pPr>
            <a:r>
              <a:rPr lang="en-IN" dirty="0"/>
              <a:t>    print(student)</a:t>
            </a:r>
          </a:p>
          <a:p>
            <a:pPr marL="0" indent="0">
              <a:buNone/>
            </a:pPr>
            <a:r>
              <a:rPr lang="en-IN" dirty="0"/>
              <a:t>The query means:</a:t>
            </a:r>
          </a:p>
          <a:p>
            <a:pPr marL="0" indent="0">
              <a:buNone/>
            </a:pPr>
            <a:r>
              <a:rPr lang="en-IN" dirty="0"/>
              <a:t>Find all students whose course is CSE.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5009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FF2F5-9870-0FEF-E3B1-F6A9A0AC7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624"/>
            <a:ext cx="10515600" cy="575633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13. Updating a Document</a:t>
            </a:r>
          </a:p>
          <a:p>
            <a:pPr marL="0" indent="0">
              <a:buNone/>
            </a:pPr>
            <a:r>
              <a:rPr lang="en-IN" dirty="0"/>
              <a:t>We use </a:t>
            </a:r>
            <a:r>
              <a:rPr lang="en-IN" dirty="0" err="1"/>
              <a:t>update_one</a:t>
            </a:r>
            <a:r>
              <a:rPr lang="en-IN" dirty="0"/>
              <a:t>() to update one document.</a:t>
            </a:r>
          </a:p>
          <a:p>
            <a:pPr marL="0" indent="0">
              <a:buNone/>
            </a:pPr>
            <a:r>
              <a:rPr lang="en-IN" dirty="0"/>
              <a:t>Suppose Rahul's age changes from 21 to 22.</a:t>
            </a:r>
          </a:p>
          <a:p>
            <a:pPr marL="0" indent="0">
              <a:buNone/>
            </a:pPr>
            <a:r>
              <a:rPr lang="en-IN" dirty="0" err="1"/>
              <a:t>students.update_one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{"name": "Rahul"},</a:t>
            </a:r>
          </a:p>
          <a:p>
            <a:pPr marL="0" indent="0">
              <a:buNone/>
            </a:pPr>
            <a:r>
              <a:rPr lang="en-IN" dirty="0"/>
              <a:t>    {"$set": {"age": 22}}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3496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ADB5-C623-E50B-B75D-82DC45597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032"/>
            <a:ext cx="10515600" cy="592093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Before: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"name": "Rahul",</a:t>
            </a:r>
          </a:p>
          <a:p>
            <a:pPr marL="0" indent="0">
              <a:buNone/>
            </a:pPr>
            <a:r>
              <a:rPr lang="en-IN" dirty="0"/>
              <a:t>    "age": 21,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8792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668F-8131-D1FD-146A-968A16BA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1"/>
            <a:ext cx="10515600" cy="394106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After: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"name": "Rahul",</a:t>
            </a:r>
          </a:p>
          <a:p>
            <a:pPr marL="0" indent="0">
              <a:buNone/>
            </a:pPr>
            <a:r>
              <a:rPr lang="en-IN" dirty="0"/>
              <a:t>    "age": 22,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3675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DCDB-E10A-1392-860A-20B00B67C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064"/>
            <a:ext cx="10515600" cy="5664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14. Updating Multiple Documents</a:t>
            </a:r>
          </a:p>
          <a:p>
            <a:pPr marL="0" indent="0">
              <a:buNone/>
            </a:pPr>
            <a:r>
              <a:rPr lang="en-IN" dirty="0"/>
              <a:t>We can use </a:t>
            </a:r>
            <a:r>
              <a:rPr lang="en-IN" dirty="0" err="1"/>
              <a:t>update_many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/>
              <a:t>For example, suppose we want to change the course of all IT students:</a:t>
            </a:r>
          </a:p>
          <a:p>
            <a:pPr marL="0" indent="0">
              <a:buNone/>
            </a:pPr>
            <a:r>
              <a:rPr lang="en-IN" dirty="0" err="1"/>
              <a:t>students.update_many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{"course": "IT"},</a:t>
            </a:r>
          </a:p>
          <a:p>
            <a:pPr marL="0" indent="0">
              <a:buNone/>
            </a:pPr>
            <a:r>
              <a:rPr lang="en-IN" dirty="0"/>
              <a:t>    {"$set": {"department": "Information Technology"}}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This updates all matching documents.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811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0F2-55D1-9EE8-9D70-FD27E3D6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2D6A-9953-D2F1-D180-B18B9455E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15. Deleting a Document</a:t>
            </a:r>
          </a:p>
          <a:p>
            <a:pPr marL="0" indent="0">
              <a:buNone/>
            </a:pPr>
            <a:r>
              <a:rPr lang="en-IN" dirty="0"/>
              <a:t>We use </a:t>
            </a:r>
            <a:r>
              <a:rPr lang="en-IN" dirty="0" err="1"/>
              <a:t>delete_one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 err="1"/>
              <a:t>students.delete_one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"name": "Amit"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r>
              <a:rPr lang="en-IN" dirty="0"/>
              <a:t>This deletes the first matching document.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5822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6A54-A016-79B8-5ABD-D9906F82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EEBD1-D1C9-43FD-494B-375F5804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Delete multiple documents</a:t>
            </a:r>
          </a:p>
          <a:p>
            <a:pPr marL="0" indent="0">
              <a:buNone/>
            </a:pPr>
            <a:r>
              <a:rPr lang="en-IN" dirty="0" err="1"/>
              <a:t>students.delete_many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"course": "IT"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r>
              <a:rPr lang="en-IN" dirty="0"/>
              <a:t>This deletes all matching documents.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4441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1CEC-4673-48F2-5F7D-A7DFD13F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24"/>
            <a:ext cx="5900928" cy="5984939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16. Complete CRUD Example</a:t>
            </a:r>
          </a:p>
          <a:p>
            <a:r>
              <a:rPr lang="en-IN" dirty="0"/>
              <a:t>Here is a simple Python program that performs CRUD operations.</a:t>
            </a:r>
          </a:p>
          <a:p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endParaRPr lang="en-IN" dirty="0"/>
          </a:p>
          <a:p>
            <a:r>
              <a:rPr lang="en-IN" dirty="0"/>
              <a:t># 1. Connect to MongoDB</a:t>
            </a:r>
          </a:p>
          <a:p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endParaRPr lang="en-IN" dirty="0"/>
          </a:p>
          <a:p>
            <a:r>
              <a:rPr lang="en-IN" dirty="0"/>
              <a:t># 2. Select database</a:t>
            </a:r>
          </a:p>
          <a:p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endParaRPr lang="en-IN" dirty="0"/>
          </a:p>
          <a:p>
            <a:r>
              <a:rPr lang="en-IN" dirty="0"/>
              <a:t># 3. Select collection</a:t>
            </a:r>
          </a:p>
          <a:p>
            <a:r>
              <a:rPr lang="en-IN" dirty="0"/>
              <a:t>students = </a:t>
            </a:r>
            <a:r>
              <a:rPr lang="en-IN" dirty="0" err="1"/>
              <a:t>db</a:t>
            </a:r>
            <a:r>
              <a:rPr lang="en-IN" dirty="0"/>
              <a:t>["students"]</a:t>
            </a:r>
          </a:p>
          <a:p>
            <a:endParaRPr lang="en-IN" dirty="0"/>
          </a:p>
          <a:p>
            <a:r>
              <a:rPr lang="en-IN" dirty="0"/>
              <a:t># 4. Insert</a:t>
            </a:r>
          </a:p>
          <a:p>
            <a:r>
              <a:rPr lang="en-IN" dirty="0"/>
              <a:t>student = {</a:t>
            </a:r>
          </a:p>
          <a:p>
            <a:r>
              <a:rPr lang="en-IN" dirty="0"/>
              <a:t>    "name": "Rahul",</a:t>
            </a:r>
          </a:p>
          <a:p>
            <a:r>
              <a:rPr lang="en-IN" dirty="0"/>
              <a:t>    "age": 21,</a:t>
            </a:r>
          </a:p>
          <a:p>
            <a:r>
              <a:rPr lang="en-IN" dirty="0"/>
              <a:t>    "course": "CSE"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50D69-35A2-1332-D973-56052B3A62E9}"/>
              </a:ext>
            </a:extLst>
          </p:cNvPr>
          <p:cNvSpPr txBox="1"/>
          <p:nvPr/>
        </p:nvSpPr>
        <p:spPr>
          <a:xfrm>
            <a:off x="5909310" y="1349699"/>
            <a:ext cx="60944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 err="1"/>
              <a:t>students.insert_one</a:t>
            </a:r>
            <a:r>
              <a:rPr lang="en-IN" sz="1500" dirty="0"/>
              <a:t>(student)</a:t>
            </a:r>
          </a:p>
          <a:p>
            <a:r>
              <a:rPr lang="en-IN" sz="1500" dirty="0"/>
              <a:t>print("Student inserted")</a:t>
            </a:r>
          </a:p>
          <a:p>
            <a:endParaRPr lang="en-IN" sz="1500" dirty="0"/>
          </a:p>
          <a:p>
            <a:r>
              <a:rPr lang="en-IN" sz="1500" dirty="0"/>
              <a:t># 5. Read</a:t>
            </a:r>
          </a:p>
          <a:p>
            <a:r>
              <a:rPr lang="en-IN" sz="1500" dirty="0"/>
              <a:t>student = </a:t>
            </a:r>
            <a:r>
              <a:rPr lang="en-IN" sz="1500" dirty="0" err="1"/>
              <a:t>students.find_one</a:t>
            </a:r>
            <a:r>
              <a:rPr lang="en-IN" sz="1500" dirty="0"/>
              <a:t>({"name": "Rahul"})</a:t>
            </a:r>
          </a:p>
          <a:p>
            <a:r>
              <a:rPr lang="en-IN" sz="1500" dirty="0"/>
              <a:t>print("Student:", student)</a:t>
            </a:r>
          </a:p>
          <a:p>
            <a:endParaRPr lang="en-IN" sz="1500" dirty="0"/>
          </a:p>
          <a:p>
            <a:r>
              <a:rPr lang="en-IN" sz="1500" dirty="0"/>
              <a:t># 6. Update</a:t>
            </a:r>
          </a:p>
          <a:p>
            <a:r>
              <a:rPr lang="en-IN" sz="1500" dirty="0" err="1"/>
              <a:t>students.update_one</a:t>
            </a:r>
            <a:r>
              <a:rPr lang="en-IN" sz="1500" dirty="0"/>
              <a:t>(</a:t>
            </a:r>
          </a:p>
          <a:p>
            <a:r>
              <a:rPr lang="en-IN" sz="1500" dirty="0"/>
              <a:t>    {"name": "Rahul"},</a:t>
            </a:r>
          </a:p>
          <a:p>
            <a:r>
              <a:rPr lang="en-IN" sz="1500" dirty="0"/>
              <a:t>    {"$set": {"age": 22}}</a:t>
            </a:r>
          </a:p>
          <a:p>
            <a:r>
              <a:rPr lang="en-IN" sz="1500" dirty="0"/>
              <a:t>)</a:t>
            </a:r>
          </a:p>
          <a:p>
            <a:r>
              <a:rPr lang="en-IN" sz="1500" dirty="0"/>
              <a:t>print("Student updated")</a:t>
            </a:r>
          </a:p>
          <a:p>
            <a:endParaRPr lang="en-IN" sz="1500" dirty="0"/>
          </a:p>
          <a:p>
            <a:r>
              <a:rPr lang="en-IN" sz="1500" dirty="0"/>
              <a:t># 7. Delete</a:t>
            </a:r>
          </a:p>
          <a:p>
            <a:r>
              <a:rPr lang="en-IN" sz="1500" dirty="0" err="1"/>
              <a:t>students.delete_one</a:t>
            </a:r>
            <a:r>
              <a:rPr lang="en-IN" sz="1500" dirty="0"/>
              <a:t>({"name": "Rahul"})</a:t>
            </a:r>
          </a:p>
          <a:p>
            <a:r>
              <a:rPr lang="en-IN" sz="1500" dirty="0"/>
              <a:t>print("Student deleted")</a:t>
            </a:r>
          </a:p>
          <a:p>
            <a:endParaRPr lang="en-IN" sz="1500" dirty="0"/>
          </a:p>
          <a:p>
            <a:r>
              <a:rPr lang="en-IN" sz="1500" dirty="0"/>
              <a:t># 8. Close connection</a:t>
            </a:r>
          </a:p>
          <a:p>
            <a:r>
              <a:rPr lang="en-IN" sz="1500" dirty="0" err="1"/>
              <a:t>client.close</a:t>
            </a:r>
            <a:r>
              <a:rPr lang="en-IN" sz="15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747921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6BDD-564B-35E9-EF39-9741856A8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"/>
            <a:ext cx="10515600" cy="60580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17. Understanding the Connection String</a:t>
            </a:r>
          </a:p>
          <a:p>
            <a:pPr marL="0" indent="0">
              <a:buNone/>
            </a:pPr>
            <a:r>
              <a:rPr lang="en-IN" dirty="0"/>
              <a:t>The connection string is:</a:t>
            </a:r>
          </a:p>
          <a:p>
            <a:pPr marL="0" indent="0">
              <a:buNone/>
            </a:pPr>
            <a:r>
              <a:rPr lang="en-IN" dirty="0"/>
              <a:t>mongodb://localhost:27017/</a:t>
            </a:r>
          </a:p>
          <a:p>
            <a:pPr marL="0" indent="0">
              <a:buNone/>
            </a:pPr>
            <a:r>
              <a:rPr lang="en-IN" dirty="0"/>
              <a:t>Let's understand it: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69AC24-C9B1-7DDC-145F-CED1F9422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38648"/>
              </p:ext>
            </p:extLst>
          </p:nvPr>
        </p:nvGraphicFramePr>
        <p:xfrm>
          <a:off x="838200" y="2304288"/>
          <a:ext cx="1051560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55757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1702744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0195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mongodb://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MongoDB connection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8037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MongoDB is running on the same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00681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Default MongoDB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850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356915-B33F-0152-6FDB-CC00B3A84F3C}"/>
              </a:ext>
            </a:extLst>
          </p:cNvPr>
          <p:cNvSpPr txBox="1"/>
          <p:nvPr/>
        </p:nvSpPr>
        <p:spPr>
          <a:xfrm>
            <a:off x="384048" y="5351240"/>
            <a:ext cx="8757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So:</a:t>
            </a:r>
          </a:p>
          <a:p>
            <a:pPr rtl="0">
              <a:buNone/>
            </a:pPr>
            <a:r>
              <a:rPr lang="en-IN" dirty="0" err="1">
                <a:latin typeface="+mn-lt"/>
              </a:rPr>
              <a:t>MongoClient</a:t>
            </a:r>
            <a:r>
              <a:rPr lang="en-IN" dirty="0">
                <a:latin typeface="+mn-lt"/>
              </a:rPr>
              <a:t>("</a:t>
            </a:r>
            <a:r>
              <a:rPr lang="en-IN" dirty="0" err="1">
                <a:latin typeface="+mn-lt"/>
              </a:rPr>
              <a:t>mongodb</a:t>
            </a:r>
            <a:r>
              <a:rPr lang="en-IN" dirty="0">
                <a:latin typeface="+mn-lt"/>
              </a:rPr>
              <a:t>://localhost:27017/")</a:t>
            </a:r>
          </a:p>
          <a:p>
            <a:pPr>
              <a:buNone/>
            </a:pPr>
            <a:r>
              <a:rPr lang="en-IN" dirty="0"/>
              <a:t>means:</a:t>
            </a:r>
          </a:p>
          <a:p>
            <a:pPr>
              <a:buNone/>
            </a:pPr>
            <a:r>
              <a:rPr lang="en-IN" dirty="0"/>
              <a:t>Connect Python to the MongoDB server running on this computer at port 27017.</a:t>
            </a:r>
          </a:p>
        </p:txBody>
      </p:sp>
    </p:spTree>
    <p:extLst>
      <p:ext uri="{BB962C8B-B14F-4D97-AF65-F5344CB8AC3E}">
        <p14:creationId xmlns:p14="http://schemas.microsoft.com/office/powerpoint/2010/main" val="26631896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2FA7E-1B2D-B455-5E1E-E7205CD2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18. Connecting to MongoDB Atlas</a:t>
            </a:r>
          </a:p>
          <a:p>
            <a:pPr marL="0" indent="0">
              <a:buNone/>
            </a:pPr>
            <a:r>
              <a:rPr lang="en-IN" dirty="0"/>
              <a:t>MongoDB can also run in the cloud using </a:t>
            </a:r>
            <a:r>
              <a:rPr lang="en-IN" b="1" dirty="0"/>
              <a:t>MongoDB Atlas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In that case, we use a connection string provided by Atlas.</a:t>
            </a:r>
          </a:p>
          <a:p>
            <a:pPr marL="0" indent="0">
              <a:buNone/>
            </a:pPr>
            <a:r>
              <a:rPr lang="en-IN" dirty="0"/>
              <a:t>It looks similar to: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mongodb+srv</a:t>
            </a:r>
            <a:r>
              <a:rPr lang="en-IN" dirty="0"/>
              <a:t>://</a:t>
            </a:r>
            <a:r>
              <a:rPr lang="en-IN" dirty="0" err="1"/>
              <a:t>username:password@cluster.mongodb.net</a:t>
            </a:r>
            <a:r>
              <a:rPr lang="en-IN" dirty="0"/>
              <a:t>/"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</p:txBody>
      </p:sp>
    </p:spTree>
    <p:extLst>
      <p:ext uri="{BB962C8B-B14F-4D97-AF65-F5344CB8AC3E}">
        <p14:creationId xmlns:p14="http://schemas.microsoft.com/office/powerpoint/2010/main" val="6709810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E9E0-A736-39FB-3DA5-1148C6184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312"/>
            <a:ext cx="10515600" cy="5966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Important</a:t>
            </a:r>
          </a:p>
          <a:p>
            <a:pPr marL="0" indent="0">
              <a:buNone/>
            </a:pPr>
            <a:r>
              <a:rPr lang="en-IN" dirty="0"/>
              <a:t>Do </a:t>
            </a:r>
            <a:r>
              <a:rPr lang="en-IN" b="1" dirty="0"/>
              <a:t>not</a:t>
            </a:r>
            <a:r>
              <a:rPr lang="en-IN" dirty="0"/>
              <a:t> put your real database password directly in source code in a real application.</a:t>
            </a:r>
          </a:p>
          <a:p>
            <a:pPr marL="0" indent="0">
              <a:buNone/>
            </a:pPr>
            <a:r>
              <a:rPr lang="en-IN" dirty="0"/>
              <a:t>Instead, use environment variables or a secure secrets manager.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uri</a:t>
            </a:r>
            <a:r>
              <a:rPr lang="en-IN" dirty="0"/>
              <a:t> = </a:t>
            </a:r>
            <a:r>
              <a:rPr lang="en-IN" dirty="0" err="1"/>
              <a:t>os.getenv</a:t>
            </a:r>
            <a:r>
              <a:rPr lang="en-IN" dirty="0"/>
              <a:t>("MONGODB_URI")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330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A25AB-294A-2EE5-3D9E-84008815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24"/>
            <a:ext cx="10515600" cy="598493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19. Connection with a Timeout</a:t>
            </a:r>
          </a:p>
          <a:p>
            <a:pPr marL="0" indent="0">
              <a:buNone/>
            </a:pPr>
            <a:r>
              <a:rPr lang="en-IN" dirty="0"/>
              <a:t>It is useful to set a timeout so that Python does not wait indefinitely when MongoDB is unavailable.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pymongo</a:t>
            </a:r>
            <a:r>
              <a:rPr lang="en-IN" dirty="0"/>
              <a:t> import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mongodb</a:t>
            </a:r>
            <a:r>
              <a:rPr lang="en-IN" dirty="0"/>
              <a:t>://localhost:27017/",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serverSelectionTimeoutMS</a:t>
            </a:r>
            <a:r>
              <a:rPr lang="en-IN" dirty="0"/>
              <a:t>=5000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try: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client.admin.command</a:t>
            </a:r>
            <a:r>
              <a:rPr lang="en-IN" dirty="0"/>
              <a:t>("ping")</a:t>
            </a:r>
          </a:p>
          <a:p>
            <a:pPr marL="0" indent="0">
              <a:buNone/>
            </a:pPr>
            <a:r>
              <a:rPr lang="en-IN" dirty="0"/>
              <a:t>    print("Connected to MongoDB")</a:t>
            </a:r>
          </a:p>
          <a:p>
            <a:pPr marL="0" indent="0">
              <a:buNone/>
            </a:pPr>
            <a:r>
              <a:rPr lang="en-IN" dirty="0"/>
              <a:t>except Exception as e:</a:t>
            </a:r>
          </a:p>
          <a:p>
            <a:pPr marL="0" indent="0">
              <a:buNone/>
            </a:pPr>
            <a:r>
              <a:rPr lang="en-IN" dirty="0"/>
              <a:t>    print("Connection failed:", 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5000 milliseconds = 5 seconds</a:t>
            </a:r>
          </a:p>
          <a:p>
            <a:pPr marL="0" indent="0">
              <a:buNone/>
            </a:pPr>
            <a:r>
              <a:rPr lang="en-IN" dirty="0"/>
              <a:t>The application waits up to about 5 seconds for server selection before reporting an error.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6686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69852-FC26-CA8C-3ECA-3B150B875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20. Closing the Connection</a:t>
            </a:r>
          </a:p>
          <a:p>
            <a:pPr marL="0" indent="0">
              <a:buNone/>
            </a:pPr>
            <a:r>
              <a:rPr lang="en-IN" dirty="0"/>
              <a:t>When the application finishes working with MongoDB, we can close the client:</a:t>
            </a:r>
          </a:p>
          <a:p>
            <a:pPr marL="0" indent="0">
              <a:buNone/>
            </a:pPr>
            <a:r>
              <a:rPr lang="en-IN" dirty="0" err="1"/>
              <a:t>client.close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/>
              <a:t>close() closes the MongoDB connection.</a:t>
            </a:r>
          </a:p>
          <a:p>
            <a:pPr marL="0" indent="0">
              <a:buNone/>
            </a:pPr>
            <a:r>
              <a:rPr lang="en-IN" dirty="0"/>
              <a:t>In many applications, the </a:t>
            </a:r>
            <a:r>
              <a:rPr lang="en-IN" dirty="0" err="1"/>
              <a:t>MongoClient</a:t>
            </a:r>
            <a:r>
              <a:rPr lang="en-IN" dirty="0"/>
              <a:t> is created once and reused rather than opening a new client for every query.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5028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1CEC-CDB8-74D8-05C0-E26EE097B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032"/>
            <a:ext cx="10515600" cy="592093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21. Real-Life Example: Student Management System</a:t>
            </a:r>
          </a:p>
          <a:p>
            <a:pPr marL="0" indent="0">
              <a:buNone/>
            </a:pPr>
            <a:r>
              <a:rPr lang="en-IN" dirty="0"/>
              <a:t>Imagine a college application.</a:t>
            </a:r>
          </a:p>
          <a:p>
            <a:pPr marL="0" indent="0">
              <a:buNone/>
            </a:pPr>
            <a:r>
              <a:rPr lang="en-IN" dirty="0"/>
              <a:t>The user enters:</a:t>
            </a:r>
          </a:p>
          <a:p>
            <a:pPr marL="0" indent="0">
              <a:buNone/>
            </a:pPr>
            <a:r>
              <a:rPr lang="en-IN" dirty="0"/>
              <a:t>Name: Rahul</a:t>
            </a:r>
          </a:p>
          <a:p>
            <a:pPr marL="0" indent="0">
              <a:buNone/>
            </a:pPr>
            <a:r>
              <a:rPr lang="en-IN" dirty="0"/>
              <a:t>Age: 21</a:t>
            </a:r>
          </a:p>
          <a:p>
            <a:pPr marL="0" indent="0">
              <a:buNone/>
            </a:pPr>
            <a:r>
              <a:rPr lang="en-IN" dirty="0"/>
              <a:t>Course: CSE</a:t>
            </a:r>
          </a:p>
          <a:p>
            <a:pPr marL="0" indent="0">
              <a:buNone/>
            </a:pPr>
            <a:r>
              <a:rPr lang="en-IN" dirty="0"/>
              <a:t>The Python application receives the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9683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36F97-433A-B09D-D082-83B9FDD6C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"/>
            <a:ext cx="10515600" cy="60398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Then </a:t>
            </a:r>
            <a:r>
              <a:rPr lang="en-IN" dirty="0" err="1"/>
              <a:t>PyMongo</a:t>
            </a:r>
            <a:r>
              <a:rPr lang="en-IN" dirty="0"/>
              <a:t> sends it to MongoDB.</a:t>
            </a:r>
          </a:p>
          <a:p>
            <a:pPr marL="0" indent="0">
              <a:buNone/>
            </a:pPr>
            <a:r>
              <a:rPr lang="en-IN" dirty="0"/>
              <a:t>Student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Python Application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 err="1"/>
              <a:t>PyMongo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students collection</a:t>
            </a:r>
          </a:p>
          <a:p>
            <a:pPr marL="0" indent="0">
              <a:buNone/>
            </a:pPr>
            <a:r>
              <a:rPr lang="en-IN" dirty="0"/>
              <a:t>MongoDB stores: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"name": "Rahul",</a:t>
            </a:r>
          </a:p>
          <a:p>
            <a:pPr marL="0" indent="0">
              <a:buNone/>
            </a:pPr>
            <a:r>
              <a:rPr lang="en-IN" dirty="0"/>
              <a:t>    "age": 21,</a:t>
            </a:r>
          </a:p>
          <a:p>
            <a:pPr marL="0" indent="0">
              <a:buNone/>
            </a:pPr>
            <a:r>
              <a:rPr lang="en-IN" dirty="0"/>
              <a:t>    "course":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8458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8E7E-B9B2-3652-6A10-F81B4216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336"/>
            <a:ext cx="10515600" cy="577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When the application wants to display student information: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 err="1"/>
              <a:t>PyMongo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Python Application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 Screen</a:t>
            </a:r>
          </a:p>
        </p:txBody>
      </p:sp>
    </p:spTree>
    <p:extLst>
      <p:ext uri="{BB962C8B-B14F-4D97-AF65-F5344CB8AC3E}">
        <p14:creationId xmlns:p14="http://schemas.microsoft.com/office/powerpoint/2010/main" val="1888265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CA5BE-B2B7-3581-C67A-C53044BC5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744"/>
            <a:ext cx="10515600" cy="593921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22. </a:t>
            </a:r>
            <a:r>
              <a:rPr lang="en-IN" dirty="0" err="1"/>
              <a:t>PyMongo</a:t>
            </a:r>
            <a:r>
              <a:rPr lang="en-IN" dirty="0"/>
              <a:t> and CRUD Operations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48EB2-AEE9-5D8F-BB4B-621733DFE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20774"/>
              </p:ext>
            </p:extLst>
          </p:nvPr>
        </p:nvGraphicFramePr>
        <p:xfrm>
          <a:off x="838200" y="1207008"/>
          <a:ext cx="10515600" cy="4440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817176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29763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8113983"/>
                    </a:ext>
                  </a:extLst>
                </a:gridCol>
              </a:tblGrid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solidFill>
                            <a:srgbClr val="0070C0"/>
                          </a:solidFill>
                        </a:rPr>
                        <a:t>PyMongo</a:t>
                      </a: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233639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836279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insert_many()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148491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055830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112723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159192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update_many()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287463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701093"/>
                  </a:ext>
                </a:extLst>
              </a:tr>
              <a:tr h="49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delete_many()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225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4280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B7B1-B305-DF5F-BA29-EF21EA880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Easy way to remember</a:t>
            </a:r>
          </a:p>
          <a:p>
            <a:pPr marL="0" indent="0">
              <a:buNone/>
            </a:pPr>
            <a:r>
              <a:rPr lang="en-IN" dirty="0"/>
              <a:t>CREATE → insert</a:t>
            </a:r>
          </a:p>
          <a:p>
            <a:pPr marL="0" indent="0">
              <a:buNone/>
            </a:pPr>
            <a:r>
              <a:rPr lang="en-IN" dirty="0"/>
              <a:t>READ   → find</a:t>
            </a:r>
          </a:p>
          <a:p>
            <a:pPr marL="0" indent="0">
              <a:buNone/>
            </a:pPr>
            <a:r>
              <a:rPr lang="en-IN" dirty="0"/>
              <a:t>UPDATE → update</a:t>
            </a:r>
          </a:p>
          <a:p>
            <a:pPr marL="0" indent="0">
              <a:buNone/>
            </a:pPr>
            <a:r>
              <a:rPr lang="en-IN" dirty="0"/>
              <a:t>DELETE → delete</a:t>
            </a:r>
          </a:p>
        </p:txBody>
      </p:sp>
    </p:spTree>
    <p:extLst>
      <p:ext uri="{BB962C8B-B14F-4D97-AF65-F5344CB8AC3E}">
        <p14:creationId xmlns:p14="http://schemas.microsoft.com/office/powerpoint/2010/main" val="5801357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6AFA-E961-5D8A-C437-012415EA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936"/>
            <a:ext cx="10515600" cy="554602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23. Important </a:t>
            </a:r>
            <a:r>
              <a:rPr lang="en-IN" b="1" dirty="0" err="1"/>
              <a:t>PyMongo</a:t>
            </a:r>
            <a:r>
              <a:rPr lang="en-IN" b="1" dirty="0"/>
              <a:t> Objects</a:t>
            </a:r>
          </a:p>
          <a:p>
            <a:pPr marL="0" indent="0">
              <a:buNone/>
            </a:pPr>
            <a:r>
              <a:rPr lang="en-IN" dirty="0"/>
              <a:t>There are three important objects:</a:t>
            </a:r>
          </a:p>
          <a:p>
            <a:pPr marL="0" indent="0">
              <a:buNone/>
            </a:pP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3289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37E7-332A-590C-AE75-8455C5B7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"/>
            <a:ext cx="10515600" cy="60306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23. Important </a:t>
            </a:r>
            <a:r>
              <a:rPr lang="en-IN" b="1" dirty="0" err="1"/>
              <a:t>PyMongo</a:t>
            </a:r>
            <a:r>
              <a:rPr lang="en-IN" b="1" dirty="0"/>
              <a:t> Objects</a:t>
            </a:r>
          </a:p>
          <a:p>
            <a:pPr marL="0" indent="0">
              <a:buNone/>
            </a:pPr>
            <a:r>
              <a:rPr lang="en-IN" dirty="0"/>
              <a:t>There are three important objects:</a:t>
            </a:r>
          </a:p>
          <a:p>
            <a:pPr marL="0" indent="0">
              <a:buNone/>
            </a:pP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3333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B2B7-61DC-3C51-8720-C9D2C25F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944"/>
            <a:ext cx="10515600" cy="5482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 </a:t>
            </a:r>
            <a:r>
              <a:rPr lang="en-IN" b="1" dirty="0" err="1"/>
              <a:t>MongoClient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Connects Python to MongoDB.</a:t>
            </a:r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MongoClient</a:t>
            </a:r>
            <a:r>
              <a:rPr lang="en-IN" dirty="0"/>
              <a:t>("</a:t>
            </a:r>
            <a:r>
              <a:rPr lang="en-IN" dirty="0" err="1"/>
              <a:t>mongodb</a:t>
            </a:r>
            <a:r>
              <a:rPr lang="en-IN" dirty="0"/>
              <a:t>://localhost:27017/")</a:t>
            </a:r>
          </a:p>
          <a:p>
            <a:pPr marL="0" indent="0">
              <a:buNone/>
            </a:pPr>
            <a:r>
              <a:rPr lang="en-IN" b="1" dirty="0"/>
              <a:t>2. Database</a:t>
            </a:r>
          </a:p>
          <a:p>
            <a:pPr marL="0" indent="0">
              <a:buNone/>
            </a:pPr>
            <a:r>
              <a:rPr lang="en-IN" dirty="0"/>
              <a:t>Selects a database.</a:t>
            </a:r>
          </a:p>
          <a:p>
            <a:pPr marL="0" indent="0">
              <a:buNone/>
            </a:pPr>
            <a:r>
              <a:rPr lang="en-IN" dirty="0" err="1"/>
              <a:t>db</a:t>
            </a:r>
            <a:r>
              <a:rPr lang="en-IN" dirty="0"/>
              <a:t> = client["college"]</a:t>
            </a:r>
          </a:p>
          <a:p>
            <a:pPr marL="0" indent="0">
              <a:buNone/>
            </a:pPr>
            <a:r>
              <a:rPr lang="en-IN" b="1" dirty="0"/>
              <a:t>3. Collection</a:t>
            </a:r>
          </a:p>
          <a:p>
            <a:pPr marL="0" indent="0">
              <a:buNone/>
            </a:pPr>
            <a:r>
              <a:rPr lang="en-IN" dirty="0"/>
              <a:t>Selects a collection.</a:t>
            </a:r>
          </a:p>
          <a:p>
            <a:pPr marL="0" indent="0">
              <a:buNone/>
            </a:pPr>
            <a:r>
              <a:rPr lang="en-IN" dirty="0"/>
              <a:t>students = </a:t>
            </a:r>
            <a:r>
              <a:rPr lang="en-IN" dirty="0" err="1"/>
              <a:t>db</a:t>
            </a:r>
            <a:r>
              <a:rPr lang="en-IN" dirty="0"/>
              <a:t>["students"]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7983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42CB4-EABB-09C0-5489-061D0190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792"/>
            <a:ext cx="10515600" cy="555517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Then we perform operations:</a:t>
            </a:r>
          </a:p>
          <a:p>
            <a:pPr marL="0" indent="0">
              <a:buNone/>
            </a:pPr>
            <a:r>
              <a:rPr lang="en-IN" dirty="0" err="1"/>
              <a:t>students.insert_one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students.find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students.update_one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students.delete_one</a:t>
            </a:r>
            <a:r>
              <a:rPr lang="en-IN" dirty="0"/>
              <a:t>(...)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8600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28BE6-155F-D0BE-2F31-7CEE3AAE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58843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24. Simple Diagram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Python Application</a:t>
            </a:r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    </a:t>
            </a:r>
            <a:r>
              <a:rPr lang="en-IN" dirty="0" err="1"/>
              <a:t>PyMongo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 </a:t>
            </a: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    MongoDB</a:t>
            </a:r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College Database</a:t>
            </a:r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Students Collection</a:t>
            </a:r>
          </a:p>
          <a:p>
            <a:pPr marL="0" indent="0">
              <a:buNone/>
            </a:pPr>
            <a:r>
              <a:rPr lang="en-IN" dirty="0"/>
              <a:t>                      |</a:t>
            </a:r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pPr marL="0" indent="0">
              <a:buNone/>
            </a:pPr>
            <a:r>
              <a:rPr lang="en-IN" dirty="0"/>
              <a:t>                  Documents</a:t>
            </a:r>
          </a:p>
        </p:txBody>
      </p:sp>
    </p:spTree>
    <p:extLst>
      <p:ext uri="{BB962C8B-B14F-4D97-AF65-F5344CB8AC3E}">
        <p14:creationId xmlns:p14="http://schemas.microsoft.com/office/powerpoint/2010/main" val="13282714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E48A-82B0-5210-7B9B-A59B74B16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64"/>
            <a:ext cx="10515600" cy="5893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25. Key Points for Examination</a:t>
            </a:r>
          </a:p>
          <a:p>
            <a:pPr lvl="0"/>
            <a:r>
              <a:rPr lang="en-IN" b="1" dirty="0" err="1"/>
              <a:t>PyMongo</a:t>
            </a:r>
            <a:r>
              <a:rPr lang="en-IN" dirty="0"/>
              <a:t> is a Python driver for MongoDB. </a:t>
            </a:r>
          </a:p>
          <a:p>
            <a:pPr lvl="0"/>
            <a:r>
              <a:rPr lang="en-IN" dirty="0"/>
              <a:t>It allows Python applications to communicate with MongoDB. </a:t>
            </a:r>
          </a:p>
          <a:p>
            <a:pPr lvl="0"/>
            <a:r>
              <a:rPr lang="en-IN" dirty="0" err="1"/>
              <a:t>MongoClient</a:t>
            </a:r>
            <a:r>
              <a:rPr lang="en-IN" dirty="0"/>
              <a:t> is used to establish the connection. </a:t>
            </a:r>
          </a:p>
          <a:p>
            <a:pPr lvl="0"/>
            <a:r>
              <a:rPr lang="en-IN" dirty="0"/>
              <a:t>The default MongoDB port is </a:t>
            </a:r>
            <a:r>
              <a:rPr lang="en-IN" b="1" dirty="0"/>
              <a:t>27017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client["database"] selects a database. </a:t>
            </a:r>
          </a:p>
          <a:p>
            <a:pPr lvl="0"/>
            <a:r>
              <a:rPr lang="en-IN" dirty="0" err="1"/>
              <a:t>db</a:t>
            </a:r>
            <a:r>
              <a:rPr lang="en-IN" dirty="0"/>
              <a:t>["collection"] selects a collection. </a:t>
            </a:r>
          </a:p>
          <a:p>
            <a:pPr lvl="0"/>
            <a:r>
              <a:rPr lang="en-IN" dirty="0" err="1"/>
              <a:t>insert_one</a:t>
            </a:r>
            <a:r>
              <a:rPr lang="en-IN" dirty="0"/>
              <a:t>() inserts one document. </a:t>
            </a:r>
          </a:p>
          <a:p>
            <a:pPr lvl="0"/>
            <a:r>
              <a:rPr lang="en-IN" dirty="0"/>
              <a:t>find() retrieves documents. </a:t>
            </a:r>
          </a:p>
          <a:p>
            <a:pPr lvl="0"/>
            <a:r>
              <a:rPr lang="en-IN" dirty="0" err="1"/>
              <a:t>update_one</a:t>
            </a:r>
            <a:r>
              <a:rPr lang="en-IN" dirty="0"/>
              <a:t>() updates a document. </a:t>
            </a:r>
          </a:p>
          <a:p>
            <a:pPr lvl="0"/>
            <a:r>
              <a:rPr lang="en-IN" dirty="0" err="1"/>
              <a:t>delete_one</a:t>
            </a:r>
            <a:r>
              <a:rPr lang="en-IN" dirty="0"/>
              <a:t>() deletes a document. </a:t>
            </a:r>
          </a:p>
          <a:p>
            <a:pPr lvl="0"/>
            <a:r>
              <a:rPr lang="en-IN" dirty="0" err="1"/>
              <a:t>client.close</a:t>
            </a:r>
            <a:r>
              <a:rPr lang="en-IN" dirty="0"/>
              <a:t>() closes the connection. </a:t>
            </a:r>
          </a:p>
          <a:p>
            <a:pPr lvl="0"/>
            <a:r>
              <a:rPr lang="en-IN" dirty="0" err="1"/>
              <a:t>PyMongo</a:t>
            </a:r>
            <a:r>
              <a:rPr lang="en-IN" dirty="0"/>
              <a:t> can connect to both </a:t>
            </a:r>
            <a:r>
              <a:rPr lang="en-IN" b="1" dirty="0"/>
              <a:t>local MongoDB</a:t>
            </a:r>
            <a:r>
              <a:rPr lang="en-IN" dirty="0"/>
              <a:t> and </a:t>
            </a:r>
            <a:r>
              <a:rPr lang="en-IN" b="1" dirty="0"/>
              <a:t>MongoDB Atlas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6624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B1B0F-F415-67FB-E47D-F33654C0F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PyMongo</a:t>
            </a:r>
            <a:r>
              <a:rPr lang="en-IN" dirty="0"/>
              <a:t> is a Python driver that allows a Python application to connect to MongoDB and perform database operations such as insert, read, update, and delete.</a:t>
            </a:r>
          </a:p>
        </p:txBody>
      </p:sp>
    </p:spTree>
    <p:extLst>
      <p:ext uri="{BB962C8B-B14F-4D97-AF65-F5344CB8AC3E}">
        <p14:creationId xmlns:p14="http://schemas.microsoft.com/office/powerpoint/2010/main" val="14609529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A920-0859-1B2B-8243-898E1E64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97B1-3EB6-247D-ABB8-074E18B3A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4777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4B22-B035-34BD-56AF-48CE1421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824"/>
            <a:ext cx="10515600" cy="5299139"/>
          </a:xfrm>
        </p:spPr>
        <p:txBody>
          <a:bodyPr/>
          <a:lstStyle/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            Application connectivity using Node.js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0277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98CB-8ED7-5C13-5560-9F7E477D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Connectivity Using Node.js and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164F-9B81-3825-6BB6-1B337EEB1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1. What is Node.js?</a:t>
            </a:r>
          </a:p>
          <a:p>
            <a:pPr marL="0" indent="0">
              <a:buNone/>
            </a:pPr>
            <a:r>
              <a:rPr lang="en-IN" b="1" dirty="0"/>
              <a:t>Node.js</a:t>
            </a:r>
            <a:r>
              <a:rPr lang="en-IN" dirty="0"/>
              <a:t> is a JavaScript runtime that allows us to run JavaScript outside a web browser.</a:t>
            </a:r>
          </a:p>
          <a:p>
            <a:pPr marL="0" indent="0">
              <a:buNone/>
            </a:pPr>
            <a:r>
              <a:rPr lang="en-IN" dirty="0"/>
              <a:t>It is commonly used to build:</a:t>
            </a:r>
          </a:p>
          <a:p>
            <a:pPr lvl="0"/>
            <a:r>
              <a:rPr lang="en-IN" dirty="0"/>
              <a:t>Web applications </a:t>
            </a:r>
          </a:p>
          <a:p>
            <a:pPr lvl="0"/>
            <a:r>
              <a:rPr lang="en-IN" dirty="0"/>
              <a:t>REST APIs </a:t>
            </a:r>
          </a:p>
          <a:p>
            <a:pPr lvl="0"/>
            <a:r>
              <a:rPr lang="en-IN" dirty="0"/>
              <a:t>Backend servers </a:t>
            </a:r>
          </a:p>
          <a:p>
            <a:pPr lvl="0"/>
            <a:r>
              <a:rPr lang="en-IN" dirty="0"/>
              <a:t>Real-time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2306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9E18-7B34-5E5D-266A-AC836458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2177-62AA-6D56-7A16-645A361D5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To connect a Node.js application with MongoDB, we can use the </a:t>
            </a:r>
            <a:r>
              <a:rPr lang="en-IN" b="1" dirty="0"/>
              <a:t>MongoDB Node.js Driver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b="1" dirty="0"/>
              <a:t>The MongoDB Node.js Driver allows a Node.js application to communicate with MongoDB.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5370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A3DB-F8FA-64D4-45D8-38F6AAA2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A6B5-3F7F-FDD7-216D-7F2171F74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2. Why Do We Need Node.js Connectivity with MongoDB?</a:t>
            </a:r>
          </a:p>
          <a:p>
            <a:pPr marL="0" indent="0">
              <a:buNone/>
            </a:pPr>
            <a:r>
              <a:rPr lang="en-IN" dirty="0"/>
              <a:t>Suppose we build a </a:t>
            </a:r>
            <a:r>
              <a:rPr lang="en-IN" b="1" dirty="0"/>
              <a:t>Student Management System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The user enters: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Name: Rahul</a:t>
            </a:r>
          </a:p>
          <a:p>
            <a:pPr marL="0" indent="0">
              <a:buNone/>
            </a:pPr>
            <a:r>
              <a:rPr lang="en-IN" dirty="0"/>
              <a:t>Age: 21</a:t>
            </a:r>
          </a:p>
          <a:p>
            <a:pPr marL="0" indent="0">
              <a:buNone/>
            </a:pPr>
            <a:r>
              <a:rPr lang="en-IN" dirty="0"/>
              <a:t>Course: CSE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6463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7B404-9B5D-5C43-C7BB-01D352904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48"/>
            <a:ext cx="10515600" cy="57929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The Node.js application receives this information.</a:t>
            </a:r>
          </a:p>
          <a:p>
            <a:pPr marL="0" indent="0">
              <a:buNone/>
            </a:pPr>
            <a:r>
              <a:rPr lang="en-IN" dirty="0"/>
              <a:t>It then sends the information to MongoDB.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User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Node.js Application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MongoDB Node.js Driver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Collection</a:t>
            </a:r>
          </a:p>
          <a:p>
            <a:pPr marL="0" indent="0">
              <a:buNone/>
            </a:pPr>
            <a:r>
              <a:rPr lang="en-IN" dirty="0"/>
              <a:t>MongoDB stores the student's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130127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B437-1A82-53F5-E023-2091592E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EE62-E36C-0F8C-DC29-651B5A40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3. What is the MongoDB Node.js Driver?</a:t>
            </a: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MongoDB Node.js Driver</a:t>
            </a:r>
            <a:r>
              <a:rPr lang="en-IN" dirty="0"/>
              <a:t> is a package that provides functions for connecting Node.js applications to MongoDB.</a:t>
            </a:r>
          </a:p>
          <a:p>
            <a:pPr marL="0" indent="0">
              <a:buNone/>
            </a:pPr>
            <a:r>
              <a:rPr lang="en-IN" dirty="0"/>
              <a:t>We normally install the package using: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npm</a:t>
            </a:r>
            <a:r>
              <a:rPr lang="en-IN" dirty="0"/>
              <a:t> install </a:t>
            </a:r>
            <a:r>
              <a:rPr lang="en-IN" dirty="0" err="1"/>
              <a:t>mongodb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After installation, we can use it in our Node.js program.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4795706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15763-519F-EBF7-BDBF-2C2EB2350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368"/>
            <a:ext cx="10515600" cy="5518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lvl="0" indent="0">
              <a:buNone/>
            </a:pPr>
            <a:r>
              <a:rPr lang="en-IN" dirty="0" err="1"/>
              <a:t>mongodb</a:t>
            </a:r>
            <a:r>
              <a:rPr lang="en-IN" dirty="0"/>
              <a:t> is the package. </a:t>
            </a:r>
          </a:p>
          <a:p>
            <a:pPr marL="0" lvl="0" indent="0">
              <a:buNone/>
            </a:pPr>
            <a:r>
              <a:rPr lang="en-IN" dirty="0" err="1"/>
              <a:t>MongoClient</a:t>
            </a:r>
            <a:r>
              <a:rPr lang="en-IN" dirty="0"/>
              <a:t> is used to connect to MongoDB.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4. Basic Connection</a:t>
            </a:r>
          </a:p>
          <a:p>
            <a:pPr marL="0" indent="0">
              <a:buNone/>
            </a:pPr>
            <a:r>
              <a:rPr lang="en-IN" dirty="0"/>
              <a:t>Suppose MongoDB is running on our local computer.</a:t>
            </a:r>
          </a:p>
          <a:p>
            <a:pPr marL="0" indent="0">
              <a:buNone/>
            </a:pPr>
            <a:r>
              <a:rPr lang="en-IN" dirty="0"/>
              <a:t>The connection URL is:</a:t>
            </a:r>
          </a:p>
          <a:p>
            <a:pPr marL="0" indent="0">
              <a:buNone/>
            </a:pPr>
            <a:r>
              <a:rPr lang="en-IN" dirty="0"/>
              <a:t>mongodb://localhost:27017</a:t>
            </a:r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77262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7BE0-2EB7-8D65-58FD-F0BC5AF6C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A simple Node.js program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async function </a:t>
            </a:r>
            <a:r>
              <a:rPr lang="en-IN" dirty="0" err="1"/>
              <a:t>connectDB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console.log("Connected to MongoDB");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connectDB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84046591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6777-E704-BB15-925F-F0A99FB6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Simple explanation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This imports </a:t>
            </a:r>
            <a:r>
              <a:rPr lang="en-IN" dirty="0" err="1"/>
              <a:t>MongoClient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/>
              <a:t>This specifies where MongoDB is running.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This creates a MongoDB client.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This connects Node.js to MongoDB.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1785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37CD-7E25-D9DF-2C59-1D369050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2258-C205-C078-31B7-96DCB0F79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5. Understanding the Connection URL</a:t>
            </a:r>
          </a:p>
          <a:p>
            <a:pPr marL="0" indent="0">
              <a:buNone/>
            </a:pPr>
            <a:r>
              <a:rPr lang="en-IN" dirty="0"/>
              <a:t>Consider:</a:t>
            </a:r>
          </a:p>
          <a:p>
            <a:pPr marL="0" indent="0">
              <a:buNone/>
            </a:pPr>
            <a:r>
              <a:rPr lang="en-IN" dirty="0"/>
              <a:t>mongodb://localhost:27017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897059-0BBF-647B-86D6-E19381C0D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778657"/>
              </p:ext>
            </p:extLst>
          </p:nvPr>
        </p:nvGraphicFramePr>
        <p:xfrm>
          <a:off x="838200" y="4211606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788006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19648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325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mongodb://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74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is running on the same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26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Default MongoDB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62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4747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AB7C-120F-CF25-6405-51C2B1C7F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So:</a:t>
            </a:r>
          </a:p>
          <a:p>
            <a:pPr marL="0" indent="0">
              <a:buNone/>
            </a:pPr>
            <a:r>
              <a:rPr lang="en-IN" dirty="0"/>
              <a:t>mongodb://localhost:27017 means connect to the MongoDB server running on this computer.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1724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48C1-2F24-7BB9-526F-DE349A8B8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624"/>
            <a:ext cx="10515600" cy="575633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6. Selecting a Database</a:t>
            </a:r>
          </a:p>
          <a:p>
            <a:pPr marL="0" indent="0">
              <a:buNone/>
            </a:pPr>
            <a:r>
              <a:rPr lang="en-IN" dirty="0"/>
              <a:t>After connecting, we select a database.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college</a:t>
            </a:r>
          </a:p>
          <a:p>
            <a:pPr marL="0" indent="0">
              <a:buNone/>
            </a:pPr>
            <a:r>
              <a:rPr lang="en-IN" dirty="0"/>
              <a:t>is the database name.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43126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0C3D2-4BDF-2AEE-E602-9C813E039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Complete example: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async function </a:t>
            </a:r>
            <a:r>
              <a:rPr lang="en-IN" dirty="0" err="1"/>
              <a:t>connectDB</a:t>
            </a:r>
            <a:r>
              <a:rPr lang="en-IN" dirty="0"/>
              <a:t>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console.log("Connected to MongoDB");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console.log("Database selected");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connectDB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0977542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AD02-44B7-76BB-2F44-755829185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structure is: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college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4062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A874-D281-B10A-8342-8A926A65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515600" cy="5747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7. Selecting a Collection</a:t>
            </a:r>
          </a:p>
          <a:p>
            <a:pPr marL="0" indent="0">
              <a:buNone/>
            </a:pPr>
            <a:r>
              <a:rPr lang="en-IN" dirty="0"/>
              <a:t>Suppose our database contains a collection called students.</a:t>
            </a:r>
          </a:p>
          <a:p>
            <a:pPr marL="0" indent="0">
              <a:buNone/>
            </a:pPr>
            <a:r>
              <a:rPr lang="en-IN" dirty="0"/>
              <a:t>We select it using: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students =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pPr marL="0" indent="0">
              <a:buNone/>
            </a:pPr>
            <a:r>
              <a:rPr lang="en-IN" dirty="0"/>
              <a:t>Now the structure becomes: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college database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students 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8512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DE2B-07E6-67F7-E7B7-8C78C2F70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496"/>
            <a:ext cx="10515600" cy="61447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Complete example: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async function </a:t>
            </a:r>
            <a:r>
              <a:rPr lang="en-IN" dirty="0" err="1"/>
              <a:t>connectDB</a:t>
            </a:r>
            <a:r>
              <a:rPr lang="en-IN" dirty="0"/>
              <a:t>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students =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console.log("Connected to students collection");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connectDB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8158492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6CD7-06DA-C2FB-71B5-F59C6F615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"/>
            <a:ext cx="10515600" cy="58752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8. Insert One Document</a:t>
            </a:r>
          </a:p>
          <a:p>
            <a:pPr marL="0" indent="0">
              <a:buNone/>
            </a:pPr>
            <a:r>
              <a:rPr lang="en-IN" dirty="0"/>
              <a:t>We can insert a student using </a:t>
            </a:r>
            <a:r>
              <a:rPr lang="en-IN" dirty="0" err="1"/>
              <a:t>insertOne</a:t>
            </a:r>
            <a:r>
              <a:rPr lang="en-IN" dirty="0"/>
              <a:t>().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 = 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21,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result = await </a:t>
            </a:r>
            <a:r>
              <a:rPr lang="en-IN" dirty="0" err="1"/>
              <a:t>students.insertOne</a:t>
            </a:r>
            <a:r>
              <a:rPr lang="en-IN" dirty="0"/>
              <a:t>(student);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console.log("Student inserted");</a:t>
            </a:r>
          </a:p>
          <a:p>
            <a:pPr marL="0" indent="0">
              <a:buNone/>
            </a:pPr>
            <a:r>
              <a:rPr lang="en-IN" dirty="0"/>
              <a:t>console.log(</a:t>
            </a:r>
            <a:r>
              <a:rPr lang="en-IN" dirty="0" err="1"/>
              <a:t>result.insertedId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6456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9F60-7320-549C-121F-5D0A43A9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44CE-22BB-5E0A-B90B-AF681DC98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MongoDB stores: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21,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insertOne</a:t>
            </a:r>
            <a:r>
              <a:rPr lang="en-IN" dirty="0"/>
              <a:t>() inserts one document into a MongoDB collection.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8545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3207-7581-DA2D-0D69-9139E6F0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" y="256032"/>
            <a:ext cx="6531864" cy="59209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9. Complete Insert Example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async function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console.log("Connected to MongoDB");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students =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08467-8072-B3F9-A814-2498AF2F9F73}"/>
              </a:ext>
            </a:extLst>
          </p:cNvPr>
          <p:cNvSpPr txBox="1"/>
          <p:nvPr/>
        </p:nvSpPr>
        <p:spPr>
          <a:xfrm>
            <a:off x="6675120" y="319784"/>
            <a:ext cx="544753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dirty="0" err="1"/>
              <a:t>const</a:t>
            </a:r>
            <a:r>
              <a:rPr lang="en-IN" sz="2400" dirty="0"/>
              <a:t> student = {</a:t>
            </a:r>
          </a:p>
          <a:p>
            <a:pPr marL="0" indent="0">
              <a:buNone/>
            </a:pPr>
            <a:r>
              <a:rPr lang="en-IN" sz="2400" dirty="0"/>
              <a:t>        name: "Rahul",</a:t>
            </a:r>
          </a:p>
          <a:p>
            <a:pPr marL="0" indent="0">
              <a:buNone/>
            </a:pPr>
            <a:r>
              <a:rPr lang="en-IN" sz="2400" dirty="0"/>
              <a:t>        age: 21,</a:t>
            </a:r>
          </a:p>
          <a:p>
            <a:pPr marL="0" indent="0">
              <a:buNone/>
            </a:pPr>
            <a:r>
              <a:rPr lang="en-IN" sz="2400" dirty="0"/>
              <a:t>        course: "CSE"</a:t>
            </a:r>
          </a:p>
          <a:p>
            <a:pPr marL="0" indent="0">
              <a:buNone/>
            </a:pPr>
            <a:r>
              <a:rPr lang="en-IN" sz="2400" dirty="0"/>
              <a:t>    };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const</a:t>
            </a:r>
            <a:r>
              <a:rPr lang="en-IN" sz="2400" dirty="0"/>
              <a:t> result = await </a:t>
            </a:r>
            <a:r>
              <a:rPr lang="en-IN" sz="2400" dirty="0" err="1"/>
              <a:t>students.insertOne</a:t>
            </a:r>
            <a:r>
              <a:rPr lang="en-IN" sz="2400" dirty="0"/>
              <a:t>(student);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console.log("Student inserted");</a:t>
            </a:r>
          </a:p>
          <a:p>
            <a:pPr marL="0" indent="0">
              <a:buNone/>
            </a:pPr>
            <a:r>
              <a:rPr lang="en-IN" sz="2400" dirty="0"/>
              <a:t>    console.log("ID:", </a:t>
            </a:r>
            <a:r>
              <a:rPr lang="en-IN" sz="2400" dirty="0" err="1"/>
              <a:t>result.insertedId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await </a:t>
            </a:r>
            <a:r>
              <a:rPr lang="en-IN" sz="2400" dirty="0" err="1"/>
              <a:t>client.close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main();</a:t>
            </a:r>
          </a:p>
        </p:txBody>
      </p:sp>
    </p:spTree>
    <p:extLst>
      <p:ext uri="{BB962C8B-B14F-4D97-AF65-F5344CB8AC3E}">
        <p14:creationId xmlns:p14="http://schemas.microsoft.com/office/powerpoint/2010/main" val="23960191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0469-FDEA-CC16-A353-532B1858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10. Reading Data</a:t>
            </a:r>
          </a:p>
          <a:p>
            <a:pPr marL="0" indent="0">
              <a:buNone/>
            </a:pPr>
            <a:r>
              <a:rPr lang="en-IN" dirty="0"/>
              <a:t>We can retrieve data using find().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result = await </a:t>
            </a:r>
            <a:r>
              <a:rPr lang="en-IN" dirty="0" err="1"/>
              <a:t>students.find</a:t>
            </a:r>
            <a:r>
              <a:rPr lang="en-IN" dirty="0"/>
              <a:t>({}).</a:t>
            </a:r>
            <a:r>
              <a:rPr lang="en-IN" dirty="0" err="1"/>
              <a:t>toArray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console.log(result);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find({})</a:t>
            </a:r>
          </a:p>
          <a:p>
            <a:pPr marL="0" indent="0">
              <a:buNone/>
            </a:pPr>
            <a:r>
              <a:rPr lang="en-IN" dirty="0"/>
              <a:t>means:</a:t>
            </a:r>
          </a:p>
          <a:p>
            <a:pPr marL="0" indent="0">
              <a:buNone/>
            </a:pPr>
            <a:r>
              <a:rPr lang="en-IN" dirty="0"/>
              <a:t>Find all documents.</a:t>
            </a:r>
          </a:p>
          <a:p>
            <a:pPr marL="0" indent="0">
              <a:buNone/>
            </a:pPr>
            <a:r>
              <a:rPr lang="en-IN" dirty="0" err="1"/>
              <a:t>toArray</a:t>
            </a:r>
            <a:r>
              <a:rPr lang="en-IN" dirty="0"/>
              <a:t>() converts the result into a JavaScript array.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43590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1373-4CCF-7969-38CB-9638C37D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"/>
            <a:ext cx="10515600" cy="59026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Example output: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name: "Rahul",</a:t>
            </a:r>
          </a:p>
          <a:p>
            <a:pPr marL="0" indent="0">
              <a:buNone/>
            </a:pPr>
            <a:r>
              <a:rPr lang="en-IN" dirty="0"/>
              <a:t>        age: 21,</a:t>
            </a:r>
          </a:p>
          <a:p>
            <a:pPr marL="0" indent="0">
              <a:buNone/>
            </a:pPr>
            <a:r>
              <a:rPr lang="en-IN" dirty="0"/>
              <a:t>        course: "CSE"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name: "Amit",</a:t>
            </a:r>
          </a:p>
          <a:p>
            <a:pPr marL="0" indent="0">
              <a:buNone/>
            </a:pPr>
            <a:r>
              <a:rPr lang="en-IN" dirty="0"/>
              <a:t>        age: 22,</a:t>
            </a:r>
          </a:p>
          <a:p>
            <a:pPr marL="0" indent="0">
              <a:buNone/>
            </a:pPr>
            <a:r>
              <a:rPr lang="en-IN" dirty="0"/>
              <a:t>        course: "ECE"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367748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10E5-BF8A-E4A6-470A-09A4A0121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344"/>
            <a:ext cx="10515600" cy="571061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11. Finding One Document</a:t>
            </a:r>
          </a:p>
          <a:p>
            <a:pPr marL="0" indent="0">
              <a:buNone/>
            </a:pPr>
            <a:r>
              <a:rPr lang="en-IN" dirty="0"/>
              <a:t>We can use </a:t>
            </a:r>
            <a:r>
              <a:rPr lang="en-IN" dirty="0" err="1"/>
              <a:t>findOne</a:t>
            </a:r>
            <a:r>
              <a:rPr lang="en-IN" dirty="0"/>
              <a:t>().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 = await </a:t>
            </a:r>
            <a:r>
              <a:rPr lang="en-IN" dirty="0" err="1"/>
              <a:t>students.findOne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name: "Rahul"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console.log(student);</a:t>
            </a:r>
          </a:p>
        </p:txBody>
      </p:sp>
    </p:spTree>
    <p:extLst>
      <p:ext uri="{BB962C8B-B14F-4D97-AF65-F5344CB8AC3E}">
        <p14:creationId xmlns:p14="http://schemas.microsoft.com/office/powerpoint/2010/main" val="1017063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5E49-90BC-41E0-A977-11234F91F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208"/>
            <a:ext cx="10515600" cy="565575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searches for a student whose name is:</a:t>
            </a:r>
          </a:p>
          <a:p>
            <a:pPr marL="0" indent="0">
              <a:buNone/>
            </a:pPr>
            <a:r>
              <a:rPr lang="en-IN" dirty="0"/>
              <a:t>Rahul</a:t>
            </a:r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 err="1"/>
              <a:t>findOne</a:t>
            </a:r>
            <a:r>
              <a:rPr lang="en-IN" dirty="0"/>
              <a:t>() returns one matching document.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1226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C99F-057A-B08E-85DC-8B404C8F6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064"/>
            <a:ext cx="10515600" cy="5664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12. Finding Students from CSE</a:t>
            </a:r>
          </a:p>
          <a:p>
            <a:pPr marL="0" indent="0">
              <a:buNone/>
            </a:pPr>
            <a:r>
              <a:rPr lang="en-IN" dirty="0"/>
              <a:t>We can provide a condition.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result = await </a:t>
            </a:r>
            <a:r>
              <a:rPr lang="en-IN" dirty="0" err="1"/>
              <a:t>students.find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}).</a:t>
            </a:r>
            <a:r>
              <a:rPr lang="en-IN" dirty="0" err="1"/>
              <a:t>toArray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console.log(result);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means:</a:t>
            </a:r>
          </a:p>
          <a:p>
            <a:pPr marL="0" indent="0">
              <a:buNone/>
            </a:pPr>
            <a:r>
              <a:rPr lang="en-IN" dirty="0"/>
              <a:t>Find all students whose course is CSE.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7394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F71B1-31CE-90A6-BA25-60753198C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48"/>
            <a:ext cx="10515600" cy="579291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13. Updating a Document</a:t>
            </a:r>
          </a:p>
          <a:p>
            <a:pPr marL="0" indent="0">
              <a:buNone/>
            </a:pPr>
            <a:r>
              <a:rPr lang="en-IN" dirty="0"/>
              <a:t>Suppose Rahul's age changes from 21 to 22.</a:t>
            </a:r>
          </a:p>
          <a:p>
            <a:pPr marL="0" indent="0">
              <a:buNone/>
            </a:pPr>
            <a:r>
              <a:rPr lang="en-IN" dirty="0"/>
              <a:t>We use </a:t>
            </a:r>
            <a:r>
              <a:rPr lang="en-IN" dirty="0" err="1"/>
              <a:t>updateOne</a:t>
            </a:r>
            <a:r>
              <a:rPr lang="en-IN" dirty="0"/>
              <a:t>().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students.updateOne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 name: "Rahul" },</a:t>
            </a:r>
          </a:p>
          <a:p>
            <a:pPr marL="0" indent="0">
              <a:buNone/>
            </a:pPr>
            <a:r>
              <a:rPr lang="en-IN" dirty="0"/>
              <a:t>    { $set: { age: 22 } }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145291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22C4-03F0-0739-7D96-67F5C165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"/>
            <a:ext cx="10515600" cy="60215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Before: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21,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After: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22,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 err="1"/>
              <a:t>updateOne</a:t>
            </a:r>
            <a:r>
              <a:rPr lang="en-IN" dirty="0"/>
              <a:t>() updates one matching document.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90645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E49B-F30E-1A4B-76A8-43E1B2802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"/>
            <a:ext cx="10515600" cy="587521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14. Updating Multiple Documents</a:t>
            </a:r>
          </a:p>
          <a:p>
            <a:pPr marL="0" indent="0">
              <a:buNone/>
            </a:pPr>
            <a:r>
              <a:rPr lang="en-IN" dirty="0"/>
              <a:t>We can use </a:t>
            </a:r>
            <a:r>
              <a:rPr lang="en-IN" dirty="0" err="1"/>
              <a:t>updateMany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students.updateMany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 course: "CSE" },</a:t>
            </a:r>
          </a:p>
          <a:p>
            <a:pPr marL="0" indent="0">
              <a:buNone/>
            </a:pPr>
            <a:r>
              <a:rPr lang="en-IN" dirty="0"/>
              <a:t>    { $set: { department: "Computer Science" } }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This adds or changes the department field for all CSE students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07087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331E4-C76B-556C-30A0-523975BB5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15. Deleting a Document</a:t>
            </a:r>
          </a:p>
          <a:p>
            <a:pPr marL="0" indent="0">
              <a:buNone/>
            </a:pPr>
            <a:r>
              <a:rPr lang="en-IN" dirty="0"/>
              <a:t>We use </a:t>
            </a:r>
            <a:r>
              <a:rPr lang="en-IN" dirty="0" err="1"/>
              <a:t>deleteOne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students.deleteOne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name: "Rahul"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This removes one matching student.</a:t>
            </a:r>
          </a:p>
          <a:p>
            <a:pPr marL="0" indent="0">
              <a:buNone/>
            </a:pPr>
            <a:r>
              <a:rPr lang="en-IN" b="1" dirty="0"/>
              <a:t>Delete multiple documents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students.deleteMany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course: "IT"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This removes all documents where the course is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85329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A2C7-0899-0A72-A5DD-E8DBB618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371"/>
            <a:ext cx="10515600" cy="592659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16. CRUD Operations in Node.js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DE30C5-5133-25C3-4D63-4F57AE3B5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7212"/>
              </p:ext>
            </p:extLst>
          </p:nvPr>
        </p:nvGraphicFramePr>
        <p:xfrm>
          <a:off x="838200" y="1077686"/>
          <a:ext cx="10515600" cy="55299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975298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54317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4837351"/>
                    </a:ext>
                  </a:extLst>
                </a:gridCol>
              </a:tblGrid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MongoDB Node.js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687757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800940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insertMany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many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120309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findOne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698727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989078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603814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updateMany()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394315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one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702172"/>
                  </a:ext>
                </a:extLst>
              </a:tr>
              <a:tr h="6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deleteMany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 multiple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871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98828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B08BE-FB8F-6D19-5A9F-5AD747CC4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912"/>
            <a:ext cx="10515600" cy="573805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Easy way to remember</a:t>
            </a:r>
          </a:p>
          <a:p>
            <a:r>
              <a:rPr lang="en-IN" dirty="0"/>
              <a:t>CREATE → insert</a:t>
            </a:r>
          </a:p>
          <a:p>
            <a:r>
              <a:rPr lang="en-IN" dirty="0"/>
              <a:t>READ   → find</a:t>
            </a:r>
          </a:p>
          <a:p>
            <a:r>
              <a:rPr lang="en-IN" dirty="0"/>
              <a:t>UPDATE → update</a:t>
            </a:r>
          </a:p>
          <a:p>
            <a:r>
              <a:rPr lang="en-IN" dirty="0"/>
              <a:t>DELETE → delete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11745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49782-3877-D3DB-961F-042E817E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" y="128975"/>
            <a:ext cx="4626864" cy="660004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17. Complete CRUD Example</a:t>
            </a:r>
          </a:p>
          <a:p>
            <a:pPr marL="0" indent="0">
              <a:buNone/>
            </a:pPr>
            <a:r>
              <a:rPr lang="en-IN" dirty="0"/>
              <a:t>The following example performs all four CRUD operations.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async function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Connect</a:t>
            </a:r>
          </a:p>
          <a:p>
            <a:pPr marL="0" indent="0">
              <a:buNone/>
            </a:pPr>
            <a:r>
              <a:rPr lang="en-IN" dirty="0"/>
              <a:t>    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console.log("Connected to MongoDB");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Select database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Select collection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const</a:t>
            </a:r>
            <a:r>
              <a:rPr lang="en-IN" dirty="0"/>
              <a:t> students =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3AC3E-50F3-D819-9E5A-3FC180C6DB77}"/>
              </a:ext>
            </a:extLst>
          </p:cNvPr>
          <p:cNvSpPr txBox="1"/>
          <p:nvPr/>
        </p:nvSpPr>
        <p:spPr>
          <a:xfrm>
            <a:off x="8814816" y="119831"/>
            <a:ext cx="316382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/>
              <a:t> console.log("Student updated");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// DELETE</a:t>
            </a:r>
          </a:p>
          <a:p>
            <a:pPr marL="0" indent="0">
              <a:buNone/>
            </a:pPr>
            <a:r>
              <a:rPr lang="en-IN" sz="1600" dirty="0"/>
              <a:t>        await </a:t>
            </a:r>
            <a:r>
              <a:rPr lang="en-IN" sz="1600" dirty="0" err="1"/>
              <a:t>students.deleteOne</a:t>
            </a:r>
            <a:r>
              <a:rPr lang="en-IN" sz="1600" dirty="0"/>
              <a:t>({</a:t>
            </a:r>
          </a:p>
          <a:p>
            <a:pPr marL="0" indent="0">
              <a:buNone/>
            </a:pPr>
            <a:r>
              <a:rPr lang="en-IN" sz="1600" dirty="0"/>
              <a:t>            name: "Rahul"</a:t>
            </a:r>
          </a:p>
          <a:p>
            <a:pPr marL="0" indent="0">
              <a:buNone/>
            </a:pPr>
            <a:r>
              <a:rPr lang="en-IN" sz="1600" dirty="0"/>
              <a:t>        });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console.log("Student deleted");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} catch (error) {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console.error</a:t>
            </a:r>
            <a:r>
              <a:rPr lang="en-IN" sz="1600" dirty="0"/>
              <a:t>("Error:", error);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} finally {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// Close connection</a:t>
            </a:r>
          </a:p>
          <a:p>
            <a:pPr marL="0" indent="0">
              <a:buNone/>
            </a:pPr>
            <a:r>
              <a:rPr lang="en-IN" sz="1600" dirty="0"/>
              <a:t>        await </a:t>
            </a:r>
            <a:r>
              <a:rPr lang="en-IN" sz="1600" dirty="0" err="1"/>
              <a:t>client.close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main();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73040-1389-AF2E-6EDE-CE49317FC443}"/>
              </a:ext>
            </a:extLst>
          </p:cNvPr>
          <p:cNvSpPr txBox="1"/>
          <p:nvPr/>
        </p:nvSpPr>
        <p:spPr>
          <a:xfrm>
            <a:off x="4041648" y="128975"/>
            <a:ext cx="477316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 // CREATE</a:t>
            </a:r>
          </a:p>
          <a:p>
            <a:pPr marL="0" indent="0">
              <a:buNone/>
            </a:pPr>
            <a:r>
              <a:rPr lang="en-IN" dirty="0"/>
              <a:t>        await </a:t>
            </a:r>
            <a:r>
              <a:rPr lang="en-IN" dirty="0" err="1"/>
              <a:t>students.insertOne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    name: "Rahul",</a:t>
            </a:r>
          </a:p>
          <a:p>
            <a:pPr marL="0" indent="0">
              <a:buNone/>
            </a:pPr>
            <a:r>
              <a:rPr lang="en-IN" dirty="0"/>
              <a:t>            age: 21,</a:t>
            </a:r>
          </a:p>
          <a:p>
            <a:pPr marL="0" indent="0">
              <a:buNone/>
            </a:pPr>
            <a:r>
              <a:rPr lang="en-IN" dirty="0"/>
              <a:t>            course: "CSE"</a:t>
            </a:r>
          </a:p>
          <a:p>
            <a:pPr marL="0" indent="0">
              <a:buNone/>
            </a:pPr>
            <a:r>
              <a:rPr lang="en-IN" dirty="0"/>
              <a:t>      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console.log("Student inserted");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READ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const</a:t>
            </a:r>
            <a:r>
              <a:rPr lang="en-IN" dirty="0"/>
              <a:t> student = await </a:t>
            </a:r>
            <a:r>
              <a:rPr lang="en-IN" dirty="0" err="1"/>
              <a:t>students.findOne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    name: "Rahul"</a:t>
            </a:r>
          </a:p>
          <a:p>
            <a:pPr marL="0" indent="0">
              <a:buNone/>
            </a:pPr>
            <a:r>
              <a:rPr lang="en-IN" dirty="0"/>
              <a:t>      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console.log("Student:", student);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UPDATE</a:t>
            </a:r>
          </a:p>
          <a:p>
            <a:pPr marL="0" indent="0">
              <a:buNone/>
            </a:pPr>
            <a:r>
              <a:rPr lang="en-IN" dirty="0"/>
              <a:t>        await </a:t>
            </a:r>
            <a:r>
              <a:rPr lang="en-IN" dirty="0" err="1"/>
              <a:t>students.updateOne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{ name: "Rahul" },</a:t>
            </a:r>
          </a:p>
          <a:p>
            <a:pPr marL="0" indent="0">
              <a:buNone/>
            </a:pPr>
            <a:r>
              <a:rPr lang="en-IN" dirty="0"/>
              <a:t>            { $set: { age: 22 } }</a:t>
            </a:r>
          </a:p>
          <a:p>
            <a:pPr marL="0" indent="0">
              <a:buNone/>
            </a:pPr>
            <a:r>
              <a:rPr lang="en-IN" dirty="0"/>
              <a:t>        );</a:t>
            </a:r>
          </a:p>
        </p:txBody>
      </p:sp>
    </p:spTree>
    <p:extLst>
      <p:ext uri="{BB962C8B-B14F-4D97-AF65-F5344CB8AC3E}">
        <p14:creationId xmlns:p14="http://schemas.microsoft.com/office/powerpoint/2010/main" val="331673872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9172-74AD-3A5E-236F-01347C986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"/>
            <a:ext cx="10515600" cy="6067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18. Why Do We Use async and await?</a:t>
            </a:r>
          </a:p>
          <a:p>
            <a:pPr marL="0" indent="0">
              <a:buNone/>
            </a:pPr>
            <a:r>
              <a:rPr lang="en-IN" dirty="0"/>
              <a:t>MongoDB operations take some time.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The program must wait for MongoDB to respond.</a:t>
            </a:r>
          </a:p>
          <a:p>
            <a:pPr marL="0" indent="0">
              <a:buNone/>
            </a:pPr>
            <a:r>
              <a:rPr lang="en-IN" dirty="0"/>
              <a:t>Similarly: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students.insertOne</a:t>
            </a:r>
            <a:r>
              <a:rPr lang="en-IN" dirty="0"/>
              <a:t>(student);</a:t>
            </a:r>
          </a:p>
          <a:p>
            <a:pPr marL="0" indent="0">
              <a:buNone/>
            </a:pPr>
            <a:r>
              <a:rPr lang="en-IN" dirty="0"/>
              <a:t>The program waits until the document is inserted.</a:t>
            </a:r>
          </a:p>
          <a:p>
            <a:pPr marL="0" indent="0">
              <a:buNone/>
            </a:pPr>
            <a:r>
              <a:rPr lang="en-IN" b="1" dirty="0"/>
              <a:t>Simple meaning</a:t>
            </a:r>
          </a:p>
          <a:p>
            <a:pPr marL="0" indent="0">
              <a:buNone/>
            </a:pPr>
            <a:r>
              <a:rPr lang="en-IN" dirty="0"/>
              <a:t>async and await help Node.js handle operations that take time, such as database communication.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6345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849B0-BF0E-6CAE-ACB6-4B53958A5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"/>
            <a:ext cx="10515600" cy="607637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19. Error Handling</a:t>
            </a:r>
          </a:p>
          <a:p>
            <a:pPr marL="0" indent="0">
              <a:buNone/>
            </a:pPr>
            <a:r>
              <a:rPr lang="en-IN" dirty="0"/>
              <a:t>Database connections can fail.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lvl="0" indent="0">
              <a:buNone/>
            </a:pPr>
            <a:r>
              <a:rPr lang="en-IN" dirty="0"/>
              <a:t>MongoDB server is not running. </a:t>
            </a:r>
          </a:p>
          <a:p>
            <a:pPr marL="0" lvl="0" indent="0">
              <a:buNone/>
            </a:pPr>
            <a:r>
              <a:rPr lang="en-IN" dirty="0"/>
              <a:t>Incorrect connection string. </a:t>
            </a:r>
          </a:p>
          <a:p>
            <a:pPr marL="0" lvl="0" indent="0">
              <a:buNone/>
            </a:pPr>
            <a:r>
              <a:rPr lang="en-IN" dirty="0"/>
              <a:t>Network problem. </a:t>
            </a:r>
          </a:p>
          <a:p>
            <a:pPr marL="0" lvl="0" indent="0">
              <a:buNone/>
            </a:pPr>
            <a:r>
              <a:rPr lang="en-IN" dirty="0"/>
              <a:t>Authentication failure. </a:t>
            </a:r>
          </a:p>
          <a:p>
            <a:pPr marL="0" indent="0">
              <a:buNone/>
            </a:pPr>
            <a:r>
              <a:rPr lang="en-IN" dirty="0"/>
              <a:t>Therefore, we use try...catch.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4241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C5A67-7C6E-AE07-646E-6BF12D1F3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try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console.log("Connected");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 catch (error)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console.log("Connection failed:", error);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/>
              <a:t>try...catch helps us handle errors without crashing the application unexpectedly.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89538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E41AA-3BED-D07D-CD96-8D71E1489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20. Closing the Connection</a:t>
            </a:r>
          </a:p>
          <a:p>
            <a:pPr marL="0" indent="0">
              <a:buNone/>
            </a:pPr>
            <a:r>
              <a:rPr lang="en-IN" dirty="0"/>
              <a:t>After completing database operations, we can close the connection: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client.close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try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Database operations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 finally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client.close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1027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C4A74-C78E-6672-3181-535281E4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Simple sentence</a:t>
            </a:r>
          </a:p>
          <a:p>
            <a:pPr marL="0" indent="0">
              <a:buNone/>
            </a:pPr>
            <a:r>
              <a:rPr lang="en-IN" dirty="0" err="1"/>
              <a:t>client.close</a:t>
            </a:r>
            <a:r>
              <a:rPr lang="en-IN" dirty="0"/>
              <a:t>() closes the MongoDB client connection.</a:t>
            </a:r>
          </a:p>
          <a:p>
            <a:pPr marL="0" indent="0">
              <a:buNone/>
            </a:pPr>
            <a:r>
              <a:rPr lang="en-IN" dirty="0"/>
              <a:t>In a long-running Node.js server, however, we generally create a client once and reuse it rather than connecting and closing for every request.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2257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72C-7280-00F0-42CE-A0960E3B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21. Connecting to MongoDB Atlas</a:t>
            </a:r>
          </a:p>
          <a:p>
            <a:pPr marL="0" indent="0">
              <a:buNone/>
            </a:pPr>
            <a:r>
              <a:rPr lang="en-IN" dirty="0"/>
              <a:t>MongoDB can also be hosted in the cloud using </a:t>
            </a:r>
            <a:r>
              <a:rPr lang="en-IN" b="1" dirty="0"/>
              <a:t>MongoDB Atlas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Instead of: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"</a:t>
            </a:r>
            <a:r>
              <a:rPr lang="en-IN" dirty="0" err="1"/>
              <a:t>mongodb</a:t>
            </a:r>
            <a:r>
              <a:rPr lang="en-IN" dirty="0"/>
              <a:t>://localhost:27017";</a:t>
            </a:r>
          </a:p>
          <a:p>
            <a:pPr marL="0" indent="0">
              <a:buNone/>
            </a:pPr>
            <a:r>
              <a:rPr lang="en-IN" dirty="0"/>
              <a:t>we use the Atlas connection string.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mongodb+srv</a:t>
            </a:r>
            <a:r>
              <a:rPr lang="en-IN" dirty="0"/>
              <a:t>://</a:t>
            </a:r>
            <a:r>
              <a:rPr lang="en-IN" dirty="0" err="1"/>
              <a:t>username:password@cluster.mongodb.net</a:t>
            </a:r>
            <a:r>
              <a:rPr lang="en-IN" dirty="0"/>
              <a:t>/";</a:t>
            </a:r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28983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C7CC1-0CFC-3D06-747C-67CC681B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"/>
            <a:ext cx="10515600" cy="6030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Important security point</a:t>
            </a:r>
          </a:p>
          <a:p>
            <a:pPr marL="0" indent="0">
              <a:buNone/>
            </a:pPr>
            <a:r>
              <a:rPr lang="en-IN" dirty="0"/>
              <a:t>Do not write your real password directly in the source code.</a:t>
            </a:r>
          </a:p>
          <a:p>
            <a:pPr marL="0" indent="0">
              <a:buNone/>
            </a:pPr>
            <a:r>
              <a:rPr lang="en-IN" dirty="0"/>
              <a:t>A better approach is to use an environment variable.</a:t>
            </a:r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uri</a:t>
            </a:r>
            <a:r>
              <a:rPr lang="en-IN" dirty="0"/>
              <a:t> = </a:t>
            </a:r>
            <a:r>
              <a:rPr lang="en-IN" dirty="0" err="1"/>
              <a:t>process.env.MONGODB_URI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The connection string can then be stored outside the source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9280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3B27-DD90-581D-B648-5EDC46C76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22. Using .env</a:t>
            </a:r>
          </a:p>
          <a:p>
            <a:pPr marL="0" indent="0">
              <a:buNone/>
            </a:pPr>
            <a:r>
              <a:rPr lang="en-IN" dirty="0"/>
              <a:t>A common approach is to use a .env file.</a:t>
            </a:r>
          </a:p>
          <a:p>
            <a:pPr marL="0" indent="0">
              <a:buNone/>
            </a:pPr>
            <a:r>
              <a:rPr lang="en-IN" dirty="0"/>
              <a:t>Install:</a:t>
            </a:r>
          </a:p>
          <a:p>
            <a:pPr marL="0" indent="0">
              <a:buNone/>
            </a:pPr>
            <a:r>
              <a:rPr lang="en-IN" dirty="0" err="1"/>
              <a:t>npm</a:t>
            </a:r>
            <a:r>
              <a:rPr lang="en-IN" dirty="0"/>
              <a:t> install </a:t>
            </a:r>
            <a:r>
              <a:rPr lang="en-IN" dirty="0" err="1"/>
              <a:t>dotenv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Create:</a:t>
            </a:r>
          </a:p>
          <a:p>
            <a:pPr marL="0" indent="0">
              <a:buNone/>
            </a:pPr>
            <a:r>
              <a:rPr lang="en-IN" dirty="0"/>
              <a:t>.env</a:t>
            </a:r>
          </a:p>
          <a:p>
            <a:pPr marL="0" indent="0">
              <a:buNone/>
            </a:pPr>
            <a:r>
              <a:rPr lang="en-IN" dirty="0"/>
              <a:t>and store:</a:t>
            </a:r>
          </a:p>
          <a:p>
            <a:pPr marL="0" indent="0">
              <a:buNone/>
            </a:pPr>
            <a:r>
              <a:rPr lang="en-IN" dirty="0"/>
              <a:t>MONGODB_URI=mongodb://localhost:27017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93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F4BD-A4A4-8BEF-CA86-CA885E3D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"/>
            <a:ext cx="10515600" cy="60580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/>
              <a:t>require("</a:t>
            </a:r>
            <a:r>
              <a:rPr lang="en-IN" dirty="0" err="1"/>
              <a:t>dotenv</a:t>
            </a:r>
            <a:r>
              <a:rPr lang="en-IN" dirty="0"/>
              <a:t>").config();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process.env.MONGODB_URI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Now the application reads the connection string from the environment.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21073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96849-BA45-1719-1980-D4FD765DF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09728"/>
            <a:ext cx="5989320" cy="6665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23. Node.js + MongoDB Architecture</a:t>
            </a:r>
          </a:p>
          <a:p>
            <a:pPr marL="0" indent="0">
              <a:buNone/>
            </a:pPr>
            <a:r>
              <a:rPr lang="en-IN" dirty="0"/>
              <a:t>A simple application architecture is:</a:t>
            </a:r>
          </a:p>
          <a:p>
            <a:pPr marL="0" indent="0">
              <a:buNone/>
            </a:pPr>
            <a:r>
              <a:rPr lang="en-IN" dirty="0"/>
              <a:t>              User</a:t>
            </a:r>
          </a:p>
          <a:p>
            <a:pPr marL="0" indent="0">
              <a:buNone/>
            </a:pPr>
            <a:r>
              <a:rPr lang="en-IN" dirty="0"/>
              <a:t>                  |</a:t>
            </a:r>
          </a:p>
          <a:p>
            <a:pPr marL="0" indent="0">
              <a:buNone/>
            </a:pPr>
            <a:r>
              <a:rPr lang="en-IN" dirty="0"/>
              <a:t>                  ↓</a:t>
            </a:r>
          </a:p>
          <a:p>
            <a:pPr marL="0" indent="0">
              <a:buNone/>
            </a:pPr>
            <a:r>
              <a:rPr lang="en-IN" dirty="0"/>
              <a:t>             Web Browser</a:t>
            </a:r>
          </a:p>
          <a:p>
            <a:pPr marL="0" indent="0">
              <a:buNone/>
            </a:pPr>
            <a:r>
              <a:rPr lang="en-IN" dirty="0"/>
              <a:t>                  |</a:t>
            </a:r>
          </a:p>
          <a:p>
            <a:pPr marL="0" indent="0">
              <a:buNone/>
            </a:pPr>
            <a:r>
              <a:rPr lang="en-IN" dirty="0"/>
              <a:t>                  ↓</a:t>
            </a:r>
          </a:p>
          <a:p>
            <a:pPr marL="0" indent="0">
              <a:buNone/>
            </a:pPr>
            <a:r>
              <a:rPr lang="en-IN" dirty="0"/>
              <a:t>             Node.js Server</a:t>
            </a:r>
          </a:p>
          <a:p>
            <a:pPr marL="0" indent="0">
              <a:buNone/>
            </a:pPr>
            <a:r>
              <a:rPr lang="en-IN" dirty="0"/>
              <a:t>                  |</a:t>
            </a:r>
          </a:p>
          <a:p>
            <a:pPr marL="0" indent="0">
              <a:buNone/>
            </a:pPr>
            <a:r>
              <a:rPr lang="en-IN" dirty="0"/>
              <a:t>                  ↓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09C30-A40A-4FC5-1A84-A8114A2F6BEF}"/>
              </a:ext>
            </a:extLst>
          </p:cNvPr>
          <p:cNvSpPr txBox="1"/>
          <p:nvPr/>
        </p:nvSpPr>
        <p:spPr>
          <a:xfrm>
            <a:off x="6092190" y="582067"/>
            <a:ext cx="609447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/>
              <a:t> MongoDB Node.js Driver</a:t>
            </a:r>
          </a:p>
          <a:p>
            <a:pPr marL="0" indent="0">
              <a:buNone/>
            </a:pPr>
            <a:r>
              <a:rPr lang="en-IN" sz="2800" dirty="0"/>
              <a:t>                  |</a:t>
            </a:r>
          </a:p>
          <a:p>
            <a:pPr marL="0" indent="0">
              <a:buNone/>
            </a:pPr>
            <a:r>
              <a:rPr lang="en-IN" sz="2800" dirty="0"/>
              <a:t>                  ↓</a:t>
            </a:r>
          </a:p>
          <a:p>
            <a:pPr marL="0" indent="0">
              <a:buNone/>
            </a:pPr>
            <a:r>
              <a:rPr lang="en-IN" sz="2800" dirty="0"/>
              <a:t>               MongoDB</a:t>
            </a:r>
          </a:p>
          <a:p>
            <a:pPr marL="0" indent="0">
              <a:buNone/>
            </a:pPr>
            <a:r>
              <a:rPr lang="en-IN" sz="2800" dirty="0"/>
              <a:t>                  |</a:t>
            </a:r>
          </a:p>
          <a:p>
            <a:pPr marL="0" indent="0">
              <a:buNone/>
            </a:pPr>
            <a:r>
              <a:rPr lang="en-IN" sz="2800" dirty="0"/>
              <a:t>                  ↓</a:t>
            </a:r>
          </a:p>
          <a:p>
            <a:pPr marL="0" indent="0">
              <a:buNone/>
            </a:pPr>
            <a:r>
              <a:rPr lang="en-IN" sz="2800" dirty="0"/>
              <a:t>              Database</a:t>
            </a:r>
          </a:p>
          <a:p>
            <a:pPr marL="0" indent="0">
              <a:buNone/>
            </a:pPr>
            <a:r>
              <a:rPr lang="en-IN" sz="2800" dirty="0"/>
              <a:t>                  |</a:t>
            </a:r>
          </a:p>
          <a:p>
            <a:pPr marL="0" indent="0">
              <a:buNone/>
            </a:pPr>
            <a:r>
              <a:rPr lang="en-IN" sz="2800" dirty="0"/>
              <a:t>                  ↓</a:t>
            </a:r>
          </a:p>
          <a:p>
            <a:pPr marL="0" indent="0">
              <a:buNone/>
            </a:pPr>
            <a:r>
              <a:rPr lang="en-IN" sz="2800" dirty="0"/>
              <a:t>             Collections</a:t>
            </a:r>
          </a:p>
          <a:p>
            <a:pPr marL="0" indent="0">
              <a:buNone/>
            </a:pPr>
            <a:r>
              <a:rPr lang="en-IN" sz="2800" dirty="0"/>
              <a:t>                  |</a:t>
            </a:r>
          </a:p>
          <a:p>
            <a:pPr marL="0" indent="0">
              <a:buNone/>
            </a:pPr>
            <a:r>
              <a:rPr lang="en-IN" sz="2800" dirty="0"/>
              <a:t>                  ↓</a:t>
            </a:r>
          </a:p>
          <a:p>
            <a:pPr marL="0" indent="0">
              <a:buNone/>
            </a:pPr>
            <a:r>
              <a:rPr lang="en-IN" sz="2800" dirty="0"/>
              <a:t>              Documents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13034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0EFA-CF19-7786-1F66-ADA04F25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"/>
            <a:ext cx="10515600" cy="5994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Student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Web Form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Node.js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MongoDB Driver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students 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95689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26EC-5C85-AB44-2E42-55CB3FE3B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472"/>
            <a:ext cx="10515600" cy="58294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24. Simple Real-Life Example</a:t>
            </a:r>
          </a:p>
          <a:p>
            <a:pPr marL="0" indent="0">
              <a:buNone/>
            </a:pPr>
            <a:r>
              <a:rPr lang="en-IN" dirty="0"/>
              <a:t>Suppose we have a </a:t>
            </a:r>
            <a:r>
              <a:rPr lang="en-IN" b="1" dirty="0"/>
              <a:t>College Student Application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A student enters:</a:t>
            </a:r>
          </a:p>
          <a:p>
            <a:pPr marL="0" indent="0">
              <a:buNone/>
            </a:pPr>
            <a:r>
              <a:rPr lang="en-IN" dirty="0"/>
              <a:t>Name   : Rahul</a:t>
            </a:r>
          </a:p>
          <a:p>
            <a:pPr marL="0" indent="0">
              <a:buNone/>
            </a:pPr>
            <a:r>
              <a:rPr lang="en-IN" dirty="0"/>
              <a:t>Age    : 21</a:t>
            </a:r>
          </a:p>
          <a:p>
            <a:pPr marL="0" indent="0">
              <a:buNone/>
            </a:pPr>
            <a:r>
              <a:rPr lang="en-IN" dirty="0"/>
              <a:t>Course : CSE</a:t>
            </a:r>
          </a:p>
          <a:p>
            <a:pPr marL="0" indent="0">
              <a:buNone/>
            </a:pPr>
            <a:r>
              <a:rPr lang="en-IN" dirty="0"/>
              <a:t>Node.js receives this information.</a:t>
            </a:r>
          </a:p>
          <a:p>
            <a:pPr marL="0" indent="0">
              <a:buNone/>
            </a:pPr>
            <a:r>
              <a:rPr lang="en-IN" dirty="0"/>
              <a:t>Then Node.js executes:</a:t>
            </a:r>
          </a:p>
          <a:p>
            <a:pPr marL="0" indent="0">
              <a:buNone/>
            </a:pPr>
            <a:r>
              <a:rPr lang="en-IN" dirty="0"/>
              <a:t>await </a:t>
            </a:r>
            <a:r>
              <a:rPr lang="en-IN" dirty="0" err="1"/>
              <a:t>students.insertOne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21,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20215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576AB-477A-5C39-B64E-E915720D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616"/>
            <a:ext cx="10515600" cy="5820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MongoDB stores: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name: "Rahul",</a:t>
            </a:r>
          </a:p>
          <a:p>
            <a:pPr marL="0" indent="0">
              <a:buNone/>
            </a:pPr>
            <a:r>
              <a:rPr lang="en-IN" dirty="0"/>
              <a:t>    age: 21,</a:t>
            </a:r>
          </a:p>
          <a:p>
            <a:pPr marL="0" indent="0">
              <a:buNone/>
            </a:pPr>
            <a:r>
              <a:rPr lang="en-IN" dirty="0"/>
              <a:t>    course: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When we want to display the student: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 = await </a:t>
            </a:r>
            <a:r>
              <a:rPr lang="en-IN" dirty="0" err="1"/>
              <a:t>students.findOne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name: "Rahul"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58016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7220-615A-2521-7A46-60336C477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072"/>
            <a:ext cx="10515600" cy="5600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MongoDB sends the document back to Node.js.</a:t>
            </a:r>
          </a:p>
          <a:p>
            <a:pPr marL="0" indent="0">
              <a:buNone/>
            </a:pPr>
            <a:r>
              <a:rPr lang="en-IN" dirty="0"/>
              <a:t>MongoDB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MongoDB Driver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Node.js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Web Application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Student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28923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6A4F-FE67-0934-B050-4FDF1EC9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792"/>
            <a:ext cx="10515600" cy="5555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25. Important Objects</a:t>
            </a:r>
          </a:p>
          <a:p>
            <a:pPr marL="0" indent="0">
              <a:buNone/>
            </a:pPr>
            <a:r>
              <a:rPr lang="en-IN" dirty="0"/>
              <a:t>There are three important levels:</a:t>
            </a:r>
          </a:p>
          <a:p>
            <a:pPr marL="0" indent="0">
              <a:buNone/>
            </a:pPr>
            <a:r>
              <a:rPr lang="en-IN" dirty="0" err="1"/>
              <a:t>MongoClient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Collection</a:t>
            </a:r>
          </a:p>
          <a:p>
            <a:pPr marL="0" indent="0">
              <a:buNone/>
            </a:pPr>
            <a:r>
              <a:rPr lang="en-IN" b="1" dirty="0" err="1"/>
              <a:t>MongoClient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Connects to MongoDB.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39801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4612-F2E9-6C18-2E60-7F42323BC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744"/>
            <a:ext cx="10515600" cy="593921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Database</a:t>
            </a:r>
          </a:p>
          <a:p>
            <a:pPr marL="0" indent="0">
              <a:buNone/>
            </a:pPr>
            <a:r>
              <a:rPr lang="en-IN" dirty="0"/>
              <a:t>Selects a database.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indent="0">
              <a:buNone/>
            </a:pPr>
            <a:r>
              <a:rPr lang="en-IN" b="1" dirty="0"/>
              <a:t>Collection</a:t>
            </a:r>
          </a:p>
          <a:p>
            <a:pPr marL="0" indent="0">
              <a:buNone/>
            </a:pPr>
            <a:r>
              <a:rPr lang="en-IN" dirty="0"/>
              <a:t>Selects a collection.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students =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2646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25616-72F8-2C49-C927-45661B7E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672"/>
            <a:ext cx="10515600" cy="53722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Then we perform operations:</a:t>
            </a:r>
          </a:p>
          <a:p>
            <a:pPr marL="0" indent="0">
              <a:buNone/>
            </a:pPr>
            <a:r>
              <a:rPr lang="en-IN" dirty="0" err="1"/>
              <a:t>students.insertOne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students.find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students.updateOne</a:t>
            </a:r>
            <a:r>
              <a:rPr lang="en-IN" dirty="0"/>
              <a:t>(...)</a:t>
            </a:r>
          </a:p>
          <a:p>
            <a:pPr marL="0" indent="0">
              <a:buNone/>
            </a:pPr>
            <a:r>
              <a:rPr lang="en-IN" dirty="0" err="1"/>
              <a:t>students.deleteOne</a:t>
            </a:r>
            <a:r>
              <a:rPr lang="en-IN" dirty="0"/>
              <a:t>(...)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0809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2E8B-86DD-E788-4024-CF9B60B4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86"/>
            <a:ext cx="10515600" cy="601367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26. Python vs Node.js Connectivity</a:t>
            </a:r>
          </a:p>
          <a:p>
            <a:pPr marL="0" indent="0">
              <a:buNone/>
            </a:pPr>
            <a:r>
              <a:rPr lang="en-IN" dirty="0"/>
              <a:t>Since you have also studied </a:t>
            </a:r>
            <a:r>
              <a:rPr lang="en-IN" b="1" dirty="0" err="1"/>
              <a:t>PyMongo</a:t>
            </a:r>
            <a:r>
              <a:rPr lang="en-IN" dirty="0"/>
              <a:t>, this is a useful comparison: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2119B5-3046-32FA-CAB8-55FFA9F38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70775"/>
              </p:ext>
            </p:extLst>
          </p:nvPr>
        </p:nvGraphicFramePr>
        <p:xfrm>
          <a:off x="838200" y="1295400"/>
          <a:ext cx="10515600" cy="488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286702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7122062"/>
                    </a:ext>
                  </a:extLst>
                </a:gridCol>
              </a:tblGrid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034056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PyMongo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Node.js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9287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MongoClient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301845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insertOne()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13816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findOne()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647525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721060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updateOne()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124215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delete_one()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deleteOne()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9038"/>
                  </a:ext>
                </a:extLst>
              </a:tr>
              <a:tr h="54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client.close()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client.close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7977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A4E567-9658-1C7C-7EA5-1BFF6C308192}"/>
              </a:ext>
            </a:extLst>
          </p:cNvPr>
          <p:cNvSpPr txBox="1"/>
          <p:nvPr/>
        </p:nvSpPr>
        <p:spPr>
          <a:xfrm>
            <a:off x="996696" y="6370243"/>
            <a:ext cx="8147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main difference is the programming language and naming style.</a:t>
            </a:r>
          </a:p>
        </p:txBody>
      </p:sp>
    </p:spTree>
    <p:extLst>
      <p:ext uri="{BB962C8B-B14F-4D97-AF65-F5344CB8AC3E}">
        <p14:creationId xmlns:p14="http://schemas.microsoft.com/office/powerpoint/2010/main" val="64149081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9102-5F9A-2105-81DD-D5D41867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344"/>
            <a:ext cx="10515600" cy="571061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27. Key Points for Students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514350" lvl="0" indent="-514350">
              <a:buFont typeface="+mj-lt"/>
              <a:buAutoNum type="arabicPeriod"/>
            </a:pPr>
            <a:r>
              <a:rPr lang="en-IN" b="1" dirty="0"/>
              <a:t>Node.js</a:t>
            </a:r>
            <a:r>
              <a:rPr lang="en-IN" dirty="0"/>
              <a:t> is used to build backend applications.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The </a:t>
            </a:r>
            <a:r>
              <a:rPr lang="en-IN" b="1" dirty="0"/>
              <a:t>MongoDB Node.js Driver</a:t>
            </a:r>
            <a:r>
              <a:rPr lang="en-IN" dirty="0"/>
              <a:t> connects Node.js with MongoDB.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Install the driver using:</a:t>
            </a:r>
          </a:p>
          <a:p>
            <a:pPr marL="0" lvl="0" indent="0">
              <a:buNone/>
            </a:pPr>
            <a:r>
              <a:rPr lang="en-IN" dirty="0" err="1"/>
              <a:t>npm</a:t>
            </a:r>
            <a:r>
              <a:rPr lang="en-IN" dirty="0"/>
              <a:t> install </a:t>
            </a:r>
            <a:r>
              <a:rPr lang="en-IN" dirty="0" err="1"/>
              <a:t>mongodb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4. Import </a:t>
            </a:r>
            <a:r>
              <a:rPr lang="en-IN" dirty="0" err="1"/>
              <a:t>MongoClient</a:t>
            </a:r>
            <a:r>
              <a:rPr lang="en-IN" dirty="0"/>
              <a:t>:</a:t>
            </a:r>
          </a:p>
          <a:p>
            <a:pPr marL="0" lvl="0" indent="0">
              <a:buNone/>
            </a:pPr>
            <a:r>
              <a:rPr lang="en-IN" dirty="0" err="1"/>
              <a:t>const</a:t>
            </a:r>
            <a:r>
              <a:rPr lang="en-IN" dirty="0"/>
              <a:t> { </a:t>
            </a:r>
            <a:r>
              <a:rPr lang="en-IN" dirty="0" err="1"/>
              <a:t>MongoClient</a:t>
            </a:r>
            <a:r>
              <a:rPr lang="en-IN" dirty="0"/>
              <a:t> } = require("</a:t>
            </a:r>
            <a:r>
              <a:rPr lang="en-IN" dirty="0" err="1"/>
              <a:t>mongodb</a:t>
            </a:r>
            <a:r>
              <a:rPr lang="en-IN" dirty="0"/>
              <a:t>");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8501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4584-51E5-1EF2-9077-3D821A08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936B7-CD0C-DA26-E4E4-F4BB0C40F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dirty="0"/>
              <a:t>5. Create a client:</a:t>
            </a:r>
          </a:p>
          <a:p>
            <a:pPr marL="0" lvl="0" indent="0">
              <a:buNone/>
            </a:pPr>
            <a:r>
              <a:rPr lang="en-IN" dirty="0"/>
              <a:t>           </a:t>
            </a:r>
            <a:r>
              <a:rPr lang="en-IN" dirty="0" err="1"/>
              <a:t>const</a:t>
            </a:r>
            <a:r>
              <a:rPr lang="en-IN" dirty="0"/>
              <a:t> client = new </a:t>
            </a:r>
            <a:r>
              <a:rPr lang="en-IN" dirty="0" err="1"/>
              <a:t>MongoClient</a:t>
            </a:r>
            <a:r>
              <a:rPr lang="en-IN" dirty="0"/>
              <a:t>(</a:t>
            </a:r>
            <a:r>
              <a:rPr lang="en-IN" dirty="0" err="1"/>
              <a:t>uri</a:t>
            </a:r>
            <a:r>
              <a:rPr lang="en-IN" dirty="0"/>
              <a:t>);</a:t>
            </a:r>
          </a:p>
          <a:p>
            <a:pPr marL="0" lvl="0" indent="0">
              <a:buNone/>
            </a:pPr>
            <a:r>
              <a:rPr lang="en-IN" dirty="0"/>
              <a:t>6. Connect using:</a:t>
            </a:r>
          </a:p>
          <a:p>
            <a:pPr marL="0" lvl="0" indent="0">
              <a:buNone/>
            </a:pPr>
            <a:r>
              <a:rPr lang="en-IN" dirty="0"/>
              <a:t>            await </a:t>
            </a:r>
            <a:r>
              <a:rPr lang="en-IN" dirty="0" err="1"/>
              <a:t>client.connect</a:t>
            </a:r>
            <a:r>
              <a:rPr lang="en-IN" dirty="0"/>
              <a:t>();</a:t>
            </a:r>
          </a:p>
          <a:p>
            <a:pPr marL="0" lvl="0" indent="0">
              <a:buNone/>
            </a:pPr>
            <a:r>
              <a:rPr lang="en-IN" dirty="0"/>
              <a:t>7. Select a database using:</a:t>
            </a:r>
          </a:p>
          <a:p>
            <a:pPr marL="0" lvl="0" indent="0">
              <a:buNone/>
            </a:pPr>
            <a:r>
              <a:rPr lang="en-IN" dirty="0"/>
              <a:t>           </a:t>
            </a:r>
            <a:r>
              <a:rPr lang="en-IN" dirty="0" err="1"/>
              <a:t>client.db</a:t>
            </a:r>
            <a:r>
              <a:rPr lang="en-IN" dirty="0"/>
              <a:t>("college");</a:t>
            </a:r>
          </a:p>
          <a:p>
            <a:pPr marL="0" lvl="0" indent="0">
              <a:buNone/>
            </a:pPr>
            <a:r>
              <a:rPr lang="en-IN" dirty="0"/>
              <a:t>8. Select a collection using:</a:t>
            </a:r>
          </a:p>
          <a:p>
            <a:pPr marL="0" lvl="0" indent="0">
              <a:buNone/>
            </a:pPr>
            <a:r>
              <a:rPr lang="en-IN" dirty="0"/>
              <a:t>            </a:t>
            </a:r>
            <a:r>
              <a:rPr lang="en-IN" dirty="0" err="1"/>
              <a:t>db.collection</a:t>
            </a:r>
            <a:r>
              <a:rPr lang="en-IN" dirty="0"/>
              <a:t>("students");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57614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26CA-6F9C-9E47-C584-37B0781A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DF6BC-AC56-CBEA-12BD-14D94B3C4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 startAt="9"/>
            </a:pPr>
            <a:r>
              <a:rPr lang="en-IN" dirty="0"/>
              <a:t>Use CRUD methods to work with documents.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IN" dirty="0"/>
              <a:t>Use try...catch for error handling.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IN" dirty="0"/>
              <a:t>Use environment variables to protect connection strings and passwords.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IN" dirty="0"/>
              <a:t>Close the client when appropriate.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56970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C7B37-676D-54BE-851E-D6CB79706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Application connectivity using Node.js means connecting a Node.js application to MongoDB using the MongoDB Node.js Driver so that the application can store, retrieve, update, and delete data.</a:t>
            </a:r>
          </a:p>
        </p:txBody>
      </p:sp>
    </p:spTree>
    <p:extLst>
      <p:ext uri="{BB962C8B-B14F-4D97-AF65-F5344CB8AC3E}">
        <p14:creationId xmlns:p14="http://schemas.microsoft.com/office/powerpoint/2010/main" val="216363590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A9DA-CD61-63CE-4B8D-20C0C650A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/>
              <a:t>   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                           </a:t>
            </a:r>
            <a:r>
              <a:rPr lang="en-IN" sz="6000" b="1" dirty="0">
                <a:solidFill>
                  <a:srgbClr val="00B0F0"/>
                </a:solidFill>
              </a:rPr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94080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5486</TotalTime>
  <Words>6877</Words>
  <Application>Microsoft Office PowerPoint</Application>
  <PresentationFormat>Widescreen</PresentationFormat>
  <Paragraphs>1539</Paragraphs>
  <Slides>146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146</vt:i4>
      </vt:variant>
    </vt:vector>
  </HeadingPairs>
  <TitlesOfParts>
    <vt:vector size="153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PowerPoint Presentation</vt:lpstr>
      <vt:lpstr>Previous Class Recap</vt:lpstr>
      <vt:lpstr>Outline</vt:lpstr>
      <vt:lpstr>PowerPoint Presentation</vt:lpstr>
      <vt:lpstr>Schema Validation and Data Integrity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terms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Connectivity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Connectivity Using Node.js and 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Kumar [MU - Jaipur]</dc:creator>
  <cp:lastModifiedBy>Pramod Kumar [MU - Jaipur]</cp:lastModifiedBy>
  <cp:revision>628</cp:revision>
  <dcterms:created xsi:type="dcterms:W3CDTF">2026-07-24T11:52:32Z</dcterms:created>
  <dcterms:modified xsi:type="dcterms:W3CDTF">2026-09-06T11:48:02Z</dcterms:modified>
</cp:coreProperties>
</file>