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3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6537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704B"/>
                </a:solidFill>
              </a:rPr>
              <a:t>MongoDB Queries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400" b="1">
                <a:solidFill>
                  <a:srgbClr val="12332E"/>
                </a:solidFill>
              </a:rPr>
              <a:t>MongoDB </a:t>
            </a:r>
            <a:r>
              <a:rPr lang="en-US" sz="4400" b="1" dirty="0">
                <a:solidFill>
                  <a:srgbClr val="12332E"/>
                </a:solidFill>
              </a:rPr>
              <a:t>Queries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2716B"/>
                </a:solidFill>
              </a:rPr>
              <a:t>From collection setup to CRUD, filtering, sorting, indexing, and aggregation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15468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6384" y="321868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Student-friendly examples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88920" y="315468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275DAD"/>
          </a:solidFill>
          <a:ln w="12700">
            <a:solidFill>
              <a:srgbClr val="275D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843784" y="321868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 Shell style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4297680"/>
            <a:ext cx="411480" cy="411480"/>
          </a:xfrm>
          <a:prstGeom prst="chevron">
            <a:avLst/>
          </a:prstGeom>
          <a:solidFill>
            <a:srgbClr val="A6BFA2"/>
          </a:solidFill>
          <a:ln w="12700">
            <a:solidFill>
              <a:srgbClr val="A6B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0" y="4297680"/>
            <a:ext cx="411480" cy="411480"/>
          </a:xfrm>
          <a:prstGeom prst="chevron">
            <a:avLst/>
          </a:prstGeom>
          <a:solidFill>
            <a:srgbClr val="A6BFA2"/>
          </a:solidFill>
          <a:ln w="12700">
            <a:solidFill>
              <a:srgbClr val="A6B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17373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96112" y="4105656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4348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collegeDB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3977640"/>
            <a:ext cx="17373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56432" y="4105656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Collection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44348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students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0" y="3977640"/>
            <a:ext cx="2011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25312" y="410565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Document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25312" y="443484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{ name, marks }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977640"/>
            <a:ext cx="3337560" cy="1097280"/>
          </a:xfrm>
          <a:prstGeom prst="roundRect">
            <a:avLst>
              <a:gd name="adj" fmla="val 4167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75320" y="40965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marks: { $gte: 80 } })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1. How MongoDB Organizes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Think: database → collection → document. Documents are JSON-like BSON records.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606040" y="1737360"/>
            <a:ext cx="411480" cy="411480"/>
          </a:xfrm>
          <a:prstGeom prst="chevron">
            <a:avLst/>
          </a:prstGeom>
          <a:solidFill>
            <a:srgbClr val="A6BFA2"/>
          </a:solidFill>
          <a:ln w="12700">
            <a:solidFill>
              <a:srgbClr val="A6B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74920" y="1737360"/>
            <a:ext cx="411480" cy="411480"/>
          </a:xfrm>
          <a:prstGeom prst="chevron">
            <a:avLst/>
          </a:prstGeom>
          <a:solidFill>
            <a:srgbClr val="A6BFA2"/>
          </a:solidFill>
          <a:ln w="12700">
            <a:solidFill>
              <a:srgbClr val="A6B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7373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50392" y="1545336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Database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8745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collegeDB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17373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10712" y="1545336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Collection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0712" y="18745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students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15000" y="1417320"/>
            <a:ext cx="2011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79592" y="15453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Document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79592" y="187452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{ name, marks 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246120"/>
            <a:ext cx="3200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0392" y="3374136"/>
            <a:ext cx="28712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Relational 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" y="3703320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Rows and columns with fixed schema. Example: Student table.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3246120"/>
            <a:ext cx="3200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07992" y="3374136"/>
            <a:ext cx="28712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MongoDB 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07992" y="3703320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Flexible documents. Fields can vary by record.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09560" y="1417320"/>
            <a:ext cx="3520440" cy="3337560"/>
          </a:xfrm>
          <a:prstGeom prst="roundRect">
            <a:avLst>
              <a:gd name="adj" fmla="val 1370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46720" y="1536192"/>
            <a:ext cx="32461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1,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"Asha",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course: "B.Tech",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marks: 86,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skills: ["MongoDB", "Python"]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6272784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879384"/>
                </a:solidFill>
              </a:rPr>
              <a:t>Source: MongoDB Manual, Read Documents and query examples.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2. Start With a Sample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Use one small collection so students can test every command.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0392" y="1362456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Step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6916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Open mongosh or MongoDB Compass shell.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234440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93592" y="1362456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Step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93592" y="16916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Select or create database with use command.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36792" y="1362456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Step 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36792" y="16916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Insert sample documents into students collection.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560320"/>
            <a:ext cx="10881360" cy="3108960"/>
          </a:xfrm>
          <a:prstGeom prst="roundRect">
            <a:avLst>
              <a:gd name="adj" fmla="val 1471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679192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collegeDB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db.students.insertMany([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1, name: "Asha", dept: "CSE", marks: 86, city: "Jaipur", skills: ["Python", "MongoDB"]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2, name: "Ravi", dept: "AIML", marks: 73, city: "Delhi", skills: ["Python", "ML"]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3, name: "Neha", dept: "CSE", marks: 91, city: "Jaipur", skills: ["Java", "MongoDB"]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4, name: "Kabir", dept: "ECE", marks: 64, city: "Kota", skills: ["IoT"]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3. Insert Queries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Insert one document or many documents into a collection.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303520" cy="2286000"/>
          </a:xfrm>
          <a:prstGeom prst="roundRect">
            <a:avLst>
              <a:gd name="adj" fmla="val 2000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 one student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db.students.insertOne({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roll: 5,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"Meera",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dept: "AIML",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marks: 82,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city: "Udaipur"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143000"/>
            <a:ext cx="5166360" cy="2286000"/>
          </a:xfrm>
          <a:prstGeom prst="roundRect">
            <a:avLst>
              <a:gd name="adj" fmla="val 2000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46520" y="1261872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 many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db.students.insertMany([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6, name: "Tanay", dept: "CSE", marks: 77 },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7, name: "Sara", dept: "AIML", marks: 89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2332E"/>
                </a:solidFill>
              </a:rPr>
              <a:t>insertOne() adds a single document.</a:t>
            </a:r>
            <a:endParaRPr lang="en-US" sz="1700" dirty="0"/>
          </a:p>
          <a:p>
            <a:r>
              <a:rPr lang="en-US" sz="1700" dirty="0">
                <a:solidFill>
                  <a:srgbClr val="12332E"/>
                </a:solidFill>
              </a:rPr>
              <a:t>insertMany() adds multiple documents.</a:t>
            </a:r>
            <a:endParaRPr lang="en-US" sz="1700" dirty="0"/>
          </a:p>
          <a:p>
            <a:r>
              <a:rPr lang="en-US" sz="1700" dirty="0">
                <a:solidFill>
                  <a:srgbClr val="12332E"/>
                </a:solidFill>
              </a:rPr>
              <a:t>MongoDB automatically creates _id if not supplied.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6272784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879384"/>
                </a:solidFill>
              </a:rPr>
              <a:t>Source: MongoDB CRUD examples use insertOne(), insertMany(), and find() on collections.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4. Read Queries: find() and findOne()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Read documents from a collection using a filter object.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303520" cy="2926080"/>
          </a:xfrm>
          <a:prstGeom prst="roundRect">
            <a:avLst>
              <a:gd name="adj" fmla="val 1563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Show all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Show one matching student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db.students.findOne({ roll: 3 })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Show all CSE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dept: "CSE" })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143000"/>
            <a:ext cx="5074920" cy="822960"/>
          </a:xfrm>
          <a:prstGeom prst="roundRect">
            <a:avLst>
              <a:gd name="adj" fmla="val 5556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73952" y="1271016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Query Formula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3952" y="1600200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db.collection.find( { condition } 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2240280"/>
            <a:ext cx="5074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73952" y="2368296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Meaning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3952" y="2697480"/>
            <a:ext cx="474573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The condition is written as a JSON-like object. Example: { dept: "CSE" } means select documents where dept equals CSE.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88620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73952" y="4014216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Classroom Tip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434340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Start with find() before using complex filters so students can see the dataset.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6272784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879384"/>
                </a:solidFill>
              </a:rPr>
              <a:t>Source: MongoDB Read Documents tutorial shows query operations using collection.find().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5. Equality Query and Projection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Projection controls which fields are displayed in the output.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303520" cy="3063240"/>
          </a:xfrm>
          <a:prstGeom prst="roundRect">
            <a:avLst>
              <a:gd name="adj" fmla="val 1493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Equality condition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city: "Jaipur" })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Projection: show only name and marks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city: "Jaipur" },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1, marks: 1, _id: 0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14300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73952" y="1271016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Projection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3952" y="160020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1 means include the field. 0 means hide the field.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73952" y="2596896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Expected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3952" y="292608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Only name and marks of Jaipur students will be visible.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79476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73952" y="3922776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Use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425196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Report card view: display selected fields without showing all document details.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6. Comparison Operators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Use comparison operators to search ranges.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669280" cy="3246120"/>
          </a:xfrm>
          <a:prstGeom prst="roundRect">
            <a:avLst>
              <a:gd name="adj" fmla="val 1408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Marks greater than or equal to 80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marks: { $gte: 80 } })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Marks less than 75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marks: { $lt: 75 } })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Marks between 70 and 90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marks: { $gte: 70, $lte: 90 } })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29400" y="1143000"/>
            <a:ext cx="2194560" cy="27889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793992" y="1271016"/>
            <a:ext cx="1865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Common operators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93992" y="1600200"/>
            <a:ext cx="1865376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$gt greater than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$gte greater than or equal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$lt less than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$lte less than or equal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$ne not equal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098280" y="1143000"/>
            <a:ext cx="2148840" cy="1508760"/>
          </a:xfrm>
          <a:prstGeom prst="roundRect">
            <a:avLst>
              <a:gd name="adj" fmla="val 3030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262872" y="1271016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Example result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62872" y="1600200"/>
            <a:ext cx="1819656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Students with marks 80 or above: Asha, Neha, Sara.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6272784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879384"/>
                </a:solidFill>
              </a:rPr>
              <a:t>Source: MongoDB query predicate operators include $gt, $gte, $lt, $lte, and $ne for comparisons.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7. Logical and List Queries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Combine multiple conditions using $and, $or, $in, and $nin.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078992"/>
            <a:ext cx="6537960" cy="4160520"/>
          </a:xfrm>
          <a:prstGeom prst="roundRect">
            <a:avLst>
              <a:gd name="adj" fmla="val 1099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197864"/>
            <a:ext cx="6263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CSE students with marks above 80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$and: [ { dept: "CSE" }, { marks: { $gt: 80 } } 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Students from Jaipur OR Delhi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city: { $in: ["Jaipur", "Delhi"]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AIML or CSE students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$or: [ { dept: "AIML" }, { dept: "CSE" } 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43800" y="1280160"/>
            <a:ext cx="34290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08392" y="1408176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When to use?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08392" y="1737360"/>
            <a:ext cx="309981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$and: all conditions true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$or: at least one true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$in: value belongs to a list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$nin: value not in a list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43800" y="3703320"/>
            <a:ext cx="3429000" cy="1051560"/>
          </a:xfrm>
          <a:prstGeom prst="roundRect">
            <a:avLst>
              <a:gd name="adj" fmla="val 4348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08392" y="3831336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Teaching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08392" y="416052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Find students eligible for scholarship: department is CSE and marks &gt; 85.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6272784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879384"/>
                </a:solidFill>
              </a:rPr>
              <a:t>Source: MongoDB docs define $or and $and logical query operators.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8. Query Embedded Fields and Arrays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MongoDB can search inside nested documents and arrays.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6446520" cy="3794760"/>
          </a:xfrm>
          <a:prstGeom prst="roundRect">
            <a:avLst>
              <a:gd name="adj" fmla="val 1205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6172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a nested address field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db.students.updateOne(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1 },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$set: { address: { state: "Rajasthan", pin: 302001 } } }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 embedded field using dot notation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"address.state": "Rajasthan" })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 array field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skills: "MongoDB" })</a:t>
            </a:r>
            <a:endParaRPr lang="en-US" sz="1160" dirty="0"/>
          </a:p>
        </p:txBody>
      </p:sp>
      <p:sp>
        <p:nvSpPr>
          <p:cNvPr id="6" name="Shape 4"/>
          <p:cNvSpPr/>
          <p:nvPr/>
        </p:nvSpPr>
        <p:spPr>
          <a:xfrm>
            <a:off x="7543800" y="1234440"/>
            <a:ext cx="33832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08392" y="1362456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Dot notation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08392" y="169164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Use quotes around nested field names: "address.state".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43800" y="256032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08392" y="2688336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Array matching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08392" y="3017520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{ skills: "MongoDB" } matches documents where the skills array contains MongoDB.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0" y="4069080"/>
            <a:ext cx="3383280" cy="1005840"/>
          </a:xfrm>
          <a:prstGeom prst="roundRect">
            <a:avLst>
              <a:gd name="adj" fmla="val 4545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08392" y="4197096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Use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08392" y="452628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Student profile can store address and multiple skills in one document.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9. Sorting, Limiting, and Counting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Control result order and result size.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760720" cy="3017520"/>
          </a:xfrm>
          <a:prstGeom prst="roundRect">
            <a:avLst>
              <a:gd name="adj" fmla="val 1515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 by marks in descending order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db.students.find().sort({ marks: -1 })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 3 students by marks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db.students.find().sort({ marks: -1 }).limit(3)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CSE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db.students.countDocuments({ dept: "CSE" })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1143000"/>
            <a:ext cx="21945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85432" y="1271016"/>
            <a:ext cx="1865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sort()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85432" y="160020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1 = ascending order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-1 = descending order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098280" y="1143000"/>
            <a:ext cx="21945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262872" y="1271016"/>
            <a:ext cx="1865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limit()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62872" y="160020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Restricts number of documents displayed.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20840" y="2606040"/>
            <a:ext cx="4572000" cy="960120"/>
          </a:xfrm>
          <a:prstGeom prst="roundRect">
            <a:avLst>
              <a:gd name="adj" fmla="val 4762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85432" y="273405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countDocuments()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85432" y="3063240"/>
            <a:ext cx="424281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Counts matching records without showing all documents.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10. Update Queries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Modify one or many documents using update operators.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6492240" cy="4023360"/>
          </a:xfrm>
          <a:prstGeom prst="roundRect">
            <a:avLst>
              <a:gd name="adj" fmla="val 1136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6217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 one document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db.students.updateOne(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2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$set: { city: "Jaipur" }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Increase marks by 5 for one student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db.students.updateOne(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roll: 4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$inc: { marks: 5 }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 many documents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db.students.updateMany(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dept: "CSE"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$set: { club: "Coding" }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43800" y="123444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08392" y="1362456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$set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08392" y="169164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Adds or changes a field value.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43800" y="214884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08392" y="2276856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$inc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08392" y="260604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Increases or decreases a numeric field.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0" y="3063240"/>
            <a:ext cx="3291840" cy="1143000"/>
          </a:xfrm>
          <a:prstGeom prst="roundRect">
            <a:avLst>
              <a:gd name="adj" fmla="val 4000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08392" y="3191256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updateMany()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08392" y="3520440"/>
            <a:ext cx="296265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Useful for batch changes, for example assigning the same club to all CSE students.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11. Delete Queries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Remove one or many documents carefully.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5852160" cy="2926080"/>
          </a:xfrm>
          <a:prstGeom prst="roundRect">
            <a:avLst>
              <a:gd name="adj" fmla="val 1563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307592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one student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db.students.deleteOne({ roll: 7 })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all students with marks below 40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db.students.deleteMany({ marks: { $lt: 40 } })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before deleting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marks: { $lt: 40 } })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1325880"/>
            <a:ext cx="43891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2332E"/>
                </a:solidFill>
              </a:rPr>
              <a:t>Always run find() first to verify which documents will be deleted.</a:t>
            </a:r>
            <a:endParaRPr lang="en-US" sz="1600" dirty="0"/>
          </a:p>
          <a:p>
            <a:r>
              <a:rPr lang="en-US" sz="1600" dirty="0">
                <a:solidFill>
                  <a:srgbClr val="12332E"/>
                </a:solidFill>
              </a:rPr>
              <a:t>deleteOne() removes the first matching document.</a:t>
            </a:r>
            <a:endParaRPr lang="en-US" sz="1600" dirty="0"/>
          </a:p>
          <a:p>
            <a:r>
              <a:rPr lang="en-US" sz="1600" dirty="0">
                <a:solidFill>
                  <a:srgbClr val="12332E"/>
                </a:solidFill>
              </a:rPr>
              <a:t>deleteMany() removes all matching documents.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12280" y="3794760"/>
            <a:ext cx="4389120" cy="868680"/>
          </a:xfrm>
          <a:prstGeom prst="roundRect">
            <a:avLst>
              <a:gd name="adj" fmla="val 5263"/>
            </a:avLst>
          </a:prstGeom>
          <a:solidFill>
            <a:srgbClr val="FFF1E8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76872" y="3922776"/>
            <a:ext cx="40599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Safety rule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76872" y="425196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Never run deleteMany({}) unless you intentionally want to empty the collection.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12. Indexes for Faster Queries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Indexes help MongoDB find data quickly, similar to an index in a book.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6035040" cy="3108960"/>
          </a:xfrm>
          <a:prstGeom prst="roundRect">
            <a:avLst>
              <a:gd name="adj" fmla="val 1471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index on marks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db.students.createIndex({ marks: 1 })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compound index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db.students.createIndex({ dept: 1, marks: -1 })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query plan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dept: "CSE" }).explain("executionStats")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95160" y="1143000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59752" y="1271016"/>
            <a:ext cx="17282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Single-field index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59752" y="160020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Good when queries often filter one field.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281160" y="1143000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445752" y="1271016"/>
            <a:ext cx="17282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Compound index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45752" y="160020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Good when queries filter/sort by multiple fields together.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95160" y="2743200"/>
            <a:ext cx="4343400" cy="1234440"/>
          </a:xfrm>
          <a:prstGeom prst="roundRect">
            <a:avLst>
              <a:gd name="adj" fmla="val 3704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59752" y="2871216"/>
            <a:ext cx="40142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Warning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59752" y="3200400"/>
            <a:ext cx="4014216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Indexes improve reads but add storage and update cost. Create indexes based on real query needs.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13. Aggregation Pipeline: Analyze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Aggregation processes documents through stages such as $match, $group, and $sort.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440680" cy="2194560"/>
          </a:xfrm>
          <a:prstGeom prst="roundRect">
            <a:avLst>
              <a:gd name="adj" fmla="val 2083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Average marks by department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db.students.aggregate([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 _id: "$dept", avgMarks: { $avg: "$marks" } } },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avgMarks: -1 } }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7360920" y="1417320"/>
            <a:ext cx="502920" cy="320040"/>
          </a:xfrm>
          <a:prstGeom prst="rightArrow">
            <a:avLst/>
          </a:prstGeom>
          <a:solidFill>
            <a:srgbClr val="A6BFA2"/>
          </a:solidFill>
          <a:ln w="12700">
            <a:solidFill>
              <a:srgbClr val="A6B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732520" y="1417320"/>
            <a:ext cx="502920" cy="320040"/>
          </a:xfrm>
          <a:prstGeom prst="rightArrow">
            <a:avLst/>
          </a:prstGeom>
          <a:solidFill>
            <a:srgbClr val="A6BFA2"/>
          </a:solidFill>
          <a:ln w="12700">
            <a:solidFill>
              <a:srgbClr val="A6B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46520" y="1097280"/>
            <a:ext cx="777240" cy="914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11112" y="1225296"/>
            <a:ext cx="4480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Input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1112" y="1554480"/>
            <a:ext cx="448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documents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685800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19872" y="1225296"/>
            <a:ext cx="356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$group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19872" y="1554480"/>
            <a:ext cx="35661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avg by dept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81160" y="109728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445752" y="1225296"/>
            <a:ext cx="402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$sort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45752" y="15544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highest first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378440" y="1097280"/>
            <a:ext cx="777240" cy="914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543032" y="1225296"/>
            <a:ext cx="4480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43032" y="1554480"/>
            <a:ext cx="448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summary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788920"/>
            <a:ext cx="4846320" cy="1143000"/>
          </a:xfrm>
          <a:prstGeom prst="roundRect">
            <a:avLst>
              <a:gd name="adj" fmla="val 4000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73952" y="2916936"/>
            <a:ext cx="45171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Why aggregation?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246120"/>
            <a:ext cx="451713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Use it for reports: average marks, department-wise count, top performers, city-wise distribution.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6272784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879384"/>
                </a:solidFill>
              </a:rPr>
              <a:t>Source: MongoDB docs describe aggregation pipelines as stages that process documents and pass outputs to the next stage.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14. Aggregation Example: Filter +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Create clean report output with selected fields.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6309360" cy="4023360"/>
          </a:xfrm>
          <a:prstGeom prst="roundRect">
            <a:avLst>
              <a:gd name="adj" fmla="val 1136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Report: top students with grade label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db.students.aggregate([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$match: { marks: { $gte: 80 } }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$project: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0,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1,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dept: 1,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marks: 1,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grade: "Excellent"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marks: -1 }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188720"/>
            <a:ext cx="33832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79792" y="1316736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$match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79792" y="1645920"/>
            <a:ext cx="305409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Filters documents like find().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0" y="2103120"/>
            <a:ext cx="33832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79792" y="2231136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$project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79792" y="2560320"/>
            <a:ext cx="305409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Selects, renames, or computes fields.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0" y="3017520"/>
            <a:ext cx="33832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79792" y="3145536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$sort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79792" y="3474720"/>
            <a:ext cx="305409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Arranges the output.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393192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FFF1E8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79792" y="4059936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Student task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79792" y="438912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Modify the query to show only AIML students with marks ≥ 75.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15. Mini Case Study: Student Result Portal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Use MongoDB queries to build a simple academic dashboard.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2461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0392" y="122529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55448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College wants a fast student result portal with search by department, city, marks, and skills.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097280"/>
            <a:ext cx="32461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16552" y="122529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Queries needed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16552" y="155448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Find toppers, count department students, update city, list MongoDB-skilled students.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18120" y="1097280"/>
            <a:ext cx="32461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982712" y="122529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Result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82712" y="155448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A flexible document database stores profile, marks, skills, and address together.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971800"/>
            <a:ext cx="10607040" cy="2011680"/>
          </a:xfrm>
          <a:prstGeom prst="roundRect">
            <a:avLst>
              <a:gd name="adj" fmla="val 2273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090672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Dashboard queries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dept: "CSE" }).sort({ marks: -1 }).limit(5)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db.students.countDocuments({ dept: "AIML" })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db.students.find({ skills: "MongoDB" }, { name: 1, skills: 1, _id: 0 })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db.students.aggregate([{ $group: { _id: "$city", total: { $sum: 1 } } }])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16. Practice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Write MongoDB queries for the following tasks.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52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Display all students from Jaipur.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0" y="1252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Find students whose marks are greater than 80.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114300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0" y="125272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15544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Show only name and department of all CSE students.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24028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3500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Increase Ravi’s marks by 3.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224028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0" y="23500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Find students who know MongoDB.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224028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321040" y="235000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6517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Count students in each department using aggregation.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333756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34472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Delete students with marks below 35.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333756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0" y="34472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Create an index on dept and marks.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83880" y="333756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B4C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321040" y="344728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37490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32E"/>
                </a:solidFill>
              </a:rPr>
              <a:t>Show top 3 students by marks.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17. Practice Answers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One possible answer for each task.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881360" cy="4480560"/>
          </a:xfrm>
          <a:prstGeom prst="roundRect">
            <a:avLst>
              <a:gd name="adj" fmla="val 1020"/>
            </a:avLst>
          </a:prstGeom>
          <a:solidFill>
            <a:srgbClr val="101820"/>
          </a:solidFill>
          <a:ln w="12700">
            <a:solidFill>
              <a:srgbClr val="243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10607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 db.students.find({ city: "Jaipur" })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 db.students.find({ marks: { $gt: 80 } })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 db.students.find({ dept: "CSE" }, { name: 1, dept: 1, _id: 0 })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  db.students.updateOne({ name: "Ravi" }, { $inc: { marks: 3 } })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  db.students.find({ skills: "MongoDB" })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  db.students.aggregate([{ $group: { _id: "$dept", total: { $sum: 1 } } }])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A7  db.students.deleteMany({ marks: { $lt: 35 } })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  db.students.createIndex({ dept: 1, marks: -1 })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7F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A9  db.students.find().sort({ marks: -1 }).limit(3)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18. Query Writing 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Good queries are correct, readable, and efficient.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2918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0392" y="1271016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1. Start small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60020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Test with find() and a simple filter before writing complex conditions.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32918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99432" y="1271016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2. Use projection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9432" y="160020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Return only the fields needed by the application.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1143000"/>
            <a:ext cx="3154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48472" y="1271016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3. Index frequent filters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48472" y="1600200"/>
            <a:ext cx="282549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Create indexes for fields used in search and sort operations.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697480"/>
            <a:ext cx="32918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50392" y="2825496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4. Check before delete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315468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Run find() with the same condition before deleteMany().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2697480"/>
            <a:ext cx="32918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99432" y="2825496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5. Use aggregation for reports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9432" y="315468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Use $group, $project, $sort for analytical summaries.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2697480"/>
            <a:ext cx="3154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348472" y="2825496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6. Keep schema practical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48472" y="3154680"/>
            <a:ext cx="282549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Embed when data is read together; reference when data grows independently.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32E"/>
                </a:solidFill>
              </a:rPr>
              <a:t>References and Suggested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6B"/>
                </a:solidFill>
              </a:rPr>
              <a:t>Official MongoDB documentation is the recommended reference for command syntax.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607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2332E"/>
                </a:solidFill>
              </a:rPr>
              <a:t>MongoDB Manual: Read Documents tutorial — collection.find() examples.</a:t>
            </a:r>
            <a:endParaRPr lang="en-US" sz="1700" dirty="0"/>
          </a:p>
          <a:p>
            <a:r>
              <a:rPr lang="en-US" sz="1700" dirty="0">
                <a:solidFill>
                  <a:srgbClr val="12332E"/>
                </a:solidFill>
              </a:rPr>
              <a:t>MongoDB Manual: Query predicate operators — comparison and logical operators.</a:t>
            </a:r>
            <a:endParaRPr lang="en-US" sz="1700" dirty="0"/>
          </a:p>
          <a:p>
            <a:r>
              <a:rPr lang="en-US" sz="1700" dirty="0">
                <a:solidFill>
                  <a:srgbClr val="12332E"/>
                </a:solidFill>
              </a:rPr>
              <a:t>MongoDB Manual: Aggregation pipeline — stage-based document processing.</a:t>
            </a:r>
            <a:endParaRPr lang="en-US" sz="1700" dirty="0"/>
          </a:p>
          <a:p>
            <a:r>
              <a:rPr lang="en-US" sz="1700" dirty="0">
                <a:solidFill>
                  <a:srgbClr val="12332E"/>
                </a:solidFill>
              </a:rPr>
              <a:t>Practice dataset: collegeDB.students collection used throughout this deck.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3657600"/>
            <a:ext cx="10607040" cy="1143000"/>
          </a:xfrm>
          <a:prstGeom prst="roundRect">
            <a:avLst>
              <a:gd name="adj" fmla="val 4000"/>
            </a:avLst>
          </a:prstGeom>
          <a:solidFill>
            <a:srgbClr val="E9F5E7"/>
          </a:solidFill>
          <a:ln w="12700">
            <a:solidFill>
              <a:srgbClr val="D7DF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41832" y="3785616"/>
            <a:ext cx="102778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32E"/>
                </a:solidFill>
              </a:rPr>
              <a:t>Class activity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4114800"/>
            <a:ext cx="1027785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2716B"/>
                </a:solidFill>
              </a:rPr>
              <a:t>Ask students to add 5 more student records and write 10 queries using equality, comparison, logical operators, update, delete, and aggregation.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8704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2592</Words>
  <Application>Microsoft Office PowerPoint</Application>
  <PresentationFormat>Widescreen</PresentationFormat>
  <Paragraphs>380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Step-by-Step Query Guide</dc:title>
  <dc:subject>MongoDB step-by-step queries</dc:subject>
  <dc:creator>OpenAI</dc:creator>
  <cp:lastModifiedBy>Dr. Arunangshu Pal [MU - Jaipur]</cp:lastModifiedBy>
  <cp:revision>2</cp:revision>
  <dcterms:created xsi:type="dcterms:W3CDTF">2026-08-06T04:37:46Z</dcterms:created>
  <dcterms:modified xsi:type="dcterms:W3CDTF">2026-08-06T04:42:31Z</dcterms:modified>
</cp:coreProperties>
</file>