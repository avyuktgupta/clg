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7" r:id="rId2"/>
    <p:sldId id="272"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7" r:id="rId17"/>
    <p:sldId id="278" r:id="rId18"/>
    <p:sldId id="279" r:id="rId19"/>
    <p:sldId id="271" r:id="rId20"/>
    <p:sldId id="273" r:id="rId21"/>
    <p:sldId id="274" r:id="rId22"/>
    <p:sldId id="275" r:id="rId23"/>
    <p:sldId id="276"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E7695C-41FD-400A-B6DC-6D98A74220E2}"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FAE17-6A8F-44EA-BAF6-6FE3CA5FCB56}" type="slidenum">
              <a:rPr lang="en-US" smtClean="0"/>
              <a:t>‹#›</a:t>
            </a:fld>
            <a:endParaRPr lang="en-US"/>
          </a:p>
        </p:txBody>
      </p:sp>
    </p:spTree>
    <p:extLst>
      <p:ext uri="{BB962C8B-B14F-4D97-AF65-F5344CB8AC3E}">
        <p14:creationId xmlns:p14="http://schemas.microsoft.com/office/powerpoint/2010/main" val="3842537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128"/>
              </a:defRPr>
            </a:lvl1pPr>
            <a:lvl2pPr marL="742950" indent="-285750" defTabSz="966788">
              <a:defRPr sz="2000">
                <a:solidFill>
                  <a:schemeClr val="tx1"/>
                </a:solidFill>
                <a:latin typeface="Arial" charset="0"/>
                <a:ea typeface="ＭＳ Ｐゴシック" charset="-128"/>
              </a:defRPr>
            </a:lvl2pPr>
            <a:lvl3pPr marL="1143000" indent="-228600" defTabSz="966788">
              <a:defRPr sz="2000">
                <a:solidFill>
                  <a:schemeClr val="tx1"/>
                </a:solidFill>
                <a:latin typeface="Arial" charset="0"/>
                <a:ea typeface="ＭＳ Ｐゴシック" charset="-128"/>
              </a:defRPr>
            </a:lvl3pPr>
            <a:lvl4pPr marL="1600200" indent="-228600" defTabSz="966788">
              <a:defRPr sz="2000">
                <a:solidFill>
                  <a:schemeClr val="tx1"/>
                </a:solidFill>
                <a:latin typeface="Arial" charset="0"/>
                <a:ea typeface="ＭＳ Ｐゴシック" charset="-128"/>
              </a:defRPr>
            </a:lvl4pPr>
            <a:lvl5pPr marL="2057400" indent="-228600" defTabSz="966788">
              <a:defRPr sz="2000">
                <a:solidFill>
                  <a:schemeClr val="tx1"/>
                </a:solidFill>
                <a:latin typeface="Arial" charset="0"/>
                <a:ea typeface="ＭＳ Ｐゴシック" charset="-128"/>
              </a:defRPr>
            </a:lvl5pPr>
            <a:lvl6pPr marL="2514600" indent="-228600" defTabSz="966788" eaLnBrk="0" fontAlgn="base" hangingPunct="0">
              <a:spcBef>
                <a:spcPct val="0"/>
              </a:spcBef>
              <a:spcAft>
                <a:spcPct val="0"/>
              </a:spcAft>
              <a:defRPr sz="2000">
                <a:solidFill>
                  <a:schemeClr val="tx1"/>
                </a:solidFill>
                <a:latin typeface="Arial" charset="0"/>
                <a:ea typeface="ＭＳ Ｐゴシック" charset="-128"/>
              </a:defRPr>
            </a:lvl6pPr>
            <a:lvl7pPr marL="2971800" indent="-228600" defTabSz="966788" eaLnBrk="0" fontAlgn="base" hangingPunct="0">
              <a:spcBef>
                <a:spcPct val="0"/>
              </a:spcBef>
              <a:spcAft>
                <a:spcPct val="0"/>
              </a:spcAft>
              <a:defRPr sz="2000">
                <a:solidFill>
                  <a:schemeClr val="tx1"/>
                </a:solidFill>
                <a:latin typeface="Arial" charset="0"/>
                <a:ea typeface="ＭＳ Ｐゴシック" charset="-128"/>
              </a:defRPr>
            </a:lvl7pPr>
            <a:lvl8pPr marL="3429000" indent="-228600" defTabSz="966788" eaLnBrk="0" fontAlgn="base" hangingPunct="0">
              <a:spcBef>
                <a:spcPct val="0"/>
              </a:spcBef>
              <a:spcAft>
                <a:spcPct val="0"/>
              </a:spcAft>
              <a:defRPr sz="2000">
                <a:solidFill>
                  <a:schemeClr val="tx1"/>
                </a:solidFill>
                <a:latin typeface="Arial" charset="0"/>
                <a:ea typeface="ＭＳ Ｐゴシック" charset="-128"/>
              </a:defRPr>
            </a:lvl8pPr>
            <a:lvl9pPr marL="3886200" indent="-228600" defTabSz="966788" eaLnBrk="0" fontAlgn="base" hangingPunct="0">
              <a:spcBef>
                <a:spcPct val="0"/>
              </a:spcBef>
              <a:spcAft>
                <a:spcPct val="0"/>
              </a:spcAft>
              <a:defRPr sz="2000">
                <a:solidFill>
                  <a:schemeClr val="tx1"/>
                </a:solidFill>
                <a:latin typeface="Arial" charset="0"/>
                <a:ea typeface="ＭＳ Ｐゴシック" charset="-128"/>
              </a:defRPr>
            </a:lvl9pPr>
          </a:lstStyle>
          <a:p>
            <a:r>
              <a:rPr lang="en-US" altLang="x-none" sz="1300"/>
              <a:t>Cpt S 317: Spring 2009</a:t>
            </a:r>
          </a:p>
        </p:txBody>
      </p:sp>
      <p:sp>
        <p:nvSpPr>
          <p:cNvPr id="204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128"/>
              </a:defRPr>
            </a:lvl1pPr>
            <a:lvl2pPr marL="742950" indent="-285750" defTabSz="966788">
              <a:defRPr sz="2000">
                <a:solidFill>
                  <a:schemeClr val="tx1"/>
                </a:solidFill>
                <a:latin typeface="Arial" charset="0"/>
                <a:ea typeface="ＭＳ Ｐゴシック" charset="-128"/>
              </a:defRPr>
            </a:lvl2pPr>
            <a:lvl3pPr marL="1143000" indent="-228600" defTabSz="966788">
              <a:defRPr sz="2000">
                <a:solidFill>
                  <a:schemeClr val="tx1"/>
                </a:solidFill>
                <a:latin typeface="Arial" charset="0"/>
                <a:ea typeface="ＭＳ Ｐゴシック" charset="-128"/>
              </a:defRPr>
            </a:lvl3pPr>
            <a:lvl4pPr marL="1600200" indent="-228600" defTabSz="966788">
              <a:defRPr sz="2000">
                <a:solidFill>
                  <a:schemeClr val="tx1"/>
                </a:solidFill>
                <a:latin typeface="Arial" charset="0"/>
                <a:ea typeface="ＭＳ Ｐゴシック" charset="-128"/>
              </a:defRPr>
            </a:lvl4pPr>
            <a:lvl5pPr marL="2057400" indent="-228600" defTabSz="966788">
              <a:defRPr sz="2000">
                <a:solidFill>
                  <a:schemeClr val="tx1"/>
                </a:solidFill>
                <a:latin typeface="Arial" charset="0"/>
                <a:ea typeface="ＭＳ Ｐゴシック" charset="-128"/>
              </a:defRPr>
            </a:lvl5pPr>
            <a:lvl6pPr marL="2514600" indent="-228600" defTabSz="966788" eaLnBrk="0" fontAlgn="base" hangingPunct="0">
              <a:spcBef>
                <a:spcPct val="0"/>
              </a:spcBef>
              <a:spcAft>
                <a:spcPct val="0"/>
              </a:spcAft>
              <a:defRPr sz="2000">
                <a:solidFill>
                  <a:schemeClr val="tx1"/>
                </a:solidFill>
                <a:latin typeface="Arial" charset="0"/>
                <a:ea typeface="ＭＳ Ｐゴシック" charset="-128"/>
              </a:defRPr>
            </a:lvl6pPr>
            <a:lvl7pPr marL="2971800" indent="-228600" defTabSz="966788" eaLnBrk="0" fontAlgn="base" hangingPunct="0">
              <a:spcBef>
                <a:spcPct val="0"/>
              </a:spcBef>
              <a:spcAft>
                <a:spcPct val="0"/>
              </a:spcAft>
              <a:defRPr sz="2000">
                <a:solidFill>
                  <a:schemeClr val="tx1"/>
                </a:solidFill>
                <a:latin typeface="Arial" charset="0"/>
                <a:ea typeface="ＭＳ Ｐゴシック" charset="-128"/>
              </a:defRPr>
            </a:lvl7pPr>
            <a:lvl8pPr marL="3429000" indent="-228600" defTabSz="966788" eaLnBrk="0" fontAlgn="base" hangingPunct="0">
              <a:spcBef>
                <a:spcPct val="0"/>
              </a:spcBef>
              <a:spcAft>
                <a:spcPct val="0"/>
              </a:spcAft>
              <a:defRPr sz="2000">
                <a:solidFill>
                  <a:schemeClr val="tx1"/>
                </a:solidFill>
                <a:latin typeface="Arial" charset="0"/>
                <a:ea typeface="ＭＳ Ｐゴシック" charset="-128"/>
              </a:defRPr>
            </a:lvl8pPr>
            <a:lvl9pPr marL="3886200" indent="-228600" defTabSz="966788" eaLnBrk="0" fontAlgn="base" hangingPunct="0">
              <a:spcBef>
                <a:spcPct val="0"/>
              </a:spcBef>
              <a:spcAft>
                <a:spcPct val="0"/>
              </a:spcAft>
              <a:defRPr sz="2000">
                <a:solidFill>
                  <a:schemeClr val="tx1"/>
                </a:solidFill>
                <a:latin typeface="Arial" charset="0"/>
                <a:ea typeface="ＭＳ Ｐゴシック" charset="-128"/>
              </a:defRPr>
            </a:lvl9pPr>
          </a:lstStyle>
          <a:p>
            <a:r>
              <a:rPr lang="en-US" altLang="x-none" sz="1300"/>
              <a:t>School of EECS, WSU</a:t>
            </a:r>
          </a:p>
        </p:txBody>
      </p:sp>
      <p:sp>
        <p:nvSpPr>
          <p:cNvPr id="204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128"/>
              </a:defRPr>
            </a:lvl1pPr>
            <a:lvl2pPr marL="742950" indent="-285750" defTabSz="966788">
              <a:defRPr sz="2000">
                <a:solidFill>
                  <a:schemeClr val="tx1"/>
                </a:solidFill>
                <a:latin typeface="Arial" charset="0"/>
                <a:ea typeface="ＭＳ Ｐゴシック" charset="-128"/>
              </a:defRPr>
            </a:lvl2pPr>
            <a:lvl3pPr marL="1143000" indent="-228600" defTabSz="966788">
              <a:defRPr sz="2000">
                <a:solidFill>
                  <a:schemeClr val="tx1"/>
                </a:solidFill>
                <a:latin typeface="Arial" charset="0"/>
                <a:ea typeface="ＭＳ Ｐゴシック" charset="-128"/>
              </a:defRPr>
            </a:lvl3pPr>
            <a:lvl4pPr marL="1600200" indent="-228600" defTabSz="966788">
              <a:defRPr sz="2000">
                <a:solidFill>
                  <a:schemeClr val="tx1"/>
                </a:solidFill>
                <a:latin typeface="Arial" charset="0"/>
                <a:ea typeface="ＭＳ Ｐゴシック" charset="-128"/>
              </a:defRPr>
            </a:lvl4pPr>
            <a:lvl5pPr marL="2057400" indent="-228600" defTabSz="966788">
              <a:defRPr sz="2000">
                <a:solidFill>
                  <a:schemeClr val="tx1"/>
                </a:solidFill>
                <a:latin typeface="Arial" charset="0"/>
                <a:ea typeface="ＭＳ Ｐゴシック" charset="-128"/>
              </a:defRPr>
            </a:lvl5pPr>
            <a:lvl6pPr marL="2514600" indent="-228600" defTabSz="966788" eaLnBrk="0" fontAlgn="base" hangingPunct="0">
              <a:spcBef>
                <a:spcPct val="0"/>
              </a:spcBef>
              <a:spcAft>
                <a:spcPct val="0"/>
              </a:spcAft>
              <a:defRPr sz="2000">
                <a:solidFill>
                  <a:schemeClr val="tx1"/>
                </a:solidFill>
                <a:latin typeface="Arial" charset="0"/>
                <a:ea typeface="ＭＳ Ｐゴシック" charset="-128"/>
              </a:defRPr>
            </a:lvl6pPr>
            <a:lvl7pPr marL="2971800" indent="-228600" defTabSz="966788" eaLnBrk="0" fontAlgn="base" hangingPunct="0">
              <a:spcBef>
                <a:spcPct val="0"/>
              </a:spcBef>
              <a:spcAft>
                <a:spcPct val="0"/>
              </a:spcAft>
              <a:defRPr sz="2000">
                <a:solidFill>
                  <a:schemeClr val="tx1"/>
                </a:solidFill>
                <a:latin typeface="Arial" charset="0"/>
                <a:ea typeface="ＭＳ Ｐゴシック" charset="-128"/>
              </a:defRPr>
            </a:lvl7pPr>
            <a:lvl8pPr marL="3429000" indent="-228600" defTabSz="966788" eaLnBrk="0" fontAlgn="base" hangingPunct="0">
              <a:spcBef>
                <a:spcPct val="0"/>
              </a:spcBef>
              <a:spcAft>
                <a:spcPct val="0"/>
              </a:spcAft>
              <a:defRPr sz="2000">
                <a:solidFill>
                  <a:schemeClr val="tx1"/>
                </a:solidFill>
                <a:latin typeface="Arial" charset="0"/>
                <a:ea typeface="ＭＳ Ｐゴシック" charset="-128"/>
              </a:defRPr>
            </a:lvl8pPr>
            <a:lvl9pPr marL="3886200" indent="-228600" defTabSz="966788" eaLnBrk="0" fontAlgn="base" hangingPunct="0">
              <a:spcBef>
                <a:spcPct val="0"/>
              </a:spcBef>
              <a:spcAft>
                <a:spcPct val="0"/>
              </a:spcAft>
              <a:defRPr sz="2000">
                <a:solidFill>
                  <a:schemeClr val="tx1"/>
                </a:solidFill>
                <a:latin typeface="Arial" charset="0"/>
                <a:ea typeface="ＭＳ Ｐゴシック" charset="-128"/>
              </a:defRPr>
            </a:lvl9pPr>
          </a:lstStyle>
          <a:p>
            <a:fld id="{A4F5D8FF-3C0C-AB40-AA9F-7357EBEA47F2}" type="slidenum">
              <a:rPr lang="en-US" altLang="x-none" sz="1300"/>
              <a:pPr/>
              <a:t>1</a:t>
            </a:fld>
            <a:endParaRPr lang="en-US" altLang="x-none" sz="1300"/>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x-none" altLang="x-none">
              <a:latin typeface="Arial" charset="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C7D04-AD1F-8A2F-BC90-F784AC1210F1}"/>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60D62720-6648-D744-C44A-232507E912D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128"/>
              </a:defRPr>
            </a:lvl1pPr>
            <a:lvl2pPr marL="742950" indent="-285750" defTabSz="966788">
              <a:defRPr sz="2000">
                <a:solidFill>
                  <a:schemeClr val="tx1"/>
                </a:solidFill>
                <a:latin typeface="Arial" charset="0"/>
                <a:ea typeface="ＭＳ Ｐゴシック" charset="-128"/>
              </a:defRPr>
            </a:lvl2pPr>
            <a:lvl3pPr marL="1143000" indent="-228600" defTabSz="966788">
              <a:defRPr sz="2000">
                <a:solidFill>
                  <a:schemeClr val="tx1"/>
                </a:solidFill>
                <a:latin typeface="Arial" charset="0"/>
                <a:ea typeface="ＭＳ Ｐゴシック" charset="-128"/>
              </a:defRPr>
            </a:lvl3pPr>
            <a:lvl4pPr marL="1600200" indent="-228600" defTabSz="966788">
              <a:defRPr sz="2000">
                <a:solidFill>
                  <a:schemeClr val="tx1"/>
                </a:solidFill>
                <a:latin typeface="Arial" charset="0"/>
                <a:ea typeface="ＭＳ Ｐゴシック" charset="-128"/>
              </a:defRPr>
            </a:lvl4pPr>
            <a:lvl5pPr marL="2057400" indent="-228600" defTabSz="966788">
              <a:defRPr sz="2000">
                <a:solidFill>
                  <a:schemeClr val="tx1"/>
                </a:solidFill>
                <a:latin typeface="Arial" charset="0"/>
                <a:ea typeface="ＭＳ Ｐゴシック" charset="-128"/>
              </a:defRPr>
            </a:lvl5pPr>
            <a:lvl6pPr marL="2514600" indent="-228600" defTabSz="966788" eaLnBrk="0" fontAlgn="base" hangingPunct="0">
              <a:spcBef>
                <a:spcPct val="0"/>
              </a:spcBef>
              <a:spcAft>
                <a:spcPct val="0"/>
              </a:spcAft>
              <a:defRPr sz="2000">
                <a:solidFill>
                  <a:schemeClr val="tx1"/>
                </a:solidFill>
                <a:latin typeface="Arial" charset="0"/>
                <a:ea typeface="ＭＳ Ｐゴシック" charset="-128"/>
              </a:defRPr>
            </a:lvl6pPr>
            <a:lvl7pPr marL="2971800" indent="-228600" defTabSz="966788" eaLnBrk="0" fontAlgn="base" hangingPunct="0">
              <a:spcBef>
                <a:spcPct val="0"/>
              </a:spcBef>
              <a:spcAft>
                <a:spcPct val="0"/>
              </a:spcAft>
              <a:defRPr sz="2000">
                <a:solidFill>
                  <a:schemeClr val="tx1"/>
                </a:solidFill>
                <a:latin typeface="Arial" charset="0"/>
                <a:ea typeface="ＭＳ Ｐゴシック" charset="-128"/>
              </a:defRPr>
            </a:lvl7pPr>
            <a:lvl8pPr marL="3429000" indent="-228600" defTabSz="966788" eaLnBrk="0" fontAlgn="base" hangingPunct="0">
              <a:spcBef>
                <a:spcPct val="0"/>
              </a:spcBef>
              <a:spcAft>
                <a:spcPct val="0"/>
              </a:spcAft>
              <a:defRPr sz="2000">
                <a:solidFill>
                  <a:schemeClr val="tx1"/>
                </a:solidFill>
                <a:latin typeface="Arial" charset="0"/>
                <a:ea typeface="ＭＳ Ｐゴシック" charset="-128"/>
              </a:defRPr>
            </a:lvl8pPr>
            <a:lvl9pPr marL="3886200" indent="-228600" defTabSz="966788" eaLnBrk="0" fontAlgn="base" hangingPunct="0">
              <a:spcBef>
                <a:spcPct val="0"/>
              </a:spcBef>
              <a:spcAft>
                <a:spcPct val="0"/>
              </a:spcAft>
              <a:defRPr sz="2000">
                <a:solidFill>
                  <a:schemeClr val="tx1"/>
                </a:solidFill>
                <a:latin typeface="Arial" charset="0"/>
                <a:ea typeface="ＭＳ Ｐゴシック" charset="-128"/>
              </a:defRPr>
            </a:lvl9pPr>
          </a:lstStyle>
          <a:p>
            <a:r>
              <a:rPr lang="en-US" altLang="x-none" sz="1300"/>
              <a:t>Cpt S 317: Spring 2009</a:t>
            </a:r>
          </a:p>
        </p:txBody>
      </p:sp>
      <p:sp>
        <p:nvSpPr>
          <p:cNvPr id="20483" name="Rectangle 6">
            <a:extLst>
              <a:ext uri="{FF2B5EF4-FFF2-40B4-BE49-F238E27FC236}">
                <a16:creationId xmlns:a16="http://schemas.microsoft.com/office/drawing/2014/main" id="{3757A85D-58E0-0071-F256-2A99F85000D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128"/>
              </a:defRPr>
            </a:lvl1pPr>
            <a:lvl2pPr marL="742950" indent="-285750" defTabSz="966788">
              <a:defRPr sz="2000">
                <a:solidFill>
                  <a:schemeClr val="tx1"/>
                </a:solidFill>
                <a:latin typeface="Arial" charset="0"/>
                <a:ea typeface="ＭＳ Ｐゴシック" charset="-128"/>
              </a:defRPr>
            </a:lvl2pPr>
            <a:lvl3pPr marL="1143000" indent="-228600" defTabSz="966788">
              <a:defRPr sz="2000">
                <a:solidFill>
                  <a:schemeClr val="tx1"/>
                </a:solidFill>
                <a:latin typeface="Arial" charset="0"/>
                <a:ea typeface="ＭＳ Ｐゴシック" charset="-128"/>
              </a:defRPr>
            </a:lvl3pPr>
            <a:lvl4pPr marL="1600200" indent="-228600" defTabSz="966788">
              <a:defRPr sz="2000">
                <a:solidFill>
                  <a:schemeClr val="tx1"/>
                </a:solidFill>
                <a:latin typeface="Arial" charset="0"/>
                <a:ea typeface="ＭＳ Ｐゴシック" charset="-128"/>
              </a:defRPr>
            </a:lvl4pPr>
            <a:lvl5pPr marL="2057400" indent="-228600" defTabSz="966788">
              <a:defRPr sz="2000">
                <a:solidFill>
                  <a:schemeClr val="tx1"/>
                </a:solidFill>
                <a:latin typeface="Arial" charset="0"/>
                <a:ea typeface="ＭＳ Ｐゴシック" charset="-128"/>
              </a:defRPr>
            </a:lvl5pPr>
            <a:lvl6pPr marL="2514600" indent="-228600" defTabSz="966788" eaLnBrk="0" fontAlgn="base" hangingPunct="0">
              <a:spcBef>
                <a:spcPct val="0"/>
              </a:spcBef>
              <a:spcAft>
                <a:spcPct val="0"/>
              </a:spcAft>
              <a:defRPr sz="2000">
                <a:solidFill>
                  <a:schemeClr val="tx1"/>
                </a:solidFill>
                <a:latin typeface="Arial" charset="0"/>
                <a:ea typeface="ＭＳ Ｐゴシック" charset="-128"/>
              </a:defRPr>
            </a:lvl6pPr>
            <a:lvl7pPr marL="2971800" indent="-228600" defTabSz="966788" eaLnBrk="0" fontAlgn="base" hangingPunct="0">
              <a:spcBef>
                <a:spcPct val="0"/>
              </a:spcBef>
              <a:spcAft>
                <a:spcPct val="0"/>
              </a:spcAft>
              <a:defRPr sz="2000">
                <a:solidFill>
                  <a:schemeClr val="tx1"/>
                </a:solidFill>
                <a:latin typeface="Arial" charset="0"/>
                <a:ea typeface="ＭＳ Ｐゴシック" charset="-128"/>
              </a:defRPr>
            </a:lvl7pPr>
            <a:lvl8pPr marL="3429000" indent="-228600" defTabSz="966788" eaLnBrk="0" fontAlgn="base" hangingPunct="0">
              <a:spcBef>
                <a:spcPct val="0"/>
              </a:spcBef>
              <a:spcAft>
                <a:spcPct val="0"/>
              </a:spcAft>
              <a:defRPr sz="2000">
                <a:solidFill>
                  <a:schemeClr val="tx1"/>
                </a:solidFill>
                <a:latin typeface="Arial" charset="0"/>
                <a:ea typeface="ＭＳ Ｐゴシック" charset="-128"/>
              </a:defRPr>
            </a:lvl8pPr>
            <a:lvl9pPr marL="3886200" indent="-228600" defTabSz="966788" eaLnBrk="0" fontAlgn="base" hangingPunct="0">
              <a:spcBef>
                <a:spcPct val="0"/>
              </a:spcBef>
              <a:spcAft>
                <a:spcPct val="0"/>
              </a:spcAft>
              <a:defRPr sz="2000">
                <a:solidFill>
                  <a:schemeClr val="tx1"/>
                </a:solidFill>
                <a:latin typeface="Arial" charset="0"/>
                <a:ea typeface="ＭＳ Ｐゴシック" charset="-128"/>
              </a:defRPr>
            </a:lvl9pPr>
          </a:lstStyle>
          <a:p>
            <a:r>
              <a:rPr lang="en-US" altLang="x-none" sz="1300"/>
              <a:t>School of EECS, WSU</a:t>
            </a:r>
          </a:p>
        </p:txBody>
      </p:sp>
      <p:sp>
        <p:nvSpPr>
          <p:cNvPr id="20484" name="Rectangle 7">
            <a:extLst>
              <a:ext uri="{FF2B5EF4-FFF2-40B4-BE49-F238E27FC236}">
                <a16:creationId xmlns:a16="http://schemas.microsoft.com/office/drawing/2014/main" id="{CE2AE146-2055-9188-ECE2-ABA86C04F0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ea typeface="ＭＳ Ｐゴシック" charset="-128"/>
              </a:defRPr>
            </a:lvl1pPr>
            <a:lvl2pPr marL="742950" indent="-285750" defTabSz="966788">
              <a:defRPr sz="2000">
                <a:solidFill>
                  <a:schemeClr val="tx1"/>
                </a:solidFill>
                <a:latin typeface="Arial" charset="0"/>
                <a:ea typeface="ＭＳ Ｐゴシック" charset="-128"/>
              </a:defRPr>
            </a:lvl2pPr>
            <a:lvl3pPr marL="1143000" indent="-228600" defTabSz="966788">
              <a:defRPr sz="2000">
                <a:solidFill>
                  <a:schemeClr val="tx1"/>
                </a:solidFill>
                <a:latin typeface="Arial" charset="0"/>
                <a:ea typeface="ＭＳ Ｐゴシック" charset="-128"/>
              </a:defRPr>
            </a:lvl3pPr>
            <a:lvl4pPr marL="1600200" indent="-228600" defTabSz="966788">
              <a:defRPr sz="2000">
                <a:solidFill>
                  <a:schemeClr val="tx1"/>
                </a:solidFill>
                <a:latin typeface="Arial" charset="0"/>
                <a:ea typeface="ＭＳ Ｐゴシック" charset="-128"/>
              </a:defRPr>
            </a:lvl4pPr>
            <a:lvl5pPr marL="2057400" indent="-228600" defTabSz="966788">
              <a:defRPr sz="2000">
                <a:solidFill>
                  <a:schemeClr val="tx1"/>
                </a:solidFill>
                <a:latin typeface="Arial" charset="0"/>
                <a:ea typeface="ＭＳ Ｐゴシック" charset="-128"/>
              </a:defRPr>
            </a:lvl5pPr>
            <a:lvl6pPr marL="2514600" indent="-228600" defTabSz="966788" eaLnBrk="0" fontAlgn="base" hangingPunct="0">
              <a:spcBef>
                <a:spcPct val="0"/>
              </a:spcBef>
              <a:spcAft>
                <a:spcPct val="0"/>
              </a:spcAft>
              <a:defRPr sz="2000">
                <a:solidFill>
                  <a:schemeClr val="tx1"/>
                </a:solidFill>
                <a:latin typeface="Arial" charset="0"/>
                <a:ea typeface="ＭＳ Ｐゴシック" charset="-128"/>
              </a:defRPr>
            </a:lvl6pPr>
            <a:lvl7pPr marL="2971800" indent="-228600" defTabSz="966788" eaLnBrk="0" fontAlgn="base" hangingPunct="0">
              <a:spcBef>
                <a:spcPct val="0"/>
              </a:spcBef>
              <a:spcAft>
                <a:spcPct val="0"/>
              </a:spcAft>
              <a:defRPr sz="2000">
                <a:solidFill>
                  <a:schemeClr val="tx1"/>
                </a:solidFill>
                <a:latin typeface="Arial" charset="0"/>
                <a:ea typeface="ＭＳ Ｐゴシック" charset="-128"/>
              </a:defRPr>
            </a:lvl7pPr>
            <a:lvl8pPr marL="3429000" indent="-228600" defTabSz="966788" eaLnBrk="0" fontAlgn="base" hangingPunct="0">
              <a:spcBef>
                <a:spcPct val="0"/>
              </a:spcBef>
              <a:spcAft>
                <a:spcPct val="0"/>
              </a:spcAft>
              <a:defRPr sz="2000">
                <a:solidFill>
                  <a:schemeClr val="tx1"/>
                </a:solidFill>
                <a:latin typeface="Arial" charset="0"/>
                <a:ea typeface="ＭＳ Ｐゴシック" charset="-128"/>
              </a:defRPr>
            </a:lvl8pPr>
            <a:lvl9pPr marL="3886200" indent="-228600" defTabSz="966788" eaLnBrk="0" fontAlgn="base" hangingPunct="0">
              <a:spcBef>
                <a:spcPct val="0"/>
              </a:spcBef>
              <a:spcAft>
                <a:spcPct val="0"/>
              </a:spcAft>
              <a:defRPr sz="2000">
                <a:solidFill>
                  <a:schemeClr val="tx1"/>
                </a:solidFill>
                <a:latin typeface="Arial" charset="0"/>
                <a:ea typeface="ＭＳ Ｐゴシック" charset="-128"/>
              </a:defRPr>
            </a:lvl9pPr>
          </a:lstStyle>
          <a:p>
            <a:fld id="{A4F5D8FF-3C0C-AB40-AA9F-7357EBEA47F2}" type="slidenum">
              <a:rPr lang="en-US" altLang="x-none" sz="1300"/>
              <a:pPr/>
              <a:t>2</a:t>
            </a:fld>
            <a:endParaRPr lang="en-US" altLang="x-none" sz="1300"/>
          </a:p>
        </p:txBody>
      </p:sp>
      <p:sp>
        <p:nvSpPr>
          <p:cNvPr id="20485" name="Rectangle 2">
            <a:extLst>
              <a:ext uri="{FF2B5EF4-FFF2-40B4-BE49-F238E27FC236}">
                <a16:creationId xmlns:a16="http://schemas.microsoft.com/office/drawing/2014/main" id="{47FA4321-0C4F-1491-9B0E-322AF4C71329}"/>
              </a:ext>
            </a:extLst>
          </p:cNvPr>
          <p:cNvSpPr>
            <a:spLocks noGrp="1" noRot="1" noChangeAspect="1" noChangeArrowheads="1" noTextEdit="1"/>
          </p:cNvSpPr>
          <p:nvPr>
            <p:ph type="sldImg"/>
          </p:nvPr>
        </p:nvSpPr>
        <p:spPr>
          <a:ln/>
        </p:spPr>
      </p:sp>
      <p:sp>
        <p:nvSpPr>
          <p:cNvPr id="20486" name="Rectangle 3">
            <a:extLst>
              <a:ext uri="{FF2B5EF4-FFF2-40B4-BE49-F238E27FC236}">
                <a16:creationId xmlns:a16="http://schemas.microsoft.com/office/drawing/2014/main" id="{5D3C68D2-36CE-06B3-F13D-D568FFF926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x-none" altLang="x-none">
              <a:latin typeface="Arial" charset="0"/>
              <a:ea typeface="ＭＳ Ｐゴシック" charset="-128"/>
            </a:endParaRPr>
          </a:p>
        </p:txBody>
      </p:sp>
    </p:spTree>
    <p:extLst>
      <p:ext uri="{BB962C8B-B14F-4D97-AF65-F5344CB8AC3E}">
        <p14:creationId xmlns:p14="http://schemas.microsoft.com/office/powerpoint/2010/main" val="1988246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45E85-9997-D311-4FAE-ED6A6DF61B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66686F-74EE-6A02-1B04-2402E60B45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B19734-6E10-05F6-AD13-17B98D998DB9}"/>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5" name="Footer Placeholder 4">
            <a:extLst>
              <a:ext uri="{FF2B5EF4-FFF2-40B4-BE49-F238E27FC236}">
                <a16:creationId xmlns:a16="http://schemas.microsoft.com/office/drawing/2014/main" id="{867FB709-3FD3-105F-3871-573E7D30C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A04AB4-96ED-644B-19F3-CE0FD09D0CB5}"/>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27217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02261-662B-11DF-B787-33C6AED889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F00E20-0922-5EB7-AF44-0B4B4061D2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2EC74-429C-754B-4501-51A4A61BEAEA}"/>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5" name="Footer Placeholder 4">
            <a:extLst>
              <a:ext uri="{FF2B5EF4-FFF2-40B4-BE49-F238E27FC236}">
                <a16:creationId xmlns:a16="http://schemas.microsoft.com/office/drawing/2014/main" id="{73EC8A52-7012-5F35-40E4-FE886F5718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059A5C-BFF7-A968-788C-17A033C4B9DF}"/>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1927330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5CE3-3A15-BF19-8CCB-7DBF7C402F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8445A0-9F11-7528-8F9E-766BF93F96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1E695F-F0D2-60B8-55AF-83D76CAC144A}"/>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5" name="Footer Placeholder 4">
            <a:extLst>
              <a:ext uri="{FF2B5EF4-FFF2-40B4-BE49-F238E27FC236}">
                <a16:creationId xmlns:a16="http://schemas.microsoft.com/office/drawing/2014/main" id="{53DE5A1A-94DB-37C7-06B7-C64929FD3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04998-000A-1BBD-98F4-1A29E1BF1502}"/>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185679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F34D3-CAF5-CA16-32AC-4E609FC6E1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A4398-7573-F135-304D-3C09B9D096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1DEC84-4748-F412-AAA7-A88B5C2E26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B4EF8F-7E1E-8583-FEEB-C60B9E9E8D07}"/>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6" name="Footer Placeholder 5">
            <a:extLst>
              <a:ext uri="{FF2B5EF4-FFF2-40B4-BE49-F238E27FC236}">
                <a16:creationId xmlns:a16="http://schemas.microsoft.com/office/drawing/2014/main" id="{6A9946F0-775A-415A-8ED2-4F92FE1BF2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B4C780-CA4E-D8FD-3D55-1B88A1B1072D}"/>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3942198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3A2B6-44CF-313C-0029-080A936AD5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C046DB-80F9-A43C-5CA1-BA56A39729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108C50-0537-D5C8-B533-E7B9081214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FC4EBF-15EA-F414-259F-4B9ECC577D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6FD0D8-FB6A-89A5-1701-704485C98B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F541B-CE5C-974E-7A84-814EF9A44BF4}"/>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8" name="Footer Placeholder 7">
            <a:extLst>
              <a:ext uri="{FF2B5EF4-FFF2-40B4-BE49-F238E27FC236}">
                <a16:creationId xmlns:a16="http://schemas.microsoft.com/office/drawing/2014/main" id="{6711500A-DBA2-655B-3BA1-323760CD5A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FDD00C-B94E-FBB1-6C30-BCB9BEB3595E}"/>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2235256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730D-D4A9-DAC9-5D19-038442A5A7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1DC455-CF80-D4A8-7BAE-98174149F35B}"/>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4" name="Footer Placeholder 3">
            <a:extLst>
              <a:ext uri="{FF2B5EF4-FFF2-40B4-BE49-F238E27FC236}">
                <a16:creationId xmlns:a16="http://schemas.microsoft.com/office/drawing/2014/main" id="{6A35DF6F-D2FD-EE62-A02D-111F7A02CD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D9D7E1-BCCD-3C5B-6396-420DF3A1A27B}"/>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188082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ADBC65-250E-B64D-BCE3-DF94DDBBB61E}"/>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3" name="Footer Placeholder 2">
            <a:extLst>
              <a:ext uri="{FF2B5EF4-FFF2-40B4-BE49-F238E27FC236}">
                <a16:creationId xmlns:a16="http://schemas.microsoft.com/office/drawing/2014/main" id="{38A25B2E-6DCA-B916-000A-D5D8F91A8D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EF9BBC-A604-537B-4573-3141E33A0CC3}"/>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3530019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E2241-1F31-E85D-10D6-953E123CD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11B9AB-7B5F-97CB-C9F1-F5419ED4EC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9A65EE-DA6D-1E8A-A9D6-6DD32B731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90C37-5A8E-5B39-7F02-8C27BF602B91}"/>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6" name="Footer Placeholder 5">
            <a:extLst>
              <a:ext uri="{FF2B5EF4-FFF2-40B4-BE49-F238E27FC236}">
                <a16:creationId xmlns:a16="http://schemas.microsoft.com/office/drawing/2014/main" id="{4DA48FA4-2CF6-0886-0902-0F2EEFFC9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081B0B-FE1D-FA9A-C2A6-43765D67E5B6}"/>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3732226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19B5D-7EDD-1D41-1F43-B87F26B945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4E64E5-4482-5EB2-7D01-D034C3CB09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4C4478-EB57-2E84-1FA4-821C4FEAF8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DE9D3E-3391-0E27-7D0D-BFBC4EEB3FA4}"/>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6" name="Footer Placeholder 5">
            <a:extLst>
              <a:ext uri="{FF2B5EF4-FFF2-40B4-BE49-F238E27FC236}">
                <a16:creationId xmlns:a16="http://schemas.microsoft.com/office/drawing/2014/main" id="{75EE02CF-F2FF-151C-76D9-BE2419EA6B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54DEF9-28CE-FB82-50AC-E528F3A4EE3C}"/>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427695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37B5E-F190-3475-9C0E-37554A876D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E3AF9B-DC27-2248-FC8F-D8CF96E95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6527F9-F33A-B70F-C001-0C752CADD622}"/>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5" name="Footer Placeholder 4">
            <a:extLst>
              <a:ext uri="{FF2B5EF4-FFF2-40B4-BE49-F238E27FC236}">
                <a16:creationId xmlns:a16="http://schemas.microsoft.com/office/drawing/2014/main" id="{3C679CF9-359B-B9A4-FA48-0F4FD9874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9475A4-4B29-7845-5E3C-242720948043}"/>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1835146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ED196-8A79-2817-EA59-61C2AD87D9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56B76E-D76A-9AEB-C1A1-E4F672D56B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D284E1-B522-4FE0-E23A-8C9CF4C94F28}"/>
              </a:ext>
            </a:extLst>
          </p:cNvPr>
          <p:cNvSpPr>
            <a:spLocks noGrp="1"/>
          </p:cNvSpPr>
          <p:nvPr>
            <p:ph type="dt" sz="half" idx="10"/>
          </p:nvPr>
        </p:nvSpPr>
        <p:spPr/>
        <p:txBody>
          <a:bodyPr/>
          <a:lstStyle/>
          <a:p>
            <a:fld id="{DBC9E240-09FD-4EC9-BAB4-91DB8F8E1716}" type="datetimeFigureOut">
              <a:rPr lang="en-US" smtClean="0"/>
              <a:t>8/20/2026</a:t>
            </a:fld>
            <a:endParaRPr lang="en-US"/>
          </a:p>
        </p:txBody>
      </p:sp>
      <p:sp>
        <p:nvSpPr>
          <p:cNvPr id="5" name="Footer Placeholder 4">
            <a:extLst>
              <a:ext uri="{FF2B5EF4-FFF2-40B4-BE49-F238E27FC236}">
                <a16:creationId xmlns:a16="http://schemas.microsoft.com/office/drawing/2014/main" id="{925E6D8F-A339-70B7-483F-669EE7F40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8D902C-FAE2-F4F4-AF00-53B634497594}"/>
              </a:ext>
            </a:extLst>
          </p:cNvPr>
          <p:cNvSpPr>
            <a:spLocks noGrp="1"/>
          </p:cNvSpPr>
          <p:nvPr>
            <p:ph type="sldNum" sz="quarter" idx="12"/>
          </p:nvPr>
        </p:nvSpPr>
        <p:spPr/>
        <p:txBody>
          <a:bodyPr/>
          <a:lstStyle/>
          <a:p>
            <a:fld id="{2644EC12-148F-490E-8D5C-0B17B6AA3C72}" type="slidenum">
              <a:rPr lang="en-US" smtClean="0"/>
              <a:t>‹#›</a:t>
            </a:fld>
            <a:endParaRPr lang="en-US"/>
          </a:p>
        </p:txBody>
      </p:sp>
    </p:spTree>
    <p:extLst>
      <p:ext uri="{BB962C8B-B14F-4D97-AF65-F5344CB8AC3E}">
        <p14:creationId xmlns:p14="http://schemas.microsoft.com/office/powerpoint/2010/main" val="2250639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57A369-52CF-F1AD-1ECE-C1BCD43AD4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E4BDE3-38DC-7A02-8260-35BD836FE2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AF2ECE-C007-D9AE-4B5A-579123A693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C9E240-09FD-4EC9-BAB4-91DB8F8E1716}" type="datetimeFigureOut">
              <a:rPr lang="en-US" smtClean="0"/>
              <a:t>8/20/2026</a:t>
            </a:fld>
            <a:endParaRPr lang="en-US"/>
          </a:p>
        </p:txBody>
      </p:sp>
      <p:sp>
        <p:nvSpPr>
          <p:cNvPr id="5" name="Footer Placeholder 4">
            <a:extLst>
              <a:ext uri="{FF2B5EF4-FFF2-40B4-BE49-F238E27FC236}">
                <a16:creationId xmlns:a16="http://schemas.microsoft.com/office/drawing/2014/main" id="{F9DFA82A-483E-5E02-EC6D-6D27EDEEEE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F6074E-3B4E-FA8E-C6D8-D6B635852B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44EC12-148F-490E-8D5C-0B17B6AA3C72}" type="slidenum">
              <a:rPr lang="en-US" smtClean="0"/>
              <a:t>‹#›</a:t>
            </a:fld>
            <a:endParaRPr lang="en-US"/>
          </a:p>
        </p:txBody>
      </p:sp>
    </p:spTree>
    <p:extLst>
      <p:ext uri="{BB962C8B-B14F-4D97-AF65-F5344CB8AC3E}">
        <p14:creationId xmlns:p14="http://schemas.microsoft.com/office/powerpoint/2010/main" val="2957117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cstaleem.com/ambiguity-in-context-free-grammar"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4"/>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128"/>
              </a:defRPr>
            </a:lvl1pPr>
            <a:lvl2pPr marL="742950" indent="-285750">
              <a:defRPr sz="2000">
                <a:solidFill>
                  <a:schemeClr val="tx1"/>
                </a:solidFill>
                <a:latin typeface="Arial" charset="0"/>
                <a:ea typeface="ＭＳ Ｐゴシック" charset="-128"/>
              </a:defRPr>
            </a:lvl2pPr>
            <a:lvl3pPr marL="1143000" indent="-228600">
              <a:defRPr sz="20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defRPr sz="2000">
                <a:solidFill>
                  <a:schemeClr val="tx1"/>
                </a:solidFill>
                <a:latin typeface="Arial" charset="0"/>
                <a:ea typeface="ＭＳ Ｐゴシック" charset="-128"/>
              </a:defRPr>
            </a:lvl5pPr>
            <a:lvl6pPr marL="2514600" indent="-228600" eaLnBrk="0" fontAlgn="base" hangingPunct="0">
              <a:spcBef>
                <a:spcPct val="0"/>
              </a:spcBef>
              <a:spcAft>
                <a:spcPct val="0"/>
              </a:spcAft>
              <a:defRPr sz="2000">
                <a:solidFill>
                  <a:schemeClr val="tx1"/>
                </a:solidFill>
                <a:latin typeface="Arial" charset="0"/>
                <a:ea typeface="ＭＳ Ｐゴシック" charset="-128"/>
              </a:defRPr>
            </a:lvl6pPr>
            <a:lvl7pPr marL="2971800" indent="-228600" eaLnBrk="0" fontAlgn="base" hangingPunct="0">
              <a:spcBef>
                <a:spcPct val="0"/>
              </a:spcBef>
              <a:spcAft>
                <a:spcPct val="0"/>
              </a:spcAft>
              <a:defRPr sz="2000">
                <a:solidFill>
                  <a:schemeClr val="tx1"/>
                </a:solidFill>
                <a:latin typeface="Arial" charset="0"/>
                <a:ea typeface="ＭＳ Ｐゴシック" charset="-128"/>
              </a:defRPr>
            </a:lvl7pPr>
            <a:lvl8pPr marL="3429000" indent="-228600" eaLnBrk="0" fontAlgn="base" hangingPunct="0">
              <a:spcBef>
                <a:spcPct val="0"/>
              </a:spcBef>
              <a:spcAft>
                <a:spcPct val="0"/>
              </a:spcAft>
              <a:defRPr sz="2000">
                <a:solidFill>
                  <a:schemeClr val="tx1"/>
                </a:solidFill>
                <a:latin typeface="Arial" charset="0"/>
                <a:ea typeface="ＭＳ Ｐゴシック" charset="-128"/>
              </a:defRPr>
            </a:lvl8pPr>
            <a:lvl9pPr marL="3886200" indent="-228600" eaLnBrk="0" fontAlgn="base" hangingPunct="0">
              <a:spcBef>
                <a:spcPct val="0"/>
              </a:spcBef>
              <a:spcAft>
                <a:spcPct val="0"/>
              </a:spcAft>
              <a:defRPr sz="2000">
                <a:solidFill>
                  <a:schemeClr val="tx1"/>
                </a:solidFill>
                <a:latin typeface="Arial" charset="0"/>
                <a:ea typeface="ＭＳ Ｐゴシック" charset="-128"/>
              </a:defRPr>
            </a:lvl9pPr>
          </a:lstStyle>
          <a:p>
            <a:fld id="{28DC5C78-6D79-3142-B0AC-40BAA62D9BCB}" type="slidenum">
              <a:rPr lang="en-US" altLang="x-none" sz="1400">
                <a:solidFill>
                  <a:schemeClr val="bg2"/>
                </a:solidFill>
              </a:rPr>
              <a:pPr/>
              <a:t>1</a:t>
            </a:fld>
            <a:endParaRPr lang="en-US" altLang="x-none" sz="1400">
              <a:solidFill>
                <a:schemeClr val="bg2"/>
              </a:solidFill>
            </a:endParaRPr>
          </a:p>
        </p:txBody>
      </p:sp>
      <p:sp>
        <p:nvSpPr>
          <p:cNvPr id="3075" name="Rectangle 2"/>
          <p:cNvSpPr>
            <a:spLocks noGrp="1" noChangeArrowheads="1"/>
          </p:cNvSpPr>
          <p:nvPr>
            <p:ph type="ctrTitle"/>
          </p:nvPr>
        </p:nvSpPr>
        <p:spPr>
          <a:xfrm>
            <a:off x="1527048" y="1082040"/>
            <a:ext cx="9214104" cy="1143000"/>
          </a:xfrm>
        </p:spPr>
        <p:txBody>
          <a:bodyPr/>
          <a:lstStyle/>
          <a:p>
            <a:pPr algn="just">
              <a:lnSpc>
                <a:spcPts val="3300"/>
              </a:lnSpc>
            </a:pPr>
            <a:r>
              <a:rPr lang="en-US" b="1" dirty="0">
                <a:solidFill>
                  <a:srgbClr val="000000"/>
                </a:solidFill>
                <a:latin typeface="arial" panose="020B0604020202020204" pitchFamily="34" charset="0"/>
              </a:rPr>
              <a:t>Derivation Tree in TOC</a:t>
            </a:r>
            <a:endParaRPr lang="en-US" dirty="0">
              <a:solidFill>
                <a:srgbClr val="000000"/>
              </a:solidFill>
              <a:latin typeface="Arial" panose="020B0604020202020204" pitchFamily="34" charset="0"/>
            </a:endParaRPr>
          </a:p>
        </p:txBody>
      </p:sp>
      <p:sp>
        <p:nvSpPr>
          <p:cNvPr id="3" name="object 6">
            <a:extLst>
              <a:ext uri="{FF2B5EF4-FFF2-40B4-BE49-F238E27FC236}">
                <a16:creationId xmlns:a16="http://schemas.microsoft.com/office/drawing/2014/main" id="{7000E99C-C1A1-6F60-537A-7E9556114ABE}"/>
              </a:ext>
            </a:extLst>
          </p:cNvPr>
          <p:cNvSpPr txBox="1"/>
          <p:nvPr/>
        </p:nvSpPr>
        <p:spPr>
          <a:xfrm>
            <a:off x="2622804" y="2871014"/>
            <a:ext cx="6400800" cy="2426305"/>
          </a:xfrm>
          <a:prstGeom prst="rect">
            <a:avLst/>
          </a:prstGeom>
        </p:spPr>
        <p:txBody>
          <a:bodyPr vert="horz" wrap="square" lIns="0" tIns="12700" rIns="0" bIns="0" rtlCol="0">
            <a:spAutoFit/>
          </a:bodyPr>
          <a:lstStyle/>
          <a:p>
            <a:pPr marL="495300" algn="ctr">
              <a:spcBef>
                <a:spcPts val="100"/>
              </a:spcBef>
            </a:pPr>
            <a:r>
              <a:rPr sz="3600" b="1" dirty="0">
                <a:solidFill>
                  <a:srgbClr val="282823"/>
                </a:solidFill>
                <a:latin typeface="Arial"/>
                <a:cs typeface="Arial"/>
              </a:rPr>
              <a:t>Dr.</a:t>
            </a:r>
            <a:r>
              <a:rPr sz="3600" b="1" spc="-25" dirty="0">
                <a:solidFill>
                  <a:srgbClr val="282823"/>
                </a:solidFill>
                <a:latin typeface="Arial"/>
                <a:cs typeface="Arial"/>
              </a:rPr>
              <a:t> </a:t>
            </a:r>
            <a:r>
              <a:rPr sz="3600" b="1" dirty="0">
                <a:solidFill>
                  <a:srgbClr val="282823"/>
                </a:solidFill>
                <a:latin typeface="Arial"/>
                <a:cs typeface="Arial"/>
              </a:rPr>
              <a:t>Shinnu</a:t>
            </a:r>
            <a:r>
              <a:rPr sz="3600" b="1" spc="-25" dirty="0">
                <a:solidFill>
                  <a:srgbClr val="282823"/>
                </a:solidFill>
                <a:latin typeface="Arial"/>
                <a:cs typeface="Arial"/>
              </a:rPr>
              <a:t> </a:t>
            </a:r>
            <a:r>
              <a:rPr sz="3600" b="1" spc="-10" dirty="0">
                <a:solidFill>
                  <a:srgbClr val="282823"/>
                </a:solidFill>
                <a:latin typeface="Arial"/>
                <a:cs typeface="Arial"/>
              </a:rPr>
              <a:t>Jangra</a:t>
            </a:r>
            <a:endParaRPr lang="en-US" sz="3600" b="1" spc="-10" dirty="0">
              <a:solidFill>
                <a:srgbClr val="282823"/>
              </a:solidFill>
              <a:latin typeface="Arial"/>
              <a:cs typeface="Arial"/>
            </a:endParaRPr>
          </a:p>
          <a:p>
            <a:pPr marL="495300" algn="ctr">
              <a:spcBef>
                <a:spcPts val="100"/>
              </a:spcBef>
            </a:pPr>
            <a:r>
              <a:rPr lang="en-US" sz="3600" b="1" spc="-10" dirty="0">
                <a:solidFill>
                  <a:srgbClr val="282823"/>
                </a:solidFill>
                <a:latin typeface="Arial"/>
                <a:cs typeface="Arial"/>
              </a:rPr>
              <a:t>Assistant Professor</a:t>
            </a:r>
          </a:p>
          <a:p>
            <a:pPr marL="495300" algn="ctr">
              <a:spcBef>
                <a:spcPts val="100"/>
              </a:spcBef>
            </a:pPr>
            <a:endParaRPr sz="3600" dirty="0">
              <a:latin typeface="Arial"/>
              <a:cs typeface="Arial"/>
            </a:endParaRPr>
          </a:p>
          <a:p>
            <a:pPr marL="12065" marR="5080" algn="ctr">
              <a:lnSpc>
                <a:spcPct val="123000"/>
              </a:lnSpc>
              <a:spcBef>
                <a:spcPts val="640"/>
              </a:spcBef>
            </a:pPr>
            <a:r>
              <a:rPr dirty="0">
                <a:solidFill>
                  <a:srgbClr val="494945"/>
                </a:solidFill>
                <a:latin typeface="Arial MT"/>
                <a:cs typeface="Arial MT"/>
              </a:rPr>
              <a:t>Department</a:t>
            </a:r>
            <a:r>
              <a:rPr spc="-35" dirty="0">
                <a:solidFill>
                  <a:srgbClr val="494945"/>
                </a:solidFill>
                <a:latin typeface="Arial MT"/>
                <a:cs typeface="Arial MT"/>
              </a:rPr>
              <a:t> </a:t>
            </a:r>
            <a:r>
              <a:rPr dirty="0">
                <a:solidFill>
                  <a:srgbClr val="494945"/>
                </a:solidFill>
                <a:latin typeface="Arial MT"/>
                <a:cs typeface="Arial MT"/>
              </a:rPr>
              <a:t>of</a:t>
            </a:r>
            <a:r>
              <a:rPr spc="-30" dirty="0">
                <a:solidFill>
                  <a:srgbClr val="494945"/>
                </a:solidFill>
                <a:latin typeface="Arial MT"/>
                <a:cs typeface="Arial MT"/>
              </a:rPr>
              <a:t> </a:t>
            </a:r>
            <a:r>
              <a:rPr dirty="0">
                <a:solidFill>
                  <a:srgbClr val="494945"/>
                </a:solidFill>
                <a:latin typeface="Arial MT"/>
                <a:cs typeface="Arial MT"/>
              </a:rPr>
              <a:t>Artificial</a:t>
            </a:r>
            <a:r>
              <a:rPr spc="-35" dirty="0">
                <a:solidFill>
                  <a:srgbClr val="494945"/>
                </a:solidFill>
                <a:latin typeface="Arial MT"/>
                <a:cs typeface="Arial MT"/>
              </a:rPr>
              <a:t> </a:t>
            </a:r>
            <a:r>
              <a:rPr dirty="0">
                <a:solidFill>
                  <a:srgbClr val="494945"/>
                </a:solidFill>
                <a:latin typeface="Arial MT"/>
                <a:cs typeface="Arial MT"/>
              </a:rPr>
              <a:t>Intelligence</a:t>
            </a:r>
            <a:r>
              <a:rPr spc="-30" dirty="0">
                <a:solidFill>
                  <a:srgbClr val="494945"/>
                </a:solidFill>
                <a:latin typeface="Arial MT"/>
                <a:cs typeface="Arial MT"/>
              </a:rPr>
              <a:t> </a:t>
            </a:r>
            <a:r>
              <a:rPr dirty="0">
                <a:solidFill>
                  <a:srgbClr val="494945"/>
                </a:solidFill>
                <a:latin typeface="Arial MT"/>
                <a:cs typeface="Arial MT"/>
              </a:rPr>
              <a:t>and</a:t>
            </a:r>
            <a:r>
              <a:rPr spc="-30" dirty="0">
                <a:solidFill>
                  <a:srgbClr val="494945"/>
                </a:solidFill>
                <a:latin typeface="Arial MT"/>
                <a:cs typeface="Arial MT"/>
              </a:rPr>
              <a:t> </a:t>
            </a:r>
            <a:r>
              <a:rPr spc="-10" dirty="0">
                <a:solidFill>
                  <a:srgbClr val="494945"/>
                </a:solidFill>
                <a:latin typeface="Arial MT"/>
                <a:cs typeface="Arial MT"/>
              </a:rPr>
              <a:t>Machine </a:t>
            </a:r>
            <a:r>
              <a:rPr dirty="0">
                <a:solidFill>
                  <a:srgbClr val="494945"/>
                </a:solidFill>
                <a:latin typeface="Arial MT"/>
                <a:cs typeface="Arial MT"/>
              </a:rPr>
              <a:t>Learning,</a:t>
            </a:r>
            <a:r>
              <a:rPr spc="-25" dirty="0">
                <a:solidFill>
                  <a:srgbClr val="494945"/>
                </a:solidFill>
                <a:latin typeface="Arial MT"/>
                <a:cs typeface="Arial MT"/>
              </a:rPr>
              <a:t> </a:t>
            </a:r>
            <a:r>
              <a:rPr dirty="0">
                <a:solidFill>
                  <a:srgbClr val="494945"/>
                </a:solidFill>
                <a:latin typeface="Arial MT"/>
                <a:cs typeface="Arial MT"/>
              </a:rPr>
              <a:t>Manipal</a:t>
            </a:r>
            <a:r>
              <a:rPr spc="-25" dirty="0">
                <a:solidFill>
                  <a:srgbClr val="494945"/>
                </a:solidFill>
                <a:latin typeface="Arial MT"/>
                <a:cs typeface="Arial MT"/>
              </a:rPr>
              <a:t> </a:t>
            </a:r>
            <a:r>
              <a:rPr dirty="0">
                <a:solidFill>
                  <a:srgbClr val="494945"/>
                </a:solidFill>
                <a:latin typeface="Arial MT"/>
                <a:cs typeface="Arial MT"/>
              </a:rPr>
              <a:t>University</a:t>
            </a:r>
            <a:r>
              <a:rPr spc="-25" dirty="0">
                <a:solidFill>
                  <a:srgbClr val="494945"/>
                </a:solidFill>
                <a:latin typeface="Arial MT"/>
                <a:cs typeface="Arial MT"/>
              </a:rPr>
              <a:t> </a:t>
            </a:r>
            <a:r>
              <a:rPr dirty="0">
                <a:solidFill>
                  <a:srgbClr val="494945"/>
                </a:solidFill>
                <a:latin typeface="Arial MT"/>
                <a:cs typeface="Arial MT"/>
              </a:rPr>
              <a:t>Jaipur,</a:t>
            </a:r>
            <a:r>
              <a:rPr spc="-25" dirty="0">
                <a:solidFill>
                  <a:srgbClr val="494945"/>
                </a:solidFill>
                <a:latin typeface="Arial MT"/>
                <a:cs typeface="Arial MT"/>
              </a:rPr>
              <a:t> </a:t>
            </a:r>
            <a:r>
              <a:rPr spc="-10" dirty="0">
                <a:solidFill>
                  <a:srgbClr val="494945"/>
                </a:solidFill>
                <a:latin typeface="Arial MT"/>
                <a:cs typeface="Arial MT"/>
              </a:rPr>
              <a:t>Rajasthan, India</a:t>
            </a:r>
            <a:endParaRPr dirty="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3277E-0F1D-E427-45C2-A36D729A88FE}"/>
            </a:ext>
          </a:extLst>
        </p:cNvPr>
        <p:cNvGrpSpPr/>
        <p:nvPr/>
      </p:nvGrpSpPr>
      <p:grpSpPr>
        <a:xfrm>
          <a:off x="0" y="0"/>
          <a:ext cx="0" cy="0"/>
          <a:chOff x="0" y="0"/>
          <a:chExt cx="0" cy="0"/>
        </a:xfrm>
      </p:grpSpPr>
      <p:sp>
        <p:nvSpPr>
          <p:cNvPr id="3074" name="Rectangle 14">
            <a:extLst>
              <a:ext uri="{FF2B5EF4-FFF2-40B4-BE49-F238E27FC236}">
                <a16:creationId xmlns:a16="http://schemas.microsoft.com/office/drawing/2014/main" id="{8B961A59-6126-3E28-65A2-0B3B11A94D9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charset="0"/>
                <a:ea typeface="ＭＳ Ｐゴシック" charset="-128"/>
              </a:defRPr>
            </a:lvl1pPr>
            <a:lvl2pPr marL="742950" indent="-285750">
              <a:defRPr sz="2000">
                <a:solidFill>
                  <a:schemeClr val="tx1"/>
                </a:solidFill>
                <a:latin typeface="Arial" charset="0"/>
                <a:ea typeface="ＭＳ Ｐゴシック" charset="-128"/>
              </a:defRPr>
            </a:lvl2pPr>
            <a:lvl3pPr marL="1143000" indent="-228600">
              <a:defRPr sz="2000">
                <a:solidFill>
                  <a:schemeClr val="tx1"/>
                </a:solidFill>
                <a:latin typeface="Arial" charset="0"/>
                <a:ea typeface="ＭＳ Ｐゴシック" charset="-128"/>
              </a:defRPr>
            </a:lvl3pPr>
            <a:lvl4pPr marL="1600200" indent="-228600">
              <a:defRPr sz="2000">
                <a:solidFill>
                  <a:schemeClr val="tx1"/>
                </a:solidFill>
                <a:latin typeface="Arial" charset="0"/>
                <a:ea typeface="ＭＳ Ｐゴシック" charset="-128"/>
              </a:defRPr>
            </a:lvl4pPr>
            <a:lvl5pPr marL="2057400" indent="-228600">
              <a:defRPr sz="2000">
                <a:solidFill>
                  <a:schemeClr val="tx1"/>
                </a:solidFill>
                <a:latin typeface="Arial" charset="0"/>
                <a:ea typeface="ＭＳ Ｐゴシック" charset="-128"/>
              </a:defRPr>
            </a:lvl5pPr>
            <a:lvl6pPr marL="2514600" indent="-228600" eaLnBrk="0" fontAlgn="base" hangingPunct="0">
              <a:spcBef>
                <a:spcPct val="0"/>
              </a:spcBef>
              <a:spcAft>
                <a:spcPct val="0"/>
              </a:spcAft>
              <a:defRPr sz="2000">
                <a:solidFill>
                  <a:schemeClr val="tx1"/>
                </a:solidFill>
                <a:latin typeface="Arial" charset="0"/>
                <a:ea typeface="ＭＳ Ｐゴシック" charset="-128"/>
              </a:defRPr>
            </a:lvl6pPr>
            <a:lvl7pPr marL="2971800" indent="-228600" eaLnBrk="0" fontAlgn="base" hangingPunct="0">
              <a:spcBef>
                <a:spcPct val="0"/>
              </a:spcBef>
              <a:spcAft>
                <a:spcPct val="0"/>
              </a:spcAft>
              <a:defRPr sz="2000">
                <a:solidFill>
                  <a:schemeClr val="tx1"/>
                </a:solidFill>
                <a:latin typeface="Arial" charset="0"/>
                <a:ea typeface="ＭＳ Ｐゴシック" charset="-128"/>
              </a:defRPr>
            </a:lvl7pPr>
            <a:lvl8pPr marL="3429000" indent="-228600" eaLnBrk="0" fontAlgn="base" hangingPunct="0">
              <a:spcBef>
                <a:spcPct val="0"/>
              </a:spcBef>
              <a:spcAft>
                <a:spcPct val="0"/>
              </a:spcAft>
              <a:defRPr sz="2000">
                <a:solidFill>
                  <a:schemeClr val="tx1"/>
                </a:solidFill>
                <a:latin typeface="Arial" charset="0"/>
                <a:ea typeface="ＭＳ Ｐゴシック" charset="-128"/>
              </a:defRPr>
            </a:lvl8pPr>
            <a:lvl9pPr marL="3886200" indent="-228600" eaLnBrk="0" fontAlgn="base" hangingPunct="0">
              <a:spcBef>
                <a:spcPct val="0"/>
              </a:spcBef>
              <a:spcAft>
                <a:spcPct val="0"/>
              </a:spcAft>
              <a:defRPr sz="2000">
                <a:solidFill>
                  <a:schemeClr val="tx1"/>
                </a:solidFill>
                <a:latin typeface="Arial" charset="0"/>
                <a:ea typeface="ＭＳ Ｐゴシック" charset="-128"/>
              </a:defRPr>
            </a:lvl9pPr>
          </a:lstStyle>
          <a:p>
            <a:fld id="{28DC5C78-6D79-3142-B0AC-40BAA62D9BCB}" type="slidenum">
              <a:rPr lang="en-US" altLang="x-none" sz="1400">
                <a:solidFill>
                  <a:schemeClr val="bg2"/>
                </a:solidFill>
              </a:rPr>
              <a:pPr/>
              <a:t>2</a:t>
            </a:fld>
            <a:endParaRPr lang="en-US" altLang="x-none" sz="1400">
              <a:solidFill>
                <a:schemeClr val="bg2"/>
              </a:solidFill>
            </a:endParaRPr>
          </a:p>
        </p:txBody>
      </p:sp>
      <p:pic>
        <p:nvPicPr>
          <p:cNvPr id="6" name="Picture 5">
            <a:extLst>
              <a:ext uri="{FF2B5EF4-FFF2-40B4-BE49-F238E27FC236}">
                <a16:creationId xmlns:a16="http://schemas.microsoft.com/office/drawing/2014/main" id="{E73614D9-B432-D624-0F7C-DA10DEF14FB2}"/>
              </a:ext>
            </a:extLst>
          </p:cNvPr>
          <p:cNvPicPr>
            <a:picLocks noChangeAspect="1"/>
          </p:cNvPicPr>
          <p:nvPr/>
        </p:nvPicPr>
        <p:blipFill>
          <a:blip r:embed="rId3"/>
          <a:srcRect t="16889"/>
          <a:stretch>
            <a:fillRect/>
          </a:stretch>
        </p:blipFill>
        <p:spPr>
          <a:xfrm>
            <a:off x="409007" y="1929384"/>
            <a:ext cx="10944793" cy="3236975"/>
          </a:xfrm>
          <a:prstGeom prst="rect">
            <a:avLst/>
          </a:prstGeom>
        </p:spPr>
      </p:pic>
    </p:spTree>
    <p:extLst>
      <p:ext uri="{BB962C8B-B14F-4D97-AF65-F5344CB8AC3E}">
        <p14:creationId xmlns:p14="http://schemas.microsoft.com/office/powerpoint/2010/main" val="1754277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5174053-C7FD-330D-3EF6-BC5679509912}"/>
              </a:ext>
            </a:extLst>
          </p:cNvPr>
          <p:cNvSpPr txBox="1"/>
          <p:nvPr/>
        </p:nvSpPr>
        <p:spPr>
          <a:xfrm>
            <a:off x="733806" y="631597"/>
            <a:ext cx="10915650" cy="1815882"/>
          </a:xfrm>
          <a:prstGeom prst="rect">
            <a:avLst/>
          </a:prstGeom>
          <a:noFill/>
        </p:spPr>
        <p:txBody>
          <a:bodyPr wrap="square">
            <a:spAutoFit/>
          </a:bodyPr>
          <a:lstStyle/>
          <a:p>
            <a:r>
              <a:rPr lang="en-US" sz="2000" b="1" dirty="0"/>
              <a:t>Derivation Tree in TOC</a:t>
            </a:r>
          </a:p>
          <a:p>
            <a:endParaRPr lang="en-US" sz="2000" b="1" dirty="0"/>
          </a:p>
          <a:p>
            <a:r>
              <a:rPr lang="en-US" dirty="0"/>
              <a:t>Deriving a string in the form of a tree from a CFG grammar is called a derivation tree in TOC. A Context-Free Grammar (CFG) generates strings by applying production rules. These strings can be represented in the form of a tree, which is called a derivation Tree.</a:t>
            </a:r>
          </a:p>
          <a:p>
            <a:r>
              <a:rPr lang="en-US" dirty="0"/>
              <a:t>Derivation tree is also known as a parse Tree, or syntax tree.</a:t>
            </a:r>
          </a:p>
        </p:txBody>
      </p:sp>
      <p:sp>
        <p:nvSpPr>
          <p:cNvPr id="7" name="TextBox 6">
            <a:extLst>
              <a:ext uri="{FF2B5EF4-FFF2-40B4-BE49-F238E27FC236}">
                <a16:creationId xmlns:a16="http://schemas.microsoft.com/office/drawing/2014/main" id="{5AE157D4-2901-7F6D-C303-CD703FC49A47}"/>
              </a:ext>
            </a:extLst>
          </p:cNvPr>
          <p:cNvSpPr txBox="1"/>
          <p:nvPr/>
        </p:nvSpPr>
        <p:spPr>
          <a:xfrm>
            <a:off x="733806" y="2693210"/>
            <a:ext cx="10668762" cy="1151597"/>
          </a:xfrm>
          <a:prstGeom prst="rect">
            <a:avLst/>
          </a:prstGeom>
          <a:noFill/>
        </p:spPr>
        <p:txBody>
          <a:bodyPr wrap="square">
            <a:spAutoFit/>
          </a:bodyPr>
          <a:lstStyle/>
          <a:p>
            <a:pPr indent="0" algn="just">
              <a:buNone/>
            </a:pPr>
            <a:r>
              <a:rPr lang="en-US" sz="1275" i="0" dirty="0">
                <a:solidFill>
                  <a:srgbClr val="000000"/>
                </a:solidFill>
                <a:effectLst/>
                <a:latin typeface="arial" panose="020B0604020202020204" pitchFamily="34" charset="0"/>
              </a:rPr>
              <a:t> Derivation tree shows how a string is formed from the start symbol of a Context-Free Grammar (CFG) by applying production rules step-by-step.</a:t>
            </a:r>
            <a:endParaRPr lang="en-US" sz="1275" i="0" dirty="0">
              <a:solidFill>
                <a:srgbClr val="000000"/>
              </a:solidFill>
              <a:effectLst/>
              <a:latin typeface="Lato" panose="020F0502020204030203" pitchFamily="34" charset="0"/>
            </a:endParaRPr>
          </a:p>
          <a:p>
            <a:pPr indent="0" algn="just">
              <a:lnSpc>
                <a:spcPts val="2625"/>
              </a:lnSpc>
              <a:buNone/>
            </a:pPr>
            <a:endParaRPr lang="en-US" sz="2000" i="0" dirty="0">
              <a:solidFill>
                <a:srgbClr val="000000"/>
              </a:solidFill>
              <a:effectLst/>
              <a:latin typeface="arial" panose="020B0604020202020204" pitchFamily="34" charset="0"/>
            </a:endParaRPr>
          </a:p>
          <a:p>
            <a:pPr indent="0" algn="just">
              <a:lnSpc>
                <a:spcPts val="2625"/>
              </a:lnSpc>
              <a:buNone/>
            </a:pPr>
            <a:r>
              <a:rPr lang="en-US" sz="2000" i="0" dirty="0">
                <a:solidFill>
                  <a:srgbClr val="000000"/>
                </a:solidFill>
                <a:effectLst/>
                <a:latin typeface="arial" panose="020B0604020202020204" pitchFamily="34" charset="0"/>
              </a:rPr>
              <a:t>Examples of Derivations</a:t>
            </a:r>
            <a:endParaRPr lang="en-US" sz="1800" i="0" dirty="0">
              <a:solidFill>
                <a:srgbClr val="000000"/>
              </a:solidFill>
              <a:effectLst/>
              <a:latin typeface="Lato" panose="020F0502020204030203" pitchFamily="34" charset="0"/>
            </a:endParaRPr>
          </a:p>
          <a:p>
            <a:pPr indent="0" algn="just">
              <a:buNone/>
            </a:pPr>
            <a:r>
              <a:rPr lang="en-US" sz="1275" i="0" dirty="0">
                <a:solidFill>
                  <a:srgbClr val="000000"/>
                </a:solidFill>
                <a:effectLst/>
                <a:latin typeface="arial" panose="020B0604020202020204" pitchFamily="34" charset="0"/>
              </a:rPr>
              <a:t>let explain some examples of derivations in TOC</a:t>
            </a:r>
            <a:endParaRPr lang="en-US" sz="1275" i="0" dirty="0">
              <a:solidFill>
                <a:srgbClr val="000000"/>
              </a:solidFill>
              <a:effectLst/>
              <a:latin typeface="Lato" panose="020F0502020204030203" pitchFamily="34" charset="0"/>
            </a:endParaRPr>
          </a:p>
        </p:txBody>
      </p:sp>
      <p:sp>
        <p:nvSpPr>
          <p:cNvPr id="9" name="TextBox 8">
            <a:extLst>
              <a:ext uri="{FF2B5EF4-FFF2-40B4-BE49-F238E27FC236}">
                <a16:creationId xmlns:a16="http://schemas.microsoft.com/office/drawing/2014/main" id="{99EBF35E-2D4B-972C-E50D-4551E6C9E62B}"/>
              </a:ext>
            </a:extLst>
          </p:cNvPr>
          <p:cNvSpPr txBox="1"/>
          <p:nvPr/>
        </p:nvSpPr>
        <p:spPr>
          <a:xfrm>
            <a:off x="733806" y="3952038"/>
            <a:ext cx="6094476" cy="276999"/>
          </a:xfrm>
          <a:prstGeom prst="rect">
            <a:avLst/>
          </a:prstGeom>
          <a:noFill/>
        </p:spPr>
        <p:txBody>
          <a:bodyPr wrap="square">
            <a:spAutoFit/>
          </a:bodyPr>
          <a:lstStyle/>
          <a:p>
            <a:r>
              <a:rPr lang="en-US" sz="1200" b="0" i="0" dirty="0">
                <a:solidFill>
                  <a:srgbClr val="000000"/>
                </a:solidFill>
                <a:effectLst/>
                <a:latin typeface="arial" panose="020B0604020202020204" pitchFamily="34" charset="0"/>
              </a:rPr>
              <a:t>Suppose the following Production rules of a Grammar (G)</a:t>
            </a:r>
            <a:endParaRPr lang="en-US" dirty="0"/>
          </a:p>
        </p:txBody>
      </p:sp>
      <p:pic>
        <p:nvPicPr>
          <p:cNvPr id="11" name="Picture 10">
            <a:extLst>
              <a:ext uri="{FF2B5EF4-FFF2-40B4-BE49-F238E27FC236}">
                <a16:creationId xmlns:a16="http://schemas.microsoft.com/office/drawing/2014/main" id="{1C4EBDE5-3261-7642-4DE2-A741EAFF0876}"/>
              </a:ext>
            </a:extLst>
          </p:cNvPr>
          <p:cNvPicPr>
            <a:picLocks noChangeAspect="1"/>
          </p:cNvPicPr>
          <p:nvPr/>
        </p:nvPicPr>
        <p:blipFill>
          <a:blip r:embed="rId2"/>
          <a:stretch>
            <a:fillRect/>
          </a:stretch>
        </p:blipFill>
        <p:spPr>
          <a:xfrm>
            <a:off x="925666" y="4497938"/>
            <a:ext cx="2539910" cy="1446495"/>
          </a:xfrm>
          <a:prstGeom prst="rect">
            <a:avLst/>
          </a:prstGeom>
        </p:spPr>
      </p:pic>
      <p:sp>
        <p:nvSpPr>
          <p:cNvPr id="13" name="TextBox 12">
            <a:extLst>
              <a:ext uri="{FF2B5EF4-FFF2-40B4-BE49-F238E27FC236}">
                <a16:creationId xmlns:a16="http://schemas.microsoft.com/office/drawing/2014/main" id="{9D4C6833-CF93-D891-B247-F49290B3D91F}"/>
              </a:ext>
            </a:extLst>
          </p:cNvPr>
          <p:cNvSpPr txBox="1"/>
          <p:nvPr/>
        </p:nvSpPr>
        <p:spPr>
          <a:xfrm>
            <a:off x="3614166" y="5221185"/>
            <a:ext cx="6094476" cy="307777"/>
          </a:xfrm>
          <a:prstGeom prst="rect">
            <a:avLst/>
          </a:prstGeom>
          <a:noFill/>
        </p:spPr>
        <p:txBody>
          <a:bodyPr wrap="square">
            <a:spAutoFit/>
          </a:bodyPr>
          <a:lstStyle/>
          <a:p>
            <a:r>
              <a:rPr lang="en-US" sz="1400" b="1" i="0" dirty="0">
                <a:solidFill>
                  <a:srgbClr val="000000"/>
                </a:solidFill>
                <a:effectLst/>
                <a:latin typeface="arial" panose="020B0604020202020204" pitchFamily="34" charset="0"/>
              </a:rPr>
              <a:t>and Input is (x * y + Z)</a:t>
            </a:r>
            <a:endParaRPr lang="en-US" sz="2000" b="1" dirty="0"/>
          </a:p>
        </p:txBody>
      </p:sp>
    </p:spTree>
    <p:extLst>
      <p:ext uri="{BB962C8B-B14F-4D97-AF65-F5344CB8AC3E}">
        <p14:creationId xmlns:p14="http://schemas.microsoft.com/office/powerpoint/2010/main" val="4286755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A2D5D-7BC2-EB25-4C29-36F5FE72EBE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5C9F3EB-6488-D439-44B3-961928FD0CB8}"/>
              </a:ext>
            </a:extLst>
          </p:cNvPr>
          <p:cNvSpPr txBox="1"/>
          <p:nvPr/>
        </p:nvSpPr>
        <p:spPr>
          <a:xfrm>
            <a:off x="614934" y="576033"/>
            <a:ext cx="6094476" cy="307777"/>
          </a:xfrm>
          <a:prstGeom prst="rect">
            <a:avLst/>
          </a:prstGeom>
          <a:noFill/>
        </p:spPr>
        <p:txBody>
          <a:bodyPr wrap="square">
            <a:spAutoFit/>
          </a:bodyPr>
          <a:lstStyle/>
          <a:p>
            <a:r>
              <a:rPr lang="en-US" sz="1400" b="1" dirty="0">
                <a:solidFill>
                  <a:srgbClr val="000000"/>
                </a:solidFill>
                <a:latin typeface="arial" panose="020B0604020202020204" pitchFamily="34" charset="0"/>
              </a:rPr>
              <a:t>For</a:t>
            </a:r>
            <a:r>
              <a:rPr lang="en-US" sz="1400" b="1" i="0" dirty="0">
                <a:solidFill>
                  <a:srgbClr val="000000"/>
                </a:solidFill>
                <a:effectLst/>
                <a:latin typeface="arial" panose="020B0604020202020204" pitchFamily="34" charset="0"/>
              </a:rPr>
              <a:t> Input is (x * y + Z)</a:t>
            </a:r>
            <a:endParaRPr lang="en-US" sz="2000" b="1" dirty="0"/>
          </a:p>
        </p:txBody>
      </p:sp>
      <p:pic>
        <p:nvPicPr>
          <p:cNvPr id="3" name="Picture 2">
            <a:extLst>
              <a:ext uri="{FF2B5EF4-FFF2-40B4-BE49-F238E27FC236}">
                <a16:creationId xmlns:a16="http://schemas.microsoft.com/office/drawing/2014/main" id="{7C05D364-AC76-81F3-EC5C-85FEC28CB1F7}"/>
              </a:ext>
            </a:extLst>
          </p:cNvPr>
          <p:cNvPicPr>
            <a:picLocks noChangeAspect="1"/>
          </p:cNvPicPr>
          <p:nvPr/>
        </p:nvPicPr>
        <p:blipFill>
          <a:blip r:embed="rId2"/>
          <a:stretch>
            <a:fillRect/>
          </a:stretch>
        </p:blipFill>
        <p:spPr>
          <a:xfrm>
            <a:off x="694842" y="1085295"/>
            <a:ext cx="2879078" cy="1319577"/>
          </a:xfrm>
          <a:prstGeom prst="rect">
            <a:avLst/>
          </a:prstGeom>
        </p:spPr>
      </p:pic>
      <p:pic>
        <p:nvPicPr>
          <p:cNvPr id="6" name="Picture 5">
            <a:extLst>
              <a:ext uri="{FF2B5EF4-FFF2-40B4-BE49-F238E27FC236}">
                <a16:creationId xmlns:a16="http://schemas.microsoft.com/office/drawing/2014/main" id="{55FF4C62-2049-8A43-8CBE-89D856710166}"/>
              </a:ext>
            </a:extLst>
          </p:cNvPr>
          <p:cNvPicPr>
            <a:picLocks noChangeAspect="1"/>
          </p:cNvPicPr>
          <p:nvPr/>
        </p:nvPicPr>
        <p:blipFill>
          <a:blip r:embed="rId3"/>
          <a:stretch>
            <a:fillRect/>
          </a:stretch>
        </p:blipFill>
        <p:spPr>
          <a:xfrm>
            <a:off x="694842" y="2644618"/>
            <a:ext cx="2958986" cy="1808511"/>
          </a:xfrm>
          <a:prstGeom prst="rect">
            <a:avLst/>
          </a:prstGeom>
        </p:spPr>
      </p:pic>
      <p:pic>
        <p:nvPicPr>
          <p:cNvPr id="10" name="Picture 9">
            <a:extLst>
              <a:ext uri="{FF2B5EF4-FFF2-40B4-BE49-F238E27FC236}">
                <a16:creationId xmlns:a16="http://schemas.microsoft.com/office/drawing/2014/main" id="{5F7AAF12-5E89-4382-96FB-7244F43F6304}"/>
              </a:ext>
            </a:extLst>
          </p:cNvPr>
          <p:cNvPicPr>
            <a:picLocks noChangeAspect="1"/>
          </p:cNvPicPr>
          <p:nvPr/>
        </p:nvPicPr>
        <p:blipFill>
          <a:blip r:embed="rId4"/>
          <a:stretch>
            <a:fillRect/>
          </a:stretch>
        </p:blipFill>
        <p:spPr>
          <a:xfrm>
            <a:off x="771319" y="4541728"/>
            <a:ext cx="2806031" cy="2086960"/>
          </a:xfrm>
          <a:prstGeom prst="rect">
            <a:avLst/>
          </a:prstGeom>
        </p:spPr>
      </p:pic>
      <p:pic>
        <p:nvPicPr>
          <p:cNvPr id="14" name="Picture 13">
            <a:extLst>
              <a:ext uri="{FF2B5EF4-FFF2-40B4-BE49-F238E27FC236}">
                <a16:creationId xmlns:a16="http://schemas.microsoft.com/office/drawing/2014/main" id="{18F03748-BF40-3222-B026-88C5CFE58E48}"/>
              </a:ext>
            </a:extLst>
          </p:cNvPr>
          <p:cNvPicPr>
            <a:picLocks noChangeAspect="1"/>
          </p:cNvPicPr>
          <p:nvPr/>
        </p:nvPicPr>
        <p:blipFill>
          <a:blip r:embed="rId5"/>
          <a:stretch>
            <a:fillRect/>
          </a:stretch>
        </p:blipFill>
        <p:spPr>
          <a:xfrm>
            <a:off x="5910785" y="883810"/>
            <a:ext cx="3218163" cy="2438726"/>
          </a:xfrm>
          <a:prstGeom prst="rect">
            <a:avLst/>
          </a:prstGeom>
        </p:spPr>
      </p:pic>
      <p:pic>
        <p:nvPicPr>
          <p:cNvPr id="16" name="Picture 15">
            <a:extLst>
              <a:ext uri="{FF2B5EF4-FFF2-40B4-BE49-F238E27FC236}">
                <a16:creationId xmlns:a16="http://schemas.microsoft.com/office/drawing/2014/main" id="{E345F4FC-077E-9ABD-0E08-F717EBC79150}"/>
              </a:ext>
            </a:extLst>
          </p:cNvPr>
          <p:cNvPicPr>
            <a:picLocks noChangeAspect="1"/>
          </p:cNvPicPr>
          <p:nvPr/>
        </p:nvPicPr>
        <p:blipFill>
          <a:blip r:embed="rId6"/>
          <a:stretch>
            <a:fillRect/>
          </a:stretch>
        </p:blipFill>
        <p:spPr>
          <a:xfrm>
            <a:off x="5644652" y="3548873"/>
            <a:ext cx="4061326" cy="3216390"/>
          </a:xfrm>
          <a:prstGeom prst="rect">
            <a:avLst/>
          </a:prstGeom>
        </p:spPr>
      </p:pic>
    </p:spTree>
    <p:extLst>
      <p:ext uri="{BB962C8B-B14F-4D97-AF65-F5344CB8AC3E}">
        <p14:creationId xmlns:p14="http://schemas.microsoft.com/office/powerpoint/2010/main" val="2265029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23C6-5530-B2DB-E93D-C9DA808EC6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E50731-941D-6941-AE29-5CD9F4736F89}"/>
              </a:ext>
            </a:extLst>
          </p:cNvPr>
          <p:cNvSpPr txBox="1"/>
          <p:nvPr/>
        </p:nvSpPr>
        <p:spPr>
          <a:xfrm>
            <a:off x="331470" y="219755"/>
            <a:ext cx="6094476" cy="1564531"/>
          </a:xfrm>
          <a:prstGeom prst="rect">
            <a:avLst/>
          </a:prstGeom>
          <a:noFill/>
        </p:spPr>
        <p:txBody>
          <a:bodyPr wrap="square">
            <a:spAutoFit/>
          </a:bodyPr>
          <a:lstStyle/>
          <a:p>
            <a:pPr indent="0">
              <a:lnSpc>
                <a:spcPts val="2250"/>
              </a:lnSpc>
              <a:buNone/>
            </a:pPr>
            <a:r>
              <a:rPr lang="en-US" sz="1600" b="1" i="0" u="sng" dirty="0">
                <a:solidFill>
                  <a:srgbClr val="000000"/>
                </a:solidFill>
                <a:effectLst/>
                <a:latin typeface="arial" panose="020B0604020202020204" pitchFamily="34" charset="0"/>
              </a:rPr>
              <a:t>Example 02:</a:t>
            </a:r>
            <a:endParaRPr lang="en-US" sz="1500" b="0" i="0" u="sng" dirty="0">
              <a:solidFill>
                <a:srgbClr val="000000"/>
              </a:solidFill>
              <a:effectLst/>
              <a:latin typeface="Lato" panose="020F0502020204030203" pitchFamily="34" charset="0"/>
            </a:endParaRPr>
          </a:p>
          <a:p>
            <a:pPr indent="0">
              <a:buNone/>
            </a:pPr>
            <a:r>
              <a:rPr lang="en-US" sz="1275" b="0" i="0" dirty="0">
                <a:solidFill>
                  <a:srgbClr val="000000"/>
                </a:solidFill>
                <a:effectLst/>
                <a:latin typeface="arial" panose="020B0604020202020204" pitchFamily="34" charset="0"/>
              </a:rPr>
              <a:t>Grammar Production Rules are</a:t>
            </a:r>
            <a:br>
              <a:rPr lang="en-US" sz="1275" b="0" i="0" dirty="0">
                <a:solidFill>
                  <a:srgbClr val="000000"/>
                </a:solidFill>
                <a:effectLst/>
                <a:latin typeface="Lato" panose="020F0502020204030203" pitchFamily="34" charset="0"/>
              </a:rPr>
            </a:br>
            <a:r>
              <a:rPr lang="en-US" sz="1275" b="0" i="0" dirty="0">
                <a:solidFill>
                  <a:srgbClr val="000000"/>
                </a:solidFill>
                <a:effectLst/>
                <a:latin typeface="arial" panose="020B0604020202020204" pitchFamily="34" charset="0"/>
              </a:rPr>
              <a:t>S → </a:t>
            </a:r>
            <a:r>
              <a:rPr lang="en-US" sz="1275" b="0" i="0" dirty="0" err="1">
                <a:solidFill>
                  <a:srgbClr val="000000"/>
                </a:solidFill>
                <a:effectLst/>
                <a:latin typeface="arial" panose="020B0604020202020204" pitchFamily="34" charset="0"/>
              </a:rPr>
              <a:t>xB</a:t>
            </a:r>
            <a:r>
              <a:rPr lang="en-US" sz="1275" b="0" i="0" dirty="0">
                <a:solidFill>
                  <a:srgbClr val="000000"/>
                </a:solidFill>
                <a:effectLst/>
                <a:latin typeface="arial" panose="020B0604020202020204" pitchFamily="34" charset="0"/>
              </a:rPr>
              <a:t> / </a:t>
            </a:r>
            <a:r>
              <a:rPr lang="en-US" sz="1275" b="0" i="0" dirty="0" err="1">
                <a:solidFill>
                  <a:srgbClr val="000000"/>
                </a:solidFill>
                <a:effectLst/>
                <a:latin typeface="arial" panose="020B0604020202020204" pitchFamily="34" charset="0"/>
              </a:rPr>
              <a:t>yA</a:t>
            </a:r>
            <a:br>
              <a:rPr lang="en-US" sz="1275" b="0" i="0" dirty="0">
                <a:solidFill>
                  <a:srgbClr val="000000"/>
                </a:solidFill>
                <a:effectLst/>
                <a:latin typeface="Lato" panose="020F0502020204030203" pitchFamily="34" charset="0"/>
              </a:rPr>
            </a:br>
            <a:r>
              <a:rPr lang="en-US" sz="1275" b="0" i="0" dirty="0">
                <a:solidFill>
                  <a:srgbClr val="000000"/>
                </a:solidFill>
                <a:effectLst/>
                <a:latin typeface="arial" panose="020B0604020202020204" pitchFamily="34" charset="0"/>
              </a:rPr>
              <a:t>S → </a:t>
            </a:r>
            <a:r>
              <a:rPr lang="en-US" sz="1275" b="0" i="0" dirty="0" err="1">
                <a:solidFill>
                  <a:srgbClr val="000000"/>
                </a:solidFill>
                <a:effectLst/>
                <a:latin typeface="arial" panose="020B0604020202020204" pitchFamily="34" charset="0"/>
              </a:rPr>
              <a:t>xS</a:t>
            </a:r>
            <a:r>
              <a:rPr lang="en-US" sz="1275" b="0" i="0" dirty="0">
                <a:solidFill>
                  <a:srgbClr val="000000"/>
                </a:solidFill>
                <a:effectLst/>
                <a:latin typeface="arial" panose="020B0604020202020204" pitchFamily="34" charset="0"/>
              </a:rPr>
              <a:t> / </a:t>
            </a:r>
            <a:r>
              <a:rPr lang="en-US" sz="1275" b="0" i="0" dirty="0" err="1">
                <a:solidFill>
                  <a:srgbClr val="000000"/>
                </a:solidFill>
                <a:effectLst/>
                <a:latin typeface="arial" panose="020B0604020202020204" pitchFamily="34" charset="0"/>
              </a:rPr>
              <a:t>yAA</a:t>
            </a:r>
            <a:r>
              <a:rPr lang="en-US" sz="1275" b="0" i="0" dirty="0">
                <a:solidFill>
                  <a:srgbClr val="000000"/>
                </a:solidFill>
                <a:effectLst/>
                <a:latin typeface="arial" panose="020B0604020202020204" pitchFamily="34" charset="0"/>
              </a:rPr>
              <a:t> / x</a:t>
            </a:r>
            <a:br>
              <a:rPr lang="en-US" sz="1275" b="0" i="0" dirty="0">
                <a:solidFill>
                  <a:srgbClr val="000000"/>
                </a:solidFill>
                <a:effectLst/>
                <a:latin typeface="Lato" panose="020F0502020204030203" pitchFamily="34" charset="0"/>
              </a:rPr>
            </a:br>
            <a:r>
              <a:rPr lang="en-US" sz="1275" b="0" i="0" dirty="0">
                <a:solidFill>
                  <a:srgbClr val="000000"/>
                </a:solidFill>
                <a:effectLst/>
                <a:latin typeface="arial" panose="020B0604020202020204" pitchFamily="34" charset="0"/>
              </a:rPr>
              <a:t>B → </a:t>
            </a:r>
            <a:r>
              <a:rPr lang="en-US" sz="1275" b="0" i="0" dirty="0" err="1">
                <a:solidFill>
                  <a:srgbClr val="000000"/>
                </a:solidFill>
                <a:effectLst/>
                <a:latin typeface="arial" panose="020B0604020202020204" pitchFamily="34" charset="0"/>
              </a:rPr>
              <a:t>yS</a:t>
            </a:r>
            <a:r>
              <a:rPr lang="en-US" sz="1275" b="0" i="0" dirty="0">
                <a:solidFill>
                  <a:srgbClr val="000000"/>
                </a:solidFill>
                <a:effectLst/>
                <a:latin typeface="arial" panose="020B0604020202020204" pitchFamily="34" charset="0"/>
              </a:rPr>
              <a:t> / </a:t>
            </a:r>
            <a:r>
              <a:rPr lang="en-US" sz="1275" b="0" i="0" dirty="0" err="1">
                <a:solidFill>
                  <a:srgbClr val="000000"/>
                </a:solidFill>
                <a:effectLst/>
                <a:latin typeface="arial" panose="020B0604020202020204" pitchFamily="34" charset="0"/>
              </a:rPr>
              <a:t>xBB</a:t>
            </a:r>
            <a:r>
              <a:rPr lang="en-US" sz="1275" b="0" i="0" dirty="0">
                <a:solidFill>
                  <a:srgbClr val="000000"/>
                </a:solidFill>
                <a:effectLst/>
                <a:latin typeface="arial" panose="020B0604020202020204" pitchFamily="34" charset="0"/>
              </a:rPr>
              <a:t> / y</a:t>
            </a:r>
            <a:r>
              <a:rPr lang="en-US" sz="1275" b="0" i="0" dirty="0">
                <a:solidFill>
                  <a:srgbClr val="000000"/>
                </a:solidFill>
                <a:effectLst/>
                <a:latin typeface="Lato" panose="020F0502020204030203" pitchFamily="34" charset="0"/>
              </a:rPr>
              <a:t> </a:t>
            </a:r>
          </a:p>
          <a:p>
            <a:pPr indent="0">
              <a:buNone/>
            </a:pPr>
            <a:endParaRPr lang="en-US" sz="1275" b="0" i="0" dirty="0">
              <a:solidFill>
                <a:srgbClr val="000000"/>
              </a:solidFill>
              <a:effectLst/>
              <a:latin typeface="arial" panose="020B0604020202020204" pitchFamily="34" charset="0"/>
            </a:endParaRPr>
          </a:p>
          <a:p>
            <a:pPr indent="0">
              <a:buNone/>
            </a:pPr>
            <a:r>
              <a:rPr lang="en-US" sz="1275" b="0" i="0" dirty="0">
                <a:solidFill>
                  <a:srgbClr val="000000"/>
                </a:solidFill>
                <a:effectLst/>
                <a:latin typeface="arial" panose="020B0604020202020204" pitchFamily="34" charset="0"/>
              </a:rPr>
              <a:t>Input string is “</a:t>
            </a:r>
            <a:r>
              <a:rPr lang="en-US" sz="1275" b="1" i="0" dirty="0" err="1">
                <a:solidFill>
                  <a:srgbClr val="000000"/>
                </a:solidFill>
                <a:effectLst/>
                <a:latin typeface="arial" panose="020B0604020202020204" pitchFamily="34" charset="0"/>
              </a:rPr>
              <a:t>xxxyy</a:t>
            </a:r>
            <a:r>
              <a:rPr lang="en-US" sz="1275" b="0" i="0" dirty="0">
                <a:solidFill>
                  <a:srgbClr val="000000"/>
                </a:solidFill>
                <a:effectLst/>
                <a:latin typeface="arial" panose="020B0604020202020204" pitchFamily="34" charset="0"/>
              </a:rPr>
              <a:t>“</a:t>
            </a:r>
            <a:endParaRPr lang="en-US" sz="1275" b="0" i="0" dirty="0">
              <a:solidFill>
                <a:srgbClr val="000000"/>
              </a:solidFill>
              <a:effectLst/>
              <a:latin typeface="Lato" panose="020F0502020204030203" pitchFamily="34" charset="0"/>
            </a:endParaRPr>
          </a:p>
        </p:txBody>
      </p:sp>
      <p:pic>
        <p:nvPicPr>
          <p:cNvPr id="6" name="Picture 5">
            <a:extLst>
              <a:ext uri="{FF2B5EF4-FFF2-40B4-BE49-F238E27FC236}">
                <a16:creationId xmlns:a16="http://schemas.microsoft.com/office/drawing/2014/main" id="{1D74AB47-419F-E762-2A4C-755F48A58431}"/>
              </a:ext>
            </a:extLst>
          </p:cNvPr>
          <p:cNvPicPr>
            <a:picLocks noChangeAspect="1"/>
          </p:cNvPicPr>
          <p:nvPr/>
        </p:nvPicPr>
        <p:blipFill>
          <a:blip r:embed="rId2"/>
          <a:stretch>
            <a:fillRect/>
          </a:stretch>
        </p:blipFill>
        <p:spPr>
          <a:xfrm>
            <a:off x="194310" y="1835278"/>
            <a:ext cx="7532370" cy="4587589"/>
          </a:xfrm>
          <a:prstGeom prst="rect">
            <a:avLst/>
          </a:prstGeom>
        </p:spPr>
      </p:pic>
      <p:sp>
        <p:nvSpPr>
          <p:cNvPr id="10" name="TextBox 9">
            <a:extLst>
              <a:ext uri="{FF2B5EF4-FFF2-40B4-BE49-F238E27FC236}">
                <a16:creationId xmlns:a16="http://schemas.microsoft.com/office/drawing/2014/main" id="{B3A18FA7-6A3B-D615-18EC-EB663404974C}"/>
              </a:ext>
            </a:extLst>
          </p:cNvPr>
          <p:cNvSpPr txBox="1"/>
          <p:nvPr/>
        </p:nvSpPr>
        <p:spPr>
          <a:xfrm>
            <a:off x="5433822" y="4129073"/>
            <a:ext cx="6094476" cy="2444259"/>
          </a:xfrm>
          <a:prstGeom prst="rect">
            <a:avLst/>
          </a:prstGeom>
          <a:noFill/>
        </p:spPr>
        <p:txBody>
          <a:bodyPr wrap="square">
            <a:spAutoFit/>
          </a:bodyPr>
          <a:lstStyle/>
          <a:p>
            <a:pPr indent="0" algn="just">
              <a:lnSpc>
                <a:spcPts val="2625"/>
              </a:lnSpc>
              <a:buNone/>
            </a:pPr>
            <a:r>
              <a:rPr lang="en-US" sz="2000" b="1" i="0" dirty="0">
                <a:solidFill>
                  <a:srgbClr val="000000"/>
                </a:solidFill>
                <a:effectLst/>
                <a:latin typeface="arial" panose="020B0604020202020204" pitchFamily="34" charset="0"/>
              </a:rPr>
              <a:t>How Derivation Works?</a:t>
            </a:r>
            <a:endParaRPr lang="en-US" sz="1800" b="0" i="0" dirty="0">
              <a:solidFill>
                <a:srgbClr val="000000"/>
              </a:solidFill>
              <a:effectLst/>
              <a:latin typeface="Lato" panose="020F0502020204030203" pitchFamily="34" charset="0"/>
            </a:endParaRPr>
          </a:p>
          <a:p>
            <a:pPr indent="0" algn="just">
              <a:buNone/>
            </a:pPr>
            <a:r>
              <a:rPr lang="en-US" sz="1275" b="0" i="0" dirty="0">
                <a:solidFill>
                  <a:srgbClr val="000000"/>
                </a:solidFill>
                <a:effectLst/>
                <a:latin typeface="arial" panose="020B0604020202020204" pitchFamily="34" charset="0"/>
              </a:rPr>
              <a:t>It is called a </a:t>
            </a:r>
            <a:r>
              <a:rPr lang="en-US" sz="1275" b="1" i="0" dirty="0">
                <a:solidFill>
                  <a:srgbClr val="000000"/>
                </a:solidFill>
                <a:effectLst/>
                <a:latin typeface="arial" panose="020B0604020202020204" pitchFamily="34" charset="0"/>
              </a:rPr>
              <a:t>tree</a:t>
            </a:r>
            <a:r>
              <a:rPr lang="en-US" sz="1275" b="0" i="0" dirty="0">
                <a:solidFill>
                  <a:srgbClr val="000000"/>
                </a:solidFill>
                <a:effectLst/>
                <a:latin typeface="arial" panose="020B0604020202020204" pitchFamily="34" charset="0"/>
              </a:rPr>
              <a:t> because:</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Start with the start symbol (a non-terminal)</a:t>
            </a:r>
            <a:r>
              <a:rPr lang="en-US" sz="1275" b="0" i="0" dirty="0">
                <a:solidFill>
                  <a:srgbClr val="000000"/>
                </a:solidFill>
                <a:effectLst/>
                <a:latin typeface="arial" panose="020B0604020202020204" pitchFamily="34" charset="0"/>
              </a:rPr>
              <a:t> at the top of the tree (root).</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Apply production rules</a:t>
            </a:r>
            <a:r>
              <a:rPr lang="en-US" sz="1275" b="0" i="0" dirty="0">
                <a:solidFill>
                  <a:srgbClr val="000000"/>
                </a:solidFill>
                <a:effectLst/>
                <a:latin typeface="arial" panose="020B0604020202020204" pitchFamily="34" charset="0"/>
              </a:rPr>
              <a:t> to expand non-terminals into other non-terminals or terminals, forming branches.</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Repeat expansions</a:t>
            </a:r>
            <a:r>
              <a:rPr lang="en-US" sz="1275" b="0" i="0" dirty="0">
                <a:solidFill>
                  <a:srgbClr val="000000"/>
                </a:solidFill>
                <a:effectLst/>
                <a:latin typeface="arial" panose="020B0604020202020204" pitchFamily="34" charset="0"/>
              </a:rPr>
              <a:t> until all branches end in terminal symbols (no non-terminals remain).</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The leaf nodes (terminals)</a:t>
            </a:r>
            <a:r>
              <a:rPr lang="en-US" sz="1275" b="0" i="0" dirty="0">
                <a:solidFill>
                  <a:srgbClr val="000000"/>
                </a:solidFill>
                <a:effectLst/>
                <a:latin typeface="arial" panose="020B0604020202020204" pitchFamily="34" charset="0"/>
              </a:rPr>
              <a:t>, read from left to right, form the final generated string.</a:t>
            </a:r>
            <a:endParaRPr lang="en-US" sz="1275" b="0" i="0" dirty="0">
              <a:solidFill>
                <a:srgbClr val="000000"/>
              </a:solidFill>
              <a:effectLst/>
              <a:latin typeface="Lato" panose="020F0502020204030203" pitchFamily="34" charset="0"/>
            </a:endParaRPr>
          </a:p>
        </p:txBody>
      </p:sp>
    </p:spTree>
    <p:extLst>
      <p:ext uri="{BB962C8B-B14F-4D97-AF65-F5344CB8AC3E}">
        <p14:creationId xmlns:p14="http://schemas.microsoft.com/office/powerpoint/2010/main" val="1769116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6EB3D-B556-B965-4F3D-0004329F03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F45E63-A1D8-0BE1-B694-6758346843BF}"/>
              </a:ext>
            </a:extLst>
          </p:cNvPr>
          <p:cNvSpPr txBox="1"/>
          <p:nvPr/>
        </p:nvSpPr>
        <p:spPr>
          <a:xfrm>
            <a:off x="368046" y="347960"/>
            <a:ext cx="11482578" cy="2028761"/>
          </a:xfrm>
          <a:prstGeom prst="rect">
            <a:avLst/>
          </a:prstGeom>
          <a:noFill/>
        </p:spPr>
        <p:txBody>
          <a:bodyPr wrap="square">
            <a:spAutoFit/>
          </a:bodyPr>
          <a:lstStyle/>
          <a:p>
            <a:pPr indent="0" algn="just">
              <a:lnSpc>
                <a:spcPts val="2625"/>
              </a:lnSpc>
              <a:buNone/>
            </a:pPr>
            <a:r>
              <a:rPr lang="en-US" sz="1800" b="1" i="0" dirty="0">
                <a:solidFill>
                  <a:srgbClr val="000000"/>
                </a:solidFill>
                <a:effectLst/>
                <a:latin typeface="arial" panose="020B0604020202020204" pitchFamily="34" charset="0"/>
              </a:rPr>
              <a:t>Need for Derivation</a:t>
            </a:r>
            <a:endParaRPr lang="en-US" sz="1800" b="0" i="0" dirty="0">
              <a:solidFill>
                <a:srgbClr val="000000"/>
              </a:solidFill>
              <a:effectLst/>
              <a:latin typeface="Lato" panose="020F0502020204030203" pitchFamily="34" charset="0"/>
            </a:endParaRPr>
          </a:p>
          <a:p>
            <a:pPr indent="0" algn="just">
              <a:buNone/>
            </a:pPr>
            <a:r>
              <a:rPr lang="en-US" sz="1200" b="0" i="0" dirty="0">
                <a:solidFill>
                  <a:srgbClr val="000000"/>
                </a:solidFill>
                <a:effectLst/>
                <a:latin typeface="arial" panose="020B0604020202020204" pitchFamily="34" charset="0"/>
              </a:rPr>
              <a:t>A derivation tree is helpful when a string and a grammar (set of production rules) are given, and we need to check whether the string can be generated by the grammar or not. The main goals of using derivations are given below</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Shows how a string is formed step-by-step</a:t>
            </a:r>
            <a:r>
              <a:rPr lang="en-US" sz="1275" b="0" i="0" dirty="0">
                <a:solidFill>
                  <a:srgbClr val="000000"/>
                </a:solidFill>
                <a:effectLst/>
                <a:latin typeface="arial" panose="020B0604020202020204" pitchFamily="34" charset="0"/>
              </a:rPr>
              <a:t> by applying grammar rules from the start symbol to terminals.</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Helps compilers understand code structure</a:t>
            </a:r>
            <a:r>
              <a:rPr lang="en-US" sz="1275" b="0" i="0" dirty="0">
                <a:solidFill>
                  <a:srgbClr val="000000"/>
                </a:solidFill>
                <a:effectLst/>
                <a:latin typeface="arial" panose="020B0604020202020204" pitchFamily="34" charset="0"/>
              </a:rPr>
              <a:t> by breaking programs into meaningful parts during parsing.</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Identifies ambiguity, </a:t>
            </a:r>
            <a:r>
              <a:rPr lang="en-US" sz="1275" b="0" i="0" dirty="0">
                <a:solidFill>
                  <a:srgbClr val="000000"/>
                </a:solidFill>
                <a:effectLst/>
                <a:latin typeface="arial" panose="020B0604020202020204" pitchFamily="34" charset="0"/>
              </a:rPr>
              <a:t>ambiguity means that if two different trees can be drawn for the same string, then the grammar is ambiguous.</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1" i="0" dirty="0">
                <a:solidFill>
                  <a:srgbClr val="000000"/>
                </a:solidFill>
                <a:effectLst/>
                <a:latin typeface="arial" panose="020B0604020202020204" pitchFamily="34" charset="0"/>
              </a:rPr>
              <a:t>Checks syntax correctness</a:t>
            </a:r>
            <a:r>
              <a:rPr lang="en-US" sz="1275" b="0" i="0" dirty="0">
                <a:solidFill>
                  <a:srgbClr val="000000"/>
                </a:solidFill>
                <a:effectLst/>
                <a:latin typeface="arial" panose="020B0604020202020204" pitchFamily="34" charset="0"/>
              </a:rPr>
              <a:t> by ensuring the code follows the grammar rules of the language.</a:t>
            </a:r>
            <a:endParaRPr lang="en-US" sz="1275" b="0" i="0" dirty="0">
              <a:solidFill>
                <a:srgbClr val="000000"/>
              </a:solidFill>
              <a:effectLst/>
              <a:latin typeface="Lato" panose="020F0502020204030203" pitchFamily="34" charset="0"/>
            </a:endParaRPr>
          </a:p>
        </p:txBody>
      </p:sp>
      <p:sp>
        <p:nvSpPr>
          <p:cNvPr id="7" name="TextBox 6">
            <a:extLst>
              <a:ext uri="{FF2B5EF4-FFF2-40B4-BE49-F238E27FC236}">
                <a16:creationId xmlns:a16="http://schemas.microsoft.com/office/drawing/2014/main" id="{5EEF96CB-4B1D-FAAC-63B8-E9361B01FC69}"/>
              </a:ext>
            </a:extLst>
          </p:cNvPr>
          <p:cNvSpPr txBox="1"/>
          <p:nvPr/>
        </p:nvSpPr>
        <p:spPr>
          <a:xfrm>
            <a:off x="368046" y="2541946"/>
            <a:ext cx="6094476" cy="621965"/>
          </a:xfrm>
          <a:prstGeom prst="rect">
            <a:avLst/>
          </a:prstGeom>
          <a:noFill/>
        </p:spPr>
        <p:txBody>
          <a:bodyPr wrap="square">
            <a:spAutoFit/>
          </a:bodyPr>
          <a:lstStyle/>
          <a:p>
            <a:pPr indent="0" algn="just">
              <a:lnSpc>
                <a:spcPts val="2625"/>
              </a:lnSpc>
              <a:buNone/>
            </a:pPr>
            <a:r>
              <a:rPr lang="en-US" sz="2000" b="1" i="0" dirty="0">
                <a:solidFill>
                  <a:srgbClr val="000000"/>
                </a:solidFill>
                <a:effectLst/>
                <a:latin typeface="arial" panose="020B0604020202020204" pitchFamily="34" charset="0"/>
              </a:rPr>
              <a:t>Types of </a:t>
            </a:r>
            <a:r>
              <a:rPr lang="en-US" sz="1800" b="1" i="0" dirty="0">
                <a:solidFill>
                  <a:srgbClr val="000000"/>
                </a:solidFill>
                <a:effectLst/>
                <a:latin typeface="arial" panose="020B0604020202020204" pitchFamily="34" charset="0"/>
              </a:rPr>
              <a:t>Derivation</a:t>
            </a:r>
            <a:endParaRPr lang="en-US" sz="1800" b="0" i="0" dirty="0">
              <a:solidFill>
                <a:srgbClr val="000000"/>
              </a:solidFill>
              <a:effectLst/>
              <a:latin typeface="Lato" panose="020F0502020204030203" pitchFamily="34" charset="0"/>
            </a:endParaRPr>
          </a:p>
          <a:p>
            <a:pPr indent="0" algn="just">
              <a:buNone/>
            </a:pPr>
            <a:r>
              <a:rPr lang="en-US" sz="1275" b="0" i="0" dirty="0">
                <a:solidFill>
                  <a:srgbClr val="000000"/>
                </a:solidFill>
                <a:effectLst/>
                <a:latin typeface="arial" panose="020B0604020202020204" pitchFamily="34" charset="0"/>
              </a:rPr>
              <a:t>There are two main types of derivation trees</a:t>
            </a:r>
            <a:endParaRPr lang="en-US" sz="1275" b="0" i="0" dirty="0">
              <a:solidFill>
                <a:srgbClr val="000000"/>
              </a:solidFill>
              <a:effectLst/>
              <a:latin typeface="Lato" panose="020F0502020204030203" pitchFamily="34" charset="0"/>
            </a:endParaRPr>
          </a:p>
        </p:txBody>
      </p:sp>
      <p:pic>
        <p:nvPicPr>
          <p:cNvPr id="9" name="Picture 8">
            <a:extLst>
              <a:ext uri="{FF2B5EF4-FFF2-40B4-BE49-F238E27FC236}">
                <a16:creationId xmlns:a16="http://schemas.microsoft.com/office/drawing/2014/main" id="{5CF784EF-57C3-261A-458F-406F0C2B099C}"/>
              </a:ext>
            </a:extLst>
          </p:cNvPr>
          <p:cNvPicPr>
            <a:picLocks noChangeAspect="1"/>
          </p:cNvPicPr>
          <p:nvPr/>
        </p:nvPicPr>
        <p:blipFill>
          <a:blip r:embed="rId2"/>
          <a:stretch>
            <a:fillRect/>
          </a:stretch>
        </p:blipFill>
        <p:spPr>
          <a:xfrm>
            <a:off x="552599" y="3694090"/>
            <a:ext cx="4064209" cy="2082907"/>
          </a:xfrm>
          <a:prstGeom prst="rect">
            <a:avLst/>
          </a:prstGeom>
        </p:spPr>
      </p:pic>
    </p:spTree>
    <p:extLst>
      <p:ext uri="{BB962C8B-B14F-4D97-AF65-F5344CB8AC3E}">
        <p14:creationId xmlns:p14="http://schemas.microsoft.com/office/powerpoint/2010/main" val="339583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BC58-A1A5-9DAE-CD2D-8F356D7B1DA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D2CBD1-0B11-3FBE-A416-FD87842D919B}"/>
              </a:ext>
            </a:extLst>
          </p:cNvPr>
          <p:cNvSpPr txBox="1"/>
          <p:nvPr/>
        </p:nvSpPr>
        <p:spPr>
          <a:xfrm>
            <a:off x="550926" y="266280"/>
            <a:ext cx="10275570" cy="1813317"/>
          </a:xfrm>
          <a:prstGeom prst="rect">
            <a:avLst/>
          </a:prstGeom>
          <a:noFill/>
        </p:spPr>
        <p:txBody>
          <a:bodyPr wrap="square">
            <a:spAutoFit/>
          </a:bodyPr>
          <a:lstStyle/>
          <a:p>
            <a:pPr indent="0" algn="just">
              <a:lnSpc>
                <a:spcPts val="2250"/>
              </a:lnSpc>
              <a:buNone/>
            </a:pPr>
            <a:r>
              <a:rPr lang="en-US" b="1" i="0" u="sng" dirty="0">
                <a:solidFill>
                  <a:srgbClr val="000000"/>
                </a:solidFill>
                <a:effectLst/>
                <a:latin typeface="arial" panose="020B0604020202020204" pitchFamily="34" charset="0"/>
              </a:rPr>
              <a:t>1. Leftmost Derivation Tree</a:t>
            </a:r>
            <a:endParaRPr lang="en-US" sz="1600" b="0" i="0" u="sng"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In a </a:t>
            </a:r>
            <a:r>
              <a:rPr lang="en-US" sz="1400" b="1" i="0" dirty="0">
                <a:solidFill>
                  <a:srgbClr val="000000"/>
                </a:solidFill>
                <a:effectLst/>
                <a:latin typeface="arial" panose="020B0604020202020204" pitchFamily="34" charset="0"/>
              </a:rPr>
              <a:t>leftmost derivation</a:t>
            </a:r>
            <a:r>
              <a:rPr lang="en-US" sz="1400" b="0" i="0" dirty="0">
                <a:solidFill>
                  <a:srgbClr val="000000"/>
                </a:solidFill>
                <a:effectLst/>
                <a:latin typeface="arial" panose="020B0604020202020204" pitchFamily="34" charset="0"/>
              </a:rPr>
              <a:t>, at each step, the </a:t>
            </a:r>
            <a:r>
              <a:rPr lang="en-US" sz="1400" b="1" i="0" dirty="0">
                <a:solidFill>
                  <a:srgbClr val="000000"/>
                </a:solidFill>
                <a:effectLst/>
                <a:latin typeface="arial" panose="020B0604020202020204" pitchFamily="34" charset="0"/>
              </a:rPr>
              <a:t>leftmost non-terminal</a:t>
            </a:r>
            <a:r>
              <a:rPr lang="en-US" sz="1400" b="0" i="0" dirty="0">
                <a:solidFill>
                  <a:srgbClr val="000000"/>
                </a:solidFill>
                <a:effectLst/>
                <a:latin typeface="arial" panose="020B0604020202020204" pitchFamily="34" charset="0"/>
              </a:rPr>
              <a:t> in the current string is expanded first using a production rule.</a:t>
            </a:r>
            <a:r>
              <a:rPr lang="en-US" sz="1400" b="0" i="0" dirty="0">
                <a:solidFill>
                  <a:srgbClr val="000000"/>
                </a:solidFill>
                <a:effectLst/>
                <a:latin typeface="Lato" panose="020F0502020204030203" pitchFamily="34" charset="0"/>
              </a:rPr>
              <a:t> </a:t>
            </a:r>
            <a:endParaRPr lang="en-US" sz="1400" b="0" i="0" dirty="0">
              <a:solidFill>
                <a:srgbClr val="000000"/>
              </a:solidFill>
              <a:effectLst/>
              <a:latin typeface="inherit"/>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This method is useful in top-down parsing techniques, like recursive descent parsers.</a:t>
            </a:r>
            <a:endParaRPr lang="en-US" sz="1400" b="0" i="0" dirty="0">
              <a:solidFill>
                <a:srgbClr val="000000"/>
              </a:solidFill>
              <a:effectLst/>
              <a:latin typeface="Lato" panose="020F0502020204030203" pitchFamily="34" charset="0"/>
            </a:endParaRPr>
          </a:p>
          <a:p>
            <a:pPr indent="0" algn="just">
              <a:buNone/>
            </a:pPr>
            <a:r>
              <a:rPr lang="en-US" sz="1400" b="0" i="0" dirty="0">
                <a:solidFill>
                  <a:srgbClr val="000000"/>
                </a:solidFill>
                <a:effectLst/>
                <a:latin typeface="arial" panose="020B0604020202020204" pitchFamily="34" charset="0"/>
              </a:rPr>
              <a:t>Here is descriptive diagram of the leftmost derivation tree</a:t>
            </a:r>
            <a:endParaRPr lang="en-US" sz="1400" b="0" i="0" dirty="0">
              <a:solidFill>
                <a:srgbClr val="000000"/>
              </a:solidFill>
              <a:effectLst/>
              <a:latin typeface="Lato" panose="020F0502020204030203" pitchFamily="34" charset="0"/>
            </a:endParaRPr>
          </a:p>
          <a:p>
            <a:pPr>
              <a:buNone/>
            </a:pPr>
            <a:endParaRPr lang="en-US" sz="2000" dirty="0"/>
          </a:p>
        </p:txBody>
      </p:sp>
      <p:pic>
        <p:nvPicPr>
          <p:cNvPr id="5" name="Picture 4" descr="Leftmost Derivation Tree - Example">
            <a:extLst>
              <a:ext uri="{FF2B5EF4-FFF2-40B4-BE49-F238E27FC236}">
                <a16:creationId xmlns:a16="http://schemas.microsoft.com/office/drawing/2014/main" id="{94D16AA3-4F5A-E0F3-8155-98EC6115B5DE}"/>
              </a:ext>
            </a:extLst>
          </p:cNvPr>
          <p:cNvPicPr>
            <a:picLocks noChangeAspect="1"/>
          </p:cNvPicPr>
          <p:nvPr/>
        </p:nvPicPr>
        <p:blipFill>
          <a:blip r:embed="rId2"/>
          <a:stretch>
            <a:fillRect/>
          </a:stretch>
        </p:blipFill>
        <p:spPr>
          <a:xfrm>
            <a:off x="813816" y="1975102"/>
            <a:ext cx="8366759" cy="4657784"/>
          </a:xfrm>
          <a:prstGeom prst="rect">
            <a:avLst/>
          </a:prstGeom>
        </p:spPr>
      </p:pic>
    </p:spTree>
    <p:extLst>
      <p:ext uri="{BB962C8B-B14F-4D97-AF65-F5344CB8AC3E}">
        <p14:creationId xmlns:p14="http://schemas.microsoft.com/office/powerpoint/2010/main" val="427014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02AB4-EB74-B440-08BE-944D6BEBF5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D92CC8-B9AF-D7B7-15D6-10659198CFCB}"/>
              </a:ext>
            </a:extLst>
          </p:cNvPr>
          <p:cNvSpPr txBox="1"/>
          <p:nvPr/>
        </p:nvSpPr>
        <p:spPr>
          <a:xfrm>
            <a:off x="642366" y="470126"/>
            <a:ext cx="11007090" cy="1382430"/>
          </a:xfrm>
          <a:prstGeom prst="rect">
            <a:avLst/>
          </a:prstGeom>
          <a:noFill/>
        </p:spPr>
        <p:txBody>
          <a:bodyPr wrap="square">
            <a:spAutoFit/>
          </a:bodyPr>
          <a:lstStyle/>
          <a:p>
            <a:pPr indent="0" algn="just">
              <a:lnSpc>
                <a:spcPts val="2250"/>
              </a:lnSpc>
              <a:buNone/>
            </a:pPr>
            <a:r>
              <a:rPr lang="en-US" sz="2000" b="1" i="0" u="sng" dirty="0">
                <a:solidFill>
                  <a:srgbClr val="000000"/>
                </a:solidFill>
                <a:effectLst/>
                <a:latin typeface="arial" panose="020B0604020202020204" pitchFamily="34" charset="0"/>
              </a:rPr>
              <a:t>2. Rightmost Derivation Tree</a:t>
            </a:r>
            <a:endParaRPr lang="en-US" b="0" i="0" u="sng"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600" b="0" i="0" dirty="0">
                <a:solidFill>
                  <a:srgbClr val="000000"/>
                </a:solidFill>
                <a:effectLst/>
                <a:latin typeface="arial" panose="020B0604020202020204" pitchFamily="34" charset="0"/>
              </a:rPr>
              <a:t>In a </a:t>
            </a:r>
            <a:r>
              <a:rPr lang="en-US" sz="1600" b="1" i="0" dirty="0">
                <a:solidFill>
                  <a:srgbClr val="000000"/>
                </a:solidFill>
                <a:effectLst/>
                <a:latin typeface="arial" panose="020B0604020202020204" pitchFamily="34" charset="0"/>
              </a:rPr>
              <a:t>rightmost derivation</a:t>
            </a:r>
            <a:r>
              <a:rPr lang="en-US" sz="1600" b="0" i="0" dirty="0">
                <a:solidFill>
                  <a:srgbClr val="000000"/>
                </a:solidFill>
                <a:effectLst/>
                <a:latin typeface="arial" panose="020B0604020202020204" pitchFamily="34" charset="0"/>
              </a:rPr>
              <a:t>, at each step, the </a:t>
            </a:r>
            <a:r>
              <a:rPr lang="en-US" sz="1600" b="1" i="0" dirty="0">
                <a:solidFill>
                  <a:srgbClr val="000000"/>
                </a:solidFill>
                <a:effectLst/>
                <a:latin typeface="arial" panose="020B0604020202020204" pitchFamily="34" charset="0"/>
              </a:rPr>
              <a:t>rightmost non-terminal</a:t>
            </a:r>
            <a:r>
              <a:rPr lang="en-US" sz="1600" b="0" i="0" dirty="0">
                <a:solidFill>
                  <a:srgbClr val="000000"/>
                </a:solidFill>
                <a:effectLst/>
                <a:latin typeface="arial" panose="020B0604020202020204" pitchFamily="34" charset="0"/>
              </a:rPr>
              <a:t> in the current string is expanded first.</a:t>
            </a:r>
            <a:endParaRPr lang="en-US" sz="16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600" b="0" i="0" dirty="0">
                <a:solidFill>
                  <a:srgbClr val="000000"/>
                </a:solidFill>
                <a:effectLst/>
                <a:latin typeface="arial" panose="020B0604020202020204" pitchFamily="34" charset="0"/>
              </a:rPr>
              <a:t>Rightmost derivations are commonly used in bottom-up parsing algorithms, such as shift-reduce parsers.</a:t>
            </a:r>
            <a:r>
              <a:rPr lang="en-US" sz="1600" b="0" i="0" dirty="0">
                <a:solidFill>
                  <a:srgbClr val="000000"/>
                </a:solidFill>
                <a:effectLst/>
                <a:latin typeface="Lato" panose="020F0502020204030203" pitchFamily="34" charset="0"/>
              </a:rPr>
              <a:t> </a:t>
            </a:r>
          </a:p>
          <a:p>
            <a:pPr indent="0" algn="just">
              <a:buNone/>
            </a:pPr>
            <a:r>
              <a:rPr lang="en-US" sz="1600" b="0" i="0" dirty="0">
                <a:solidFill>
                  <a:srgbClr val="000000"/>
                </a:solidFill>
                <a:effectLst/>
                <a:latin typeface="arial" panose="020B0604020202020204" pitchFamily="34" charset="0"/>
              </a:rPr>
              <a:t>Here is </a:t>
            </a:r>
            <a:r>
              <a:rPr lang="en-US" sz="1600" b="0" i="0" dirty="0" err="1">
                <a:solidFill>
                  <a:srgbClr val="000000"/>
                </a:solidFill>
                <a:effectLst/>
                <a:latin typeface="arial" panose="020B0604020202020204" pitchFamily="34" charset="0"/>
              </a:rPr>
              <a:t>discriptive</a:t>
            </a:r>
            <a:r>
              <a:rPr lang="en-US" sz="1600" b="0" i="0" dirty="0">
                <a:solidFill>
                  <a:srgbClr val="000000"/>
                </a:solidFill>
                <a:effectLst/>
                <a:latin typeface="arial" panose="020B0604020202020204" pitchFamily="34" charset="0"/>
              </a:rPr>
              <a:t> diagram of rightmost derivation tree</a:t>
            </a:r>
            <a:endParaRPr lang="en-US" sz="1600" b="0" i="0" dirty="0">
              <a:solidFill>
                <a:srgbClr val="000000"/>
              </a:solidFill>
              <a:effectLst/>
              <a:latin typeface="Lato" panose="020F0502020204030203" pitchFamily="34" charset="0"/>
            </a:endParaRPr>
          </a:p>
        </p:txBody>
      </p:sp>
      <p:pic>
        <p:nvPicPr>
          <p:cNvPr id="5" name="Picture 4" descr="Rightmost Derivation Tree - Example">
            <a:extLst>
              <a:ext uri="{FF2B5EF4-FFF2-40B4-BE49-F238E27FC236}">
                <a16:creationId xmlns:a16="http://schemas.microsoft.com/office/drawing/2014/main" id="{1C1CC0B5-CF6D-E36F-6F44-C60FC330E232}"/>
              </a:ext>
            </a:extLst>
          </p:cNvPr>
          <p:cNvPicPr>
            <a:picLocks noChangeAspect="1"/>
          </p:cNvPicPr>
          <p:nvPr/>
        </p:nvPicPr>
        <p:blipFill>
          <a:blip r:embed="rId2"/>
          <a:stretch>
            <a:fillRect/>
          </a:stretch>
        </p:blipFill>
        <p:spPr>
          <a:xfrm>
            <a:off x="729993" y="2098546"/>
            <a:ext cx="7938519" cy="4503406"/>
          </a:xfrm>
          <a:prstGeom prst="rect">
            <a:avLst/>
          </a:prstGeom>
        </p:spPr>
      </p:pic>
    </p:spTree>
    <p:extLst>
      <p:ext uri="{BB962C8B-B14F-4D97-AF65-F5344CB8AC3E}">
        <p14:creationId xmlns:p14="http://schemas.microsoft.com/office/powerpoint/2010/main" val="108405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FC2C-BF25-8857-828C-28985BF304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274E39-9028-9AE8-F84D-751112C44DFB}"/>
              </a:ext>
            </a:extLst>
          </p:cNvPr>
          <p:cNvSpPr txBox="1"/>
          <p:nvPr/>
        </p:nvSpPr>
        <p:spPr>
          <a:xfrm>
            <a:off x="569214" y="514458"/>
            <a:ext cx="10623042" cy="979755"/>
          </a:xfrm>
          <a:prstGeom prst="rect">
            <a:avLst/>
          </a:prstGeom>
          <a:noFill/>
        </p:spPr>
        <p:txBody>
          <a:bodyPr wrap="square">
            <a:spAutoFit/>
          </a:bodyPr>
          <a:lstStyle/>
          <a:p>
            <a:pPr indent="0" algn="just">
              <a:lnSpc>
                <a:spcPts val="2625"/>
              </a:lnSpc>
              <a:buNone/>
            </a:pPr>
            <a:r>
              <a:rPr lang="en-US" sz="3200" b="1" i="0" dirty="0">
                <a:effectLst/>
                <a:latin typeface="arial" panose="020B0604020202020204" pitchFamily="34" charset="0"/>
              </a:rPr>
              <a:t>Ambiguity in Derivation Trees</a:t>
            </a:r>
          </a:p>
          <a:p>
            <a:pPr indent="0" algn="just">
              <a:buNone/>
            </a:pPr>
            <a:r>
              <a:rPr lang="en-US" b="0" i="0" dirty="0">
                <a:effectLst/>
                <a:latin typeface="arial" panose="020B0604020202020204" pitchFamily="34" charset="0"/>
              </a:rPr>
              <a:t>A grammar is called </a:t>
            </a:r>
            <a:r>
              <a:rPr lang="en-US" b="1" i="0" u="none" strike="noStrike" dirty="0">
                <a:solidFill>
                  <a:srgbClr val="467886"/>
                </a:solidFill>
                <a:effectLst/>
                <a:latin typeface="arial" panose="020B0604020202020204" pitchFamily="34" charset="0"/>
                <a:hlinkClick r:id="rId2">
                  <a:extLst>
                    <a:ext uri="{A12FA001-AC4F-418D-AE19-62706E023703}">
                      <ahyp:hlinkClr xmlns:ahyp="http://schemas.microsoft.com/office/drawing/2018/hyperlinkcolor" val="tx"/>
                    </a:ext>
                  </a:extLst>
                </a:hlinkClick>
              </a:rPr>
              <a:t>ambiguous</a:t>
            </a:r>
            <a:r>
              <a:rPr lang="en-US" b="0" i="0" u="none" strike="noStrike" dirty="0">
                <a:effectLst/>
                <a:latin typeface="arial" panose="020B0604020202020204" pitchFamily="34" charset="0"/>
                <a:hlinkClick r:id="rId2">
                  <a:extLst>
                    <a:ext uri="{A12FA001-AC4F-418D-AE19-62706E023703}">
                      <ahyp:hlinkClr xmlns:ahyp="http://schemas.microsoft.com/office/drawing/2018/hyperlinkcolor" val="tx"/>
                    </a:ext>
                  </a:extLst>
                </a:hlinkClick>
              </a:rPr>
              <a:t> </a:t>
            </a:r>
            <a:r>
              <a:rPr lang="en-US" b="0" i="0" dirty="0">
                <a:effectLst/>
                <a:latin typeface="arial" panose="020B0604020202020204" pitchFamily="34" charset="0"/>
              </a:rPr>
              <a:t>if there exists at least one string in the language that can be generated by </a:t>
            </a:r>
            <a:r>
              <a:rPr lang="en-US" b="1" i="0" dirty="0">
                <a:effectLst/>
                <a:latin typeface="arial" panose="020B0604020202020204" pitchFamily="34" charset="0"/>
              </a:rPr>
              <a:t>two or more different derivation trees</a:t>
            </a:r>
            <a:r>
              <a:rPr lang="en-US" b="0" i="0" dirty="0">
                <a:effectLst/>
                <a:latin typeface="arial" panose="020B0604020202020204" pitchFamily="34" charset="0"/>
              </a:rPr>
              <a:t> (or parse trees).</a:t>
            </a:r>
            <a:endParaRPr lang="en-US" b="0" i="0" dirty="0">
              <a:effectLst/>
              <a:latin typeface="Lato" panose="020F0502020204030203" pitchFamily="34" charset="0"/>
            </a:endParaRPr>
          </a:p>
        </p:txBody>
      </p:sp>
      <p:sp>
        <p:nvSpPr>
          <p:cNvPr id="7" name="TextBox 6">
            <a:extLst>
              <a:ext uri="{FF2B5EF4-FFF2-40B4-BE49-F238E27FC236}">
                <a16:creationId xmlns:a16="http://schemas.microsoft.com/office/drawing/2014/main" id="{86C9160A-16AC-E8BC-AE3B-A5C30CC900E4}"/>
              </a:ext>
            </a:extLst>
          </p:cNvPr>
          <p:cNvSpPr txBox="1"/>
          <p:nvPr/>
        </p:nvSpPr>
        <p:spPr>
          <a:xfrm>
            <a:off x="569214" y="1614999"/>
            <a:ext cx="6094476" cy="957955"/>
          </a:xfrm>
          <a:prstGeom prst="rect">
            <a:avLst/>
          </a:prstGeom>
          <a:noFill/>
        </p:spPr>
        <p:txBody>
          <a:bodyPr wrap="square">
            <a:spAutoFit/>
          </a:bodyPr>
          <a:lstStyle/>
          <a:p>
            <a:pPr indent="0" algn="just">
              <a:buNone/>
            </a:pPr>
            <a:r>
              <a:rPr lang="en-US" sz="1275" b="1" i="0" dirty="0">
                <a:solidFill>
                  <a:srgbClr val="000000"/>
                </a:solidFill>
                <a:effectLst/>
                <a:latin typeface="arial" panose="020B0604020202020204" pitchFamily="34" charset="0"/>
              </a:rPr>
              <a:t>Example:</a:t>
            </a:r>
            <a:endParaRPr lang="en-US" sz="1275" b="0" i="0" dirty="0">
              <a:solidFill>
                <a:srgbClr val="000000"/>
              </a:solidFill>
              <a:effectLst/>
              <a:latin typeface="Lato" panose="020F0502020204030203" pitchFamily="34" charset="0"/>
            </a:endParaRPr>
          </a:p>
          <a:p>
            <a:pPr indent="0" algn="just">
              <a:buNone/>
            </a:pPr>
            <a:r>
              <a:rPr lang="en-US" sz="1275" b="1" i="0" dirty="0">
                <a:solidFill>
                  <a:srgbClr val="000000"/>
                </a:solidFill>
                <a:effectLst/>
                <a:latin typeface="arial" panose="020B0604020202020204" pitchFamily="34" charset="0"/>
              </a:rPr>
              <a:t>Production rules: S → </a:t>
            </a:r>
            <a:r>
              <a:rPr lang="en-US" sz="1275" b="1" i="0" dirty="0" err="1">
                <a:solidFill>
                  <a:srgbClr val="000000"/>
                </a:solidFill>
                <a:effectLst/>
                <a:latin typeface="arial" panose="020B0604020202020204" pitchFamily="34" charset="0"/>
              </a:rPr>
              <a:t>xB</a:t>
            </a:r>
            <a:r>
              <a:rPr lang="en-US" sz="1275" b="1" i="0" dirty="0">
                <a:solidFill>
                  <a:srgbClr val="000000"/>
                </a:solidFill>
                <a:effectLst/>
                <a:latin typeface="arial" panose="020B0604020202020204" pitchFamily="34" charset="0"/>
              </a:rPr>
              <a:t> | </a:t>
            </a:r>
            <a:r>
              <a:rPr lang="en-US" sz="1275" b="1" i="0" dirty="0" err="1">
                <a:solidFill>
                  <a:srgbClr val="000000"/>
                </a:solidFill>
                <a:effectLst/>
                <a:latin typeface="arial" panose="020B0604020202020204" pitchFamily="34" charset="0"/>
              </a:rPr>
              <a:t>xy</a:t>
            </a:r>
            <a:r>
              <a:rPr lang="en-US" sz="1275" b="1" i="0" dirty="0">
                <a:solidFill>
                  <a:srgbClr val="000000"/>
                </a:solidFill>
                <a:effectLst/>
                <a:latin typeface="arial" panose="020B0604020202020204" pitchFamily="34" charset="0"/>
              </a:rPr>
              <a:t> , A → AB | x , B → </a:t>
            </a:r>
            <a:r>
              <a:rPr lang="en-US" sz="1275" b="1" i="0" dirty="0" err="1">
                <a:solidFill>
                  <a:srgbClr val="000000"/>
                </a:solidFill>
                <a:effectLst/>
                <a:latin typeface="arial" panose="020B0604020202020204" pitchFamily="34" charset="0"/>
              </a:rPr>
              <a:t>Ayy</a:t>
            </a:r>
            <a:r>
              <a:rPr lang="en-US" sz="1275" b="1" i="0" dirty="0">
                <a:solidFill>
                  <a:srgbClr val="000000"/>
                </a:solidFill>
                <a:effectLst/>
                <a:latin typeface="arial" panose="020B0604020202020204" pitchFamily="34" charset="0"/>
              </a:rPr>
              <a:t> | y</a:t>
            </a:r>
            <a:r>
              <a:rPr lang="en-US" sz="1275" b="0" i="0" dirty="0">
                <a:solidFill>
                  <a:srgbClr val="000000"/>
                </a:solidFill>
                <a:effectLst/>
                <a:latin typeface="Lato" panose="020F0502020204030203" pitchFamily="34" charset="0"/>
              </a:rPr>
              <a:t> </a:t>
            </a:r>
          </a:p>
          <a:p>
            <a:pPr algn="l" rtl="0" fontAlgn="auto">
              <a:buNone/>
            </a:pPr>
            <a:endParaRPr lang="en-US" dirty="0">
              <a:effectLst/>
              <a:latin typeface="inherit"/>
            </a:endParaRPr>
          </a:p>
          <a:p>
            <a:pPr indent="0" algn="just">
              <a:buNone/>
            </a:pPr>
            <a:r>
              <a:rPr lang="en-US" sz="1275" b="0" i="0" dirty="0">
                <a:solidFill>
                  <a:srgbClr val="000000"/>
                </a:solidFill>
                <a:effectLst/>
                <a:latin typeface="arial" panose="020B0604020202020204" pitchFamily="34" charset="0"/>
              </a:rPr>
              <a:t>Given string (W) to derive: </a:t>
            </a:r>
            <a:r>
              <a:rPr lang="en-US" sz="1275" b="1" i="0" dirty="0" err="1">
                <a:solidFill>
                  <a:srgbClr val="000000"/>
                </a:solidFill>
                <a:effectLst/>
                <a:latin typeface="arial" panose="020B0604020202020204" pitchFamily="34" charset="0"/>
              </a:rPr>
              <a:t>xy</a:t>
            </a:r>
            <a:r>
              <a:rPr lang="en-US" sz="1275" b="1" i="0" dirty="0">
                <a:solidFill>
                  <a:srgbClr val="000000"/>
                </a:solidFill>
                <a:effectLst/>
                <a:latin typeface="arial" panose="020B0604020202020204" pitchFamily="34" charset="0"/>
              </a:rPr>
              <a:t>.</a:t>
            </a:r>
            <a:endParaRPr lang="en-US" sz="1275" b="0" i="0" dirty="0">
              <a:solidFill>
                <a:srgbClr val="000000"/>
              </a:solidFill>
              <a:effectLst/>
              <a:latin typeface="Lato" panose="020F0502020204030203" pitchFamily="34" charset="0"/>
            </a:endParaRPr>
          </a:p>
        </p:txBody>
      </p:sp>
      <p:pic>
        <p:nvPicPr>
          <p:cNvPr id="8" name="Picture 7" descr="Ambiguity in Derivation Trees">
            <a:extLst>
              <a:ext uri="{FF2B5EF4-FFF2-40B4-BE49-F238E27FC236}">
                <a16:creationId xmlns:a16="http://schemas.microsoft.com/office/drawing/2014/main" id="{F7C62860-3979-6FC2-3A52-892138189307}"/>
              </a:ext>
            </a:extLst>
          </p:cNvPr>
          <p:cNvPicPr>
            <a:picLocks noChangeAspect="1"/>
          </p:cNvPicPr>
          <p:nvPr/>
        </p:nvPicPr>
        <p:blipFill>
          <a:blip r:embed="rId3"/>
          <a:stretch>
            <a:fillRect/>
          </a:stretch>
        </p:blipFill>
        <p:spPr>
          <a:xfrm>
            <a:off x="678178" y="2693740"/>
            <a:ext cx="4287014" cy="4040416"/>
          </a:xfrm>
          <a:prstGeom prst="rect">
            <a:avLst/>
          </a:prstGeom>
        </p:spPr>
      </p:pic>
      <p:sp>
        <p:nvSpPr>
          <p:cNvPr id="10" name="TextBox 9">
            <a:extLst>
              <a:ext uri="{FF2B5EF4-FFF2-40B4-BE49-F238E27FC236}">
                <a16:creationId xmlns:a16="http://schemas.microsoft.com/office/drawing/2014/main" id="{9CC61B72-8527-1D60-9167-48A15452B30E}"/>
              </a:ext>
            </a:extLst>
          </p:cNvPr>
          <p:cNvSpPr txBox="1"/>
          <p:nvPr/>
        </p:nvSpPr>
        <p:spPr>
          <a:xfrm>
            <a:off x="5419346" y="2227389"/>
            <a:ext cx="6094476" cy="1201611"/>
          </a:xfrm>
          <a:prstGeom prst="rect">
            <a:avLst/>
          </a:prstGeom>
          <a:noFill/>
        </p:spPr>
        <p:txBody>
          <a:bodyPr wrap="square">
            <a:spAutoFit/>
          </a:bodyPr>
          <a:lstStyle/>
          <a:p>
            <a:pPr marL="342900" lvl="0" indent="-342900" algn="just" fontAlgn="base">
              <a:spcBef>
                <a:spcPts val="545"/>
              </a:spcBef>
              <a:spcAft>
                <a:spcPts val="517"/>
              </a:spcAft>
              <a:buFont typeface="Arial" panose="020B0604020202020204" pitchFamily="34" charset="0"/>
              <a:buChar char="•"/>
            </a:pPr>
            <a:r>
              <a:rPr lang="en-US" sz="1275" b="0" i="0" dirty="0">
                <a:solidFill>
                  <a:srgbClr val="000000"/>
                </a:solidFill>
                <a:effectLst/>
                <a:latin typeface="arial" panose="020B0604020202020204" pitchFamily="34" charset="0"/>
              </a:rPr>
              <a:t>Ambiguity means there are multiple ways to apply production rules to derive the same string, leading to different tree structures.</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0" i="0" dirty="0">
                <a:solidFill>
                  <a:srgbClr val="000000"/>
                </a:solidFill>
                <a:effectLst/>
                <a:latin typeface="arial" panose="020B0604020202020204" pitchFamily="34" charset="0"/>
              </a:rPr>
              <a:t>Ambiguous grammars can cause confusion in parsing, as the meaning or structure of the string is not uniquely defined, which is undesirable for programming languages.</a:t>
            </a:r>
            <a:endParaRPr lang="en-US" sz="1275" b="0" i="0" dirty="0">
              <a:solidFill>
                <a:srgbClr val="000000"/>
              </a:solidFill>
              <a:effectLst/>
              <a:latin typeface="Lato" panose="020F0502020204030203" pitchFamily="34" charset="0"/>
            </a:endParaRPr>
          </a:p>
        </p:txBody>
      </p:sp>
      <p:sp>
        <p:nvSpPr>
          <p:cNvPr id="12" name="TextBox 11">
            <a:extLst>
              <a:ext uri="{FF2B5EF4-FFF2-40B4-BE49-F238E27FC236}">
                <a16:creationId xmlns:a16="http://schemas.microsoft.com/office/drawing/2014/main" id="{6EAA11CF-7BEF-2D38-9DCB-63453FB7DF7E}"/>
              </a:ext>
            </a:extLst>
          </p:cNvPr>
          <p:cNvSpPr txBox="1"/>
          <p:nvPr/>
        </p:nvSpPr>
        <p:spPr>
          <a:xfrm>
            <a:off x="5561838" y="3883179"/>
            <a:ext cx="6094476" cy="1923604"/>
          </a:xfrm>
          <a:prstGeom prst="rect">
            <a:avLst/>
          </a:prstGeom>
          <a:noFill/>
        </p:spPr>
        <p:txBody>
          <a:bodyPr wrap="square">
            <a:spAutoFit/>
          </a:bodyPr>
          <a:lstStyle/>
          <a:p>
            <a:pPr indent="0" algn="just">
              <a:lnSpc>
                <a:spcPts val="2625"/>
              </a:lnSpc>
              <a:buNone/>
            </a:pPr>
            <a:r>
              <a:rPr lang="en-US" sz="2000" b="1" i="0" dirty="0">
                <a:solidFill>
                  <a:srgbClr val="000000"/>
                </a:solidFill>
                <a:effectLst/>
                <a:latin typeface="arial" panose="020B0604020202020204" pitchFamily="34" charset="0"/>
              </a:rPr>
              <a:t>Properties Of Derivation Tree</a:t>
            </a:r>
            <a:endParaRPr lang="en-US" sz="1800" b="0" i="0" dirty="0">
              <a:solidFill>
                <a:srgbClr val="000000"/>
              </a:solidFill>
              <a:effectLst/>
              <a:latin typeface="Lato" panose="020F0502020204030203" pitchFamily="34" charset="0"/>
            </a:endParaRPr>
          </a:p>
          <a:p>
            <a:pPr indent="0" algn="just">
              <a:buNone/>
            </a:pPr>
            <a:r>
              <a:rPr lang="en-US" sz="1275" b="0" i="0" dirty="0">
                <a:solidFill>
                  <a:srgbClr val="000000"/>
                </a:solidFill>
                <a:effectLst/>
                <a:latin typeface="arial" panose="020B0604020202020204" pitchFamily="34" charset="0"/>
              </a:rPr>
              <a:t>In the derivation tree</a:t>
            </a:r>
            <a:r>
              <a:rPr lang="en-US" sz="1275" b="0" i="0" dirty="0">
                <a:solidFill>
                  <a:srgbClr val="000000"/>
                </a:solidFill>
                <a:effectLst/>
                <a:latin typeface="Lato" panose="020F0502020204030203" pitchFamily="34" charset="0"/>
              </a:rPr>
              <a:t> </a:t>
            </a:r>
            <a:endParaRPr lang="en-US" dirty="0">
              <a:effectLst/>
              <a:latin typeface="inherit"/>
            </a:endParaRPr>
          </a:p>
          <a:p>
            <a:pPr marL="342900" lvl="0" indent="-342900" algn="just" fontAlgn="base">
              <a:spcBef>
                <a:spcPts val="545"/>
              </a:spcBef>
              <a:spcAft>
                <a:spcPts val="517"/>
              </a:spcAft>
              <a:buFont typeface="Arial" panose="020B0604020202020204" pitchFamily="34" charset="0"/>
              <a:buChar char="•"/>
            </a:pPr>
            <a:r>
              <a:rPr lang="en-US" sz="1275" b="0" i="0" dirty="0">
                <a:solidFill>
                  <a:srgbClr val="000000"/>
                </a:solidFill>
                <a:effectLst/>
                <a:latin typeface="arial" panose="020B0604020202020204" pitchFamily="34" charset="0"/>
              </a:rPr>
              <a:t>The root node of a parse tree represents the start symbol of the grammar.</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0" i="0" dirty="0">
                <a:solidFill>
                  <a:srgbClr val="000000"/>
                </a:solidFill>
                <a:effectLst/>
                <a:latin typeface="arial" panose="020B0604020202020204" pitchFamily="34" charset="0"/>
              </a:rPr>
              <a:t>Each leaf node corresponds to a terminal symbol, while each interior node represent a non-terminal symbol.</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75" b="0" i="0" dirty="0">
                <a:solidFill>
                  <a:srgbClr val="000000"/>
                </a:solidFill>
                <a:effectLst/>
                <a:latin typeface="arial" panose="020B0604020202020204" pitchFamily="34" charset="0"/>
              </a:rPr>
              <a:t>The structure of the parse tree remains unaffected by the order in which the production rules are applied during the derivations.</a:t>
            </a:r>
            <a:endParaRPr lang="en-US" sz="1275" b="0" i="0" dirty="0">
              <a:solidFill>
                <a:srgbClr val="000000"/>
              </a:solidFill>
              <a:effectLst/>
              <a:latin typeface="Lato" panose="020F0502020204030203" pitchFamily="34" charset="0"/>
            </a:endParaRPr>
          </a:p>
        </p:txBody>
      </p:sp>
    </p:spTree>
    <p:extLst>
      <p:ext uri="{BB962C8B-B14F-4D97-AF65-F5344CB8AC3E}">
        <p14:creationId xmlns:p14="http://schemas.microsoft.com/office/powerpoint/2010/main" val="3319117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72CC9-2C4C-8485-A00B-9B47A95032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E38D9A-AB3F-F8DB-0514-638F0C6197D6}"/>
              </a:ext>
            </a:extLst>
          </p:cNvPr>
          <p:cNvSpPr txBox="1"/>
          <p:nvPr/>
        </p:nvSpPr>
        <p:spPr>
          <a:xfrm>
            <a:off x="605790" y="371444"/>
            <a:ext cx="6094476" cy="610424"/>
          </a:xfrm>
          <a:prstGeom prst="rect">
            <a:avLst/>
          </a:prstGeom>
          <a:noFill/>
        </p:spPr>
        <p:txBody>
          <a:bodyPr wrap="square">
            <a:spAutoFit/>
          </a:bodyPr>
          <a:lstStyle/>
          <a:p>
            <a:pPr indent="0" algn="just">
              <a:lnSpc>
                <a:spcPts val="2625"/>
              </a:lnSpc>
              <a:buNone/>
            </a:pPr>
            <a:r>
              <a:rPr lang="en-US" sz="1800" b="0" i="0" dirty="0">
                <a:solidFill>
                  <a:srgbClr val="000000"/>
                </a:solidFill>
                <a:effectLst/>
                <a:latin typeface="Lato" panose="020F0502020204030203" pitchFamily="34" charset="0"/>
              </a:rPr>
              <a:t>Leftmost and Rightmost Derivation Example</a:t>
            </a:r>
          </a:p>
          <a:p>
            <a:pPr indent="0" algn="just">
              <a:buNone/>
            </a:pPr>
            <a:r>
              <a:rPr lang="en-US" sz="1200" b="0" i="0" dirty="0">
                <a:solidFill>
                  <a:srgbClr val="000000"/>
                </a:solidFill>
                <a:effectLst/>
                <a:latin typeface="arial" panose="020B0604020202020204" pitchFamily="34" charset="0"/>
              </a:rPr>
              <a:t>Consider the following production rules for the grammar (G)</a:t>
            </a:r>
            <a:endParaRPr lang="en-US" sz="1275" b="0" i="0" dirty="0">
              <a:solidFill>
                <a:srgbClr val="000000"/>
              </a:solidFill>
              <a:effectLst/>
              <a:latin typeface="Lato" panose="020F0502020204030203" pitchFamily="34" charset="0"/>
            </a:endParaRPr>
          </a:p>
        </p:txBody>
      </p:sp>
      <p:pic>
        <p:nvPicPr>
          <p:cNvPr id="6" name="Picture 5">
            <a:extLst>
              <a:ext uri="{FF2B5EF4-FFF2-40B4-BE49-F238E27FC236}">
                <a16:creationId xmlns:a16="http://schemas.microsoft.com/office/drawing/2014/main" id="{8388C7D0-1509-C1AD-742F-BBE540297A12}"/>
              </a:ext>
            </a:extLst>
          </p:cNvPr>
          <p:cNvPicPr>
            <a:picLocks noChangeAspect="1"/>
          </p:cNvPicPr>
          <p:nvPr/>
        </p:nvPicPr>
        <p:blipFill>
          <a:blip r:embed="rId2"/>
          <a:stretch>
            <a:fillRect/>
          </a:stretch>
        </p:blipFill>
        <p:spPr>
          <a:xfrm>
            <a:off x="459486" y="981868"/>
            <a:ext cx="3803464" cy="2847770"/>
          </a:xfrm>
          <a:prstGeom prst="rect">
            <a:avLst/>
          </a:prstGeom>
        </p:spPr>
      </p:pic>
    </p:spTree>
    <p:extLst>
      <p:ext uri="{BB962C8B-B14F-4D97-AF65-F5344CB8AC3E}">
        <p14:creationId xmlns:p14="http://schemas.microsoft.com/office/powerpoint/2010/main" val="2390270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3FB8B-6C41-D721-9A29-054A121ABA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9F8490-A77D-C487-03A6-3B574E7BEC56}"/>
              </a:ext>
            </a:extLst>
          </p:cNvPr>
          <p:cNvSpPr txBox="1"/>
          <p:nvPr/>
        </p:nvSpPr>
        <p:spPr>
          <a:xfrm>
            <a:off x="468630" y="559310"/>
            <a:ext cx="11189970" cy="1161857"/>
          </a:xfrm>
          <a:prstGeom prst="rect">
            <a:avLst/>
          </a:prstGeom>
          <a:noFill/>
        </p:spPr>
        <p:txBody>
          <a:bodyPr wrap="square">
            <a:spAutoFit/>
          </a:bodyPr>
          <a:lstStyle/>
          <a:p>
            <a:pPr indent="0" algn="just">
              <a:lnSpc>
                <a:spcPts val="3300"/>
              </a:lnSpc>
              <a:buNone/>
            </a:pPr>
            <a:r>
              <a:rPr lang="en-US" sz="2800" b="1" i="0" dirty="0">
                <a:solidFill>
                  <a:srgbClr val="000000"/>
                </a:solidFill>
                <a:effectLst/>
                <a:latin typeface="arial" panose="020B0604020202020204" pitchFamily="34" charset="0"/>
              </a:rPr>
              <a:t>Ambiguity in Context-Free Grammar</a:t>
            </a:r>
            <a:endParaRPr lang="en-US" sz="2400" b="0" i="0" dirty="0">
              <a:solidFill>
                <a:srgbClr val="000000"/>
              </a:solidFill>
              <a:effectLst/>
              <a:latin typeface="Arial" panose="020B0604020202020204" pitchFamily="34" charset="0"/>
            </a:endParaRPr>
          </a:p>
          <a:p>
            <a:pPr indent="0" algn="just">
              <a:buNone/>
            </a:pPr>
            <a:r>
              <a:rPr lang="en-US" sz="1400" i="0" dirty="0">
                <a:solidFill>
                  <a:srgbClr val="000000"/>
                </a:solidFill>
                <a:effectLst/>
                <a:latin typeface="arial" panose="020B0604020202020204" pitchFamily="34" charset="0"/>
              </a:rPr>
              <a:t>Ambiguity in a context-free grammar occurs when a single string can be generated by the grammar in more than one way, resulting in multiple parse trees, leftmost derivations, or rightmost derivations. A context-free grammar is said to be ambiguous if at least one string in its language has two or more distinct derivation trees.</a:t>
            </a:r>
            <a:endParaRPr lang="en-US" sz="1400" i="0" dirty="0">
              <a:solidFill>
                <a:srgbClr val="000000"/>
              </a:solidFill>
              <a:effectLst/>
              <a:latin typeface="Lato" panose="020F0502020204030203" pitchFamily="34" charset="0"/>
            </a:endParaRPr>
          </a:p>
        </p:txBody>
      </p:sp>
      <p:sp>
        <p:nvSpPr>
          <p:cNvPr id="7" name="TextBox 6">
            <a:extLst>
              <a:ext uri="{FF2B5EF4-FFF2-40B4-BE49-F238E27FC236}">
                <a16:creationId xmlns:a16="http://schemas.microsoft.com/office/drawing/2014/main" id="{D0DAB10B-A25A-B2EA-B871-71883F6263D3}"/>
              </a:ext>
            </a:extLst>
          </p:cNvPr>
          <p:cNvSpPr txBox="1"/>
          <p:nvPr/>
        </p:nvSpPr>
        <p:spPr>
          <a:xfrm>
            <a:off x="468630" y="1721167"/>
            <a:ext cx="10101834" cy="276999"/>
          </a:xfrm>
          <a:prstGeom prst="rect">
            <a:avLst/>
          </a:prstGeom>
          <a:noFill/>
        </p:spPr>
        <p:txBody>
          <a:bodyPr wrap="square">
            <a:spAutoFit/>
          </a:bodyPr>
          <a:lstStyle/>
          <a:p>
            <a:r>
              <a:rPr lang="en-US" sz="1200" b="1" i="0" dirty="0">
                <a:solidFill>
                  <a:srgbClr val="000000"/>
                </a:solidFill>
                <a:effectLst/>
                <a:latin typeface="arial" panose="020B0604020202020204" pitchFamily="34" charset="0"/>
              </a:rPr>
              <a:t>Note: We use a general approach to identify ambiguity in Context-free grammar as there is still no algorithm that checks it.</a:t>
            </a:r>
            <a:endParaRPr lang="en-US" b="1" dirty="0"/>
          </a:p>
        </p:txBody>
      </p:sp>
      <p:sp>
        <p:nvSpPr>
          <p:cNvPr id="11" name="TextBox 10">
            <a:extLst>
              <a:ext uri="{FF2B5EF4-FFF2-40B4-BE49-F238E27FC236}">
                <a16:creationId xmlns:a16="http://schemas.microsoft.com/office/drawing/2014/main" id="{9143D5E8-B69A-EE44-87FF-358DCE00CDAE}"/>
              </a:ext>
            </a:extLst>
          </p:cNvPr>
          <p:cNvSpPr txBox="1"/>
          <p:nvPr/>
        </p:nvSpPr>
        <p:spPr>
          <a:xfrm>
            <a:off x="395478" y="2121275"/>
            <a:ext cx="11263122" cy="646331"/>
          </a:xfrm>
          <a:prstGeom prst="rect">
            <a:avLst/>
          </a:prstGeom>
          <a:noFill/>
        </p:spPr>
        <p:txBody>
          <a:bodyPr wrap="square">
            <a:spAutoFit/>
          </a:bodyPr>
          <a:lstStyle/>
          <a:p>
            <a:pPr algn="just"/>
            <a:r>
              <a:rPr lang="en-US" dirty="0"/>
              <a:t>Based on the number of derivation trees in TOC, Ambiguity Grammar is classified into two terms. One is ambiguous grammar, and the other is Unambiguous grammar.</a:t>
            </a:r>
          </a:p>
        </p:txBody>
      </p:sp>
      <p:pic>
        <p:nvPicPr>
          <p:cNvPr id="12" name="Picture 11" descr="Types of Ambiguity in Context Free Grammar">
            <a:extLst>
              <a:ext uri="{FF2B5EF4-FFF2-40B4-BE49-F238E27FC236}">
                <a16:creationId xmlns:a16="http://schemas.microsoft.com/office/drawing/2014/main" id="{16B0C394-565C-F657-2F1C-2C78DD8D4FC2}"/>
              </a:ext>
            </a:extLst>
          </p:cNvPr>
          <p:cNvPicPr>
            <a:picLocks noChangeAspect="1"/>
          </p:cNvPicPr>
          <p:nvPr/>
        </p:nvPicPr>
        <p:blipFill>
          <a:blip r:embed="rId2"/>
          <a:stretch>
            <a:fillRect/>
          </a:stretch>
        </p:blipFill>
        <p:spPr>
          <a:xfrm>
            <a:off x="1565146" y="3282696"/>
            <a:ext cx="9611935" cy="2944368"/>
          </a:xfrm>
          <a:prstGeom prst="rect">
            <a:avLst/>
          </a:prstGeom>
        </p:spPr>
      </p:pic>
    </p:spTree>
    <p:extLst>
      <p:ext uri="{BB962C8B-B14F-4D97-AF65-F5344CB8AC3E}">
        <p14:creationId xmlns:p14="http://schemas.microsoft.com/office/powerpoint/2010/main" val="635625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9C81-FD69-762F-0A10-F3CDB705D7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CD78B4-4AAF-89EC-CBD8-5015DD8CEB32}"/>
              </a:ext>
            </a:extLst>
          </p:cNvPr>
          <p:cNvSpPr txBox="1"/>
          <p:nvPr/>
        </p:nvSpPr>
        <p:spPr>
          <a:xfrm>
            <a:off x="569214" y="575726"/>
            <a:ext cx="10037826" cy="2118529"/>
          </a:xfrm>
          <a:prstGeom prst="rect">
            <a:avLst/>
          </a:prstGeom>
          <a:noFill/>
        </p:spPr>
        <p:txBody>
          <a:bodyPr wrap="square">
            <a:spAutoFit/>
          </a:bodyPr>
          <a:lstStyle/>
          <a:p>
            <a:pPr indent="0" algn="just">
              <a:lnSpc>
                <a:spcPts val="3300"/>
              </a:lnSpc>
              <a:buNone/>
            </a:pPr>
            <a:r>
              <a:rPr lang="en-US" sz="1800" b="1" i="0" dirty="0">
                <a:solidFill>
                  <a:srgbClr val="000000"/>
                </a:solidFill>
                <a:effectLst/>
                <a:latin typeface="arial" panose="020B0604020202020204" pitchFamily="34" charset="0"/>
              </a:rPr>
              <a:t>1. Ambiguous Grammar</a:t>
            </a:r>
            <a:endParaRPr lang="en-US" sz="2100" b="0" i="0" dirty="0">
              <a:solidFill>
                <a:srgbClr val="000000"/>
              </a:solidFill>
              <a:effectLst/>
              <a:latin typeface="Arial" panose="020B0604020202020204" pitchFamily="34" charset="0"/>
            </a:endParaRPr>
          </a:p>
          <a:p>
            <a:pPr indent="0" algn="just">
              <a:buNone/>
            </a:pPr>
            <a:r>
              <a:rPr lang="en-US" sz="1200" b="0" i="0" dirty="0">
                <a:solidFill>
                  <a:srgbClr val="000000"/>
                </a:solidFill>
                <a:effectLst/>
                <a:latin typeface="arial" panose="020B0604020202020204" pitchFamily="34" charset="0"/>
              </a:rPr>
              <a:t>A grammar is said to be </a:t>
            </a:r>
            <a:r>
              <a:rPr lang="en-US" sz="1200" b="1" i="0" dirty="0">
                <a:solidFill>
                  <a:srgbClr val="000000"/>
                </a:solidFill>
                <a:effectLst/>
                <a:latin typeface="arial" panose="020B0604020202020204" pitchFamily="34" charset="0"/>
              </a:rPr>
              <a:t>ambiguous grammar</a:t>
            </a:r>
            <a:r>
              <a:rPr lang="en-US" sz="1200" b="0" i="0" dirty="0">
                <a:solidFill>
                  <a:srgbClr val="000000"/>
                </a:solidFill>
                <a:effectLst/>
                <a:latin typeface="arial" panose="020B0604020202020204" pitchFamily="34" charset="0"/>
              </a:rPr>
              <a:t> if any string generated by it produces more than one.</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00" b="0" i="0" dirty="0">
                <a:solidFill>
                  <a:srgbClr val="000000"/>
                </a:solidFill>
                <a:effectLst/>
                <a:latin typeface="arial" panose="020B0604020202020204" pitchFamily="34" charset="0"/>
              </a:rPr>
              <a:t>Parse tree (syntax tree)</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00" b="0" i="0" dirty="0">
                <a:solidFill>
                  <a:srgbClr val="000000"/>
                </a:solidFill>
                <a:effectLst/>
                <a:latin typeface="arial" panose="020B0604020202020204" pitchFamily="34" charset="0"/>
              </a:rPr>
              <a:t>Or leftmost derivation</a:t>
            </a:r>
            <a:endParaRPr lang="en-US" sz="1275"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200" b="0" i="0" dirty="0">
                <a:solidFill>
                  <a:srgbClr val="000000"/>
                </a:solidFill>
                <a:effectLst/>
                <a:latin typeface="arial" panose="020B0604020202020204" pitchFamily="34" charset="0"/>
              </a:rPr>
              <a:t>Or rightmost derivation</a:t>
            </a:r>
            <a:endParaRPr lang="en-US" sz="1275" b="0" i="0" dirty="0">
              <a:solidFill>
                <a:srgbClr val="000000"/>
              </a:solidFill>
              <a:effectLst/>
              <a:latin typeface="Lato" panose="020F0502020204030203" pitchFamily="34" charset="0"/>
            </a:endParaRPr>
          </a:p>
          <a:p>
            <a:pPr indent="0" algn="just">
              <a:lnSpc>
                <a:spcPts val="2250"/>
              </a:lnSpc>
              <a:buNone/>
            </a:pPr>
            <a:r>
              <a:rPr lang="en-US" sz="1400" b="1" i="0" u="sng" dirty="0">
                <a:solidFill>
                  <a:srgbClr val="000000"/>
                </a:solidFill>
                <a:effectLst/>
                <a:latin typeface="arial" panose="020B0604020202020204" pitchFamily="34" charset="0"/>
              </a:rPr>
              <a:t>Examples of Ambiguous Grammar</a:t>
            </a:r>
            <a:endParaRPr lang="en-US" sz="1500" b="0" i="0" u="sng" dirty="0">
              <a:solidFill>
                <a:srgbClr val="000000"/>
              </a:solidFill>
              <a:effectLst/>
              <a:latin typeface="Lato" panose="020F0502020204030203" pitchFamily="34" charset="0"/>
            </a:endParaRPr>
          </a:p>
          <a:p>
            <a:pPr indent="0" algn="just">
              <a:buNone/>
            </a:pPr>
            <a:r>
              <a:rPr lang="en-US" sz="1200" b="1" i="0" dirty="0">
                <a:solidFill>
                  <a:srgbClr val="000000"/>
                </a:solidFill>
                <a:effectLst/>
                <a:latin typeface="arial" panose="020B0604020202020204" pitchFamily="34" charset="0"/>
              </a:rPr>
              <a:t>Example 01: </a:t>
            </a:r>
            <a:r>
              <a:rPr lang="en-US" sz="1200" b="0" i="0" dirty="0">
                <a:solidFill>
                  <a:srgbClr val="000000"/>
                </a:solidFill>
                <a:effectLst/>
                <a:latin typeface="arial" panose="020B0604020202020204" pitchFamily="34" charset="0"/>
              </a:rPr>
              <a:t>Check whether the following grammar is ambiguous or not for string w = ab</a:t>
            </a:r>
            <a:endParaRPr lang="en-US" sz="1275" b="0" i="0" dirty="0">
              <a:solidFill>
                <a:srgbClr val="000000"/>
              </a:solidFill>
              <a:effectLst/>
              <a:latin typeface="Lato" panose="020F0502020204030203" pitchFamily="34" charset="0"/>
            </a:endParaRPr>
          </a:p>
        </p:txBody>
      </p:sp>
      <p:pic>
        <p:nvPicPr>
          <p:cNvPr id="6" name="Picture 5">
            <a:extLst>
              <a:ext uri="{FF2B5EF4-FFF2-40B4-BE49-F238E27FC236}">
                <a16:creationId xmlns:a16="http://schemas.microsoft.com/office/drawing/2014/main" id="{0D2A1BB1-D179-4490-7D36-998B7AF24F91}"/>
              </a:ext>
            </a:extLst>
          </p:cNvPr>
          <p:cNvPicPr>
            <a:picLocks noChangeAspect="1"/>
          </p:cNvPicPr>
          <p:nvPr/>
        </p:nvPicPr>
        <p:blipFill>
          <a:blip r:embed="rId2"/>
          <a:stretch>
            <a:fillRect/>
          </a:stretch>
        </p:blipFill>
        <p:spPr>
          <a:xfrm>
            <a:off x="8829516" y="332931"/>
            <a:ext cx="2435892" cy="2361324"/>
          </a:xfrm>
          <a:prstGeom prst="rect">
            <a:avLst/>
          </a:prstGeom>
        </p:spPr>
      </p:pic>
      <p:pic>
        <p:nvPicPr>
          <p:cNvPr id="9" name="Picture 8">
            <a:extLst>
              <a:ext uri="{FF2B5EF4-FFF2-40B4-BE49-F238E27FC236}">
                <a16:creationId xmlns:a16="http://schemas.microsoft.com/office/drawing/2014/main" id="{5D6C075B-D781-44E4-8C58-E90D9CCC6C40}"/>
              </a:ext>
            </a:extLst>
          </p:cNvPr>
          <p:cNvPicPr>
            <a:picLocks noChangeAspect="1"/>
          </p:cNvPicPr>
          <p:nvPr/>
        </p:nvPicPr>
        <p:blipFill>
          <a:blip r:embed="rId3"/>
          <a:stretch>
            <a:fillRect/>
          </a:stretch>
        </p:blipFill>
        <p:spPr>
          <a:xfrm>
            <a:off x="666471" y="3017684"/>
            <a:ext cx="5429529" cy="3492679"/>
          </a:xfrm>
          <a:prstGeom prst="rect">
            <a:avLst/>
          </a:prstGeom>
        </p:spPr>
      </p:pic>
      <p:sp>
        <p:nvSpPr>
          <p:cNvPr id="13" name="TextBox 12">
            <a:extLst>
              <a:ext uri="{FF2B5EF4-FFF2-40B4-BE49-F238E27FC236}">
                <a16:creationId xmlns:a16="http://schemas.microsoft.com/office/drawing/2014/main" id="{F5C1C343-E97F-04F1-19B9-DE50C930031D}"/>
              </a:ext>
            </a:extLst>
          </p:cNvPr>
          <p:cNvSpPr txBox="1"/>
          <p:nvPr/>
        </p:nvSpPr>
        <p:spPr>
          <a:xfrm>
            <a:off x="6878574" y="4386888"/>
            <a:ext cx="4313682" cy="830997"/>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The original string (w =ab)  can derived through two different parse trees. So,  the given grammar is ambiguous.</a:t>
            </a:r>
            <a:endParaRPr lang="en-US" sz="2400" dirty="0"/>
          </a:p>
        </p:txBody>
      </p:sp>
    </p:spTree>
    <p:extLst>
      <p:ext uri="{BB962C8B-B14F-4D97-AF65-F5344CB8AC3E}">
        <p14:creationId xmlns:p14="http://schemas.microsoft.com/office/powerpoint/2010/main" val="3124041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F1C8F-42FE-A3C4-55DD-6802273374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55D745-07B9-A688-DD0C-1C264E0EFA03}"/>
              </a:ext>
            </a:extLst>
          </p:cNvPr>
          <p:cNvSpPr txBox="1"/>
          <p:nvPr/>
        </p:nvSpPr>
        <p:spPr>
          <a:xfrm>
            <a:off x="377190" y="208080"/>
            <a:ext cx="9144762" cy="338554"/>
          </a:xfrm>
          <a:prstGeom prst="rect">
            <a:avLst/>
          </a:prstGeom>
          <a:noFill/>
        </p:spPr>
        <p:txBody>
          <a:bodyPr wrap="square">
            <a:spAutoFit/>
          </a:bodyPr>
          <a:lstStyle/>
          <a:p>
            <a:r>
              <a:rPr lang="en-US" sz="1600" b="1" i="0" dirty="0">
                <a:solidFill>
                  <a:srgbClr val="000000"/>
                </a:solidFill>
                <a:effectLst/>
                <a:latin typeface="arial" panose="020B0604020202020204" pitchFamily="34" charset="0"/>
              </a:rPr>
              <a:t>Example-02: </a:t>
            </a:r>
            <a:r>
              <a:rPr lang="en-US" sz="1600" b="0" i="0" dirty="0">
                <a:solidFill>
                  <a:srgbClr val="000000"/>
                </a:solidFill>
                <a:effectLst/>
                <a:latin typeface="arial" panose="020B0604020202020204" pitchFamily="34" charset="0"/>
              </a:rPr>
              <a:t>Check whether the following grammar is ambiguous or not for string w = </a:t>
            </a:r>
            <a:r>
              <a:rPr lang="en-US" sz="1600" b="0" i="0" dirty="0" err="1">
                <a:solidFill>
                  <a:srgbClr val="000000"/>
                </a:solidFill>
                <a:effectLst/>
                <a:latin typeface="arial" panose="020B0604020202020204" pitchFamily="34" charset="0"/>
              </a:rPr>
              <a:t>aabbccdd</a:t>
            </a:r>
            <a:endParaRPr lang="en-US" sz="2400" dirty="0"/>
          </a:p>
        </p:txBody>
      </p:sp>
      <p:pic>
        <p:nvPicPr>
          <p:cNvPr id="6" name="Picture 5">
            <a:extLst>
              <a:ext uri="{FF2B5EF4-FFF2-40B4-BE49-F238E27FC236}">
                <a16:creationId xmlns:a16="http://schemas.microsoft.com/office/drawing/2014/main" id="{81505AFD-C492-85FB-A7C5-F0583644B01C}"/>
              </a:ext>
            </a:extLst>
          </p:cNvPr>
          <p:cNvPicPr>
            <a:picLocks noChangeAspect="1"/>
          </p:cNvPicPr>
          <p:nvPr/>
        </p:nvPicPr>
        <p:blipFill>
          <a:blip r:embed="rId2"/>
          <a:stretch>
            <a:fillRect/>
          </a:stretch>
        </p:blipFill>
        <p:spPr>
          <a:xfrm>
            <a:off x="377190" y="636599"/>
            <a:ext cx="1689354" cy="2687608"/>
          </a:xfrm>
          <a:prstGeom prst="rect">
            <a:avLst/>
          </a:prstGeom>
        </p:spPr>
      </p:pic>
      <p:pic>
        <p:nvPicPr>
          <p:cNvPr id="9" name="Picture 8">
            <a:extLst>
              <a:ext uri="{FF2B5EF4-FFF2-40B4-BE49-F238E27FC236}">
                <a16:creationId xmlns:a16="http://schemas.microsoft.com/office/drawing/2014/main" id="{D2364137-00F7-5DC4-F026-B9287EE41C74}"/>
              </a:ext>
            </a:extLst>
          </p:cNvPr>
          <p:cNvPicPr>
            <a:picLocks noChangeAspect="1"/>
          </p:cNvPicPr>
          <p:nvPr/>
        </p:nvPicPr>
        <p:blipFill>
          <a:blip r:embed="rId3"/>
          <a:stretch>
            <a:fillRect/>
          </a:stretch>
        </p:blipFill>
        <p:spPr>
          <a:xfrm>
            <a:off x="2334106" y="636599"/>
            <a:ext cx="6873902" cy="5155426"/>
          </a:xfrm>
          <a:prstGeom prst="rect">
            <a:avLst/>
          </a:prstGeom>
        </p:spPr>
      </p:pic>
      <p:sp>
        <p:nvSpPr>
          <p:cNvPr id="13" name="TextBox 12">
            <a:extLst>
              <a:ext uri="{FF2B5EF4-FFF2-40B4-BE49-F238E27FC236}">
                <a16:creationId xmlns:a16="http://schemas.microsoft.com/office/drawing/2014/main" id="{E6992465-0F1C-87FF-BDB4-C5FFD6EAE595}"/>
              </a:ext>
            </a:extLst>
          </p:cNvPr>
          <p:cNvSpPr txBox="1"/>
          <p:nvPr/>
        </p:nvSpPr>
        <p:spPr>
          <a:xfrm>
            <a:off x="688086" y="6105960"/>
            <a:ext cx="10915650" cy="338554"/>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The original string (w =</a:t>
            </a:r>
            <a:r>
              <a:rPr lang="en-US" sz="1600" b="0" i="0" dirty="0" err="1">
                <a:solidFill>
                  <a:srgbClr val="000000"/>
                </a:solidFill>
                <a:effectLst/>
                <a:latin typeface="arial" panose="020B0604020202020204" pitchFamily="34" charset="0"/>
              </a:rPr>
              <a:t>aabbccdd</a:t>
            </a:r>
            <a:r>
              <a:rPr lang="en-US" sz="1600" b="0" i="0" dirty="0">
                <a:solidFill>
                  <a:srgbClr val="000000"/>
                </a:solidFill>
                <a:effectLst/>
                <a:latin typeface="arial" panose="020B0604020202020204" pitchFamily="34" charset="0"/>
              </a:rPr>
              <a:t>)  can derived through two different parse trees. So,  the given grammar is ambiguous.</a:t>
            </a:r>
            <a:endParaRPr lang="en-US" sz="2400" dirty="0"/>
          </a:p>
        </p:txBody>
      </p:sp>
    </p:spTree>
    <p:extLst>
      <p:ext uri="{BB962C8B-B14F-4D97-AF65-F5344CB8AC3E}">
        <p14:creationId xmlns:p14="http://schemas.microsoft.com/office/powerpoint/2010/main" val="4200106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E2602-C7DD-6615-6B9E-C767F67075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50996D-22AE-CBC0-4A9D-B758B8E4BFD5}"/>
              </a:ext>
            </a:extLst>
          </p:cNvPr>
          <p:cNvSpPr txBox="1"/>
          <p:nvPr/>
        </p:nvSpPr>
        <p:spPr>
          <a:xfrm>
            <a:off x="441198" y="383033"/>
            <a:ext cx="9818370" cy="2416046"/>
          </a:xfrm>
          <a:prstGeom prst="rect">
            <a:avLst/>
          </a:prstGeom>
          <a:noFill/>
        </p:spPr>
        <p:txBody>
          <a:bodyPr wrap="square">
            <a:spAutoFit/>
          </a:bodyPr>
          <a:lstStyle/>
          <a:p>
            <a:pPr indent="0" algn="just">
              <a:lnSpc>
                <a:spcPts val="2625"/>
              </a:lnSpc>
              <a:buNone/>
            </a:pPr>
            <a:r>
              <a:rPr lang="en-US" sz="2400" b="1" i="0" dirty="0">
                <a:solidFill>
                  <a:srgbClr val="000000"/>
                </a:solidFill>
                <a:effectLst/>
                <a:latin typeface="arial" panose="020B0604020202020204" pitchFamily="34" charset="0"/>
              </a:rPr>
              <a:t>2. Unambiguous Grammar</a:t>
            </a:r>
            <a:endParaRPr lang="en-US" sz="2400" b="0" i="0" dirty="0">
              <a:solidFill>
                <a:srgbClr val="000000"/>
              </a:solidFill>
              <a:effectLst/>
              <a:latin typeface="Lato" panose="020F0502020204030203" pitchFamily="34" charset="0"/>
            </a:endParaRPr>
          </a:p>
          <a:p>
            <a:pPr indent="0" algn="just">
              <a:buNone/>
            </a:pPr>
            <a:r>
              <a:rPr lang="en-US" sz="1600" b="0" i="0" dirty="0">
                <a:solidFill>
                  <a:srgbClr val="000000"/>
                </a:solidFill>
                <a:effectLst/>
                <a:latin typeface="arial" panose="020B0604020202020204" pitchFamily="34" charset="0"/>
              </a:rPr>
              <a:t>A grammar is said to be unambiguous grammar if every string generated by it produces exactly one.</a:t>
            </a:r>
            <a:endParaRPr lang="en-US" sz="16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600" b="0" i="0" dirty="0">
                <a:solidFill>
                  <a:srgbClr val="000000"/>
                </a:solidFill>
                <a:effectLst/>
                <a:latin typeface="arial" panose="020B0604020202020204" pitchFamily="34" charset="0"/>
              </a:rPr>
              <a:t>Parse tree</a:t>
            </a:r>
            <a:endParaRPr lang="en-US" sz="16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600" b="0" i="0" dirty="0">
                <a:solidFill>
                  <a:srgbClr val="000000"/>
                </a:solidFill>
                <a:effectLst/>
                <a:latin typeface="arial" panose="020B0604020202020204" pitchFamily="34" charset="0"/>
              </a:rPr>
              <a:t>Or syntax tree</a:t>
            </a:r>
            <a:endParaRPr lang="en-US" sz="16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600" b="0" i="0" dirty="0">
                <a:solidFill>
                  <a:srgbClr val="000000"/>
                </a:solidFill>
                <a:effectLst/>
                <a:latin typeface="arial" panose="020B0604020202020204" pitchFamily="34" charset="0"/>
              </a:rPr>
              <a:t>Or leftmost derivation</a:t>
            </a:r>
            <a:endParaRPr lang="en-US" sz="16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600" b="0" i="0" dirty="0">
                <a:solidFill>
                  <a:srgbClr val="000000"/>
                </a:solidFill>
                <a:effectLst/>
                <a:latin typeface="arial" panose="020B0604020202020204" pitchFamily="34" charset="0"/>
              </a:rPr>
              <a:t>Or rightmost derivation</a:t>
            </a:r>
            <a:endParaRPr lang="en-US" sz="1600" b="0" i="0" dirty="0">
              <a:solidFill>
                <a:srgbClr val="000000"/>
              </a:solidFill>
              <a:effectLst/>
              <a:latin typeface="Lato" panose="020F0502020204030203" pitchFamily="34" charset="0"/>
            </a:endParaRPr>
          </a:p>
          <a:p>
            <a:pPr indent="0" algn="just">
              <a:buNone/>
            </a:pPr>
            <a:r>
              <a:rPr lang="en-US" sz="1600" b="0" i="0" dirty="0">
                <a:solidFill>
                  <a:srgbClr val="000000"/>
                </a:solidFill>
                <a:effectLst/>
                <a:latin typeface="arial" panose="020B0604020202020204" pitchFamily="34" charset="0"/>
              </a:rPr>
              <a:t>Note: So, If we try to derive more than one tree of unambiguous grammar, then all trees will be similar</a:t>
            </a:r>
            <a:endParaRPr lang="en-US" sz="1600" b="0" i="0" dirty="0">
              <a:solidFill>
                <a:srgbClr val="000000"/>
              </a:solidFill>
              <a:effectLst/>
              <a:latin typeface="Lato" panose="020F0502020204030203" pitchFamily="34" charset="0"/>
            </a:endParaRPr>
          </a:p>
        </p:txBody>
      </p:sp>
      <p:sp>
        <p:nvSpPr>
          <p:cNvPr id="7" name="TextBox 6">
            <a:extLst>
              <a:ext uri="{FF2B5EF4-FFF2-40B4-BE49-F238E27FC236}">
                <a16:creationId xmlns:a16="http://schemas.microsoft.com/office/drawing/2014/main" id="{5B5FEDA0-858A-D685-218F-CD0BACE50DAA}"/>
              </a:ext>
            </a:extLst>
          </p:cNvPr>
          <p:cNvSpPr txBox="1"/>
          <p:nvPr/>
        </p:nvSpPr>
        <p:spPr>
          <a:xfrm>
            <a:off x="441198" y="2877849"/>
            <a:ext cx="8081010" cy="633507"/>
          </a:xfrm>
          <a:prstGeom prst="rect">
            <a:avLst/>
          </a:prstGeom>
          <a:noFill/>
        </p:spPr>
        <p:txBody>
          <a:bodyPr wrap="square">
            <a:spAutoFit/>
          </a:bodyPr>
          <a:lstStyle/>
          <a:p>
            <a:pPr indent="0" algn="just">
              <a:lnSpc>
                <a:spcPts val="2250"/>
              </a:lnSpc>
              <a:buNone/>
            </a:pPr>
            <a:r>
              <a:rPr lang="en-US" b="1" i="0" u="sng" dirty="0">
                <a:solidFill>
                  <a:srgbClr val="000000"/>
                </a:solidFill>
                <a:effectLst/>
                <a:latin typeface="arial" panose="020B0604020202020204" pitchFamily="34" charset="0"/>
              </a:rPr>
              <a:t>Examples of Unambiguous Grammar</a:t>
            </a:r>
            <a:endParaRPr lang="en-US" b="0" i="0" u="sng" dirty="0">
              <a:solidFill>
                <a:srgbClr val="000000"/>
              </a:solidFill>
              <a:effectLst/>
              <a:latin typeface="Lato" panose="020F0502020204030203" pitchFamily="34" charset="0"/>
            </a:endParaRPr>
          </a:p>
          <a:p>
            <a:pPr indent="0" algn="just">
              <a:buNone/>
            </a:pPr>
            <a:r>
              <a:rPr lang="en-US" sz="1600" b="1" i="0" dirty="0">
                <a:solidFill>
                  <a:srgbClr val="000000"/>
                </a:solidFill>
                <a:effectLst/>
                <a:latin typeface="arial" panose="020B0604020202020204" pitchFamily="34" charset="0"/>
              </a:rPr>
              <a:t>Example 01: </a:t>
            </a:r>
            <a:r>
              <a:rPr lang="en-US" sz="1600" b="0" i="0" dirty="0">
                <a:solidFill>
                  <a:srgbClr val="000000"/>
                </a:solidFill>
                <a:effectLst/>
                <a:latin typeface="arial" panose="020B0604020202020204" pitchFamily="34" charset="0"/>
              </a:rPr>
              <a:t>For string “</a:t>
            </a:r>
            <a:r>
              <a:rPr lang="en-US" sz="1600" b="0" i="0" dirty="0" err="1">
                <a:solidFill>
                  <a:srgbClr val="000000"/>
                </a:solidFill>
                <a:effectLst/>
                <a:latin typeface="arial" panose="020B0604020202020204" pitchFamily="34" charset="0"/>
              </a:rPr>
              <a:t>aab</a:t>
            </a:r>
            <a:r>
              <a:rPr lang="en-US" sz="1600" b="0" i="0" dirty="0">
                <a:solidFill>
                  <a:srgbClr val="000000"/>
                </a:solidFill>
                <a:effectLst/>
                <a:latin typeface="arial" panose="020B0604020202020204" pitchFamily="34" charset="0"/>
              </a:rPr>
              <a:t>” the following grammar is unambiguous</a:t>
            </a:r>
            <a:endParaRPr lang="en-US" sz="1600" b="0" i="0" dirty="0">
              <a:solidFill>
                <a:srgbClr val="000000"/>
              </a:solidFill>
              <a:effectLst/>
              <a:latin typeface="Lato" panose="020F0502020204030203" pitchFamily="34" charset="0"/>
            </a:endParaRPr>
          </a:p>
        </p:txBody>
      </p:sp>
      <p:pic>
        <p:nvPicPr>
          <p:cNvPr id="10" name="Picture 9">
            <a:extLst>
              <a:ext uri="{FF2B5EF4-FFF2-40B4-BE49-F238E27FC236}">
                <a16:creationId xmlns:a16="http://schemas.microsoft.com/office/drawing/2014/main" id="{57B78435-4A08-B8CF-4A9A-F2A29D066256}"/>
              </a:ext>
            </a:extLst>
          </p:cNvPr>
          <p:cNvPicPr>
            <a:picLocks noChangeAspect="1"/>
          </p:cNvPicPr>
          <p:nvPr/>
        </p:nvPicPr>
        <p:blipFill>
          <a:blip r:embed="rId2"/>
          <a:stretch>
            <a:fillRect/>
          </a:stretch>
        </p:blipFill>
        <p:spPr>
          <a:xfrm>
            <a:off x="441198" y="3821711"/>
            <a:ext cx="1221636" cy="1722595"/>
          </a:xfrm>
          <a:prstGeom prst="rect">
            <a:avLst/>
          </a:prstGeom>
        </p:spPr>
      </p:pic>
      <p:pic>
        <p:nvPicPr>
          <p:cNvPr id="12" name="Picture 11">
            <a:extLst>
              <a:ext uri="{FF2B5EF4-FFF2-40B4-BE49-F238E27FC236}">
                <a16:creationId xmlns:a16="http://schemas.microsoft.com/office/drawing/2014/main" id="{54F70099-B049-9276-DA38-E74FA5D5378B}"/>
              </a:ext>
            </a:extLst>
          </p:cNvPr>
          <p:cNvPicPr>
            <a:picLocks noChangeAspect="1"/>
          </p:cNvPicPr>
          <p:nvPr/>
        </p:nvPicPr>
        <p:blipFill>
          <a:blip r:embed="rId3"/>
          <a:stretch>
            <a:fillRect/>
          </a:stretch>
        </p:blipFill>
        <p:spPr>
          <a:xfrm>
            <a:off x="2023369" y="3716455"/>
            <a:ext cx="4743694" cy="2844946"/>
          </a:xfrm>
          <a:prstGeom prst="rect">
            <a:avLst/>
          </a:prstGeom>
        </p:spPr>
      </p:pic>
      <p:sp>
        <p:nvSpPr>
          <p:cNvPr id="15" name="TextBox 14">
            <a:extLst>
              <a:ext uri="{FF2B5EF4-FFF2-40B4-BE49-F238E27FC236}">
                <a16:creationId xmlns:a16="http://schemas.microsoft.com/office/drawing/2014/main" id="{EA961849-01A7-FF33-AE08-61D1DC22BECA}"/>
              </a:ext>
            </a:extLst>
          </p:cNvPr>
          <p:cNvSpPr txBox="1"/>
          <p:nvPr/>
        </p:nvSpPr>
        <p:spPr>
          <a:xfrm>
            <a:off x="7420356" y="4359842"/>
            <a:ext cx="4485132" cy="1077218"/>
          </a:xfrm>
          <a:prstGeom prst="rect">
            <a:avLst/>
          </a:prstGeom>
          <a:noFill/>
        </p:spPr>
        <p:txBody>
          <a:bodyPr wrap="square">
            <a:spAutoFit/>
          </a:bodyPr>
          <a:lstStyle/>
          <a:p>
            <a:pPr algn="just"/>
            <a:r>
              <a:rPr lang="en-US" sz="1600" b="0" i="0" dirty="0">
                <a:solidFill>
                  <a:srgbClr val="000000"/>
                </a:solidFill>
                <a:effectLst/>
                <a:latin typeface="arial" panose="020B0604020202020204" pitchFamily="34" charset="0"/>
              </a:rPr>
              <a:t>Because all parse trees, syntax trees, and left or right derivations will be similar for the above grammar of string “</a:t>
            </a:r>
            <a:r>
              <a:rPr lang="en-US" sz="1600" b="0" i="0" dirty="0" err="1">
                <a:solidFill>
                  <a:srgbClr val="000000"/>
                </a:solidFill>
                <a:effectLst/>
                <a:latin typeface="arial" panose="020B0604020202020204" pitchFamily="34" charset="0"/>
              </a:rPr>
              <a:t>aab</a:t>
            </a:r>
            <a:r>
              <a:rPr lang="en-US" sz="1600" b="0" i="0" dirty="0">
                <a:solidFill>
                  <a:srgbClr val="000000"/>
                </a:solidFill>
                <a:effectLst/>
                <a:latin typeface="arial" panose="020B0604020202020204" pitchFamily="34" charset="0"/>
              </a:rPr>
              <a:t>.” So, the  above grammar is unambiguous</a:t>
            </a:r>
            <a:r>
              <a:rPr lang="en-US" sz="1600" dirty="0">
                <a:solidFill>
                  <a:srgbClr val="000000"/>
                </a:solidFill>
                <a:latin typeface="arial" panose="020B0604020202020204" pitchFamily="34" charset="0"/>
              </a:rPr>
              <a:t>.</a:t>
            </a:r>
            <a:endParaRPr lang="en-US" sz="2400" dirty="0"/>
          </a:p>
        </p:txBody>
      </p:sp>
    </p:spTree>
    <p:extLst>
      <p:ext uri="{BB962C8B-B14F-4D97-AF65-F5344CB8AC3E}">
        <p14:creationId xmlns:p14="http://schemas.microsoft.com/office/powerpoint/2010/main" val="1590482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3EF33-45A2-A22A-2DAC-76F6518765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0B4729B-F2C1-B063-D8A0-F4DB708694AD}"/>
              </a:ext>
            </a:extLst>
          </p:cNvPr>
          <p:cNvSpPr txBox="1"/>
          <p:nvPr/>
        </p:nvSpPr>
        <p:spPr>
          <a:xfrm>
            <a:off x="505206" y="467337"/>
            <a:ext cx="11107674" cy="2457083"/>
          </a:xfrm>
          <a:prstGeom prst="rect">
            <a:avLst/>
          </a:prstGeom>
          <a:noFill/>
        </p:spPr>
        <p:txBody>
          <a:bodyPr wrap="square">
            <a:spAutoFit/>
          </a:bodyPr>
          <a:lstStyle/>
          <a:p>
            <a:pPr indent="0" algn="just">
              <a:buNone/>
            </a:pPr>
            <a:r>
              <a:rPr lang="en-US" sz="1400" b="1" i="0" dirty="0">
                <a:solidFill>
                  <a:srgbClr val="000000"/>
                </a:solidFill>
                <a:effectLst/>
                <a:latin typeface="arial" panose="020B0604020202020204" pitchFamily="34" charset="0"/>
              </a:rPr>
              <a:t>Example 02: </a:t>
            </a:r>
            <a:r>
              <a:rPr lang="en-US" sz="1400" b="0" i="0" dirty="0">
                <a:solidFill>
                  <a:srgbClr val="000000"/>
                </a:solidFill>
                <a:effectLst/>
                <a:latin typeface="arial" panose="020B0604020202020204" pitchFamily="34" charset="0"/>
              </a:rPr>
              <a:t>For string “</a:t>
            </a:r>
            <a:r>
              <a:rPr lang="en-US" sz="1400" b="0" i="0" dirty="0" err="1">
                <a:solidFill>
                  <a:srgbClr val="000000"/>
                </a:solidFill>
                <a:effectLst/>
                <a:latin typeface="arial" panose="020B0604020202020204" pitchFamily="34" charset="0"/>
              </a:rPr>
              <a:t>id+id</a:t>
            </a:r>
            <a:r>
              <a:rPr lang="en-US" sz="1400" b="0" i="0" dirty="0">
                <a:solidFill>
                  <a:srgbClr val="000000"/>
                </a:solidFill>
                <a:effectLst/>
                <a:latin typeface="arial" panose="020B0604020202020204" pitchFamily="34" charset="0"/>
              </a:rPr>
              <a:t>*id,” the following grammar is unambiguous</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E → E + T  </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E → T  </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T → T * F  </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T → F  </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F → id  </a:t>
            </a:r>
            <a:endParaRPr lang="en-US" sz="1400" b="0" i="0" dirty="0">
              <a:solidFill>
                <a:srgbClr val="000000"/>
              </a:solidFill>
              <a:effectLst/>
              <a:latin typeface="Lato" panose="020F0502020204030203" pitchFamily="34" charset="0"/>
            </a:endParaRPr>
          </a:p>
          <a:p>
            <a:pPr indent="0" algn="just">
              <a:buNone/>
            </a:pPr>
            <a:r>
              <a:rPr lang="en-US" sz="1400" b="1" i="0" dirty="0">
                <a:solidFill>
                  <a:srgbClr val="000000"/>
                </a:solidFill>
                <a:effectLst/>
                <a:latin typeface="arial" panose="020B0604020202020204" pitchFamily="34" charset="0"/>
              </a:rPr>
              <a:t>Solution: </a:t>
            </a:r>
            <a:r>
              <a:rPr lang="en-US" sz="1400" b="0" i="0" dirty="0">
                <a:solidFill>
                  <a:srgbClr val="000000"/>
                </a:solidFill>
                <a:effectLst/>
                <a:latin typeface="arial" panose="020B0604020202020204" pitchFamily="34" charset="0"/>
              </a:rPr>
              <a:t>Because all parse trees, syntax trees, and left or right derivations will be similar for the above string grammar “</a:t>
            </a:r>
            <a:r>
              <a:rPr lang="en-US" sz="1400" b="0" i="0" dirty="0" err="1">
                <a:solidFill>
                  <a:srgbClr val="000000"/>
                </a:solidFill>
                <a:effectLst/>
                <a:latin typeface="arial" panose="020B0604020202020204" pitchFamily="34" charset="0"/>
              </a:rPr>
              <a:t>id+id</a:t>
            </a:r>
            <a:r>
              <a:rPr lang="en-US" sz="1400" b="0" i="0" dirty="0">
                <a:solidFill>
                  <a:srgbClr val="000000"/>
                </a:solidFill>
                <a:effectLst/>
                <a:latin typeface="arial" panose="020B0604020202020204" pitchFamily="34" charset="0"/>
              </a:rPr>
              <a:t>*id.” As given below</a:t>
            </a:r>
            <a:endParaRPr lang="en-US" sz="1400" b="0" i="0" dirty="0">
              <a:solidFill>
                <a:srgbClr val="000000"/>
              </a:solidFill>
              <a:effectLst/>
              <a:latin typeface="Lato" panose="020F0502020204030203" pitchFamily="34" charset="0"/>
            </a:endParaRPr>
          </a:p>
        </p:txBody>
      </p:sp>
      <p:pic>
        <p:nvPicPr>
          <p:cNvPr id="6" name="Picture 5">
            <a:extLst>
              <a:ext uri="{FF2B5EF4-FFF2-40B4-BE49-F238E27FC236}">
                <a16:creationId xmlns:a16="http://schemas.microsoft.com/office/drawing/2014/main" id="{1E809807-1414-631E-7E91-508B36D6645C}"/>
              </a:ext>
            </a:extLst>
          </p:cNvPr>
          <p:cNvPicPr>
            <a:picLocks noChangeAspect="1"/>
          </p:cNvPicPr>
          <p:nvPr/>
        </p:nvPicPr>
        <p:blipFill>
          <a:blip r:embed="rId2"/>
          <a:stretch>
            <a:fillRect/>
          </a:stretch>
        </p:blipFill>
        <p:spPr>
          <a:xfrm>
            <a:off x="2904480" y="2924420"/>
            <a:ext cx="5340624" cy="3721291"/>
          </a:xfrm>
          <a:prstGeom prst="rect">
            <a:avLst/>
          </a:prstGeom>
        </p:spPr>
      </p:pic>
    </p:spTree>
    <p:extLst>
      <p:ext uri="{BB962C8B-B14F-4D97-AF65-F5344CB8AC3E}">
        <p14:creationId xmlns:p14="http://schemas.microsoft.com/office/powerpoint/2010/main" val="2718815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EADA42-F1E9-55B1-BC70-26D814521CDB}"/>
              </a:ext>
            </a:extLst>
          </p:cNvPr>
          <p:cNvSpPr txBox="1"/>
          <p:nvPr/>
        </p:nvSpPr>
        <p:spPr>
          <a:xfrm>
            <a:off x="6334506" y="1350678"/>
            <a:ext cx="6727698" cy="2803332"/>
          </a:xfrm>
          <a:prstGeom prst="rect">
            <a:avLst/>
          </a:prstGeom>
          <a:noFill/>
        </p:spPr>
        <p:txBody>
          <a:bodyPr wrap="square">
            <a:spAutoFit/>
          </a:bodyPr>
          <a:lstStyle/>
          <a:p>
            <a:pPr marL="0" marR="0" indent="0" algn="l" rtl="0" fontAlgn="base">
              <a:spcAft>
                <a:spcPts val="750"/>
              </a:spcAft>
              <a:buNone/>
            </a:pPr>
            <a:r>
              <a:rPr lang="en-US" sz="1350" b="0" i="0" spc="12" dirty="0">
                <a:solidFill>
                  <a:srgbClr val="273239"/>
                </a:solidFill>
                <a:effectLst/>
                <a:latin typeface="Nunito" pitchFamily="2" charset="0"/>
              </a:rPr>
              <a:t> Q2. Following are some examples of ambiguous grammar:  </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0" i="0" spc="12" dirty="0">
                <a:solidFill>
                  <a:srgbClr val="273239"/>
                </a:solidFill>
                <a:effectLst/>
                <a:latin typeface="Nunito" pitchFamily="2" charset="0"/>
              </a:rPr>
              <a:t>S -&gt; </a:t>
            </a:r>
            <a:r>
              <a:rPr lang="en-US" sz="1350" b="0" i="0" spc="12" dirty="0" err="1">
                <a:solidFill>
                  <a:srgbClr val="273239"/>
                </a:solidFill>
                <a:effectLst/>
                <a:latin typeface="Nunito" pitchFamily="2" charset="0"/>
              </a:rPr>
              <a:t>aS</a:t>
            </a:r>
            <a:r>
              <a:rPr lang="en-US" sz="1350" b="0" i="0" spc="12" dirty="0">
                <a:solidFill>
                  <a:srgbClr val="273239"/>
                </a:solidFill>
                <a:effectLst/>
                <a:latin typeface="Nunito" pitchFamily="2" charset="0"/>
              </a:rPr>
              <a:t> | Sa | ε</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0" i="0" spc="12" dirty="0">
                <a:solidFill>
                  <a:srgbClr val="273239"/>
                </a:solidFill>
                <a:effectLst/>
                <a:latin typeface="Nunito" pitchFamily="2" charset="0"/>
              </a:rPr>
              <a:t>E-&gt; E +E | E*E| id</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0" i="0" spc="12" dirty="0">
                <a:solidFill>
                  <a:srgbClr val="273239"/>
                </a:solidFill>
                <a:effectLst/>
                <a:latin typeface="Nunito" pitchFamily="2" charset="0"/>
              </a:rPr>
              <a:t>A -&gt; AA | (A) | a</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0" i="0" spc="12" dirty="0">
                <a:solidFill>
                  <a:srgbClr val="273239"/>
                </a:solidFill>
                <a:effectLst/>
                <a:latin typeface="Nunito" pitchFamily="2" charset="0"/>
              </a:rPr>
              <a:t>S -&gt; SS | AB</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0" i="0" spc="12" dirty="0">
                <a:solidFill>
                  <a:srgbClr val="273239"/>
                </a:solidFill>
                <a:effectLst/>
                <a:latin typeface="Nunito" pitchFamily="2" charset="0"/>
              </a:rPr>
              <a:t>A -&gt; Aa | a</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0" i="0" spc="12" dirty="0">
                <a:solidFill>
                  <a:srgbClr val="273239"/>
                </a:solidFill>
                <a:effectLst/>
                <a:latin typeface="Nunito" pitchFamily="2" charset="0"/>
              </a:rPr>
              <a:t>B -&gt; Bb | b</a:t>
            </a:r>
            <a:endParaRPr lang="en-US" sz="1350" b="0" i="0" spc="10" dirty="0">
              <a:solidFill>
                <a:srgbClr val="273239"/>
              </a:solidFill>
              <a:effectLst/>
              <a:latin typeface="Nunito" pitchFamily="2" charset="0"/>
            </a:endParaRPr>
          </a:p>
        </p:txBody>
      </p:sp>
      <p:sp>
        <p:nvSpPr>
          <p:cNvPr id="5" name="TextBox 4">
            <a:extLst>
              <a:ext uri="{FF2B5EF4-FFF2-40B4-BE49-F238E27FC236}">
                <a16:creationId xmlns:a16="http://schemas.microsoft.com/office/drawing/2014/main" id="{7156C686-0CA9-0F9E-5B83-0CB3BB29DE1C}"/>
              </a:ext>
            </a:extLst>
          </p:cNvPr>
          <p:cNvSpPr txBox="1"/>
          <p:nvPr/>
        </p:nvSpPr>
        <p:spPr>
          <a:xfrm>
            <a:off x="240030" y="250663"/>
            <a:ext cx="6094476" cy="3631763"/>
          </a:xfrm>
          <a:prstGeom prst="rect">
            <a:avLst/>
          </a:prstGeom>
          <a:noFill/>
        </p:spPr>
        <p:txBody>
          <a:bodyPr wrap="square">
            <a:spAutoFit/>
          </a:bodyPr>
          <a:lstStyle/>
          <a:p>
            <a:pPr marL="0" marR="0" indent="0" algn="l" rtl="0" fontAlgn="base">
              <a:spcAft>
                <a:spcPts val="750"/>
              </a:spcAft>
              <a:buNone/>
            </a:pPr>
            <a:r>
              <a:rPr lang="en-US" sz="1350" b="0" i="0" spc="12" dirty="0">
                <a:solidFill>
                  <a:srgbClr val="273239"/>
                </a:solidFill>
                <a:effectLst/>
                <a:latin typeface="Nunito" pitchFamily="2" charset="0"/>
              </a:rPr>
              <a:t>Q1. Consider the language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defined as:</a:t>
            </a:r>
            <a:endParaRPr lang="en-US" sz="1350" b="0" i="0" spc="1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L = { </a:t>
            </a:r>
            <a:r>
              <a:rPr lang="en-US" sz="1350" b="1" i="0" spc="10" dirty="0">
                <a:solidFill>
                  <a:srgbClr val="273239"/>
                </a:solidFill>
                <a:effectLst/>
                <a:latin typeface="Nunito" pitchFamily="2" charset="0"/>
              </a:rPr>
              <a:t>aⁿbⁿ</a:t>
            </a:r>
            <a:r>
              <a:rPr lang="en-US" sz="1350" b="1" i="0" spc="10" dirty="0" err="1">
                <a:solidFill>
                  <a:srgbClr val="273239"/>
                </a:solidFill>
                <a:effectLst/>
                <a:latin typeface="Nunito" pitchFamily="2" charset="0"/>
              </a:rPr>
              <a:t>cᵐd</a:t>
            </a:r>
            <a:r>
              <a:rPr lang="en-US" sz="1350" b="1" i="0" spc="10" dirty="0">
                <a:solidFill>
                  <a:srgbClr val="273239"/>
                </a:solidFill>
                <a:effectLst/>
                <a:latin typeface="Nunito" pitchFamily="2" charset="0"/>
              </a:rPr>
              <a:t>ᵐ : n ≥ 1, m ≥ 1</a:t>
            </a:r>
            <a:r>
              <a:rPr lang="en-US" sz="1350" b="0" i="0" spc="12" dirty="0">
                <a:solidFill>
                  <a:srgbClr val="273239"/>
                </a:solidFill>
                <a:effectLst/>
                <a:latin typeface="Nunito" pitchFamily="2" charset="0"/>
              </a:rPr>
              <a:t> } ∪ { </a:t>
            </a:r>
            <a:r>
              <a:rPr lang="en-US" sz="1350" b="1" i="0" spc="10" dirty="0">
                <a:solidFill>
                  <a:srgbClr val="273239"/>
                </a:solidFill>
                <a:effectLst/>
                <a:latin typeface="Nunito" pitchFamily="2" charset="0"/>
              </a:rPr>
              <a:t>aⁿ</a:t>
            </a:r>
            <a:r>
              <a:rPr lang="en-US" sz="1350" b="1" i="0" spc="10" dirty="0" err="1">
                <a:solidFill>
                  <a:srgbClr val="273239"/>
                </a:solidFill>
                <a:effectLst/>
                <a:latin typeface="Nunito" pitchFamily="2" charset="0"/>
              </a:rPr>
              <a:t>bᵐcᵐd</a:t>
            </a:r>
            <a:r>
              <a:rPr lang="en-US" sz="1350" b="1" i="0" spc="10" dirty="0">
                <a:solidFill>
                  <a:srgbClr val="273239"/>
                </a:solidFill>
                <a:effectLst/>
                <a:latin typeface="Nunito" pitchFamily="2" charset="0"/>
              </a:rPr>
              <a:t>ⁿ : n ≥ 1, m ≥ 1</a:t>
            </a:r>
            <a:r>
              <a:rPr lang="en-US" sz="1350" b="0" i="0" spc="12" dirty="0">
                <a:solidFill>
                  <a:srgbClr val="273239"/>
                </a:solidFill>
                <a:effectLst/>
                <a:latin typeface="Nunito" pitchFamily="2" charset="0"/>
              </a:rPr>
              <a:t> }</a:t>
            </a:r>
            <a:endParaRPr lang="en-US" sz="1350" b="0" i="0" spc="1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A grammar for this language could be:</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1" i="0" spc="10" dirty="0">
                <a:solidFill>
                  <a:srgbClr val="273239"/>
                </a:solidFill>
                <a:effectLst/>
                <a:latin typeface="Nunito" pitchFamily="2" charset="0"/>
              </a:rPr>
              <a:t>S → AB | C</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1" i="0" spc="10" dirty="0">
                <a:solidFill>
                  <a:srgbClr val="273239"/>
                </a:solidFill>
                <a:effectLst/>
                <a:latin typeface="Nunito" pitchFamily="2" charset="0"/>
              </a:rPr>
              <a:t>A → </a:t>
            </a:r>
            <a:r>
              <a:rPr lang="en-US" sz="1350" b="1" i="0" spc="10" dirty="0" err="1">
                <a:solidFill>
                  <a:srgbClr val="273239"/>
                </a:solidFill>
                <a:effectLst/>
                <a:latin typeface="Nunito" pitchFamily="2" charset="0"/>
              </a:rPr>
              <a:t>aAb</a:t>
            </a:r>
            <a:r>
              <a:rPr lang="en-US" sz="1350" b="1" i="0" spc="10" dirty="0">
                <a:solidFill>
                  <a:srgbClr val="273239"/>
                </a:solidFill>
                <a:effectLst/>
                <a:latin typeface="Nunito" pitchFamily="2" charset="0"/>
              </a:rPr>
              <a:t> | ab</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1" i="0" spc="10" dirty="0">
                <a:solidFill>
                  <a:srgbClr val="273239"/>
                </a:solidFill>
                <a:effectLst/>
                <a:latin typeface="Nunito" pitchFamily="2" charset="0"/>
              </a:rPr>
              <a:t>B → </a:t>
            </a:r>
            <a:r>
              <a:rPr lang="en-US" sz="1350" b="1" i="0" spc="10" dirty="0" err="1">
                <a:solidFill>
                  <a:srgbClr val="273239"/>
                </a:solidFill>
                <a:effectLst/>
                <a:latin typeface="Nunito" pitchFamily="2" charset="0"/>
              </a:rPr>
              <a:t>cBd</a:t>
            </a:r>
            <a:r>
              <a:rPr lang="en-US" sz="1350" b="1" i="0" spc="10" dirty="0">
                <a:solidFill>
                  <a:srgbClr val="273239"/>
                </a:solidFill>
                <a:effectLst/>
                <a:latin typeface="Nunito" pitchFamily="2" charset="0"/>
              </a:rPr>
              <a:t> | cd</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1" i="0" spc="10" dirty="0">
                <a:solidFill>
                  <a:srgbClr val="273239"/>
                </a:solidFill>
                <a:effectLst/>
                <a:latin typeface="Nunito" pitchFamily="2" charset="0"/>
              </a:rPr>
              <a:t>C → </a:t>
            </a:r>
            <a:r>
              <a:rPr lang="en-US" sz="1350" b="1" i="0" spc="10" dirty="0" err="1">
                <a:solidFill>
                  <a:srgbClr val="273239"/>
                </a:solidFill>
                <a:effectLst/>
                <a:latin typeface="Nunito" pitchFamily="2" charset="0"/>
              </a:rPr>
              <a:t>aCd</a:t>
            </a:r>
            <a:r>
              <a:rPr lang="en-US" sz="1350" b="1" i="0" spc="10" dirty="0">
                <a:solidFill>
                  <a:srgbClr val="273239"/>
                </a:solidFill>
                <a:effectLst/>
                <a:latin typeface="Nunito" pitchFamily="2" charset="0"/>
              </a:rPr>
              <a:t> | </a:t>
            </a:r>
            <a:r>
              <a:rPr lang="en-US" sz="1350" b="1" i="0" spc="10" dirty="0" err="1">
                <a:solidFill>
                  <a:srgbClr val="273239"/>
                </a:solidFill>
                <a:effectLst/>
                <a:latin typeface="Nunito" pitchFamily="2" charset="0"/>
              </a:rPr>
              <a:t>aDd</a:t>
            </a:r>
            <a:endParaRPr lang="en-US" sz="135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350" b="1" i="0" spc="10" dirty="0">
                <a:solidFill>
                  <a:srgbClr val="273239"/>
                </a:solidFill>
                <a:effectLst/>
                <a:latin typeface="Nunito" pitchFamily="2" charset="0"/>
              </a:rPr>
              <a:t>D → </a:t>
            </a:r>
            <a:r>
              <a:rPr lang="en-US" sz="1350" b="1" i="0" spc="10" dirty="0" err="1">
                <a:solidFill>
                  <a:srgbClr val="273239"/>
                </a:solidFill>
                <a:effectLst/>
                <a:latin typeface="Nunito" pitchFamily="2" charset="0"/>
              </a:rPr>
              <a:t>bDc</a:t>
            </a:r>
            <a:r>
              <a:rPr lang="en-US" sz="1350" b="1" i="0" spc="10" dirty="0">
                <a:solidFill>
                  <a:srgbClr val="273239"/>
                </a:solidFill>
                <a:effectLst/>
                <a:latin typeface="Nunito" pitchFamily="2" charset="0"/>
              </a:rPr>
              <a:t> | </a:t>
            </a:r>
            <a:r>
              <a:rPr lang="en-US" sz="1350" b="1" i="0" spc="10" dirty="0" err="1">
                <a:solidFill>
                  <a:srgbClr val="273239"/>
                </a:solidFill>
                <a:effectLst/>
                <a:latin typeface="Nunito" pitchFamily="2" charset="0"/>
              </a:rPr>
              <a:t>bc</a:t>
            </a:r>
            <a:endParaRPr lang="en-US" sz="1350" b="0" i="0" spc="1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Let’s see how the string </a:t>
            </a:r>
            <a:r>
              <a:rPr lang="en-US" sz="1350" b="1" i="0" spc="10" dirty="0" err="1">
                <a:solidFill>
                  <a:srgbClr val="273239"/>
                </a:solidFill>
                <a:effectLst/>
                <a:latin typeface="Nunito" pitchFamily="2" charset="0"/>
              </a:rPr>
              <a:t>aabbccdd</a:t>
            </a:r>
            <a:r>
              <a:rPr lang="en-US" sz="1350" b="0" i="0" spc="12" dirty="0">
                <a:solidFill>
                  <a:srgbClr val="273239"/>
                </a:solidFill>
                <a:effectLst/>
                <a:latin typeface="Nunito" pitchFamily="2" charset="0"/>
              </a:rPr>
              <a:t> can be parsed. This string has two possible leftmost derivations:</a:t>
            </a:r>
            <a:endParaRPr lang="en-US" sz="1350" b="0" i="0" spc="10" dirty="0">
              <a:solidFill>
                <a:srgbClr val="273239"/>
              </a:solidFill>
              <a:effectLst/>
              <a:latin typeface="Nunito" pitchFamily="2" charset="0"/>
            </a:endParaRPr>
          </a:p>
        </p:txBody>
      </p:sp>
      <p:pic>
        <p:nvPicPr>
          <p:cNvPr id="6" name="Picture 5" descr="ambiguous_grammar_2">
            <a:extLst>
              <a:ext uri="{FF2B5EF4-FFF2-40B4-BE49-F238E27FC236}">
                <a16:creationId xmlns:a16="http://schemas.microsoft.com/office/drawing/2014/main" id="{C2D62395-2B18-94B1-EFBD-CBE21D3DA9AB}"/>
              </a:ext>
            </a:extLst>
          </p:cNvPr>
          <p:cNvPicPr>
            <a:picLocks noChangeAspect="1"/>
          </p:cNvPicPr>
          <p:nvPr/>
        </p:nvPicPr>
        <p:blipFill>
          <a:blip r:embed="rId2"/>
          <a:stretch>
            <a:fillRect/>
          </a:stretch>
        </p:blipFill>
        <p:spPr>
          <a:xfrm>
            <a:off x="144018" y="3849088"/>
            <a:ext cx="5951982" cy="2660356"/>
          </a:xfrm>
          <a:prstGeom prst="rect">
            <a:avLst/>
          </a:prstGeom>
        </p:spPr>
      </p:pic>
    </p:spTree>
    <p:extLst>
      <p:ext uri="{BB962C8B-B14F-4D97-AF65-F5344CB8AC3E}">
        <p14:creationId xmlns:p14="http://schemas.microsoft.com/office/powerpoint/2010/main" val="238458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C59A6-A7A2-98F0-F02A-E7D4DCB319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D9CFBB-0E43-48FA-1DB6-5A18B8953A5B}"/>
              </a:ext>
            </a:extLst>
          </p:cNvPr>
          <p:cNvSpPr txBox="1"/>
          <p:nvPr/>
        </p:nvSpPr>
        <p:spPr>
          <a:xfrm>
            <a:off x="706374" y="618055"/>
            <a:ext cx="6094476" cy="300082"/>
          </a:xfrm>
          <a:prstGeom prst="rect">
            <a:avLst/>
          </a:prstGeom>
          <a:noFill/>
        </p:spPr>
        <p:txBody>
          <a:bodyPr wrap="square">
            <a:spAutoFit/>
          </a:bodyPr>
          <a:lstStyle/>
          <a:p>
            <a:r>
              <a:rPr lang="en-US" sz="1350" b="1" i="0" spc="10" dirty="0">
                <a:solidFill>
                  <a:srgbClr val="273239"/>
                </a:solidFill>
                <a:effectLst/>
                <a:latin typeface="Nunito" pitchFamily="2" charset="0"/>
              </a:rPr>
              <a:t>Q3: Example</a:t>
            </a:r>
            <a:r>
              <a:rPr lang="en-US" sz="1350" b="0" i="0" spc="12" dirty="0">
                <a:solidFill>
                  <a:srgbClr val="273239"/>
                </a:solidFill>
                <a:effectLst/>
                <a:latin typeface="Nunito" pitchFamily="2" charset="0"/>
              </a:rPr>
              <a:t>:</a:t>
            </a:r>
            <a:r>
              <a:rPr lang="en-US" sz="1350" b="1" i="0" spc="10" dirty="0">
                <a:solidFill>
                  <a:srgbClr val="273239"/>
                </a:solidFill>
                <a:effectLst/>
                <a:latin typeface="Nunito" pitchFamily="2" charset="0"/>
              </a:rPr>
              <a:t> S → SaS | ε</a:t>
            </a:r>
            <a:endParaRPr lang="en-US" dirty="0"/>
          </a:p>
        </p:txBody>
      </p:sp>
      <p:pic>
        <p:nvPicPr>
          <p:cNvPr id="7" name="Picture 6" descr="ambiguous_grammar_4">
            <a:extLst>
              <a:ext uri="{FF2B5EF4-FFF2-40B4-BE49-F238E27FC236}">
                <a16:creationId xmlns:a16="http://schemas.microsoft.com/office/drawing/2014/main" id="{CF093E3D-47FD-06DA-2FB9-A115305432E6}"/>
              </a:ext>
            </a:extLst>
          </p:cNvPr>
          <p:cNvPicPr>
            <a:picLocks noChangeAspect="1"/>
          </p:cNvPicPr>
          <p:nvPr/>
        </p:nvPicPr>
        <p:blipFill>
          <a:blip r:embed="rId2"/>
          <a:stretch>
            <a:fillRect/>
          </a:stretch>
        </p:blipFill>
        <p:spPr>
          <a:xfrm>
            <a:off x="841817" y="1177574"/>
            <a:ext cx="8383910" cy="4191955"/>
          </a:xfrm>
          <a:prstGeom prst="rect">
            <a:avLst/>
          </a:prstGeom>
        </p:spPr>
      </p:pic>
    </p:spTree>
    <p:extLst>
      <p:ext uri="{BB962C8B-B14F-4D97-AF65-F5344CB8AC3E}">
        <p14:creationId xmlns:p14="http://schemas.microsoft.com/office/powerpoint/2010/main" val="453968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11CC9-4444-33FE-1CE6-256B1CAEA2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F5D547A-8271-1460-8A4F-7152ABFBC05F}"/>
              </a:ext>
            </a:extLst>
          </p:cNvPr>
          <p:cNvSpPr txBox="1"/>
          <p:nvPr/>
        </p:nvSpPr>
        <p:spPr>
          <a:xfrm>
            <a:off x="752094" y="599767"/>
            <a:ext cx="6094476" cy="300082"/>
          </a:xfrm>
          <a:prstGeom prst="rect">
            <a:avLst/>
          </a:prstGeom>
          <a:noFill/>
        </p:spPr>
        <p:txBody>
          <a:bodyPr wrap="square">
            <a:spAutoFit/>
          </a:bodyPr>
          <a:lstStyle/>
          <a:p>
            <a:r>
              <a:rPr lang="en-US" sz="1350" b="1" i="0" spc="10" dirty="0">
                <a:solidFill>
                  <a:srgbClr val="273239"/>
                </a:solidFill>
                <a:effectLst/>
                <a:latin typeface="Nunito" pitchFamily="2" charset="0"/>
              </a:rPr>
              <a:t>Q4: Example: S → </a:t>
            </a:r>
            <a:r>
              <a:rPr lang="en-US" sz="1350" b="1" i="0" spc="10" dirty="0" err="1">
                <a:solidFill>
                  <a:srgbClr val="273239"/>
                </a:solidFill>
                <a:effectLst/>
                <a:latin typeface="Nunito" pitchFamily="2" charset="0"/>
              </a:rPr>
              <a:t>aB</a:t>
            </a:r>
            <a:r>
              <a:rPr lang="en-US" sz="1350" b="1" i="0" spc="10" dirty="0">
                <a:solidFill>
                  <a:srgbClr val="273239"/>
                </a:solidFill>
                <a:effectLst/>
                <a:latin typeface="Nunito" pitchFamily="2" charset="0"/>
              </a:rPr>
              <a:t> | ab , A → AB | a , B → Abb | b</a:t>
            </a:r>
            <a:endParaRPr lang="en-US" dirty="0"/>
          </a:p>
        </p:txBody>
      </p:sp>
      <p:pic>
        <p:nvPicPr>
          <p:cNvPr id="5" name="Picture 4" descr="ambiguous_grammar_3">
            <a:extLst>
              <a:ext uri="{FF2B5EF4-FFF2-40B4-BE49-F238E27FC236}">
                <a16:creationId xmlns:a16="http://schemas.microsoft.com/office/drawing/2014/main" id="{807BEE80-AB8C-A8F9-7F27-63892228B75C}"/>
              </a:ext>
            </a:extLst>
          </p:cNvPr>
          <p:cNvPicPr>
            <a:picLocks noChangeAspect="1"/>
          </p:cNvPicPr>
          <p:nvPr/>
        </p:nvPicPr>
        <p:blipFill>
          <a:blip r:embed="rId2"/>
          <a:stretch>
            <a:fillRect/>
          </a:stretch>
        </p:blipFill>
        <p:spPr>
          <a:xfrm>
            <a:off x="852025" y="1329336"/>
            <a:ext cx="6286500" cy="3038475"/>
          </a:xfrm>
          <a:prstGeom prst="rect">
            <a:avLst/>
          </a:prstGeom>
        </p:spPr>
      </p:pic>
    </p:spTree>
    <p:extLst>
      <p:ext uri="{BB962C8B-B14F-4D97-AF65-F5344CB8AC3E}">
        <p14:creationId xmlns:p14="http://schemas.microsoft.com/office/powerpoint/2010/main" val="2451374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8E138-F0A7-AFF1-4A7F-C1C23A49F6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23DED10-68B6-AEBA-1978-0D79C24BB7D3}"/>
              </a:ext>
            </a:extLst>
          </p:cNvPr>
          <p:cNvSpPr txBox="1"/>
          <p:nvPr/>
        </p:nvSpPr>
        <p:spPr>
          <a:xfrm>
            <a:off x="505206" y="324546"/>
            <a:ext cx="11436858" cy="2167260"/>
          </a:xfrm>
          <a:prstGeom prst="rect">
            <a:avLst/>
          </a:prstGeom>
          <a:noFill/>
        </p:spPr>
        <p:txBody>
          <a:bodyPr wrap="square">
            <a:spAutoFit/>
          </a:bodyPr>
          <a:lstStyle/>
          <a:p>
            <a:pPr indent="0" algn="just">
              <a:lnSpc>
                <a:spcPts val="2625"/>
              </a:lnSpc>
              <a:buNone/>
            </a:pPr>
            <a:r>
              <a:rPr lang="en-US" sz="2000" b="1" i="0" dirty="0">
                <a:solidFill>
                  <a:srgbClr val="000000"/>
                </a:solidFill>
                <a:effectLst/>
                <a:latin typeface="arial" panose="020B0604020202020204" pitchFamily="34" charset="0"/>
              </a:rPr>
              <a:t>Removal of Ambiguity from CFG</a:t>
            </a:r>
            <a:endParaRPr lang="en-US" sz="2000" b="0" i="0" dirty="0">
              <a:solidFill>
                <a:srgbClr val="000000"/>
              </a:solidFill>
              <a:effectLst/>
              <a:latin typeface="Lato" panose="020F0502020204030203" pitchFamily="34" charset="0"/>
            </a:endParaRPr>
          </a:p>
          <a:p>
            <a:pPr indent="0" algn="just">
              <a:buNone/>
            </a:pPr>
            <a:r>
              <a:rPr lang="en-US" sz="1400" b="0" i="0" dirty="0">
                <a:solidFill>
                  <a:srgbClr val="000000"/>
                </a:solidFill>
                <a:effectLst/>
                <a:latin typeface="arial" panose="020B0604020202020204" pitchFamily="34" charset="0"/>
              </a:rPr>
              <a:t>Conversion from an ambiguous grammar into an unambiguous grammar</a:t>
            </a:r>
            <a:r>
              <a:rPr lang="en-US" sz="1400" b="1" i="0" dirty="0">
                <a:solidFill>
                  <a:srgbClr val="000000"/>
                </a:solidFill>
                <a:effectLst/>
                <a:latin typeface="arial" panose="020B0604020202020204" pitchFamily="34" charset="0"/>
              </a:rPr>
              <a:t> is not always possible</a:t>
            </a:r>
            <a:r>
              <a:rPr lang="en-US" sz="1400" b="0" i="0" dirty="0">
                <a:solidFill>
                  <a:srgbClr val="000000"/>
                </a:solidFill>
                <a:effectLst/>
                <a:latin typeface="arial" panose="020B0604020202020204" pitchFamily="34" charset="0"/>
              </a:rPr>
              <a:t>. Several methods are employed to eliminate ambiguity from the CFG. Some common methods are given below.</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By fixing the grammar</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By adding the precedence rules</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By adding grouping rules</a:t>
            </a:r>
            <a:endParaRPr lang="en-US" sz="1400" b="0" i="0" dirty="0">
              <a:solidFill>
                <a:srgbClr val="000000"/>
              </a:solidFill>
              <a:effectLst/>
              <a:latin typeface="Lato" panose="020F0502020204030203" pitchFamily="34" charset="0"/>
            </a:endParaRPr>
          </a:p>
          <a:p>
            <a:pPr marL="342900" lvl="0" indent="-342900" algn="just" fontAlgn="base">
              <a:spcBef>
                <a:spcPts val="545"/>
              </a:spcBef>
              <a:spcAft>
                <a:spcPts val="517"/>
              </a:spcAft>
              <a:buFont typeface="Arial" panose="020B0604020202020204" pitchFamily="34" charset="0"/>
              <a:buChar char="•"/>
            </a:pPr>
            <a:r>
              <a:rPr lang="en-US" sz="1400" b="0" i="0" dirty="0">
                <a:solidFill>
                  <a:srgbClr val="000000"/>
                </a:solidFill>
                <a:effectLst/>
                <a:latin typeface="arial" panose="020B0604020202020204" pitchFamily="34" charset="0"/>
              </a:rPr>
              <a:t>By using semantics</a:t>
            </a:r>
            <a:endParaRPr lang="en-US" sz="1400" b="0" i="0" dirty="0">
              <a:solidFill>
                <a:srgbClr val="000000"/>
              </a:solidFill>
              <a:effectLst/>
              <a:latin typeface="Lato" panose="020F0502020204030203" pitchFamily="34" charset="0"/>
            </a:endParaRPr>
          </a:p>
        </p:txBody>
      </p:sp>
      <p:pic>
        <p:nvPicPr>
          <p:cNvPr id="7" name="Picture 6">
            <a:extLst>
              <a:ext uri="{FF2B5EF4-FFF2-40B4-BE49-F238E27FC236}">
                <a16:creationId xmlns:a16="http://schemas.microsoft.com/office/drawing/2014/main" id="{CC7F8CE8-7280-1352-9BD5-A7D43F190DB8}"/>
              </a:ext>
            </a:extLst>
          </p:cNvPr>
          <p:cNvPicPr>
            <a:picLocks noChangeAspect="1"/>
          </p:cNvPicPr>
          <p:nvPr/>
        </p:nvPicPr>
        <p:blipFill>
          <a:blip r:embed="rId2"/>
          <a:stretch>
            <a:fillRect/>
          </a:stretch>
        </p:blipFill>
        <p:spPr>
          <a:xfrm>
            <a:off x="690880" y="2627130"/>
            <a:ext cx="7099808" cy="3774349"/>
          </a:xfrm>
          <a:prstGeom prst="rect">
            <a:avLst/>
          </a:prstGeom>
        </p:spPr>
      </p:pic>
    </p:spTree>
    <p:extLst>
      <p:ext uri="{BB962C8B-B14F-4D97-AF65-F5344CB8AC3E}">
        <p14:creationId xmlns:p14="http://schemas.microsoft.com/office/powerpoint/2010/main" val="1158932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BDBA1-725F-A978-7472-8D9D69B4AA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28B1E5-6127-4C5C-8CA9-9E0743ED516A}"/>
              </a:ext>
            </a:extLst>
          </p:cNvPr>
          <p:cNvPicPr>
            <a:picLocks noChangeAspect="1"/>
          </p:cNvPicPr>
          <p:nvPr/>
        </p:nvPicPr>
        <p:blipFill>
          <a:blip r:embed="rId2"/>
          <a:srcRect t="29241" b="25731"/>
          <a:stretch>
            <a:fillRect/>
          </a:stretch>
        </p:blipFill>
        <p:spPr>
          <a:xfrm>
            <a:off x="480244" y="228600"/>
            <a:ext cx="4807197" cy="832104"/>
          </a:xfrm>
          <a:prstGeom prst="rect">
            <a:avLst/>
          </a:prstGeom>
        </p:spPr>
      </p:pic>
      <p:pic>
        <p:nvPicPr>
          <p:cNvPr id="6" name="Picture 5">
            <a:extLst>
              <a:ext uri="{FF2B5EF4-FFF2-40B4-BE49-F238E27FC236}">
                <a16:creationId xmlns:a16="http://schemas.microsoft.com/office/drawing/2014/main" id="{666D4F6A-A02C-9D4D-90E9-D0542FAC4D43}"/>
              </a:ext>
            </a:extLst>
          </p:cNvPr>
          <p:cNvPicPr>
            <a:picLocks noChangeAspect="1"/>
          </p:cNvPicPr>
          <p:nvPr/>
        </p:nvPicPr>
        <p:blipFill>
          <a:blip r:embed="rId3"/>
          <a:stretch>
            <a:fillRect/>
          </a:stretch>
        </p:blipFill>
        <p:spPr>
          <a:xfrm>
            <a:off x="536049" y="1194741"/>
            <a:ext cx="5559951" cy="3380450"/>
          </a:xfrm>
          <a:prstGeom prst="rect">
            <a:avLst/>
          </a:prstGeom>
        </p:spPr>
      </p:pic>
      <p:pic>
        <p:nvPicPr>
          <p:cNvPr id="9" name="Picture 8">
            <a:extLst>
              <a:ext uri="{FF2B5EF4-FFF2-40B4-BE49-F238E27FC236}">
                <a16:creationId xmlns:a16="http://schemas.microsoft.com/office/drawing/2014/main" id="{D58A0B0A-E243-20B0-51CE-35CF449FD919}"/>
              </a:ext>
            </a:extLst>
          </p:cNvPr>
          <p:cNvPicPr>
            <a:picLocks noChangeAspect="1"/>
          </p:cNvPicPr>
          <p:nvPr/>
        </p:nvPicPr>
        <p:blipFill>
          <a:blip r:embed="rId4"/>
          <a:stretch>
            <a:fillRect/>
          </a:stretch>
        </p:blipFill>
        <p:spPr>
          <a:xfrm>
            <a:off x="642490" y="4993299"/>
            <a:ext cx="5054860" cy="1339919"/>
          </a:xfrm>
          <a:prstGeom prst="rect">
            <a:avLst/>
          </a:prstGeom>
        </p:spPr>
      </p:pic>
      <p:pic>
        <p:nvPicPr>
          <p:cNvPr id="11" name="Picture 10">
            <a:extLst>
              <a:ext uri="{FF2B5EF4-FFF2-40B4-BE49-F238E27FC236}">
                <a16:creationId xmlns:a16="http://schemas.microsoft.com/office/drawing/2014/main" id="{5AACD876-D609-6BD0-345D-09C812C66779}"/>
              </a:ext>
            </a:extLst>
          </p:cNvPr>
          <p:cNvPicPr>
            <a:picLocks noChangeAspect="1"/>
          </p:cNvPicPr>
          <p:nvPr/>
        </p:nvPicPr>
        <p:blipFill>
          <a:blip r:embed="rId5"/>
          <a:stretch>
            <a:fillRect/>
          </a:stretch>
        </p:blipFill>
        <p:spPr>
          <a:xfrm>
            <a:off x="5783730" y="4876122"/>
            <a:ext cx="6161035" cy="1574271"/>
          </a:xfrm>
          <a:prstGeom prst="rect">
            <a:avLst/>
          </a:prstGeom>
        </p:spPr>
      </p:pic>
    </p:spTree>
    <p:extLst>
      <p:ext uri="{BB962C8B-B14F-4D97-AF65-F5344CB8AC3E}">
        <p14:creationId xmlns:p14="http://schemas.microsoft.com/office/powerpoint/2010/main" val="1126829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C8613-6511-8AF3-405A-5C7FC7D1BD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AE8509E-3E98-80A6-9084-3FBA4CBE5B28}"/>
              </a:ext>
            </a:extLst>
          </p:cNvPr>
          <p:cNvPicPr>
            <a:picLocks noChangeAspect="1"/>
          </p:cNvPicPr>
          <p:nvPr/>
        </p:nvPicPr>
        <p:blipFill>
          <a:blip r:embed="rId2"/>
          <a:srcRect t="29241" b="25731"/>
          <a:stretch>
            <a:fillRect/>
          </a:stretch>
        </p:blipFill>
        <p:spPr>
          <a:xfrm>
            <a:off x="498532" y="0"/>
            <a:ext cx="4807197" cy="832104"/>
          </a:xfrm>
          <a:prstGeom prst="rect">
            <a:avLst/>
          </a:prstGeom>
        </p:spPr>
      </p:pic>
      <p:pic>
        <p:nvPicPr>
          <p:cNvPr id="4" name="Picture 3">
            <a:extLst>
              <a:ext uri="{FF2B5EF4-FFF2-40B4-BE49-F238E27FC236}">
                <a16:creationId xmlns:a16="http://schemas.microsoft.com/office/drawing/2014/main" id="{45B53D8B-A75B-FFA3-C924-2D18AEE97D5F}"/>
              </a:ext>
            </a:extLst>
          </p:cNvPr>
          <p:cNvPicPr>
            <a:picLocks noChangeAspect="1"/>
          </p:cNvPicPr>
          <p:nvPr/>
        </p:nvPicPr>
        <p:blipFill>
          <a:blip r:embed="rId3"/>
          <a:stretch>
            <a:fillRect/>
          </a:stretch>
        </p:blipFill>
        <p:spPr>
          <a:xfrm>
            <a:off x="650614" y="673262"/>
            <a:ext cx="3982869" cy="2404650"/>
          </a:xfrm>
          <a:prstGeom prst="rect">
            <a:avLst/>
          </a:prstGeom>
        </p:spPr>
      </p:pic>
      <p:pic>
        <p:nvPicPr>
          <p:cNvPr id="7" name="Picture 6">
            <a:extLst>
              <a:ext uri="{FF2B5EF4-FFF2-40B4-BE49-F238E27FC236}">
                <a16:creationId xmlns:a16="http://schemas.microsoft.com/office/drawing/2014/main" id="{559B7F58-880F-528C-8A6A-1F52515A994F}"/>
              </a:ext>
            </a:extLst>
          </p:cNvPr>
          <p:cNvPicPr>
            <a:picLocks noChangeAspect="1"/>
          </p:cNvPicPr>
          <p:nvPr/>
        </p:nvPicPr>
        <p:blipFill>
          <a:blip r:embed="rId4"/>
          <a:stretch>
            <a:fillRect/>
          </a:stretch>
        </p:blipFill>
        <p:spPr>
          <a:xfrm>
            <a:off x="498531" y="3154680"/>
            <a:ext cx="4807198" cy="3439633"/>
          </a:xfrm>
          <a:prstGeom prst="rect">
            <a:avLst/>
          </a:prstGeom>
        </p:spPr>
      </p:pic>
      <p:pic>
        <p:nvPicPr>
          <p:cNvPr id="10" name="Picture 9">
            <a:extLst>
              <a:ext uri="{FF2B5EF4-FFF2-40B4-BE49-F238E27FC236}">
                <a16:creationId xmlns:a16="http://schemas.microsoft.com/office/drawing/2014/main" id="{7FA2B3BB-AAA9-F7B4-DA03-11F4FCEBBA3B}"/>
              </a:ext>
            </a:extLst>
          </p:cNvPr>
          <p:cNvPicPr>
            <a:picLocks noChangeAspect="1"/>
          </p:cNvPicPr>
          <p:nvPr/>
        </p:nvPicPr>
        <p:blipFill>
          <a:blip r:embed="rId5"/>
          <a:stretch>
            <a:fillRect/>
          </a:stretch>
        </p:blipFill>
        <p:spPr>
          <a:xfrm>
            <a:off x="6800991" y="832104"/>
            <a:ext cx="5097053" cy="3630168"/>
          </a:xfrm>
          <a:prstGeom prst="rect">
            <a:avLst/>
          </a:prstGeom>
        </p:spPr>
      </p:pic>
    </p:spTree>
    <p:extLst>
      <p:ext uri="{BB962C8B-B14F-4D97-AF65-F5344CB8AC3E}">
        <p14:creationId xmlns:p14="http://schemas.microsoft.com/office/powerpoint/2010/main" val="1864711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1546-3ADA-C11E-7774-63CD24DA051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6465D7-2E5F-BA17-5004-66B65866FB0A}"/>
              </a:ext>
            </a:extLst>
          </p:cNvPr>
          <p:cNvPicPr>
            <a:picLocks noChangeAspect="1"/>
          </p:cNvPicPr>
          <p:nvPr/>
        </p:nvPicPr>
        <p:blipFill>
          <a:blip r:embed="rId2"/>
          <a:srcRect t="29241" b="25731"/>
          <a:stretch>
            <a:fillRect/>
          </a:stretch>
        </p:blipFill>
        <p:spPr>
          <a:xfrm>
            <a:off x="498532" y="0"/>
            <a:ext cx="4807197" cy="832104"/>
          </a:xfrm>
          <a:prstGeom prst="rect">
            <a:avLst/>
          </a:prstGeom>
        </p:spPr>
      </p:pic>
      <p:pic>
        <p:nvPicPr>
          <p:cNvPr id="5" name="Picture 4">
            <a:extLst>
              <a:ext uri="{FF2B5EF4-FFF2-40B4-BE49-F238E27FC236}">
                <a16:creationId xmlns:a16="http://schemas.microsoft.com/office/drawing/2014/main" id="{1B22E83C-7361-5ACD-C5DF-AF32A1C11956}"/>
              </a:ext>
            </a:extLst>
          </p:cNvPr>
          <p:cNvPicPr>
            <a:picLocks noChangeAspect="1"/>
          </p:cNvPicPr>
          <p:nvPr/>
        </p:nvPicPr>
        <p:blipFill>
          <a:blip r:embed="rId3"/>
          <a:stretch>
            <a:fillRect/>
          </a:stretch>
        </p:blipFill>
        <p:spPr>
          <a:xfrm>
            <a:off x="32512" y="2414016"/>
            <a:ext cx="5837936" cy="3691082"/>
          </a:xfrm>
          <a:prstGeom prst="rect">
            <a:avLst/>
          </a:prstGeom>
        </p:spPr>
      </p:pic>
      <p:pic>
        <p:nvPicPr>
          <p:cNvPr id="8" name="Picture 7">
            <a:extLst>
              <a:ext uri="{FF2B5EF4-FFF2-40B4-BE49-F238E27FC236}">
                <a16:creationId xmlns:a16="http://schemas.microsoft.com/office/drawing/2014/main" id="{94AA497C-DE92-D933-E0E4-9B8CC01B7314}"/>
              </a:ext>
            </a:extLst>
          </p:cNvPr>
          <p:cNvPicPr>
            <a:picLocks noChangeAspect="1"/>
          </p:cNvPicPr>
          <p:nvPr/>
        </p:nvPicPr>
        <p:blipFill>
          <a:blip r:embed="rId4"/>
          <a:stretch>
            <a:fillRect/>
          </a:stretch>
        </p:blipFill>
        <p:spPr>
          <a:xfrm>
            <a:off x="5397169" y="610887"/>
            <a:ext cx="6689093" cy="3587969"/>
          </a:xfrm>
          <a:prstGeom prst="rect">
            <a:avLst/>
          </a:prstGeom>
        </p:spPr>
      </p:pic>
    </p:spTree>
    <p:extLst>
      <p:ext uri="{BB962C8B-B14F-4D97-AF65-F5344CB8AC3E}">
        <p14:creationId xmlns:p14="http://schemas.microsoft.com/office/powerpoint/2010/main" val="1692884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1E630-99B8-EFD7-6B3A-3C9493B2C5C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F28B5D-8B3A-5506-E7D5-2DDACB4A84D3}"/>
              </a:ext>
            </a:extLst>
          </p:cNvPr>
          <p:cNvPicPr>
            <a:picLocks noChangeAspect="1"/>
          </p:cNvPicPr>
          <p:nvPr/>
        </p:nvPicPr>
        <p:blipFill>
          <a:blip r:embed="rId2"/>
          <a:srcRect t="29241" b="25731"/>
          <a:stretch>
            <a:fillRect/>
          </a:stretch>
        </p:blipFill>
        <p:spPr>
          <a:xfrm>
            <a:off x="498532" y="0"/>
            <a:ext cx="4807197" cy="832104"/>
          </a:xfrm>
          <a:prstGeom prst="rect">
            <a:avLst/>
          </a:prstGeom>
        </p:spPr>
      </p:pic>
      <p:pic>
        <p:nvPicPr>
          <p:cNvPr id="4" name="Picture 3">
            <a:extLst>
              <a:ext uri="{FF2B5EF4-FFF2-40B4-BE49-F238E27FC236}">
                <a16:creationId xmlns:a16="http://schemas.microsoft.com/office/drawing/2014/main" id="{4C456D80-37F3-E8B2-8CF3-DB8181CCA338}"/>
              </a:ext>
            </a:extLst>
          </p:cNvPr>
          <p:cNvPicPr>
            <a:picLocks noChangeAspect="1"/>
          </p:cNvPicPr>
          <p:nvPr/>
        </p:nvPicPr>
        <p:blipFill>
          <a:blip r:embed="rId3"/>
          <a:stretch>
            <a:fillRect/>
          </a:stretch>
        </p:blipFill>
        <p:spPr>
          <a:xfrm>
            <a:off x="690275" y="1116618"/>
            <a:ext cx="4615453" cy="4450615"/>
          </a:xfrm>
          <a:prstGeom prst="rect">
            <a:avLst/>
          </a:prstGeom>
        </p:spPr>
      </p:pic>
      <p:pic>
        <p:nvPicPr>
          <p:cNvPr id="7" name="Picture 6">
            <a:extLst>
              <a:ext uri="{FF2B5EF4-FFF2-40B4-BE49-F238E27FC236}">
                <a16:creationId xmlns:a16="http://schemas.microsoft.com/office/drawing/2014/main" id="{D3A1CE8B-7A88-8662-BE66-28A7D562A798}"/>
              </a:ext>
            </a:extLst>
          </p:cNvPr>
          <p:cNvPicPr>
            <a:picLocks noChangeAspect="1"/>
          </p:cNvPicPr>
          <p:nvPr/>
        </p:nvPicPr>
        <p:blipFill>
          <a:blip r:embed="rId4"/>
          <a:stretch>
            <a:fillRect/>
          </a:stretch>
        </p:blipFill>
        <p:spPr>
          <a:xfrm>
            <a:off x="5635149" y="1223722"/>
            <a:ext cx="5783877" cy="2991661"/>
          </a:xfrm>
          <a:prstGeom prst="rect">
            <a:avLst/>
          </a:prstGeom>
        </p:spPr>
      </p:pic>
    </p:spTree>
    <p:extLst>
      <p:ext uri="{BB962C8B-B14F-4D97-AF65-F5344CB8AC3E}">
        <p14:creationId xmlns:p14="http://schemas.microsoft.com/office/powerpoint/2010/main" val="13688480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9EFB9E-DD0D-F9EF-309F-8607B1A0249A}"/>
              </a:ext>
            </a:extLst>
          </p:cNvPr>
          <p:cNvSpPr txBox="1"/>
          <p:nvPr/>
        </p:nvSpPr>
        <p:spPr>
          <a:xfrm>
            <a:off x="486918" y="387605"/>
            <a:ext cx="6094476" cy="413511"/>
          </a:xfrm>
          <a:prstGeom prst="rect">
            <a:avLst/>
          </a:prstGeom>
          <a:noFill/>
        </p:spPr>
        <p:txBody>
          <a:bodyPr wrap="square">
            <a:spAutoFit/>
          </a:bodyPr>
          <a:lstStyle/>
          <a:p>
            <a:pPr marL="0" marR="0" indent="0" algn="l">
              <a:lnSpc>
                <a:spcPts val="2625"/>
              </a:lnSpc>
              <a:buNone/>
            </a:pPr>
            <a:r>
              <a:rPr lang="en-US" sz="2100" b="1" i="0" dirty="0">
                <a:solidFill>
                  <a:srgbClr val="273239"/>
                </a:solidFill>
                <a:effectLst/>
                <a:latin typeface="Source Sans 3"/>
              </a:rPr>
              <a:t>Closure Properties of Context Free Languages</a:t>
            </a:r>
          </a:p>
        </p:txBody>
      </p:sp>
      <p:sp>
        <p:nvSpPr>
          <p:cNvPr id="5" name="TextBox 4">
            <a:extLst>
              <a:ext uri="{FF2B5EF4-FFF2-40B4-BE49-F238E27FC236}">
                <a16:creationId xmlns:a16="http://schemas.microsoft.com/office/drawing/2014/main" id="{552DDC44-203A-17BA-4408-782C8D4AE794}"/>
              </a:ext>
            </a:extLst>
          </p:cNvPr>
          <p:cNvSpPr txBox="1"/>
          <p:nvPr/>
        </p:nvSpPr>
        <p:spPr>
          <a:xfrm>
            <a:off x="486918" y="976882"/>
            <a:ext cx="11436858" cy="3318857"/>
          </a:xfrm>
          <a:prstGeom prst="rect">
            <a:avLst/>
          </a:prstGeom>
          <a:noFill/>
        </p:spPr>
        <p:txBody>
          <a:bodyPr wrap="square">
            <a:spAutoFit/>
          </a:bodyPr>
          <a:lstStyle/>
          <a:p>
            <a:pPr marL="0" marR="0" indent="0" algn="just" rtl="0" fontAlgn="base">
              <a:spcAft>
                <a:spcPts val="750"/>
              </a:spcAft>
              <a:buNone/>
            </a:pPr>
            <a:r>
              <a:rPr lang="en-US" sz="1600" b="0" i="0" spc="12" dirty="0">
                <a:solidFill>
                  <a:srgbClr val="273239"/>
                </a:solidFill>
                <a:effectLst/>
                <a:latin typeface="Nunito" pitchFamily="2" charset="0"/>
              </a:rPr>
              <a:t>Context-Free Languages (CFLs) form an important class of languages in automata theory and formal language theory. These languages are generated using context-free grammars (CFGs) and are recognized by pushdown automata (PDAs).</a:t>
            </a:r>
            <a:endParaRPr lang="en-US" sz="160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600" b="0" i="0" spc="12" dirty="0">
                <a:solidFill>
                  <a:srgbClr val="273239"/>
                </a:solidFill>
                <a:effectLst/>
                <a:latin typeface="Nunito" pitchFamily="2" charset="0"/>
              </a:rPr>
              <a:t>Context-Free Languages are generated by Context-Free Grammars (CFGs).</a:t>
            </a:r>
            <a:endParaRPr lang="en-US" sz="160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600" b="0" i="0" spc="12" dirty="0">
                <a:solidFill>
                  <a:srgbClr val="273239"/>
                </a:solidFill>
                <a:effectLst/>
                <a:latin typeface="Nunito" pitchFamily="2" charset="0"/>
              </a:rPr>
              <a:t>CFLs are accepted and recognized by Pushdown Automata (PDAs).</a:t>
            </a:r>
            <a:endParaRPr lang="en-US" sz="160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600" b="0" i="0" spc="12" dirty="0">
                <a:solidFill>
                  <a:srgbClr val="273239"/>
                </a:solidFill>
                <a:effectLst/>
                <a:latin typeface="Nunito" pitchFamily="2" charset="0"/>
              </a:rPr>
              <a:t>Closure properties explain whether applying an operation to CFLs results in another CFL.</a:t>
            </a:r>
            <a:endParaRPr lang="en-US" sz="160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600" b="0" i="0" spc="12" dirty="0">
                <a:solidFill>
                  <a:srgbClr val="273239"/>
                </a:solidFill>
                <a:effectLst/>
                <a:latin typeface="Nunito" pitchFamily="2" charset="0"/>
              </a:rPr>
              <a:t>CFLs are closed under some operations, meaning the result is always a CFL.</a:t>
            </a:r>
            <a:endParaRPr lang="en-US" sz="160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600" b="0" i="0" spc="12" dirty="0">
                <a:solidFill>
                  <a:srgbClr val="273239"/>
                </a:solidFill>
                <a:effectLst/>
                <a:latin typeface="Nunito" pitchFamily="2" charset="0"/>
              </a:rPr>
              <a:t>CFLs are not closed under certain operations, which may produce non-context-free languages.</a:t>
            </a:r>
            <a:endParaRPr lang="en-US" sz="1600" b="0" i="0" spc="10" dirty="0">
              <a:solidFill>
                <a:srgbClr val="273239"/>
              </a:solidFill>
              <a:effectLst/>
              <a:latin typeface="Nunito" pitchFamily="2" charset="0"/>
            </a:endParaRPr>
          </a:p>
          <a:p>
            <a:pPr marL="342900" marR="0" lvl="0" indent="-342900" algn="l" fontAlgn="base">
              <a:spcAft>
                <a:spcPts val="1800"/>
              </a:spcAft>
              <a:buFont typeface="Arial" panose="020B0604020202020204" pitchFamily="34" charset="0"/>
              <a:buChar char="•"/>
            </a:pPr>
            <a:r>
              <a:rPr lang="en-US" sz="1600" b="0" i="0" spc="12" dirty="0">
                <a:solidFill>
                  <a:srgbClr val="273239"/>
                </a:solidFill>
                <a:effectLst/>
                <a:latin typeface="Nunito" pitchFamily="2" charset="0"/>
              </a:rPr>
              <a:t>A context-free grammar consists of production rules of the form A → α.</a:t>
            </a:r>
            <a:endParaRPr lang="en-US" sz="1600" b="0" i="0" spc="10" dirty="0">
              <a:solidFill>
                <a:srgbClr val="273239"/>
              </a:solidFill>
              <a:effectLst/>
              <a:latin typeface="Nunito" pitchFamily="2" charset="0"/>
            </a:endParaRPr>
          </a:p>
        </p:txBody>
      </p:sp>
      <p:sp>
        <p:nvSpPr>
          <p:cNvPr id="7" name="TextBox 6">
            <a:extLst>
              <a:ext uri="{FF2B5EF4-FFF2-40B4-BE49-F238E27FC236}">
                <a16:creationId xmlns:a16="http://schemas.microsoft.com/office/drawing/2014/main" id="{F0EC5ED2-1CD5-8B89-38DC-74D03AC1CFE4}"/>
              </a:ext>
            </a:extLst>
          </p:cNvPr>
          <p:cNvSpPr txBox="1"/>
          <p:nvPr/>
        </p:nvSpPr>
        <p:spPr>
          <a:xfrm>
            <a:off x="605790" y="4540601"/>
            <a:ext cx="9095994" cy="1610697"/>
          </a:xfrm>
          <a:prstGeom prst="rect">
            <a:avLst/>
          </a:prstGeom>
          <a:noFill/>
        </p:spPr>
        <p:txBody>
          <a:bodyPr wrap="square">
            <a:spAutoFit/>
          </a:bodyPr>
          <a:lstStyle/>
          <a:p>
            <a:pPr marL="0" marR="0" indent="0" algn="l" fontAlgn="base">
              <a:lnSpc>
                <a:spcPts val="2100"/>
              </a:lnSpc>
              <a:buNone/>
            </a:pPr>
            <a:r>
              <a:rPr lang="en-US" sz="1800" b="1" i="0" spc="10" dirty="0">
                <a:solidFill>
                  <a:srgbClr val="273239"/>
                </a:solidFill>
                <a:effectLst/>
                <a:latin typeface="Nunito" pitchFamily="2" charset="0"/>
              </a:rPr>
              <a:t>Properties of Context Free Languages</a:t>
            </a:r>
            <a:r>
              <a:rPr lang="en-US" sz="1800" b="1" i="0" spc="12" dirty="0">
                <a:solidFill>
                  <a:srgbClr val="273239"/>
                </a:solidFill>
                <a:effectLst/>
                <a:latin typeface="Nunito" pitchFamily="2" charset="0"/>
              </a:rPr>
              <a:t> </a:t>
            </a:r>
            <a:endParaRPr lang="en-US" sz="18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CFLs are closed under the following operations:</a:t>
            </a:r>
            <a:endParaRPr lang="en-US" sz="1350" b="0" i="0" spc="10" dirty="0">
              <a:solidFill>
                <a:srgbClr val="273239"/>
              </a:solidFill>
              <a:effectLst/>
              <a:latin typeface="Nunito" pitchFamily="2" charset="0"/>
            </a:endParaRPr>
          </a:p>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1. Union</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If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M</a:t>
            </a:r>
            <a:r>
              <a:rPr lang="en-US" sz="1350" b="0" i="0" spc="12" dirty="0">
                <a:solidFill>
                  <a:srgbClr val="273239"/>
                </a:solidFill>
                <a:effectLst/>
                <a:latin typeface="Nunito" pitchFamily="2" charset="0"/>
              </a:rPr>
              <a:t> are two context-free languages, then their union </a:t>
            </a:r>
            <a:r>
              <a:rPr lang="en-US" sz="1350" b="1" i="0" spc="10" dirty="0">
                <a:solidFill>
                  <a:srgbClr val="273239"/>
                </a:solidFill>
                <a:effectLst/>
                <a:latin typeface="Nunito" pitchFamily="2" charset="0"/>
              </a:rPr>
              <a:t>L ∪ M</a:t>
            </a:r>
            <a:r>
              <a:rPr lang="en-US" sz="1350" b="0" i="0" spc="12" dirty="0">
                <a:solidFill>
                  <a:srgbClr val="273239"/>
                </a:solidFill>
                <a:effectLst/>
                <a:latin typeface="Nunito" pitchFamily="2" charset="0"/>
              </a:rPr>
              <a:t> is also a CFL.</a:t>
            </a:r>
            <a:endParaRPr lang="en-US" sz="1350" b="0" i="0" spc="10" dirty="0">
              <a:solidFill>
                <a:srgbClr val="273239"/>
              </a:solidFill>
              <a:effectLst/>
              <a:latin typeface="Nunito" pitchFamily="2" charset="0"/>
            </a:endParaRPr>
          </a:p>
        </p:txBody>
      </p:sp>
    </p:spTree>
    <p:extLst>
      <p:ext uri="{BB962C8B-B14F-4D97-AF65-F5344CB8AC3E}">
        <p14:creationId xmlns:p14="http://schemas.microsoft.com/office/powerpoint/2010/main" val="3096860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38D88-39C8-DA8C-5F5B-EA2B9517B9E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206418-E166-5FF3-F621-2626508ABA86}"/>
              </a:ext>
            </a:extLst>
          </p:cNvPr>
          <p:cNvSpPr txBox="1"/>
          <p:nvPr/>
        </p:nvSpPr>
        <p:spPr>
          <a:xfrm>
            <a:off x="523494" y="313058"/>
            <a:ext cx="11080242" cy="1926168"/>
          </a:xfrm>
          <a:prstGeom prst="rect">
            <a:avLst/>
          </a:prstGeom>
          <a:noFill/>
        </p:spPr>
        <p:txBody>
          <a:bodyPr wrap="square">
            <a:spAutoFit/>
          </a:bodyPr>
          <a:lstStyle/>
          <a:p>
            <a:pPr marL="0" marR="0" indent="0" algn="l" rtl="0" fontAlgn="base">
              <a:spcAft>
                <a:spcPts val="750"/>
              </a:spcAft>
              <a:buNone/>
            </a:pPr>
            <a:r>
              <a:rPr lang="en-US" sz="1350" b="1" i="0" spc="10" dirty="0">
                <a:solidFill>
                  <a:srgbClr val="273239"/>
                </a:solidFill>
                <a:effectLst/>
                <a:latin typeface="Nunito" pitchFamily="2" charset="0"/>
              </a:rPr>
              <a:t>Construction:</a:t>
            </a:r>
            <a:endParaRPr lang="en-US" sz="1350" b="0" i="0" spc="10" dirty="0">
              <a:solidFill>
                <a:srgbClr val="273239"/>
              </a:solidFill>
              <a:effectLst/>
              <a:latin typeface="Nunito" pitchFamily="2" charset="0"/>
            </a:endParaRPr>
          </a:p>
          <a:p>
            <a:pPr marL="342900" marR="0" lvl="0" indent="-342900" algn="l" fontAlgn="base">
              <a:spcAft>
                <a:spcPts val="1800"/>
              </a:spcAft>
              <a:buFont typeface="+mj-lt"/>
              <a:buAutoNum type="arabicPeriod"/>
            </a:pPr>
            <a:r>
              <a:rPr lang="en-US" sz="1350" b="0" i="0" spc="12" dirty="0">
                <a:solidFill>
                  <a:srgbClr val="273239"/>
                </a:solidFill>
                <a:effectLst/>
                <a:latin typeface="Nunito" pitchFamily="2" charset="0"/>
              </a:rPr>
              <a:t>Consider two context-free grammars, </a:t>
            </a:r>
            <a:r>
              <a:rPr lang="en-US" sz="1350" b="1" i="0" spc="10" dirty="0">
                <a:solidFill>
                  <a:srgbClr val="273239"/>
                </a:solidFill>
                <a:effectLst/>
                <a:latin typeface="Nunito" pitchFamily="2" charset="0"/>
              </a:rPr>
              <a:t>G</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H</a:t>
            </a:r>
            <a:r>
              <a:rPr lang="en-US" sz="1350" b="0" i="0" spc="12" dirty="0">
                <a:solidFill>
                  <a:srgbClr val="273239"/>
                </a:solidFill>
                <a:effectLst/>
                <a:latin typeface="Nunito" pitchFamily="2" charset="0"/>
              </a:rPr>
              <a:t>, for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M</a:t>
            </a:r>
            <a:r>
              <a:rPr lang="en-US" sz="1350" b="0" i="0" spc="12" dirty="0">
                <a:solidFill>
                  <a:srgbClr val="273239"/>
                </a:solidFill>
                <a:effectLst/>
                <a:latin typeface="Nunito" pitchFamily="2" charset="0"/>
              </a:rPr>
              <a:t> respectively.</a:t>
            </a:r>
            <a:endParaRPr lang="en-US" sz="1350" b="0" i="0" spc="10" dirty="0">
              <a:solidFill>
                <a:srgbClr val="273239"/>
              </a:solidFill>
              <a:effectLst/>
              <a:latin typeface="Nunito" pitchFamily="2" charset="0"/>
            </a:endParaRPr>
          </a:p>
          <a:p>
            <a:pPr marL="342900" marR="0" lvl="0" indent="-342900" algn="l" fontAlgn="base">
              <a:spcAft>
                <a:spcPts val="1800"/>
              </a:spcAft>
              <a:buFont typeface="+mj-lt"/>
              <a:buAutoNum type="arabicPeriod" startAt="2"/>
            </a:pPr>
            <a:r>
              <a:rPr lang="en-US" sz="1350" b="0" i="0" spc="12" dirty="0">
                <a:solidFill>
                  <a:srgbClr val="273239"/>
                </a:solidFill>
                <a:effectLst/>
                <a:latin typeface="Nunito" pitchFamily="2" charset="0"/>
              </a:rPr>
              <a:t>Assume that </a:t>
            </a:r>
            <a:r>
              <a:rPr lang="en-US" sz="1350" b="1" i="0" spc="10" dirty="0">
                <a:solidFill>
                  <a:srgbClr val="273239"/>
                </a:solidFill>
                <a:effectLst/>
                <a:latin typeface="Nunito" pitchFamily="2" charset="0"/>
              </a:rPr>
              <a:t>G</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H</a:t>
            </a:r>
            <a:r>
              <a:rPr lang="en-US" sz="1350" b="0" i="0" spc="12" dirty="0">
                <a:solidFill>
                  <a:srgbClr val="273239"/>
                </a:solidFill>
                <a:effectLst/>
                <a:latin typeface="Nunito" pitchFamily="2" charset="0"/>
              </a:rPr>
              <a:t> have no common variables (this can be ensured by renaming variables if needed).</a:t>
            </a:r>
            <a:endParaRPr lang="en-US" sz="1350" b="0" i="0" spc="10" dirty="0">
              <a:solidFill>
                <a:srgbClr val="273239"/>
              </a:solidFill>
              <a:effectLst/>
              <a:latin typeface="Nunito" pitchFamily="2" charset="0"/>
            </a:endParaRPr>
          </a:p>
          <a:p>
            <a:pPr marL="342900" marR="0" lvl="0" indent="-342900" algn="l" fontAlgn="base">
              <a:spcAft>
                <a:spcPts val="1800"/>
              </a:spcAft>
              <a:buFont typeface="+mj-lt"/>
              <a:buAutoNum type="arabicPeriod" startAt="3"/>
            </a:pPr>
            <a:r>
              <a:rPr lang="en-US" sz="1350" b="0" i="0" spc="12" dirty="0">
                <a:solidFill>
                  <a:srgbClr val="273239"/>
                </a:solidFill>
                <a:effectLst/>
                <a:latin typeface="Nunito" pitchFamily="2" charset="0"/>
              </a:rPr>
              <a:t>Introduce a new start symbol </a:t>
            </a:r>
            <a:r>
              <a:rPr lang="en-US" sz="1350" b="1" i="0" spc="10" dirty="0">
                <a:solidFill>
                  <a:srgbClr val="273239"/>
                </a:solidFill>
                <a:effectLst/>
                <a:latin typeface="Nunito" pitchFamily="2" charset="0"/>
              </a:rPr>
              <a:t>S</a:t>
            </a:r>
            <a:r>
              <a:rPr lang="en-US" sz="1350" b="0" i="0" spc="12" dirty="0">
                <a:solidFill>
                  <a:srgbClr val="273239"/>
                </a:solidFill>
                <a:effectLst/>
                <a:latin typeface="Nunito" pitchFamily="2" charset="0"/>
              </a:rPr>
              <a:t> and add the rule: </a:t>
            </a:r>
            <a:r>
              <a:rPr lang="en-US" sz="1350" b="1" i="0" spc="10" dirty="0">
                <a:solidFill>
                  <a:srgbClr val="273239"/>
                </a:solidFill>
                <a:effectLst/>
                <a:latin typeface="Nunito" pitchFamily="2" charset="0"/>
              </a:rPr>
              <a:t>S → S₁ | S₂ </a:t>
            </a:r>
            <a:r>
              <a:rPr lang="en-US" sz="1350" b="0" i="0" spc="12" dirty="0">
                <a:solidFill>
                  <a:srgbClr val="273239"/>
                </a:solidFill>
                <a:effectLst/>
                <a:latin typeface="Nunito" pitchFamily="2" charset="0"/>
              </a:rPr>
              <a:t>Here, </a:t>
            </a:r>
            <a:r>
              <a:rPr lang="en-US" sz="1350" b="1" i="0" spc="10" dirty="0">
                <a:solidFill>
                  <a:srgbClr val="273239"/>
                </a:solidFill>
                <a:effectLst/>
                <a:latin typeface="Nunito" pitchFamily="2" charset="0"/>
              </a:rPr>
              <a:t>S₁</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S₂</a:t>
            </a:r>
            <a:r>
              <a:rPr lang="en-US" sz="1350" b="0" i="0" spc="12" dirty="0">
                <a:solidFill>
                  <a:srgbClr val="273239"/>
                </a:solidFill>
                <a:effectLst/>
                <a:latin typeface="Nunito" pitchFamily="2" charset="0"/>
              </a:rPr>
              <a:t> are the start symbols of </a:t>
            </a:r>
            <a:r>
              <a:rPr lang="en-US" sz="1350" b="1" i="0" spc="10" dirty="0">
                <a:solidFill>
                  <a:srgbClr val="273239"/>
                </a:solidFill>
                <a:effectLst/>
                <a:latin typeface="Nunito" pitchFamily="2" charset="0"/>
              </a:rPr>
              <a:t>G</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H</a:t>
            </a:r>
            <a:r>
              <a:rPr lang="en-US" sz="1350" b="0" i="0" spc="12" dirty="0">
                <a:solidFill>
                  <a:srgbClr val="273239"/>
                </a:solidFill>
                <a:effectLst/>
                <a:latin typeface="Nunito" pitchFamily="2" charset="0"/>
              </a:rPr>
              <a:t>, respectively.</a:t>
            </a:r>
            <a:endParaRPr lang="en-US" sz="1350" b="0" i="0" spc="10" dirty="0">
              <a:solidFill>
                <a:srgbClr val="273239"/>
              </a:solidFill>
              <a:effectLst/>
              <a:latin typeface="Nunito" pitchFamily="2" charset="0"/>
            </a:endParaRPr>
          </a:p>
          <a:p>
            <a:pPr marL="342900" marR="0" lvl="0" indent="-342900" algn="l" fontAlgn="base">
              <a:spcAft>
                <a:spcPts val="1800"/>
              </a:spcAft>
              <a:buFont typeface="+mj-lt"/>
              <a:buAutoNum type="arabicPeriod" startAt="4"/>
            </a:pPr>
            <a:r>
              <a:rPr lang="en-US" sz="1350" b="0" i="0" spc="12" dirty="0">
                <a:solidFill>
                  <a:srgbClr val="273239"/>
                </a:solidFill>
                <a:effectLst/>
                <a:latin typeface="Nunito" pitchFamily="2" charset="0"/>
              </a:rPr>
              <a:t>The resulting grammar generates </a:t>
            </a:r>
            <a:r>
              <a:rPr lang="en-US" sz="1350" b="1" i="0" spc="10" dirty="0">
                <a:solidFill>
                  <a:srgbClr val="273239"/>
                </a:solidFill>
                <a:effectLst/>
                <a:latin typeface="Nunito" pitchFamily="2" charset="0"/>
              </a:rPr>
              <a:t>L ∪ M</a:t>
            </a:r>
            <a:r>
              <a:rPr lang="en-US" sz="1350" b="0" i="0" spc="12" dirty="0">
                <a:solidFill>
                  <a:srgbClr val="273239"/>
                </a:solidFill>
                <a:effectLst/>
                <a:latin typeface="Nunito" pitchFamily="2" charset="0"/>
              </a:rPr>
              <a:t>, proving that CFLs are closed under union.</a:t>
            </a:r>
            <a:endParaRPr lang="en-US" sz="1350" b="0" i="0" spc="10" dirty="0">
              <a:solidFill>
                <a:srgbClr val="273239"/>
              </a:solidFill>
              <a:effectLst/>
              <a:latin typeface="Nunito" pitchFamily="2" charset="0"/>
            </a:endParaRPr>
          </a:p>
        </p:txBody>
      </p:sp>
      <p:pic>
        <p:nvPicPr>
          <p:cNvPr id="6" name="Picture 5" descr="union_closed_">
            <a:extLst>
              <a:ext uri="{FF2B5EF4-FFF2-40B4-BE49-F238E27FC236}">
                <a16:creationId xmlns:a16="http://schemas.microsoft.com/office/drawing/2014/main" id="{C4927C7D-976C-7225-5B6B-9221592AEA64}"/>
              </a:ext>
            </a:extLst>
          </p:cNvPr>
          <p:cNvPicPr>
            <a:picLocks noChangeAspect="1"/>
          </p:cNvPicPr>
          <p:nvPr/>
        </p:nvPicPr>
        <p:blipFill>
          <a:blip r:embed="rId2"/>
          <a:stretch>
            <a:fillRect/>
          </a:stretch>
        </p:blipFill>
        <p:spPr>
          <a:xfrm>
            <a:off x="608229" y="2551175"/>
            <a:ext cx="5120669" cy="3436691"/>
          </a:xfrm>
          <a:prstGeom prst="rect">
            <a:avLst/>
          </a:prstGeom>
        </p:spPr>
      </p:pic>
      <p:sp>
        <p:nvSpPr>
          <p:cNvPr id="9" name="TextBox 8">
            <a:extLst>
              <a:ext uri="{FF2B5EF4-FFF2-40B4-BE49-F238E27FC236}">
                <a16:creationId xmlns:a16="http://schemas.microsoft.com/office/drawing/2014/main" id="{1F11E961-9F55-A4AF-25C1-B9905C444896}"/>
              </a:ext>
            </a:extLst>
          </p:cNvPr>
          <p:cNvSpPr txBox="1"/>
          <p:nvPr/>
        </p:nvSpPr>
        <p:spPr>
          <a:xfrm>
            <a:off x="6320790" y="2800291"/>
            <a:ext cx="6094476" cy="80021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2. Concatenation</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If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and </a:t>
            </a:r>
            <a:r>
              <a:rPr lang="en-US" sz="1350" b="1" i="0" spc="10" dirty="0">
                <a:solidFill>
                  <a:srgbClr val="273239"/>
                </a:solidFill>
                <a:effectLst/>
                <a:latin typeface="Nunito" pitchFamily="2" charset="0"/>
              </a:rPr>
              <a:t>M</a:t>
            </a:r>
            <a:r>
              <a:rPr lang="en-US" sz="1350" b="0" i="0" spc="12" dirty="0">
                <a:solidFill>
                  <a:srgbClr val="273239"/>
                </a:solidFill>
                <a:effectLst/>
                <a:latin typeface="Nunito" pitchFamily="2" charset="0"/>
              </a:rPr>
              <a:t> are CFLs, then their concatenation </a:t>
            </a:r>
            <a:r>
              <a:rPr lang="en-US" sz="1350" b="1" i="0" spc="10" dirty="0">
                <a:solidFill>
                  <a:srgbClr val="273239"/>
                </a:solidFill>
                <a:effectLst/>
                <a:latin typeface="Nunito" pitchFamily="2" charset="0"/>
              </a:rPr>
              <a:t>LM</a:t>
            </a:r>
            <a:r>
              <a:rPr lang="en-US" sz="1350" b="0" i="0" spc="12" dirty="0">
                <a:solidFill>
                  <a:srgbClr val="273239"/>
                </a:solidFill>
                <a:effectLst/>
                <a:latin typeface="Nunito" pitchFamily="2" charset="0"/>
              </a:rPr>
              <a:t> is also a CFL.</a:t>
            </a:r>
            <a:endParaRPr lang="en-US" sz="1350" b="0" i="0" spc="10" dirty="0">
              <a:solidFill>
                <a:srgbClr val="273239"/>
              </a:solidFill>
              <a:effectLst/>
              <a:latin typeface="Nunito" pitchFamily="2" charset="0"/>
            </a:endParaRPr>
          </a:p>
        </p:txBody>
      </p:sp>
      <p:pic>
        <p:nvPicPr>
          <p:cNvPr id="10" name="Picture 9" descr="concatenation_closed_">
            <a:extLst>
              <a:ext uri="{FF2B5EF4-FFF2-40B4-BE49-F238E27FC236}">
                <a16:creationId xmlns:a16="http://schemas.microsoft.com/office/drawing/2014/main" id="{57BFC3C6-1AB1-349C-1ABC-D4A87707A875}"/>
              </a:ext>
            </a:extLst>
          </p:cNvPr>
          <p:cNvPicPr>
            <a:picLocks noChangeAspect="1"/>
          </p:cNvPicPr>
          <p:nvPr/>
        </p:nvPicPr>
        <p:blipFill>
          <a:blip r:embed="rId3"/>
          <a:stretch>
            <a:fillRect/>
          </a:stretch>
        </p:blipFill>
        <p:spPr>
          <a:xfrm>
            <a:off x="6320790" y="3732979"/>
            <a:ext cx="3989832" cy="2677740"/>
          </a:xfrm>
          <a:prstGeom prst="rect">
            <a:avLst/>
          </a:prstGeom>
        </p:spPr>
      </p:pic>
    </p:spTree>
    <p:extLst>
      <p:ext uri="{BB962C8B-B14F-4D97-AF65-F5344CB8AC3E}">
        <p14:creationId xmlns:p14="http://schemas.microsoft.com/office/powerpoint/2010/main" val="3841150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6E9C9-23E0-BB1B-AB4E-3363B46C7D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40FE71-A8D1-149C-4834-39A4160C8408}"/>
              </a:ext>
            </a:extLst>
          </p:cNvPr>
          <p:cNvSpPr txBox="1"/>
          <p:nvPr/>
        </p:nvSpPr>
        <p:spPr>
          <a:xfrm>
            <a:off x="468630" y="456136"/>
            <a:ext cx="7614666" cy="80021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3. Kleene Closure</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If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is a CFL, then its Kleene closure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(zero or more repetitions of strings in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is also a CFL.</a:t>
            </a:r>
            <a:endParaRPr lang="en-US" sz="1350" b="0" i="0" spc="10" dirty="0">
              <a:solidFill>
                <a:srgbClr val="273239"/>
              </a:solidFill>
              <a:effectLst/>
              <a:latin typeface="Nunito" pitchFamily="2" charset="0"/>
            </a:endParaRPr>
          </a:p>
        </p:txBody>
      </p:sp>
      <p:pic>
        <p:nvPicPr>
          <p:cNvPr id="5" name="Picture 4" descr="kleene_closure_star_closed_">
            <a:extLst>
              <a:ext uri="{FF2B5EF4-FFF2-40B4-BE49-F238E27FC236}">
                <a16:creationId xmlns:a16="http://schemas.microsoft.com/office/drawing/2014/main" id="{B595E1CA-DB0B-86EC-CC33-4195CBECF018}"/>
              </a:ext>
            </a:extLst>
          </p:cNvPr>
          <p:cNvPicPr>
            <a:picLocks noChangeAspect="1"/>
          </p:cNvPicPr>
          <p:nvPr/>
        </p:nvPicPr>
        <p:blipFill>
          <a:blip r:embed="rId2"/>
          <a:stretch>
            <a:fillRect/>
          </a:stretch>
        </p:blipFill>
        <p:spPr>
          <a:xfrm>
            <a:off x="468630" y="1373054"/>
            <a:ext cx="3207258" cy="2152523"/>
          </a:xfrm>
          <a:prstGeom prst="rect">
            <a:avLst/>
          </a:prstGeom>
        </p:spPr>
      </p:pic>
      <p:sp>
        <p:nvSpPr>
          <p:cNvPr id="8" name="TextBox 7">
            <a:extLst>
              <a:ext uri="{FF2B5EF4-FFF2-40B4-BE49-F238E27FC236}">
                <a16:creationId xmlns:a16="http://schemas.microsoft.com/office/drawing/2014/main" id="{7316B67B-E902-1297-E41E-72553229EFF8}"/>
              </a:ext>
            </a:extLst>
          </p:cNvPr>
          <p:cNvSpPr txBox="1"/>
          <p:nvPr/>
        </p:nvSpPr>
        <p:spPr>
          <a:xfrm>
            <a:off x="358902" y="3741058"/>
            <a:ext cx="8099298" cy="80021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4. Intersection and complementation</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If L1 and If L2 are two context free languages, their intersection L1 ? L2 need not be context free.</a:t>
            </a:r>
            <a:endParaRPr lang="en-US" sz="1350" b="0" i="0" spc="10" dirty="0">
              <a:solidFill>
                <a:srgbClr val="273239"/>
              </a:solidFill>
              <a:effectLst/>
              <a:latin typeface="Nunito" pitchFamily="2" charset="0"/>
            </a:endParaRPr>
          </a:p>
        </p:txBody>
      </p:sp>
      <p:pic>
        <p:nvPicPr>
          <p:cNvPr id="11" name="Picture 10" descr="intersection_not_closed_.webp">
            <a:extLst>
              <a:ext uri="{FF2B5EF4-FFF2-40B4-BE49-F238E27FC236}">
                <a16:creationId xmlns:a16="http://schemas.microsoft.com/office/drawing/2014/main" id="{420D658A-EE31-8B50-7B85-A677A57DF2C5}"/>
              </a:ext>
            </a:extLst>
          </p:cNvPr>
          <p:cNvPicPr>
            <a:picLocks noChangeAspect="1"/>
          </p:cNvPicPr>
          <p:nvPr/>
        </p:nvPicPr>
        <p:blipFill>
          <a:blip r:embed="rId3"/>
          <a:stretch>
            <a:fillRect/>
          </a:stretch>
        </p:blipFill>
        <p:spPr>
          <a:xfrm>
            <a:off x="419557" y="4541277"/>
            <a:ext cx="3305403" cy="2218391"/>
          </a:xfrm>
          <a:prstGeom prst="rect">
            <a:avLst/>
          </a:prstGeom>
        </p:spPr>
      </p:pic>
      <p:pic>
        <p:nvPicPr>
          <p:cNvPr id="12" name="Picture 11" descr="complementation_not_closed_.webp">
            <a:extLst>
              <a:ext uri="{FF2B5EF4-FFF2-40B4-BE49-F238E27FC236}">
                <a16:creationId xmlns:a16="http://schemas.microsoft.com/office/drawing/2014/main" id="{28B94AF1-688B-B655-E6BC-BD67D12D0310}"/>
              </a:ext>
            </a:extLst>
          </p:cNvPr>
          <p:cNvPicPr>
            <a:picLocks noChangeAspect="1"/>
          </p:cNvPicPr>
          <p:nvPr/>
        </p:nvPicPr>
        <p:blipFill>
          <a:blip r:embed="rId4"/>
          <a:stretch>
            <a:fillRect/>
          </a:stretch>
        </p:blipFill>
        <p:spPr>
          <a:xfrm>
            <a:off x="3936645" y="4559565"/>
            <a:ext cx="3168242" cy="2126337"/>
          </a:xfrm>
          <a:prstGeom prst="rect">
            <a:avLst/>
          </a:prstGeom>
        </p:spPr>
      </p:pic>
      <p:sp>
        <p:nvSpPr>
          <p:cNvPr id="14" name="TextBox 13">
            <a:extLst>
              <a:ext uri="{FF2B5EF4-FFF2-40B4-BE49-F238E27FC236}">
                <a16:creationId xmlns:a16="http://schemas.microsoft.com/office/drawing/2014/main" id="{6B7D0400-0224-117C-AB1D-6F9C59E7ACD0}"/>
              </a:ext>
            </a:extLst>
          </p:cNvPr>
          <p:cNvSpPr txBox="1"/>
          <p:nvPr/>
        </p:nvSpPr>
        <p:spPr>
          <a:xfrm>
            <a:off x="4275963" y="1330961"/>
            <a:ext cx="7882128" cy="35201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2" dirty="0">
                <a:solidFill>
                  <a:srgbClr val="273239"/>
                </a:solidFill>
                <a:effectLst/>
                <a:latin typeface="Nunito" pitchFamily="2" charset="0"/>
              </a:rPr>
              <a:t>5. </a:t>
            </a:r>
            <a:r>
              <a:rPr lang="en-US" sz="1500" b="1" i="0" spc="10" dirty="0">
                <a:solidFill>
                  <a:srgbClr val="273239"/>
                </a:solidFill>
                <a:effectLst/>
                <a:latin typeface="Nunito" pitchFamily="2" charset="0"/>
              </a:rPr>
              <a:t>Reversal</a:t>
            </a:r>
            <a:r>
              <a:rPr lang="en-US" sz="1500" b="1" dirty="0">
                <a:solidFill>
                  <a:srgbClr val="273239"/>
                </a:solidFill>
                <a:latin typeface="Nunito" pitchFamily="2" charset="0"/>
              </a:rPr>
              <a:t>: </a:t>
            </a:r>
            <a:r>
              <a:rPr lang="en-US" sz="1350" b="0" i="0" spc="12" dirty="0">
                <a:solidFill>
                  <a:srgbClr val="273239"/>
                </a:solidFill>
                <a:effectLst/>
                <a:latin typeface="Nunito" pitchFamily="2" charset="0"/>
              </a:rPr>
              <a:t>If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is a CFL, then its reversal </a:t>
            </a:r>
            <a:r>
              <a:rPr lang="en-US" sz="1350" b="1" i="0" spc="10" dirty="0">
                <a:solidFill>
                  <a:srgbClr val="273239"/>
                </a:solidFill>
                <a:effectLst/>
                <a:latin typeface="Nunito" pitchFamily="2" charset="0"/>
              </a:rPr>
              <a:t>L^R</a:t>
            </a:r>
            <a:r>
              <a:rPr lang="en-US" sz="1350" b="0" i="0" spc="12" dirty="0">
                <a:solidFill>
                  <a:srgbClr val="273239"/>
                </a:solidFill>
                <a:effectLst/>
                <a:latin typeface="Nunito" pitchFamily="2" charset="0"/>
              </a:rPr>
              <a:t> (where each string is reversed) is also a CFL.</a:t>
            </a:r>
            <a:endParaRPr lang="en-US" sz="1350" b="0" i="0" spc="10" dirty="0">
              <a:solidFill>
                <a:srgbClr val="273239"/>
              </a:solidFill>
              <a:effectLst/>
              <a:latin typeface="Nunito" pitchFamily="2" charset="0"/>
            </a:endParaRPr>
          </a:p>
        </p:txBody>
      </p:sp>
      <p:pic>
        <p:nvPicPr>
          <p:cNvPr id="15" name="Picture 14" descr="reversal_closed_">
            <a:extLst>
              <a:ext uri="{FF2B5EF4-FFF2-40B4-BE49-F238E27FC236}">
                <a16:creationId xmlns:a16="http://schemas.microsoft.com/office/drawing/2014/main" id="{BFCE3640-D47C-EEA9-8F43-F20D068CBE0C}"/>
              </a:ext>
            </a:extLst>
          </p:cNvPr>
          <p:cNvPicPr>
            <a:picLocks noChangeAspect="1"/>
          </p:cNvPicPr>
          <p:nvPr/>
        </p:nvPicPr>
        <p:blipFill>
          <a:blip r:embed="rId5"/>
          <a:stretch>
            <a:fillRect/>
          </a:stretch>
        </p:blipFill>
        <p:spPr>
          <a:xfrm>
            <a:off x="4408551" y="1757585"/>
            <a:ext cx="3345561" cy="2245343"/>
          </a:xfrm>
          <a:prstGeom prst="rect">
            <a:avLst/>
          </a:prstGeom>
        </p:spPr>
      </p:pic>
      <p:sp>
        <p:nvSpPr>
          <p:cNvPr id="17" name="TextBox 16">
            <a:extLst>
              <a:ext uri="{FF2B5EF4-FFF2-40B4-BE49-F238E27FC236}">
                <a16:creationId xmlns:a16="http://schemas.microsoft.com/office/drawing/2014/main" id="{06FD7404-5DB8-A55E-8CEE-892DE6831B37}"/>
              </a:ext>
            </a:extLst>
          </p:cNvPr>
          <p:cNvSpPr txBox="1"/>
          <p:nvPr/>
        </p:nvSpPr>
        <p:spPr>
          <a:xfrm>
            <a:off x="7902702" y="1857719"/>
            <a:ext cx="3345561" cy="507831"/>
          </a:xfrm>
          <a:prstGeom prst="rect">
            <a:avLst/>
          </a:prstGeom>
          <a:noFill/>
        </p:spPr>
        <p:txBody>
          <a:bodyPr wrap="square">
            <a:spAutoFit/>
          </a:bodyPr>
          <a:lstStyle/>
          <a:p>
            <a:pPr marL="342900" marR="0" lvl="0" indent="-342900" algn="l" fontAlgn="base">
              <a:buFont typeface="Arial" panose="020B0604020202020204" pitchFamily="34" charset="0"/>
              <a:buChar char="•"/>
            </a:pPr>
            <a:r>
              <a:rPr lang="en-US" sz="1350" b="0" i="1" spc="12" dirty="0">
                <a:solidFill>
                  <a:srgbClr val="273239"/>
                </a:solidFill>
                <a:effectLst/>
                <a:latin typeface="Nunito" pitchFamily="2" charset="0"/>
              </a:rPr>
              <a:t>Original Grammar: </a:t>
            </a:r>
            <a:r>
              <a:rPr lang="en-US" sz="1350" b="1" i="1" spc="10" dirty="0">
                <a:solidFill>
                  <a:srgbClr val="273239"/>
                </a:solidFill>
                <a:effectLst/>
                <a:latin typeface="Nunito" pitchFamily="2" charset="0"/>
              </a:rPr>
              <a:t>S → 0S1 | 01</a:t>
            </a:r>
            <a:endParaRPr lang="en-US" sz="1350" b="0" i="1" spc="10" dirty="0">
              <a:solidFill>
                <a:srgbClr val="273239"/>
              </a:solidFill>
              <a:effectLst/>
              <a:latin typeface="Nunito" pitchFamily="2" charset="0"/>
            </a:endParaRPr>
          </a:p>
          <a:p>
            <a:pPr marL="342900" marR="0" lvl="0" indent="-342900" algn="l" fontAlgn="base">
              <a:buFont typeface="Arial" panose="020B0604020202020204" pitchFamily="34" charset="0"/>
              <a:buChar char="•"/>
            </a:pPr>
            <a:r>
              <a:rPr lang="en-US" sz="1350" b="0" i="1" spc="12" dirty="0">
                <a:solidFill>
                  <a:srgbClr val="273239"/>
                </a:solidFill>
                <a:effectLst/>
                <a:latin typeface="Nunito" pitchFamily="2" charset="0"/>
              </a:rPr>
              <a:t>Reversed Grammar: </a:t>
            </a:r>
            <a:r>
              <a:rPr lang="en-US" sz="1350" b="1" i="1" spc="10" dirty="0">
                <a:solidFill>
                  <a:srgbClr val="273239"/>
                </a:solidFill>
                <a:effectLst/>
                <a:latin typeface="Nunito" pitchFamily="2" charset="0"/>
              </a:rPr>
              <a:t>S → 1S0 | 10</a:t>
            </a:r>
            <a:endParaRPr lang="en-US" sz="1350" b="0" i="1" spc="10" dirty="0">
              <a:solidFill>
                <a:srgbClr val="273239"/>
              </a:solidFill>
              <a:effectLst/>
              <a:latin typeface="Nunito" pitchFamily="2" charset="0"/>
            </a:endParaRPr>
          </a:p>
        </p:txBody>
      </p:sp>
    </p:spTree>
    <p:extLst>
      <p:ext uri="{BB962C8B-B14F-4D97-AF65-F5344CB8AC3E}">
        <p14:creationId xmlns:p14="http://schemas.microsoft.com/office/powerpoint/2010/main" val="2304716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742DE-AB58-87A7-108D-4099555705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F88797-55F3-972E-0BB0-C586686BC800}"/>
              </a:ext>
            </a:extLst>
          </p:cNvPr>
          <p:cNvSpPr txBox="1"/>
          <p:nvPr/>
        </p:nvSpPr>
        <p:spPr>
          <a:xfrm>
            <a:off x="404622" y="364973"/>
            <a:ext cx="9708642" cy="1110560"/>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6. Homomorphism</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A homomorphism is a function that replaces each symbol in a string with another string.</a:t>
            </a:r>
            <a:endParaRPr lang="en-US" sz="1350" b="0" i="0" spc="1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If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is a CFL and </a:t>
            </a:r>
            <a:r>
              <a:rPr lang="en-US" sz="1350" b="1" i="0" spc="10" dirty="0">
                <a:solidFill>
                  <a:srgbClr val="273239"/>
                </a:solidFill>
                <a:effectLst/>
                <a:latin typeface="Nunito" pitchFamily="2" charset="0"/>
              </a:rPr>
              <a:t>h</a:t>
            </a:r>
            <a:r>
              <a:rPr lang="en-US" sz="1350" b="0" i="0" spc="12" dirty="0">
                <a:solidFill>
                  <a:srgbClr val="273239"/>
                </a:solidFill>
                <a:effectLst/>
                <a:latin typeface="Nunito" pitchFamily="2" charset="0"/>
              </a:rPr>
              <a:t> is a homomorphism, then </a:t>
            </a:r>
            <a:r>
              <a:rPr lang="en-US" sz="1350" b="1" i="0" spc="10" dirty="0">
                <a:solidFill>
                  <a:srgbClr val="273239"/>
                </a:solidFill>
                <a:effectLst/>
                <a:latin typeface="Nunito" pitchFamily="2" charset="0"/>
              </a:rPr>
              <a:t>h(L)</a:t>
            </a:r>
            <a:r>
              <a:rPr lang="en-US" sz="1350" b="0" i="0" spc="12" dirty="0">
                <a:solidFill>
                  <a:srgbClr val="273239"/>
                </a:solidFill>
                <a:effectLst/>
                <a:latin typeface="Nunito" pitchFamily="2" charset="0"/>
              </a:rPr>
              <a:t> is also a CFL.</a:t>
            </a:r>
            <a:endParaRPr lang="en-US" sz="1350" b="0" i="0" spc="10" dirty="0">
              <a:solidFill>
                <a:srgbClr val="273239"/>
              </a:solidFill>
              <a:effectLst/>
              <a:latin typeface="Nunito" pitchFamily="2" charset="0"/>
            </a:endParaRPr>
          </a:p>
        </p:txBody>
      </p:sp>
      <p:pic>
        <p:nvPicPr>
          <p:cNvPr id="6" name="Picture 5" descr="homomorphism_closed_">
            <a:extLst>
              <a:ext uri="{FF2B5EF4-FFF2-40B4-BE49-F238E27FC236}">
                <a16:creationId xmlns:a16="http://schemas.microsoft.com/office/drawing/2014/main" id="{CCCDB3C6-C328-6F2B-C1AA-79270578BCBA}"/>
              </a:ext>
            </a:extLst>
          </p:cNvPr>
          <p:cNvPicPr>
            <a:picLocks noChangeAspect="1"/>
          </p:cNvPicPr>
          <p:nvPr/>
        </p:nvPicPr>
        <p:blipFill>
          <a:blip r:embed="rId2"/>
          <a:stretch>
            <a:fillRect/>
          </a:stretch>
        </p:blipFill>
        <p:spPr>
          <a:xfrm>
            <a:off x="404622" y="1475533"/>
            <a:ext cx="3033287" cy="2035763"/>
          </a:xfrm>
          <a:prstGeom prst="rect">
            <a:avLst/>
          </a:prstGeom>
        </p:spPr>
      </p:pic>
      <p:sp>
        <p:nvSpPr>
          <p:cNvPr id="9" name="TextBox 8">
            <a:extLst>
              <a:ext uri="{FF2B5EF4-FFF2-40B4-BE49-F238E27FC236}">
                <a16:creationId xmlns:a16="http://schemas.microsoft.com/office/drawing/2014/main" id="{BF574FE9-C2DA-76EA-4E0E-23434580E0A1}"/>
              </a:ext>
            </a:extLst>
          </p:cNvPr>
          <p:cNvSpPr txBox="1"/>
          <p:nvPr/>
        </p:nvSpPr>
        <p:spPr>
          <a:xfrm>
            <a:off x="294894" y="3698526"/>
            <a:ext cx="7157466" cy="715581"/>
          </a:xfrm>
          <a:prstGeom prst="rect">
            <a:avLst/>
          </a:prstGeom>
          <a:noFill/>
        </p:spPr>
        <p:txBody>
          <a:bodyPr wrap="square">
            <a:spAutoFit/>
          </a:bodyPr>
          <a:lstStyle/>
          <a:p>
            <a:pPr marL="342900" marR="0" lvl="0" indent="-342900" algn="l" fontAlgn="base">
              <a:buFont typeface="Arial" panose="020B0604020202020204" pitchFamily="34" charset="0"/>
              <a:buChar char="•"/>
            </a:pPr>
            <a:r>
              <a:rPr lang="en-US" sz="1350" b="0" i="1" spc="12" dirty="0">
                <a:solidFill>
                  <a:srgbClr val="273239"/>
                </a:solidFill>
                <a:effectLst/>
                <a:latin typeface="Nunito" pitchFamily="2" charset="0"/>
              </a:rPr>
              <a:t>Let </a:t>
            </a:r>
            <a:r>
              <a:rPr lang="en-US" sz="1350" b="1" i="1" spc="10" dirty="0">
                <a:solidFill>
                  <a:srgbClr val="273239"/>
                </a:solidFill>
                <a:effectLst/>
                <a:latin typeface="Nunito" pitchFamily="2" charset="0"/>
              </a:rPr>
              <a:t>G</a:t>
            </a:r>
            <a:r>
              <a:rPr lang="en-US" sz="1350" b="0" i="1" spc="12" dirty="0">
                <a:solidFill>
                  <a:srgbClr val="273239"/>
                </a:solidFill>
                <a:effectLst/>
                <a:latin typeface="Nunito" pitchFamily="2" charset="0"/>
              </a:rPr>
              <a:t> have the production </a:t>
            </a:r>
            <a:r>
              <a:rPr lang="en-US" sz="1350" b="1" i="1" spc="10" dirty="0">
                <a:solidFill>
                  <a:srgbClr val="273239"/>
                </a:solidFill>
                <a:effectLst/>
                <a:latin typeface="Nunito" pitchFamily="2" charset="0"/>
              </a:rPr>
              <a:t>S → 0S1 | 01</a:t>
            </a:r>
            <a:r>
              <a:rPr lang="en-US" sz="1350" b="0" i="1" spc="12" dirty="0">
                <a:solidFill>
                  <a:srgbClr val="273239"/>
                </a:solidFill>
                <a:effectLst/>
                <a:latin typeface="Nunito" pitchFamily="2" charset="0"/>
              </a:rPr>
              <a:t>.</a:t>
            </a:r>
            <a:endParaRPr lang="en-US" sz="1350" b="0" i="1" spc="10" dirty="0">
              <a:solidFill>
                <a:srgbClr val="273239"/>
              </a:solidFill>
              <a:effectLst/>
              <a:latin typeface="Nunito" pitchFamily="2" charset="0"/>
            </a:endParaRPr>
          </a:p>
          <a:p>
            <a:pPr marL="342900" marR="0" lvl="0" indent="-342900" algn="l" fontAlgn="base">
              <a:buFont typeface="Arial" panose="020B0604020202020204" pitchFamily="34" charset="0"/>
              <a:buChar char="•"/>
            </a:pPr>
            <a:r>
              <a:rPr lang="en-US" sz="1350" b="0" i="1" spc="12" dirty="0">
                <a:solidFill>
                  <a:srgbClr val="273239"/>
                </a:solidFill>
                <a:effectLst/>
                <a:latin typeface="Nunito" pitchFamily="2" charset="0"/>
              </a:rPr>
              <a:t>Define a homomorphism </a:t>
            </a:r>
            <a:r>
              <a:rPr lang="en-US" sz="1350" b="1" i="1" spc="10" dirty="0">
                <a:solidFill>
                  <a:srgbClr val="273239"/>
                </a:solidFill>
                <a:effectLst/>
                <a:latin typeface="Nunito" pitchFamily="2" charset="0"/>
              </a:rPr>
              <a:t>h(0) = ab, h(1) = ε</a:t>
            </a:r>
            <a:r>
              <a:rPr lang="en-US" sz="1350" b="0" i="1" spc="12" dirty="0">
                <a:solidFill>
                  <a:srgbClr val="273239"/>
                </a:solidFill>
                <a:effectLst/>
                <a:latin typeface="Nunito" pitchFamily="2" charset="0"/>
              </a:rPr>
              <a:t>.</a:t>
            </a:r>
            <a:endParaRPr lang="en-US" sz="1350" b="0" i="1" spc="10" dirty="0">
              <a:solidFill>
                <a:srgbClr val="273239"/>
              </a:solidFill>
              <a:effectLst/>
              <a:latin typeface="Nunito" pitchFamily="2" charset="0"/>
            </a:endParaRPr>
          </a:p>
          <a:p>
            <a:pPr marL="342900" marR="0" lvl="0" indent="-342900" algn="l" fontAlgn="base">
              <a:buFont typeface="Arial" panose="020B0604020202020204" pitchFamily="34" charset="0"/>
              <a:buChar char="•"/>
            </a:pPr>
            <a:r>
              <a:rPr lang="en-US" sz="1350" b="0" i="1" spc="12" dirty="0">
                <a:solidFill>
                  <a:srgbClr val="273239"/>
                </a:solidFill>
                <a:effectLst/>
                <a:latin typeface="Nunito" pitchFamily="2" charset="0"/>
              </a:rPr>
              <a:t>Then, </a:t>
            </a:r>
            <a:r>
              <a:rPr lang="en-US" sz="1350" b="1" i="1" spc="10" dirty="0">
                <a:solidFill>
                  <a:srgbClr val="273239"/>
                </a:solidFill>
                <a:effectLst/>
                <a:latin typeface="Nunito" pitchFamily="2" charset="0"/>
              </a:rPr>
              <a:t>h(L(G))</a:t>
            </a:r>
            <a:r>
              <a:rPr lang="en-US" sz="1350" b="0" i="1" spc="12" dirty="0">
                <a:solidFill>
                  <a:srgbClr val="273239"/>
                </a:solidFill>
                <a:effectLst/>
                <a:latin typeface="Nunito" pitchFamily="2" charset="0"/>
              </a:rPr>
              <a:t> will be generated by a new grammar with productions: </a:t>
            </a:r>
            <a:r>
              <a:rPr lang="en-US" sz="1350" b="1" i="1" spc="10" dirty="0">
                <a:solidFill>
                  <a:srgbClr val="273239"/>
                </a:solidFill>
                <a:effectLst/>
                <a:latin typeface="Nunito" pitchFamily="2" charset="0"/>
              </a:rPr>
              <a:t>S → </a:t>
            </a:r>
            <a:r>
              <a:rPr lang="en-US" sz="1350" b="1" i="1" spc="10" dirty="0" err="1">
                <a:solidFill>
                  <a:srgbClr val="273239"/>
                </a:solidFill>
                <a:effectLst/>
                <a:latin typeface="Nunito" pitchFamily="2" charset="0"/>
              </a:rPr>
              <a:t>abS</a:t>
            </a:r>
            <a:r>
              <a:rPr lang="en-US" sz="1350" b="1" i="1" spc="10" dirty="0">
                <a:solidFill>
                  <a:srgbClr val="273239"/>
                </a:solidFill>
                <a:effectLst/>
                <a:latin typeface="Nunito" pitchFamily="2" charset="0"/>
              </a:rPr>
              <a:t> | ab</a:t>
            </a:r>
            <a:endParaRPr lang="en-US" sz="1350" b="0" i="1" spc="10" dirty="0">
              <a:solidFill>
                <a:srgbClr val="273239"/>
              </a:solidFill>
              <a:effectLst/>
              <a:latin typeface="Nunito" pitchFamily="2" charset="0"/>
            </a:endParaRPr>
          </a:p>
        </p:txBody>
      </p:sp>
      <p:sp>
        <p:nvSpPr>
          <p:cNvPr id="13" name="TextBox 12">
            <a:extLst>
              <a:ext uri="{FF2B5EF4-FFF2-40B4-BE49-F238E27FC236}">
                <a16:creationId xmlns:a16="http://schemas.microsoft.com/office/drawing/2014/main" id="{F862691A-113D-84F9-2AB3-5F742A96B511}"/>
              </a:ext>
            </a:extLst>
          </p:cNvPr>
          <p:cNvSpPr txBox="1"/>
          <p:nvPr/>
        </p:nvSpPr>
        <p:spPr>
          <a:xfrm>
            <a:off x="294894" y="4693099"/>
            <a:ext cx="6094476" cy="80021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7. Inverse Homomorphism</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If </a:t>
            </a:r>
            <a:r>
              <a:rPr lang="en-US" sz="1350" b="1" i="0" spc="10" dirty="0">
                <a:solidFill>
                  <a:srgbClr val="273239"/>
                </a:solidFill>
                <a:effectLst/>
                <a:latin typeface="Nunito" pitchFamily="2" charset="0"/>
              </a:rPr>
              <a:t>L</a:t>
            </a:r>
            <a:r>
              <a:rPr lang="en-US" sz="1350" b="0" i="0" spc="12" dirty="0">
                <a:solidFill>
                  <a:srgbClr val="273239"/>
                </a:solidFill>
                <a:effectLst/>
                <a:latin typeface="Nunito" pitchFamily="2" charset="0"/>
              </a:rPr>
              <a:t> is a CFL and </a:t>
            </a:r>
            <a:r>
              <a:rPr lang="en-US" sz="1350" b="1" i="0" spc="10" dirty="0">
                <a:solidFill>
                  <a:srgbClr val="273239"/>
                </a:solidFill>
                <a:effectLst/>
                <a:latin typeface="Nunito" pitchFamily="2" charset="0"/>
              </a:rPr>
              <a:t>h</a:t>
            </a:r>
            <a:r>
              <a:rPr lang="en-US" sz="1350" b="0" i="0" spc="12" dirty="0">
                <a:solidFill>
                  <a:srgbClr val="273239"/>
                </a:solidFill>
                <a:effectLst/>
                <a:latin typeface="Nunito" pitchFamily="2" charset="0"/>
              </a:rPr>
              <a:t> is a homomorphism, then </a:t>
            </a:r>
            <a:r>
              <a:rPr lang="en-US" sz="1350" b="1" i="0" spc="10" dirty="0">
                <a:solidFill>
                  <a:srgbClr val="273239"/>
                </a:solidFill>
                <a:effectLst/>
                <a:latin typeface="Nunito" pitchFamily="2" charset="0"/>
              </a:rPr>
              <a:t>h⁻¹(L)</a:t>
            </a:r>
            <a:r>
              <a:rPr lang="en-US" sz="1350" b="0" i="0" spc="12" dirty="0">
                <a:solidFill>
                  <a:srgbClr val="273239"/>
                </a:solidFill>
                <a:effectLst/>
                <a:latin typeface="Nunito" pitchFamily="2" charset="0"/>
              </a:rPr>
              <a:t> is also a CFL.</a:t>
            </a:r>
            <a:endParaRPr lang="en-US" sz="1350" b="0" i="0" spc="10" dirty="0">
              <a:solidFill>
                <a:srgbClr val="273239"/>
              </a:solidFill>
              <a:effectLst/>
              <a:latin typeface="Nunito" pitchFamily="2" charset="0"/>
            </a:endParaRPr>
          </a:p>
        </p:txBody>
      </p:sp>
      <p:pic>
        <p:nvPicPr>
          <p:cNvPr id="16" name="Picture 15" descr="_inverse_homomorphism_closed_">
            <a:extLst>
              <a:ext uri="{FF2B5EF4-FFF2-40B4-BE49-F238E27FC236}">
                <a16:creationId xmlns:a16="http://schemas.microsoft.com/office/drawing/2014/main" id="{6BEFEB38-C1C9-B40C-705E-D509FBC5019B}"/>
              </a:ext>
            </a:extLst>
          </p:cNvPr>
          <p:cNvPicPr>
            <a:picLocks noChangeAspect="1"/>
          </p:cNvPicPr>
          <p:nvPr/>
        </p:nvPicPr>
        <p:blipFill>
          <a:blip r:embed="rId3"/>
          <a:stretch>
            <a:fillRect/>
          </a:stretch>
        </p:blipFill>
        <p:spPr>
          <a:xfrm>
            <a:off x="5646573" y="4455530"/>
            <a:ext cx="3250539" cy="2181570"/>
          </a:xfrm>
          <a:prstGeom prst="rect">
            <a:avLst/>
          </a:prstGeom>
        </p:spPr>
      </p:pic>
    </p:spTree>
    <p:extLst>
      <p:ext uri="{BB962C8B-B14F-4D97-AF65-F5344CB8AC3E}">
        <p14:creationId xmlns:p14="http://schemas.microsoft.com/office/powerpoint/2010/main" val="443987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A5E60C-19B7-B45D-13E8-E18E89E029EB}"/>
              </a:ext>
            </a:extLst>
          </p:cNvPr>
          <p:cNvSpPr txBox="1"/>
          <p:nvPr/>
        </p:nvSpPr>
        <p:spPr>
          <a:xfrm>
            <a:off x="3303270" y="415037"/>
            <a:ext cx="6094476" cy="413511"/>
          </a:xfrm>
          <a:prstGeom prst="rect">
            <a:avLst/>
          </a:prstGeom>
          <a:noFill/>
        </p:spPr>
        <p:txBody>
          <a:bodyPr wrap="square">
            <a:spAutoFit/>
          </a:bodyPr>
          <a:lstStyle/>
          <a:p>
            <a:pPr marL="0" marR="0" indent="0" algn="l">
              <a:lnSpc>
                <a:spcPts val="2625"/>
              </a:lnSpc>
              <a:buNone/>
            </a:pPr>
            <a:r>
              <a:rPr lang="en-US" sz="2100" b="1" i="0" dirty="0">
                <a:solidFill>
                  <a:srgbClr val="273239"/>
                </a:solidFill>
                <a:effectLst/>
                <a:latin typeface="Source Sans 3"/>
              </a:rPr>
              <a:t>Simplification of  Context Free Grammars</a:t>
            </a:r>
          </a:p>
        </p:txBody>
      </p:sp>
      <p:sp>
        <p:nvSpPr>
          <p:cNvPr id="5" name="TextBox 4">
            <a:extLst>
              <a:ext uri="{FF2B5EF4-FFF2-40B4-BE49-F238E27FC236}">
                <a16:creationId xmlns:a16="http://schemas.microsoft.com/office/drawing/2014/main" id="{433DE82C-3C94-F228-36DD-54EC95D2C08E}"/>
              </a:ext>
            </a:extLst>
          </p:cNvPr>
          <p:cNvSpPr txBox="1"/>
          <p:nvPr/>
        </p:nvSpPr>
        <p:spPr>
          <a:xfrm>
            <a:off x="669798" y="1250651"/>
            <a:ext cx="11098530" cy="2649443"/>
          </a:xfrm>
          <a:prstGeom prst="rect">
            <a:avLst/>
          </a:prstGeom>
          <a:noFill/>
        </p:spPr>
        <p:txBody>
          <a:bodyPr wrap="square">
            <a:spAutoFit/>
          </a:bodyPr>
          <a:lstStyle/>
          <a:p>
            <a:pPr marL="0" marR="0" indent="0" algn="just" rtl="0" fontAlgn="base">
              <a:spcAft>
                <a:spcPts val="750"/>
              </a:spcAft>
              <a:buNone/>
            </a:pPr>
            <a:r>
              <a:rPr lang="en-US" sz="1600" b="0" i="0" spc="12" dirty="0">
                <a:solidFill>
                  <a:srgbClr val="273239"/>
                </a:solidFill>
                <a:effectLst/>
                <a:latin typeface="Nunito" pitchFamily="2" charset="0"/>
              </a:rPr>
              <a:t>A Context-Free Grammar (CFG) is a formal grammar that consists of a set of production rules used to generate strings in a language. However, many grammars contain redundant rules, unreachable symbols, or unnecessary complexities. Simplifying a CFG helps in reducing its size while preserving the generated language, making parsing more efficient.</a:t>
            </a:r>
            <a:endParaRPr lang="en-US" sz="1600" b="0" i="0" spc="10" dirty="0">
              <a:solidFill>
                <a:srgbClr val="273239"/>
              </a:solidFill>
              <a:effectLst/>
              <a:latin typeface="Nunito" pitchFamily="2" charset="0"/>
            </a:endParaRPr>
          </a:p>
          <a:p>
            <a:pPr marL="0" marR="0" indent="0" algn="just" fontAlgn="base">
              <a:lnSpc>
                <a:spcPts val="2100"/>
              </a:lnSpc>
              <a:buNone/>
            </a:pPr>
            <a:r>
              <a:rPr lang="en-US" sz="2400" b="1" i="0" spc="12" dirty="0">
                <a:solidFill>
                  <a:srgbClr val="273239"/>
                </a:solidFill>
                <a:effectLst/>
                <a:latin typeface="Nunito" pitchFamily="2" charset="0"/>
              </a:rPr>
              <a:t>Need for CFG simplification</a:t>
            </a:r>
            <a:endParaRPr lang="en-US" sz="2400" b="1" i="0" spc="0" dirty="0">
              <a:solidFill>
                <a:srgbClr val="273239"/>
              </a:solidFill>
              <a:effectLst/>
              <a:latin typeface="Nunito" pitchFamily="2" charset="0"/>
            </a:endParaRPr>
          </a:p>
          <a:p>
            <a:pPr marL="342900" marR="0" lvl="0" indent="-342900" algn="just" fontAlgn="base">
              <a:spcAft>
                <a:spcPts val="1800"/>
              </a:spcAft>
              <a:buFont typeface="Arial" panose="020B0604020202020204" pitchFamily="34" charset="0"/>
              <a:buChar char="•"/>
            </a:pPr>
            <a:r>
              <a:rPr lang="en-US" sz="1600" b="1" i="0" spc="10" dirty="0">
                <a:solidFill>
                  <a:srgbClr val="273239"/>
                </a:solidFill>
                <a:effectLst/>
                <a:latin typeface="Nunito" pitchFamily="2" charset="0"/>
              </a:rPr>
              <a:t>Efficient Parsing</a:t>
            </a:r>
            <a:r>
              <a:rPr lang="en-US" sz="1600" b="0" i="0" spc="12" dirty="0">
                <a:solidFill>
                  <a:srgbClr val="273239"/>
                </a:solidFill>
                <a:effectLst/>
                <a:latin typeface="Nunito" pitchFamily="2" charset="0"/>
              </a:rPr>
              <a:t>: Smaller grammars require fewer computations.</a:t>
            </a:r>
            <a:endParaRPr lang="en-US" sz="1600" b="0" i="0" spc="10" dirty="0">
              <a:solidFill>
                <a:srgbClr val="273239"/>
              </a:solidFill>
              <a:effectLst/>
              <a:latin typeface="Nunito" pitchFamily="2" charset="0"/>
            </a:endParaRPr>
          </a:p>
          <a:p>
            <a:pPr marL="342900" marR="0" lvl="0" indent="-342900" algn="just" fontAlgn="base">
              <a:spcAft>
                <a:spcPts val="1800"/>
              </a:spcAft>
              <a:buFont typeface="Arial" panose="020B0604020202020204" pitchFamily="34" charset="0"/>
              <a:buChar char="•"/>
            </a:pPr>
            <a:r>
              <a:rPr lang="en-US" sz="1600" b="1" i="0" spc="10" dirty="0">
                <a:solidFill>
                  <a:srgbClr val="273239"/>
                </a:solidFill>
                <a:effectLst/>
                <a:latin typeface="Nunito" pitchFamily="2" charset="0"/>
              </a:rPr>
              <a:t>Better Understanding</a:t>
            </a:r>
            <a:r>
              <a:rPr lang="en-US" sz="1600" b="0" i="0" spc="12" dirty="0">
                <a:solidFill>
                  <a:srgbClr val="273239"/>
                </a:solidFill>
                <a:effectLst/>
                <a:latin typeface="Nunito" pitchFamily="2" charset="0"/>
              </a:rPr>
              <a:t>: Removing redundant parts makes it easier to analyze.</a:t>
            </a:r>
            <a:endParaRPr lang="en-US" sz="1600" b="0" i="0" spc="10" dirty="0">
              <a:solidFill>
                <a:srgbClr val="273239"/>
              </a:solidFill>
              <a:effectLst/>
              <a:latin typeface="Nunito" pitchFamily="2" charset="0"/>
            </a:endParaRPr>
          </a:p>
          <a:p>
            <a:pPr marL="342900" marR="0" lvl="0" indent="-342900" algn="just" fontAlgn="base">
              <a:spcAft>
                <a:spcPts val="1800"/>
              </a:spcAft>
              <a:buFont typeface="Arial" panose="020B0604020202020204" pitchFamily="34" charset="0"/>
              <a:buChar char="•"/>
            </a:pPr>
            <a:r>
              <a:rPr lang="en-US" sz="1600" b="1" i="0" spc="10" dirty="0">
                <a:solidFill>
                  <a:srgbClr val="273239"/>
                </a:solidFill>
                <a:effectLst/>
                <a:latin typeface="Nunito" pitchFamily="2" charset="0"/>
              </a:rPr>
              <a:t>Optimization</a:t>
            </a:r>
            <a:r>
              <a:rPr lang="en-US" sz="1600" b="0" i="0" spc="12" dirty="0">
                <a:solidFill>
                  <a:srgbClr val="273239"/>
                </a:solidFill>
                <a:effectLst/>
                <a:latin typeface="Nunito" pitchFamily="2" charset="0"/>
              </a:rPr>
              <a:t>: Improved computational efficiency in compilers and language processing.</a:t>
            </a:r>
            <a:endParaRPr lang="en-US" sz="1600" b="0" i="0" spc="10" dirty="0">
              <a:solidFill>
                <a:srgbClr val="273239"/>
              </a:solidFill>
              <a:effectLst/>
              <a:latin typeface="Nunito" pitchFamily="2" charset="0"/>
            </a:endParaRPr>
          </a:p>
        </p:txBody>
      </p:sp>
      <p:sp>
        <p:nvSpPr>
          <p:cNvPr id="7" name="TextBox 6">
            <a:extLst>
              <a:ext uri="{FF2B5EF4-FFF2-40B4-BE49-F238E27FC236}">
                <a16:creationId xmlns:a16="http://schemas.microsoft.com/office/drawing/2014/main" id="{DC473F65-256E-A50B-E842-3330FCDBBBD9}"/>
              </a:ext>
            </a:extLst>
          </p:cNvPr>
          <p:cNvSpPr txBox="1"/>
          <p:nvPr/>
        </p:nvSpPr>
        <p:spPr>
          <a:xfrm>
            <a:off x="669798" y="4110280"/>
            <a:ext cx="10303002" cy="569387"/>
          </a:xfrm>
          <a:prstGeom prst="rect">
            <a:avLst/>
          </a:prstGeom>
          <a:noFill/>
        </p:spPr>
        <p:txBody>
          <a:bodyPr wrap="square">
            <a:spAutoFit/>
          </a:bodyPr>
          <a:lstStyle/>
          <a:p>
            <a:pPr marL="0" marR="0" indent="0" algn="l" fontAlgn="base">
              <a:lnSpc>
                <a:spcPts val="2100"/>
              </a:lnSpc>
              <a:buNone/>
            </a:pPr>
            <a:r>
              <a:rPr lang="en-US" sz="1800" b="1" i="0" spc="12" dirty="0">
                <a:solidFill>
                  <a:srgbClr val="273239"/>
                </a:solidFill>
                <a:effectLst/>
                <a:latin typeface="Nunito" pitchFamily="2" charset="0"/>
              </a:rPr>
              <a:t>Types of Redundant Productions and Their Removal</a:t>
            </a:r>
            <a:endParaRPr lang="en-US" sz="18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Types of redundant productions and the procedure of removing them are mentioned below:</a:t>
            </a:r>
            <a:endParaRPr lang="en-US" sz="1350" b="0" i="0" spc="10" dirty="0">
              <a:solidFill>
                <a:srgbClr val="273239"/>
              </a:solidFill>
              <a:effectLst/>
              <a:latin typeface="Nunito" pitchFamily="2" charset="0"/>
            </a:endParaRPr>
          </a:p>
        </p:txBody>
      </p:sp>
      <p:sp>
        <p:nvSpPr>
          <p:cNvPr id="9" name="TextBox 8">
            <a:extLst>
              <a:ext uri="{FF2B5EF4-FFF2-40B4-BE49-F238E27FC236}">
                <a16:creationId xmlns:a16="http://schemas.microsoft.com/office/drawing/2014/main" id="{73DDC8B8-2807-D225-924B-262812B1AC0B}"/>
              </a:ext>
            </a:extLst>
          </p:cNvPr>
          <p:cNvSpPr txBox="1"/>
          <p:nvPr/>
        </p:nvSpPr>
        <p:spPr>
          <a:xfrm>
            <a:off x="669798" y="4999490"/>
            <a:ext cx="10915650" cy="1007968"/>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1. Useless productions</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The productions that can never take part in derivation of any string , are called useless productions. Similarly , a variable that can never take part in derivation of any string is called a useless variable</a:t>
            </a:r>
            <a:endParaRPr lang="en-US" sz="1350" b="0" i="0" spc="10" dirty="0">
              <a:solidFill>
                <a:srgbClr val="273239"/>
              </a:solidFill>
              <a:effectLst/>
              <a:latin typeface="Nunito" pitchFamily="2" charset="0"/>
            </a:endParaRPr>
          </a:p>
        </p:txBody>
      </p:sp>
    </p:spTree>
    <p:extLst>
      <p:ext uri="{BB962C8B-B14F-4D97-AF65-F5344CB8AC3E}">
        <p14:creationId xmlns:p14="http://schemas.microsoft.com/office/powerpoint/2010/main" val="2834194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0150B25-98B2-7ACD-79CA-58A0F3608586}"/>
                  </a:ext>
                </a:extLst>
              </p:cNvPr>
              <p:cNvSpPr txBox="1"/>
              <p:nvPr/>
            </p:nvSpPr>
            <p:spPr>
              <a:xfrm>
                <a:off x="761238" y="602819"/>
                <a:ext cx="10394442" cy="1341521"/>
              </a:xfrm>
              <a:prstGeom prst="rect">
                <a:avLst/>
              </a:prstGeom>
              <a:noFill/>
            </p:spPr>
            <p:txBody>
              <a:bodyPr wrap="square">
                <a:spAutoFit/>
              </a:bodyPr>
              <a:lstStyle/>
              <a:p>
                <a:pPr marL="0" marR="0" indent="0" algn="just" fontAlgn="base">
                  <a:lnSpc>
                    <a:spcPts val="2100"/>
                  </a:lnSpc>
                  <a:spcBef>
                    <a:spcPts val="1800"/>
                  </a:spcBef>
                  <a:spcAft>
                    <a:spcPts val="1800"/>
                  </a:spcAft>
                  <a:buNone/>
                </a:pPr>
                <a:r>
                  <a:rPr lang="en-US" sz="1500" b="1" i="0" spc="10" dirty="0">
                    <a:solidFill>
                      <a:srgbClr val="273239"/>
                    </a:solidFill>
                    <a:effectLst/>
                    <a:latin typeface="Nunito" pitchFamily="2" charset="0"/>
                  </a:rPr>
                  <a:t>2. Null (λ) productions</a:t>
                </a:r>
                <a:endParaRPr lang="en-US" sz="1500" b="1" i="0" spc="0" dirty="0">
                  <a:solidFill>
                    <a:srgbClr val="273239"/>
                  </a:solidFill>
                  <a:effectLst/>
                  <a:latin typeface="Nunito" pitchFamily="2" charset="0"/>
                </a:endParaRPr>
              </a:p>
              <a:p>
                <a:pPr marL="0" marR="0" indent="0" algn="just" rtl="0" fontAlgn="base">
                  <a:spcAft>
                    <a:spcPts val="750"/>
                  </a:spcAft>
                  <a:buNone/>
                </a:pPr>
                <a:r>
                  <a:rPr lang="en-US" sz="1350" b="0" i="0" spc="12" dirty="0">
                    <a:solidFill>
                      <a:srgbClr val="273239"/>
                    </a:solidFill>
                    <a:effectLst/>
                    <a:latin typeface="Nunito" pitchFamily="2" charset="0"/>
                  </a:rPr>
                  <a:t>The productions of type ‘A -&gt; </a:t>
                </a:r>
                <a14:m>
                  <m:oMath xmlns:m="http://schemas.openxmlformats.org/officeDocument/2006/math">
                    <m:r>
                      <a:rPr lang="en-US" i="1">
                        <a:latin typeface="Cambria Math" panose="02040503050406030204" pitchFamily="18" charset="0"/>
                      </a:rPr>
                      <m:t>𝜆</m:t>
                    </m:r>
                  </m:oMath>
                </a14:m>
                <a:r>
                  <a:rPr lang="en-US" sz="1350" b="0" i="0" spc="12" dirty="0">
                    <a:solidFill>
                      <a:srgbClr val="273239"/>
                    </a:solidFill>
                    <a:effectLst/>
                    <a:latin typeface="Nunito" pitchFamily="2" charset="0"/>
                  </a:rPr>
                  <a:t> ’ are called </a:t>
                </a:r>
                <a14:m>
                  <m:oMath xmlns:m="http://schemas.openxmlformats.org/officeDocument/2006/math">
                    <m:r>
                      <a:rPr lang="en-US" i="1">
                        <a:latin typeface="Cambria Math" panose="02040503050406030204" pitchFamily="18" charset="0"/>
                      </a:rPr>
                      <m:t>𝜆</m:t>
                    </m:r>
                  </m:oMath>
                </a14:m>
                <a:r>
                  <a:rPr lang="en-US" sz="1350" b="0" i="0" spc="12" dirty="0">
                    <a:solidFill>
                      <a:srgbClr val="273239"/>
                    </a:solidFill>
                    <a:effectLst/>
                    <a:latin typeface="Nunito" pitchFamily="2" charset="0"/>
                  </a:rPr>
                  <a:t> productions ( also called lambda productions and null productions) . These productions can only be removed from those grammars that do not generate </a:t>
                </a:r>
                <a14:m>
                  <m:oMath xmlns:m="http://schemas.openxmlformats.org/officeDocument/2006/math">
                    <m:r>
                      <a:rPr lang="en-US" i="1">
                        <a:latin typeface="Cambria Math" panose="02040503050406030204" pitchFamily="18" charset="0"/>
                      </a:rPr>
                      <m:t>𝜆</m:t>
                    </m:r>
                  </m:oMath>
                </a14:m>
                <a:r>
                  <a:rPr lang="en-US" sz="1350" b="0" i="0" spc="12" dirty="0">
                    <a:solidFill>
                      <a:srgbClr val="273239"/>
                    </a:solidFill>
                    <a:effectLst/>
                    <a:latin typeface="Nunito" pitchFamily="2" charset="0"/>
                  </a:rPr>
                  <a:t>(an empty string). It is possible for a grammar to contain null productions and yet not produce an empty string. </a:t>
                </a:r>
                <a:endParaRPr lang="en-US" sz="1350" b="0" i="0" spc="10" dirty="0">
                  <a:solidFill>
                    <a:srgbClr val="273239"/>
                  </a:solidFill>
                  <a:effectLst/>
                  <a:latin typeface="Nunito" pitchFamily="2" charset="0"/>
                </a:endParaRPr>
              </a:p>
            </p:txBody>
          </p:sp>
        </mc:Choice>
        <mc:Fallback xmlns="">
          <p:sp>
            <p:nvSpPr>
              <p:cNvPr id="3" name="TextBox 2">
                <a:extLst>
                  <a:ext uri="{FF2B5EF4-FFF2-40B4-BE49-F238E27FC236}">
                    <a16:creationId xmlns:a16="http://schemas.microsoft.com/office/drawing/2014/main" id="{20150B25-98B2-7ACD-79CA-58A0F3608586}"/>
                  </a:ext>
                </a:extLst>
              </p:cNvPr>
              <p:cNvSpPr txBox="1">
                <a:spLocks noRot="1" noChangeAspect="1" noMove="1" noResize="1" noEditPoints="1" noAdjustHandles="1" noChangeArrowheads="1" noChangeShapeType="1" noTextEdit="1"/>
              </p:cNvSpPr>
              <p:nvPr/>
            </p:nvSpPr>
            <p:spPr>
              <a:xfrm>
                <a:off x="761238" y="602819"/>
                <a:ext cx="10394442" cy="1341521"/>
              </a:xfrm>
              <a:prstGeom prst="rect">
                <a:avLst/>
              </a:prstGeom>
              <a:blipFill>
                <a:blip r:embed="rId2"/>
                <a:stretch>
                  <a:fillRect l="-235" r="-117" b="-3636"/>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DEEA23A5-2158-6AE5-B392-7ACC594D0B0A}"/>
              </a:ext>
            </a:extLst>
          </p:cNvPr>
          <p:cNvSpPr txBox="1"/>
          <p:nvPr/>
        </p:nvSpPr>
        <p:spPr>
          <a:xfrm>
            <a:off x="880110" y="2480251"/>
            <a:ext cx="6094476" cy="800219"/>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US" sz="1500" b="1" i="0" spc="10" dirty="0">
                <a:solidFill>
                  <a:srgbClr val="273239"/>
                </a:solidFill>
                <a:effectLst/>
                <a:latin typeface="Nunito" pitchFamily="2" charset="0"/>
              </a:rPr>
              <a:t>3. Unit productions</a:t>
            </a:r>
            <a:endParaRPr lang="en-US" sz="1500" b="1" i="0" spc="0" dirty="0">
              <a:solidFill>
                <a:srgbClr val="273239"/>
              </a:solidFill>
              <a:effectLst/>
              <a:latin typeface="Nunito" pitchFamily="2" charset="0"/>
            </a:endParaRPr>
          </a:p>
          <a:p>
            <a:pPr marL="0" marR="0" indent="0" algn="l" rtl="0" fontAlgn="base">
              <a:spcAft>
                <a:spcPts val="750"/>
              </a:spcAft>
              <a:buNone/>
            </a:pPr>
            <a:r>
              <a:rPr lang="en-US" sz="1350" b="0" i="0" spc="12" dirty="0">
                <a:solidFill>
                  <a:srgbClr val="273239"/>
                </a:solidFill>
                <a:effectLst/>
                <a:latin typeface="Nunito" pitchFamily="2" charset="0"/>
              </a:rPr>
              <a:t>The productions of type ‘A -&gt; B’ are called unit productions. </a:t>
            </a:r>
            <a:endParaRPr lang="en-US" sz="1350" b="0" i="0" spc="10" dirty="0">
              <a:solidFill>
                <a:srgbClr val="273239"/>
              </a:solidFill>
              <a:effectLst/>
              <a:latin typeface="Nunito" pitchFamily="2" charset="0"/>
            </a:endParaRPr>
          </a:p>
        </p:txBody>
      </p:sp>
      <p:sp>
        <p:nvSpPr>
          <p:cNvPr id="7" name="TextBox 6">
            <a:extLst>
              <a:ext uri="{FF2B5EF4-FFF2-40B4-BE49-F238E27FC236}">
                <a16:creationId xmlns:a16="http://schemas.microsoft.com/office/drawing/2014/main" id="{4ED8441B-FF80-4DA6-1DF2-0DC39E9B2170}"/>
              </a:ext>
            </a:extLst>
          </p:cNvPr>
          <p:cNvSpPr txBox="1"/>
          <p:nvPr/>
        </p:nvSpPr>
        <p:spPr>
          <a:xfrm>
            <a:off x="761238" y="4073759"/>
            <a:ext cx="10531602" cy="830997"/>
          </a:xfrm>
          <a:prstGeom prst="rect">
            <a:avLst/>
          </a:prstGeom>
          <a:noFill/>
        </p:spPr>
        <p:txBody>
          <a:bodyPr wrap="square">
            <a:spAutoFit/>
          </a:bodyPr>
          <a:lstStyle/>
          <a:p>
            <a:pPr algn="just"/>
            <a:r>
              <a:rPr lang="en-US" sz="1600" b="1" spc="10" dirty="0">
                <a:solidFill>
                  <a:srgbClr val="273239"/>
                </a:solidFill>
                <a:highlight>
                  <a:srgbClr val="FFFF00"/>
                </a:highlight>
                <a:latin typeface="Nunito" pitchFamily="2" charset="0"/>
              </a:rPr>
              <a:t>Note: </a:t>
            </a:r>
            <a:r>
              <a:rPr lang="en-US" sz="1600" b="0" i="0" spc="12" dirty="0">
                <a:solidFill>
                  <a:srgbClr val="273239"/>
                </a:solidFill>
                <a:effectLst/>
                <a:highlight>
                  <a:srgbClr val="FFFF00"/>
                </a:highlight>
                <a:latin typeface="Nunito" pitchFamily="2" charset="0"/>
              </a:rPr>
              <a:t>To remove all kinds of productions mentioned above, first remove the null productions, then the unit productions and finally , remove the useless productions. Following this order is very important to get the correct result. </a:t>
            </a:r>
            <a:endParaRPr lang="en-US" sz="2400" dirty="0">
              <a:highlight>
                <a:srgbClr val="FFFF00"/>
              </a:highlight>
            </a:endParaRPr>
          </a:p>
        </p:txBody>
      </p:sp>
    </p:spTree>
    <p:extLst>
      <p:ext uri="{BB962C8B-B14F-4D97-AF65-F5344CB8AC3E}">
        <p14:creationId xmlns:p14="http://schemas.microsoft.com/office/powerpoint/2010/main" val="252066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2232D4-A621-3B08-92E0-A9CDA95E1562}"/>
              </a:ext>
            </a:extLst>
          </p:cNvPr>
          <p:cNvPicPr>
            <a:picLocks noChangeAspect="1"/>
          </p:cNvPicPr>
          <p:nvPr/>
        </p:nvPicPr>
        <p:blipFill>
          <a:blip r:embed="rId2"/>
          <a:stretch>
            <a:fillRect/>
          </a:stretch>
        </p:blipFill>
        <p:spPr>
          <a:xfrm>
            <a:off x="957200" y="641535"/>
            <a:ext cx="9713847" cy="5326130"/>
          </a:xfrm>
          <a:prstGeom prst="rect">
            <a:avLst/>
          </a:prstGeom>
        </p:spPr>
      </p:pic>
    </p:spTree>
    <p:extLst>
      <p:ext uri="{BB962C8B-B14F-4D97-AF65-F5344CB8AC3E}">
        <p14:creationId xmlns:p14="http://schemas.microsoft.com/office/powerpoint/2010/main" val="2756319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1C475-A4A2-FFDF-D3FA-323F862E419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2BF973-EA59-D850-BC2B-8128441C80F1}"/>
              </a:ext>
            </a:extLst>
          </p:cNvPr>
          <p:cNvPicPr>
            <a:picLocks noChangeAspect="1"/>
          </p:cNvPicPr>
          <p:nvPr/>
        </p:nvPicPr>
        <p:blipFill>
          <a:blip r:embed="rId2"/>
          <a:stretch>
            <a:fillRect/>
          </a:stretch>
        </p:blipFill>
        <p:spPr>
          <a:xfrm>
            <a:off x="1022089" y="561146"/>
            <a:ext cx="8652396" cy="4385757"/>
          </a:xfrm>
          <a:prstGeom prst="rect">
            <a:avLst/>
          </a:prstGeom>
        </p:spPr>
      </p:pic>
    </p:spTree>
    <p:extLst>
      <p:ext uri="{BB962C8B-B14F-4D97-AF65-F5344CB8AC3E}">
        <p14:creationId xmlns:p14="http://schemas.microsoft.com/office/powerpoint/2010/main" val="2156887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5C2B1-A879-50DA-A0FC-E6ABA3EB652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B69010E-C38E-513F-BC89-6A66F4D1BD3C}"/>
              </a:ext>
            </a:extLst>
          </p:cNvPr>
          <p:cNvPicPr>
            <a:picLocks noChangeAspect="1"/>
          </p:cNvPicPr>
          <p:nvPr/>
        </p:nvPicPr>
        <p:blipFill>
          <a:blip r:embed="rId2"/>
          <a:stretch>
            <a:fillRect/>
          </a:stretch>
        </p:blipFill>
        <p:spPr>
          <a:xfrm>
            <a:off x="937768" y="755325"/>
            <a:ext cx="8946896" cy="5033350"/>
          </a:xfrm>
          <a:prstGeom prst="rect">
            <a:avLst/>
          </a:prstGeom>
        </p:spPr>
      </p:pic>
    </p:spTree>
    <p:extLst>
      <p:ext uri="{BB962C8B-B14F-4D97-AF65-F5344CB8AC3E}">
        <p14:creationId xmlns:p14="http://schemas.microsoft.com/office/powerpoint/2010/main" val="1819228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4FD1D-C7D2-E93E-344F-98810CE147E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17C049A-C35D-9F11-95CA-3799000C3640}"/>
              </a:ext>
            </a:extLst>
          </p:cNvPr>
          <p:cNvPicPr>
            <a:picLocks noChangeAspect="1"/>
          </p:cNvPicPr>
          <p:nvPr/>
        </p:nvPicPr>
        <p:blipFill>
          <a:blip r:embed="rId2"/>
          <a:stretch>
            <a:fillRect/>
          </a:stretch>
        </p:blipFill>
        <p:spPr>
          <a:xfrm>
            <a:off x="745362" y="629339"/>
            <a:ext cx="9294749" cy="5304458"/>
          </a:xfrm>
          <a:prstGeom prst="rect">
            <a:avLst/>
          </a:prstGeom>
        </p:spPr>
      </p:pic>
    </p:spTree>
    <p:extLst>
      <p:ext uri="{BB962C8B-B14F-4D97-AF65-F5344CB8AC3E}">
        <p14:creationId xmlns:p14="http://schemas.microsoft.com/office/powerpoint/2010/main" val="2634189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7B662-FCDF-18C4-F396-1C91F9D80BD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1C17849-C540-515A-8E02-20FA30DF9DFF}"/>
              </a:ext>
            </a:extLst>
          </p:cNvPr>
          <p:cNvPicPr>
            <a:picLocks noChangeAspect="1"/>
          </p:cNvPicPr>
          <p:nvPr/>
        </p:nvPicPr>
        <p:blipFill>
          <a:blip r:embed="rId2"/>
          <a:stretch>
            <a:fillRect/>
          </a:stretch>
        </p:blipFill>
        <p:spPr>
          <a:xfrm>
            <a:off x="873872" y="888288"/>
            <a:ext cx="9422272" cy="5079363"/>
          </a:xfrm>
          <a:prstGeom prst="rect">
            <a:avLst/>
          </a:prstGeom>
        </p:spPr>
      </p:pic>
    </p:spTree>
    <p:extLst>
      <p:ext uri="{BB962C8B-B14F-4D97-AF65-F5344CB8AC3E}">
        <p14:creationId xmlns:p14="http://schemas.microsoft.com/office/powerpoint/2010/main" val="4174321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F79F1-D4EE-F5A1-4EB3-705BD6F567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713D0C4-E9D6-53B2-FD45-8EF9BDC20F4D}"/>
              </a:ext>
            </a:extLst>
          </p:cNvPr>
          <p:cNvPicPr>
            <a:picLocks noChangeAspect="1"/>
          </p:cNvPicPr>
          <p:nvPr/>
        </p:nvPicPr>
        <p:blipFill>
          <a:blip r:embed="rId2"/>
          <a:stretch>
            <a:fillRect/>
          </a:stretch>
        </p:blipFill>
        <p:spPr>
          <a:xfrm>
            <a:off x="640189" y="556815"/>
            <a:ext cx="10744091" cy="5905612"/>
          </a:xfrm>
          <a:prstGeom prst="rect">
            <a:avLst/>
          </a:prstGeom>
        </p:spPr>
      </p:pic>
    </p:spTree>
    <p:extLst>
      <p:ext uri="{BB962C8B-B14F-4D97-AF65-F5344CB8AC3E}">
        <p14:creationId xmlns:p14="http://schemas.microsoft.com/office/powerpoint/2010/main" val="34832732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224E6-28C3-15EE-B58C-3F05B8ACDF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0DE05B8-65C1-0E11-0B65-71337B150D5E}"/>
              </a:ext>
            </a:extLst>
          </p:cNvPr>
          <p:cNvPicPr>
            <a:picLocks noChangeAspect="1"/>
          </p:cNvPicPr>
          <p:nvPr/>
        </p:nvPicPr>
        <p:blipFill>
          <a:blip r:embed="rId2"/>
          <a:stretch>
            <a:fillRect/>
          </a:stretch>
        </p:blipFill>
        <p:spPr>
          <a:xfrm>
            <a:off x="784350" y="453572"/>
            <a:ext cx="9678749" cy="5389443"/>
          </a:xfrm>
          <a:prstGeom prst="rect">
            <a:avLst/>
          </a:prstGeom>
        </p:spPr>
      </p:pic>
    </p:spTree>
    <p:extLst>
      <p:ext uri="{BB962C8B-B14F-4D97-AF65-F5344CB8AC3E}">
        <p14:creationId xmlns:p14="http://schemas.microsoft.com/office/powerpoint/2010/main" val="1515672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92F72-43A6-A3FA-031E-DD46D6F34F6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F8924C6-A575-7747-CECC-5C2BCF178661}"/>
              </a:ext>
            </a:extLst>
          </p:cNvPr>
          <p:cNvPicPr>
            <a:picLocks noChangeAspect="1"/>
          </p:cNvPicPr>
          <p:nvPr/>
        </p:nvPicPr>
        <p:blipFill>
          <a:blip r:embed="rId2"/>
          <a:stretch>
            <a:fillRect/>
          </a:stretch>
        </p:blipFill>
        <p:spPr>
          <a:xfrm>
            <a:off x="1186826" y="803610"/>
            <a:ext cx="7289721" cy="4701077"/>
          </a:xfrm>
          <a:prstGeom prst="rect">
            <a:avLst/>
          </a:prstGeom>
        </p:spPr>
      </p:pic>
    </p:spTree>
    <p:extLst>
      <p:ext uri="{BB962C8B-B14F-4D97-AF65-F5344CB8AC3E}">
        <p14:creationId xmlns:p14="http://schemas.microsoft.com/office/powerpoint/2010/main" val="34317817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7BEB8-9278-0E44-F710-6FEFA6F183D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ECF665B-179A-86FB-9ABA-417DCEFCA84D}"/>
              </a:ext>
            </a:extLst>
          </p:cNvPr>
          <p:cNvPicPr>
            <a:picLocks noChangeAspect="1"/>
          </p:cNvPicPr>
          <p:nvPr/>
        </p:nvPicPr>
        <p:blipFill>
          <a:blip r:embed="rId2"/>
          <a:stretch>
            <a:fillRect/>
          </a:stretch>
        </p:blipFill>
        <p:spPr>
          <a:xfrm>
            <a:off x="976603" y="719846"/>
            <a:ext cx="7344437" cy="5887591"/>
          </a:xfrm>
          <a:prstGeom prst="rect">
            <a:avLst/>
          </a:prstGeom>
        </p:spPr>
      </p:pic>
    </p:spTree>
    <p:extLst>
      <p:ext uri="{BB962C8B-B14F-4D97-AF65-F5344CB8AC3E}">
        <p14:creationId xmlns:p14="http://schemas.microsoft.com/office/powerpoint/2010/main" val="4117667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F8A5B-1E44-0B80-37A0-EBB762C4B58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3C3C49-FCCD-2F06-A045-DBED10EF6CF9}"/>
              </a:ext>
            </a:extLst>
          </p:cNvPr>
          <p:cNvPicPr>
            <a:picLocks noChangeAspect="1"/>
          </p:cNvPicPr>
          <p:nvPr/>
        </p:nvPicPr>
        <p:blipFill>
          <a:blip r:embed="rId2"/>
          <a:stretch>
            <a:fillRect/>
          </a:stretch>
        </p:blipFill>
        <p:spPr>
          <a:xfrm>
            <a:off x="642490" y="632391"/>
            <a:ext cx="9355474" cy="4936305"/>
          </a:xfrm>
          <a:prstGeom prst="rect">
            <a:avLst/>
          </a:prstGeom>
        </p:spPr>
      </p:pic>
    </p:spTree>
    <p:extLst>
      <p:ext uri="{BB962C8B-B14F-4D97-AF65-F5344CB8AC3E}">
        <p14:creationId xmlns:p14="http://schemas.microsoft.com/office/powerpoint/2010/main" val="19417514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3B7BE-B07F-F1E3-EC19-601B8EA08E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A01B30B-3EA5-05BE-033B-68551D21E5D8}"/>
              </a:ext>
            </a:extLst>
          </p:cNvPr>
          <p:cNvPicPr>
            <a:picLocks noChangeAspect="1"/>
          </p:cNvPicPr>
          <p:nvPr/>
        </p:nvPicPr>
        <p:blipFill>
          <a:blip r:embed="rId2"/>
          <a:stretch>
            <a:fillRect/>
          </a:stretch>
        </p:blipFill>
        <p:spPr>
          <a:xfrm>
            <a:off x="903600" y="757789"/>
            <a:ext cx="8853047" cy="4933041"/>
          </a:xfrm>
          <a:prstGeom prst="rect">
            <a:avLst/>
          </a:prstGeom>
        </p:spPr>
      </p:pic>
    </p:spTree>
    <p:extLst>
      <p:ext uri="{BB962C8B-B14F-4D97-AF65-F5344CB8AC3E}">
        <p14:creationId xmlns:p14="http://schemas.microsoft.com/office/powerpoint/2010/main" val="1776108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E74A-09B8-0DAB-7006-600B30A1C91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C2126C-C05A-E98A-8132-2C2100AF908F}"/>
              </a:ext>
            </a:extLst>
          </p:cNvPr>
          <p:cNvPicPr>
            <a:picLocks noChangeAspect="1"/>
          </p:cNvPicPr>
          <p:nvPr/>
        </p:nvPicPr>
        <p:blipFill>
          <a:blip r:embed="rId2"/>
          <a:stretch>
            <a:fillRect/>
          </a:stretch>
        </p:blipFill>
        <p:spPr>
          <a:xfrm>
            <a:off x="679172" y="724852"/>
            <a:ext cx="9965474" cy="4532948"/>
          </a:xfrm>
          <a:prstGeom prst="rect">
            <a:avLst/>
          </a:prstGeom>
        </p:spPr>
      </p:pic>
    </p:spTree>
    <p:extLst>
      <p:ext uri="{BB962C8B-B14F-4D97-AF65-F5344CB8AC3E}">
        <p14:creationId xmlns:p14="http://schemas.microsoft.com/office/powerpoint/2010/main" val="4016019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00F58-C539-0177-FE15-BD91D854E02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3A00188-0E87-AFDE-7C29-B87C8A6C30ED}"/>
              </a:ext>
            </a:extLst>
          </p:cNvPr>
          <p:cNvPicPr>
            <a:picLocks noChangeAspect="1"/>
          </p:cNvPicPr>
          <p:nvPr/>
        </p:nvPicPr>
        <p:blipFill>
          <a:blip r:embed="rId2"/>
          <a:stretch>
            <a:fillRect/>
          </a:stretch>
        </p:blipFill>
        <p:spPr>
          <a:xfrm>
            <a:off x="871695" y="628506"/>
            <a:ext cx="9470169" cy="5516968"/>
          </a:xfrm>
          <a:prstGeom prst="rect">
            <a:avLst/>
          </a:prstGeom>
        </p:spPr>
      </p:pic>
    </p:spTree>
    <p:extLst>
      <p:ext uri="{BB962C8B-B14F-4D97-AF65-F5344CB8AC3E}">
        <p14:creationId xmlns:p14="http://schemas.microsoft.com/office/powerpoint/2010/main" val="3973448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2135</Words>
  <Application>Microsoft Office PowerPoint</Application>
  <PresentationFormat>Widescreen</PresentationFormat>
  <Paragraphs>169</Paragraphs>
  <Slides>42</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Aptos</vt:lpstr>
      <vt:lpstr>Aptos Display</vt:lpstr>
      <vt:lpstr>Arial</vt:lpstr>
      <vt:lpstr>Arial</vt:lpstr>
      <vt:lpstr>Arial MT</vt:lpstr>
      <vt:lpstr>Cambria Math</vt:lpstr>
      <vt:lpstr>inherit</vt:lpstr>
      <vt:lpstr>Lato</vt:lpstr>
      <vt:lpstr>Nunito</vt:lpstr>
      <vt:lpstr>Source Sans 3</vt:lpstr>
      <vt:lpstr>Office Theme</vt:lpstr>
      <vt:lpstr>Derivation Tree in TOC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Shinnu [MU - Jaipur]</dc:creator>
  <cp:lastModifiedBy>Shinnu [MU - Jaipur]</cp:lastModifiedBy>
  <cp:revision>108</cp:revision>
  <dcterms:created xsi:type="dcterms:W3CDTF">2026-08-16T03:29:53Z</dcterms:created>
  <dcterms:modified xsi:type="dcterms:W3CDTF">2026-08-20T06:40:27Z</dcterms:modified>
</cp:coreProperties>
</file>