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6550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943600" cy="5943600"/>
          </a:xfrm>
          <a:prstGeom prst="ellipse">
            <a:avLst/>
          </a:prstGeom>
          <a:solidFill>
            <a:srgbClr val="2637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548640"/>
            <a:ext cx="4114800" cy="4114800"/>
          </a:xfrm>
          <a:prstGeom prst="ellipse">
            <a:avLst/>
          </a:prstGeom>
          <a:solidFill>
            <a:srgbClr val="2C3E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THEORY OF COMPUTATION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Context-Free Grammars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Context-Free Languages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Derivations • Ambiguity • Normal Forms • Pumping Lemma — with fully solved CFG→CFL and CFL→CFG constructions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aSb | ε      L(G) = { aⁿbⁿ : n ≥ 0 }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73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03911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 of CFG, CFL, and derivations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1673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Trees &amp; Ambiguity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69480" y="203911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Leftmost/rightmost derivations, ambiguous grammars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3154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090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456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Chomsky Normal Form &amp; Greibach Normal Form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3154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3090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Pumping Lemma &amp; Closure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456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non-context-freeness; closure properties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5800" y="45720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507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→ CFL (Solved)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487375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the language generated by a grammar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434340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37960" y="45720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3796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69480" y="4507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CFL → CFG (Solved, emphasis)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69480" y="487375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grammars for target languages, step by step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CFLs Sit in the Chomsky Hierarchy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692640" cy="777240"/>
          </a:xfrm>
          <a:prstGeom prst="roundRect">
            <a:avLst>
              <a:gd name="adj" fmla="val 11765"/>
            </a:avLst>
          </a:prstGeom>
          <a:solidFill>
            <a:srgbClr val="8FA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0 — Recursively Enumerable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237744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6C8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0" y="23774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— Context-Sensitive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333756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3E5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33375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— Context-Free (CFL)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429768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0" y="4297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— Regular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560527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by: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Pushdown Automata (PDA)     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(CFG)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Definition of a CFG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(V, T, P, 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35000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set of variables (non-terminals)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953512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953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9718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set of terminals, V ∩ T = 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575304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575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59359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set of productions A → α, A∈V, α∈(V∪T)*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197096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197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21538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symbol, S ∈ V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9560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Derivation relation: αAβ ⇒ αγβ  whenever  A → γ  ∈  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41324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⇒* denotes zero or more derivation steps (reflexive-transitive closure).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5577840" cy="2194560"/>
          </a:xfrm>
          <a:prstGeom prst="roundRect">
            <a:avLst>
              <a:gd name="adj" fmla="val 33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16276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mini-example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011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G:  S → aSb | ε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{S},  T = {a, b}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symbol = 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126480" y="38404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production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4434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aSb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means: replace S with the string "aSb". Applying it repeatedly wraps matching a's and b's around the center, while </a:t>
            </a: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ε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ends the derivation.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Context-Free Language &amp; Sentential 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2F5FC"/>
          </a:solidFill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72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L(G) = { w ∈ T*  |  S ⇒* w }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L is context-free if there exists a CFG G such that L = L(G).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Sentential form:  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string α ∈ (V∪T)* reachable as S ⇒* 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Leftmost derivation (⇒lm):  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step, expand the leftmost variable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Rightmost derivation (⇒rm):  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step, expand the rightmost variable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Yield:  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terminal string produced at a parse tree's leaves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07492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52395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leftmost derivation for G: S → aSb | ab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⇒lm aSb ⇒lm a(aSb)b ⇒lm aa(ab)bb  =  aaabbb        (using S→ab to terminate)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Trees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 G:  S → aSb | ab ,  derive  w = aaabbb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H="1">
            <a:off x="5669280" y="2240280"/>
            <a:ext cx="0" cy="8229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0" y="2240280"/>
            <a:ext cx="0" cy="8229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0" y="2240280"/>
            <a:ext cx="1280160" cy="8229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5669280" y="3063240"/>
            <a:ext cx="0" cy="8229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0" y="3063240"/>
            <a:ext cx="0" cy="8229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0" y="3063240"/>
            <a:ext cx="914400" cy="8229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H="1">
            <a:off x="5669280" y="3886200"/>
            <a:ext cx="0" cy="8229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69280" y="3886200"/>
            <a:ext cx="365760" cy="8229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0" y="19202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2743200"/>
            <a:ext cx="365760" cy="36576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0" y="2743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2743200"/>
            <a:ext cx="365760" cy="36576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3566160"/>
            <a:ext cx="365760" cy="36576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0" y="35661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3566160"/>
            <a:ext cx="365760" cy="36576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20640" y="4389120"/>
            <a:ext cx="365760" cy="36576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2064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52160" y="4389120"/>
            <a:ext cx="365760" cy="36576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5216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507492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5230368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leaves left to right (the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gives exactly  </a:t>
            </a: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a a b b b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matching the string derived on the previous slide. Every internal node is a variable being expanded by one production; every leaf is a terminal (or ε).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Ambiguity in Context-Free Grammars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grammar is ambiguous if some string has two distinct parse trees (equivalently, two distinct leftmost derivations).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084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grammar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→ E + E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E * E | 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parse trees for  id + id * id 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A: reads as  id + (id * id)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78024" y="3721608"/>
            <a:ext cx="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78024" y="3721608"/>
            <a:ext cx="45720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78024" y="3721608"/>
            <a:ext cx="105156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517904" y="4224528"/>
            <a:ext cx="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29584" y="4224528"/>
            <a:ext cx="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29584" y="4224528"/>
            <a:ext cx="22860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29584" y="4224528"/>
            <a:ext cx="91440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72384" y="4727448"/>
            <a:ext cx="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43984" y="4727448"/>
            <a:ext cx="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31720" y="342900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86000" y="342900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0" y="39319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25880" y="393192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88920" y="3931920"/>
            <a:ext cx="310896" cy="310896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0" y="393192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9319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393192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71600" y="4434840"/>
            <a:ext cx="310896" cy="310896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25880" y="443484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26080" y="443484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80360" y="443484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11880" y="4434840"/>
            <a:ext cx="310896" cy="310896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66160" y="443484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97680" y="443484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51960" y="443484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26080" y="4937760"/>
            <a:ext cx="310896" cy="310896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80360" y="493776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97680" y="4937760"/>
            <a:ext cx="310896" cy="310896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51960" y="493776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3063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B: reads as  (id + id) * id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924544" y="3721608"/>
            <a:ext cx="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924544" y="3721608"/>
            <a:ext cx="45720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924544" y="3721608"/>
            <a:ext cx="105156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964424" y="4224528"/>
            <a:ext cx="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964424" y="4224528"/>
            <a:ext cx="9144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964424" y="4224528"/>
            <a:ext cx="77724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976104" y="4224528"/>
            <a:ext cx="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370064" y="4727448"/>
            <a:ext cx="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741664" y="4727448"/>
            <a:ext cx="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778240" y="342900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732520" y="342900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818120" y="39319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772400" y="393192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235440" y="3931920"/>
            <a:ext cx="310896" cy="310896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89720" y="393192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829800" y="39319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784080" y="393192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223760" y="443484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178040" y="443484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909560" y="4434840"/>
            <a:ext cx="310896" cy="310896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863840" y="443484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595360" y="443484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549640" y="443484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829800" y="4434840"/>
            <a:ext cx="310896" cy="310896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784080" y="443484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223760" y="4937760"/>
            <a:ext cx="310896" cy="310896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178040" y="493776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595360" y="4937760"/>
            <a:ext cx="310896" cy="310896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549640" y="493776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" y="5349240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85800" y="54864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string, two structures → grammar is ambiguous. Fix by layering precedence: E → E+T | T ;  T → T*F | F ;  F → id, which forces * to bind tighter than + and removes the second parse.</a:t>
            </a:r>
            <a:endParaRPr lang="en-US" sz="1250" dirty="0"/>
          </a:p>
        </p:txBody>
      </p:sp>
      <p:sp>
        <p:nvSpPr>
          <p:cNvPr id="71" name="Text 6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motivates disambiguation rules or precedence-encoded grammars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Forms: CNF &amp; GNF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Chomsky Normal Form (CNF)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has the form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496312"/>
            <a:ext cx="4343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BC   (two variables)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a    (single terminal)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CFG (without ε, except possibly S→ε) has an equivalent CNF grammar. Used by the CYK parsing algorithm.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steps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Eliminate ε-productions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Eliminate unit productions (A→B)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Eliminate useless symbols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Convert remaining rules to BC / a form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Greibach Normal Form (GNF)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has the form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37960" y="233172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12280" y="249631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a α     (α ∈ V*)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3154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terminal followed by zero or more variables — no left recursion. Every derivation step emits exactly one terminal, so a string of length n has a derivation of exactly n steps.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4297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46177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 top-down parser terminates; used to build PDAs from CFGs and in some pumping-lemma proofs.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 Properties of CFLs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57200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1247120" cy="566928"/>
          </a:xfrm>
          <a:prstGeom prst="rect">
            <a:avLst/>
          </a:prstGeom>
          <a:solidFill>
            <a:srgbClr val="F2F5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80560" y="1965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∪ L2 is context-free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11247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5328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80560" y="25328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253288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L2 is context-free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99816"/>
            <a:ext cx="11247120" cy="566928"/>
          </a:xfrm>
          <a:prstGeom prst="rect">
            <a:avLst/>
          </a:prstGeom>
          <a:solidFill>
            <a:srgbClr val="F2F5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0998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Kleene Star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80560" y="30998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309981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L* is context-free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666744"/>
            <a:ext cx="11247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6667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with Regular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80560" y="36667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366674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CFL ∩ Regular is context-free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233672"/>
            <a:ext cx="11247120" cy="566928"/>
          </a:xfrm>
          <a:prstGeom prst="rect">
            <a:avLst/>
          </a:prstGeom>
          <a:solidFill>
            <a:srgbClr val="F2F5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42336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(CFL, CFL)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80560" y="4233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closed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0" y="423367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counterexample: {aⁿbⁿcₘ} ∩ {aₘbⁿcⁿ}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800600"/>
            <a:ext cx="11247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48006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80560" y="4800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closed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83680" y="48006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from non-closure of intersection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637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Solved Examples: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CFG → CFL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grammar, determine exactly which language it generates.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→ CFL · EXAMPLE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a's Followed by Equal b's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749040" cy="1737360"/>
          </a:xfrm>
          <a:prstGeom prst="roundRect">
            <a:avLst>
              <a:gd name="adj" fmla="val 421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aSb | 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493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L(G) = { aⁿbⁿ : n ≥ 0 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7548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 of S→aSb adds exactly one matching a...b pair around the center; S→ε stops the recursion.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26280" y="14630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derivation / reasoning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26280" y="1874520"/>
            <a:ext cx="7223760" cy="566928"/>
          </a:xfrm>
          <a:prstGeom prst="roundRect">
            <a:avLst>
              <a:gd name="adj" fmla="val 8065"/>
            </a:avLst>
          </a:prstGeom>
          <a:solidFill>
            <a:srgbClr val="F2F5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87452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87452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0:  S ⇒ ε                         →  ""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4526280" y="2532888"/>
            <a:ext cx="72237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53288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532888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1:  S ⇒ aSb ⇒ aεb                →  "ab"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4526280" y="3191256"/>
            <a:ext cx="7223760" cy="566928"/>
          </a:xfrm>
          <a:prstGeom prst="roundRect">
            <a:avLst>
              <a:gd name="adj" fmla="val 8065"/>
            </a:avLst>
          </a:prstGeom>
          <a:solidFill>
            <a:srgbClr val="F2F5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319125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3191256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2:  S ⇒ aSb ⇒ a(aSb)b ⇒ aabb    →  "aabb"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4526280" y="3849624"/>
            <a:ext cx="72237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384962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849624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3:  S ⇒* aaaSbbb ⇒ aaabbb        →  "aaabbb"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4526280" y="4507992"/>
            <a:ext cx="7223760" cy="566928"/>
          </a:xfrm>
          <a:prstGeom prst="roundRect">
            <a:avLst>
              <a:gd name="adj" fmla="val 8065"/>
            </a:avLst>
          </a:prstGeom>
          <a:solidFill>
            <a:srgbClr val="F2F5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450799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450799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General: n applications of S→aSb, then one S→ε, yield aⁿbⁿ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→ CFL · EXAMPLE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Even-Length Palindromes over {a, b}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749040" cy="1737360"/>
          </a:xfrm>
          <a:prstGeom prst="roundRect">
            <a:avLst>
              <a:gd name="adj" fmla="val 421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aSa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bSb | 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493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L(G) = { w wᴿ : w ∈ {a,b}* 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7548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productions mirror whatever is added on the left onto the right, so every derived string reads the same forwards and backwards.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26280" y="14630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derivation / reasoning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26280" y="1874520"/>
            <a:ext cx="7223760" cy="475488"/>
          </a:xfrm>
          <a:prstGeom prst="roundRect">
            <a:avLst>
              <a:gd name="adj" fmla="val 9615"/>
            </a:avLst>
          </a:prstGeom>
          <a:solidFill>
            <a:srgbClr val="F2F5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87452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87452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⇒ aSa ⇒ a(bSb)a ⇒ abεba = "abba"    (mirror of "ab")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4526280" y="2441448"/>
            <a:ext cx="7223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44144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441448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⇒ bSb ⇒ b(aSa)b ⇒ baab      (mirror of "ba")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4526280" y="3008376"/>
            <a:ext cx="7223760" cy="475488"/>
          </a:xfrm>
          <a:prstGeom prst="roundRect">
            <a:avLst>
              <a:gd name="adj" fmla="val 9615"/>
            </a:avLst>
          </a:prstGeom>
          <a:solidFill>
            <a:srgbClr val="F2F5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30083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3008376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⇒ aSa ⇒ a(aSa)a ⇒ aaεaa = "aaaa"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4526280" y="3575304"/>
            <a:ext cx="7223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357530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575304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Choosing aSa/bSb at step k fixes symbol k from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4526280" y="4142232"/>
            <a:ext cx="7223760" cy="475488"/>
          </a:xfrm>
          <a:prstGeom prst="roundRect">
            <a:avLst>
              <a:gd name="adj" fmla="val 9615"/>
            </a:avLst>
          </a:prstGeom>
          <a:solidFill>
            <a:srgbClr val="F2F5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414223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4142232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the left AND the right → always a palindrome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→ CFL · EXAMPLE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Non-Empty Strings over {a, b}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749040" cy="1737360"/>
          </a:xfrm>
          <a:prstGeom prst="roundRect">
            <a:avLst>
              <a:gd name="adj" fmla="val 421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aS | bS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a | b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493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L(G) = (a | b)⁺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7548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S→aS / S→bS prepend an arbitrary symbol any number of times; the terminating rules S→a | S→b guarantee at least one symbol.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26280" y="14630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derivation / reasoning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26280" y="1874520"/>
            <a:ext cx="7223760" cy="502920"/>
          </a:xfrm>
          <a:prstGeom prst="roundRect">
            <a:avLst>
              <a:gd name="adj" fmla="val 9091"/>
            </a:avLst>
          </a:prstGeom>
          <a:solidFill>
            <a:srgbClr val="F2F5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8745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8745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⇒ a                              →  "a"   (shortest string)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4526280" y="2468880"/>
            <a:ext cx="72237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468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4688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⇒ aS ⇒ ab                        →  "ab"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4526280" y="3063240"/>
            <a:ext cx="7223760" cy="502920"/>
          </a:xfrm>
          <a:prstGeom prst="roundRect">
            <a:avLst>
              <a:gd name="adj" fmla="val 9091"/>
            </a:avLst>
          </a:prstGeom>
          <a:solidFill>
            <a:srgbClr val="F2F5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30632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306324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⇒ bS ⇒ b(aS) ⇒ ba(bS) ⇒ bab    →  "bab"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4526280" y="3657600"/>
            <a:ext cx="72237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36576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6576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choice (a|b) at each step, any recursion depth,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4526280" y="4251960"/>
            <a:ext cx="7223760" cy="502920"/>
          </a:xfrm>
          <a:prstGeom prst="roundRect">
            <a:avLst>
              <a:gd name="adj" fmla="val 9091"/>
            </a:avLst>
          </a:prstGeom>
          <a:solidFill>
            <a:srgbClr val="F2F5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42519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42519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L(G) = every non-empty string over {a,b} = (a|b)⁺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2637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19659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Solved Examples: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CFL → CFG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language description, construct a CFG that generates exactly that language — the harder, exam-critical direction.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CFL → CFG · EXAMPLE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{ aⁿbⁿ : n ≥ 1 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2F5FC"/>
          </a:solidFill>
          <a:ln w="1524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</a:t>
            </a:r>
            <a:r>
              <a:rPr lang="en-US" sz="16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aⁿbⁿ : n ≥ 1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idea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4864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equal numbers of a's and b's, all a's before all b's, and at least one of each.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one variable S that always wraps a new a...b pair around the previous string.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case n=1 ("ab") must be reachable directly — use S→ab instead of S→ε, since n≥1 excludes the empty string.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194560"/>
            <a:ext cx="5440680" cy="1316736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23591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grammar 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4892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aSb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ab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48006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52303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n=1:  S ⇒ ab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n=3:  S ⇒ aSb ⇒ a(aSb)b ⇒ aa(ab)bb = aaabbb   ✓  3 a's then 3 b's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CFL → CFG · EXAMPLE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{ aⁱbʲ : i ≠ j, i,j ≥ 0 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2F5FC"/>
          </a:solidFill>
          <a:ln w="1524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</a:t>
            </a:r>
            <a:r>
              <a:rPr lang="en-US" sz="16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aⁱbʲ : i ≠ j, i,j ≥ 0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idea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4864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 into two cases: i &gt; j  OR  i &lt; j. Union of two sub-grammars.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 i&gt;j: generate equal aⁿbⁿ in the middle (variable T), then force extra a's on the left with A→aA|a.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 i&lt;j: symmetric — equal core, extra b's forced on the right.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symbol S chooses between the two cases.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1945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23591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grammar 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48920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AT | TB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aA | a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→ bB | b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→ aTb | ε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48006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52303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i=3,j=1 (i&gt;j):  S ⇒ AT ⇒ aAT ⇒ aaT ⇒ aa(ab) = aaaab   → a³b¹  ✓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i=1,j=3 (i&lt;j):  S ⇒ TB ⇒ (ab)B ⇒ ab(bB) ⇒ abbb        → a¹b³  ✓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CFL → CFG · EXAMPLE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{ w ∈ {a,b}* : #a(w) = #b(w) 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2F5FC"/>
          </a:solidFill>
          <a:ln w="1524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</a:t>
            </a:r>
            <a:r>
              <a:rPr lang="en-US" sz="16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w ∈ {a,b}* : #a(w) = #b(w)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idea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4864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string with equal a's and b's can be built by concatenating balanced blocks: an 'a' matched by a later 'b', or a 'b' matched by a later 'a', or two balanced substrings joined together.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is the classic “balanced-symbol” grammar (same shape as balanced parentheses).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194560"/>
            <a:ext cx="5440680" cy="1316736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23591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grammar 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4892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aSb | bSa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SS | ε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48006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52303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"abba":  S ⇒ aSb ⇒ a(bSa)b ⇒ ab(ε)ab = abba              ✓  (2 a's, 2 b's, balanced)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"aabb":  S ⇒ aSb ⇒ a(aSb)b ⇒ a(aεb)b = aabb              ✓  (2 a's, 2 b's, balanced)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CFL → CFG · EXAMPLE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{ w wᴿ : w ∈ {a,b}* }  (Even Palindromes)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2F5FC"/>
          </a:solidFill>
          <a:ln w="1524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</a:t>
            </a:r>
            <a:r>
              <a:rPr lang="en-US" sz="16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w wᴿ : w ∈ {a,b}*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idea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4864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string of the form w wᴿ is built by writing w's first symbol, then recursively building the mirror of the rest, then writing that same symbol again at the end.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case w=ε gives the empty string ε·εᴿ = ε.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is identical in shape to Example 2 of Part 2 — confirms CFG→CFL and CFL→CFG are inverse skills applied to the same language.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194560"/>
            <a:ext cx="5440680" cy="1316736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23591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grammar 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4892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aSa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bSb | ε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48006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52303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ab → target ab · ba = "abba":   S ⇒ aSa ⇒ a(bSb)a ⇒ abεba = abba   ✓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ε → target "":   S ⇒ ε   ✓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CFL → CFG · EXAMPLE 5 (ADVANCED)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{ aⁱbʲcᵏ : i = j  or  j = k,  i,j,k ≥ 1 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2F5FC"/>
          </a:solidFill>
          <a:ln w="1524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</a:t>
            </a:r>
            <a:r>
              <a:rPr lang="en-US" sz="16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aⁱbʲcᵏ : i=j or j=k,  i,j,k ≥ 1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idea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4864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context-free to require i=j=k, but this OR-condition is CF: build it as a union of two simpler CFLs, each handled by its own sub-grammar, joined at S.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Sub-grammar 1 (i=j): tie a's and b's together with A, then append any run of c's.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Sub-grammar 2 (j=k): prepend any run of a's with A2, then tie b's and c's together with B.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19456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23591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grammar 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 → S1 | S2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→ AC            A  → aAb | ab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→ cC | c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→ A2 B          A2 → aA2 | a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 → bBc | bc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48006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52303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i=j=2,k=3 (branch S1): S⇒S1⇒AC⇒(aabb)(ccc) = aabbccc      → i=2,j=2,k=3, i=j ✓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i=3,j=k=2 (branch S2): S⇒S2⇒A2B⇒(aaa)(bbcc) = aaabbcc      → i=3,j=2,k=2, j=k ✓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47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66420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→ CFL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60520" y="166420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derivations, generalize the pattern from small n to a closed-form language description.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30540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871216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CFL → CFG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60520" y="2871216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recursive structure of the language; one variable per independent 'matching' constraint.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07822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&amp; Normal Forms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60520" y="4078224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CNF/GNF enable algorithmic parsing (CYK); ambiguity requires precedence-aware rewriting.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5175504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5468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52852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Pumping Lemma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60520" y="528523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go-to tool to prove a language exceeds context-free power (e.g. aⁿbⁿcⁿ).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&amp; Languages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943600" cy="5943600"/>
          </a:xfrm>
          <a:prstGeom prst="ellipse">
            <a:avLst/>
          </a:prstGeom>
          <a:solidFill>
            <a:srgbClr val="2637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aSb | ε      L(G) = { aⁿbⁿ : n ≥ 0 }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2565</Words>
  <Application>Microsoft Office PowerPoint</Application>
  <PresentationFormat>Widescreen</PresentationFormat>
  <Paragraphs>353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Shinnu [MU - Jaipur]</cp:lastModifiedBy>
  <cp:revision>2</cp:revision>
  <dcterms:created xsi:type="dcterms:W3CDTF">2026-08-11T09:25:41Z</dcterms:created>
  <dcterms:modified xsi:type="dcterms:W3CDTF">2026-09-15T10:02:07Z</dcterms:modified>
</cp:coreProperties>
</file>