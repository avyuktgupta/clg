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3" r:id="rId1"/>
  </p:sldMasterIdLst>
  <p:notesMasterIdLst>
    <p:notesMasterId r:id="rId43"/>
  </p:notesMasterIdLst>
  <p:handoutMasterIdLst>
    <p:handoutMasterId r:id="rId44"/>
  </p:handoutMasterIdLst>
  <p:sldIdLst>
    <p:sldId id="256" r:id="rId2"/>
    <p:sldId id="277" r:id="rId3"/>
    <p:sldId id="278" r:id="rId4"/>
    <p:sldId id="279" r:id="rId5"/>
    <p:sldId id="283" r:id="rId6"/>
    <p:sldId id="322" r:id="rId7"/>
    <p:sldId id="280" r:id="rId8"/>
    <p:sldId id="281" r:id="rId9"/>
    <p:sldId id="282" r:id="rId10"/>
    <p:sldId id="290" r:id="rId11"/>
    <p:sldId id="313" r:id="rId12"/>
    <p:sldId id="296" r:id="rId13"/>
    <p:sldId id="285" r:id="rId14"/>
    <p:sldId id="286" r:id="rId15"/>
    <p:sldId id="289" r:id="rId16"/>
    <p:sldId id="287" r:id="rId17"/>
    <p:sldId id="316" r:id="rId18"/>
    <p:sldId id="288" r:id="rId19"/>
    <p:sldId id="314" r:id="rId20"/>
    <p:sldId id="295" r:id="rId21"/>
    <p:sldId id="292" r:id="rId22"/>
    <p:sldId id="323" r:id="rId23"/>
    <p:sldId id="293" r:id="rId24"/>
    <p:sldId id="297" r:id="rId25"/>
    <p:sldId id="298" r:id="rId26"/>
    <p:sldId id="299" r:id="rId27"/>
    <p:sldId id="300" r:id="rId28"/>
    <p:sldId id="315" r:id="rId29"/>
    <p:sldId id="301" r:id="rId30"/>
    <p:sldId id="302" r:id="rId31"/>
    <p:sldId id="305" r:id="rId32"/>
    <p:sldId id="317" r:id="rId33"/>
    <p:sldId id="306" r:id="rId34"/>
    <p:sldId id="307" r:id="rId35"/>
    <p:sldId id="318" r:id="rId36"/>
    <p:sldId id="321" r:id="rId37"/>
    <p:sldId id="311" r:id="rId38"/>
    <p:sldId id="310" r:id="rId39"/>
    <p:sldId id="319" r:id="rId40"/>
    <p:sldId id="320" r:id="rId41"/>
    <p:sldId id="312" r:id="rId42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00"/>
    <a:srgbClr val="008000"/>
    <a:srgbClr val="CC3499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667" autoAdjust="0"/>
  </p:normalViewPr>
  <p:slideViewPr>
    <p:cSldViewPr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3" d="100"/>
          <a:sy n="93" d="100"/>
        </p:scale>
        <p:origin x="-2488" y="-12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r>
              <a:rPr lang="en-US"/>
              <a:t>Cpt S 317: Spring 2009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r>
              <a:rPr lang="en-US"/>
              <a:t>School of EECS, WSU</a:t>
            </a:r>
          </a:p>
        </p:txBody>
      </p:sp>
      <p:sp>
        <p:nvSpPr>
          <p:cNvPr id="337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fld id="{34AE973B-0377-4451-A2DF-533322CAF6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r>
              <a:rPr lang="en-US"/>
              <a:t>Cpt S 317: Spring 2009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0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r>
              <a:rPr lang="en-US"/>
              <a:t>School of EECS, WSU</a:t>
            </a:r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fld id="{E0BA555B-282E-485F-A77C-9BAF363D83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4505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450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5091108-3184-47D8-A83A-21E983D5F73C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450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4608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460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727D1A9-095E-4C53-814A-53143943BB8E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60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471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471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8DD7EC-B9E6-4A84-AB67-923F94221D8C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710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1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4813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4813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6529549-C0B7-40C1-B7CD-CDD02C4E4E41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81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4915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4915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743AF52-BFB3-4AD8-99AB-91357DE3A74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91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5017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5018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B16ACA4-38A1-45BD-8702-5FC33A0A458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01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5120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5120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1EB050F-742E-4A1C-8F49-3136A43E3C92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12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5222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5222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E6A4F93-4378-48BC-AECB-1571F67AE20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22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5325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5325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9F46A7D-6F6F-4CA5-AE28-5F3211E320B6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32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5427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5427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939011-DB21-46B9-BC2F-6A39352E1CE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42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5529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5530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1D42606-C946-4C6B-B725-F2998B42500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53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5632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5632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B1F37BD-84F6-4182-AE15-0503454E5731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63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5734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5734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EA91614-12B2-4407-B41A-BFB109014DF6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73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5837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5837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ABC6E44-AFDF-454E-BEBD-924EF3B5E66C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83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5939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5939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932C239-4A64-4EEC-8747-521ED96F47C3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93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6041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6042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6B2DA78-EC2B-44B1-BECD-E0293B4597B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04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614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614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595D14F-0331-4EF0-A730-81881D9D7A87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14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624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624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5215827-9558-40BE-8158-183BF6D8A0E1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24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6349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6349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E576BF3-3F03-4D4A-BDF9-D2A15FB637F0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34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645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645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B1E9B6C-C561-47E5-8C4E-070C8EC45892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45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6553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655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E2C6C37-0BF6-468C-9152-DAE36E109638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55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6656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6656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E792A6E-C2C0-452E-8B8E-F009BB5CE12E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65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6758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6758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E13BDC9-35CC-4227-8E85-68C1BB9DD099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75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6861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6861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10F6F6E-0A39-4EC5-B40C-2EA08B5B4C14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86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6963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6963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0DFE3DF-53BA-4BDC-BBBC-AFC0E6BAF7B7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96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7065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706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00CA192-230E-44FA-B191-2D6813545FB0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706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7168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716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66374A5-38EA-46F7-A411-F7FB39EDC0F3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716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47B429-517F-41C3-9175-F3BCFAF56D80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7270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7373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7373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1F6DC82-715C-49B1-9F47-ADA978A297B6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737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7475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7475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B363B8D-7BE2-49DC-A5CB-BBCFE9B9836D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747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7577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7578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4AA92DC-8BA5-4C29-BF54-330D373C81DD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757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7680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7680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8820E45-6572-4EF2-9C08-A4EE7D7AD057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768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7782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7782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BBCFA1C-09DD-475E-BE30-C7D880496360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778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7885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7885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BA655D8-9BA0-44F4-BF46-611F7079EAAD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788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7987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7987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23A4D62-3487-4344-AEA4-0326C138F585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798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8089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8090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791BBBD-D9E1-4729-A2BE-A6605E63D32C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809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090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8192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8192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68D8C3C-9077-49AC-A3B0-E0DD43FF45AB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819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8294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8294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D152EB5-EE69-4B5D-83C6-1053E996A5A2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829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8397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8397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BB4E61-19E0-46E6-94B5-C6C3100C0D90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839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290513" y="2546350"/>
            <a:ext cx="711200" cy="474663"/>
            <a:chOff x="720" y="336"/>
            <a:chExt cx="624" cy="432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720" y="336"/>
              <a:ext cx="384" cy="432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1056" y="336"/>
              <a:ext cx="288" cy="432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grpSp>
        <p:nvGrpSpPr>
          <p:cNvPr id="7" name="Group 5"/>
          <p:cNvGrpSpPr>
            <a:grpSpLocks/>
          </p:cNvGrpSpPr>
          <p:nvPr/>
        </p:nvGrpSpPr>
        <p:grpSpPr bwMode="auto">
          <a:xfrm>
            <a:off x="414338" y="2968625"/>
            <a:ext cx="738187" cy="474663"/>
            <a:chOff x="912" y="2640"/>
            <a:chExt cx="672" cy="432"/>
          </a:xfrm>
        </p:grpSpPr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912" y="2640"/>
              <a:ext cx="384" cy="43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1249" y="2640"/>
              <a:ext cx="335" cy="432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0" y="28956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635000" y="24384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2" name="Rectangle 15"/>
          <p:cNvSpPr>
            <a:spLocks noChangeArrowheads="1"/>
          </p:cNvSpPr>
          <p:nvPr/>
        </p:nvSpPr>
        <p:spPr bwMode="gray">
          <a:xfrm flipV="1">
            <a:off x="315913" y="3265488"/>
            <a:ext cx="8683625" cy="46037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rot="10800000" wrap="none" anchor="ctr"/>
          <a:lstStyle/>
          <a:p>
            <a:pPr algn="ctr" eaLnBrk="1" hangingPunct="1">
              <a:defRPr/>
            </a:pPr>
            <a:endParaRPr kumimoji="1" lang="en-US"/>
          </a:p>
        </p:txBody>
      </p:sp>
      <p:sp>
        <p:nvSpPr>
          <p:cNvPr id="43018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3019" name="Rectangle 11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8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ACB0EAA8-47DF-419E-A3F8-C4691CE14E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6CA52E-33C9-45ED-A83D-384BCC5508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0BA934-7FFC-4074-83A2-29BB25222D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ADCEAA-E668-4164-89E8-C38A138860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8D9A68-9E93-4CE4-BF60-830A5A7CEF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59A5A2-8727-41EB-91BA-AD36E28FB5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E92867-67A2-4027-AE3A-4CB6DDA335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3973CD-7D57-41B7-9267-A88E386108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F9B85A-8FCC-4B4C-A598-AED62856C7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26A344-033C-46C0-8980-B9EC6465B0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16E8CA-37C0-4137-AFED-FD2A166A53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52E058-F757-4588-BC2F-782E0DD4CF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AndTx" preserve="1">
  <p:cSld name="Title, Ch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556436-394B-4D7A-A36A-5FE2422899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/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/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/>
          </a:p>
        </p:txBody>
      </p:sp>
      <p:sp>
        <p:nvSpPr>
          <p:cNvPr id="4198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/>
          </a:p>
        </p:txBody>
      </p:sp>
      <p:sp>
        <p:nvSpPr>
          <p:cNvPr id="4199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/>
          </a:p>
        </p:txBody>
      </p:sp>
      <p:sp>
        <p:nvSpPr>
          <p:cNvPr id="4199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/>
          </a:p>
        </p:txBody>
      </p:sp>
      <p:sp>
        <p:nvSpPr>
          <p:cNvPr id="41992" name="Rectangle 8"/>
          <p:cNvSpPr>
            <a:spLocks noChangeArrowheads="1"/>
          </p:cNvSpPr>
          <p:nvPr/>
        </p:nvSpPr>
        <p:spPr bwMode="gray">
          <a:xfrm flipV="1">
            <a:off x="460375" y="1828800"/>
            <a:ext cx="8683625" cy="460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rot="10800000" wrap="none" anchor="ctr"/>
          <a:lstStyle/>
          <a:p>
            <a:pPr algn="ctr" eaLnBrk="1" hangingPunct="1">
              <a:defRPr/>
            </a:pPr>
            <a:endParaRPr kumimoji="1" lang="en-US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99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9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9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85F33514-CFC3-4696-A3F3-020F978770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  <p:sldLayoutId id="2147483846" r:id="rId12"/>
    <p:sldLayoutId id="2147483847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8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8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8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8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8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8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8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8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8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www.micronautomata.com/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4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F9C0D00-A90E-4491-8B8A-316D35EF5C4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66800" y="1905000"/>
            <a:ext cx="7772400" cy="1143000"/>
          </a:xfrm>
        </p:spPr>
        <p:txBody>
          <a:bodyPr/>
          <a:lstStyle/>
          <a:p>
            <a:pPr eaLnBrk="1" hangingPunct="1"/>
            <a:r>
              <a:rPr lang="en-US"/>
              <a:t>Finite Automata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3276600"/>
            <a:ext cx="6400800" cy="1752600"/>
          </a:xfrm>
        </p:spPr>
        <p:txBody>
          <a:bodyPr/>
          <a:lstStyle/>
          <a:p>
            <a:pPr eaLnBrk="1" hangingPunct="1"/>
            <a:r>
              <a:rPr lang="en-US"/>
              <a:t>Reading: Chapter 2</a:t>
            </a:r>
          </a:p>
        </p:txBody>
      </p:sp>
      <p:sp>
        <p:nvSpPr>
          <p:cNvPr id="3" name="object 6">
            <a:extLst>
              <a:ext uri="{FF2B5EF4-FFF2-40B4-BE49-F238E27FC236}">
                <a16:creationId xmlns:a16="http://schemas.microsoft.com/office/drawing/2014/main" id="{49A3EB3C-C69A-D247-EBA6-D9DBF29E8360}"/>
              </a:ext>
            </a:extLst>
          </p:cNvPr>
          <p:cNvSpPr txBox="1"/>
          <p:nvPr/>
        </p:nvSpPr>
        <p:spPr>
          <a:xfrm>
            <a:off x="1409700" y="4388917"/>
            <a:ext cx="6400800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5300" algn="ctr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282823"/>
                </a:solidFill>
                <a:latin typeface="Arial"/>
                <a:cs typeface="Arial"/>
              </a:rPr>
              <a:t>Dr.</a:t>
            </a:r>
            <a:r>
              <a:rPr sz="3600" b="1" spc="-25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282823"/>
                </a:solidFill>
                <a:latin typeface="Arial"/>
                <a:cs typeface="Arial"/>
              </a:rPr>
              <a:t>Shinnu</a:t>
            </a:r>
            <a:r>
              <a:rPr sz="3600" b="1" spc="-25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3600" b="1" spc="-10" dirty="0">
                <a:solidFill>
                  <a:srgbClr val="282823"/>
                </a:solidFill>
                <a:latin typeface="Arial"/>
                <a:cs typeface="Arial"/>
              </a:rPr>
              <a:t>Jangra</a:t>
            </a:r>
            <a:endParaRPr lang="en-US" sz="3600" b="1" spc="-10" dirty="0">
              <a:solidFill>
                <a:srgbClr val="282823"/>
              </a:solidFill>
              <a:latin typeface="Arial"/>
              <a:cs typeface="Arial"/>
            </a:endParaRPr>
          </a:p>
          <a:p>
            <a:pPr marL="495300" algn="ctr">
              <a:lnSpc>
                <a:spcPct val="100000"/>
              </a:lnSpc>
              <a:spcBef>
                <a:spcPts val="100"/>
              </a:spcBef>
            </a:pPr>
            <a:r>
              <a:rPr lang="en-US" sz="3600" b="1" spc="-10" dirty="0">
                <a:solidFill>
                  <a:srgbClr val="282823"/>
                </a:solidFill>
                <a:latin typeface="Arial"/>
                <a:cs typeface="Arial"/>
              </a:rPr>
              <a:t>Assistant Professor</a:t>
            </a:r>
            <a:endParaRPr sz="3600" dirty="0">
              <a:latin typeface="Arial"/>
              <a:cs typeface="Arial"/>
            </a:endParaRPr>
          </a:p>
          <a:p>
            <a:pPr marL="12065" marR="5080" algn="ctr">
              <a:lnSpc>
                <a:spcPct val="123000"/>
              </a:lnSpc>
              <a:spcBef>
                <a:spcPts val="640"/>
              </a:spcBef>
            </a:pPr>
            <a:r>
              <a:rPr sz="1800" dirty="0">
                <a:solidFill>
                  <a:srgbClr val="494945"/>
                </a:solidFill>
                <a:latin typeface="Arial MT"/>
                <a:cs typeface="Arial MT"/>
              </a:rPr>
              <a:t>Department</a:t>
            </a:r>
            <a:r>
              <a:rPr sz="1800" spc="-35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94945"/>
                </a:solidFill>
                <a:latin typeface="Arial MT"/>
                <a:cs typeface="Arial MT"/>
              </a:rPr>
              <a:t>of</a:t>
            </a:r>
            <a:r>
              <a:rPr sz="1800" spc="-30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94945"/>
                </a:solidFill>
                <a:latin typeface="Arial MT"/>
                <a:cs typeface="Arial MT"/>
              </a:rPr>
              <a:t>Artificial</a:t>
            </a:r>
            <a:r>
              <a:rPr sz="1800" spc="-35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94945"/>
                </a:solidFill>
                <a:latin typeface="Arial MT"/>
                <a:cs typeface="Arial MT"/>
              </a:rPr>
              <a:t>Intelligence</a:t>
            </a:r>
            <a:r>
              <a:rPr sz="1800" spc="-30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94945"/>
                </a:solidFill>
                <a:latin typeface="Arial MT"/>
                <a:cs typeface="Arial MT"/>
              </a:rPr>
              <a:t>and</a:t>
            </a:r>
            <a:r>
              <a:rPr sz="1800" spc="-30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94945"/>
                </a:solidFill>
                <a:latin typeface="Arial MT"/>
                <a:cs typeface="Arial MT"/>
              </a:rPr>
              <a:t>Machine </a:t>
            </a:r>
            <a:r>
              <a:rPr sz="1800" dirty="0">
                <a:solidFill>
                  <a:srgbClr val="494945"/>
                </a:solidFill>
                <a:latin typeface="Arial MT"/>
                <a:cs typeface="Arial MT"/>
              </a:rPr>
              <a:t>Learning,</a:t>
            </a:r>
            <a:r>
              <a:rPr sz="1800" spc="-25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94945"/>
                </a:solidFill>
                <a:latin typeface="Arial MT"/>
                <a:cs typeface="Arial MT"/>
              </a:rPr>
              <a:t>Manipal</a:t>
            </a:r>
            <a:r>
              <a:rPr sz="1800" spc="-25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94945"/>
                </a:solidFill>
                <a:latin typeface="Arial MT"/>
                <a:cs typeface="Arial MT"/>
              </a:rPr>
              <a:t>University</a:t>
            </a:r>
            <a:r>
              <a:rPr sz="1800" spc="-25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94945"/>
                </a:solidFill>
                <a:latin typeface="Arial MT"/>
                <a:cs typeface="Arial MT"/>
              </a:rPr>
              <a:t>Jaipur,</a:t>
            </a:r>
            <a:r>
              <a:rPr sz="1800" spc="-25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94945"/>
                </a:solidFill>
                <a:latin typeface="Arial MT"/>
                <a:cs typeface="Arial MT"/>
              </a:rPr>
              <a:t>Rajasthan, India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1F708B1-69C2-43BF-B44B-2118BB0DE206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Finite Automaton (FA)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/>
              <a:t>Informally, a state diagram that comprehensively captures all possible states and transitions that a machine can take while responding to a stream or sequence of input symbols</a:t>
            </a:r>
          </a:p>
          <a:p>
            <a:pPr eaLnBrk="1" hangingPunct="1">
              <a:lnSpc>
                <a:spcPct val="90000"/>
              </a:lnSpc>
            </a:pPr>
            <a:r>
              <a:rPr lang="en-US" sz="2400"/>
              <a:t>Recognizer for “Regular Languages”</a:t>
            </a:r>
          </a:p>
          <a:p>
            <a:pPr eaLnBrk="1" hangingPunct="1">
              <a:lnSpc>
                <a:spcPct val="90000"/>
              </a:lnSpc>
            </a:pPr>
            <a:endParaRPr lang="en-US" sz="2400"/>
          </a:p>
          <a:p>
            <a:pPr eaLnBrk="1" hangingPunct="1">
              <a:lnSpc>
                <a:spcPct val="90000"/>
              </a:lnSpc>
            </a:pPr>
            <a:r>
              <a:rPr lang="en-US" sz="2400">
                <a:solidFill>
                  <a:schemeClr val="folHlink"/>
                </a:solidFill>
              </a:rPr>
              <a:t>Deterministic Finite Automata (DFA)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/>
              <a:t>The machine can exist in only one state at any given time</a:t>
            </a:r>
          </a:p>
          <a:p>
            <a:pPr eaLnBrk="1" hangingPunct="1">
              <a:lnSpc>
                <a:spcPct val="90000"/>
              </a:lnSpc>
            </a:pPr>
            <a:r>
              <a:rPr lang="en-US" sz="2400">
                <a:solidFill>
                  <a:schemeClr val="hlink"/>
                </a:solidFill>
              </a:rPr>
              <a:t>Non-deterministic Finite Automata (NFA)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/>
              <a:t>The machine can exist in multiple states at the same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BEBB7A7-D16F-491D-B3F3-78F14B67957A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Deterministic Finite Automata - Definition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A </a:t>
            </a:r>
            <a:r>
              <a:rPr lang="en-US" sz="2800" dirty="0">
                <a:solidFill>
                  <a:schemeClr val="tx2"/>
                </a:solidFill>
              </a:rPr>
              <a:t>Deterministic Finite Automaton (DFA)</a:t>
            </a:r>
            <a:r>
              <a:rPr lang="en-US" sz="2800" dirty="0"/>
              <a:t> consists of: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Q ==&gt; a finite set of states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∑ ==&gt; a finite set of input symbols (alphabet)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q</a:t>
            </a:r>
            <a:r>
              <a:rPr lang="en-US" sz="2400" baseline="-25000" dirty="0"/>
              <a:t>0</a:t>
            </a:r>
            <a:r>
              <a:rPr lang="en-US" sz="2400" dirty="0"/>
              <a:t> ==&gt; a start state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F ==&gt; set of accepting states</a:t>
            </a:r>
          </a:p>
          <a:p>
            <a:pPr lvl="1" eaLnBrk="1" hangingPunct="1">
              <a:lnSpc>
                <a:spcPct val="90000"/>
              </a:lnSpc>
            </a:pPr>
            <a:r>
              <a:rPr lang="el-GR" sz="2400" dirty="0">
                <a:latin typeface="Lucida Grande" pitchFamily="28" charset="0"/>
                <a:cs typeface="Tahoma" pitchFamily="28" charset="0"/>
              </a:rPr>
              <a:t>δ</a:t>
            </a:r>
            <a:r>
              <a:rPr lang="en-US" sz="2400" dirty="0"/>
              <a:t>  ==&gt; a transition function, which is a mapping between Q x ∑ ==&gt; Q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/>
              <a:t>A DFA is defined by the 5-tuple: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>
                <a:solidFill>
                  <a:schemeClr val="tx2"/>
                </a:solidFill>
              </a:rPr>
              <a:t>{Q, ∑ , q</a:t>
            </a:r>
            <a:r>
              <a:rPr lang="en-US" sz="2400" baseline="-25000" dirty="0">
                <a:solidFill>
                  <a:schemeClr val="tx2"/>
                </a:solidFill>
              </a:rPr>
              <a:t>0</a:t>
            </a:r>
            <a:r>
              <a:rPr lang="en-US" sz="2400" dirty="0">
                <a:solidFill>
                  <a:schemeClr val="tx2"/>
                </a:solidFill>
              </a:rPr>
              <a:t>,F, </a:t>
            </a:r>
            <a:r>
              <a:rPr lang="el-GR" sz="2400" dirty="0">
                <a:solidFill>
                  <a:schemeClr val="folHlink"/>
                </a:solidFill>
                <a:latin typeface="Lucida Grande" pitchFamily="28" charset="0"/>
                <a:cs typeface="Tahoma" pitchFamily="28" charset="0"/>
              </a:rPr>
              <a:t>δ</a:t>
            </a:r>
            <a:r>
              <a:rPr lang="en-US" sz="2400" dirty="0">
                <a:solidFill>
                  <a:schemeClr val="tx2"/>
                </a:solidFill>
              </a:rPr>
              <a:t>  }</a:t>
            </a:r>
          </a:p>
          <a:p>
            <a:pPr lvl="1" eaLnBrk="1" hangingPunct="1">
              <a:lnSpc>
                <a:spcPct val="90000"/>
              </a:lnSpc>
            </a:pPr>
            <a:endParaRPr lang="en-US" sz="2400" dirty="0">
              <a:solidFill>
                <a:schemeClr val="tx2"/>
              </a:solidFill>
            </a:endParaRPr>
          </a:p>
          <a:p>
            <a:pPr lvl="1" eaLnBrk="1" hangingPunct="1">
              <a:lnSpc>
                <a:spcPct val="90000"/>
              </a:lnSpc>
            </a:pP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0DE1015-617C-421C-BAC6-F164D45BA0C0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What does a DFA do on reading an input string?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u="sng" dirty="0"/>
              <a:t>Input:</a:t>
            </a:r>
            <a:r>
              <a:rPr lang="en-US" sz="2800" dirty="0"/>
              <a:t> a word w in ∑*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u="sng" dirty="0"/>
              <a:t>Question:</a:t>
            </a:r>
            <a:r>
              <a:rPr lang="en-US" sz="2800" dirty="0"/>
              <a:t> Is w acceptable by the DFA?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u="sng" dirty="0"/>
              <a:t>Steps:</a:t>
            </a:r>
            <a:endParaRPr lang="en-US" sz="2800" dirty="0"/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Start at the “start state” q</a:t>
            </a:r>
            <a:r>
              <a:rPr lang="en-US" sz="2400" baseline="-25000" dirty="0"/>
              <a:t>0</a:t>
            </a:r>
            <a:endParaRPr lang="en-US" sz="2400" dirty="0"/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For every input symbol in the sequence w do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dirty="0"/>
              <a:t>Compute the next state from the current state, given the current input symbol in w and the transition function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If after all symbols in w are consumed, the current state is one of the accepting states (F) then </a:t>
            </a:r>
            <a:r>
              <a:rPr lang="en-US" sz="2400" i="1" dirty="0"/>
              <a:t>accept w;</a:t>
            </a:r>
            <a:r>
              <a:rPr lang="en-US" sz="2400" dirty="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Otherwise, </a:t>
            </a:r>
            <a:r>
              <a:rPr lang="en-US" sz="2400" i="1" dirty="0"/>
              <a:t>reject w.</a:t>
            </a:r>
            <a:endParaRPr lang="en-US" sz="2400" dirty="0"/>
          </a:p>
          <a:p>
            <a:pPr lvl="1" eaLnBrk="1" hangingPunct="1">
              <a:lnSpc>
                <a:spcPct val="90000"/>
              </a:lnSpc>
            </a:pPr>
            <a:endParaRPr lang="en-US" sz="2400" dirty="0"/>
          </a:p>
          <a:p>
            <a:pPr lvl="1" eaLnBrk="1" hangingPunct="1">
              <a:lnSpc>
                <a:spcPct val="90000"/>
              </a:lnSpc>
            </a:pP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52543AA-5CF9-4053-8181-DE7D143E9856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Regular Languages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Let L(A) be a language </a:t>
            </a:r>
            <a:r>
              <a:rPr lang="en-US" i="1"/>
              <a:t>recognized </a:t>
            </a:r>
            <a:r>
              <a:rPr lang="en-US"/>
              <a:t>by a DFA A. </a:t>
            </a:r>
          </a:p>
          <a:p>
            <a:pPr lvl="1" eaLnBrk="1" hangingPunct="1"/>
            <a:r>
              <a:rPr lang="en-US"/>
              <a:t>Then L(A) is called a “</a:t>
            </a:r>
            <a:r>
              <a:rPr lang="en-US" i="1">
                <a:solidFill>
                  <a:schemeClr val="tx2"/>
                </a:solidFill>
              </a:rPr>
              <a:t>Regular Language”</a:t>
            </a:r>
            <a:r>
              <a:rPr lang="en-US" i="1"/>
              <a:t>.</a:t>
            </a:r>
          </a:p>
          <a:p>
            <a:pPr eaLnBrk="1" hangingPunct="1"/>
            <a:endParaRPr lang="en-US" i="1"/>
          </a:p>
          <a:p>
            <a:pPr eaLnBrk="1" hangingPunct="1"/>
            <a:r>
              <a:rPr lang="en-US"/>
              <a:t>Locate regular languages in the Chomsky Hierarchy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E443978-E35C-486D-9ED0-3CA178A11B85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The Chomsky Hierachy</a:t>
            </a:r>
          </a:p>
        </p:txBody>
      </p:sp>
      <p:sp>
        <p:nvSpPr>
          <p:cNvPr id="8196" name="Oval 3"/>
          <p:cNvSpPr>
            <a:spLocks noChangeArrowheads="1"/>
          </p:cNvSpPr>
          <p:nvPr/>
        </p:nvSpPr>
        <p:spPr bwMode="auto">
          <a:xfrm>
            <a:off x="1219200" y="3124200"/>
            <a:ext cx="1143000" cy="1600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Regular</a:t>
            </a:r>
          </a:p>
          <a:p>
            <a:pPr algn="ctr"/>
            <a:r>
              <a:rPr lang="en-US" sz="1800"/>
              <a:t>(DFA)</a:t>
            </a:r>
          </a:p>
        </p:txBody>
      </p:sp>
      <p:sp>
        <p:nvSpPr>
          <p:cNvPr id="8197" name="Oval 5"/>
          <p:cNvSpPr>
            <a:spLocks noChangeArrowheads="1"/>
          </p:cNvSpPr>
          <p:nvPr/>
        </p:nvSpPr>
        <p:spPr bwMode="auto">
          <a:xfrm>
            <a:off x="762000" y="2895600"/>
            <a:ext cx="3276600" cy="2514600"/>
          </a:xfrm>
          <a:prstGeom prst="ellipse">
            <a:avLst/>
          </a:prstGeom>
          <a:solidFill>
            <a:schemeClr val="accent1">
              <a:alpha val="9019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r"/>
            <a:r>
              <a:rPr lang="en-US"/>
              <a:t>Context-</a:t>
            </a:r>
            <a:br>
              <a:rPr lang="en-US"/>
            </a:br>
            <a:r>
              <a:rPr lang="en-US"/>
              <a:t>free</a:t>
            </a:r>
          </a:p>
          <a:p>
            <a:pPr algn="r"/>
            <a:r>
              <a:rPr lang="en-US"/>
              <a:t>(PDA)</a:t>
            </a:r>
          </a:p>
        </p:txBody>
      </p:sp>
      <p:sp>
        <p:nvSpPr>
          <p:cNvPr id="8198" name="Oval 7"/>
          <p:cNvSpPr>
            <a:spLocks noChangeArrowheads="1"/>
          </p:cNvSpPr>
          <p:nvPr/>
        </p:nvSpPr>
        <p:spPr bwMode="auto">
          <a:xfrm>
            <a:off x="381000" y="2667000"/>
            <a:ext cx="5943600" cy="3352800"/>
          </a:xfrm>
          <a:prstGeom prst="ellipse">
            <a:avLst/>
          </a:prstGeom>
          <a:solidFill>
            <a:schemeClr val="accent1">
              <a:alpha val="18039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r"/>
            <a:r>
              <a:rPr lang="en-US"/>
              <a:t>Context-</a:t>
            </a:r>
            <a:br>
              <a:rPr lang="en-US"/>
            </a:br>
            <a:r>
              <a:rPr lang="en-US"/>
              <a:t>sensitive </a:t>
            </a:r>
            <a:br>
              <a:rPr lang="en-US"/>
            </a:br>
            <a:r>
              <a:rPr lang="en-US"/>
              <a:t>(LBA)</a:t>
            </a:r>
          </a:p>
        </p:txBody>
      </p:sp>
      <p:sp>
        <p:nvSpPr>
          <p:cNvPr id="8199" name="Oval 9"/>
          <p:cNvSpPr>
            <a:spLocks noChangeArrowheads="1"/>
          </p:cNvSpPr>
          <p:nvPr/>
        </p:nvSpPr>
        <p:spPr bwMode="auto">
          <a:xfrm>
            <a:off x="228600" y="2362200"/>
            <a:ext cx="8915400" cy="4267200"/>
          </a:xfrm>
          <a:prstGeom prst="ellipse">
            <a:avLst/>
          </a:prstGeom>
          <a:solidFill>
            <a:schemeClr val="accent1">
              <a:alpha val="2196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r"/>
            <a:r>
              <a:rPr lang="en-US"/>
              <a:t>Recursively-</a:t>
            </a:r>
            <a:br>
              <a:rPr lang="en-US"/>
            </a:br>
            <a:r>
              <a:rPr lang="en-US"/>
              <a:t>enumerable </a:t>
            </a:r>
            <a:br>
              <a:rPr lang="en-US"/>
            </a:br>
            <a:r>
              <a:rPr lang="en-US"/>
              <a:t>(TM)</a:t>
            </a:r>
          </a:p>
        </p:txBody>
      </p:sp>
      <p:sp>
        <p:nvSpPr>
          <p:cNvPr id="8200" name="Text Box 11"/>
          <p:cNvSpPr txBox="1">
            <a:spLocks noChangeArrowheads="1"/>
          </p:cNvSpPr>
          <p:nvPr/>
        </p:nvSpPr>
        <p:spPr bwMode="auto">
          <a:xfrm>
            <a:off x="1279525" y="1800225"/>
            <a:ext cx="78628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A containment hierarchy of classes of formal languages</a:t>
            </a:r>
          </a:p>
        </p:txBody>
      </p:sp>
      <p:pic>
        <p:nvPicPr>
          <p:cNvPr id="8201" name="Picture 1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91400" y="228600"/>
            <a:ext cx="1300163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202" name="Straight Arrow Connector 10"/>
          <p:cNvCxnSpPr>
            <a:cxnSpLocks noChangeShapeType="1"/>
          </p:cNvCxnSpPr>
          <p:nvPr/>
        </p:nvCxnSpPr>
        <p:spPr bwMode="auto">
          <a:xfrm flipV="1">
            <a:off x="685800" y="4343400"/>
            <a:ext cx="1143000" cy="2057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7EA93E1-2388-4FB3-9707-9F8E417EFDA0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 #1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Build a DFA for the following language: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>
                <a:solidFill>
                  <a:schemeClr val="tx2"/>
                </a:solidFill>
              </a:rPr>
              <a:t>L = {w | w is a binary string that contains 01 as a substring}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Steps for building a DFA to recognize L: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∑ = {0,1}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Decide on the states: Q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Designate start state and final state(s)</a:t>
            </a:r>
          </a:p>
          <a:p>
            <a:pPr lvl="1" eaLnBrk="1" hangingPunct="1">
              <a:lnSpc>
                <a:spcPct val="90000"/>
              </a:lnSpc>
            </a:pPr>
            <a:r>
              <a:rPr lang="el-GR" sz="2000" dirty="0">
                <a:latin typeface="Lucida Grande" pitchFamily="28" charset="0"/>
                <a:cs typeface="Tahoma" pitchFamily="28" charset="0"/>
              </a:rPr>
              <a:t>δ</a:t>
            </a:r>
            <a:r>
              <a:rPr lang="en-US" sz="2000" dirty="0">
                <a:latin typeface="Lucida Grande" pitchFamily="28" charset="0"/>
                <a:cs typeface="Tahoma" pitchFamily="28" charset="0"/>
              </a:rPr>
              <a:t>: </a:t>
            </a:r>
            <a:r>
              <a:rPr lang="en-US" sz="2000" dirty="0"/>
              <a:t>Decide on the transitions: 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“Final” states == same as “accepting states”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Other states == same as “non-accepting states”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0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08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08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9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E1C0BA0-EBD5-4099-97A8-EE12DD14733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DFA for strings containing 01</a:t>
            </a:r>
          </a:p>
        </p:txBody>
      </p:sp>
      <p:grpSp>
        <p:nvGrpSpPr>
          <p:cNvPr id="2" name="Group 115"/>
          <p:cNvGrpSpPr>
            <a:grpSpLocks/>
          </p:cNvGrpSpPr>
          <p:nvPr/>
        </p:nvGrpSpPr>
        <p:grpSpPr bwMode="auto">
          <a:xfrm>
            <a:off x="990600" y="3733800"/>
            <a:ext cx="1371600" cy="609600"/>
            <a:chOff x="624" y="2352"/>
            <a:chExt cx="864" cy="384"/>
          </a:xfrm>
        </p:grpSpPr>
        <p:sp>
          <p:nvSpPr>
            <p:cNvPr id="10301" name="Oval 4"/>
            <p:cNvSpPr>
              <a:spLocks noChangeArrowheads="1"/>
            </p:cNvSpPr>
            <p:nvPr/>
          </p:nvSpPr>
          <p:spPr bwMode="auto">
            <a:xfrm>
              <a:off x="1200" y="244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q</a:t>
              </a:r>
              <a:r>
                <a:rPr lang="en-US" baseline="-25000"/>
                <a:t>0</a:t>
              </a:r>
            </a:p>
          </p:txBody>
        </p:sp>
        <p:sp>
          <p:nvSpPr>
            <p:cNvPr id="10302" name="Line 6"/>
            <p:cNvSpPr>
              <a:spLocks noChangeShapeType="1"/>
            </p:cNvSpPr>
            <p:nvPr/>
          </p:nvSpPr>
          <p:spPr bwMode="auto">
            <a:xfrm>
              <a:off x="816" y="2592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03" name="Text Box 7"/>
            <p:cNvSpPr txBox="1">
              <a:spLocks noChangeArrowheads="1"/>
            </p:cNvSpPr>
            <p:nvPr/>
          </p:nvSpPr>
          <p:spPr bwMode="auto">
            <a:xfrm>
              <a:off x="624" y="2352"/>
              <a:ext cx="48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start</a:t>
              </a:r>
            </a:p>
          </p:txBody>
        </p:sp>
      </p:grp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2362200" y="3697288"/>
            <a:ext cx="990600" cy="646112"/>
            <a:chOff x="2016" y="2329"/>
            <a:chExt cx="624" cy="407"/>
          </a:xfrm>
        </p:grpSpPr>
        <p:sp>
          <p:nvSpPr>
            <p:cNvPr id="10298" name="Line 8"/>
            <p:cNvSpPr>
              <a:spLocks noChangeShapeType="1"/>
            </p:cNvSpPr>
            <p:nvPr/>
          </p:nvSpPr>
          <p:spPr bwMode="auto">
            <a:xfrm>
              <a:off x="2016" y="259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99" name="Oval 9"/>
            <p:cNvSpPr>
              <a:spLocks noChangeArrowheads="1"/>
            </p:cNvSpPr>
            <p:nvPr/>
          </p:nvSpPr>
          <p:spPr bwMode="auto">
            <a:xfrm>
              <a:off x="2352" y="244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q</a:t>
              </a:r>
              <a:r>
                <a:rPr lang="en-US" baseline="-25000"/>
                <a:t>1</a:t>
              </a:r>
            </a:p>
          </p:txBody>
        </p:sp>
        <p:sp>
          <p:nvSpPr>
            <p:cNvPr id="10300" name="Text Box 10"/>
            <p:cNvSpPr txBox="1">
              <a:spLocks noChangeArrowheads="1"/>
            </p:cNvSpPr>
            <p:nvPr/>
          </p:nvSpPr>
          <p:spPr bwMode="auto">
            <a:xfrm>
              <a:off x="2054" y="2329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0</a:t>
              </a:r>
            </a:p>
          </p:txBody>
        </p:sp>
      </p:grpSp>
      <p:sp>
        <p:nvSpPr>
          <p:cNvPr id="9222" name="Text Box 14"/>
          <p:cNvSpPr txBox="1">
            <a:spLocks noChangeArrowheads="1"/>
          </p:cNvSpPr>
          <p:nvPr/>
        </p:nvSpPr>
        <p:spPr bwMode="auto">
          <a:xfrm>
            <a:off x="3276600" y="304800"/>
            <a:ext cx="50228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Regular expression: (0+1)*01(0+1)*</a:t>
            </a:r>
          </a:p>
        </p:txBody>
      </p:sp>
      <p:grpSp>
        <p:nvGrpSpPr>
          <p:cNvPr id="4" name="Group 30"/>
          <p:cNvGrpSpPr>
            <a:grpSpLocks/>
          </p:cNvGrpSpPr>
          <p:nvPr/>
        </p:nvGrpSpPr>
        <p:grpSpPr bwMode="auto">
          <a:xfrm>
            <a:off x="1879600" y="3163888"/>
            <a:ext cx="439738" cy="722312"/>
            <a:chOff x="1712" y="1993"/>
            <a:chExt cx="277" cy="455"/>
          </a:xfrm>
        </p:grpSpPr>
        <p:sp>
          <p:nvSpPr>
            <p:cNvPr id="10296" name="Freeform 17"/>
            <p:cNvSpPr>
              <a:spLocks/>
            </p:cNvSpPr>
            <p:nvPr/>
          </p:nvSpPr>
          <p:spPr bwMode="auto">
            <a:xfrm>
              <a:off x="1712" y="2248"/>
              <a:ext cx="264" cy="200"/>
            </a:xfrm>
            <a:custGeom>
              <a:avLst/>
              <a:gdLst>
                <a:gd name="T0" fmla="*/ 64 w 264"/>
                <a:gd name="T1" fmla="*/ 200 h 200"/>
                <a:gd name="T2" fmla="*/ 16 w 264"/>
                <a:gd name="T3" fmla="*/ 56 h 200"/>
                <a:gd name="T4" fmla="*/ 160 w 264"/>
                <a:gd name="T5" fmla="*/ 8 h 200"/>
                <a:gd name="T6" fmla="*/ 256 w 264"/>
                <a:gd name="T7" fmla="*/ 104 h 200"/>
                <a:gd name="T8" fmla="*/ 208 w 264"/>
                <a:gd name="T9" fmla="*/ 200 h 2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4"/>
                <a:gd name="T16" fmla="*/ 0 h 200"/>
                <a:gd name="T17" fmla="*/ 264 w 264"/>
                <a:gd name="T18" fmla="*/ 200 h 2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4" h="200">
                  <a:moveTo>
                    <a:pt x="64" y="200"/>
                  </a:moveTo>
                  <a:cubicBezTo>
                    <a:pt x="32" y="144"/>
                    <a:pt x="0" y="88"/>
                    <a:pt x="16" y="56"/>
                  </a:cubicBezTo>
                  <a:cubicBezTo>
                    <a:pt x="32" y="24"/>
                    <a:pt x="120" y="0"/>
                    <a:pt x="160" y="8"/>
                  </a:cubicBezTo>
                  <a:cubicBezTo>
                    <a:pt x="200" y="16"/>
                    <a:pt x="248" y="72"/>
                    <a:pt x="256" y="104"/>
                  </a:cubicBezTo>
                  <a:cubicBezTo>
                    <a:pt x="264" y="136"/>
                    <a:pt x="236" y="168"/>
                    <a:pt x="208" y="20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97" name="Text Box 18"/>
            <p:cNvSpPr txBox="1">
              <a:spLocks noChangeArrowheads="1"/>
            </p:cNvSpPr>
            <p:nvPr/>
          </p:nvSpPr>
          <p:spPr bwMode="auto">
            <a:xfrm>
              <a:off x="1766" y="1993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1</a:t>
              </a:r>
            </a:p>
          </p:txBody>
        </p:sp>
      </p:grpSp>
      <p:grpSp>
        <p:nvGrpSpPr>
          <p:cNvPr id="5" name="Group 28"/>
          <p:cNvGrpSpPr>
            <a:grpSpLocks/>
          </p:cNvGrpSpPr>
          <p:nvPr/>
        </p:nvGrpSpPr>
        <p:grpSpPr bwMode="auto">
          <a:xfrm>
            <a:off x="3876675" y="3124200"/>
            <a:ext cx="693738" cy="722313"/>
            <a:chOff x="2970" y="1968"/>
            <a:chExt cx="437" cy="455"/>
          </a:xfrm>
        </p:grpSpPr>
        <p:sp>
          <p:nvSpPr>
            <p:cNvPr id="10294" name="Freeform 19"/>
            <p:cNvSpPr>
              <a:spLocks/>
            </p:cNvSpPr>
            <p:nvPr/>
          </p:nvSpPr>
          <p:spPr bwMode="auto">
            <a:xfrm>
              <a:off x="2970" y="2223"/>
              <a:ext cx="264" cy="200"/>
            </a:xfrm>
            <a:custGeom>
              <a:avLst/>
              <a:gdLst>
                <a:gd name="T0" fmla="*/ 64 w 264"/>
                <a:gd name="T1" fmla="*/ 200 h 200"/>
                <a:gd name="T2" fmla="*/ 16 w 264"/>
                <a:gd name="T3" fmla="*/ 56 h 200"/>
                <a:gd name="T4" fmla="*/ 160 w 264"/>
                <a:gd name="T5" fmla="*/ 8 h 200"/>
                <a:gd name="T6" fmla="*/ 256 w 264"/>
                <a:gd name="T7" fmla="*/ 104 h 200"/>
                <a:gd name="T8" fmla="*/ 208 w 264"/>
                <a:gd name="T9" fmla="*/ 200 h 2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4"/>
                <a:gd name="T16" fmla="*/ 0 h 200"/>
                <a:gd name="T17" fmla="*/ 264 w 264"/>
                <a:gd name="T18" fmla="*/ 200 h 2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4" h="200">
                  <a:moveTo>
                    <a:pt x="64" y="200"/>
                  </a:moveTo>
                  <a:cubicBezTo>
                    <a:pt x="32" y="144"/>
                    <a:pt x="0" y="88"/>
                    <a:pt x="16" y="56"/>
                  </a:cubicBezTo>
                  <a:cubicBezTo>
                    <a:pt x="32" y="24"/>
                    <a:pt x="120" y="0"/>
                    <a:pt x="160" y="8"/>
                  </a:cubicBezTo>
                  <a:cubicBezTo>
                    <a:pt x="200" y="16"/>
                    <a:pt x="248" y="72"/>
                    <a:pt x="256" y="104"/>
                  </a:cubicBezTo>
                  <a:cubicBezTo>
                    <a:pt x="264" y="136"/>
                    <a:pt x="236" y="168"/>
                    <a:pt x="208" y="20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95" name="Text Box 20"/>
            <p:cNvSpPr txBox="1">
              <a:spLocks noChangeArrowheads="1"/>
            </p:cNvSpPr>
            <p:nvPr/>
          </p:nvSpPr>
          <p:spPr bwMode="auto">
            <a:xfrm>
              <a:off x="3024" y="1968"/>
              <a:ext cx="38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0,1</a:t>
              </a:r>
            </a:p>
          </p:txBody>
        </p:sp>
      </p:grpSp>
      <p:grpSp>
        <p:nvGrpSpPr>
          <p:cNvPr id="6" name="Group 29"/>
          <p:cNvGrpSpPr>
            <a:grpSpLocks/>
          </p:cNvGrpSpPr>
          <p:nvPr/>
        </p:nvGrpSpPr>
        <p:grpSpPr bwMode="auto">
          <a:xfrm>
            <a:off x="2886075" y="3200400"/>
            <a:ext cx="439738" cy="722313"/>
            <a:chOff x="2346" y="2016"/>
            <a:chExt cx="277" cy="455"/>
          </a:xfrm>
        </p:grpSpPr>
        <p:sp>
          <p:nvSpPr>
            <p:cNvPr id="10292" name="Freeform 21"/>
            <p:cNvSpPr>
              <a:spLocks/>
            </p:cNvSpPr>
            <p:nvPr/>
          </p:nvSpPr>
          <p:spPr bwMode="auto">
            <a:xfrm>
              <a:off x="2346" y="2271"/>
              <a:ext cx="264" cy="200"/>
            </a:xfrm>
            <a:custGeom>
              <a:avLst/>
              <a:gdLst>
                <a:gd name="T0" fmla="*/ 64 w 264"/>
                <a:gd name="T1" fmla="*/ 200 h 200"/>
                <a:gd name="T2" fmla="*/ 16 w 264"/>
                <a:gd name="T3" fmla="*/ 56 h 200"/>
                <a:gd name="T4" fmla="*/ 160 w 264"/>
                <a:gd name="T5" fmla="*/ 8 h 200"/>
                <a:gd name="T6" fmla="*/ 256 w 264"/>
                <a:gd name="T7" fmla="*/ 104 h 200"/>
                <a:gd name="T8" fmla="*/ 208 w 264"/>
                <a:gd name="T9" fmla="*/ 200 h 2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4"/>
                <a:gd name="T16" fmla="*/ 0 h 200"/>
                <a:gd name="T17" fmla="*/ 264 w 264"/>
                <a:gd name="T18" fmla="*/ 200 h 2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4" h="200">
                  <a:moveTo>
                    <a:pt x="64" y="200"/>
                  </a:moveTo>
                  <a:cubicBezTo>
                    <a:pt x="32" y="144"/>
                    <a:pt x="0" y="88"/>
                    <a:pt x="16" y="56"/>
                  </a:cubicBezTo>
                  <a:cubicBezTo>
                    <a:pt x="32" y="24"/>
                    <a:pt x="120" y="0"/>
                    <a:pt x="160" y="8"/>
                  </a:cubicBezTo>
                  <a:cubicBezTo>
                    <a:pt x="200" y="16"/>
                    <a:pt x="248" y="72"/>
                    <a:pt x="256" y="104"/>
                  </a:cubicBezTo>
                  <a:cubicBezTo>
                    <a:pt x="264" y="136"/>
                    <a:pt x="236" y="168"/>
                    <a:pt x="208" y="20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93" name="Text Box 22"/>
            <p:cNvSpPr txBox="1">
              <a:spLocks noChangeArrowheads="1"/>
            </p:cNvSpPr>
            <p:nvPr/>
          </p:nvSpPr>
          <p:spPr bwMode="auto">
            <a:xfrm>
              <a:off x="2400" y="2016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0</a:t>
              </a:r>
            </a:p>
          </p:txBody>
        </p:sp>
      </p:grpSp>
      <p:grpSp>
        <p:nvGrpSpPr>
          <p:cNvPr id="7" name="Group 27"/>
          <p:cNvGrpSpPr>
            <a:grpSpLocks/>
          </p:cNvGrpSpPr>
          <p:nvPr/>
        </p:nvGrpSpPr>
        <p:grpSpPr bwMode="auto">
          <a:xfrm>
            <a:off x="3352800" y="3657600"/>
            <a:ext cx="990600" cy="685800"/>
            <a:chOff x="2640" y="2304"/>
            <a:chExt cx="624" cy="432"/>
          </a:xfrm>
        </p:grpSpPr>
        <p:sp>
          <p:nvSpPr>
            <p:cNvPr id="10289" name="Text Box 12"/>
            <p:cNvSpPr txBox="1">
              <a:spLocks noChangeArrowheads="1"/>
            </p:cNvSpPr>
            <p:nvPr/>
          </p:nvSpPr>
          <p:spPr bwMode="auto">
            <a:xfrm>
              <a:off x="2688" y="2304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1</a:t>
              </a:r>
            </a:p>
          </p:txBody>
        </p:sp>
        <p:sp>
          <p:nvSpPr>
            <p:cNvPr id="10290" name="Oval 13"/>
            <p:cNvSpPr>
              <a:spLocks noChangeArrowheads="1"/>
            </p:cNvSpPr>
            <p:nvPr/>
          </p:nvSpPr>
          <p:spPr bwMode="auto">
            <a:xfrm>
              <a:off x="2976" y="244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q</a:t>
              </a:r>
              <a:r>
                <a:rPr lang="en-US" baseline="-25000"/>
                <a:t>2</a:t>
              </a:r>
            </a:p>
          </p:txBody>
        </p:sp>
        <p:sp>
          <p:nvSpPr>
            <p:cNvPr id="10291" name="Line 24"/>
            <p:cNvSpPr>
              <a:spLocks noChangeShapeType="1"/>
            </p:cNvSpPr>
            <p:nvPr/>
          </p:nvSpPr>
          <p:spPr bwMode="auto">
            <a:xfrm>
              <a:off x="2640" y="2592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32"/>
          <p:cNvGrpSpPr>
            <a:grpSpLocks/>
          </p:cNvGrpSpPr>
          <p:nvPr/>
        </p:nvGrpSpPr>
        <p:grpSpPr bwMode="auto">
          <a:xfrm>
            <a:off x="3717932" y="3810001"/>
            <a:ext cx="1538291" cy="1327151"/>
            <a:chOff x="2342" y="2400"/>
            <a:chExt cx="969" cy="836"/>
          </a:xfrm>
        </p:grpSpPr>
        <p:sp>
          <p:nvSpPr>
            <p:cNvPr id="10287" name="Oval 23"/>
            <p:cNvSpPr>
              <a:spLocks noChangeArrowheads="1"/>
            </p:cNvSpPr>
            <p:nvPr/>
          </p:nvSpPr>
          <p:spPr bwMode="auto">
            <a:xfrm>
              <a:off x="2400" y="2400"/>
              <a:ext cx="384" cy="384"/>
            </a:xfrm>
            <a:prstGeom prst="ellipse">
              <a:avLst/>
            </a:prstGeom>
            <a:solidFill>
              <a:schemeClr val="accent1">
                <a:alpha val="12157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88" name="Text Box 31"/>
            <p:cNvSpPr txBox="1">
              <a:spLocks noChangeArrowheads="1"/>
            </p:cNvSpPr>
            <p:nvPr/>
          </p:nvSpPr>
          <p:spPr bwMode="auto">
            <a:xfrm>
              <a:off x="2342" y="2713"/>
              <a:ext cx="969" cy="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/>
                <a:t>Accepting</a:t>
              </a:r>
            </a:p>
            <a:p>
              <a:r>
                <a:rPr lang="en-US" dirty="0"/>
                <a:t>state</a:t>
              </a:r>
            </a:p>
          </p:txBody>
        </p:sp>
      </p:grpSp>
      <p:sp>
        <p:nvSpPr>
          <p:cNvPr id="86132" name="Text Box 116"/>
          <p:cNvSpPr txBox="1">
            <a:spLocks noChangeArrowheads="1"/>
          </p:cNvSpPr>
          <p:nvPr/>
        </p:nvSpPr>
        <p:spPr bwMode="auto">
          <a:xfrm>
            <a:off x="609600" y="5562600"/>
            <a:ext cx="3521075" cy="701675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 sz="2000">
                <a:solidFill>
                  <a:schemeClr val="tx2"/>
                </a:solidFill>
              </a:rPr>
              <a:t> What if the language allows </a:t>
            </a:r>
            <a:br>
              <a:rPr lang="en-US" sz="2000">
                <a:solidFill>
                  <a:schemeClr val="tx2"/>
                </a:solidFill>
              </a:rPr>
            </a:br>
            <a:r>
              <a:rPr lang="en-US" sz="2000">
                <a:solidFill>
                  <a:schemeClr val="tx2"/>
                </a:solidFill>
              </a:rPr>
              <a:t>  empty strings?</a:t>
            </a:r>
          </a:p>
        </p:txBody>
      </p:sp>
      <p:sp>
        <p:nvSpPr>
          <p:cNvPr id="86135" name="Text Box 119"/>
          <p:cNvSpPr txBox="1">
            <a:spLocks noChangeArrowheads="1"/>
          </p:cNvSpPr>
          <p:nvPr/>
        </p:nvSpPr>
        <p:spPr bwMode="auto">
          <a:xfrm>
            <a:off x="152400" y="2743200"/>
            <a:ext cx="4589463" cy="400050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 sz="2000"/>
              <a:t> What makes this DFA deterministic?</a:t>
            </a:r>
          </a:p>
        </p:txBody>
      </p:sp>
      <p:grpSp>
        <p:nvGrpSpPr>
          <p:cNvPr id="9" name="Group 122"/>
          <p:cNvGrpSpPr>
            <a:grpSpLocks/>
          </p:cNvGrpSpPr>
          <p:nvPr/>
        </p:nvGrpSpPr>
        <p:grpSpPr bwMode="auto">
          <a:xfrm>
            <a:off x="4572000" y="2667000"/>
            <a:ext cx="3733800" cy="3657600"/>
            <a:chOff x="2880" y="1680"/>
            <a:chExt cx="2352" cy="2304"/>
          </a:xfrm>
        </p:grpSpPr>
        <p:sp>
          <p:nvSpPr>
            <p:cNvPr id="10255" name="Line 33"/>
            <p:cNvSpPr>
              <a:spLocks noChangeShapeType="1"/>
            </p:cNvSpPr>
            <p:nvPr/>
          </p:nvSpPr>
          <p:spPr bwMode="auto">
            <a:xfrm>
              <a:off x="2880" y="1728"/>
              <a:ext cx="0" cy="21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56" name="Text Box 34"/>
            <p:cNvSpPr txBox="1">
              <a:spLocks noChangeArrowheads="1"/>
            </p:cNvSpPr>
            <p:nvPr/>
          </p:nvSpPr>
          <p:spPr bwMode="auto">
            <a:xfrm>
              <a:off x="3216" y="1680"/>
              <a:ext cx="2016" cy="13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Tx/>
                <a:buChar char="•"/>
              </a:pPr>
              <a:r>
                <a:rPr lang="en-US"/>
                <a:t> </a:t>
              </a:r>
              <a:r>
                <a:rPr lang="en-US" sz="1800"/>
                <a:t>Q = {q</a:t>
              </a:r>
              <a:r>
                <a:rPr lang="en-US" sz="1800" baseline="-25000"/>
                <a:t>0</a:t>
              </a:r>
              <a:r>
                <a:rPr lang="en-US" sz="1800"/>
                <a:t>,q</a:t>
              </a:r>
              <a:r>
                <a:rPr lang="en-US" sz="1800" baseline="-25000"/>
                <a:t>1</a:t>
              </a:r>
              <a:r>
                <a:rPr lang="en-US" sz="1800"/>
                <a:t>,q</a:t>
              </a:r>
              <a:r>
                <a:rPr lang="en-US" sz="1800" baseline="-25000"/>
                <a:t>2</a:t>
              </a:r>
              <a:r>
                <a:rPr lang="en-US" sz="1800"/>
                <a:t>}</a:t>
              </a:r>
            </a:p>
            <a:p>
              <a:pPr>
                <a:spcBef>
                  <a:spcPct val="50000"/>
                </a:spcBef>
                <a:buFontTx/>
                <a:buChar char="•"/>
              </a:pPr>
              <a:r>
                <a:rPr lang="en-US" sz="1800"/>
                <a:t> ∑ = {0,1}</a:t>
              </a:r>
            </a:p>
            <a:p>
              <a:pPr>
                <a:spcBef>
                  <a:spcPct val="50000"/>
                </a:spcBef>
                <a:buFontTx/>
                <a:buChar char="•"/>
              </a:pPr>
              <a:r>
                <a:rPr lang="en-US" sz="1800"/>
                <a:t> start state = q</a:t>
              </a:r>
              <a:r>
                <a:rPr lang="en-US" sz="1800" baseline="-25000"/>
                <a:t>0</a:t>
              </a:r>
              <a:r>
                <a:rPr lang="en-US" sz="1800"/>
                <a:t> </a:t>
              </a:r>
            </a:p>
            <a:p>
              <a:pPr>
                <a:spcBef>
                  <a:spcPct val="50000"/>
                </a:spcBef>
                <a:buFontTx/>
                <a:buChar char="•"/>
              </a:pPr>
              <a:r>
                <a:rPr lang="en-US" sz="1800"/>
                <a:t> F = {q</a:t>
              </a:r>
              <a:r>
                <a:rPr lang="en-US" sz="1800" baseline="-25000"/>
                <a:t>2</a:t>
              </a:r>
              <a:r>
                <a:rPr lang="en-US" sz="1800"/>
                <a:t>} </a:t>
              </a:r>
              <a:endParaRPr lang="el-GR" sz="1800">
                <a:cs typeface="Arial" charset="0"/>
              </a:endParaRPr>
            </a:p>
            <a:p>
              <a:pPr>
                <a:spcBef>
                  <a:spcPct val="50000"/>
                </a:spcBef>
                <a:buFontTx/>
                <a:buChar char="•"/>
              </a:pPr>
              <a:r>
                <a:rPr lang="en-US" sz="1800"/>
                <a:t> Transition table</a:t>
              </a:r>
            </a:p>
          </p:txBody>
        </p:sp>
        <p:pic>
          <p:nvPicPr>
            <p:cNvPr id="10257" name="Picture 38" descr="delta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264" y="3120"/>
              <a:ext cx="213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258" name="Rectangle 51"/>
            <p:cNvSpPr>
              <a:spLocks noChangeArrowheads="1"/>
            </p:cNvSpPr>
            <p:nvPr/>
          </p:nvSpPr>
          <p:spPr bwMode="auto">
            <a:xfrm>
              <a:off x="4464" y="3773"/>
              <a:ext cx="62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8" charset="2"/>
                <a:buNone/>
              </a:pPr>
              <a:r>
                <a:rPr lang="en-US" sz="1600"/>
                <a:t>q</a:t>
              </a:r>
              <a:r>
                <a:rPr lang="en-US" sz="1600" baseline="-25000"/>
                <a:t>2</a:t>
              </a:r>
            </a:p>
          </p:txBody>
        </p:sp>
        <p:sp>
          <p:nvSpPr>
            <p:cNvPr id="10259" name="Rectangle 50"/>
            <p:cNvSpPr>
              <a:spLocks noChangeArrowheads="1"/>
            </p:cNvSpPr>
            <p:nvPr/>
          </p:nvSpPr>
          <p:spPr bwMode="auto">
            <a:xfrm>
              <a:off x="3840" y="3773"/>
              <a:ext cx="62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8" charset="2"/>
                <a:buNone/>
              </a:pPr>
              <a:r>
                <a:rPr lang="en-US" sz="1600"/>
                <a:t>q</a:t>
              </a:r>
              <a:r>
                <a:rPr lang="en-US" sz="1600" baseline="-25000"/>
                <a:t>2</a:t>
              </a:r>
            </a:p>
          </p:txBody>
        </p:sp>
        <p:sp>
          <p:nvSpPr>
            <p:cNvPr id="10260" name="Rectangle 49"/>
            <p:cNvSpPr>
              <a:spLocks noChangeArrowheads="1"/>
            </p:cNvSpPr>
            <p:nvPr/>
          </p:nvSpPr>
          <p:spPr bwMode="auto">
            <a:xfrm>
              <a:off x="3216" y="3773"/>
              <a:ext cx="62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8" charset="2"/>
                <a:buNone/>
              </a:pPr>
              <a:r>
                <a:rPr lang="en-US" sz="1600" b="1">
                  <a:solidFill>
                    <a:schemeClr val="hlink"/>
                  </a:solidFill>
                </a:rPr>
                <a:t>*q</a:t>
              </a:r>
              <a:r>
                <a:rPr lang="en-US" sz="1600" b="1" baseline="-25000">
                  <a:solidFill>
                    <a:schemeClr val="hlink"/>
                  </a:solidFill>
                </a:rPr>
                <a:t>2</a:t>
              </a:r>
              <a:endParaRPr lang="en-US" sz="1600" b="1">
                <a:solidFill>
                  <a:schemeClr val="hlink"/>
                </a:solidFill>
              </a:endParaRPr>
            </a:p>
          </p:txBody>
        </p:sp>
        <p:sp>
          <p:nvSpPr>
            <p:cNvPr id="10261" name="Rectangle 48"/>
            <p:cNvSpPr>
              <a:spLocks noChangeArrowheads="1"/>
            </p:cNvSpPr>
            <p:nvPr/>
          </p:nvSpPr>
          <p:spPr bwMode="auto">
            <a:xfrm>
              <a:off x="4464" y="3562"/>
              <a:ext cx="62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8" charset="2"/>
                <a:buNone/>
              </a:pPr>
              <a:r>
                <a:rPr lang="en-US" sz="1600"/>
                <a:t>q</a:t>
              </a:r>
              <a:r>
                <a:rPr lang="en-US" sz="1600" baseline="-25000"/>
                <a:t>2</a:t>
              </a:r>
            </a:p>
          </p:txBody>
        </p:sp>
        <p:sp>
          <p:nvSpPr>
            <p:cNvPr id="10262" name="Rectangle 47"/>
            <p:cNvSpPr>
              <a:spLocks noChangeArrowheads="1"/>
            </p:cNvSpPr>
            <p:nvPr/>
          </p:nvSpPr>
          <p:spPr bwMode="auto">
            <a:xfrm>
              <a:off x="3840" y="3562"/>
              <a:ext cx="62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8" charset="2"/>
                <a:buNone/>
              </a:pPr>
              <a:r>
                <a:rPr lang="en-US" sz="1600"/>
                <a:t>q</a:t>
              </a:r>
              <a:r>
                <a:rPr lang="en-US" sz="1600" baseline="-25000"/>
                <a:t>1</a:t>
              </a:r>
            </a:p>
          </p:txBody>
        </p:sp>
        <p:sp>
          <p:nvSpPr>
            <p:cNvPr id="10263" name="Rectangle 46"/>
            <p:cNvSpPr>
              <a:spLocks noChangeArrowheads="1"/>
            </p:cNvSpPr>
            <p:nvPr/>
          </p:nvSpPr>
          <p:spPr bwMode="auto">
            <a:xfrm>
              <a:off x="3216" y="3562"/>
              <a:ext cx="62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8" charset="2"/>
                <a:buNone/>
              </a:pPr>
              <a:r>
                <a:rPr lang="en-US" sz="1600" b="1">
                  <a:solidFill>
                    <a:schemeClr val="hlink"/>
                  </a:solidFill>
                </a:rPr>
                <a:t>q</a:t>
              </a:r>
              <a:r>
                <a:rPr lang="en-US" sz="1600" b="1" baseline="-25000">
                  <a:solidFill>
                    <a:schemeClr val="hlink"/>
                  </a:solidFill>
                </a:rPr>
                <a:t>1</a:t>
              </a:r>
              <a:endParaRPr lang="en-US" sz="1600" b="1">
                <a:solidFill>
                  <a:schemeClr val="hlink"/>
                </a:solidFill>
              </a:endParaRPr>
            </a:p>
          </p:txBody>
        </p:sp>
        <p:sp>
          <p:nvSpPr>
            <p:cNvPr id="10264" name="Rectangle 45"/>
            <p:cNvSpPr>
              <a:spLocks noChangeArrowheads="1"/>
            </p:cNvSpPr>
            <p:nvPr/>
          </p:nvSpPr>
          <p:spPr bwMode="auto">
            <a:xfrm>
              <a:off x="4464" y="3351"/>
              <a:ext cx="62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8" charset="2"/>
                <a:buNone/>
              </a:pPr>
              <a:r>
                <a:rPr lang="en-US" sz="1600"/>
                <a:t>q</a:t>
              </a:r>
              <a:r>
                <a:rPr lang="en-US" sz="1600" baseline="-25000"/>
                <a:t>0</a:t>
              </a:r>
            </a:p>
          </p:txBody>
        </p:sp>
        <p:sp>
          <p:nvSpPr>
            <p:cNvPr id="10265" name="Rectangle 44"/>
            <p:cNvSpPr>
              <a:spLocks noChangeArrowheads="1"/>
            </p:cNvSpPr>
            <p:nvPr/>
          </p:nvSpPr>
          <p:spPr bwMode="auto">
            <a:xfrm>
              <a:off x="3840" y="3351"/>
              <a:ext cx="62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8" charset="2"/>
                <a:buNone/>
              </a:pPr>
              <a:r>
                <a:rPr lang="en-US" sz="1600"/>
                <a:t>q</a:t>
              </a:r>
              <a:r>
                <a:rPr lang="en-US" sz="1600" baseline="-25000"/>
                <a:t>1</a:t>
              </a:r>
              <a:endParaRPr lang="en-US" sz="1600"/>
            </a:p>
          </p:txBody>
        </p:sp>
        <p:sp>
          <p:nvSpPr>
            <p:cNvPr id="10266" name="Rectangle 43"/>
            <p:cNvSpPr>
              <a:spLocks noChangeArrowheads="1"/>
            </p:cNvSpPr>
            <p:nvPr/>
          </p:nvSpPr>
          <p:spPr bwMode="auto">
            <a:xfrm>
              <a:off x="3216" y="3351"/>
              <a:ext cx="62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8" charset="2"/>
                <a:buNone/>
              </a:pPr>
              <a:r>
                <a:rPr lang="en-US" sz="1600" b="1">
                  <a:solidFill>
                    <a:schemeClr val="hlink"/>
                  </a:solidFill>
                </a:rPr>
                <a:t>q</a:t>
              </a:r>
              <a:r>
                <a:rPr lang="en-US" sz="1600" b="1" baseline="-25000">
                  <a:solidFill>
                    <a:schemeClr val="hlink"/>
                  </a:solidFill>
                </a:rPr>
                <a:t>0</a:t>
              </a:r>
            </a:p>
          </p:txBody>
        </p:sp>
        <p:sp>
          <p:nvSpPr>
            <p:cNvPr id="10267" name="Rectangle 42"/>
            <p:cNvSpPr>
              <a:spLocks noChangeArrowheads="1"/>
            </p:cNvSpPr>
            <p:nvPr/>
          </p:nvSpPr>
          <p:spPr bwMode="auto">
            <a:xfrm>
              <a:off x="4464" y="3140"/>
              <a:ext cx="62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8" charset="2"/>
                <a:buNone/>
              </a:pPr>
              <a:r>
                <a:rPr lang="en-US" sz="1600" b="1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10268" name="Rectangle 41"/>
            <p:cNvSpPr>
              <a:spLocks noChangeArrowheads="1"/>
            </p:cNvSpPr>
            <p:nvPr/>
          </p:nvSpPr>
          <p:spPr bwMode="auto">
            <a:xfrm>
              <a:off x="3840" y="3140"/>
              <a:ext cx="62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8" charset="2"/>
                <a:buNone/>
              </a:pPr>
              <a:r>
                <a:rPr lang="en-US" sz="1600" b="1">
                  <a:solidFill>
                    <a:schemeClr val="hlink"/>
                  </a:solidFill>
                </a:rPr>
                <a:t>0</a:t>
              </a:r>
            </a:p>
          </p:txBody>
        </p:sp>
        <p:sp>
          <p:nvSpPr>
            <p:cNvPr id="10269" name="Rectangle 40"/>
            <p:cNvSpPr>
              <a:spLocks noChangeArrowheads="1"/>
            </p:cNvSpPr>
            <p:nvPr/>
          </p:nvSpPr>
          <p:spPr bwMode="auto">
            <a:xfrm>
              <a:off x="3216" y="3140"/>
              <a:ext cx="62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8" charset="2"/>
                <a:buNone/>
              </a:pPr>
              <a:endParaRPr lang="en-US" sz="1600"/>
            </a:p>
          </p:txBody>
        </p:sp>
        <p:sp>
          <p:nvSpPr>
            <p:cNvPr id="10270" name="Line 52"/>
            <p:cNvSpPr>
              <a:spLocks noChangeShapeType="1"/>
            </p:cNvSpPr>
            <p:nvPr/>
          </p:nvSpPr>
          <p:spPr bwMode="auto">
            <a:xfrm>
              <a:off x="3216" y="3140"/>
              <a:ext cx="624" cy="0"/>
            </a:xfrm>
            <a:prstGeom prst="line">
              <a:avLst/>
            </a:prstGeom>
            <a:noFill/>
            <a:ln w="12700" cap="sq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71" name="Line 54"/>
            <p:cNvSpPr>
              <a:spLocks noChangeShapeType="1"/>
            </p:cNvSpPr>
            <p:nvPr/>
          </p:nvSpPr>
          <p:spPr bwMode="auto">
            <a:xfrm>
              <a:off x="3216" y="356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72" name="Line 55"/>
            <p:cNvSpPr>
              <a:spLocks noChangeShapeType="1"/>
            </p:cNvSpPr>
            <p:nvPr/>
          </p:nvSpPr>
          <p:spPr bwMode="auto">
            <a:xfrm>
              <a:off x="3216" y="3773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73" name="Line 56"/>
            <p:cNvSpPr>
              <a:spLocks noChangeShapeType="1"/>
            </p:cNvSpPr>
            <p:nvPr/>
          </p:nvSpPr>
          <p:spPr bwMode="auto">
            <a:xfrm>
              <a:off x="3216" y="3984"/>
              <a:ext cx="18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74" name="Line 57"/>
            <p:cNvSpPr>
              <a:spLocks noChangeShapeType="1"/>
            </p:cNvSpPr>
            <p:nvPr/>
          </p:nvSpPr>
          <p:spPr bwMode="auto">
            <a:xfrm>
              <a:off x="3216" y="3140"/>
              <a:ext cx="0" cy="211"/>
            </a:xfrm>
            <a:prstGeom prst="line">
              <a:avLst/>
            </a:prstGeom>
            <a:noFill/>
            <a:ln w="12700" cap="sq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75" name="Line 59"/>
            <p:cNvSpPr>
              <a:spLocks noChangeShapeType="1"/>
            </p:cNvSpPr>
            <p:nvPr/>
          </p:nvSpPr>
          <p:spPr bwMode="auto">
            <a:xfrm>
              <a:off x="4464" y="3140"/>
              <a:ext cx="0" cy="8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76" name="Line 60"/>
            <p:cNvSpPr>
              <a:spLocks noChangeShapeType="1"/>
            </p:cNvSpPr>
            <p:nvPr/>
          </p:nvSpPr>
          <p:spPr bwMode="auto">
            <a:xfrm>
              <a:off x="5088" y="3140"/>
              <a:ext cx="0" cy="8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77" name="Line 73"/>
            <p:cNvSpPr>
              <a:spLocks noChangeShapeType="1"/>
            </p:cNvSpPr>
            <p:nvPr/>
          </p:nvSpPr>
          <p:spPr bwMode="auto">
            <a:xfrm>
              <a:off x="3840" y="3140"/>
              <a:ext cx="624" cy="0"/>
            </a:xfrm>
            <a:prstGeom prst="line">
              <a:avLst/>
            </a:prstGeom>
            <a:noFill/>
            <a:ln w="28575" cap="sq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78" name="Line 74"/>
            <p:cNvSpPr>
              <a:spLocks noChangeShapeType="1"/>
            </p:cNvSpPr>
            <p:nvPr/>
          </p:nvSpPr>
          <p:spPr bwMode="auto">
            <a:xfrm>
              <a:off x="3216" y="3351"/>
              <a:ext cx="0" cy="211"/>
            </a:xfrm>
            <a:prstGeom prst="line">
              <a:avLst/>
            </a:prstGeom>
            <a:noFill/>
            <a:ln w="28575" cap="sq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79" name="Line 58"/>
            <p:cNvSpPr>
              <a:spLocks noChangeShapeType="1"/>
            </p:cNvSpPr>
            <p:nvPr/>
          </p:nvSpPr>
          <p:spPr bwMode="auto">
            <a:xfrm>
              <a:off x="3840" y="3140"/>
              <a:ext cx="0" cy="8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80" name="Line 53"/>
            <p:cNvSpPr>
              <a:spLocks noChangeShapeType="1"/>
            </p:cNvSpPr>
            <p:nvPr/>
          </p:nvSpPr>
          <p:spPr bwMode="auto">
            <a:xfrm>
              <a:off x="3216" y="335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81" name="Line 78"/>
            <p:cNvSpPr>
              <a:spLocks noChangeShapeType="1"/>
            </p:cNvSpPr>
            <p:nvPr/>
          </p:nvSpPr>
          <p:spPr bwMode="auto">
            <a:xfrm>
              <a:off x="4464" y="3140"/>
              <a:ext cx="624" cy="0"/>
            </a:xfrm>
            <a:prstGeom prst="line">
              <a:avLst/>
            </a:prstGeom>
            <a:noFill/>
            <a:ln w="28575" cap="sq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82" name="Line 81"/>
            <p:cNvSpPr>
              <a:spLocks noChangeShapeType="1"/>
            </p:cNvSpPr>
            <p:nvPr/>
          </p:nvSpPr>
          <p:spPr bwMode="auto">
            <a:xfrm>
              <a:off x="3216" y="3562"/>
              <a:ext cx="0" cy="211"/>
            </a:xfrm>
            <a:prstGeom prst="line">
              <a:avLst/>
            </a:prstGeom>
            <a:noFill/>
            <a:ln w="28575" cap="sq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83" name="Line 91"/>
            <p:cNvSpPr>
              <a:spLocks noChangeShapeType="1"/>
            </p:cNvSpPr>
            <p:nvPr/>
          </p:nvSpPr>
          <p:spPr bwMode="auto">
            <a:xfrm>
              <a:off x="3216" y="3773"/>
              <a:ext cx="0" cy="211"/>
            </a:xfrm>
            <a:prstGeom prst="line">
              <a:avLst/>
            </a:prstGeom>
            <a:noFill/>
            <a:ln w="28575" cap="sq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84" name="Text Box 112"/>
            <p:cNvSpPr txBox="1">
              <a:spLocks noChangeArrowheads="1"/>
            </p:cNvSpPr>
            <p:nvPr/>
          </p:nvSpPr>
          <p:spPr bwMode="auto">
            <a:xfrm rot="-5400000">
              <a:off x="2803" y="3618"/>
              <a:ext cx="50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chemeClr val="tx2"/>
                  </a:solidFill>
                </a:rPr>
                <a:t>states</a:t>
              </a:r>
            </a:p>
          </p:txBody>
        </p:sp>
        <p:sp>
          <p:nvSpPr>
            <p:cNvPr id="10285" name="Text Box 113"/>
            <p:cNvSpPr txBox="1">
              <a:spLocks noChangeArrowheads="1"/>
            </p:cNvSpPr>
            <p:nvPr/>
          </p:nvSpPr>
          <p:spPr bwMode="auto">
            <a:xfrm>
              <a:off x="4054" y="2926"/>
              <a:ext cx="64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chemeClr val="tx2"/>
                  </a:solidFill>
                </a:rPr>
                <a:t>symbols</a:t>
              </a:r>
            </a:p>
          </p:txBody>
        </p:sp>
        <p:sp>
          <p:nvSpPr>
            <p:cNvPr id="10286" name="Line 120"/>
            <p:cNvSpPr>
              <a:spLocks noChangeShapeType="1"/>
            </p:cNvSpPr>
            <p:nvPr/>
          </p:nvSpPr>
          <p:spPr bwMode="auto">
            <a:xfrm>
              <a:off x="2976" y="3456"/>
              <a:ext cx="288" cy="0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2" grpId="0"/>
      <p:bldP spid="86132" grpId="0" animBg="1"/>
      <p:bldP spid="8613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4D1CE83-7553-4F48-A748-0BF4A1D16CD5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 #2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8" charset="2"/>
              <a:buNone/>
            </a:pPr>
            <a:r>
              <a:rPr lang="en-US" sz="2800"/>
              <a:t>Clamping Logic: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/>
              <a:t>A clamping circuit waits for a ”1” input, and turns on forever. However, to avoid clamping on spurious noise, we’ll design a DFA that waits for </a:t>
            </a:r>
            <a:r>
              <a:rPr lang="en-US" sz="2000" i="1"/>
              <a:t>two consecutive 1s</a:t>
            </a:r>
            <a:r>
              <a:rPr lang="en-US" sz="2000"/>
              <a:t> in a row before clamping on.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/>
              <a:t>Build a DFA for the following language:</a:t>
            </a:r>
            <a:br>
              <a:rPr lang="en-US" sz="2400"/>
            </a:br>
            <a:r>
              <a:rPr lang="en-US" sz="2400"/>
              <a:t>	</a:t>
            </a:r>
            <a:r>
              <a:rPr lang="en-US" sz="2400">
                <a:solidFill>
                  <a:schemeClr val="tx2"/>
                </a:solidFill>
              </a:rPr>
              <a:t>L = { w | w is a bit string which contains the substring 11}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State Design: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/>
              <a:t>q</a:t>
            </a:r>
            <a:r>
              <a:rPr lang="en-US" sz="2000" baseline="-25000"/>
              <a:t>0</a:t>
            </a:r>
            <a:r>
              <a:rPr lang="en-US" sz="2000"/>
              <a:t> : start state (initially off), also means the most recent input was not a 1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/>
              <a:t>q</a:t>
            </a:r>
            <a:r>
              <a:rPr lang="en-US" sz="2000" baseline="-25000"/>
              <a:t>1</a:t>
            </a:r>
            <a:r>
              <a:rPr lang="en-US" sz="2000"/>
              <a:t>: has never seen 11 but the most recent input was a 1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/>
              <a:t>q</a:t>
            </a:r>
            <a:r>
              <a:rPr lang="en-US" sz="2000" baseline="-25000"/>
              <a:t>2</a:t>
            </a:r>
            <a:r>
              <a:rPr lang="en-US" sz="2000"/>
              <a:t>: has seen 11 at least once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9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9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9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9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9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89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1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F7EA52A-3282-49CB-88E4-CF5946296275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 #3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/>
              <a:t>Build a DFA for the following language:</a:t>
            </a:r>
            <a:br>
              <a:rPr lang="en-US" sz="2800"/>
            </a:br>
            <a:r>
              <a:rPr lang="en-US" sz="2800"/>
              <a:t>	</a:t>
            </a:r>
            <a:r>
              <a:rPr lang="en-US" sz="2800">
                <a:solidFill>
                  <a:schemeClr val="tx2"/>
                </a:solidFill>
              </a:rPr>
              <a:t>L = { w | w is a binary string that has even number of 1s and even number of 0s}</a:t>
            </a:r>
          </a:p>
          <a:p>
            <a:pPr eaLnBrk="1" hangingPunct="1"/>
            <a:r>
              <a:rPr lang="en-US" sz="2800"/>
              <a:t>?</a:t>
            </a:r>
          </a:p>
          <a:p>
            <a:pPr eaLnBrk="1" hangingPunct="1"/>
            <a:endParaRPr lang="en-US" sz="2800"/>
          </a:p>
          <a:p>
            <a:pPr eaLnBrk="1" hangingPunct="1"/>
            <a:endParaRPr lang="en-US" sz="2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92DD441-0C5C-4C07-9735-18E1615EB9B1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331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Extension of transitions (</a:t>
            </a:r>
            <a:r>
              <a:rPr lang="el-GR"/>
              <a:t>δ</a:t>
            </a:r>
            <a:r>
              <a:rPr lang="en-US"/>
              <a:t>) to Paths (</a:t>
            </a:r>
            <a:r>
              <a:rPr lang="el-GR"/>
              <a:t>δ</a:t>
            </a:r>
            <a:r>
              <a:rPr lang="en-US"/>
              <a:t>)</a:t>
            </a:r>
            <a:endParaRPr lang="el-GR"/>
          </a:p>
        </p:txBody>
      </p:sp>
      <p:sp>
        <p:nvSpPr>
          <p:cNvPr id="13316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l-GR" dirty="0">
                <a:latin typeface="Lucida Grande" pitchFamily="28" charset="0"/>
                <a:cs typeface="Tahoma" pitchFamily="28" charset="0"/>
              </a:rPr>
              <a:t>δ</a:t>
            </a:r>
            <a:r>
              <a:rPr lang="en-US" i="1" dirty="0"/>
              <a:t> (</a:t>
            </a:r>
            <a:r>
              <a:rPr lang="en-US" i="1" dirty="0" err="1"/>
              <a:t>q,w</a:t>
            </a:r>
            <a:r>
              <a:rPr lang="en-US" i="1" dirty="0"/>
              <a:t>) = destination state </a:t>
            </a:r>
            <a:r>
              <a:rPr lang="en-US" dirty="0"/>
              <a:t>from state </a:t>
            </a:r>
            <a:r>
              <a:rPr lang="en-US" i="1" dirty="0"/>
              <a:t>q</a:t>
            </a:r>
            <a:r>
              <a:rPr lang="en-US" dirty="0"/>
              <a:t> on input </a:t>
            </a:r>
            <a:r>
              <a:rPr lang="en-US" u="sng" dirty="0"/>
              <a:t>string </a:t>
            </a:r>
            <a:r>
              <a:rPr lang="en-US" i="1" dirty="0"/>
              <a:t>w</a:t>
            </a:r>
            <a:endParaRPr lang="en-US" dirty="0"/>
          </a:p>
          <a:p>
            <a:pPr eaLnBrk="1" hangingPunct="1">
              <a:lnSpc>
                <a:spcPct val="90000"/>
              </a:lnSpc>
            </a:pPr>
            <a:endParaRPr lang="en-US" dirty="0"/>
          </a:p>
          <a:p>
            <a:pPr eaLnBrk="1" hangingPunct="1">
              <a:lnSpc>
                <a:spcPct val="90000"/>
              </a:lnSpc>
            </a:pPr>
            <a:r>
              <a:rPr lang="el-GR" dirty="0">
                <a:latin typeface="Lucida Grande" pitchFamily="28" charset="0"/>
                <a:cs typeface="Tahoma" pitchFamily="28" charset="0"/>
              </a:rPr>
              <a:t>δ</a:t>
            </a:r>
            <a:r>
              <a:rPr lang="en-US" i="1" dirty="0"/>
              <a:t> (</a:t>
            </a:r>
            <a:r>
              <a:rPr lang="en-US" i="1" dirty="0" err="1"/>
              <a:t>q,wa</a:t>
            </a:r>
            <a:r>
              <a:rPr lang="en-US" i="1" dirty="0"/>
              <a:t>) = </a:t>
            </a:r>
            <a:r>
              <a:rPr lang="el-GR" dirty="0">
                <a:latin typeface="Lucida Grande" pitchFamily="28" charset="0"/>
                <a:cs typeface="Tahoma" pitchFamily="28" charset="0"/>
              </a:rPr>
              <a:t>δ (δ</a:t>
            </a:r>
            <a:r>
              <a:rPr lang="en-US" i="1" dirty="0"/>
              <a:t>(</a:t>
            </a:r>
            <a:r>
              <a:rPr lang="en-US" i="1" dirty="0" err="1"/>
              <a:t>q,w</a:t>
            </a:r>
            <a:r>
              <a:rPr lang="en-US" i="1" dirty="0"/>
              <a:t>), a)</a:t>
            </a:r>
            <a:endParaRPr lang="en-US" dirty="0"/>
          </a:p>
          <a:p>
            <a:pPr eaLnBrk="1" hangingPunct="1">
              <a:lnSpc>
                <a:spcPct val="90000"/>
              </a:lnSpc>
            </a:pPr>
            <a:endParaRPr lang="en-US" dirty="0"/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Work out example #3 using the input sequence w=10010, a=1:</a:t>
            </a:r>
          </a:p>
          <a:p>
            <a:pPr lvl="2" eaLnBrk="1" hangingPunct="1">
              <a:lnSpc>
                <a:spcPct val="90000"/>
              </a:lnSpc>
            </a:pPr>
            <a:endParaRPr lang="en-US" dirty="0">
              <a:latin typeface="Lucida Grande" pitchFamily="28" charset="0"/>
              <a:cs typeface="Tahoma" pitchFamily="28" charset="0"/>
            </a:endParaRPr>
          </a:p>
          <a:p>
            <a:pPr lvl="2" eaLnBrk="1" hangingPunct="1">
              <a:lnSpc>
                <a:spcPct val="90000"/>
              </a:lnSpc>
            </a:pPr>
            <a:r>
              <a:rPr lang="el-GR" dirty="0">
                <a:latin typeface="Lucida Grande" pitchFamily="28" charset="0"/>
                <a:cs typeface="Tahoma" pitchFamily="28" charset="0"/>
              </a:rPr>
              <a:t>δ</a:t>
            </a:r>
            <a:r>
              <a:rPr lang="en-US" i="1" dirty="0"/>
              <a:t> (q</a:t>
            </a:r>
            <a:r>
              <a:rPr lang="en-US" i="1" baseline="-25000" dirty="0"/>
              <a:t>0</a:t>
            </a:r>
            <a:r>
              <a:rPr lang="en-US" i="1" dirty="0"/>
              <a:t>,wa) = ?</a:t>
            </a:r>
            <a:endParaRPr lang="en-US" dirty="0"/>
          </a:p>
          <a:p>
            <a:pPr lvl="1" eaLnBrk="1" hangingPunct="1">
              <a:lnSpc>
                <a:spcPct val="90000"/>
              </a:lnSpc>
            </a:pPr>
            <a:endParaRPr lang="en-US" dirty="0"/>
          </a:p>
        </p:txBody>
      </p:sp>
      <p:grpSp>
        <p:nvGrpSpPr>
          <p:cNvPr id="13317" name="Group 7"/>
          <p:cNvGrpSpPr>
            <a:grpSpLocks/>
          </p:cNvGrpSpPr>
          <p:nvPr/>
        </p:nvGrpSpPr>
        <p:grpSpPr bwMode="auto">
          <a:xfrm>
            <a:off x="1676400" y="1981200"/>
            <a:ext cx="152400" cy="76200"/>
            <a:chOff x="144" y="2784"/>
            <a:chExt cx="96" cy="48"/>
          </a:xfrm>
        </p:grpSpPr>
        <p:sp>
          <p:nvSpPr>
            <p:cNvPr id="13330" name="Line 8"/>
            <p:cNvSpPr>
              <a:spLocks noChangeShapeType="1"/>
            </p:cNvSpPr>
            <p:nvPr/>
          </p:nvSpPr>
          <p:spPr bwMode="auto">
            <a:xfrm flipV="1">
              <a:off x="144" y="2784"/>
              <a:ext cx="4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1" name="Line 9"/>
            <p:cNvSpPr>
              <a:spLocks noChangeShapeType="1"/>
            </p:cNvSpPr>
            <p:nvPr/>
          </p:nvSpPr>
          <p:spPr bwMode="auto">
            <a:xfrm>
              <a:off x="192" y="2784"/>
              <a:ext cx="4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3318" name="Group 10"/>
          <p:cNvGrpSpPr>
            <a:grpSpLocks/>
          </p:cNvGrpSpPr>
          <p:nvPr/>
        </p:nvGrpSpPr>
        <p:grpSpPr bwMode="auto">
          <a:xfrm>
            <a:off x="4038600" y="3429000"/>
            <a:ext cx="152400" cy="76200"/>
            <a:chOff x="144" y="2784"/>
            <a:chExt cx="96" cy="48"/>
          </a:xfrm>
        </p:grpSpPr>
        <p:sp>
          <p:nvSpPr>
            <p:cNvPr id="13328" name="Line 11"/>
            <p:cNvSpPr>
              <a:spLocks noChangeShapeType="1"/>
            </p:cNvSpPr>
            <p:nvPr/>
          </p:nvSpPr>
          <p:spPr bwMode="auto">
            <a:xfrm flipV="1">
              <a:off x="144" y="2784"/>
              <a:ext cx="4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29" name="Line 12"/>
            <p:cNvSpPr>
              <a:spLocks noChangeShapeType="1"/>
            </p:cNvSpPr>
            <p:nvPr/>
          </p:nvSpPr>
          <p:spPr bwMode="auto">
            <a:xfrm>
              <a:off x="192" y="2784"/>
              <a:ext cx="4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3319" name="Group 10"/>
          <p:cNvGrpSpPr>
            <a:grpSpLocks/>
          </p:cNvGrpSpPr>
          <p:nvPr/>
        </p:nvGrpSpPr>
        <p:grpSpPr bwMode="auto">
          <a:xfrm>
            <a:off x="1676400" y="3505200"/>
            <a:ext cx="152400" cy="76200"/>
            <a:chOff x="144" y="2784"/>
            <a:chExt cx="96" cy="48"/>
          </a:xfrm>
        </p:grpSpPr>
        <p:sp>
          <p:nvSpPr>
            <p:cNvPr id="13326" name="Line 11"/>
            <p:cNvSpPr>
              <a:spLocks noChangeShapeType="1"/>
            </p:cNvSpPr>
            <p:nvPr/>
          </p:nvSpPr>
          <p:spPr bwMode="auto">
            <a:xfrm flipV="1">
              <a:off x="144" y="2784"/>
              <a:ext cx="4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27" name="Line 12"/>
            <p:cNvSpPr>
              <a:spLocks noChangeShapeType="1"/>
            </p:cNvSpPr>
            <p:nvPr/>
          </p:nvSpPr>
          <p:spPr bwMode="auto">
            <a:xfrm>
              <a:off x="192" y="2784"/>
              <a:ext cx="4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3320" name="Group 13"/>
          <p:cNvGrpSpPr>
            <a:grpSpLocks/>
          </p:cNvGrpSpPr>
          <p:nvPr/>
        </p:nvGrpSpPr>
        <p:grpSpPr bwMode="auto">
          <a:xfrm>
            <a:off x="2438400" y="5791200"/>
            <a:ext cx="152400" cy="76200"/>
            <a:chOff x="144" y="2784"/>
            <a:chExt cx="96" cy="48"/>
          </a:xfrm>
        </p:grpSpPr>
        <p:sp>
          <p:nvSpPr>
            <p:cNvPr id="13324" name="Line 11"/>
            <p:cNvSpPr>
              <a:spLocks noChangeShapeType="1"/>
            </p:cNvSpPr>
            <p:nvPr/>
          </p:nvSpPr>
          <p:spPr bwMode="auto">
            <a:xfrm flipV="1">
              <a:off x="144" y="2784"/>
              <a:ext cx="4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25" name="Line 12"/>
            <p:cNvSpPr>
              <a:spLocks noChangeShapeType="1"/>
            </p:cNvSpPr>
            <p:nvPr/>
          </p:nvSpPr>
          <p:spPr bwMode="auto">
            <a:xfrm>
              <a:off x="192" y="2784"/>
              <a:ext cx="4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3321" name="Group 7"/>
          <p:cNvGrpSpPr>
            <a:grpSpLocks/>
          </p:cNvGrpSpPr>
          <p:nvPr/>
        </p:nvGrpSpPr>
        <p:grpSpPr bwMode="auto">
          <a:xfrm>
            <a:off x="3048000" y="1066800"/>
            <a:ext cx="152400" cy="76200"/>
            <a:chOff x="144" y="2784"/>
            <a:chExt cx="96" cy="48"/>
          </a:xfrm>
        </p:grpSpPr>
        <p:sp>
          <p:nvSpPr>
            <p:cNvPr id="13322" name="Line 8"/>
            <p:cNvSpPr>
              <a:spLocks noChangeShapeType="1"/>
            </p:cNvSpPr>
            <p:nvPr/>
          </p:nvSpPr>
          <p:spPr bwMode="auto">
            <a:xfrm flipV="1">
              <a:off x="144" y="2784"/>
              <a:ext cx="4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23" name="Line 9"/>
            <p:cNvSpPr>
              <a:spLocks noChangeShapeType="1"/>
            </p:cNvSpPr>
            <p:nvPr/>
          </p:nvSpPr>
          <p:spPr bwMode="auto">
            <a:xfrm>
              <a:off x="192" y="2784"/>
              <a:ext cx="4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07CB02E-8309-4E7B-AC4C-62820B557BF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Language of a DFA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8" charset="2"/>
              <a:buNone/>
            </a:pPr>
            <a:r>
              <a:rPr lang="en-US" dirty="0"/>
              <a:t>A DFA A accepts string </a:t>
            </a:r>
            <a:r>
              <a:rPr lang="en-US" i="1" dirty="0"/>
              <a:t>w </a:t>
            </a:r>
            <a:r>
              <a:rPr lang="en-US" dirty="0"/>
              <a:t>if there is a path from </a:t>
            </a:r>
            <a:r>
              <a:rPr lang="en-US" i="1" dirty="0"/>
              <a:t>q</a:t>
            </a:r>
            <a:r>
              <a:rPr lang="en-US" i="1" baseline="-25000" dirty="0"/>
              <a:t>0</a:t>
            </a:r>
            <a:r>
              <a:rPr lang="en-US" dirty="0"/>
              <a:t> to an accepting (or final) state that is labeled by </a:t>
            </a:r>
            <a:r>
              <a:rPr lang="en-US" i="1" dirty="0"/>
              <a:t>w</a:t>
            </a:r>
          </a:p>
          <a:p>
            <a:pPr eaLnBrk="1" hangingPunct="1">
              <a:lnSpc>
                <a:spcPct val="90000"/>
              </a:lnSpc>
            </a:pPr>
            <a:endParaRPr lang="en-US" i="1" dirty="0"/>
          </a:p>
          <a:p>
            <a:pPr eaLnBrk="1" hangingPunct="1">
              <a:lnSpc>
                <a:spcPct val="90000"/>
              </a:lnSpc>
            </a:pPr>
            <a:r>
              <a:rPr lang="en-US" i="1" dirty="0"/>
              <a:t>i.e., L(A) = { w |  </a:t>
            </a:r>
            <a:r>
              <a:rPr lang="el-GR" dirty="0">
                <a:latin typeface="Lucida Grande" pitchFamily="28" charset="0"/>
                <a:cs typeface="Tahoma" pitchFamily="28" charset="0"/>
              </a:rPr>
              <a:t>δ</a:t>
            </a:r>
            <a:r>
              <a:rPr lang="en-US" i="1" dirty="0"/>
              <a:t>(q</a:t>
            </a:r>
            <a:r>
              <a:rPr lang="en-US" i="1" baseline="-25000" dirty="0"/>
              <a:t>0</a:t>
            </a:r>
            <a:r>
              <a:rPr lang="en-US" i="1" dirty="0"/>
              <a:t>,w) </a:t>
            </a:r>
            <a:r>
              <a:rPr lang="ru-RU" i="1" dirty="0">
                <a:cs typeface="Arial" charset="0"/>
                <a:sym typeface="Symbol" pitchFamily="28" charset="2"/>
              </a:rPr>
              <a:t></a:t>
            </a:r>
            <a:r>
              <a:rPr lang="ru-RU" i="1" dirty="0">
                <a:cs typeface="Arial" charset="0"/>
              </a:rPr>
              <a:t> </a:t>
            </a:r>
            <a:r>
              <a:rPr lang="en-US" i="1" dirty="0">
                <a:cs typeface="Arial" charset="0"/>
              </a:rPr>
              <a:t>F </a:t>
            </a:r>
            <a:r>
              <a:rPr lang="en-US" i="1" dirty="0"/>
              <a:t>}</a:t>
            </a:r>
          </a:p>
          <a:p>
            <a:pPr eaLnBrk="1" hangingPunct="1">
              <a:lnSpc>
                <a:spcPct val="90000"/>
              </a:lnSpc>
            </a:pPr>
            <a:endParaRPr lang="en-US" i="1" dirty="0"/>
          </a:p>
          <a:p>
            <a:pPr eaLnBrk="1" hangingPunct="1">
              <a:lnSpc>
                <a:spcPct val="90000"/>
              </a:lnSpc>
            </a:pPr>
            <a:r>
              <a:rPr lang="en-US" i="1" dirty="0"/>
              <a:t>I.e., L(A) = all strings that lead to an accepting state from q</a:t>
            </a:r>
            <a:r>
              <a:rPr lang="en-US" i="1" baseline="-25000" dirty="0"/>
              <a:t>0</a:t>
            </a:r>
          </a:p>
        </p:txBody>
      </p:sp>
      <p:grpSp>
        <p:nvGrpSpPr>
          <p:cNvPr id="14341" name="Group 5"/>
          <p:cNvGrpSpPr>
            <a:grpSpLocks/>
          </p:cNvGrpSpPr>
          <p:nvPr/>
        </p:nvGrpSpPr>
        <p:grpSpPr bwMode="auto">
          <a:xfrm>
            <a:off x="4648200" y="3886200"/>
            <a:ext cx="152400" cy="76200"/>
            <a:chOff x="144" y="2784"/>
            <a:chExt cx="96" cy="48"/>
          </a:xfrm>
        </p:grpSpPr>
        <p:sp>
          <p:nvSpPr>
            <p:cNvPr id="14342" name="Line 6"/>
            <p:cNvSpPr>
              <a:spLocks noChangeShapeType="1"/>
            </p:cNvSpPr>
            <p:nvPr/>
          </p:nvSpPr>
          <p:spPr bwMode="auto">
            <a:xfrm flipV="1">
              <a:off x="144" y="2784"/>
              <a:ext cx="4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43" name="Line 7"/>
            <p:cNvSpPr>
              <a:spLocks noChangeShapeType="1"/>
            </p:cNvSpPr>
            <p:nvPr/>
          </p:nvSpPr>
          <p:spPr bwMode="auto">
            <a:xfrm>
              <a:off x="192" y="2784"/>
              <a:ext cx="4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5BEA120-1F3A-4337-92AB-186943507B1C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solidFill>
                  <a:srgbClr val="006600"/>
                </a:solidFill>
              </a:rPr>
              <a:t>Non-deterministic</a:t>
            </a:r>
            <a:r>
              <a:rPr lang="en-US"/>
              <a:t> Finite Automata (NFA)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A </a:t>
            </a:r>
            <a:r>
              <a:rPr lang="en-US">
                <a:solidFill>
                  <a:srgbClr val="006600"/>
                </a:solidFill>
              </a:rPr>
              <a:t>Non-deterministic Finite Automaton (NFA) </a:t>
            </a:r>
          </a:p>
          <a:p>
            <a:pPr lvl="1" eaLnBrk="1" hangingPunct="1"/>
            <a:r>
              <a:rPr lang="en-US"/>
              <a:t> is of course “non-deterministic”</a:t>
            </a:r>
          </a:p>
          <a:p>
            <a:pPr lvl="2" eaLnBrk="1" hangingPunct="1"/>
            <a:r>
              <a:rPr lang="en-US"/>
              <a:t>Implying that the machine can exist in more than one state at the same time</a:t>
            </a:r>
          </a:p>
          <a:p>
            <a:pPr lvl="2" eaLnBrk="1" hangingPunct="1"/>
            <a:r>
              <a:rPr lang="en-US"/>
              <a:t>Transitions could be non-deterministic	</a:t>
            </a:r>
          </a:p>
          <a:p>
            <a:pPr lvl="1" eaLnBrk="1" hangingPunct="1"/>
            <a:endParaRPr lang="en-US"/>
          </a:p>
        </p:txBody>
      </p:sp>
      <p:sp>
        <p:nvSpPr>
          <p:cNvPr id="15365" name="Oval 7"/>
          <p:cNvSpPr>
            <a:spLocks noChangeArrowheads="1"/>
          </p:cNvSpPr>
          <p:nvPr/>
        </p:nvSpPr>
        <p:spPr bwMode="auto">
          <a:xfrm>
            <a:off x="2971800" y="52578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q</a:t>
            </a:r>
            <a:r>
              <a:rPr lang="en-US" baseline="-25000"/>
              <a:t>i</a:t>
            </a:r>
          </a:p>
        </p:txBody>
      </p:sp>
      <p:sp>
        <p:nvSpPr>
          <p:cNvPr id="15366" name="Line 8"/>
          <p:cNvSpPr>
            <a:spLocks noChangeShapeType="1"/>
          </p:cNvSpPr>
          <p:nvPr/>
        </p:nvSpPr>
        <p:spPr bwMode="auto">
          <a:xfrm>
            <a:off x="2362200" y="5486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367" name="Line 10"/>
          <p:cNvSpPr>
            <a:spLocks noChangeShapeType="1"/>
          </p:cNvSpPr>
          <p:nvPr/>
        </p:nvSpPr>
        <p:spPr bwMode="auto">
          <a:xfrm flipV="1">
            <a:off x="3429000" y="5257800"/>
            <a:ext cx="990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368" name="Line 11"/>
          <p:cNvSpPr>
            <a:spLocks noChangeShapeType="1"/>
          </p:cNvSpPr>
          <p:nvPr/>
        </p:nvSpPr>
        <p:spPr bwMode="auto">
          <a:xfrm>
            <a:off x="3429000" y="5562600"/>
            <a:ext cx="990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369" name="Text Box 12"/>
          <p:cNvSpPr txBox="1">
            <a:spLocks noChangeArrowheads="1"/>
          </p:cNvSpPr>
          <p:nvPr/>
        </p:nvSpPr>
        <p:spPr bwMode="auto">
          <a:xfrm>
            <a:off x="3641725" y="4992688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15370" name="Text Box 13"/>
          <p:cNvSpPr txBox="1">
            <a:spLocks noChangeArrowheads="1"/>
          </p:cNvSpPr>
          <p:nvPr/>
        </p:nvSpPr>
        <p:spPr bwMode="auto">
          <a:xfrm>
            <a:off x="3657600" y="5638800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15371" name="Oval 14"/>
          <p:cNvSpPr>
            <a:spLocks noChangeArrowheads="1"/>
          </p:cNvSpPr>
          <p:nvPr/>
        </p:nvSpPr>
        <p:spPr bwMode="auto">
          <a:xfrm>
            <a:off x="4419600" y="50292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q</a:t>
            </a:r>
            <a:r>
              <a:rPr lang="en-US" baseline="-25000"/>
              <a:t>j</a:t>
            </a:r>
          </a:p>
        </p:txBody>
      </p:sp>
      <p:sp>
        <p:nvSpPr>
          <p:cNvPr id="15372" name="Oval 15"/>
          <p:cNvSpPr>
            <a:spLocks noChangeArrowheads="1"/>
          </p:cNvSpPr>
          <p:nvPr/>
        </p:nvSpPr>
        <p:spPr bwMode="auto">
          <a:xfrm>
            <a:off x="4419600" y="57912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q</a:t>
            </a:r>
            <a:r>
              <a:rPr lang="en-US" baseline="-25000"/>
              <a:t>k</a:t>
            </a:r>
          </a:p>
        </p:txBody>
      </p:sp>
      <p:sp>
        <p:nvSpPr>
          <p:cNvPr id="15373" name="Text Box 16"/>
          <p:cNvSpPr txBox="1">
            <a:spLocks noChangeArrowheads="1"/>
          </p:cNvSpPr>
          <p:nvPr/>
        </p:nvSpPr>
        <p:spPr bwMode="auto">
          <a:xfrm>
            <a:off x="4479925" y="5373688"/>
            <a:ext cx="488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…</a:t>
            </a:r>
          </a:p>
        </p:txBody>
      </p:sp>
      <p:sp>
        <p:nvSpPr>
          <p:cNvPr id="15374" name="Text Box 17"/>
          <p:cNvSpPr txBox="1">
            <a:spLocks noChangeArrowheads="1"/>
          </p:cNvSpPr>
          <p:nvPr/>
        </p:nvSpPr>
        <p:spPr bwMode="auto">
          <a:xfrm>
            <a:off x="5334000" y="5330825"/>
            <a:ext cx="3744913" cy="641350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 sz="1800"/>
              <a:t> Each transition function therefore </a:t>
            </a:r>
            <a:br>
              <a:rPr lang="en-US" sz="1800"/>
            </a:br>
            <a:r>
              <a:rPr lang="en-US" sz="1800"/>
              <a:t>maps to a </a:t>
            </a:r>
            <a:r>
              <a:rPr lang="en-US" sz="1800" u="sng"/>
              <a:t>set</a:t>
            </a:r>
            <a:r>
              <a:rPr lang="en-US" sz="1800"/>
              <a:t> of states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99DE729-44B7-4856-9348-18F9ADFCEA93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solidFill>
                  <a:srgbClr val="006600"/>
                </a:solidFill>
              </a:rPr>
              <a:t>Non-deterministic</a:t>
            </a:r>
            <a:r>
              <a:rPr lang="en-US"/>
              <a:t> Finite Automata (</a:t>
            </a:r>
            <a:r>
              <a:rPr lang="en-US">
                <a:solidFill>
                  <a:srgbClr val="006600"/>
                </a:solidFill>
              </a:rPr>
              <a:t>NFA</a:t>
            </a:r>
            <a:r>
              <a:rPr lang="en-US"/>
              <a:t>)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A </a:t>
            </a:r>
            <a:r>
              <a:rPr lang="en-US" sz="2800" dirty="0">
                <a:solidFill>
                  <a:srgbClr val="006600"/>
                </a:solidFill>
              </a:rPr>
              <a:t>Non-deterministic </a:t>
            </a:r>
            <a:r>
              <a:rPr lang="en-US" sz="2800" dirty="0">
                <a:solidFill>
                  <a:schemeClr val="tx2"/>
                </a:solidFill>
              </a:rPr>
              <a:t>Finite Automaton (</a:t>
            </a:r>
            <a:r>
              <a:rPr lang="en-US" sz="2800" dirty="0">
                <a:solidFill>
                  <a:srgbClr val="006600"/>
                </a:solidFill>
              </a:rPr>
              <a:t>NFA</a:t>
            </a:r>
            <a:r>
              <a:rPr lang="en-US" sz="2800" dirty="0">
                <a:solidFill>
                  <a:schemeClr val="tx2"/>
                </a:solidFill>
              </a:rPr>
              <a:t>)</a:t>
            </a:r>
            <a:r>
              <a:rPr lang="en-US" sz="2800" dirty="0"/>
              <a:t> consists of: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Q ==&gt; a finite set of states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∑ ==&gt; a finite set of input symbols (alphabet)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q</a:t>
            </a:r>
            <a:r>
              <a:rPr lang="en-US" sz="2400" baseline="-25000" dirty="0"/>
              <a:t>0</a:t>
            </a:r>
            <a:r>
              <a:rPr lang="en-US" sz="2400" dirty="0"/>
              <a:t> ==&gt; a start state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F ==&gt; set of accepting states </a:t>
            </a:r>
          </a:p>
          <a:p>
            <a:pPr lvl="1" eaLnBrk="1" hangingPunct="1">
              <a:lnSpc>
                <a:spcPct val="90000"/>
              </a:lnSpc>
            </a:pPr>
            <a:r>
              <a:rPr lang="el-GR" sz="2400" dirty="0">
                <a:latin typeface="Lucida Grande" pitchFamily="28" charset="0"/>
                <a:cs typeface="Tahoma" pitchFamily="28" charset="0"/>
              </a:rPr>
              <a:t>δ</a:t>
            </a:r>
            <a:r>
              <a:rPr lang="en-US" sz="2400" dirty="0">
                <a:latin typeface="Lucida Grande" pitchFamily="28" charset="0"/>
                <a:cs typeface="Tahoma" pitchFamily="28" charset="0"/>
              </a:rPr>
              <a:t> </a:t>
            </a:r>
            <a:r>
              <a:rPr lang="en-US" sz="2400" dirty="0"/>
              <a:t>==&gt; a transition function, which is a mapping between Q x ∑ ==&gt; </a:t>
            </a:r>
            <a:r>
              <a:rPr lang="en-US" sz="2400" dirty="0">
                <a:solidFill>
                  <a:schemeClr val="hlink"/>
                </a:solidFill>
              </a:rPr>
              <a:t>subset of</a:t>
            </a:r>
            <a:r>
              <a:rPr lang="en-US" sz="2400" dirty="0"/>
              <a:t> Q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/>
              <a:t>An NFA is also defined by the 5-tuple: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>
                <a:solidFill>
                  <a:schemeClr val="tx2"/>
                </a:solidFill>
              </a:rPr>
              <a:t>{Q, ∑ , q</a:t>
            </a:r>
            <a:r>
              <a:rPr lang="en-US" sz="2400" baseline="-25000" dirty="0">
                <a:solidFill>
                  <a:schemeClr val="tx2"/>
                </a:solidFill>
              </a:rPr>
              <a:t>0</a:t>
            </a:r>
            <a:r>
              <a:rPr lang="en-US" sz="2400" dirty="0">
                <a:solidFill>
                  <a:schemeClr val="tx2"/>
                </a:solidFill>
              </a:rPr>
              <a:t>,F, </a:t>
            </a:r>
            <a:r>
              <a:rPr lang="el-GR" sz="2400" dirty="0">
                <a:solidFill>
                  <a:schemeClr val="folHlink"/>
                </a:solidFill>
                <a:latin typeface="Lucida Grande" pitchFamily="28" charset="0"/>
                <a:cs typeface="Tahoma" pitchFamily="28" charset="0"/>
              </a:rPr>
              <a:t>δ</a:t>
            </a:r>
            <a:r>
              <a:rPr lang="en-US" sz="2400" dirty="0">
                <a:solidFill>
                  <a:schemeClr val="tx2"/>
                </a:solidFill>
              </a:rPr>
              <a:t> }</a:t>
            </a:r>
          </a:p>
          <a:p>
            <a:pPr lvl="1" eaLnBrk="1" hangingPunct="1">
              <a:lnSpc>
                <a:spcPct val="90000"/>
              </a:lnSpc>
            </a:pPr>
            <a:endParaRPr lang="en-US" sz="2400" dirty="0">
              <a:solidFill>
                <a:schemeClr val="tx2"/>
              </a:solidFill>
            </a:endParaRPr>
          </a:p>
          <a:p>
            <a:pPr lvl="1" eaLnBrk="1" hangingPunct="1">
              <a:lnSpc>
                <a:spcPct val="90000"/>
              </a:lnSpc>
            </a:pP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2423945-F6B1-46ED-BCA2-D82F21F76E7C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How to use an NFA?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u="sng"/>
              <a:t>Input:</a:t>
            </a:r>
            <a:r>
              <a:rPr lang="en-US" sz="2400"/>
              <a:t> a word w in ∑*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u="sng"/>
              <a:t>Question:</a:t>
            </a:r>
            <a:r>
              <a:rPr lang="en-US" sz="2400"/>
              <a:t> Is w acceptable by the NFA?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u="sng"/>
              <a:t>Steps:</a:t>
            </a:r>
            <a:endParaRPr lang="en-US" sz="2400"/>
          </a:p>
          <a:p>
            <a:pPr lvl="1" eaLnBrk="1" hangingPunct="1">
              <a:lnSpc>
                <a:spcPct val="90000"/>
              </a:lnSpc>
            </a:pPr>
            <a:r>
              <a:rPr lang="en-US" sz="2000"/>
              <a:t>Start at the “start state” q</a:t>
            </a:r>
            <a:r>
              <a:rPr lang="en-US" sz="2000" baseline="-25000"/>
              <a:t>0</a:t>
            </a:r>
            <a:endParaRPr lang="en-US" sz="2000"/>
          </a:p>
          <a:p>
            <a:pPr lvl="1" eaLnBrk="1" hangingPunct="1">
              <a:lnSpc>
                <a:spcPct val="90000"/>
              </a:lnSpc>
            </a:pPr>
            <a:r>
              <a:rPr lang="en-US" sz="2000"/>
              <a:t>For every input symbol in the sequence w do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800"/>
              <a:t>Determine </a:t>
            </a:r>
            <a:r>
              <a:rPr lang="en-US" sz="1800">
                <a:solidFill>
                  <a:srgbClr val="FF0000"/>
                </a:solidFill>
              </a:rPr>
              <a:t>all possible next states from all current states</a:t>
            </a:r>
            <a:r>
              <a:rPr lang="en-US" sz="1800"/>
              <a:t>, given the current input symbol in w and the transition function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/>
              <a:t>If after all symbols in w are consumed </a:t>
            </a:r>
            <a:r>
              <a:rPr lang="en-US" sz="2000" u="sng"/>
              <a:t>and</a:t>
            </a:r>
            <a:r>
              <a:rPr lang="en-US" sz="2000"/>
              <a:t> if at least </a:t>
            </a:r>
            <a:r>
              <a:rPr lang="en-US" sz="2000">
                <a:solidFill>
                  <a:srgbClr val="006600"/>
                </a:solidFill>
              </a:rPr>
              <a:t>one of</a:t>
            </a:r>
            <a:r>
              <a:rPr lang="en-US" sz="2000"/>
              <a:t> the current states is a final state then </a:t>
            </a:r>
            <a:r>
              <a:rPr lang="en-US" sz="2000" i="1"/>
              <a:t>accept w;</a:t>
            </a:r>
            <a:endParaRPr lang="en-US" sz="2000"/>
          </a:p>
          <a:p>
            <a:pPr lvl="1" eaLnBrk="1" hangingPunct="1">
              <a:lnSpc>
                <a:spcPct val="90000"/>
              </a:lnSpc>
            </a:pPr>
            <a:r>
              <a:rPr lang="en-US" sz="2000"/>
              <a:t>Otherwise, </a:t>
            </a:r>
            <a:r>
              <a:rPr lang="en-US" sz="2000" i="1"/>
              <a:t>reject w.</a:t>
            </a:r>
            <a:endParaRPr lang="en-US"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C77B3DF-5520-4DE6-875C-97FE9183ECB8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solidFill>
                  <a:srgbClr val="006600"/>
                </a:solidFill>
              </a:rPr>
              <a:t>NFA</a:t>
            </a:r>
            <a:r>
              <a:rPr lang="en-US"/>
              <a:t> for strings containing 01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990600" y="3733800"/>
            <a:ext cx="1371600" cy="609600"/>
            <a:chOff x="624" y="2352"/>
            <a:chExt cx="864" cy="384"/>
          </a:xfrm>
        </p:grpSpPr>
        <p:sp>
          <p:nvSpPr>
            <p:cNvPr id="18490" name="Oval 4"/>
            <p:cNvSpPr>
              <a:spLocks noChangeArrowheads="1"/>
            </p:cNvSpPr>
            <p:nvPr/>
          </p:nvSpPr>
          <p:spPr bwMode="auto">
            <a:xfrm>
              <a:off x="1200" y="244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q</a:t>
              </a:r>
              <a:r>
                <a:rPr lang="en-US" baseline="-25000"/>
                <a:t>0</a:t>
              </a:r>
            </a:p>
          </p:txBody>
        </p:sp>
        <p:sp>
          <p:nvSpPr>
            <p:cNvPr id="18491" name="Line 5"/>
            <p:cNvSpPr>
              <a:spLocks noChangeShapeType="1"/>
            </p:cNvSpPr>
            <p:nvPr/>
          </p:nvSpPr>
          <p:spPr bwMode="auto">
            <a:xfrm>
              <a:off x="816" y="2592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92" name="Text Box 6"/>
            <p:cNvSpPr txBox="1">
              <a:spLocks noChangeArrowheads="1"/>
            </p:cNvSpPr>
            <p:nvPr/>
          </p:nvSpPr>
          <p:spPr bwMode="auto">
            <a:xfrm>
              <a:off x="624" y="2352"/>
              <a:ext cx="48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start</a:t>
              </a: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2362200" y="3697288"/>
            <a:ext cx="990600" cy="646112"/>
            <a:chOff x="2016" y="2329"/>
            <a:chExt cx="624" cy="407"/>
          </a:xfrm>
        </p:grpSpPr>
        <p:sp>
          <p:nvSpPr>
            <p:cNvPr id="18487" name="Line 8"/>
            <p:cNvSpPr>
              <a:spLocks noChangeShapeType="1"/>
            </p:cNvSpPr>
            <p:nvPr/>
          </p:nvSpPr>
          <p:spPr bwMode="auto">
            <a:xfrm>
              <a:off x="2016" y="259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88" name="Oval 9"/>
            <p:cNvSpPr>
              <a:spLocks noChangeArrowheads="1"/>
            </p:cNvSpPr>
            <p:nvPr/>
          </p:nvSpPr>
          <p:spPr bwMode="auto">
            <a:xfrm>
              <a:off x="2352" y="244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q</a:t>
              </a:r>
              <a:r>
                <a:rPr lang="en-US" baseline="-25000"/>
                <a:t>1</a:t>
              </a:r>
            </a:p>
          </p:txBody>
        </p:sp>
        <p:sp>
          <p:nvSpPr>
            <p:cNvPr id="18489" name="Text Box 10"/>
            <p:cNvSpPr txBox="1">
              <a:spLocks noChangeArrowheads="1"/>
            </p:cNvSpPr>
            <p:nvPr/>
          </p:nvSpPr>
          <p:spPr bwMode="auto">
            <a:xfrm>
              <a:off x="2054" y="2329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hlink"/>
                  </a:solidFill>
                </a:rPr>
                <a:t>0</a:t>
              </a:r>
            </a:p>
          </p:txBody>
        </p:sp>
      </p:grpSp>
      <p:grpSp>
        <p:nvGrpSpPr>
          <p:cNvPr id="4" name="Group 60"/>
          <p:cNvGrpSpPr>
            <a:grpSpLocks/>
          </p:cNvGrpSpPr>
          <p:nvPr/>
        </p:nvGrpSpPr>
        <p:grpSpPr bwMode="auto">
          <a:xfrm>
            <a:off x="1752600" y="3163888"/>
            <a:ext cx="608013" cy="722312"/>
            <a:chOff x="1752600" y="3163888"/>
            <a:chExt cx="608013" cy="722312"/>
          </a:xfrm>
        </p:grpSpPr>
        <p:sp>
          <p:nvSpPr>
            <p:cNvPr id="18485" name="Freeform 13"/>
            <p:cNvSpPr>
              <a:spLocks/>
            </p:cNvSpPr>
            <p:nvPr/>
          </p:nvSpPr>
          <p:spPr bwMode="auto">
            <a:xfrm>
              <a:off x="1879600" y="3568700"/>
              <a:ext cx="419100" cy="317500"/>
            </a:xfrm>
            <a:custGeom>
              <a:avLst/>
              <a:gdLst>
                <a:gd name="T0" fmla="*/ 2147483647 w 264"/>
                <a:gd name="T1" fmla="*/ 2147483647 h 200"/>
                <a:gd name="T2" fmla="*/ 2147483647 w 264"/>
                <a:gd name="T3" fmla="*/ 2147483647 h 200"/>
                <a:gd name="T4" fmla="*/ 2147483647 w 264"/>
                <a:gd name="T5" fmla="*/ 2147483647 h 200"/>
                <a:gd name="T6" fmla="*/ 2147483647 w 264"/>
                <a:gd name="T7" fmla="*/ 2147483647 h 200"/>
                <a:gd name="T8" fmla="*/ 2147483647 w 264"/>
                <a:gd name="T9" fmla="*/ 2147483647 h 2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4"/>
                <a:gd name="T16" fmla="*/ 0 h 200"/>
                <a:gd name="T17" fmla="*/ 264 w 264"/>
                <a:gd name="T18" fmla="*/ 200 h 2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4" h="200">
                  <a:moveTo>
                    <a:pt x="64" y="200"/>
                  </a:moveTo>
                  <a:cubicBezTo>
                    <a:pt x="32" y="144"/>
                    <a:pt x="0" y="88"/>
                    <a:pt x="16" y="56"/>
                  </a:cubicBezTo>
                  <a:cubicBezTo>
                    <a:pt x="32" y="24"/>
                    <a:pt x="120" y="0"/>
                    <a:pt x="160" y="8"/>
                  </a:cubicBezTo>
                  <a:cubicBezTo>
                    <a:pt x="200" y="16"/>
                    <a:pt x="248" y="72"/>
                    <a:pt x="256" y="104"/>
                  </a:cubicBezTo>
                  <a:cubicBezTo>
                    <a:pt x="264" y="136"/>
                    <a:pt x="236" y="168"/>
                    <a:pt x="208" y="20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86" name="Text Box 14"/>
            <p:cNvSpPr txBox="1">
              <a:spLocks noChangeArrowheads="1"/>
            </p:cNvSpPr>
            <p:nvPr/>
          </p:nvSpPr>
          <p:spPr bwMode="auto">
            <a:xfrm>
              <a:off x="1752600" y="3163888"/>
              <a:ext cx="608013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hlink"/>
                  </a:solidFill>
                </a:rPr>
                <a:t>0</a:t>
              </a:r>
              <a:r>
                <a:rPr lang="en-US"/>
                <a:t>,1</a:t>
              </a:r>
            </a:p>
          </p:txBody>
        </p:sp>
      </p:grp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3876675" y="3124200"/>
            <a:ext cx="693738" cy="722313"/>
            <a:chOff x="2970" y="1968"/>
            <a:chExt cx="437" cy="455"/>
          </a:xfrm>
        </p:grpSpPr>
        <p:sp>
          <p:nvSpPr>
            <p:cNvPr id="18483" name="Freeform 16"/>
            <p:cNvSpPr>
              <a:spLocks/>
            </p:cNvSpPr>
            <p:nvPr/>
          </p:nvSpPr>
          <p:spPr bwMode="auto">
            <a:xfrm>
              <a:off x="2970" y="2223"/>
              <a:ext cx="264" cy="200"/>
            </a:xfrm>
            <a:custGeom>
              <a:avLst/>
              <a:gdLst>
                <a:gd name="T0" fmla="*/ 64 w 264"/>
                <a:gd name="T1" fmla="*/ 200 h 200"/>
                <a:gd name="T2" fmla="*/ 16 w 264"/>
                <a:gd name="T3" fmla="*/ 56 h 200"/>
                <a:gd name="T4" fmla="*/ 160 w 264"/>
                <a:gd name="T5" fmla="*/ 8 h 200"/>
                <a:gd name="T6" fmla="*/ 256 w 264"/>
                <a:gd name="T7" fmla="*/ 104 h 200"/>
                <a:gd name="T8" fmla="*/ 208 w 264"/>
                <a:gd name="T9" fmla="*/ 200 h 2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4"/>
                <a:gd name="T16" fmla="*/ 0 h 200"/>
                <a:gd name="T17" fmla="*/ 264 w 264"/>
                <a:gd name="T18" fmla="*/ 200 h 2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4" h="200">
                  <a:moveTo>
                    <a:pt x="64" y="200"/>
                  </a:moveTo>
                  <a:cubicBezTo>
                    <a:pt x="32" y="144"/>
                    <a:pt x="0" y="88"/>
                    <a:pt x="16" y="56"/>
                  </a:cubicBezTo>
                  <a:cubicBezTo>
                    <a:pt x="32" y="24"/>
                    <a:pt x="120" y="0"/>
                    <a:pt x="160" y="8"/>
                  </a:cubicBezTo>
                  <a:cubicBezTo>
                    <a:pt x="200" y="16"/>
                    <a:pt x="248" y="72"/>
                    <a:pt x="256" y="104"/>
                  </a:cubicBezTo>
                  <a:cubicBezTo>
                    <a:pt x="264" y="136"/>
                    <a:pt x="236" y="168"/>
                    <a:pt x="208" y="20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84" name="Text Box 17"/>
            <p:cNvSpPr txBox="1">
              <a:spLocks noChangeArrowheads="1"/>
            </p:cNvSpPr>
            <p:nvPr/>
          </p:nvSpPr>
          <p:spPr bwMode="auto">
            <a:xfrm>
              <a:off x="3024" y="1968"/>
              <a:ext cx="38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0,1</a:t>
              </a:r>
            </a:p>
          </p:txBody>
        </p:sp>
      </p:grpSp>
      <p:grpSp>
        <p:nvGrpSpPr>
          <p:cNvPr id="6" name="Group 21"/>
          <p:cNvGrpSpPr>
            <a:grpSpLocks/>
          </p:cNvGrpSpPr>
          <p:nvPr/>
        </p:nvGrpSpPr>
        <p:grpSpPr bwMode="auto">
          <a:xfrm>
            <a:off x="3352800" y="3657600"/>
            <a:ext cx="990600" cy="685800"/>
            <a:chOff x="2640" y="2304"/>
            <a:chExt cx="624" cy="432"/>
          </a:xfrm>
        </p:grpSpPr>
        <p:sp>
          <p:nvSpPr>
            <p:cNvPr id="18480" name="Text Box 22"/>
            <p:cNvSpPr txBox="1">
              <a:spLocks noChangeArrowheads="1"/>
            </p:cNvSpPr>
            <p:nvPr/>
          </p:nvSpPr>
          <p:spPr bwMode="auto">
            <a:xfrm>
              <a:off x="2688" y="2304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1</a:t>
              </a:r>
            </a:p>
          </p:txBody>
        </p:sp>
        <p:sp>
          <p:nvSpPr>
            <p:cNvPr id="18481" name="Oval 23"/>
            <p:cNvSpPr>
              <a:spLocks noChangeArrowheads="1"/>
            </p:cNvSpPr>
            <p:nvPr/>
          </p:nvSpPr>
          <p:spPr bwMode="auto">
            <a:xfrm>
              <a:off x="2976" y="244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q</a:t>
              </a:r>
              <a:r>
                <a:rPr lang="en-US" baseline="-25000"/>
                <a:t>2</a:t>
              </a:r>
            </a:p>
          </p:txBody>
        </p:sp>
        <p:sp>
          <p:nvSpPr>
            <p:cNvPr id="18482" name="Line 24"/>
            <p:cNvSpPr>
              <a:spLocks noChangeShapeType="1"/>
            </p:cNvSpPr>
            <p:nvPr/>
          </p:nvSpPr>
          <p:spPr bwMode="auto">
            <a:xfrm>
              <a:off x="2640" y="2592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25"/>
          <p:cNvGrpSpPr>
            <a:grpSpLocks/>
          </p:cNvGrpSpPr>
          <p:nvPr/>
        </p:nvGrpSpPr>
        <p:grpSpPr bwMode="auto">
          <a:xfrm>
            <a:off x="3717925" y="3810000"/>
            <a:ext cx="844550" cy="1319213"/>
            <a:chOff x="2342" y="2400"/>
            <a:chExt cx="532" cy="831"/>
          </a:xfrm>
        </p:grpSpPr>
        <p:sp>
          <p:nvSpPr>
            <p:cNvPr id="18478" name="Oval 26"/>
            <p:cNvSpPr>
              <a:spLocks noChangeArrowheads="1"/>
            </p:cNvSpPr>
            <p:nvPr/>
          </p:nvSpPr>
          <p:spPr bwMode="auto">
            <a:xfrm>
              <a:off x="2400" y="2400"/>
              <a:ext cx="384" cy="384"/>
            </a:xfrm>
            <a:prstGeom prst="ellipse">
              <a:avLst/>
            </a:prstGeom>
            <a:solidFill>
              <a:schemeClr val="accent1">
                <a:alpha val="12157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9" name="Text Box 27"/>
            <p:cNvSpPr txBox="1">
              <a:spLocks noChangeArrowheads="1"/>
            </p:cNvSpPr>
            <p:nvPr/>
          </p:nvSpPr>
          <p:spPr bwMode="auto">
            <a:xfrm>
              <a:off x="2342" y="2713"/>
              <a:ext cx="532" cy="5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Final</a:t>
              </a:r>
            </a:p>
            <a:p>
              <a:r>
                <a:rPr lang="en-US"/>
                <a:t>state</a:t>
              </a:r>
            </a:p>
          </p:txBody>
        </p:sp>
      </p:grpSp>
      <p:sp>
        <p:nvSpPr>
          <p:cNvPr id="18442" name="Line 46"/>
          <p:cNvSpPr>
            <a:spLocks noChangeShapeType="1"/>
          </p:cNvSpPr>
          <p:nvPr/>
        </p:nvSpPr>
        <p:spPr bwMode="auto">
          <a:xfrm>
            <a:off x="5105400" y="4984750"/>
            <a:ext cx="990600" cy="0"/>
          </a:xfrm>
          <a:prstGeom prst="line">
            <a:avLst/>
          </a:prstGeom>
          <a:noFill/>
          <a:ln w="12700" cap="sq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43" name="Line 50"/>
          <p:cNvSpPr>
            <a:spLocks noChangeShapeType="1"/>
          </p:cNvSpPr>
          <p:nvPr/>
        </p:nvSpPr>
        <p:spPr bwMode="auto">
          <a:xfrm>
            <a:off x="5105400" y="4984750"/>
            <a:ext cx="0" cy="334963"/>
          </a:xfrm>
          <a:prstGeom prst="line">
            <a:avLst/>
          </a:prstGeom>
          <a:noFill/>
          <a:ln w="12700" cap="sq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44" name="Line 53"/>
          <p:cNvSpPr>
            <a:spLocks noChangeShapeType="1"/>
          </p:cNvSpPr>
          <p:nvPr/>
        </p:nvSpPr>
        <p:spPr bwMode="auto">
          <a:xfrm>
            <a:off x="6096000" y="4984750"/>
            <a:ext cx="990600" cy="0"/>
          </a:xfrm>
          <a:prstGeom prst="line">
            <a:avLst/>
          </a:prstGeom>
          <a:noFill/>
          <a:ln w="28575" cap="sq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45" name="Line 54"/>
          <p:cNvSpPr>
            <a:spLocks noChangeShapeType="1"/>
          </p:cNvSpPr>
          <p:nvPr/>
        </p:nvSpPr>
        <p:spPr bwMode="auto">
          <a:xfrm>
            <a:off x="5105400" y="5319713"/>
            <a:ext cx="0" cy="334962"/>
          </a:xfrm>
          <a:prstGeom prst="line">
            <a:avLst/>
          </a:prstGeom>
          <a:noFill/>
          <a:ln w="28575" cap="sq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46" name="Line 57"/>
          <p:cNvSpPr>
            <a:spLocks noChangeShapeType="1"/>
          </p:cNvSpPr>
          <p:nvPr/>
        </p:nvSpPr>
        <p:spPr bwMode="auto">
          <a:xfrm>
            <a:off x="7086600" y="4984750"/>
            <a:ext cx="990600" cy="0"/>
          </a:xfrm>
          <a:prstGeom prst="line">
            <a:avLst/>
          </a:prstGeom>
          <a:noFill/>
          <a:ln w="28575" cap="sq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47" name="Line 58"/>
          <p:cNvSpPr>
            <a:spLocks noChangeShapeType="1"/>
          </p:cNvSpPr>
          <p:nvPr/>
        </p:nvSpPr>
        <p:spPr bwMode="auto">
          <a:xfrm>
            <a:off x="5105400" y="5654675"/>
            <a:ext cx="0" cy="334963"/>
          </a:xfrm>
          <a:prstGeom prst="line">
            <a:avLst/>
          </a:prstGeom>
          <a:noFill/>
          <a:ln w="28575" cap="sq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48" name="Line 59"/>
          <p:cNvSpPr>
            <a:spLocks noChangeShapeType="1"/>
          </p:cNvSpPr>
          <p:nvPr/>
        </p:nvSpPr>
        <p:spPr bwMode="auto">
          <a:xfrm>
            <a:off x="5105400" y="5989638"/>
            <a:ext cx="0" cy="334962"/>
          </a:xfrm>
          <a:prstGeom prst="line">
            <a:avLst/>
          </a:prstGeom>
          <a:noFill/>
          <a:ln w="28575" cap="sq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8" name="Group 68"/>
          <p:cNvGrpSpPr>
            <a:grpSpLocks/>
          </p:cNvGrpSpPr>
          <p:nvPr/>
        </p:nvGrpSpPr>
        <p:grpSpPr bwMode="auto">
          <a:xfrm>
            <a:off x="4572000" y="2667000"/>
            <a:ext cx="3733800" cy="3657600"/>
            <a:chOff x="2880" y="1680"/>
            <a:chExt cx="2352" cy="2304"/>
          </a:xfrm>
        </p:grpSpPr>
        <p:sp>
          <p:nvSpPr>
            <p:cNvPr id="18453" name="Line 31"/>
            <p:cNvSpPr>
              <a:spLocks noChangeShapeType="1"/>
            </p:cNvSpPr>
            <p:nvPr/>
          </p:nvSpPr>
          <p:spPr bwMode="auto">
            <a:xfrm>
              <a:off x="2880" y="1728"/>
              <a:ext cx="0" cy="21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54" name="Text Box 32"/>
            <p:cNvSpPr txBox="1">
              <a:spLocks noChangeArrowheads="1"/>
            </p:cNvSpPr>
            <p:nvPr/>
          </p:nvSpPr>
          <p:spPr bwMode="auto">
            <a:xfrm>
              <a:off x="3216" y="1680"/>
              <a:ext cx="2016" cy="13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Tx/>
                <a:buChar char="•"/>
              </a:pPr>
              <a:r>
                <a:rPr lang="en-US"/>
                <a:t> </a:t>
              </a:r>
              <a:r>
                <a:rPr lang="en-US" sz="1800"/>
                <a:t>Q = {q</a:t>
              </a:r>
              <a:r>
                <a:rPr lang="en-US" sz="1800" baseline="-25000"/>
                <a:t>0</a:t>
              </a:r>
              <a:r>
                <a:rPr lang="en-US" sz="1800"/>
                <a:t>,q</a:t>
              </a:r>
              <a:r>
                <a:rPr lang="en-US" sz="1800" baseline="-25000"/>
                <a:t>1</a:t>
              </a:r>
              <a:r>
                <a:rPr lang="en-US" sz="1800"/>
                <a:t>,q</a:t>
              </a:r>
              <a:r>
                <a:rPr lang="en-US" sz="1800" baseline="-25000"/>
                <a:t>2</a:t>
              </a:r>
              <a:r>
                <a:rPr lang="en-US" sz="1800"/>
                <a:t>}</a:t>
              </a:r>
            </a:p>
            <a:p>
              <a:pPr>
                <a:spcBef>
                  <a:spcPct val="50000"/>
                </a:spcBef>
                <a:buFontTx/>
                <a:buChar char="•"/>
              </a:pPr>
              <a:r>
                <a:rPr lang="en-US" sz="1800"/>
                <a:t> </a:t>
              </a:r>
              <a:r>
                <a:rPr lang="en-US" sz="1800">
                  <a:sym typeface="Symbol" pitchFamily="28" charset="2"/>
                </a:rPr>
                <a:t> </a:t>
              </a:r>
              <a:r>
                <a:rPr lang="en-US" sz="1800"/>
                <a:t>= {0,1}</a:t>
              </a:r>
            </a:p>
            <a:p>
              <a:pPr>
                <a:spcBef>
                  <a:spcPct val="50000"/>
                </a:spcBef>
                <a:buFontTx/>
                <a:buChar char="•"/>
              </a:pPr>
              <a:r>
                <a:rPr lang="en-US" sz="1800"/>
                <a:t> start state = q</a:t>
              </a:r>
              <a:r>
                <a:rPr lang="en-US" sz="1800" baseline="-25000"/>
                <a:t>0</a:t>
              </a:r>
              <a:r>
                <a:rPr lang="en-US" sz="1800"/>
                <a:t> </a:t>
              </a:r>
            </a:p>
            <a:p>
              <a:pPr>
                <a:spcBef>
                  <a:spcPct val="50000"/>
                </a:spcBef>
                <a:buFontTx/>
                <a:buChar char="•"/>
              </a:pPr>
              <a:r>
                <a:rPr lang="en-US" sz="1800"/>
                <a:t> F = {q</a:t>
              </a:r>
              <a:r>
                <a:rPr lang="en-US" sz="1800" baseline="-25000"/>
                <a:t>2</a:t>
              </a:r>
              <a:r>
                <a:rPr lang="en-US" sz="1800"/>
                <a:t>} </a:t>
              </a:r>
              <a:endParaRPr lang="el-GR" sz="1800">
                <a:cs typeface="Arial" charset="0"/>
              </a:endParaRPr>
            </a:p>
            <a:p>
              <a:pPr>
                <a:spcBef>
                  <a:spcPct val="50000"/>
                </a:spcBef>
                <a:buFontTx/>
                <a:buChar char="•"/>
              </a:pPr>
              <a:r>
                <a:rPr lang="en-US" sz="1800"/>
                <a:t> Transition table</a:t>
              </a:r>
            </a:p>
          </p:txBody>
        </p:sp>
        <p:pic>
          <p:nvPicPr>
            <p:cNvPr id="18455" name="Picture 33" descr="delta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264" y="3120"/>
              <a:ext cx="213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456" name="Rectangle 34"/>
            <p:cNvSpPr>
              <a:spLocks noChangeArrowheads="1"/>
            </p:cNvSpPr>
            <p:nvPr/>
          </p:nvSpPr>
          <p:spPr bwMode="auto">
            <a:xfrm>
              <a:off x="4464" y="3773"/>
              <a:ext cx="62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8" charset="2"/>
                <a:buNone/>
              </a:pPr>
              <a:r>
                <a:rPr lang="en-US" sz="1600"/>
                <a:t>{q</a:t>
              </a:r>
              <a:r>
                <a:rPr lang="en-US" sz="1600" baseline="-25000"/>
                <a:t>2</a:t>
              </a:r>
              <a:r>
                <a:rPr lang="en-US" sz="1600"/>
                <a:t>}</a:t>
              </a:r>
              <a:endParaRPr lang="en-US" sz="1600" baseline="-25000"/>
            </a:p>
          </p:txBody>
        </p:sp>
        <p:sp>
          <p:nvSpPr>
            <p:cNvPr id="18457" name="Rectangle 35"/>
            <p:cNvSpPr>
              <a:spLocks noChangeArrowheads="1"/>
            </p:cNvSpPr>
            <p:nvPr/>
          </p:nvSpPr>
          <p:spPr bwMode="auto">
            <a:xfrm>
              <a:off x="3840" y="3773"/>
              <a:ext cx="62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8" charset="2"/>
                <a:buNone/>
              </a:pPr>
              <a:r>
                <a:rPr lang="en-US" sz="1600"/>
                <a:t>{q</a:t>
              </a:r>
              <a:r>
                <a:rPr lang="en-US" sz="1600" baseline="-25000"/>
                <a:t>2</a:t>
              </a:r>
              <a:r>
                <a:rPr lang="en-US" sz="1600"/>
                <a:t>}</a:t>
              </a:r>
            </a:p>
          </p:txBody>
        </p:sp>
        <p:sp>
          <p:nvSpPr>
            <p:cNvPr id="18458" name="Rectangle 36"/>
            <p:cNvSpPr>
              <a:spLocks noChangeArrowheads="1"/>
            </p:cNvSpPr>
            <p:nvPr/>
          </p:nvSpPr>
          <p:spPr bwMode="auto">
            <a:xfrm>
              <a:off x="3216" y="3773"/>
              <a:ext cx="62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8" charset="2"/>
                <a:buNone/>
              </a:pPr>
              <a:r>
                <a:rPr lang="en-US" sz="1600" b="1">
                  <a:solidFill>
                    <a:schemeClr val="hlink"/>
                  </a:solidFill>
                </a:rPr>
                <a:t>*q</a:t>
              </a:r>
              <a:r>
                <a:rPr lang="en-US" sz="1600" b="1" baseline="-25000">
                  <a:solidFill>
                    <a:schemeClr val="hlink"/>
                  </a:solidFill>
                </a:rPr>
                <a:t>2</a:t>
              </a:r>
              <a:endParaRPr lang="en-US" sz="1600" b="1">
                <a:solidFill>
                  <a:schemeClr val="hlink"/>
                </a:solidFill>
              </a:endParaRPr>
            </a:p>
          </p:txBody>
        </p:sp>
        <p:sp>
          <p:nvSpPr>
            <p:cNvPr id="18459" name="Rectangle 37"/>
            <p:cNvSpPr>
              <a:spLocks noChangeArrowheads="1"/>
            </p:cNvSpPr>
            <p:nvPr/>
          </p:nvSpPr>
          <p:spPr bwMode="auto">
            <a:xfrm>
              <a:off x="4464" y="3562"/>
              <a:ext cx="62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8" charset="2"/>
                <a:buNone/>
              </a:pPr>
              <a:r>
                <a:rPr lang="en-US" sz="1600"/>
                <a:t>{q</a:t>
              </a:r>
              <a:r>
                <a:rPr lang="en-US" sz="1600" baseline="-25000"/>
                <a:t>2</a:t>
              </a:r>
              <a:r>
                <a:rPr lang="en-US" sz="1600"/>
                <a:t>}</a:t>
              </a:r>
              <a:endParaRPr lang="en-US" sz="1600" baseline="-25000"/>
            </a:p>
          </p:txBody>
        </p:sp>
        <p:sp>
          <p:nvSpPr>
            <p:cNvPr id="18460" name="Rectangle 38"/>
            <p:cNvSpPr>
              <a:spLocks noChangeArrowheads="1"/>
            </p:cNvSpPr>
            <p:nvPr/>
          </p:nvSpPr>
          <p:spPr bwMode="auto">
            <a:xfrm>
              <a:off x="3840" y="3562"/>
              <a:ext cx="62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8" charset="2"/>
                <a:buNone/>
              </a:pPr>
              <a:r>
                <a:rPr lang="el-GR" sz="1600">
                  <a:cs typeface="Arial" charset="0"/>
                </a:rPr>
                <a:t>Φ</a:t>
              </a:r>
            </a:p>
          </p:txBody>
        </p:sp>
        <p:sp>
          <p:nvSpPr>
            <p:cNvPr id="18461" name="Rectangle 39"/>
            <p:cNvSpPr>
              <a:spLocks noChangeArrowheads="1"/>
            </p:cNvSpPr>
            <p:nvPr/>
          </p:nvSpPr>
          <p:spPr bwMode="auto">
            <a:xfrm>
              <a:off x="3216" y="3562"/>
              <a:ext cx="62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8" charset="2"/>
                <a:buNone/>
              </a:pPr>
              <a:r>
                <a:rPr lang="en-US" sz="1600" b="1">
                  <a:solidFill>
                    <a:schemeClr val="hlink"/>
                  </a:solidFill>
                </a:rPr>
                <a:t>q</a:t>
              </a:r>
              <a:r>
                <a:rPr lang="en-US" sz="1600" b="1" baseline="-25000">
                  <a:solidFill>
                    <a:schemeClr val="hlink"/>
                  </a:solidFill>
                </a:rPr>
                <a:t>1</a:t>
              </a:r>
              <a:endParaRPr lang="en-US" sz="1600" b="1">
                <a:solidFill>
                  <a:schemeClr val="hlink"/>
                </a:solidFill>
              </a:endParaRPr>
            </a:p>
          </p:txBody>
        </p:sp>
        <p:sp>
          <p:nvSpPr>
            <p:cNvPr id="18462" name="Rectangle 40"/>
            <p:cNvSpPr>
              <a:spLocks noChangeArrowheads="1"/>
            </p:cNvSpPr>
            <p:nvPr/>
          </p:nvSpPr>
          <p:spPr bwMode="auto">
            <a:xfrm>
              <a:off x="4464" y="3351"/>
              <a:ext cx="62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8" charset="2"/>
                <a:buNone/>
              </a:pPr>
              <a:r>
                <a:rPr lang="en-US" sz="1600"/>
                <a:t>{q</a:t>
              </a:r>
              <a:r>
                <a:rPr lang="en-US" sz="1600" baseline="-25000"/>
                <a:t>0</a:t>
              </a:r>
              <a:r>
                <a:rPr lang="en-US" sz="1600"/>
                <a:t>}</a:t>
              </a:r>
            </a:p>
          </p:txBody>
        </p:sp>
        <p:sp>
          <p:nvSpPr>
            <p:cNvPr id="18463" name="Rectangle 41"/>
            <p:cNvSpPr>
              <a:spLocks noChangeArrowheads="1"/>
            </p:cNvSpPr>
            <p:nvPr/>
          </p:nvSpPr>
          <p:spPr bwMode="auto">
            <a:xfrm>
              <a:off x="3840" y="3351"/>
              <a:ext cx="62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8" charset="2"/>
                <a:buNone/>
              </a:pPr>
              <a:r>
                <a:rPr lang="en-US" sz="1600"/>
                <a:t>{q</a:t>
              </a:r>
              <a:r>
                <a:rPr lang="en-US" sz="1600" baseline="-25000"/>
                <a:t>0</a:t>
              </a:r>
              <a:r>
                <a:rPr lang="en-US" sz="1600"/>
                <a:t>,q</a:t>
              </a:r>
              <a:r>
                <a:rPr lang="en-US" sz="1600" baseline="-25000"/>
                <a:t>1</a:t>
              </a:r>
              <a:r>
                <a:rPr lang="en-US" sz="1600"/>
                <a:t>}</a:t>
              </a:r>
            </a:p>
          </p:txBody>
        </p:sp>
        <p:sp>
          <p:nvSpPr>
            <p:cNvPr id="18464" name="Rectangle 42"/>
            <p:cNvSpPr>
              <a:spLocks noChangeArrowheads="1"/>
            </p:cNvSpPr>
            <p:nvPr/>
          </p:nvSpPr>
          <p:spPr bwMode="auto">
            <a:xfrm>
              <a:off x="3216" y="3351"/>
              <a:ext cx="62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8" charset="2"/>
                <a:buNone/>
              </a:pPr>
              <a:r>
                <a:rPr lang="en-US" sz="1600" b="1">
                  <a:solidFill>
                    <a:schemeClr val="hlink"/>
                  </a:solidFill>
                </a:rPr>
                <a:t>q</a:t>
              </a:r>
              <a:r>
                <a:rPr lang="en-US" sz="1600" b="1" baseline="-25000">
                  <a:solidFill>
                    <a:schemeClr val="hlink"/>
                  </a:solidFill>
                </a:rPr>
                <a:t>0</a:t>
              </a:r>
            </a:p>
          </p:txBody>
        </p:sp>
        <p:sp>
          <p:nvSpPr>
            <p:cNvPr id="18465" name="Rectangle 43"/>
            <p:cNvSpPr>
              <a:spLocks noChangeArrowheads="1"/>
            </p:cNvSpPr>
            <p:nvPr/>
          </p:nvSpPr>
          <p:spPr bwMode="auto">
            <a:xfrm>
              <a:off x="4464" y="3140"/>
              <a:ext cx="62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8" charset="2"/>
                <a:buNone/>
              </a:pPr>
              <a:r>
                <a:rPr lang="en-US" sz="1600" b="1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18466" name="Rectangle 44"/>
            <p:cNvSpPr>
              <a:spLocks noChangeArrowheads="1"/>
            </p:cNvSpPr>
            <p:nvPr/>
          </p:nvSpPr>
          <p:spPr bwMode="auto">
            <a:xfrm>
              <a:off x="3840" y="3140"/>
              <a:ext cx="62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8" charset="2"/>
                <a:buNone/>
              </a:pPr>
              <a:r>
                <a:rPr lang="en-US" sz="1600" b="1">
                  <a:solidFill>
                    <a:schemeClr val="hlink"/>
                  </a:solidFill>
                </a:rPr>
                <a:t>0</a:t>
              </a:r>
            </a:p>
          </p:txBody>
        </p:sp>
        <p:sp>
          <p:nvSpPr>
            <p:cNvPr id="18467" name="Rectangle 45"/>
            <p:cNvSpPr>
              <a:spLocks noChangeArrowheads="1"/>
            </p:cNvSpPr>
            <p:nvPr/>
          </p:nvSpPr>
          <p:spPr bwMode="auto">
            <a:xfrm>
              <a:off x="3216" y="3140"/>
              <a:ext cx="62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8" charset="2"/>
                <a:buNone/>
              </a:pPr>
              <a:endParaRPr lang="en-US" sz="1600"/>
            </a:p>
          </p:txBody>
        </p:sp>
        <p:sp>
          <p:nvSpPr>
            <p:cNvPr id="18468" name="Line 47"/>
            <p:cNvSpPr>
              <a:spLocks noChangeShapeType="1"/>
            </p:cNvSpPr>
            <p:nvPr/>
          </p:nvSpPr>
          <p:spPr bwMode="auto">
            <a:xfrm>
              <a:off x="3216" y="356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69" name="Line 48"/>
            <p:cNvSpPr>
              <a:spLocks noChangeShapeType="1"/>
            </p:cNvSpPr>
            <p:nvPr/>
          </p:nvSpPr>
          <p:spPr bwMode="auto">
            <a:xfrm>
              <a:off x="3216" y="3773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70" name="Line 49"/>
            <p:cNvSpPr>
              <a:spLocks noChangeShapeType="1"/>
            </p:cNvSpPr>
            <p:nvPr/>
          </p:nvSpPr>
          <p:spPr bwMode="auto">
            <a:xfrm>
              <a:off x="3216" y="3984"/>
              <a:ext cx="18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71" name="Line 51"/>
            <p:cNvSpPr>
              <a:spLocks noChangeShapeType="1"/>
            </p:cNvSpPr>
            <p:nvPr/>
          </p:nvSpPr>
          <p:spPr bwMode="auto">
            <a:xfrm>
              <a:off x="4464" y="3140"/>
              <a:ext cx="0" cy="8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72" name="Line 52"/>
            <p:cNvSpPr>
              <a:spLocks noChangeShapeType="1"/>
            </p:cNvSpPr>
            <p:nvPr/>
          </p:nvSpPr>
          <p:spPr bwMode="auto">
            <a:xfrm>
              <a:off x="5088" y="3140"/>
              <a:ext cx="0" cy="8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73" name="Line 55"/>
            <p:cNvSpPr>
              <a:spLocks noChangeShapeType="1"/>
            </p:cNvSpPr>
            <p:nvPr/>
          </p:nvSpPr>
          <p:spPr bwMode="auto">
            <a:xfrm>
              <a:off x="3840" y="3140"/>
              <a:ext cx="0" cy="8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74" name="Line 56"/>
            <p:cNvSpPr>
              <a:spLocks noChangeShapeType="1"/>
            </p:cNvSpPr>
            <p:nvPr/>
          </p:nvSpPr>
          <p:spPr bwMode="auto">
            <a:xfrm>
              <a:off x="3216" y="335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75" name="Text Box 61"/>
            <p:cNvSpPr txBox="1">
              <a:spLocks noChangeArrowheads="1"/>
            </p:cNvSpPr>
            <p:nvPr/>
          </p:nvSpPr>
          <p:spPr bwMode="auto">
            <a:xfrm rot="-5400000">
              <a:off x="2803" y="3572"/>
              <a:ext cx="50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chemeClr val="tx2"/>
                  </a:solidFill>
                </a:rPr>
                <a:t>states</a:t>
              </a:r>
            </a:p>
          </p:txBody>
        </p:sp>
        <p:sp>
          <p:nvSpPr>
            <p:cNvPr id="18476" name="Text Box 62"/>
            <p:cNvSpPr txBox="1">
              <a:spLocks noChangeArrowheads="1"/>
            </p:cNvSpPr>
            <p:nvPr/>
          </p:nvSpPr>
          <p:spPr bwMode="auto">
            <a:xfrm>
              <a:off x="4054" y="2926"/>
              <a:ext cx="64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chemeClr val="tx2"/>
                  </a:solidFill>
                </a:rPr>
                <a:t>symbols</a:t>
              </a:r>
            </a:p>
          </p:txBody>
        </p:sp>
        <p:sp>
          <p:nvSpPr>
            <p:cNvPr id="18477" name="Line 65"/>
            <p:cNvSpPr>
              <a:spLocks noChangeShapeType="1"/>
            </p:cNvSpPr>
            <p:nvPr/>
          </p:nvSpPr>
          <p:spPr bwMode="auto">
            <a:xfrm>
              <a:off x="3072" y="3456"/>
              <a:ext cx="192" cy="0"/>
            </a:xfrm>
            <a:prstGeom prst="line">
              <a:avLst/>
            </a:prstGeom>
            <a:noFill/>
            <a:ln w="9525">
              <a:solidFill>
                <a:srgbClr val="339966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1442" name="Text Box 66"/>
          <p:cNvSpPr txBox="1">
            <a:spLocks noChangeArrowheads="1"/>
          </p:cNvSpPr>
          <p:nvPr/>
        </p:nvSpPr>
        <p:spPr bwMode="auto">
          <a:xfrm>
            <a:off x="762000" y="5330825"/>
            <a:ext cx="3254375" cy="641350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hlink"/>
                </a:solidFill>
              </a:rPr>
              <a:t>What will happen if at state q</a:t>
            </a:r>
            <a:r>
              <a:rPr lang="en-US" sz="1800" baseline="-25000">
                <a:solidFill>
                  <a:schemeClr val="hlink"/>
                </a:solidFill>
              </a:rPr>
              <a:t>1</a:t>
            </a:r>
            <a:r>
              <a:rPr lang="en-US" sz="1800">
                <a:solidFill>
                  <a:schemeClr val="hlink"/>
                </a:solidFill>
              </a:rPr>
              <a:t> </a:t>
            </a:r>
            <a:br>
              <a:rPr lang="en-US" sz="1800">
                <a:solidFill>
                  <a:schemeClr val="hlink"/>
                </a:solidFill>
              </a:rPr>
            </a:br>
            <a:r>
              <a:rPr lang="en-US" sz="1800">
                <a:solidFill>
                  <a:schemeClr val="hlink"/>
                </a:solidFill>
              </a:rPr>
              <a:t>an input of 0 is received? </a:t>
            </a:r>
          </a:p>
        </p:txBody>
      </p:sp>
      <p:sp>
        <p:nvSpPr>
          <p:cNvPr id="101445" name="Text Box 69"/>
          <p:cNvSpPr txBox="1">
            <a:spLocks noChangeArrowheads="1"/>
          </p:cNvSpPr>
          <p:nvPr/>
        </p:nvSpPr>
        <p:spPr bwMode="auto">
          <a:xfrm>
            <a:off x="228600" y="2590800"/>
            <a:ext cx="3284538" cy="366713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hlink"/>
                </a:solidFill>
              </a:rPr>
              <a:t>Why is this non-deterministic? </a:t>
            </a:r>
          </a:p>
        </p:txBody>
      </p:sp>
      <p:sp>
        <p:nvSpPr>
          <p:cNvPr id="61" name="Text Box 14"/>
          <p:cNvSpPr txBox="1">
            <a:spLocks noChangeArrowheads="1"/>
          </p:cNvSpPr>
          <p:nvPr/>
        </p:nvSpPr>
        <p:spPr bwMode="auto">
          <a:xfrm>
            <a:off x="3276600" y="304800"/>
            <a:ext cx="50228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Regular expression: (0+1)*01(0+1)*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442" grpId="0" animBg="1"/>
      <p:bldP spid="101445" grpId="0" animBg="1"/>
      <p:bldP spid="6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166C906-4521-45AD-900D-FE792846BCD2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What is an “error state”?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A DFA for recognizing the key word “</a:t>
            </a:r>
            <a:r>
              <a:rPr lang="en-US" i="1" dirty="0"/>
              <a:t>while</a:t>
            </a:r>
            <a:r>
              <a:rPr lang="en-US" dirty="0"/>
              <a:t>”</a:t>
            </a:r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An NFA for the same purpose:</a:t>
            </a:r>
          </a:p>
          <a:p>
            <a:pPr lvl="1" eaLnBrk="1" hangingPunct="1"/>
            <a:endParaRPr lang="en-US" dirty="0"/>
          </a:p>
        </p:txBody>
      </p:sp>
      <p:sp>
        <p:nvSpPr>
          <p:cNvPr id="19461" name="Oval 4"/>
          <p:cNvSpPr>
            <a:spLocks noChangeArrowheads="1"/>
          </p:cNvSpPr>
          <p:nvPr/>
        </p:nvSpPr>
        <p:spPr bwMode="auto">
          <a:xfrm>
            <a:off x="3352800" y="28956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q</a:t>
            </a:r>
            <a:r>
              <a:rPr lang="en-US" sz="1800" baseline="-25000"/>
              <a:t>0</a:t>
            </a:r>
            <a:endParaRPr lang="en-US" sz="1800"/>
          </a:p>
        </p:txBody>
      </p:sp>
      <p:sp>
        <p:nvSpPr>
          <p:cNvPr id="19462" name="Line 5"/>
          <p:cNvSpPr>
            <a:spLocks noChangeShapeType="1"/>
          </p:cNvSpPr>
          <p:nvPr/>
        </p:nvSpPr>
        <p:spPr bwMode="auto">
          <a:xfrm>
            <a:off x="2971800" y="3124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3" name="Text Box 6"/>
          <p:cNvSpPr txBox="1">
            <a:spLocks noChangeArrowheads="1"/>
          </p:cNvSpPr>
          <p:nvPr/>
        </p:nvSpPr>
        <p:spPr bwMode="auto">
          <a:xfrm>
            <a:off x="3886200" y="2743200"/>
            <a:ext cx="368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w</a:t>
            </a:r>
          </a:p>
        </p:txBody>
      </p:sp>
      <p:sp>
        <p:nvSpPr>
          <p:cNvPr id="19464" name="Line 7"/>
          <p:cNvSpPr>
            <a:spLocks noChangeShapeType="1"/>
          </p:cNvSpPr>
          <p:nvPr/>
        </p:nvSpPr>
        <p:spPr bwMode="auto">
          <a:xfrm>
            <a:off x="3810000" y="31242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5" name="Oval 8"/>
          <p:cNvSpPr>
            <a:spLocks noChangeArrowheads="1"/>
          </p:cNvSpPr>
          <p:nvPr/>
        </p:nvSpPr>
        <p:spPr bwMode="auto">
          <a:xfrm>
            <a:off x="4267200" y="28956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q</a:t>
            </a:r>
            <a:r>
              <a:rPr lang="en-US" sz="1800" baseline="-25000"/>
              <a:t>1</a:t>
            </a:r>
            <a:endParaRPr lang="en-US" sz="1800"/>
          </a:p>
        </p:txBody>
      </p:sp>
      <p:sp>
        <p:nvSpPr>
          <p:cNvPr id="19466" name="Text Box 9"/>
          <p:cNvSpPr txBox="1">
            <a:spLocks noChangeArrowheads="1"/>
          </p:cNvSpPr>
          <p:nvPr/>
        </p:nvSpPr>
        <p:spPr bwMode="auto">
          <a:xfrm>
            <a:off x="4800600" y="2743200"/>
            <a:ext cx="325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h</a:t>
            </a:r>
          </a:p>
        </p:txBody>
      </p:sp>
      <p:sp>
        <p:nvSpPr>
          <p:cNvPr id="19467" name="Line 10"/>
          <p:cNvSpPr>
            <a:spLocks noChangeShapeType="1"/>
          </p:cNvSpPr>
          <p:nvPr/>
        </p:nvSpPr>
        <p:spPr bwMode="auto">
          <a:xfrm>
            <a:off x="4724400" y="31242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8" name="Oval 11"/>
          <p:cNvSpPr>
            <a:spLocks noChangeArrowheads="1"/>
          </p:cNvSpPr>
          <p:nvPr/>
        </p:nvSpPr>
        <p:spPr bwMode="auto">
          <a:xfrm>
            <a:off x="5181600" y="28956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q</a:t>
            </a:r>
            <a:r>
              <a:rPr lang="en-US" sz="1800" baseline="-25000"/>
              <a:t>2</a:t>
            </a:r>
            <a:endParaRPr lang="en-US" sz="1800"/>
          </a:p>
        </p:txBody>
      </p:sp>
      <p:sp>
        <p:nvSpPr>
          <p:cNvPr id="19469" name="Text Box 12"/>
          <p:cNvSpPr txBox="1">
            <a:spLocks noChangeArrowheads="1"/>
          </p:cNvSpPr>
          <p:nvPr/>
        </p:nvSpPr>
        <p:spPr bwMode="auto">
          <a:xfrm>
            <a:off x="5715000" y="2743200"/>
            <a:ext cx="241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i</a:t>
            </a:r>
          </a:p>
        </p:txBody>
      </p:sp>
      <p:sp>
        <p:nvSpPr>
          <p:cNvPr id="19470" name="Line 13"/>
          <p:cNvSpPr>
            <a:spLocks noChangeShapeType="1"/>
          </p:cNvSpPr>
          <p:nvPr/>
        </p:nvSpPr>
        <p:spPr bwMode="auto">
          <a:xfrm>
            <a:off x="5638800" y="31242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71" name="Oval 14"/>
          <p:cNvSpPr>
            <a:spLocks noChangeArrowheads="1"/>
          </p:cNvSpPr>
          <p:nvPr/>
        </p:nvSpPr>
        <p:spPr bwMode="auto">
          <a:xfrm>
            <a:off x="6096000" y="28956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q</a:t>
            </a:r>
            <a:r>
              <a:rPr lang="en-US" sz="1800" baseline="-25000"/>
              <a:t>3</a:t>
            </a:r>
            <a:endParaRPr lang="en-US" sz="1800"/>
          </a:p>
        </p:txBody>
      </p:sp>
      <p:sp>
        <p:nvSpPr>
          <p:cNvPr id="19472" name="Text Box 15"/>
          <p:cNvSpPr txBox="1">
            <a:spLocks noChangeArrowheads="1"/>
          </p:cNvSpPr>
          <p:nvPr/>
        </p:nvSpPr>
        <p:spPr bwMode="auto">
          <a:xfrm>
            <a:off x="6629400" y="2743200"/>
            <a:ext cx="241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l</a:t>
            </a:r>
          </a:p>
        </p:txBody>
      </p:sp>
      <p:sp>
        <p:nvSpPr>
          <p:cNvPr id="19473" name="Line 16"/>
          <p:cNvSpPr>
            <a:spLocks noChangeShapeType="1"/>
          </p:cNvSpPr>
          <p:nvPr/>
        </p:nvSpPr>
        <p:spPr bwMode="auto">
          <a:xfrm>
            <a:off x="6553200" y="31242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74" name="Oval 17"/>
          <p:cNvSpPr>
            <a:spLocks noChangeArrowheads="1"/>
          </p:cNvSpPr>
          <p:nvPr/>
        </p:nvSpPr>
        <p:spPr bwMode="auto">
          <a:xfrm>
            <a:off x="7010400" y="28956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q</a:t>
            </a:r>
            <a:r>
              <a:rPr lang="en-US" sz="1800" baseline="-25000"/>
              <a:t>4</a:t>
            </a:r>
            <a:endParaRPr lang="en-US" sz="1800"/>
          </a:p>
        </p:txBody>
      </p:sp>
      <p:sp>
        <p:nvSpPr>
          <p:cNvPr id="19475" name="Text Box 18"/>
          <p:cNvSpPr txBox="1">
            <a:spLocks noChangeArrowheads="1"/>
          </p:cNvSpPr>
          <p:nvPr/>
        </p:nvSpPr>
        <p:spPr bwMode="auto">
          <a:xfrm>
            <a:off x="7543800" y="2743200"/>
            <a:ext cx="325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e</a:t>
            </a:r>
          </a:p>
        </p:txBody>
      </p:sp>
      <p:sp>
        <p:nvSpPr>
          <p:cNvPr id="19476" name="Line 19"/>
          <p:cNvSpPr>
            <a:spLocks noChangeShapeType="1"/>
          </p:cNvSpPr>
          <p:nvPr/>
        </p:nvSpPr>
        <p:spPr bwMode="auto">
          <a:xfrm>
            <a:off x="7467600" y="31242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77" name="Oval 20"/>
          <p:cNvSpPr>
            <a:spLocks noChangeArrowheads="1"/>
          </p:cNvSpPr>
          <p:nvPr/>
        </p:nvSpPr>
        <p:spPr bwMode="auto">
          <a:xfrm>
            <a:off x="8001000" y="28956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q</a:t>
            </a:r>
            <a:r>
              <a:rPr lang="en-US" sz="1800" baseline="-25000"/>
              <a:t>5</a:t>
            </a:r>
            <a:endParaRPr lang="en-US" sz="1800"/>
          </a:p>
        </p:txBody>
      </p:sp>
      <p:sp>
        <p:nvSpPr>
          <p:cNvPr id="19478" name="Oval 21"/>
          <p:cNvSpPr>
            <a:spLocks noChangeArrowheads="1"/>
          </p:cNvSpPr>
          <p:nvPr/>
        </p:nvSpPr>
        <p:spPr bwMode="auto">
          <a:xfrm>
            <a:off x="7924800" y="2819400"/>
            <a:ext cx="609600" cy="609600"/>
          </a:xfrm>
          <a:prstGeom prst="ellipse">
            <a:avLst/>
          </a:prstGeom>
          <a:solidFill>
            <a:schemeClr val="accent1">
              <a:alpha val="3922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79" name="Line 22"/>
          <p:cNvSpPr>
            <a:spLocks noChangeShapeType="1"/>
          </p:cNvSpPr>
          <p:nvPr/>
        </p:nvSpPr>
        <p:spPr bwMode="auto">
          <a:xfrm>
            <a:off x="3657600" y="3352800"/>
            <a:ext cx="1981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80" name="Oval 23"/>
          <p:cNvSpPr>
            <a:spLocks noChangeArrowheads="1"/>
          </p:cNvSpPr>
          <p:nvPr/>
        </p:nvSpPr>
        <p:spPr bwMode="auto">
          <a:xfrm>
            <a:off x="5562600" y="3962400"/>
            <a:ext cx="457200" cy="457200"/>
          </a:xfrm>
          <a:prstGeom prst="ellipse">
            <a:avLst/>
          </a:prstGeom>
          <a:solidFill>
            <a:srgbClr val="FFCC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 dirty="0" err="1"/>
              <a:t>q</a:t>
            </a:r>
            <a:r>
              <a:rPr lang="en-US" sz="1800" baseline="-25000" dirty="0" err="1"/>
              <a:t>err</a:t>
            </a:r>
            <a:endParaRPr lang="en-US" sz="1800" dirty="0"/>
          </a:p>
        </p:txBody>
      </p:sp>
      <p:sp>
        <p:nvSpPr>
          <p:cNvPr id="19481" name="Line 24"/>
          <p:cNvSpPr>
            <a:spLocks noChangeShapeType="1"/>
          </p:cNvSpPr>
          <p:nvPr/>
        </p:nvSpPr>
        <p:spPr bwMode="auto">
          <a:xfrm>
            <a:off x="4572000" y="3352800"/>
            <a:ext cx="1143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82" name="Line 25"/>
          <p:cNvSpPr>
            <a:spLocks noChangeShapeType="1"/>
          </p:cNvSpPr>
          <p:nvPr/>
        </p:nvSpPr>
        <p:spPr bwMode="auto">
          <a:xfrm>
            <a:off x="5486400" y="3352800"/>
            <a:ext cx="304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83" name="Line 26"/>
          <p:cNvSpPr>
            <a:spLocks noChangeShapeType="1"/>
          </p:cNvSpPr>
          <p:nvPr/>
        </p:nvSpPr>
        <p:spPr bwMode="auto">
          <a:xfrm flipH="1">
            <a:off x="5867400" y="33528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84" name="Line 27"/>
          <p:cNvSpPr>
            <a:spLocks noChangeShapeType="1"/>
          </p:cNvSpPr>
          <p:nvPr/>
        </p:nvSpPr>
        <p:spPr bwMode="auto">
          <a:xfrm flipH="1">
            <a:off x="5943600" y="3352800"/>
            <a:ext cx="1219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85" name="Line 28"/>
          <p:cNvSpPr>
            <a:spLocks noChangeShapeType="1"/>
          </p:cNvSpPr>
          <p:nvPr/>
        </p:nvSpPr>
        <p:spPr bwMode="auto">
          <a:xfrm flipH="1">
            <a:off x="6019800" y="3352800"/>
            <a:ext cx="2057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86" name="Text Box 29"/>
          <p:cNvSpPr txBox="1">
            <a:spLocks noChangeArrowheads="1"/>
          </p:cNvSpPr>
          <p:nvPr/>
        </p:nvSpPr>
        <p:spPr bwMode="auto">
          <a:xfrm>
            <a:off x="4572000" y="3505200"/>
            <a:ext cx="2768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Any other input symbol</a:t>
            </a:r>
          </a:p>
        </p:txBody>
      </p:sp>
      <p:sp>
        <p:nvSpPr>
          <p:cNvPr id="19487" name="Oval 4"/>
          <p:cNvSpPr>
            <a:spLocks noChangeArrowheads="1"/>
          </p:cNvSpPr>
          <p:nvPr/>
        </p:nvSpPr>
        <p:spPr bwMode="auto">
          <a:xfrm>
            <a:off x="3124200" y="57150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q</a:t>
            </a:r>
            <a:r>
              <a:rPr lang="en-US" sz="1800" baseline="-25000"/>
              <a:t>0</a:t>
            </a:r>
            <a:endParaRPr lang="en-US" sz="1800"/>
          </a:p>
        </p:txBody>
      </p:sp>
      <p:sp>
        <p:nvSpPr>
          <p:cNvPr id="19488" name="Line 5"/>
          <p:cNvSpPr>
            <a:spLocks noChangeShapeType="1"/>
          </p:cNvSpPr>
          <p:nvPr/>
        </p:nvSpPr>
        <p:spPr bwMode="auto">
          <a:xfrm>
            <a:off x="2743200" y="59436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89" name="Text Box 6"/>
          <p:cNvSpPr txBox="1">
            <a:spLocks noChangeArrowheads="1"/>
          </p:cNvSpPr>
          <p:nvPr/>
        </p:nvSpPr>
        <p:spPr bwMode="auto">
          <a:xfrm>
            <a:off x="3657600" y="5562600"/>
            <a:ext cx="368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w</a:t>
            </a:r>
          </a:p>
        </p:txBody>
      </p:sp>
      <p:sp>
        <p:nvSpPr>
          <p:cNvPr id="19490" name="Line 7"/>
          <p:cNvSpPr>
            <a:spLocks noChangeShapeType="1"/>
          </p:cNvSpPr>
          <p:nvPr/>
        </p:nvSpPr>
        <p:spPr bwMode="auto">
          <a:xfrm>
            <a:off x="3581400" y="59436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91" name="Oval 8"/>
          <p:cNvSpPr>
            <a:spLocks noChangeArrowheads="1"/>
          </p:cNvSpPr>
          <p:nvPr/>
        </p:nvSpPr>
        <p:spPr bwMode="auto">
          <a:xfrm>
            <a:off x="4038600" y="57150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q</a:t>
            </a:r>
            <a:r>
              <a:rPr lang="en-US" sz="1800" baseline="-25000"/>
              <a:t>1</a:t>
            </a:r>
            <a:endParaRPr lang="en-US" sz="1800"/>
          </a:p>
        </p:txBody>
      </p:sp>
      <p:sp>
        <p:nvSpPr>
          <p:cNvPr id="19492" name="Text Box 9"/>
          <p:cNvSpPr txBox="1">
            <a:spLocks noChangeArrowheads="1"/>
          </p:cNvSpPr>
          <p:nvPr/>
        </p:nvSpPr>
        <p:spPr bwMode="auto">
          <a:xfrm>
            <a:off x="4572000" y="5562600"/>
            <a:ext cx="325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h</a:t>
            </a:r>
          </a:p>
        </p:txBody>
      </p:sp>
      <p:sp>
        <p:nvSpPr>
          <p:cNvPr id="19493" name="Line 10"/>
          <p:cNvSpPr>
            <a:spLocks noChangeShapeType="1"/>
          </p:cNvSpPr>
          <p:nvPr/>
        </p:nvSpPr>
        <p:spPr bwMode="auto">
          <a:xfrm>
            <a:off x="4495800" y="59436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94" name="Oval 11"/>
          <p:cNvSpPr>
            <a:spLocks noChangeArrowheads="1"/>
          </p:cNvSpPr>
          <p:nvPr/>
        </p:nvSpPr>
        <p:spPr bwMode="auto">
          <a:xfrm>
            <a:off x="4953000" y="57150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q</a:t>
            </a:r>
            <a:r>
              <a:rPr lang="en-US" sz="1800" baseline="-25000"/>
              <a:t>2</a:t>
            </a:r>
            <a:endParaRPr lang="en-US" sz="1800"/>
          </a:p>
        </p:txBody>
      </p:sp>
      <p:sp>
        <p:nvSpPr>
          <p:cNvPr id="19495" name="Text Box 12"/>
          <p:cNvSpPr txBox="1">
            <a:spLocks noChangeArrowheads="1"/>
          </p:cNvSpPr>
          <p:nvPr/>
        </p:nvSpPr>
        <p:spPr bwMode="auto">
          <a:xfrm>
            <a:off x="5486400" y="5562600"/>
            <a:ext cx="241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i</a:t>
            </a:r>
          </a:p>
        </p:txBody>
      </p:sp>
      <p:sp>
        <p:nvSpPr>
          <p:cNvPr id="19496" name="Line 13"/>
          <p:cNvSpPr>
            <a:spLocks noChangeShapeType="1"/>
          </p:cNvSpPr>
          <p:nvPr/>
        </p:nvSpPr>
        <p:spPr bwMode="auto">
          <a:xfrm>
            <a:off x="5410200" y="59436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97" name="Oval 14"/>
          <p:cNvSpPr>
            <a:spLocks noChangeArrowheads="1"/>
          </p:cNvSpPr>
          <p:nvPr/>
        </p:nvSpPr>
        <p:spPr bwMode="auto">
          <a:xfrm>
            <a:off x="5867400" y="57150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q</a:t>
            </a:r>
            <a:r>
              <a:rPr lang="en-US" sz="1800" baseline="-25000"/>
              <a:t>3</a:t>
            </a:r>
            <a:endParaRPr lang="en-US" sz="1800"/>
          </a:p>
        </p:txBody>
      </p:sp>
      <p:sp>
        <p:nvSpPr>
          <p:cNvPr id="19498" name="Text Box 15"/>
          <p:cNvSpPr txBox="1">
            <a:spLocks noChangeArrowheads="1"/>
          </p:cNvSpPr>
          <p:nvPr/>
        </p:nvSpPr>
        <p:spPr bwMode="auto">
          <a:xfrm>
            <a:off x="6400800" y="5562600"/>
            <a:ext cx="241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l</a:t>
            </a:r>
          </a:p>
        </p:txBody>
      </p:sp>
      <p:sp>
        <p:nvSpPr>
          <p:cNvPr id="19499" name="Line 16"/>
          <p:cNvSpPr>
            <a:spLocks noChangeShapeType="1"/>
          </p:cNvSpPr>
          <p:nvPr/>
        </p:nvSpPr>
        <p:spPr bwMode="auto">
          <a:xfrm>
            <a:off x="6324600" y="59436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500" name="Oval 17"/>
          <p:cNvSpPr>
            <a:spLocks noChangeArrowheads="1"/>
          </p:cNvSpPr>
          <p:nvPr/>
        </p:nvSpPr>
        <p:spPr bwMode="auto">
          <a:xfrm>
            <a:off x="6781800" y="57150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q</a:t>
            </a:r>
            <a:r>
              <a:rPr lang="en-US" sz="1800" baseline="-25000"/>
              <a:t>4</a:t>
            </a:r>
            <a:endParaRPr lang="en-US" sz="1800"/>
          </a:p>
        </p:txBody>
      </p:sp>
      <p:sp>
        <p:nvSpPr>
          <p:cNvPr id="19501" name="Text Box 18"/>
          <p:cNvSpPr txBox="1">
            <a:spLocks noChangeArrowheads="1"/>
          </p:cNvSpPr>
          <p:nvPr/>
        </p:nvSpPr>
        <p:spPr bwMode="auto">
          <a:xfrm>
            <a:off x="7315200" y="5562600"/>
            <a:ext cx="325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e</a:t>
            </a:r>
          </a:p>
        </p:txBody>
      </p:sp>
      <p:sp>
        <p:nvSpPr>
          <p:cNvPr id="19502" name="Line 19"/>
          <p:cNvSpPr>
            <a:spLocks noChangeShapeType="1"/>
          </p:cNvSpPr>
          <p:nvPr/>
        </p:nvSpPr>
        <p:spPr bwMode="auto">
          <a:xfrm>
            <a:off x="7239000" y="59436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503" name="Oval 20"/>
          <p:cNvSpPr>
            <a:spLocks noChangeArrowheads="1"/>
          </p:cNvSpPr>
          <p:nvPr/>
        </p:nvSpPr>
        <p:spPr bwMode="auto">
          <a:xfrm>
            <a:off x="7772400" y="57150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q</a:t>
            </a:r>
            <a:r>
              <a:rPr lang="en-US" sz="1800" baseline="-25000"/>
              <a:t>5</a:t>
            </a:r>
            <a:endParaRPr lang="en-US" sz="1800"/>
          </a:p>
        </p:txBody>
      </p:sp>
      <p:sp>
        <p:nvSpPr>
          <p:cNvPr id="19504" name="Oval 21"/>
          <p:cNvSpPr>
            <a:spLocks noChangeArrowheads="1"/>
          </p:cNvSpPr>
          <p:nvPr/>
        </p:nvSpPr>
        <p:spPr bwMode="auto">
          <a:xfrm>
            <a:off x="7696200" y="5638800"/>
            <a:ext cx="609600" cy="609600"/>
          </a:xfrm>
          <a:prstGeom prst="ellipse">
            <a:avLst/>
          </a:prstGeom>
          <a:solidFill>
            <a:schemeClr val="accent1">
              <a:alpha val="3922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505" name="Freeform 51"/>
          <p:cNvSpPr>
            <a:spLocks/>
          </p:cNvSpPr>
          <p:nvPr/>
        </p:nvSpPr>
        <p:spPr bwMode="auto">
          <a:xfrm>
            <a:off x="5943600" y="4157663"/>
            <a:ext cx="301625" cy="422275"/>
          </a:xfrm>
          <a:custGeom>
            <a:avLst/>
            <a:gdLst>
              <a:gd name="T0" fmla="*/ 110505 w 301172"/>
              <a:gd name="T1" fmla="*/ 0 h 420914"/>
              <a:gd name="T2" fmla="*/ 287316 w 301172"/>
              <a:gd name="T3" fmla="*/ 393500 h 420914"/>
              <a:gd name="T4" fmla="*/ 0 w 301172"/>
              <a:gd name="T5" fmla="*/ 247342 h 420914"/>
              <a:gd name="T6" fmla="*/ 0 60000 65536"/>
              <a:gd name="T7" fmla="*/ 0 60000 65536"/>
              <a:gd name="T8" fmla="*/ 0 60000 65536"/>
              <a:gd name="T9" fmla="*/ 0 w 301172"/>
              <a:gd name="T10" fmla="*/ 0 h 420914"/>
              <a:gd name="T11" fmla="*/ 301172 w 301172"/>
              <a:gd name="T12" fmla="*/ 420914 h 42091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01172" h="420914">
                <a:moveTo>
                  <a:pt x="108857" y="0"/>
                </a:moveTo>
                <a:cubicBezTo>
                  <a:pt x="205014" y="170543"/>
                  <a:pt x="301172" y="341086"/>
                  <a:pt x="283029" y="381000"/>
                </a:cubicBezTo>
                <a:cubicBezTo>
                  <a:pt x="264886" y="420914"/>
                  <a:pt x="132443" y="330200"/>
                  <a:pt x="0" y="239486"/>
                </a:cubicBezTo>
              </a:path>
            </a:pathLst>
          </a:cu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9506" name="Text Box 29"/>
          <p:cNvSpPr txBox="1">
            <a:spLocks noChangeArrowheads="1"/>
          </p:cNvSpPr>
          <p:nvPr/>
        </p:nvSpPr>
        <p:spPr bwMode="auto">
          <a:xfrm>
            <a:off x="6172200" y="4191000"/>
            <a:ext cx="150971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Any symbol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152400"/>
            <a:ext cx="7931980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srgbClr val="FF0000"/>
                </a:solidFill>
              </a:rPr>
              <a:t>Note: Omitting to explicitly show error states is just a matter of design convenience</a:t>
            </a:r>
            <a:br>
              <a:rPr lang="en-US" sz="1600" dirty="0">
                <a:solidFill>
                  <a:srgbClr val="FF0000"/>
                </a:solidFill>
              </a:rPr>
            </a:br>
            <a:r>
              <a:rPr lang="en-US" sz="1600" dirty="0">
                <a:solidFill>
                  <a:srgbClr val="FF0000"/>
                </a:solidFill>
              </a:rPr>
              <a:t>	(one that is generally followed for NFAs), and </a:t>
            </a:r>
            <a:br>
              <a:rPr lang="en-US" sz="1600" dirty="0">
                <a:solidFill>
                  <a:srgbClr val="FF0000"/>
                </a:solidFill>
              </a:rPr>
            </a:br>
            <a:r>
              <a:rPr lang="en-US" sz="1600" dirty="0">
                <a:solidFill>
                  <a:srgbClr val="FF0000"/>
                </a:solidFill>
              </a:rPr>
              <a:t>	i.e., this feature should not be confused with the notion of non-determinism. </a:t>
            </a:r>
          </a:p>
        </p:txBody>
      </p:sp>
      <p:sp>
        <p:nvSpPr>
          <p:cNvPr id="19508" name="TextBox 51"/>
          <p:cNvSpPr txBox="1">
            <a:spLocks noChangeArrowheads="1"/>
          </p:cNvSpPr>
          <p:nvPr/>
        </p:nvSpPr>
        <p:spPr bwMode="auto">
          <a:xfrm>
            <a:off x="2667000" y="6248400"/>
            <a:ext cx="57531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>
                <a:solidFill>
                  <a:srgbClr val="FF0000"/>
                </a:solidFill>
              </a:rPr>
              <a:t>Transitions into a dead state are implicit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8052F55-267F-49F0-A2CA-63A96D7D749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 #2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Build an NFA for the following language:</a:t>
            </a:r>
            <a:br>
              <a:rPr lang="en-US"/>
            </a:br>
            <a:r>
              <a:rPr lang="en-US"/>
              <a:t>	</a:t>
            </a:r>
            <a:r>
              <a:rPr lang="en-US">
                <a:solidFill>
                  <a:schemeClr val="tx2"/>
                </a:solidFill>
              </a:rPr>
              <a:t>L = { w | w ends in 01}</a:t>
            </a:r>
          </a:p>
          <a:p>
            <a:pPr eaLnBrk="1" hangingPunct="1"/>
            <a:r>
              <a:rPr lang="en-US"/>
              <a:t>?</a:t>
            </a:r>
          </a:p>
          <a:p>
            <a:pPr eaLnBrk="1" hangingPunct="1"/>
            <a:r>
              <a:rPr lang="en-US"/>
              <a:t>Other examples</a:t>
            </a:r>
          </a:p>
          <a:p>
            <a:pPr lvl="1" eaLnBrk="1" hangingPunct="1"/>
            <a:r>
              <a:rPr lang="en-US"/>
              <a:t>Keyword recognizer (e.g., if, then, else, while, for, include, etc.)</a:t>
            </a:r>
          </a:p>
          <a:p>
            <a:pPr lvl="1" eaLnBrk="1" hangingPunct="1"/>
            <a:r>
              <a:rPr lang="en-US"/>
              <a:t>Strings where the first symbol is present somewhere later on at least once</a:t>
            </a:r>
          </a:p>
          <a:p>
            <a:pPr lvl="1" eaLnBrk="1" hangingPunct="1"/>
            <a:endParaRPr lang="en-US"/>
          </a:p>
          <a:p>
            <a:pPr lvl="1" eaLnBrk="1" hangingPunct="1"/>
            <a:endParaRPr lang="en-US"/>
          </a:p>
          <a:p>
            <a:pPr eaLnBrk="1" hangingPunct="1">
              <a:buFont typeface="Wingdings" pitchFamily="28" charset="2"/>
              <a:buNone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3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3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3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3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3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7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A976A75-A459-4C36-8385-89C8B989ADAF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21507" name="Text Box 4"/>
          <p:cNvSpPr txBox="1">
            <a:spLocks noChangeArrowheads="1"/>
          </p:cNvSpPr>
          <p:nvPr/>
        </p:nvSpPr>
        <p:spPr bwMode="auto">
          <a:xfrm>
            <a:off x="1203325" y="5145088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1508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Extension of </a:t>
            </a:r>
            <a:r>
              <a:rPr lang="el-GR"/>
              <a:t>δ</a:t>
            </a:r>
            <a:r>
              <a:rPr lang="en-US"/>
              <a:t> to NFA Paths</a:t>
            </a:r>
          </a:p>
        </p:txBody>
      </p:sp>
      <p:sp>
        <p:nvSpPr>
          <p:cNvPr id="21509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u="sng"/>
              <a:t>Basis:</a:t>
            </a:r>
            <a:r>
              <a:rPr lang="en-US" sz="2800"/>
              <a:t>  </a:t>
            </a:r>
            <a:r>
              <a:rPr lang="el-GR" sz="2800">
                <a:latin typeface="Lucida Grande" pitchFamily="28" charset="0"/>
                <a:cs typeface="Tahoma" pitchFamily="28" charset="0"/>
              </a:rPr>
              <a:t>δ</a:t>
            </a:r>
            <a:r>
              <a:rPr lang="en-US" sz="2800" i="1"/>
              <a:t> (q,</a:t>
            </a:r>
            <a:r>
              <a:rPr lang="en-US" sz="2800" i="1">
                <a:sym typeface="Symbol" pitchFamily="28" charset="2"/>
              </a:rPr>
              <a:t></a:t>
            </a:r>
            <a:r>
              <a:rPr lang="en-US" sz="2800" i="1"/>
              <a:t>) = {q}</a:t>
            </a:r>
          </a:p>
          <a:p>
            <a:pPr eaLnBrk="1" hangingPunct="1">
              <a:lnSpc>
                <a:spcPct val="90000"/>
              </a:lnSpc>
            </a:pPr>
            <a:endParaRPr lang="en-US" sz="2800" i="1"/>
          </a:p>
          <a:p>
            <a:pPr eaLnBrk="1" hangingPunct="1">
              <a:lnSpc>
                <a:spcPct val="90000"/>
              </a:lnSpc>
            </a:pPr>
            <a:r>
              <a:rPr lang="en-US" sz="2800" u="sng"/>
              <a:t>Induction:</a:t>
            </a:r>
            <a:r>
              <a:rPr lang="en-US" sz="2800"/>
              <a:t>	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Let	 </a:t>
            </a:r>
            <a:r>
              <a:rPr lang="el-GR" sz="2400">
                <a:latin typeface="Lucida Grande" pitchFamily="28" charset="0"/>
                <a:cs typeface="Tahoma" pitchFamily="28" charset="0"/>
              </a:rPr>
              <a:t>δ</a:t>
            </a:r>
            <a:r>
              <a:rPr lang="en-US" sz="2400" i="1"/>
              <a:t> (q</a:t>
            </a:r>
            <a:r>
              <a:rPr lang="en-US" sz="2400" i="1" baseline="-25000"/>
              <a:t>0</a:t>
            </a:r>
            <a:r>
              <a:rPr lang="en-US" sz="2400" i="1"/>
              <a:t>,w) = {p</a:t>
            </a:r>
            <a:r>
              <a:rPr lang="en-US" sz="2400" i="1" baseline="-25000"/>
              <a:t>1</a:t>
            </a:r>
            <a:r>
              <a:rPr lang="en-US" sz="2400" i="1"/>
              <a:t>,p</a:t>
            </a:r>
            <a:r>
              <a:rPr lang="en-US" sz="2400" i="1" baseline="-25000"/>
              <a:t>2</a:t>
            </a:r>
            <a:r>
              <a:rPr lang="en-US" sz="2400" i="1"/>
              <a:t>…,p</a:t>
            </a:r>
            <a:r>
              <a:rPr lang="en-US" sz="2400" i="1" baseline="-25000"/>
              <a:t>k</a:t>
            </a:r>
            <a:r>
              <a:rPr lang="en-US" sz="2400" i="1"/>
              <a:t>}</a:t>
            </a:r>
          </a:p>
          <a:p>
            <a:pPr lvl="1" eaLnBrk="1" hangingPunct="1">
              <a:lnSpc>
                <a:spcPct val="90000"/>
              </a:lnSpc>
            </a:pPr>
            <a:r>
              <a:rPr lang="el-GR" sz="2400">
                <a:latin typeface="Lucida Grande" pitchFamily="28" charset="0"/>
                <a:cs typeface="Tahoma" pitchFamily="28" charset="0"/>
              </a:rPr>
              <a:t>δ</a:t>
            </a:r>
            <a:r>
              <a:rPr lang="en-US" sz="2400" i="1"/>
              <a:t> (p</a:t>
            </a:r>
            <a:r>
              <a:rPr lang="en-US" sz="2400" i="1" baseline="-25000"/>
              <a:t>i</a:t>
            </a:r>
            <a:r>
              <a:rPr lang="en-US" sz="2400" i="1"/>
              <a:t>,a) = S</a:t>
            </a:r>
            <a:r>
              <a:rPr lang="en-US" sz="2400" i="1" baseline="-25000"/>
              <a:t>i 	</a:t>
            </a:r>
            <a:r>
              <a:rPr lang="en-US" sz="2400" i="1"/>
              <a:t>for i=1,2...,k</a:t>
            </a:r>
          </a:p>
          <a:p>
            <a:pPr lvl="1" eaLnBrk="1" hangingPunct="1">
              <a:lnSpc>
                <a:spcPct val="90000"/>
              </a:lnSpc>
            </a:pPr>
            <a:endParaRPr lang="en-US" sz="2400" i="1"/>
          </a:p>
          <a:p>
            <a:pPr lvl="1" eaLnBrk="1" hangingPunct="1">
              <a:lnSpc>
                <a:spcPct val="90000"/>
              </a:lnSpc>
            </a:pPr>
            <a:r>
              <a:rPr lang="en-US" sz="2400" i="1"/>
              <a:t>Then,   </a:t>
            </a:r>
            <a:r>
              <a:rPr lang="el-GR" sz="2400">
                <a:latin typeface="Lucida Grande" pitchFamily="28" charset="0"/>
                <a:cs typeface="Tahoma" pitchFamily="28" charset="0"/>
              </a:rPr>
              <a:t>δ</a:t>
            </a:r>
            <a:r>
              <a:rPr lang="en-US" sz="2400" i="1"/>
              <a:t> (q</a:t>
            </a:r>
            <a:r>
              <a:rPr lang="en-US" sz="2400" i="1" baseline="-25000"/>
              <a:t>0</a:t>
            </a:r>
            <a:r>
              <a:rPr lang="en-US" sz="2400" i="1"/>
              <a:t>,wa) = S</a:t>
            </a:r>
            <a:r>
              <a:rPr lang="en-US" sz="2400" i="1" baseline="-25000"/>
              <a:t>1 </a:t>
            </a:r>
            <a:r>
              <a:rPr lang="en-US" sz="2400" i="1"/>
              <a:t>U S</a:t>
            </a:r>
            <a:r>
              <a:rPr lang="en-US" sz="2400" i="1" baseline="-25000"/>
              <a:t>2 </a:t>
            </a:r>
            <a:r>
              <a:rPr lang="en-US" sz="2400" i="1"/>
              <a:t>U … U S</a:t>
            </a:r>
            <a:r>
              <a:rPr lang="en-US" sz="2400" i="1" baseline="-25000"/>
              <a:t>k </a:t>
            </a:r>
            <a:r>
              <a:rPr lang="en-US" sz="2400" i="1"/>
              <a:t> </a:t>
            </a:r>
          </a:p>
          <a:p>
            <a:pPr eaLnBrk="1" hangingPunct="1">
              <a:lnSpc>
                <a:spcPct val="90000"/>
              </a:lnSpc>
            </a:pPr>
            <a:endParaRPr lang="en-US" sz="2800" i="1"/>
          </a:p>
          <a:p>
            <a:pPr eaLnBrk="1" hangingPunct="1">
              <a:lnSpc>
                <a:spcPct val="90000"/>
              </a:lnSpc>
            </a:pPr>
            <a:endParaRPr lang="en-US" sz="2800"/>
          </a:p>
        </p:txBody>
      </p:sp>
      <p:grpSp>
        <p:nvGrpSpPr>
          <p:cNvPr id="21510" name="Group 7"/>
          <p:cNvGrpSpPr>
            <a:grpSpLocks/>
          </p:cNvGrpSpPr>
          <p:nvPr/>
        </p:nvGrpSpPr>
        <p:grpSpPr bwMode="auto">
          <a:xfrm>
            <a:off x="2819400" y="1981200"/>
            <a:ext cx="152400" cy="76200"/>
            <a:chOff x="144" y="2784"/>
            <a:chExt cx="96" cy="48"/>
          </a:xfrm>
        </p:grpSpPr>
        <p:sp>
          <p:nvSpPr>
            <p:cNvPr id="21517" name="Line 8"/>
            <p:cNvSpPr>
              <a:spLocks noChangeShapeType="1"/>
            </p:cNvSpPr>
            <p:nvPr/>
          </p:nvSpPr>
          <p:spPr bwMode="auto">
            <a:xfrm flipV="1">
              <a:off x="144" y="2784"/>
              <a:ext cx="4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8" name="Line 9"/>
            <p:cNvSpPr>
              <a:spLocks noChangeShapeType="1"/>
            </p:cNvSpPr>
            <p:nvPr/>
          </p:nvSpPr>
          <p:spPr bwMode="auto">
            <a:xfrm>
              <a:off x="192" y="2784"/>
              <a:ext cx="4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1511" name="Group 16"/>
          <p:cNvGrpSpPr>
            <a:grpSpLocks/>
          </p:cNvGrpSpPr>
          <p:nvPr/>
        </p:nvGrpSpPr>
        <p:grpSpPr bwMode="auto">
          <a:xfrm>
            <a:off x="3048000" y="4572000"/>
            <a:ext cx="152400" cy="76200"/>
            <a:chOff x="144" y="2784"/>
            <a:chExt cx="96" cy="48"/>
          </a:xfrm>
        </p:grpSpPr>
        <p:sp>
          <p:nvSpPr>
            <p:cNvPr id="21515" name="Line 17"/>
            <p:cNvSpPr>
              <a:spLocks noChangeShapeType="1"/>
            </p:cNvSpPr>
            <p:nvPr/>
          </p:nvSpPr>
          <p:spPr bwMode="auto">
            <a:xfrm flipV="1">
              <a:off x="144" y="2784"/>
              <a:ext cx="4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6" name="Line 18"/>
            <p:cNvSpPr>
              <a:spLocks noChangeShapeType="1"/>
            </p:cNvSpPr>
            <p:nvPr/>
          </p:nvSpPr>
          <p:spPr bwMode="auto">
            <a:xfrm>
              <a:off x="192" y="2784"/>
              <a:ext cx="4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1512" name="Group 19"/>
          <p:cNvGrpSpPr>
            <a:grpSpLocks/>
          </p:cNvGrpSpPr>
          <p:nvPr/>
        </p:nvGrpSpPr>
        <p:grpSpPr bwMode="auto">
          <a:xfrm>
            <a:off x="3200400" y="3352800"/>
            <a:ext cx="152400" cy="76200"/>
            <a:chOff x="144" y="2784"/>
            <a:chExt cx="96" cy="48"/>
          </a:xfrm>
        </p:grpSpPr>
        <p:sp>
          <p:nvSpPr>
            <p:cNvPr id="21513" name="Line 20"/>
            <p:cNvSpPr>
              <a:spLocks noChangeShapeType="1"/>
            </p:cNvSpPr>
            <p:nvPr/>
          </p:nvSpPr>
          <p:spPr bwMode="auto">
            <a:xfrm flipV="1">
              <a:off x="144" y="2784"/>
              <a:ext cx="4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4" name="Line 21"/>
            <p:cNvSpPr>
              <a:spLocks noChangeShapeType="1"/>
            </p:cNvSpPr>
            <p:nvPr/>
          </p:nvSpPr>
          <p:spPr bwMode="auto">
            <a:xfrm>
              <a:off x="192" y="2784"/>
              <a:ext cx="4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7077410-9A8A-4AF0-87AF-3A6B650F9752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Language of an NFA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An NFA accepts </a:t>
            </a:r>
            <a:r>
              <a:rPr lang="en-US" i="1"/>
              <a:t>w </a:t>
            </a:r>
            <a:r>
              <a:rPr lang="en-US"/>
              <a:t>if </a:t>
            </a:r>
            <a:r>
              <a:rPr lang="en-US" i="1"/>
              <a:t>there exists at least one </a:t>
            </a:r>
            <a:r>
              <a:rPr lang="en-US"/>
              <a:t>path from the start state to an accepting (or final) state that is labeled by </a:t>
            </a:r>
            <a:r>
              <a:rPr lang="en-US" i="1"/>
              <a:t>w</a:t>
            </a:r>
          </a:p>
          <a:p>
            <a:pPr eaLnBrk="1" hangingPunct="1"/>
            <a:r>
              <a:rPr lang="en-US" i="1"/>
              <a:t>L(N) = { w | </a:t>
            </a:r>
            <a:r>
              <a:rPr lang="el-GR">
                <a:latin typeface="Lucida Grande" pitchFamily="28" charset="0"/>
                <a:cs typeface="Tahoma" pitchFamily="28" charset="0"/>
              </a:rPr>
              <a:t>δ</a:t>
            </a:r>
            <a:r>
              <a:rPr lang="en-US" i="1"/>
              <a:t>(q</a:t>
            </a:r>
            <a:r>
              <a:rPr lang="en-US" i="1" baseline="-25000"/>
              <a:t>0</a:t>
            </a:r>
            <a:r>
              <a:rPr lang="en-US" i="1"/>
              <a:t>,w) </a:t>
            </a:r>
            <a:r>
              <a:rPr lang="en-US" i="1">
                <a:cs typeface="Arial" charset="0"/>
              </a:rPr>
              <a:t>∩ F ≠ </a:t>
            </a:r>
            <a:r>
              <a:rPr lang="el-GR" i="1">
                <a:cs typeface="Arial" charset="0"/>
              </a:rPr>
              <a:t>Φ </a:t>
            </a:r>
            <a:r>
              <a:rPr lang="en-US" i="1"/>
              <a:t>}</a:t>
            </a:r>
          </a:p>
        </p:txBody>
      </p:sp>
      <p:grpSp>
        <p:nvGrpSpPr>
          <p:cNvPr id="22533" name="Group 5"/>
          <p:cNvGrpSpPr>
            <a:grpSpLocks/>
          </p:cNvGrpSpPr>
          <p:nvPr/>
        </p:nvGrpSpPr>
        <p:grpSpPr bwMode="auto">
          <a:xfrm>
            <a:off x="3733800" y="4038600"/>
            <a:ext cx="152400" cy="76200"/>
            <a:chOff x="144" y="2784"/>
            <a:chExt cx="96" cy="48"/>
          </a:xfrm>
        </p:grpSpPr>
        <p:sp>
          <p:nvSpPr>
            <p:cNvPr id="22534" name="Line 6"/>
            <p:cNvSpPr>
              <a:spLocks noChangeShapeType="1"/>
            </p:cNvSpPr>
            <p:nvPr/>
          </p:nvSpPr>
          <p:spPr bwMode="auto">
            <a:xfrm flipV="1">
              <a:off x="144" y="2784"/>
              <a:ext cx="4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35" name="Line 7"/>
            <p:cNvSpPr>
              <a:spLocks noChangeShapeType="1"/>
            </p:cNvSpPr>
            <p:nvPr/>
          </p:nvSpPr>
          <p:spPr bwMode="auto">
            <a:xfrm>
              <a:off x="192" y="2784"/>
              <a:ext cx="4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9A62C7F-DCB6-4893-821B-532117F8ABE5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/>
              <a:t>Advantages &amp; Caveats for NFA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dirty="0"/>
              <a:t>Great for modeling regular expressions  </a:t>
            </a:r>
          </a:p>
          <a:p>
            <a:pPr lvl="1" eaLnBrk="1" hangingPunct="1"/>
            <a:r>
              <a:rPr lang="en-US" sz="2400" dirty="0"/>
              <a:t>String processing - e.g., </a:t>
            </a:r>
            <a:r>
              <a:rPr lang="en-US" sz="2400" dirty="0" err="1"/>
              <a:t>grep</a:t>
            </a:r>
            <a:r>
              <a:rPr lang="en-US" sz="2400" dirty="0"/>
              <a:t>, lexical analyzer</a:t>
            </a:r>
          </a:p>
          <a:p>
            <a:pPr eaLnBrk="1" hangingPunct="1"/>
            <a:endParaRPr lang="en-US" sz="2800" dirty="0"/>
          </a:p>
          <a:p>
            <a:pPr eaLnBrk="1" hangingPunct="1"/>
            <a:r>
              <a:rPr lang="en-US" sz="2800" dirty="0"/>
              <a:t>Could a non-deterministic state machine be implemented in practice?</a:t>
            </a:r>
          </a:p>
          <a:p>
            <a:pPr lvl="1" eaLnBrk="1" hangingPunct="1"/>
            <a:r>
              <a:rPr lang="en-US" sz="1800" dirty="0"/>
              <a:t>Probabilistic models could be viewed as extensions of non-deterministic state machines </a:t>
            </a:r>
            <a:br>
              <a:rPr lang="en-US" sz="1800" dirty="0"/>
            </a:br>
            <a:r>
              <a:rPr lang="en-US" sz="1800" dirty="0"/>
              <a:t>(e.g., toss of a coin, a roll of dice)</a:t>
            </a:r>
          </a:p>
          <a:p>
            <a:pPr lvl="2" eaLnBrk="1" hangingPunct="1"/>
            <a:r>
              <a:rPr lang="en-US" sz="1800" dirty="0"/>
              <a:t>They are not the same though</a:t>
            </a:r>
          </a:p>
          <a:p>
            <a:pPr lvl="1" eaLnBrk="1" hangingPunct="1"/>
            <a:r>
              <a:rPr lang="en-US" sz="1800" dirty="0"/>
              <a:t>A parallel computer could exist in multiple “states” at the same time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19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Technologies for NFAs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2688" y="2057400"/>
            <a:ext cx="7772400" cy="4114800"/>
          </a:xfrm>
        </p:spPr>
        <p:txBody>
          <a:bodyPr/>
          <a:lstStyle/>
          <a:p>
            <a:r>
              <a:rPr lang="en-US" sz="2400" dirty="0"/>
              <a:t>Micron’s Automata Processor (introduced in 2013)</a:t>
            </a:r>
          </a:p>
          <a:p>
            <a:r>
              <a:rPr lang="en-US" sz="2400" dirty="0"/>
              <a:t>2D array of MISD (multiple instruction single data) fabric w/ thousands to millions of processing elements. </a:t>
            </a:r>
          </a:p>
          <a:p>
            <a:r>
              <a:rPr lang="en-US" sz="2400" dirty="0"/>
              <a:t>1 input symbol = fed to all states (i.e., cores)</a:t>
            </a:r>
          </a:p>
          <a:p>
            <a:r>
              <a:rPr lang="en-US" sz="2400" dirty="0"/>
              <a:t>Non-determinism using circuits</a:t>
            </a:r>
          </a:p>
          <a:p>
            <a:r>
              <a:rPr lang="en-US" sz="2400" dirty="0">
                <a:hlinkClick r:id="rId2"/>
              </a:rPr>
              <a:t>http://www.micronautomata.com/</a:t>
            </a:r>
            <a:r>
              <a:rPr lang="en-US" sz="2400" dirty="0"/>
              <a:t> 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6CA52E-33C9-45ED-A83D-384BCC55088E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pic>
        <p:nvPicPr>
          <p:cNvPr id="1028" name="Picture 4" descr="Automata dimm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5000" y="5181600"/>
            <a:ext cx="5486400" cy="184526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9BD4CD0-AFAD-4289-8418-5DE3AC3CA6DD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Differences: DFA vs. NFA</a:t>
            </a:r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marL="533400" indent="-533400" eaLnBrk="1" hangingPunct="1">
              <a:lnSpc>
                <a:spcPct val="80000"/>
              </a:lnSpc>
            </a:pPr>
            <a:r>
              <a:rPr lang="en-US" sz="1800" b="1" u="sng" dirty="0"/>
              <a:t>DFA</a:t>
            </a:r>
          </a:p>
          <a:p>
            <a:pPr marL="533400" indent="-533400" eaLnBrk="1" hangingPunct="1">
              <a:lnSpc>
                <a:spcPct val="80000"/>
              </a:lnSpc>
              <a:buFont typeface="Arial" charset="0"/>
              <a:buAutoNum type="arabicPeriod"/>
            </a:pPr>
            <a:r>
              <a:rPr lang="en-US" sz="1800" dirty="0">
                <a:solidFill>
                  <a:schemeClr val="hlink"/>
                </a:solidFill>
              </a:rPr>
              <a:t>All transitions are deterministic</a:t>
            </a:r>
          </a:p>
          <a:p>
            <a:pPr marL="914400" lvl="1" indent="-457200" eaLnBrk="1" hangingPunct="1">
              <a:lnSpc>
                <a:spcPct val="80000"/>
              </a:lnSpc>
            </a:pPr>
            <a:r>
              <a:rPr lang="en-US" sz="1600" dirty="0">
                <a:solidFill>
                  <a:schemeClr val="hlink"/>
                </a:solidFill>
              </a:rPr>
              <a:t>Each transition leads to exactly one state</a:t>
            </a:r>
          </a:p>
          <a:p>
            <a:pPr marL="533400" indent="-533400" eaLnBrk="1" hangingPunct="1">
              <a:lnSpc>
                <a:spcPct val="80000"/>
              </a:lnSpc>
              <a:buFont typeface="Arial" charset="0"/>
              <a:buAutoNum type="arabicPeriod"/>
            </a:pPr>
            <a:r>
              <a:rPr lang="en-US" sz="1800" dirty="0">
                <a:solidFill>
                  <a:schemeClr val="folHlink"/>
                </a:solidFill>
              </a:rPr>
              <a:t>For each state, transition on all possible symbols (alphabet) should be defined</a:t>
            </a:r>
          </a:p>
          <a:p>
            <a:pPr marL="533400" indent="-533400" eaLnBrk="1" hangingPunct="1">
              <a:lnSpc>
                <a:spcPct val="80000"/>
              </a:lnSpc>
              <a:buFont typeface="Arial" charset="0"/>
              <a:buAutoNum type="arabicPeriod"/>
            </a:pPr>
            <a:r>
              <a:rPr lang="en-US" sz="1800" dirty="0">
                <a:solidFill>
                  <a:srgbClr val="008000"/>
                </a:solidFill>
              </a:rPr>
              <a:t>Accepts input if the last state visited is in F</a:t>
            </a:r>
          </a:p>
          <a:p>
            <a:pPr marL="533400" indent="-533400" eaLnBrk="1" hangingPunct="1">
              <a:lnSpc>
                <a:spcPct val="80000"/>
              </a:lnSpc>
              <a:buFont typeface="Arial" charset="0"/>
              <a:buAutoNum type="arabicPeriod"/>
            </a:pPr>
            <a:r>
              <a:rPr lang="en-US" sz="1800" dirty="0">
                <a:solidFill>
                  <a:srgbClr val="993300"/>
                </a:solidFill>
              </a:rPr>
              <a:t>Sometimes harder to construct because of the number of states</a:t>
            </a:r>
          </a:p>
          <a:p>
            <a:pPr marL="533400" indent="-533400" eaLnBrk="1" hangingPunct="1">
              <a:lnSpc>
                <a:spcPct val="80000"/>
              </a:lnSpc>
              <a:buFont typeface="Arial" charset="0"/>
              <a:buAutoNum type="arabicPeriod"/>
            </a:pPr>
            <a:r>
              <a:rPr lang="en-US" sz="1800" dirty="0">
                <a:solidFill>
                  <a:srgbClr val="CC3499"/>
                </a:solidFill>
              </a:rPr>
              <a:t>Practical implementation is feasible</a:t>
            </a:r>
          </a:p>
          <a:p>
            <a:pPr marL="533400" indent="-533400" eaLnBrk="1" hangingPunct="1">
              <a:lnSpc>
                <a:spcPct val="80000"/>
              </a:lnSpc>
              <a:buFont typeface="Wingdings" pitchFamily="28" charset="2"/>
              <a:buAutoNum type="arabicPeriod"/>
            </a:pPr>
            <a:endParaRPr lang="en-US" sz="1800" dirty="0"/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marL="533400" indent="-533400" eaLnBrk="1" hangingPunct="1">
              <a:lnSpc>
                <a:spcPct val="80000"/>
              </a:lnSpc>
            </a:pPr>
            <a:r>
              <a:rPr lang="en-US" sz="1800" b="1" u="sng" dirty="0"/>
              <a:t>NFA</a:t>
            </a:r>
          </a:p>
          <a:p>
            <a:pPr marL="533400" indent="-533400" eaLnBrk="1" hangingPunct="1">
              <a:lnSpc>
                <a:spcPct val="80000"/>
              </a:lnSpc>
              <a:buFont typeface="Arial" charset="0"/>
              <a:buAutoNum type="arabicPeriod"/>
            </a:pPr>
            <a:r>
              <a:rPr lang="en-US" sz="1800" dirty="0">
                <a:solidFill>
                  <a:schemeClr val="hlink"/>
                </a:solidFill>
              </a:rPr>
              <a:t>Some transitions could be non-deterministic</a:t>
            </a:r>
          </a:p>
          <a:p>
            <a:pPr marL="914400" lvl="1" indent="-457200" eaLnBrk="1" hangingPunct="1">
              <a:lnSpc>
                <a:spcPct val="80000"/>
              </a:lnSpc>
            </a:pPr>
            <a:r>
              <a:rPr lang="en-US" sz="1600" dirty="0">
                <a:solidFill>
                  <a:schemeClr val="hlink"/>
                </a:solidFill>
              </a:rPr>
              <a:t>A transition could lead to a subset of states</a:t>
            </a:r>
          </a:p>
          <a:p>
            <a:pPr marL="533400" indent="-533400" eaLnBrk="1" hangingPunct="1">
              <a:lnSpc>
                <a:spcPct val="80000"/>
              </a:lnSpc>
              <a:buFont typeface="Arial" charset="0"/>
              <a:buAutoNum type="arabicPeriod"/>
            </a:pPr>
            <a:r>
              <a:rPr lang="en-US" sz="1800" dirty="0">
                <a:solidFill>
                  <a:schemeClr val="folHlink"/>
                </a:solidFill>
              </a:rPr>
              <a:t>Not all symbol transitions need to be defined explicitly (if undefined will go to an error state – this is just a design convenience, not to be confused with “non-determinism”)</a:t>
            </a:r>
          </a:p>
          <a:p>
            <a:pPr marL="533400" indent="-533400" eaLnBrk="1" hangingPunct="1">
              <a:lnSpc>
                <a:spcPct val="80000"/>
              </a:lnSpc>
              <a:buFont typeface="Arial" charset="0"/>
              <a:buAutoNum type="arabicPeriod"/>
            </a:pPr>
            <a:r>
              <a:rPr lang="en-US" sz="1800" dirty="0">
                <a:solidFill>
                  <a:srgbClr val="008000"/>
                </a:solidFill>
              </a:rPr>
              <a:t>Accepts input if </a:t>
            </a:r>
            <a:r>
              <a:rPr lang="en-US" sz="1800" i="1" dirty="0">
                <a:solidFill>
                  <a:srgbClr val="008000"/>
                </a:solidFill>
              </a:rPr>
              <a:t>one of</a:t>
            </a:r>
            <a:r>
              <a:rPr lang="en-US" sz="1800" dirty="0">
                <a:solidFill>
                  <a:srgbClr val="008000"/>
                </a:solidFill>
              </a:rPr>
              <a:t> the last states is in F</a:t>
            </a:r>
          </a:p>
          <a:p>
            <a:pPr marL="533400" indent="-533400" eaLnBrk="1" hangingPunct="1">
              <a:lnSpc>
                <a:spcPct val="80000"/>
              </a:lnSpc>
              <a:buFont typeface="Arial" charset="0"/>
              <a:buAutoNum type="arabicPeriod"/>
            </a:pPr>
            <a:r>
              <a:rPr lang="en-US" sz="1800" dirty="0">
                <a:solidFill>
                  <a:srgbClr val="993300"/>
                </a:solidFill>
              </a:rPr>
              <a:t>Generally easier than a DFA to construct</a:t>
            </a:r>
          </a:p>
          <a:p>
            <a:pPr marL="533400" indent="-533400" eaLnBrk="1" hangingPunct="1">
              <a:lnSpc>
                <a:spcPct val="80000"/>
              </a:lnSpc>
              <a:buFont typeface="Arial" charset="0"/>
              <a:buAutoNum type="arabicPeriod"/>
            </a:pPr>
            <a:r>
              <a:rPr lang="en-US" sz="1800" dirty="0">
                <a:solidFill>
                  <a:srgbClr val="CC3499"/>
                </a:solidFill>
              </a:rPr>
              <a:t>Practical implementations limited but emerging (e.g., Micron automata processor)</a:t>
            </a:r>
          </a:p>
        </p:txBody>
      </p:sp>
      <p:sp>
        <p:nvSpPr>
          <p:cNvPr id="24582" name="Line 6"/>
          <p:cNvSpPr>
            <a:spLocks noChangeShapeType="1"/>
          </p:cNvSpPr>
          <p:nvPr/>
        </p:nvSpPr>
        <p:spPr bwMode="auto">
          <a:xfrm>
            <a:off x="4953000" y="19812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3671" name="Text Box 7"/>
          <p:cNvSpPr txBox="1">
            <a:spLocks noChangeArrowheads="1"/>
          </p:cNvSpPr>
          <p:nvPr/>
        </p:nvSpPr>
        <p:spPr bwMode="auto">
          <a:xfrm>
            <a:off x="304800" y="533400"/>
            <a:ext cx="8502650" cy="400050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But, DFAs and NFAs are equivalent in their power to capture langauges !!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2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25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25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25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13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 build="p"/>
      <p:bldP spid="22533" grpId="0" build="p"/>
      <p:bldP spid="11367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5CBC288-E847-468C-8646-AF13DB40A525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Equivalence of DFA &amp; NFA</a:t>
            </a:r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90000"/>
              </a:lnSpc>
            </a:pPr>
            <a:r>
              <a:rPr lang="en-US" sz="2800" u="sng"/>
              <a:t>Theorem</a:t>
            </a:r>
            <a:r>
              <a:rPr lang="en-US" sz="2800"/>
              <a:t>:</a:t>
            </a:r>
          </a:p>
          <a:p>
            <a:pPr marL="990600" lvl="1" indent="-533400" eaLnBrk="1" hangingPunct="1">
              <a:lnSpc>
                <a:spcPct val="90000"/>
              </a:lnSpc>
            </a:pPr>
            <a:r>
              <a:rPr lang="en-US" sz="2400"/>
              <a:t>A language L is accepted by a DFA </a:t>
            </a:r>
            <a:r>
              <a:rPr lang="en-US" sz="2400" i="1" u="sng">
                <a:solidFill>
                  <a:srgbClr val="006600"/>
                </a:solidFill>
              </a:rPr>
              <a:t>if </a:t>
            </a:r>
            <a:r>
              <a:rPr lang="en-US" sz="2400" i="1" u="sng"/>
              <a:t>and </a:t>
            </a:r>
            <a:r>
              <a:rPr lang="en-US" sz="2400" i="1" u="sng">
                <a:solidFill>
                  <a:schemeClr val="hlink"/>
                </a:solidFill>
              </a:rPr>
              <a:t>only</a:t>
            </a:r>
            <a:r>
              <a:rPr lang="en-US" sz="2400" u="sng">
                <a:solidFill>
                  <a:schemeClr val="hlink"/>
                </a:solidFill>
              </a:rPr>
              <a:t> </a:t>
            </a:r>
            <a:r>
              <a:rPr lang="en-US" sz="2400" i="1" u="sng">
                <a:solidFill>
                  <a:schemeClr val="hlink"/>
                </a:solidFill>
              </a:rPr>
              <a:t>if</a:t>
            </a:r>
            <a:r>
              <a:rPr lang="en-US" sz="2400"/>
              <a:t> it is accepted by an NFA.</a:t>
            </a:r>
          </a:p>
          <a:p>
            <a:pPr marL="609600" indent="-609600" eaLnBrk="1" hangingPunct="1">
              <a:lnSpc>
                <a:spcPct val="90000"/>
              </a:lnSpc>
            </a:pPr>
            <a:r>
              <a:rPr lang="en-US" sz="2800" u="sng"/>
              <a:t>Proof</a:t>
            </a:r>
            <a:r>
              <a:rPr lang="en-US" sz="2800"/>
              <a:t>:</a:t>
            </a:r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eriod"/>
            </a:pPr>
            <a:r>
              <a:rPr lang="en-US" sz="2400">
                <a:solidFill>
                  <a:srgbClr val="008000"/>
                </a:solidFill>
              </a:rPr>
              <a:t>If part:</a:t>
            </a:r>
          </a:p>
          <a:p>
            <a:pPr marL="1371600" lvl="2" indent="-457200" eaLnBrk="1" hangingPunct="1">
              <a:lnSpc>
                <a:spcPct val="90000"/>
              </a:lnSpc>
            </a:pPr>
            <a:r>
              <a:rPr lang="en-US" sz="2000"/>
              <a:t>Prove by showing every NFA can be converted to an equivalent DFA (in the next few slides…)</a:t>
            </a:r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eriod"/>
            </a:pPr>
            <a:endParaRPr lang="en-US" sz="2400"/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eriod"/>
            </a:pPr>
            <a:r>
              <a:rPr lang="en-US" sz="2400">
                <a:solidFill>
                  <a:schemeClr val="hlink"/>
                </a:solidFill>
              </a:rPr>
              <a:t>Only-if part</a:t>
            </a:r>
            <a:r>
              <a:rPr lang="en-US" sz="2400"/>
              <a:t> is trivial</a:t>
            </a:r>
            <a:r>
              <a:rPr lang="en-US" sz="2400">
                <a:solidFill>
                  <a:schemeClr val="hlink"/>
                </a:solidFill>
              </a:rPr>
              <a:t>:</a:t>
            </a:r>
            <a:endParaRPr lang="en-US" sz="2400"/>
          </a:p>
          <a:p>
            <a:pPr marL="1371600" lvl="2" indent="-457200" eaLnBrk="1" hangingPunct="1">
              <a:lnSpc>
                <a:spcPct val="90000"/>
              </a:lnSpc>
            </a:pPr>
            <a:r>
              <a:rPr lang="en-US" sz="2000"/>
              <a:t>Every DFA is a special case of an NFA where each state has exactly one transition for every input symbol. Therefore, if L is accepted by a DFA, it is accepted by a corresponding NFA.</a:t>
            </a:r>
          </a:p>
        </p:txBody>
      </p:sp>
      <p:sp>
        <p:nvSpPr>
          <p:cNvPr id="122884" name="Text Box 4"/>
          <p:cNvSpPr txBox="1">
            <a:spLocks noChangeArrowheads="1"/>
          </p:cNvSpPr>
          <p:nvPr/>
        </p:nvSpPr>
        <p:spPr bwMode="auto">
          <a:xfrm>
            <a:off x="152400" y="2514600"/>
            <a:ext cx="1158875" cy="825500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/>
              <a:t>Should be true for any L</a:t>
            </a:r>
          </a:p>
        </p:txBody>
      </p:sp>
      <p:sp>
        <p:nvSpPr>
          <p:cNvPr id="122885" name="Line 5"/>
          <p:cNvSpPr>
            <a:spLocks noChangeShapeType="1"/>
          </p:cNvSpPr>
          <p:nvPr/>
        </p:nvSpPr>
        <p:spPr bwMode="auto">
          <a:xfrm flipV="1">
            <a:off x="1219200" y="2743200"/>
            <a:ext cx="914400" cy="152400"/>
          </a:xfrm>
          <a:prstGeom prst="line">
            <a:avLst/>
          </a:prstGeom>
          <a:noFill/>
          <a:ln w="9525">
            <a:solidFill>
              <a:srgbClr val="339966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7" name="Rectangle 6"/>
          <p:cNvSpPr>
            <a:spLocks noChangeArrowheads="1"/>
          </p:cNvSpPr>
          <p:nvPr/>
        </p:nvSpPr>
        <p:spPr bwMode="auto">
          <a:xfrm>
            <a:off x="8382000" y="6324600"/>
            <a:ext cx="152400" cy="152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22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2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3" grpId="0" build="p"/>
      <p:bldP spid="122884" grpId="0" animBg="1"/>
      <p:bldP spid="12288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60F94CE-B307-4EC9-87E3-515DE0803111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Proof for the </a:t>
            </a:r>
            <a:r>
              <a:rPr lang="en-US">
                <a:solidFill>
                  <a:srgbClr val="006600"/>
                </a:solidFill>
              </a:rPr>
              <a:t>if-part</a:t>
            </a:r>
            <a:endParaRPr lang="en-US"/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u="sng">
                <a:solidFill>
                  <a:srgbClr val="006600"/>
                </a:solidFill>
              </a:rPr>
              <a:t>If-part:</a:t>
            </a:r>
            <a:r>
              <a:rPr lang="en-US" sz="2800"/>
              <a:t> A language L is accepted by a DFA if it is accepted by an NFA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rephrasing…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Given any NFA N, we can construct a DFA D such that L(N)=L(D)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How to convert an NFA into a DFA?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u="sng"/>
              <a:t>Observation:</a:t>
            </a:r>
            <a:r>
              <a:rPr lang="en-US" sz="2400"/>
              <a:t> In an NFA, each transition maps to a </a:t>
            </a:r>
            <a:r>
              <a:rPr lang="en-US" sz="2400" i="1"/>
              <a:t>subset </a:t>
            </a:r>
            <a:r>
              <a:rPr lang="en-US" sz="2400"/>
              <a:t>of states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u="sng">
                <a:solidFill>
                  <a:srgbClr val="FF0000"/>
                </a:solidFill>
              </a:rPr>
              <a:t>Idea:</a:t>
            </a:r>
            <a:r>
              <a:rPr lang="en-US" sz="2200">
                <a:solidFill>
                  <a:srgbClr val="FF0000"/>
                </a:solidFill>
              </a:rPr>
              <a:t> Represent:</a:t>
            </a:r>
          </a:p>
          <a:p>
            <a:pPr lvl="1" eaLnBrk="1" hangingPunct="1">
              <a:lnSpc>
                <a:spcPct val="90000"/>
              </a:lnSpc>
              <a:buFont typeface="Wingdings" pitchFamily="28" charset="2"/>
              <a:buNone/>
            </a:pPr>
            <a:r>
              <a:rPr lang="en-US" sz="2200">
                <a:solidFill>
                  <a:srgbClr val="FF0000"/>
                </a:solidFill>
              </a:rPr>
              <a:t>       each “subset of NFA_states” </a:t>
            </a:r>
            <a:r>
              <a:rPr lang="en-US" sz="2200">
                <a:solidFill>
                  <a:srgbClr val="FF0000"/>
                </a:solidFill>
                <a:sym typeface="Wingdings" pitchFamily="28" charset="2"/>
              </a:rPr>
              <a:t> </a:t>
            </a:r>
            <a:r>
              <a:rPr lang="en-US" sz="2200">
                <a:solidFill>
                  <a:srgbClr val="FF0000"/>
                </a:solidFill>
              </a:rPr>
              <a:t>a single “DFA_state”</a:t>
            </a:r>
          </a:p>
        </p:txBody>
      </p:sp>
      <p:sp>
        <p:nvSpPr>
          <p:cNvPr id="124932" name="Text Box 4"/>
          <p:cNvSpPr txBox="1">
            <a:spLocks noChangeArrowheads="1"/>
          </p:cNvSpPr>
          <p:nvPr/>
        </p:nvSpPr>
        <p:spPr bwMode="auto">
          <a:xfrm>
            <a:off x="4343400" y="6172200"/>
            <a:ext cx="2860675" cy="457200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/>
              <a:t>Subset construction</a:t>
            </a:r>
            <a:endParaRPr lang="en-US"/>
          </a:p>
        </p:txBody>
      </p:sp>
      <p:sp>
        <p:nvSpPr>
          <p:cNvPr id="26630" name="Line 5"/>
          <p:cNvSpPr>
            <a:spLocks noChangeShapeType="1"/>
          </p:cNvSpPr>
          <p:nvPr/>
        </p:nvSpPr>
        <p:spPr bwMode="auto">
          <a:xfrm>
            <a:off x="990600" y="4191000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4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4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4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24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24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24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24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1" grpId="0" build="p"/>
      <p:bldP spid="12493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3A3FCEF-61F1-4A0E-8D73-B9D882A9C687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NFA to DFA by subset construction</a:t>
            </a:r>
            <a:endParaRPr lang="en-US"/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/>
            <a:r>
              <a:rPr lang="el-GR" sz="2800">
                <a:latin typeface="Lucida Grande" pitchFamily="28" charset="0"/>
                <a:cs typeface="Tahoma" pitchFamily="28" charset="0"/>
              </a:rPr>
              <a:t>Let N = {Q</a:t>
            </a:r>
            <a:r>
              <a:rPr lang="el-GR" sz="2800" baseline="-25000">
                <a:latin typeface="Lucida Grande" pitchFamily="28" charset="0"/>
                <a:cs typeface="Tahoma" pitchFamily="28" charset="0"/>
              </a:rPr>
              <a:t>N</a:t>
            </a:r>
            <a:r>
              <a:rPr lang="el-GR" sz="2800">
                <a:latin typeface="Lucida Grande" pitchFamily="28" charset="0"/>
                <a:cs typeface="Tahoma" pitchFamily="28" charset="0"/>
              </a:rPr>
              <a:t>,∑,δ</a:t>
            </a:r>
            <a:r>
              <a:rPr lang="el-GR" sz="2800" baseline="-25000">
                <a:latin typeface="Lucida Grande" pitchFamily="28" charset="0"/>
                <a:cs typeface="Tahoma" pitchFamily="28" charset="0"/>
              </a:rPr>
              <a:t>N</a:t>
            </a:r>
            <a:r>
              <a:rPr lang="el-GR" sz="2800">
                <a:latin typeface="Lucida Grande" pitchFamily="28" charset="0"/>
                <a:cs typeface="Tahoma" pitchFamily="28" charset="0"/>
              </a:rPr>
              <a:t>,q</a:t>
            </a:r>
            <a:r>
              <a:rPr lang="el-GR" sz="2800" baseline="-25000">
                <a:latin typeface="Lucida Grande" pitchFamily="28" charset="0"/>
                <a:cs typeface="Tahoma" pitchFamily="28" charset="0"/>
              </a:rPr>
              <a:t>0</a:t>
            </a:r>
            <a:r>
              <a:rPr lang="el-GR" sz="2800">
                <a:latin typeface="Lucida Grande" pitchFamily="28" charset="0"/>
                <a:cs typeface="Tahoma" pitchFamily="28" charset="0"/>
              </a:rPr>
              <a:t>,F</a:t>
            </a:r>
            <a:r>
              <a:rPr lang="el-GR" sz="2800" baseline="-25000">
                <a:latin typeface="Lucida Grande" pitchFamily="28" charset="0"/>
                <a:cs typeface="Tahoma" pitchFamily="28" charset="0"/>
              </a:rPr>
              <a:t>N</a:t>
            </a:r>
            <a:r>
              <a:rPr lang="el-GR" sz="2800">
                <a:latin typeface="Lucida Grande" pitchFamily="28" charset="0"/>
                <a:cs typeface="Tahoma" pitchFamily="28" charset="0"/>
              </a:rPr>
              <a:t>}</a:t>
            </a:r>
          </a:p>
          <a:p>
            <a:pPr marL="609600" indent="-609600" eaLnBrk="1" hangingPunct="1"/>
            <a:r>
              <a:rPr lang="el-GR" sz="2800" u="sng">
                <a:latin typeface="Lucida Grande" pitchFamily="28" charset="0"/>
                <a:cs typeface="Tahoma" pitchFamily="28" charset="0"/>
              </a:rPr>
              <a:t>Goal:</a:t>
            </a:r>
            <a:r>
              <a:rPr lang="el-GR" sz="2800">
                <a:latin typeface="Lucida Grande" pitchFamily="28" charset="0"/>
                <a:cs typeface="Tahoma" pitchFamily="28" charset="0"/>
              </a:rPr>
              <a:t> Build D={</a:t>
            </a:r>
            <a:r>
              <a:rPr lang="el-GR" sz="2800">
                <a:solidFill>
                  <a:schemeClr val="hlink"/>
                </a:solidFill>
                <a:latin typeface="Lucida Grande" pitchFamily="28" charset="0"/>
                <a:cs typeface="Tahoma" pitchFamily="28" charset="0"/>
              </a:rPr>
              <a:t>Q</a:t>
            </a:r>
            <a:r>
              <a:rPr lang="el-GR" sz="2800" baseline="-25000">
                <a:solidFill>
                  <a:schemeClr val="hlink"/>
                </a:solidFill>
                <a:latin typeface="Lucida Grande" pitchFamily="28" charset="0"/>
                <a:cs typeface="Tahoma" pitchFamily="28" charset="0"/>
              </a:rPr>
              <a:t>D</a:t>
            </a:r>
            <a:r>
              <a:rPr lang="el-GR" sz="2800">
                <a:solidFill>
                  <a:schemeClr val="hlink"/>
                </a:solidFill>
                <a:latin typeface="Lucida Grande" pitchFamily="28" charset="0"/>
                <a:cs typeface="Tahoma" pitchFamily="28" charset="0"/>
              </a:rPr>
              <a:t>,∑,δ</a:t>
            </a:r>
            <a:r>
              <a:rPr lang="el-GR" sz="2800" baseline="-25000">
                <a:solidFill>
                  <a:schemeClr val="hlink"/>
                </a:solidFill>
                <a:latin typeface="Lucida Grande" pitchFamily="28" charset="0"/>
                <a:cs typeface="Tahoma" pitchFamily="28" charset="0"/>
              </a:rPr>
              <a:t>D</a:t>
            </a:r>
            <a:r>
              <a:rPr lang="el-GR" sz="2800">
                <a:solidFill>
                  <a:schemeClr val="hlink"/>
                </a:solidFill>
                <a:latin typeface="Lucida Grande" pitchFamily="28" charset="0"/>
                <a:cs typeface="Tahoma" pitchFamily="28" charset="0"/>
              </a:rPr>
              <a:t>,{q</a:t>
            </a:r>
            <a:r>
              <a:rPr lang="el-GR" sz="2800" baseline="-25000">
                <a:solidFill>
                  <a:schemeClr val="hlink"/>
                </a:solidFill>
                <a:latin typeface="Lucida Grande" pitchFamily="28" charset="0"/>
                <a:cs typeface="Tahoma" pitchFamily="28" charset="0"/>
              </a:rPr>
              <a:t>0</a:t>
            </a:r>
            <a:r>
              <a:rPr lang="el-GR" sz="2800">
                <a:solidFill>
                  <a:schemeClr val="hlink"/>
                </a:solidFill>
                <a:latin typeface="Lucida Grande" pitchFamily="28" charset="0"/>
                <a:cs typeface="Tahoma" pitchFamily="28" charset="0"/>
              </a:rPr>
              <a:t>},F</a:t>
            </a:r>
            <a:r>
              <a:rPr lang="el-GR" sz="2800" baseline="-25000">
                <a:solidFill>
                  <a:schemeClr val="hlink"/>
                </a:solidFill>
                <a:latin typeface="Lucida Grande" pitchFamily="28" charset="0"/>
                <a:cs typeface="Tahoma" pitchFamily="28" charset="0"/>
              </a:rPr>
              <a:t>D</a:t>
            </a:r>
            <a:r>
              <a:rPr lang="el-GR" sz="2800">
                <a:latin typeface="Lucida Grande" pitchFamily="28" charset="0"/>
                <a:cs typeface="Tahoma" pitchFamily="28" charset="0"/>
              </a:rPr>
              <a:t>} s.t. L(D)=L(N)</a:t>
            </a:r>
          </a:p>
          <a:p>
            <a:pPr marL="609600" indent="-609600" eaLnBrk="1" hangingPunct="1"/>
            <a:r>
              <a:rPr lang="en-US" sz="2800" u="sng">
                <a:latin typeface="Lucida Grande" pitchFamily="28" charset="0"/>
                <a:cs typeface="Tahoma" pitchFamily="28" charset="0"/>
              </a:rPr>
              <a:t>Construction:</a:t>
            </a:r>
            <a:endParaRPr lang="en-US" sz="2800">
              <a:latin typeface="Lucida Grande" pitchFamily="28" charset="0"/>
              <a:cs typeface="Tahoma" pitchFamily="28" charset="0"/>
            </a:endParaRPr>
          </a:p>
          <a:p>
            <a:pPr marL="990600" lvl="1" indent="-533400" eaLnBrk="1" hangingPunct="1">
              <a:buFont typeface="Arial" charset="0"/>
              <a:buAutoNum type="arabicPeriod"/>
            </a:pPr>
            <a:r>
              <a:rPr lang="el-GR" sz="2400">
                <a:solidFill>
                  <a:schemeClr val="hlink"/>
                </a:solidFill>
                <a:latin typeface="Lucida Grande" pitchFamily="28" charset="0"/>
                <a:cs typeface="Tahoma" pitchFamily="28" charset="0"/>
              </a:rPr>
              <a:t>Q</a:t>
            </a:r>
            <a:r>
              <a:rPr lang="el-GR" sz="2400" baseline="-25000">
                <a:solidFill>
                  <a:schemeClr val="hlink"/>
                </a:solidFill>
                <a:latin typeface="Lucida Grande" pitchFamily="28" charset="0"/>
                <a:cs typeface="Tahoma" pitchFamily="28" charset="0"/>
              </a:rPr>
              <a:t>D</a:t>
            </a:r>
            <a:r>
              <a:rPr lang="el-GR" sz="2400">
                <a:latin typeface="Lucida Grande" pitchFamily="28" charset="0"/>
                <a:cs typeface="Tahoma" pitchFamily="28" charset="0"/>
              </a:rPr>
              <a:t>= all subsets of Q</a:t>
            </a:r>
            <a:r>
              <a:rPr lang="el-GR" sz="2400" baseline="-25000">
                <a:latin typeface="Lucida Grande" pitchFamily="28" charset="0"/>
                <a:cs typeface="Tahoma" pitchFamily="28" charset="0"/>
              </a:rPr>
              <a:t>N </a:t>
            </a:r>
            <a:r>
              <a:rPr lang="el-GR" sz="2400">
                <a:latin typeface="Lucida Grande" pitchFamily="28" charset="0"/>
                <a:cs typeface="Tahoma" pitchFamily="28" charset="0"/>
              </a:rPr>
              <a:t>(i.e., power set)</a:t>
            </a:r>
          </a:p>
          <a:p>
            <a:pPr marL="990600" lvl="1" indent="-533400" eaLnBrk="1" hangingPunct="1">
              <a:buFont typeface="Arial" charset="0"/>
              <a:buAutoNum type="arabicPeriod"/>
            </a:pPr>
            <a:r>
              <a:rPr lang="el-GR" sz="2400">
                <a:solidFill>
                  <a:schemeClr val="hlink"/>
                </a:solidFill>
                <a:latin typeface="Lucida Grande" pitchFamily="28" charset="0"/>
                <a:cs typeface="Tahoma" pitchFamily="28" charset="0"/>
              </a:rPr>
              <a:t>F</a:t>
            </a:r>
            <a:r>
              <a:rPr lang="el-GR" sz="2400" baseline="-25000">
                <a:solidFill>
                  <a:schemeClr val="hlink"/>
                </a:solidFill>
                <a:latin typeface="Lucida Grande" pitchFamily="28" charset="0"/>
                <a:cs typeface="Tahoma" pitchFamily="28" charset="0"/>
              </a:rPr>
              <a:t>D</a:t>
            </a:r>
            <a:r>
              <a:rPr lang="el-GR" sz="2400">
                <a:latin typeface="Lucida Grande" pitchFamily="28" charset="0"/>
                <a:cs typeface="Tahoma" pitchFamily="28" charset="0"/>
              </a:rPr>
              <a:t>=set of subsets S of Q</a:t>
            </a:r>
            <a:r>
              <a:rPr lang="el-GR" sz="2400" baseline="-25000">
                <a:latin typeface="Lucida Grande" pitchFamily="28" charset="0"/>
                <a:cs typeface="Tahoma" pitchFamily="28" charset="0"/>
              </a:rPr>
              <a:t>N</a:t>
            </a:r>
            <a:r>
              <a:rPr lang="el-GR" sz="2400">
                <a:latin typeface="Lucida Grande" pitchFamily="28" charset="0"/>
                <a:cs typeface="Tahoma" pitchFamily="28" charset="0"/>
              </a:rPr>
              <a:t> s.t. S</a:t>
            </a:r>
            <a:r>
              <a:rPr lang="en-US" sz="2400">
                <a:cs typeface="Arial" charset="0"/>
              </a:rPr>
              <a:t>∩F</a:t>
            </a:r>
            <a:r>
              <a:rPr lang="en-US" sz="2400" baseline="-25000">
                <a:cs typeface="Arial" charset="0"/>
              </a:rPr>
              <a:t>N</a:t>
            </a:r>
            <a:r>
              <a:rPr lang="en-US" sz="2400">
                <a:cs typeface="Arial" charset="0"/>
              </a:rPr>
              <a:t>≠</a:t>
            </a:r>
            <a:r>
              <a:rPr lang="el-GR" sz="2400">
                <a:cs typeface="Arial" charset="0"/>
              </a:rPr>
              <a:t>Φ</a:t>
            </a:r>
          </a:p>
          <a:p>
            <a:pPr marL="990600" lvl="1" indent="-533400" eaLnBrk="1" hangingPunct="1">
              <a:buFont typeface="Arial" charset="0"/>
              <a:buAutoNum type="arabicPeriod"/>
            </a:pPr>
            <a:r>
              <a:rPr lang="el-GR" sz="2400">
                <a:solidFill>
                  <a:schemeClr val="hlink"/>
                </a:solidFill>
                <a:latin typeface="Lucida Grande" pitchFamily="28" charset="0"/>
                <a:cs typeface="Tahoma" pitchFamily="28" charset="0"/>
              </a:rPr>
              <a:t>δ</a:t>
            </a:r>
            <a:r>
              <a:rPr lang="el-GR" sz="2400" baseline="-25000">
                <a:solidFill>
                  <a:schemeClr val="hlink"/>
                </a:solidFill>
                <a:latin typeface="Lucida Grande" pitchFamily="28" charset="0"/>
                <a:cs typeface="Tahoma" pitchFamily="28" charset="0"/>
              </a:rPr>
              <a:t>D</a:t>
            </a:r>
            <a:r>
              <a:rPr lang="el-GR" sz="2400">
                <a:latin typeface="Lucida Grande" pitchFamily="28" charset="0"/>
                <a:cs typeface="Tahoma" pitchFamily="28" charset="0"/>
              </a:rPr>
              <a:t>: for each subset S of Q</a:t>
            </a:r>
            <a:r>
              <a:rPr lang="el-GR" sz="2400" baseline="-25000">
                <a:latin typeface="Lucida Grande" pitchFamily="28" charset="0"/>
                <a:cs typeface="Tahoma" pitchFamily="28" charset="0"/>
              </a:rPr>
              <a:t>N</a:t>
            </a:r>
            <a:r>
              <a:rPr lang="el-GR" sz="2400">
                <a:latin typeface="Lucida Grande" pitchFamily="28" charset="0"/>
                <a:cs typeface="Tahoma" pitchFamily="28" charset="0"/>
              </a:rPr>
              <a:t> and for each input symbol a in ∑: </a:t>
            </a:r>
          </a:p>
          <a:p>
            <a:pPr marL="1371600" lvl="2" indent="-457200" eaLnBrk="1" hangingPunct="1"/>
            <a:r>
              <a:rPr lang="el-GR" sz="2000">
                <a:latin typeface="Lucida Grande" pitchFamily="28" charset="0"/>
                <a:cs typeface="Tahoma" pitchFamily="28" charset="0"/>
              </a:rPr>
              <a:t> </a:t>
            </a:r>
            <a:r>
              <a:rPr lang="el-GR" sz="2000">
                <a:solidFill>
                  <a:schemeClr val="hlink"/>
                </a:solidFill>
                <a:latin typeface="Lucida Grande" pitchFamily="28" charset="0"/>
                <a:cs typeface="Tahoma" pitchFamily="28" charset="0"/>
              </a:rPr>
              <a:t>δ</a:t>
            </a:r>
            <a:r>
              <a:rPr lang="el-GR" sz="2000" baseline="-25000">
                <a:solidFill>
                  <a:schemeClr val="hlink"/>
                </a:solidFill>
                <a:latin typeface="Lucida Grande" pitchFamily="28" charset="0"/>
                <a:cs typeface="Tahoma" pitchFamily="28" charset="0"/>
              </a:rPr>
              <a:t>D</a:t>
            </a:r>
            <a:r>
              <a:rPr lang="el-GR" sz="2000">
                <a:solidFill>
                  <a:schemeClr val="hlink"/>
                </a:solidFill>
                <a:latin typeface="Lucida Grande" pitchFamily="28" charset="0"/>
                <a:cs typeface="Tahoma" pitchFamily="28" charset="0"/>
              </a:rPr>
              <a:t>(S,a)</a:t>
            </a:r>
            <a:r>
              <a:rPr lang="el-GR" sz="2000">
                <a:latin typeface="Lucida Grande" pitchFamily="28" charset="0"/>
                <a:cs typeface="Tahoma" pitchFamily="28" charset="0"/>
              </a:rPr>
              <a:t> = U δ</a:t>
            </a:r>
            <a:r>
              <a:rPr lang="el-GR" sz="2000" baseline="-25000">
                <a:latin typeface="Lucida Grande" pitchFamily="28" charset="0"/>
                <a:cs typeface="Tahoma" pitchFamily="28" charset="0"/>
              </a:rPr>
              <a:t>N</a:t>
            </a:r>
            <a:r>
              <a:rPr lang="el-GR" sz="2000">
                <a:latin typeface="Lucida Grande" pitchFamily="28" charset="0"/>
                <a:cs typeface="Tahoma" pitchFamily="28" charset="0"/>
              </a:rPr>
              <a:t>(p,a)</a:t>
            </a:r>
            <a:endParaRPr lang="en-US" sz="2000">
              <a:latin typeface="Lucida Grande" pitchFamily="28" charset="0"/>
              <a:cs typeface="Tahoma" pitchFamily="28" charset="0"/>
            </a:endParaRPr>
          </a:p>
        </p:txBody>
      </p:sp>
      <p:sp>
        <p:nvSpPr>
          <p:cNvPr id="125956" name="Text Box 4"/>
          <p:cNvSpPr txBox="1">
            <a:spLocks noChangeArrowheads="1"/>
          </p:cNvSpPr>
          <p:nvPr/>
        </p:nvSpPr>
        <p:spPr bwMode="auto">
          <a:xfrm>
            <a:off x="3657600" y="5905500"/>
            <a:ext cx="54768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/>
              <a:t>p in 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5" grpId="0" build="p"/>
      <p:bldP spid="12595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07991E1-2596-4393-9D37-D19323D1D3B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/>
              <a:t>NFA to DFA construction: Example</a:t>
            </a:r>
            <a:endParaRPr lang="en-US"/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000" i="1"/>
              <a:t>L = {w | w ends in 01}</a:t>
            </a:r>
          </a:p>
        </p:txBody>
      </p:sp>
      <p:sp>
        <p:nvSpPr>
          <p:cNvPr id="28677" name="Oval 4"/>
          <p:cNvSpPr>
            <a:spLocks noChangeArrowheads="1"/>
          </p:cNvSpPr>
          <p:nvPr/>
        </p:nvSpPr>
        <p:spPr bwMode="auto">
          <a:xfrm>
            <a:off x="838200" y="3276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/>
              <a:t>q</a:t>
            </a:r>
            <a:r>
              <a:rPr lang="en-US" sz="1400" baseline="-25000"/>
              <a:t>0</a:t>
            </a:r>
            <a:endParaRPr lang="en-US" sz="1400"/>
          </a:p>
        </p:txBody>
      </p:sp>
      <p:sp>
        <p:nvSpPr>
          <p:cNvPr id="28678" name="Line 6"/>
          <p:cNvSpPr>
            <a:spLocks noChangeShapeType="1"/>
          </p:cNvSpPr>
          <p:nvPr/>
        </p:nvSpPr>
        <p:spPr bwMode="auto">
          <a:xfrm>
            <a:off x="609600" y="34290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79" name="Oval 7"/>
          <p:cNvSpPr>
            <a:spLocks noChangeArrowheads="1"/>
          </p:cNvSpPr>
          <p:nvPr/>
        </p:nvSpPr>
        <p:spPr bwMode="auto">
          <a:xfrm>
            <a:off x="1524000" y="3276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/>
              <a:t>q</a:t>
            </a:r>
            <a:r>
              <a:rPr lang="en-US" sz="1400" baseline="-25000"/>
              <a:t>1</a:t>
            </a:r>
            <a:endParaRPr lang="en-US" sz="1400"/>
          </a:p>
        </p:txBody>
      </p:sp>
      <p:sp>
        <p:nvSpPr>
          <p:cNvPr id="28680" name="Line 8"/>
          <p:cNvSpPr>
            <a:spLocks noChangeShapeType="1"/>
          </p:cNvSpPr>
          <p:nvPr/>
        </p:nvSpPr>
        <p:spPr bwMode="auto">
          <a:xfrm>
            <a:off x="1143000" y="34290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1" name="Text Box 9"/>
          <p:cNvSpPr txBox="1">
            <a:spLocks noChangeArrowheads="1"/>
          </p:cNvSpPr>
          <p:nvPr/>
        </p:nvSpPr>
        <p:spPr bwMode="auto">
          <a:xfrm>
            <a:off x="1203325" y="3138488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/>
              <a:t>0</a:t>
            </a:r>
          </a:p>
        </p:txBody>
      </p:sp>
      <p:sp>
        <p:nvSpPr>
          <p:cNvPr id="28682" name="Freeform 10"/>
          <p:cNvSpPr>
            <a:spLocks/>
          </p:cNvSpPr>
          <p:nvPr/>
        </p:nvSpPr>
        <p:spPr bwMode="auto">
          <a:xfrm>
            <a:off x="749300" y="2959100"/>
            <a:ext cx="406400" cy="317500"/>
          </a:xfrm>
          <a:custGeom>
            <a:avLst/>
            <a:gdLst>
              <a:gd name="T0" fmla="*/ 2147483647 w 256"/>
              <a:gd name="T1" fmla="*/ 2147483647 h 200"/>
              <a:gd name="T2" fmla="*/ 2147483647 w 256"/>
              <a:gd name="T3" fmla="*/ 2147483647 h 200"/>
              <a:gd name="T4" fmla="*/ 2147483647 w 256"/>
              <a:gd name="T5" fmla="*/ 2147483647 h 200"/>
              <a:gd name="T6" fmla="*/ 2147483647 w 256"/>
              <a:gd name="T7" fmla="*/ 2147483647 h 200"/>
              <a:gd name="T8" fmla="*/ 2147483647 w 256"/>
              <a:gd name="T9" fmla="*/ 2147483647 h 2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6"/>
              <a:gd name="T16" fmla="*/ 0 h 200"/>
              <a:gd name="T17" fmla="*/ 256 w 256"/>
              <a:gd name="T18" fmla="*/ 200 h 2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6" h="200">
                <a:moveTo>
                  <a:pt x="104" y="200"/>
                </a:moveTo>
                <a:cubicBezTo>
                  <a:pt x="52" y="168"/>
                  <a:pt x="0" y="136"/>
                  <a:pt x="8" y="104"/>
                </a:cubicBezTo>
                <a:cubicBezTo>
                  <a:pt x="16" y="72"/>
                  <a:pt x="112" y="0"/>
                  <a:pt x="152" y="8"/>
                </a:cubicBezTo>
                <a:cubicBezTo>
                  <a:pt x="192" y="16"/>
                  <a:pt x="240" y="120"/>
                  <a:pt x="248" y="152"/>
                </a:cubicBezTo>
                <a:cubicBezTo>
                  <a:pt x="256" y="184"/>
                  <a:pt x="228" y="192"/>
                  <a:pt x="200" y="20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3" name="Text Box 11"/>
          <p:cNvSpPr txBox="1">
            <a:spLocks noChangeArrowheads="1"/>
          </p:cNvSpPr>
          <p:nvPr/>
        </p:nvSpPr>
        <p:spPr bwMode="auto">
          <a:xfrm>
            <a:off x="635000" y="2743200"/>
            <a:ext cx="431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/>
              <a:t>0,1</a:t>
            </a:r>
          </a:p>
        </p:txBody>
      </p:sp>
      <p:sp>
        <p:nvSpPr>
          <p:cNvPr id="28684" name="Oval 12"/>
          <p:cNvSpPr>
            <a:spLocks noChangeArrowheads="1"/>
          </p:cNvSpPr>
          <p:nvPr/>
        </p:nvSpPr>
        <p:spPr bwMode="auto">
          <a:xfrm>
            <a:off x="2286000" y="3262313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/>
              <a:t>q</a:t>
            </a:r>
            <a:r>
              <a:rPr lang="en-US" sz="1400" baseline="-25000"/>
              <a:t>2</a:t>
            </a:r>
            <a:endParaRPr lang="en-US" sz="1400"/>
          </a:p>
        </p:txBody>
      </p:sp>
      <p:sp>
        <p:nvSpPr>
          <p:cNvPr id="28685" name="Line 13"/>
          <p:cNvSpPr>
            <a:spLocks noChangeShapeType="1"/>
          </p:cNvSpPr>
          <p:nvPr/>
        </p:nvSpPr>
        <p:spPr bwMode="auto">
          <a:xfrm>
            <a:off x="1828800" y="3414713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6" name="Text Box 14"/>
          <p:cNvSpPr txBox="1">
            <a:spLocks noChangeArrowheads="1"/>
          </p:cNvSpPr>
          <p:nvPr/>
        </p:nvSpPr>
        <p:spPr bwMode="auto">
          <a:xfrm>
            <a:off x="1889125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/>
              <a:t>1</a:t>
            </a:r>
          </a:p>
        </p:txBody>
      </p:sp>
      <p:sp>
        <p:nvSpPr>
          <p:cNvPr id="28687" name="Oval 15"/>
          <p:cNvSpPr>
            <a:spLocks noChangeArrowheads="1"/>
          </p:cNvSpPr>
          <p:nvPr/>
        </p:nvSpPr>
        <p:spPr bwMode="auto">
          <a:xfrm>
            <a:off x="2209800" y="3200400"/>
            <a:ext cx="457200" cy="457200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8" name="Text Box 16"/>
          <p:cNvSpPr txBox="1">
            <a:spLocks noChangeArrowheads="1"/>
          </p:cNvSpPr>
          <p:nvPr/>
        </p:nvSpPr>
        <p:spPr bwMode="auto">
          <a:xfrm>
            <a:off x="533400" y="2409825"/>
            <a:ext cx="790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u="sng">
                <a:solidFill>
                  <a:srgbClr val="006600"/>
                </a:solidFill>
              </a:rPr>
              <a:t>NFA:</a:t>
            </a:r>
            <a:endParaRPr lang="en-US" sz="2000" b="1">
              <a:solidFill>
                <a:srgbClr val="006600"/>
              </a:solidFill>
            </a:endParaRPr>
          </a:p>
        </p:txBody>
      </p:sp>
      <p:graphicFrame>
        <p:nvGraphicFramePr>
          <p:cNvPr id="129114" name="Group 90"/>
          <p:cNvGraphicFramePr>
            <a:graphicFrameLocks noGrp="1"/>
          </p:cNvGraphicFramePr>
          <p:nvPr/>
        </p:nvGraphicFramePr>
        <p:xfrm>
          <a:off x="609600" y="3962400"/>
          <a:ext cx="2209800" cy="1219200"/>
        </p:xfrm>
        <a:graphic>
          <a:graphicData uri="http://schemas.openxmlformats.org/drawingml/2006/table">
            <a:tbl>
              <a:tblPr/>
              <a:tblGrid>
                <a:gridCol w="73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l-G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Grande" pitchFamily="28" charset="0"/>
                          <a:cs typeface="Tahoma" pitchFamily="28" charset="0"/>
                        </a:rPr>
                        <a:t>δ</a:t>
                      </a:r>
                      <a:r>
                        <a:rPr kumimoji="0" lang="el-GR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Grande" pitchFamily="28" charset="0"/>
                          <a:cs typeface="Tahoma" pitchFamily="28" charset="0"/>
                        </a:rPr>
                        <a:t>N</a:t>
                      </a:r>
                      <a:endParaRPr kumimoji="0" lang="en-US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Grande" pitchFamily="28" charset="0"/>
                        <a:cs typeface="Tahoma" pitchFamily="2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  <a:r>
                        <a:rPr kumimoji="0" 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  <a:endParaRPr kumimoji="0" lang="en-US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  <a:r>
                        <a:rPr kumimoji="0" 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*q</a:t>
                      </a:r>
                      <a:r>
                        <a:rPr kumimoji="0" 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709" name="Line 91"/>
          <p:cNvSpPr>
            <a:spLocks noChangeShapeType="1"/>
          </p:cNvSpPr>
          <p:nvPr/>
        </p:nvSpPr>
        <p:spPr bwMode="auto">
          <a:xfrm>
            <a:off x="2895600" y="2438400"/>
            <a:ext cx="0" cy="388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10" name="Text Box 92"/>
          <p:cNvSpPr txBox="1">
            <a:spLocks noChangeArrowheads="1"/>
          </p:cNvSpPr>
          <p:nvPr/>
        </p:nvSpPr>
        <p:spPr bwMode="auto">
          <a:xfrm>
            <a:off x="3276600" y="2514600"/>
            <a:ext cx="790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u="sng">
                <a:solidFill>
                  <a:schemeClr val="hlink"/>
                </a:solidFill>
              </a:rPr>
              <a:t>DFA:</a:t>
            </a:r>
            <a:endParaRPr lang="en-US" sz="2000" b="1">
              <a:solidFill>
                <a:schemeClr val="hlink"/>
              </a:solidFill>
            </a:endParaRPr>
          </a:p>
        </p:txBody>
      </p:sp>
      <p:graphicFrame>
        <p:nvGraphicFramePr>
          <p:cNvPr id="129186" name="Group 162"/>
          <p:cNvGraphicFramePr>
            <a:graphicFrameLocks noGrp="1"/>
          </p:cNvGraphicFramePr>
          <p:nvPr/>
        </p:nvGraphicFramePr>
        <p:xfrm>
          <a:off x="3124200" y="3776663"/>
          <a:ext cx="2667000" cy="2554288"/>
        </p:xfrm>
        <a:graphic>
          <a:graphicData uri="http://schemas.openxmlformats.org/drawingml/2006/table">
            <a:tbl>
              <a:tblPr/>
              <a:tblGrid>
                <a:gridCol w="88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8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l-G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Lucida Grande" pitchFamily="28" charset="0"/>
                          <a:cs typeface="Tahoma" pitchFamily="28" charset="0"/>
                        </a:rPr>
                        <a:t>δ</a:t>
                      </a:r>
                      <a:r>
                        <a:rPr kumimoji="0" lang="el-GR" sz="1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Lucida Grande" pitchFamily="28" charset="0"/>
                          <a:cs typeface="Tahoma" pitchFamily="28" charset="0"/>
                        </a:rPr>
                        <a:t>D</a:t>
                      </a:r>
                      <a:endParaRPr kumimoji="0" lang="en-US" sz="12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Lucida Grande" pitchFamily="28" charset="0"/>
                        <a:cs typeface="Tahoma" pitchFamily="2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[q</a:t>
                      </a:r>
                      <a:r>
                        <a:rPr kumimoji="0" lang="en-US" sz="1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}</a:t>
                      </a:r>
                      <a:endParaRPr kumimoji="0" lang="en-US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8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[q</a:t>
                      </a:r>
                      <a:r>
                        <a:rPr kumimoji="0" lang="en-US" sz="1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*[q</a:t>
                      </a:r>
                      <a:r>
                        <a:rPr kumimoji="0" lang="en-US" sz="1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  <a:endParaRPr kumimoji="0" lang="en-US" sz="12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[q</a:t>
                      </a:r>
                      <a:r>
                        <a:rPr kumimoji="0" lang="en-US" sz="1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*[q</a:t>
                      </a:r>
                      <a:r>
                        <a:rPr kumimoji="0" lang="en-US" sz="1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*[q</a:t>
                      </a:r>
                      <a:r>
                        <a:rPr kumimoji="0" lang="en-US" sz="1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8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*[q</a:t>
                      </a:r>
                      <a:r>
                        <a:rPr kumimoji="0" lang="en-US" sz="1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8751" name="Line 157"/>
          <p:cNvSpPr>
            <a:spLocks noChangeShapeType="1"/>
          </p:cNvSpPr>
          <p:nvPr/>
        </p:nvSpPr>
        <p:spPr bwMode="auto">
          <a:xfrm>
            <a:off x="457200" y="44958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9184" name="Line 160"/>
          <p:cNvSpPr>
            <a:spLocks noChangeShapeType="1"/>
          </p:cNvSpPr>
          <p:nvPr/>
        </p:nvSpPr>
        <p:spPr bwMode="auto">
          <a:xfrm>
            <a:off x="2971800" y="44958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9187" name="Text Box 163"/>
          <p:cNvSpPr txBox="1">
            <a:spLocks noChangeArrowheads="1"/>
          </p:cNvSpPr>
          <p:nvPr/>
        </p:nvSpPr>
        <p:spPr bwMode="auto">
          <a:xfrm>
            <a:off x="5943600" y="5791200"/>
            <a:ext cx="2320925" cy="304800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Font typeface="Arial" charset="0"/>
              <a:buAutoNum type="arabicPeriod"/>
            </a:pPr>
            <a:r>
              <a:rPr lang="en-US" sz="1400"/>
              <a:t>Determine transitions</a:t>
            </a:r>
            <a:endParaRPr lang="en-US"/>
          </a:p>
        </p:txBody>
      </p:sp>
      <p:sp>
        <p:nvSpPr>
          <p:cNvPr id="129188" name="AutoShape 164"/>
          <p:cNvSpPr>
            <a:spLocks noChangeArrowheads="1"/>
          </p:cNvSpPr>
          <p:nvPr/>
        </p:nvSpPr>
        <p:spPr bwMode="auto">
          <a:xfrm>
            <a:off x="5867400" y="4648200"/>
            <a:ext cx="304800" cy="152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29244" name="Group 220"/>
          <p:cNvGraphicFramePr>
            <a:graphicFrameLocks noGrp="1"/>
          </p:cNvGraphicFramePr>
          <p:nvPr/>
        </p:nvGraphicFramePr>
        <p:xfrm>
          <a:off x="6324600" y="3810000"/>
          <a:ext cx="2667000" cy="1140778"/>
        </p:xfrm>
        <a:graphic>
          <a:graphicData uri="http://schemas.openxmlformats.org/drawingml/2006/table">
            <a:tbl>
              <a:tblPr/>
              <a:tblGrid>
                <a:gridCol w="88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8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l-G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Lucida Grande" pitchFamily="28" charset="0"/>
                          <a:cs typeface="Tahoma" pitchFamily="28" charset="0"/>
                        </a:rPr>
                        <a:t>δ</a:t>
                      </a:r>
                      <a:r>
                        <a:rPr kumimoji="0" lang="el-GR" sz="1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Lucida Grande" pitchFamily="28" charset="0"/>
                          <a:cs typeface="Tahoma" pitchFamily="28" charset="0"/>
                        </a:rPr>
                        <a:t>D</a:t>
                      </a:r>
                      <a:endParaRPr kumimoji="0" lang="en-US" sz="12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Lucida Grande" pitchFamily="28" charset="0"/>
                        <a:cs typeface="Tahoma" pitchFamily="2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[q</a:t>
                      </a:r>
                      <a:r>
                        <a:rPr kumimoji="0" lang="en-US" sz="1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[q</a:t>
                      </a:r>
                      <a:r>
                        <a:rPr kumimoji="0" lang="en-US" sz="1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  <a:endParaRPr kumimoji="0" lang="en-US" sz="12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[q</a:t>
                      </a:r>
                      <a:r>
                        <a:rPr kumimoji="0" lang="en-US" sz="1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[q</a:t>
                      </a:r>
                      <a:r>
                        <a:rPr kumimoji="0" lang="en-US" sz="1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[q</a:t>
                      </a:r>
                      <a:r>
                        <a:rPr kumimoji="0" lang="en-US" sz="1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[q</a:t>
                      </a:r>
                      <a:r>
                        <a:rPr kumimoji="0" lang="en-US" sz="1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*[q</a:t>
                      </a:r>
                      <a:r>
                        <a:rPr kumimoji="0" lang="en-US" sz="1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[q</a:t>
                      </a:r>
                      <a:r>
                        <a:rPr kumimoji="0" lang="en-US" sz="1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[q</a:t>
                      </a:r>
                      <a:r>
                        <a:rPr kumimoji="0" lang="en-US" sz="1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9235" name="Line 211"/>
          <p:cNvSpPr>
            <a:spLocks noChangeShapeType="1"/>
          </p:cNvSpPr>
          <p:nvPr/>
        </p:nvSpPr>
        <p:spPr bwMode="auto">
          <a:xfrm>
            <a:off x="6172200" y="42672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217"/>
          <p:cNvGrpSpPr>
            <a:grpSpLocks/>
          </p:cNvGrpSpPr>
          <p:nvPr/>
        </p:nvGrpSpPr>
        <p:grpSpPr bwMode="auto">
          <a:xfrm>
            <a:off x="2971800" y="4191000"/>
            <a:ext cx="2743200" cy="1981200"/>
            <a:chOff x="1872" y="2640"/>
            <a:chExt cx="1728" cy="1248"/>
          </a:xfrm>
        </p:grpSpPr>
        <p:sp>
          <p:nvSpPr>
            <p:cNvPr id="28799" name="Line 165"/>
            <p:cNvSpPr>
              <a:spLocks noChangeShapeType="1"/>
            </p:cNvSpPr>
            <p:nvPr/>
          </p:nvSpPr>
          <p:spPr bwMode="auto">
            <a:xfrm>
              <a:off x="1872" y="2976"/>
              <a:ext cx="1728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00" name="Line 213"/>
            <p:cNvSpPr>
              <a:spLocks noChangeShapeType="1"/>
            </p:cNvSpPr>
            <p:nvPr/>
          </p:nvSpPr>
          <p:spPr bwMode="auto">
            <a:xfrm>
              <a:off x="1872" y="3168"/>
              <a:ext cx="1728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01" name="Line 214"/>
            <p:cNvSpPr>
              <a:spLocks noChangeShapeType="1"/>
            </p:cNvSpPr>
            <p:nvPr/>
          </p:nvSpPr>
          <p:spPr bwMode="auto">
            <a:xfrm>
              <a:off x="1872" y="3696"/>
              <a:ext cx="1728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02" name="Line 215"/>
            <p:cNvSpPr>
              <a:spLocks noChangeShapeType="1"/>
            </p:cNvSpPr>
            <p:nvPr/>
          </p:nvSpPr>
          <p:spPr bwMode="auto">
            <a:xfrm>
              <a:off x="1872" y="3888"/>
              <a:ext cx="1728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03" name="Line 216"/>
            <p:cNvSpPr>
              <a:spLocks noChangeShapeType="1"/>
            </p:cNvSpPr>
            <p:nvPr/>
          </p:nvSpPr>
          <p:spPr bwMode="auto">
            <a:xfrm>
              <a:off x="1872" y="2640"/>
              <a:ext cx="1728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239"/>
          <p:cNvGrpSpPr>
            <a:grpSpLocks/>
          </p:cNvGrpSpPr>
          <p:nvPr/>
        </p:nvGrpSpPr>
        <p:grpSpPr bwMode="auto">
          <a:xfrm>
            <a:off x="4572000" y="2133600"/>
            <a:ext cx="2743200" cy="1371600"/>
            <a:chOff x="2880" y="1344"/>
            <a:chExt cx="1728" cy="864"/>
          </a:xfrm>
        </p:grpSpPr>
        <p:sp>
          <p:nvSpPr>
            <p:cNvPr id="28782" name="Oval 221"/>
            <p:cNvSpPr>
              <a:spLocks noChangeArrowheads="1"/>
            </p:cNvSpPr>
            <p:nvPr/>
          </p:nvSpPr>
          <p:spPr bwMode="auto">
            <a:xfrm>
              <a:off x="3024" y="1680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400" dirty="0"/>
                <a:t>[q</a:t>
              </a:r>
              <a:r>
                <a:rPr lang="en-US" sz="1400" baseline="-25000" dirty="0"/>
                <a:t>0</a:t>
              </a:r>
              <a:r>
                <a:rPr lang="en-US" sz="1400" dirty="0"/>
                <a:t>]</a:t>
              </a:r>
            </a:p>
          </p:txBody>
        </p:sp>
        <p:sp>
          <p:nvSpPr>
            <p:cNvPr id="28783" name="Line 222"/>
            <p:cNvSpPr>
              <a:spLocks noChangeShapeType="1"/>
            </p:cNvSpPr>
            <p:nvPr/>
          </p:nvSpPr>
          <p:spPr bwMode="auto">
            <a:xfrm>
              <a:off x="2880" y="177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84" name="Line 223"/>
            <p:cNvSpPr>
              <a:spLocks noChangeShapeType="1"/>
            </p:cNvSpPr>
            <p:nvPr/>
          </p:nvSpPr>
          <p:spPr bwMode="auto">
            <a:xfrm>
              <a:off x="3360" y="182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85" name="Freeform 224"/>
            <p:cNvSpPr>
              <a:spLocks/>
            </p:cNvSpPr>
            <p:nvPr/>
          </p:nvSpPr>
          <p:spPr bwMode="auto">
            <a:xfrm>
              <a:off x="3000" y="1480"/>
              <a:ext cx="256" cy="200"/>
            </a:xfrm>
            <a:custGeom>
              <a:avLst/>
              <a:gdLst>
                <a:gd name="T0" fmla="*/ 104 w 256"/>
                <a:gd name="T1" fmla="*/ 200 h 200"/>
                <a:gd name="T2" fmla="*/ 8 w 256"/>
                <a:gd name="T3" fmla="*/ 104 h 200"/>
                <a:gd name="T4" fmla="*/ 152 w 256"/>
                <a:gd name="T5" fmla="*/ 8 h 200"/>
                <a:gd name="T6" fmla="*/ 248 w 256"/>
                <a:gd name="T7" fmla="*/ 152 h 200"/>
                <a:gd name="T8" fmla="*/ 200 w 256"/>
                <a:gd name="T9" fmla="*/ 200 h 2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6"/>
                <a:gd name="T16" fmla="*/ 0 h 200"/>
                <a:gd name="T17" fmla="*/ 256 w 256"/>
                <a:gd name="T18" fmla="*/ 200 h 2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6" h="200">
                  <a:moveTo>
                    <a:pt x="104" y="200"/>
                  </a:moveTo>
                  <a:cubicBezTo>
                    <a:pt x="52" y="168"/>
                    <a:pt x="0" y="136"/>
                    <a:pt x="8" y="104"/>
                  </a:cubicBezTo>
                  <a:cubicBezTo>
                    <a:pt x="16" y="72"/>
                    <a:pt x="112" y="0"/>
                    <a:pt x="152" y="8"/>
                  </a:cubicBezTo>
                  <a:cubicBezTo>
                    <a:pt x="192" y="16"/>
                    <a:pt x="240" y="120"/>
                    <a:pt x="248" y="152"/>
                  </a:cubicBezTo>
                  <a:cubicBezTo>
                    <a:pt x="256" y="184"/>
                    <a:pt x="228" y="192"/>
                    <a:pt x="200" y="20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86" name="Text Box 225"/>
            <p:cNvSpPr txBox="1">
              <a:spLocks noChangeArrowheads="1"/>
            </p:cNvSpPr>
            <p:nvPr/>
          </p:nvSpPr>
          <p:spPr bwMode="auto">
            <a:xfrm>
              <a:off x="2928" y="1344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1</a:t>
              </a:r>
            </a:p>
          </p:txBody>
        </p:sp>
        <p:sp>
          <p:nvSpPr>
            <p:cNvPr id="28787" name="Text Box 226"/>
            <p:cNvSpPr txBox="1">
              <a:spLocks noChangeArrowheads="1"/>
            </p:cNvSpPr>
            <p:nvPr/>
          </p:nvSpPr>
          <p:spPr bwMode="auto">
            <a:xfrm>
              <a:off x="3360" y="1632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0</a:t>
              </a:r>
            </a:p>
          </p:txBody>
        </p:sp>
        <p:sp>
          <p:nvSpPr>
            <p:cNvPr id="28788" name="Oval 227"/>
            <p:cNvSpPr>
              <a:spLocks noChangeArrowheads="1"/>
            </p:cNvSpPr>
            <p:nvPr/>
          </p:nvSpPr>
          <p:spPr bwMode="auto">
            <a:xfrm>
              <a:off x="3600" y="1680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400" dirty="0"/>
                <a:t>[q</a:t>
              </a:r>
              <a:r>
                <a:rPr lang="en-US" sz="1400" baseline="-25000" dirty="0"/>
                <a:t>0</a:t>
              </a:r>
              <a:r>
                <a:rPr lang="en-US" sz="1400" dirty="0"/>
                <a:t>,q</a:t>
              </a:r>
              <a:r>
                <a:rPr lang="en-US" sz="1400" baseline="-25000" dirty="0"/>
                <a:t>1</a:t>
              </a:r>
              <a:r>
                <a:rPr lang="en-US" sz="1400" dirty="0"/>
                <a:t>]</a:t>
              </a:r>
            </a:p>
          </p:txBody>
        </p:sp>
        <p:sp>
          <p:nvSpPr>
            <p:cNvPr id="28789" name="Line 229"/>
            <p:cNvSpPr>
              <a:spLocks noChangeShapeType="1"/>
            </p:cNvSpPr>
            <p:nvPr/>
          </p:nvSpPr>
          <p:spPr bwMode="auto">
            <a:xfrm>
              <a:off x="3936" y="182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90" name="Text Box 230"/>
            <p:cNvSpPr txBox="1">
              <a:spLocks noChangeArrowheads="1"/>
            </p:cNvSpPr>
            <p:nvPr/>
          </p:nvSpPr>
          <p:spPr bwMode="auto">
            <a:xfrm>
              <a:off x="3936" y="1632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1</a:t>
              </a:r>
            </a:p>
          </p:txBody>
        </p:sp>
        <p:sp>
          <p:nvSpPr>
            <p:cNvPr id="28791" name="Oval 231"/>
            <p:cNvSpPr>
              <a:spLocks noChangeArrowheads="1"/>
            </p:cNvSpPr>
            <p:nvPr/>
          </p:nvSpPr>
          <p:spPr bwMode="auto">
            <a:xfrm>
              <a:off x="4224" y="1680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400" dirty="0"/>
                <a:t>[q</a:t>
              </a:r>
              <a:r>
                <a:rPr lang="en-US" sz="1400" baseline="-25000" dirty="0"/>
                <a:t>0</a:t>
              </a:r>
              <a:r>
                <a:rPr lang="en-US" sz="1400" dirty="0"/>
                <a:t>,q</a:t>
              </a:r>
              <a:r>
                <a:rPr lang="en-US" sz="1400" baseline="-25000" dirty="0"/>
                <a:t>2</a:t>
              </a:r>
              <a:r>
                <a:rPr lang="en-US" sz="1400" dirty="0"/>
                <a:t>]</a:t>
              </a:r>
            </a:p>
          </p:txBody>
        </p:sp>
        <p:sp>
          <p:nvSpPr>
            <p:cNvPr id="28792" name="Oval 232"/>
            <p:cNvSpPr>
              <a:spLocks noChangeArrowheads="1"/>
            </p:cNvSpPr>
            <p:nvPr/>
          </p:nvSpPr>
          <p:spPr bwMode="auto">
            <a:xfrm>
              <a:off x="4176" y="1632"/>
              <a:ext cx="432" cy="432"/>
            </a:xfrm>
            <a:prstGeom prst="ellipse">
              <a:avLst/>
            </a:prstGeom>
            <a:solidFill>
              <a:schemeClr val="accent1">
                <a:alpha val="10196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93" name="Freeform 233"/>
            <p:cNvSpPr>
              <a:spLocks/>
            </p:cNvSpPr>
            <p:nvPr/>
          </p:nvSpPr>
          <p:spPr bwMode="auto">
            <a:xfrm>
              <a:off x="3624" y="1480"/>
              <a:ext cx="256" cy="200"/>
            </a:xfrm>
            <a:custGeom>
              <a:avLst/>
              <a:gdLst>
                <a:gd name="T0" fmla="*/ 104 w 256"/>
                <a:gd name="T1" fmla="*/ 200 h 200"/>
                <a:gd name="T2" fmla="*/ 8 w 256"/>
                <a:gd name="T3" fmla="*/ 104 h 200"/>
                <a:gd name="T4" fmla="*/ 152 w 256"/>
                <a:gd name="T5" fmla="*/ 8 h 200"/>
                <a:gd name="T6" fmla="*/ 248 w 256"/>
                <a:gd name="T7" fmla="*/ 152 h 200"/>
                <a:gd name="T8" fmla="*/ 200 w 256"/>
                <a:gd name="T9" fmla="*/ 200 h 2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6"/>
                <a:gd name="T16" fmla="*/ 0 h 200"/>
                <a:gd name="T17" fmla="*/ 256 w 256"/>
                <a:gd name="T18" fmla="*/ 200 h 2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6" h="200">
                  <a:moveTo>
                    <a:pt x="104" y="200"/>
                  </a:moveTo>
                  <a:cubicBezTo>
                    <a:pt x="52" y="168"/>
                    <a:pt x="0" y="136"/>
                    <a:pt x="8" y="104"/>
                  </a:cubicBezTo>
                  <a:cubicBezTo>
                    <a:pt x="16" y="72"/>
                    <a:pt x="112" y="0"/>
                    <a:pt x="152" y="8"/>
                  </a:cubicBezTo>
                  <a:cubicBezTo>
                    <a:pt x="192" y="16"/>
                    <a:pt x="240" y="120"/>
                    <a:pt x="248" y="152"/>
                  </a:cubicBezTo>
                  <a:cubicBezTo>
                    <a:pt x="256" y="184"/>
                    <a:pt x="228" y="192"/>
                    <a:pt x="200" y="20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94" name="Text Box 234"/>
            <p:cNvSpPr txBox="1">
              <a:spLocks noChangeArrowheads="1"/>
            </p:cNvSpPr>
            <p:nvPr/>
          </p:nvSpPr>
          <p:spPr bwMode="auto">
            <a:xfrm>
              <a:off x="3552" y="1344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0</a:t>
              </a:r>
            </a:p>
          </p:txBody>
        </p:sp>
        <p:sp>
          <p:nvSpPr>
            <p:cNvPr id="28795" name="Freeform 235"/>
            <p:cNvSpPr>
              <a:spLocks/>
            </p:cNvSpPr>
            <p:nvPr/>
          </p:nvSpPr>
          <p:spPr bwMode="auto">
            <a:xfrm>
              <a:off x="3936" y="1920"/>
              <a:ext cx="240" cy="96"/>
            </a:xfrm>
            <a:custGeom>
              <a:avLst/>
              <a:gdLst>
                <a:gd name="T0" fmla="*/ 240 w 240"/>
                <a:gd name="T1" fmla="*/ 0 h 96"/>
                <a:gd name="T2" fmla="*/ 96 w 240"/>
                <a:gd name="T3" fmla="*/ 96 h 96"/>
                <a:gd name="T4" fmla="*/ 0 w 240"/>
                <a:gd name="T5" fmla="*/ 0 h 96"/>
                <a:gd name="T6" fmla="*/ 0 60000 65536"/>
                <a:gd name="T7" fmla="*/ 0 60000 65536"/>
                <a:gd name="T8" fmla="*/ 0 60000 65536"/>
                <a:gd name="T9" fmla="*/ 0 w 240"/>
                <a:gd name="T10" fmla="*/ 0 h 96"/>
                <a:gd name="T11" fmla="*/ 240 w 240"/>
                <a:gd name="T12" fmla="*/ 96 h 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0" h="96">
                  <a:moveTo>
                    <a:pt x="240" y="0"/>
                  </a:moveTo>
                  <a:cubicBezTo>
                    <a:pt x="188" y="48"/>
                    <a:pt x="136" y="96"/>
                    <a:pt x="96" y="96"/>
                  </a:cubicBezTo>
                  <a:cubicBezTo>
                    <a:pt x="56" y="96"/>
                    <a:pt x="28" y="48"/>
                    <a:pt x="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96" name="Text Box 236"/>
            <p:cNvSpPr txBox="1">
              <a:spLocks noChangeArrowheads="1"/>
            </p:cNvSpPr>
            <p:nvPr/>
          </p:nvSpPr>
          <p:spPr bwMode="auto">
            <a:xfrm>
              <a:off x="3984" y="1824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0</a:t>
              </a:r>
            </a:p>
          </p:txBody>
        </p:sp>
        <p:sp>
          <p:nvSpPr>
            <p:cNvPr id="28797" name="Freeform 237"/>
            <p:cNvSpPr>
              <a:spLocks/>
            </p:cNvSpPr>
            <p:nvPr/>
          </p:nvSpPr>
          <p:spPr bwMode="auto">
            <a:xfrm>
              <a:off x="3264" y="2016"/>
              <a:ext cx="1008" cy="144"/>
            </a:xfrm>
            <a:custGeom>
              <a:avLst/>
              <a:gdLst>
                <a:gd name="T0" fmla="*/ 1008 w 1008"/>
                <a:gd name="T1" fmla="*/ 0 h 144"/>
                <a:gd name="T2" fmla="*/ 384 w 1008"/>
                <a:gd name="T3" fmla="*/ 144 h 144"/>
                <a:gd name="T4" fmla="*/ 0 w 1008"/>
                <a:gd name="T5" fmla="*/ 0 h 144"/>
                <a:gd name="T6" fmla="*/ 0 60000 65536"/>
                <a:gd name="T7" fmla="*/ 0 60000 65536"/>
                <a:gd name="T8" fmla="*/ 0 60000 65536"/>
                <a:gd name="T9" fmla="*/ 0 w 1008"/>
                <a:gd name="T10" fmla="*/ 0 h 144"/>
                <a:gd name="T11" fmla="*/ 1008 w 1008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08" h="144">
                  <a:moveTo>
                    <a:pt x="1008" y="0"/>
                  </a:moveTo>
                  <a:cubicBezTo>
                    <a:pt x="780" y="72"/>
                    <a:pt x="552" y="144"/>
                    <a:pt x="384" y="144"/>
                  </a:cubicBezTo>
                  <a:cubicBezTo>
                    <a:pt x="216" y="144"/>
                    <a:pt x="108" y="72"/>
                    <a:pt x="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98" name="Text Box 238"/>
            <p:cNvSpPr txBox="1">
              <a:spLocks noChangeArrowheads="1"/>
            </p:cNvSpPr>
            <p:nvPr/>
          </p:nvSpPr>
          <p:spPr bwMode="auto">
            <a:xfrm>
              <a:off x="3504" y="2016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1</a:t>
              </a:r>
            </a:p>
          </p:txBody>
        </p:sp>
      </p:grpSp>
      <p:sp>
        <p:nvSpPr>
          <p:cNvPr id="129264" name="Text Box 240"/>
          <p:cNvSpPr txBox="1">
            <a:spLocks noChangeArrowheads="1"/>
          </p:cNvSpPr>
          <p:nvPr/>
        </p:nvSpPr>
        <p:spPr bwMode="auto">
          <a:xfrm>
            <a:off x="5105400" y="228600"/>
            <a:ext cx="2936875" cy="730250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u="sng"/>
              <a:t>Idea:</a:t>
            </a:r>
            <a:r>
              <a:rPr lang="en-US" sz="1400"/>
              <a:t> To avoid enumerating all of </a:t>
            </a:r>
            <a:br>
              <a:rPr lang="en-US" sz="1400"/>
            </a:br>
            <a:r>
              <a:rPr lang="en-US" sz="1400"/>
              <a:t>	power set, do </a:t>
            </a:r>
            <a:br>
              <a:rPr lang="en-US" sz="1400"/>
            </a:br>
            <a:r>
              <a:rPr lang="en-US" sz="1400"/>
              <a:t>	“lazy creation of states”</a:t>
            </a:r>
            <a:endParaRPr lang="en-US"/>
          </a:p>
        </p:txBody>
      </p:sp>
      <p:sp>
        <p:nvSpPr>
          <p:cNvPr id="129266" name="Rectangle 242"/>
          <p:cNvSpPr>
            <a:spLocks noChangeArrowheads="1"/>
          </p:cNvSpPr>
          <p:nvPr/>
        </p:nvSpPr>
        <p:spPr bwMode="auto">
          <a:xfrm>
            <a:off x="3962400" y="3657600"/>
            <a:ext cx="1905000" cy="304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9267" name="Text Box 243"/>
          <p:cNvSpPr txBox="1">
            <a:spLocks noChangeArrowheads="1"/>
          </p:cNvSpPr>
          <p:nvPr/>
        </p:nvSpPr>
        <p:spPr bwMode="auto">
          <a:xfrm>
            <a:off x="5943600" y="6029325"/>
            <a:ext cx="2692400" cy="5238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/>
              <a:t>2.        Retain only those states </a:t>
            </a:r>
            <a:br>
              <a:rPr lang="en-US" sz="1400"/>
            </a:br>
            <a:r>
              <a:rPr lang="en-US" sz="1400"/>
              <a:t>	reachable from {q</a:t>
            </a:r>
            <a:r>
              <a:rPr lang="en-US" sz="1400" baseline="-25000"/>
              <a:t>0</a:t>
            </a:r>
            <a:r>
              <a:rPr lang="en-US" sz="1400"/>
              <a:t>}</a:t>
            </a:r>
            <a:endParaRPr lang="en-US"/>
          </a:p>
        </p:txBody>
      </p:sp>
      <p:sp>
        <p:nvSpPr>
          <p:cNvPr id="54" name="Text Box 163"/>
          <p:cNvSpPr txBox="1">
            <a:spLocks noChangeArrowheads="1"/>
          </p:cNvSpPr>
          <p:nvPr/>
        </p:nvSpPr>
        <p:spPr bwMode="auto">
          <a:xfrm>
            <a:off x="5943600" y="5486400"/>
            <a:ext cx="3124200" cy="3079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/>
            <a:r>
              <a:rPr lang="en-US" sz="1400"/>
              <a:t>0.	Enumerate all possible subsets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9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9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5" dur="500"/>
                                        <p:tgtEl>
                                          <p:spTgt spid="1292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29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29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184" grpId="0" animBg="1"/>
      <p:bldP spid="129187" grpId="0" animBg="1"/>
      <p:bldP spid="129188" grpId="0" animBg="1"/>
      <p:bldP spid="129235" grpId="0" animBg="1"/>
      <p:bldP spid="129264" grpId="0" animBg="1"/>
      <p:bldP spid="129266" grpId="0" animBg="1"/>
      <p:bldP spid="129267" grpId="0" animBg="1"/>
      <p:bldP spid="5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FCB7980-5B71-4739-8731-809826455FEF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/>
              <a:t>NFA to DFA: Repeating the example using </a:t>
            </a:r>
            <a:r>
              <a:rPr lang="en-US" sz="3600" i="1"/>
              <a:t>LAZY CREATION</a:t>
            </a:r>
            <a:endParaRPr lang="en-US"/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000" i="1" dirty="0"/>
              <a:t>L = {w | w ends in 01}</a:t>
            </a:r>
          </a:p>
        </p:txBody>
      </p:sp>
      <p:sp>
        <p:nvSpPr>
          <p:cNvPr id="29701" name="Oval 4"/>
          <p:cNvSpPr>
            <a:spLocks noChangeArrowheads="1"/>
          </p:cNvSpPr>
          <p:nvPr/>
        </p:nvSpPr>
        <p:spPr bwMode="auto">
          <a:xfrm>
            <a:off x="838200" y="3276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/>
              <a:t>q</a:t>
            </a:r>
            <a:r>
              <a:rPr lang="en-US" sz="1400" baseline="-25000"/>
              <a:t>0</a:t>
            </a:r>
            <a:endParaRPr lang="en-US" sz="1400"/>
          </a:p>
        </p:txBody>
      </p:sp>
      <p:sp>
        <p:nvSpPr>
          <p:cNvPr id="29702" name="Line 5"/>
          <p:cNvSpPr>
            <a:spLocks noChangeShapeType="1"/>
          </p:cNvSpPr>
          <p:nvPr/>
        </p:nvSpPr>
        <p:spPr bwMode="auto">
          <a:xfrm>
            <a:off x="609600" y="34290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03" name="Oval 6"/>
          <p:cNvSpPr>
            <a:spLocks noChangeArrowheads="1"/>
          </p:cNvSpPr>
          <p:nvPr/>
        </p:nvSpPr>
        <p:spPr bwMode="auto">
          <a:xfrm>
            <a:off x="1524000" y="3276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/>
              <a:t>q</a:t>
            </a:r>
            <a:r>
              <a:rPr lang="en-US" sz="1400" baseline="-25000"/>
              <a:t>1</a:t>
            </a:r>
            <a:endParaRPr lang="en-US" sz="1400"/>
          </a:p>
        </p:txBody>
      </p:sp>
      <p:sp>
        <p:nvSpPr>
          <p:cNvPr id="29704" name="Line 7"/>
          <p:cNvSpPr>
            <a:spLocks noChangeShapeType="1"/>
          </p:cNvSpPr>
          <p:nvPr/>
        </p:nvSpPr>
        <p:spPr bwMode="auto">
          <a:xfrm>
            <a:off x="1143000" y="34290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05" name="Text Box 8"/>
          <p:cNvSpPr txBox="1">
            <a:spLocks noChangeArrowheads="1"/>
          </p:cNvSpPr>
          <p:nvPr/>
        </p:nvSpPr>
        <p:spPr bwMode="auto">
          <a:xfrm>
            <a:off x="1203325" y="3138488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/>
              <a:t>0</a:t>
            </a:r>
          </a:p>
        </p:txBody>
      </p:sp>
      <p:sp>
        <p:nvSpPr>
          <p:cNvPr id="29706" name="Freeform 9"/>
          <p:cNvSpPr>
            <a:spLocks/>
          </p:cNvSpPr>
          <p:nvPr/>
        </p:nvSpPr>
        <p:spPr bwMode="auto">
          <a:xfrm>
            <a:off x="749300" y="2959100"/>
            <a:ext cx="406400" cy="317500"/>
          </a:xfrm>
          <a:custGeom>
            <a:avLst/>
            <a:gdLst>
              <a:gd name="T0" fmla="*/ 2147483647 w 256"/>
              <a:gd name="T1" fmla="*/ 2147483647 h 200"/>
              <a:gd name="T2" fmla="*/ 2147483647 w 256"/>
              <a:gd name="T3" fmla="*/ 2147483647 h 200"/>
              <a:gd name="T4" fmla="*/ 2147483647 w 256"/>
              <a:gd name="T5" fmla="*/ 2147483647 h 200"/>
              <a:gd name="T6" fmla="*/ 2147483647 w 256"/>
              <a:gd name="T7" fmla="*/ 2147483647 h 200"/>
              <a:gd name="T8" fmla="*/ 2147483647 w 256"/>
              <a:gd name="T9" fmla="*/ 2147483647 h 2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6"/>
              <a:gd name="T16" fmla="*/ 0 h 200"/>
              <a:gd name="T17" fmla="*/ 256 w 256"/>
              <a:gd name="T18" fmla="*/ 200 h 2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6" h="200">
                <a:moveTo>
                  <a:pt x="104" y="200"/>
                </a:moveTo>
                <a:cubicBezTo>
                  <a:pt x="52" y="168"/>
                  <a:pt x="0" y="136"/>
                  <a:pt x="8" y="104"/>
                </a:cubicBezTo>
                <a:cubicBezTo>
                  <a:pt x="16" y="72"/>
                  <a:pt x="112" y="0"/>
                  <a:pt x="152" y="8"/>
                </a:cubicBezTo>
                <a:cubicBezTo>
                  <a:pt x="192" y="16"/>
                  <a:pt x="240" y="120"/>
                  <a:pt x="248" y="152"/>
                </a:cubicBezTo>
                <a:cubicBezTo>
                  <a:pt x="256" y="184"/>
                  <a:pt x="228" y="192"/>
                  <a:pt x="200" y="20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07" name="Text Box 10"/>
          <p:cNvSpPr txBox="1">
            <a:spLocks noChangeArrowheads="1"/>
          </p:cNvSpPr>
          <p:nvPr/>
        </p:nvSpPr>
        <p:spPr bwMode="auto">
          <a:xfrm>
            <a:off x="635000" y="2743200"/>
            <a:ext cx="431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/>
              <a:t>0,1</a:t>
            </a:r>
          </a:p>
        </p:txBody>
      </p:sp>
      <p:sp>
        <p:nvSpPr>
          <p:cNvPr id="29708" name="Oval 11"/>
          <p:cNvSpPr>
            <a:spLocks noChangeArrowheads="1"/>
          </p:cNvSpPr>
          <p:nvPr/>
        </p:nvSpPr>
        <p:spPr bwMode="auto">
          <a:xfrm>
            <a:off x="2286000" y="3262313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/>
              <a:t>q</a:t>
            </a:r>
            <a:r>
              <a:rPr lang="en-US" sz="1400" baseline="-25000"/>
              <a:t>2</a:t>
            </a:r>
            <a:endParaRPr lang="en-US" sz="1400"/>
          </a:p>
        </p:txBody>
      </p:sp>
      <p:sp>
        <p:nvSpPr>
          <p:cNvPr id="29709" name="Line 12"/>
          <p:cNvSpPr>
            <a:spLocks noChangeShapeType="1"/>
          </p:cNvSpPr>
          <p:nvPr/>
        </p:nvSpPr>
        <p:spPr bwMode="auto">
          <a:xfrm>
            <a:off x="1828800" y="3414713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10" name="Text Box 13"/>
          <p:cNvSpPr txBox="1">
            <a:spLocks noChangeArrowheads="1"/>
          </p:cNvSpPr>
          <p:nvPr/>
        </p:nvSpPr>
        <p:spPr bwMode="auto">
          <a:xfrm>
            <a:off x="1889125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/>
              <a:t>1</a:t>
            </a:r>
          </a:p>
        </p:txBody>
      </p:sp>
      <p:sp>
        <p:nvSpPr>
          <p:cNvPr id="29711" name="Oval 14"/>
          <p:cNvSpPr>
            <a:spLocks noChangeArrowheads="1"/>
          </p:cNvSpPr>
          <p:nvPr/>
        </p:nvSpPr>
        <p:spPr bwMode="auto">
          <a:xfrm>
            <a:off x="2209800" y="3200400"/>
            <a:ext cx="457200" cy="457200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12" name="Text Box 15"/>
          <p:cNvSpPr txBox="1">
            <a:spLocks noChangeArrowheads="1"/>
          </p:cNvSpPr>
          <p:nvPr/>
        </p:nvSpPr>
        <p:spPr bwMode="auto">
          <a:xfrm>
            <a:off x="533400" y="2409825"/>
            <a:ext cx="790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u="sng">
                <a:solidFill>
                  <a:srgbClr val="006600"/>
                </a:solidFill>
              </a:rPr>
              <a:t>NFA:</a:t>
            </a:r>
            <a:endParaRPr lang="en-US" sz="2000" b="1">
              <a:solidFill>
                <a:srgbClr val="006600"/>
              </a:solidFill>
            </a:endParaRPr>
          </a:p>
        </p:txBody>
      </p:sp>
      <p:graphicFrame>
        <p:nvGraphicFramePr>
          <p:cNvPr id="159760" name="Group 16"/>
          <p:cNvGraphicFramePr>
            <a:graphicFrameLocks noGrp="1"/>
          </p:cNvGraphicFramePr>
          <p:nvPr/>
        </p:nvGraphicFramePr>
        <p:xfrm>
          <a:off x="609600" y="3962400"/>
          <a:ext cx="2209800" cy="1219200"/>
        </p:xfrm>
        <a:graphic>
          <a:graphicData uri="http://schemas.openxmlformats.org/drawingml/2006/table">
            <a:tbl>
              <a:tblPr/>
              <a:tblGrid>
                <a:gridCol w="73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l-G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Grande" pitchFamily="28" charset="0"/>
                          <a:cs typeface="Tahoma" pitchFamily="28" charset="0"/>
                        </a:rPr>
                        <a:t>δ</a:t>
                      </a:r>
                      <a:r>
                        <a:rPr kumimoji="0" lang="el-GR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Grande" pitchFamily="28" charset="0"/>
                          <a:cs typeface="Tahoma" pitchFamily="28" charset="0"/>
                        </a:rPr>
                        <a:t>N</a:t>
                      </a:r>
                      <a:endParaRPr kumimoji="0" lang="en-US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Grande" pitchFamily="28" charset="0"/>
                        <a:cs typeface="Tahoma" pitchFamily="2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  <a:r>
                        <a:rPr kumimoji="0" 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}</a:t>
                      </a:r>
                      <a:endParaRPr kumimoji="0" lang="en-US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  <a:r>
                        <a:rPr kumimoji="0" 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*q</a:t>
                      </a:r>
                      <a:r>
                        <a:rPr kumimoji="0" lang="en-US" sz="1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733" name="Line 41"/>
          <p:cNvSpPr>
            <a:spLocks noChangeShapeType="1"/>
          </p:cNvSpPr>
          <p:nvPr/>
        </p:nvSpPr>
        <p:spPr bwMode="auto">
          <a:xfrm>
            <a:off x="2895600" y="2438400"/>
            <a:ext cx="0" cy="388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34" name="Text Box 42"/>
          <p:cNvSpPr txBox="1">
            <a:spLocks noChangeArrowheads="1"/>
          </p:cNvSpPr>
          <p:nvPr/>
        </p:nvSpPr>
        <p:spPr bwMode="auto">
          <a:xfrm>
            <a:off x="3276600" y="2514600"/>
            <a:ext cx="790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u="sng">
                <a:solidFill>
                  <a:schemeClr val="hlink"/>
                </a:solidFill>
              </a:rPr>
              <a:t>DFA:</a:t>
            </a:r>
            <a:endParaRPr lang="en-US" sz="2000" b="1">
              <a:solidFill>
                <a:schemeClr val="hlink"/>
              </a:solidFill>
            </a:endParaRPr>
          </a:p>
        </p:txBody>
      </p:sp>
      <p:sp>
        <p:nvSpPr>
          <p:cNvPr id="29735" name="Line 88"/>
          <p:cNvSpPr>
            <a:spLocks noChangeShapeType="1"/>
          </p:cNvSpPr>
          <p:nvPr/>
        </p:nvSpPr>
        <p:spPr bwMode="auto">
          <a:xfrm>
            <a:off x="457200" y="44958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9833" name="Line 89"/>
          <p:cNvSpPr>
            <a:spLocks noChangeShapeType="1"/>
          </p:cNvSpPr>
          <p:nvPr/>
        </p:nvSpPr>
        <p:spPr bwMode="auto">
          <a:xfrm>
            <a:off x="2971800" y="44958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9836" name="Group 92"/>
          <p:cNvGraphicFramePr>
            <a:graphicFrameLocks noGrp="1"/>
          </p:cNvGraphicFramePr>
          <p:nvPr/>
        </p:nvGraphicFramePr>
        <p:xfrm>
          <a:off x="3276600" y="4038600"/>
          <a:ext cx="2667000" cy="1140778"/>
        </p:xfrm>
        <a:graphic>
          <a:graphicData uri="http://schemas.openxmlformats.org/drawingml/2006/table">
            <a:tbl>
              <a:tblPr/>
              <a:tblGrid>
                <a:gridCol w="88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8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l-G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Lucida Grande" pitchFamily="28" charset="0"/>
                          <a:cs typeface="Tahoma" pitchFamily="28" charset="0"/>
                        </a:rPr>
                        <a:t>δ</a:t>
                      </a:r>
                      <a:r>
                        <a:rPr kumimoji="0" lang="el-GR" sz="1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Lucida Grande" pitchFamily="28" charset="0"/>
                          <a:cs typeface="Tahoma" pitchFamily="28" charset="0"/>
                        </a:rPr>
                        <a:t>D</a:t>
                      </a:r>
                      <a:endParaRPr kumimoji="0" lang="en-US" sz="12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Lucida Grande" pitchFamily="28" charset="0"/>
                        <a:cs typeface="Tahoma" pitchFamily="2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[q</a:t>
                      </a:r>
                      <a:r>
                        <a:rPr kumimoji="0" lang="en-US" sz="1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[q</a:t>
                      </a:r>
                      <a:r>
                        <a:rPr kumimoji="0" lang="en-US" sz="1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]</a:t>
                      </a:r>
                      <a:endParaRPr kumimoji="0" lang="en-US" sz="12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[q</a:t>
                      </a:r>
                      <a:r>
                        <a:rPr kumimoji="0" lang="en-US" sz="1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[q</a:t>
                      </a:r>
                      <a:r>
                        <a:rPr kumimoji="0" lang="en-US" sz="1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[q</a:t>
                      </a:r>
                      <a:r>
                        <a:rPr kumimoji="0" lang="en-US" sz="1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[q</a:t>
                      </a:r>
                      <a:r>
                        <a:rPr kumimoji="0" lang="en-US" sz="1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*[q</a:t>
                      </a:r>
                      <a:r>
                        <a:rPr kumimoji="0" lang="en-US" sz="1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[q</a:t>
                      </a:r>
                      <a:r>
                        <a:rPr kumimoji="0" lang="en-US" sz="1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[q</a:t>
                      </a:r>
                      <a:r>
                        <a:rPr kumimoji="0" lang="en-US" sz="1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" name="Group 124"/>
          <p:cNvGrpSpPr>
            <a:grpSpLocks/>
          </p:cNvGrpSpPr>
          <p:nvPr/>
        </p:nvGrpSpPr>
        <p:grpSpPr bwMode="auto">
          <a:xfrm>
            <a:off x="4572000" y="2133600"/>
            <a:ext cx="2743200" cy="1371600"/>
            <a:chOff x="2880" y="1344"/>
            <a:chExt cx="1728" cy="864"/>
          </a:xfrm>
        </p:grpSpPr>
        <p:sp>
          <p:nvSpPr>
            <p:cNvPr id="29761" name="Oval 125"/>
            <p:cNvSpPr>
              <a:spLocks noChangeArrowheads="1"/>
            </p:cNvSpPr>
            <p:nvPr/>
          </p:nvSpPr>
          <p:spPr bwMode="auto">
            <a:xfrm>
              <a:off x="3024" y="1680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400" dirty="0"/>
                <a:t>[q</a:t>
              </a:r>
              <a:r>
                <a:rPr lang="en-US" sz="1400" baseline="-25000" dirty="0"/>
                <a:t>0</a:t>
              </a:r>
              <a:r>
                <a:rPr lang="en-US" sz="1400" dirty="0"/>
                <a:t>]</a:t>
              </a:r>
            </a:p>
          </p:txBody>
        </p:sp>
        <p:sp>
          <p:nvSpPr>
            <p:cNvPr id="29762" name="Line 126"/>
            <p:cNvSpPr>
              <a:spLocks noChangeShapeType="1"/>
            </p:cNvSpPr>
            <p:nvPr/>
          </p:nvSpPr>
          <p:spPr bwMode="auto">
            <a:xfrm>
              <a:off x="2880" y="177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63" name="Line 127"/>
            <p:cNvSpPr>
              <a:spLocks noChangeShapeType="1"/>
            </p:cNvSpPr>
            <p:nvPr/>
          </p:nvSpPr>
          <p:spPr bwMode="auto">
            <a:xfrm>
              <a:off x="3360" y="182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64" name="Freeform 128"/>
            <p:cNvSpPr>
              <a:spLocks/>
            </p:cNvSpPr>
            <p:nvPr/>
          </p:nvSpPr>
          <p:spPr bwMode="auto">
            <a:xfrm>
              <a:off x="3000" y="1480"/>
              <a:ext cx="256" cy="200"/>
            </a:xfrm>
            <a:custGeom>
              <a:avLst/>
              <a:gdLst>
                <a:gd name="T0" fmla="*/ 104 w 256"/>
                <a:gd name="T1" fmla="*/ 200 h 200"/>
                <a:gd name="T2" fmla="*/ 8 w 256"/>
                <a:gd name="T3" fmla="*/ 104 h 200"/>
                <a:gd name="T4" fmla="*/ 152 w 256"/>
                <a:gd name="T5" fmla="*/ 8 h 200"/>
                <a:gd name="T6" fmla="*/ 248 w 256"/>
                <a:gd name="T7" fmla="*/ 152 h 200"/>
                <a:gd name="T8" fmla="*/ 200 w 256"/>
                <a:gd name="T9" fmla="*/ 200 h 2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6"/>
                <a:gd name="T16" fmla="*/ 0 h 200"/>
                <a:gd name="T17" fmla="*/ 256 w 256"/>
                <a:gd name="T18" fmla="*/ 200 h 2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6" h="200">
                  <a:moveTo>
                    <a:pt x="104" y="200"/>
                  </a:moveTo>
                  <a:cubicBezTo>
                    <a:pt x="52" y="168"/>
                    <a:pt x="0" y="136"/>
                    <a:pt x="8" y="104"/>
                  </a:cubicBezTo>
                  <a:cubicBezTo>
                    <a:pt x="16" y="72"/>
                    <a:pt x="112" y="0"/>
                    <a:pt x="152" y="8"/>
                  </a:cubicBezTo>
                  <a:cubicBezTo>
                    <a:pt x="192" y="16"/>
                    <a:pt x="240" y="120"/>
                    <a:pt x="248" y="152"/>
                  </a:cubicBezTo>
                  <a:cubicBezTo>
                    <a:pt x="256" y="184"/>
                    <a:pt x="228" y="192"/>
                    <a:pt x="200" y="20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65" name="Text Box 129"/>
            <p:cNvSpPr txBox="1">
              <a:spLocks noChangeArrowheads="1"/>
            </p:cNvSpPr>
            <p:nvPr/>
          </p:nvSpPr>
          <p:spPr bwMode="auto">
            <a:xfrm>
              <a:off x="2928" y="1344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1</a:t>
              </a:r>
            </a:p>
          </p:txBody>
        </p:sp>
        <p:sp>
          <p:nvSpPr>
            <p:cNvPr id="29766" name="Text Box 130"/>
            <p:cNvSpPr txBox="1">
              <a:spLocks noChangeArrowheads="1"/>
            </p:cNvSpPr>
            <p:nvPr/>
          </p:nvSpPr>
          <p:spPr bwMode="auto">
            <a:xfrm>
              <a:off x="3360" y="1632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0</a:t>
              </a:r>
            </a:p>
          </p:txBody>
        </p:sp>
        <p:sp>
          <p:nvSpPr>
            <p:cNvPr id="29767" name="Oval 131"/>
            <p:cNvSpPr>
              <a:spLocks noChangeArrowheads="1"/>
            </p:cNvSpPr>
            <p:nvPr/>
          </p:nvSpPr>
          <p:spPr bwMode="auto">
            <a:xfrm>
              <a:off x="3600" y="1680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400" dirty="0"/>
                <a:t>[q</a:t>
              </a:r>
              <a:r>
                <a:rPr lang="en-US" sz="1400" baseline="-25000" dirty="0"/>
                <a:t>0</a:t>
              </a:r>
              <a:r>
                <a:rPr lang="en-US" sz="1400" dirty="0"/>
                <a:t>,q</a:t>
              </a:r>
              <a:r>
                <a:rPr lang="en-US" sz="1400" baseline="-25000" dirty="0"/>
                <a:t>1</a:t>
              </a:r>
              <a:r>
                <a:rPr lang="en-US" sz="1400" dirty="0"/>
                <a:t>]</a:t>
              </a:r>
            </a:p>
          </p:txBody>
        </p:sp>
        <p:sp>
          <p:nvSpPr>
            <p:cNvPr id="29768" name="Line 132"/>
            <p:cNvSpPr>
              <a:spLocks noChangeShapeType="1"/>
            </p:cNvSpPr>
            <p:nvPr/>
          </p:nvSpPr>
          <p:spPr bwMode="auto">
            <a:xfrm>
              <a:off x="3936" y="182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69" name="Text Box 133"/>
            <p:cNvSpPr txBox="1">
              <a:spLocks noChangeArrowheads="1"/>
            </p:cNvSpPr>
            <p:nvPr/>
          </p:nvSpPr>
          <p:spPr bwMode="auto">
            <a:xfrm>
              <a:off x="3936" y="1632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1</a:t>
              </a:r>
            </a:p>
          </p:txBody>
        </p:sp>
        <p:sp>
          <p:nvSpPr>
            <p:cNvPr id="29770" name="Oval 134"/>
            <p:cNvSpPr>
              <a:spLocks noChangeArrowheads="1"/>
            </p:cNvSpPr>
            <p:nvPr/>
          </p:nvSpPr>
          <p:spPr bwMode="auto">
            <a:xfrm>
              <a:off x="4224" y="1680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400" dirty="0"/>
                <a:t>[q</a:t>
              </a:r>
              <a:r>
                <a:rPr lang="en-US" sz="1400" baseline="-25000" dirty="0"/>
                <a:t>0</a:t>
              </a:r>
              <a:r>
                <a:rPr lang="en-US" sz="1400" dirty="0"/>
                <a:t>,q</a:t>
              </a:r>
              <a:r>
                <a:rPr lang="en-US" sz="1400" baseline="-25000" dirty="0"/>
                <a:t>2</a:t>
              </a:r>
              <a:r>
                <a:rPr lang="en-US" sz="1400" dirty="0"/>
                <a:t>]</a:t>
              </a:r>
            </a:p>
          </p:txBody>
        </p:sp>
        <p:sp>
          <p:nvSpPr>
            <p:cNvPr id="29771" name="Oval 135"/>
            <p:cNvSpPr>
              <a:spLocks noChangeArrowheads="1"/>
            </p:cNvSpPr>
            <p:nvPr/>
          </p:nvSpPr>
          <p:spPr bwMode="auto">
            <a:xfrm>
              <a:off x="4176" y="1632"/>
              <a:ext cx="432" cy="432"/>
            </a:xfrm>
            <a:prstGeom prst="ellipse">
              <a:avLst/>
            </a:prstGeom>
            <a:solidFill>
              <a:schemeClr val="accent1">
                <a:alpha val="10196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72" name="Freeform 136"/>
            <p:cNvSpPr>
              <a:spLocks/>
            </p:cNvSpPr>
            <p:nvPr/>
          </p:nvSpPr>
          <p:spPr bwMode="auto">
            <a:xfrm>
              <a:off x="3624" y="1480"/>
              <a:ext cx="256" cy="200"/>
            </a:xfrm>
            <a:custGeom>
              <a:avLst/>
              <a:gdLst>
                <a:gd name="T0" fmla="*/ 104 w 256"/>
                <a:gd name="T1" fmla="*/ 200 h 200"/>
                <a:gd name="T2" fmla="*/ 8 w 256"/>
                <a:gd name="T3" fmla="*/ 104 h 200"/>
                <a:gd name="T4" fmla="*/ 152 w 256"/>
                <a:gd name="T5" fmla="*/ 8 h 200"/>
                <a:gd name="T6" fmla="*/ 248 w 256"/>
                <a:gd name="T7" fmla="*/ 152 h 200"/>
                <a:gd name="T8" fmla="*/ 200 w 256"/>
                <a:gd name="T9" fmla="*/ 200 h 2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6"/>
                <a:gd name="T16" fmla="*/ 0 h 200"/>
                <a:gd name="T17" fmla="*/ 256 w 256"/>
                <a:gd name="T18" fmla="*/ 200 h 2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6" h="200">
                  <a:moveTo>
                    <a:pt x="104" y="200"/>
                  </a:moveTo>
                  <a:cubicBezTo>
                    <a:pt x="52" y="168"/>
                    <a:pt x="0" y="136"/>
                    <a:pt x="8" y="104"/>
                  </a:cubicBezTo>
                  <a:cubicBezTo>
                    <a:pt x="16" y="72"/>
                    <a:pt x="112" y="0"/>
                    <a:pt x="152" y="8"/>
                  </a:cubicBezTo>
                  <a:cubicBezTo>
                    <a:pt x="192" y="16"/>
                    <a:pt x="240" y="120"/>
                    <a:pt x="248" y="152"/>
                  </a:cubicBezTo>
                  <a:cubicBezTo>
                    <a:pt x="256" y="184"/>
                    <a:pt x="228" y="192"/>
                    <a:pt x="200" y="20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73" name="Text Box 137"/>
            <p:cNvSpPr txBox="1">
              <a:spLocks noChangeArrowheads="1"/>
            </p:cNvSpPr>
            <p:nvPr/>
          </p:nvSpPr>
          <p:spPr bwMode="auto">
            <a:xfrm>
              <a:off x="3552" y="1344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0</a:t>
              </a:r>
            </a:p>
          </p:txBody>
        </p:sp>
        <p:sp>
          <p:nvSpPr>
            <p:cNvPr id="29774" name="Freeform 138"/>
            <p:cNvSpPr>
              <a:spLocks/>
            </p:cNvSpPr>
            <p:nvPr/>
          </p:nvSpPr>
          <p:spPr bwMode="auto">
            <a:xfrm>
              <a:off x="3936" y="1920"/>
              <a:ext cx="240" cy="96"/>
            </a:xfrm>
            <a:custGeom>
              <a:avLst/>
              <a:gdLst>
                <a:gd name="T0" fmla="*/ 240 w 240"/>
                <a:gd name="T1" fmla="*/ 0 h 96"/>
                <a:gd name="T2" fmla="*/ 96 w 240"/>
                <a:gd name="T3" fmla="*/ 96 h 96"/>
                <a:gd name="T4" fmla="*/ 0 w 240"/>
                <a:gd name="T5" fmla="*/ 0 h 96"/>
                <a:gd name="T6" fmla="*/ 0 60000 65536"/>
                <a:gd name="T7" fmla="*/ 0 60000 65536"/>
                <a:gd name="T8" fmla="*/ 0 60000 65536"/>
                <a:gd name="T9" fmla="*/ 0 w 240"/>
                <a:gd name="T10" fmla="*/ 0 h 96"/>
                <a:gd name="T11" fmla="*/ 240 w 240"/>
                <a:gd name="T12" fmla="*/ 96 h 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0" h="96">
                  <a:moveTo>
                    <a:pt x="240" y="0"/>
                  </a:moveTo>
                  <a:cubicBezTo>
                    <a:pt x="188" y="48"/>
                    <a:pt x="136" y="96"/>
                    <a:pt x="96" y="96"/>
                  </a:cubicBezTo>
                  <a:cubicBezTo>
                    <a:pt x="56" y="96"/>
                    <a:pt x="28" y="48"/>
                    <a:pt x="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75" name="Text Box 139"/>
            <p:cNvSpPr txBox="1">
              <a:spLocks noChangeArrowheads="1"/>
            </p:cNvSpPr>
            <p:nvPr/>
          </p:nvSpPr>
          <p:spPr bwMode="auto">
            <a:xfrm>
              <a:off x="3984" y="1824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0</a:t>
              </a:r>
            </a:p>
          </p:txBody>
        </p:sp>
        <p:sp>
          <p:nvSpPr>
            <p:cNvPr id="29776" name="Freeform 140"/>
            <p:cNvSpPr>
              <a:spLocks/>
            </p:cNvSpPr>
            <p:nvPr/>
          </p:nvSpPr>
          <p:spPr bwMode="auto">
            <a:xfrm>
              <a:off x="3264" y="2016"/>
              <a:ext cx="1008" cy="144"/>
            </a:xfrm>
            <a:custGeom>
              <a:avLst/>
              <a:gdLst>
                <a:gd name="T0" fmla="*/ 1008 w 1008"/>
                <a:gd name="T1" fmla="*/ 0 h 144"/>
                <a:gd name="T2" fmla="*/ 384 w 1008"/>
                <a:gd name="T3" fmla="*/ 144 h 144"/>
                <a:gd name="T4" fmla="*/ 0 w 1008"/>
                <a:gd name="T5" fmla="*/ 0 h 144"/>
                <a:gd name="T6" fmla="*/ 0 60000 65536"/>
                <a:gd name="T7" fmla="*/ 0 60000 65536"/>
                <a:gd name="T8" fmla="*/ 0 60000 65536"/>
                <a:gd name="T9" fmla="*/ 0 w 1008"/>
                <a:gd name="T10" fmla="*/ 0 h 144"/>
                <a:gd name="T11" fmla="*/ 1008 w 1008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08" h="144">
                  <a:moveTo>
                    <a:pt x="1008" y="0"/>
                  </a:moveTo>
                  <a:cubicBezTo>
                    <a:pt x="780" y="72"/>
                    <a:pt x="552" y="144"/>
                    <a:pt x="384" y="144"/>
                  </a:cubicBezTo>
                  <a:cubicBezTo>
                    <a:pt x="216" y="144"/>
                    <a:pt x="108" y="72"/>
                    <a:pt x="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77" name="Text Box 141"/>
            <p:cNvSpPr txBox="1">
              <a:spLocks noChangeArrowheads="1"/>
            </p:cNvSpPr>
            <p:nvPr/>
          </p:nvSpPr>
          <p:spPr bwMode="auto">
            <a:xfrm>
              <a:off x="3504" y="2016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1</a:t>
              </a:r>
            </a:p>
          </p:txBody>
        </p:sp>
      </p:grpSp>
      <p:sp>
        <p:nvSpPr>
          <p:cNvPr id="29758" name="Text Box 142"/>
          <p:cNvSpPr txBox="1">
            <a:spLocks noChangeArrowheads="1"/>
          </p:cNvSpPr>
          <p:nvPr/>
        </p:nvSpPr>
        <p:spPr bwMode="auto">
          <a:xfrm>
            <a:off x="4724400" y="5546725"/>
            <a:ext cx="4078288" cy="10064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u="sng"/>
              <a:t>Main Idea:</a:t>
            </a:r>
            <a:r>
              <a:rPr lang="en-US" sz="2000"/>
              <a:t>  </a:t>
            </a:r>
          </a:p>
          <a:p>
            <a:r>
              <a:rPr lang="en-US" sz="2000"/>
              <a:t>	Introduce states as you go</a:t>
            </a:r>
          </a:p>
          <a:p>
            <a:r>
              <a:rPr lang="en-US" sz="2000"/>
              <a:t>	(on a need basis)</a:t>
            </a:r>
          </a:p>
        </p:txBody>
      </p:sp>
      <p:sp>
        <p:nvSpPr>
          <p:cNvPr id="159904" name="Rectangle 160"/>
          <p:cNvSpPr>
            <a:spLocks noChangeArrowheads="1"/>
          </p:cNvSpPr>
          <p:nvPr/>
        </p:nvSpPr>
        <p:spPr bwMode="auto">
          <a:xfrm>
            <a:off x="3124200" y="4572000"/>
            <a:ext cx="29718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9905" name="Rectangle 161"/>
          <p:cNvSpPr>
            <a:spLocks noChangeArrowheads="1"/>
          </p:cNvSpPr>
          <p:nvPr/>
        </p:nvSpPr>
        <p:spPr bwMode="auto">
          <a:xfrm>
            <a:off x="3200400" y="4876800"/>
            <a:ext cx="2895600" cy="381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9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" dur="500"/>
                                        <p:tgtEl>
                                          <p:spTgt spid="1599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" dur="500"/>
                                        <p:tgtEl>
                                          <p:spTgt spid="1599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833" grpId="0" animBg="1"/>
      <p:bldP spid="159904" grpId="0" animBg="1"/>
      <p:bldP spid="15990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20E3E35-DCAD-4BFE-85F2-CA9A37DC70CA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/>
              <a:t>Correctness of subset construction</a:t>
            </a:r>
            <a:endParaRPr lang="en-US"/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8" charset="2"/>
              <a:buNone/>
            </a:pPr>
            <a:r>
              <a:rPr lang="en-US" i="1" u="sng">
                <a:solidFill>
                  <a:srgbClr val="00B050"/>
                </a:solidFill>
              </a:rPr>
              <a:t>Theorem:</a:t>
            </a:r>
            <a:r>
              <a:rPr lang="en-US" i="1">
                <a:solidFill>
                  <a:srgbClr val="00B050"/>
                </a:solidFill>
              </a:rPr>
              <a:t> If D is the DFA constructed from NFA N by subset construction, then L(D)=L(N)</a:t>
            </a:r>
          </a:p>
          <a:p>
            <a:pPr eaLnBrk="1" hangingPunct="1"/>
            <a:r>
              <a:rPr lang="en-US" u="sng"/>
              <a:t>Proof:</a:t>
            </a:r>
            <a:endParaRPr lang="en-US"/>
          </a:p>
          <a:p>
            <a:pPr lvl="1" eaLnBrk="1" hangingPunct="1"/>
            <a:r>
              <a:rPr lang="en-US"/>
              <a:t>Show that </a:t>
            </a:r>
            <a:r>
              <a:rPr lang="el-GR">
                <a:solidFill>
                  <a:srgbClr val="FF0000"/>
                </a:solidFill>
                <a:latin typeface="Lucida Grande" pitchFamily="28" charset="0"/>
                <a:cs typeface="Tahoma" pitchFamily="28" charset="0"/>
              </a:rPr>
              <a:t>δ</a:t>
            </a:r>
            <a:r>
              <a:rPr lang="el-GR" baseline="-25000">
                <a:solidFill>
                  <a:srgbClr val="FF0000"/>
                </a:solidFill>
                <a:latin typeface="Lucida Grande" pitchFamily="28" charset="0"/>
                <a:cs typeface="Tahoma" pitchFamily="28" charset="0"/>
              </a:rPr>
              <a:t>D</a:t>
            </a:r>
            <a:r>
              <a:rPr lang="en-US"/>
              <a:t>({q</a:t>
            </a:r>
            <a:r>
              <a:rPr lang="en-US" baseline="-25000"/>
              <a:t>0</a:t>
            </a:r>
            <a:r>
              <a:rPr lang="en-US"/>
              <a:t>},w) </a:t>
            </a:r>
            <a:r>
              <a:rPr lang="en-US">
                <a:sym typeface="Symbol" pitchFamily="28" charset="2"/>
              </a:rPr>
              <a:t>≡  </a:t>
            </a:r>
            <a:r>
              <a:rPr lang="el-GR">
                <a:solidFill>
                  <a:srgbClr val="0070C0"/>
                </a:solidFill>
                <a:latin typeface="Lucida Grande" pitchFamily="28" charset="0"/>
                <a:cs typeface="Tahoma" pitchFamily="28" charset="0"/>
              </a:rPr>
              <a:t>δ</a:t>
            </a:r>
            <a:r>
              <a:rPr lang="el-GR" baseline="-25000">
                <a:solidFill>
                  <a:srgbClr val="0070C0"/>
                </a:solidFill>
                <a:latin typeface="Lucida Grande" pitchFamily="28" charset="0"/>
                <a:cs typeface="Tahoma" pitchFamily="28" charset="0"/>
              </a:rPr>
              <a:t>N</a:t>
            </a:r>
            <a:r>
              <a:rPr lang="en-US"/>
              <a:t>(q</a:t>
            </a:r>
            <a:r>
              <a:rPr lang="en-US" baseline="-25000"/>
              <a:t>0</a:t>
            </a:r>
            <a:r>
              <a:rPr lang="en-US"/>
              <a:t>,w} , for all w</a:t>
            </a:r>
          </a:p>
          <a:p>
            <a:pPr lvl="1" eaLnBrk="1" hangingPunct="1"/>
            <a:r>
              <a:rPr lang="en-US"/>
              <a:t>Using induction on w’s length:</a:t>
            </a:r>
          </a:p>
          <a:p>
            <a:pPr lvl="2" eaLnBrk="1" hangingPunct="1"/>
            <a:r>
              <a:rPr lang="en-US"/>
              <a:t>Let w = xa</a:t>
            </a:r>
          </a:p>
          <a:p>
            <a:pPr lvl="2" eaLnBrk="1" hangingPunct="1"/>
            <a:r>
              <a:rPr lang="el-GR">
                <a:solidFill>
                  <a:srgbClr val="FF0000"/>
                </a:solidFill>
                <a:latin typeface="Lucida Grande" pitchFamily="28" charset="0"/>
                <a:cs typeface="Tahoma" pitchFamily="28" charset="0"/>
              </a:rPr>
              <a:t>δ</a:t>
            </a:r>
            <a:r>
              <a:rPr lang="el-GR" baseline="-25000">
                <a:solidFill>
                  <a:srgbClr val="FF0000"/>
                </a:solidFill>
                <a:latin typeface="Lucida Grande" pitchFamily="28" charset="0"/>
                <a:cs typeface="Tahoma" pitchFamily="28" charset="0"/>
              </a:rPr>
              <a:t>D</a:t>
            </a:r>
            <a:r>
              <a:rPr lang="en-US"/>
              <a:t>({q</a:t>
            </a:r>
            <a:r>
              <a:rPr lang="en-US" baseline="-25000"/>
              <a:t>0</a:t>
            </a:r>
            <a:r>
              <a:rPr lang="en-US"/>
              <a:t>},xa) </a:t>
            </a:r>
            <a:r>
              <a:rPr lang="en-US">
                <a:sym typeface="Symbol" pitchFamily="28" charset="2"/>
              </a:rPr>
              <a:t>≡ </a:t>
            </a:r>
            <a:r>
              <a:rPr lang="el-GR">
                <a:solidFill>
                  <a:srgbClr val="FF0000"/>
                </a:solidFill>
                <a:latin typeface="Lucida Grande" pitchFamily="28" charset="0"/>
                <a:cs typeface="Tahoma" pitchFamily="28" charset="0"/>
              </a:rPr>
              <a:t>δ</a:t>
            </a:r>
            <a:r>
              <a:rPr lang="el-GR" baseline="-25000">
                <a:solidFill>
                  <a:srgbClr val="FF0000"/>
                </a:solidFill>
                <a:latin typeface="Lucida Grande" pitchFamily="28" charset="0"/>
                <a:cs typeface="Tahoma" pitchFamily="28" charset="0"/>
              </a:rPr>
              <a:t>D</a:t>
            </a:r>
            <a:r>
              <a:rPr lang="en-US"/>
              <a:t>( </a:t>
            </a:r>
            <a:r>
              <a:rPr lang="el-GR">
                <a:solidFill>
                  <a:srgbClr val="0070C0"/>
                </a:solidFill>
                <a:latin typeface="Lucida Grande" pitchFamily="28" charset="0"/>
                <a:cs typeface="Tahoma" pitchFamily="28" charset="0"/>
              </a:rPr>
              <a:t>δ</a:t>
            </a:r>
            <a:r>
              <a:rPr lang="el-GR" baseline="-25000">
                <a:solidFill>
                  <a:srgbClr val="0070C0"/>
                </a:solidFill>
                <a:latin typeface="Lucida Grande" pitchFamily="28" charset="0"/>
                <a:cs typeface="Tahoma" pitchFamily="28" charset="0"/>
              </a:rPr>
              <a:t>N</a:t>
            </a:r>
            <a:r>
              <a:rPr lang="en-US"/>
              <a:t>(q</a:t>
            </a:r>
            <a:r>
              <a:rPr lang="en-US" baseline="-25000"/>
              <a:t>0</a:t>
            </a:r>
            <a:r>
              <a:rPr lang="en-US"/>
              <a:t>,x}, a ) </a:t>
            </a:r>
            <a:r>
              <a:rPr lang="en-US">
                <a:sym typeface="Symbol" pitchFamily="28" charset="2"/>
              </a:rPr>
              <a:t>≡</a:t>
            </a:r>
            <a:r>
              <a:rPr lang="en-US"/>
              <a:t> </a:t>
            </a:r>
            <a:r>
              <a:rPr lang="el-GR">
                <a:solidFill>
                  <a:srgbClr val="0070C0"/>
                </a:solidFill>
                <a:latin typeface="Lucida Grande" pitchFamily="28" charset="0"/>
                <a:cs typeface="Tahoma" pitchFamily="28" charset="0"/>
              </a:rPr>
              <a:t>δ</a:t>
            </a:r>
            <a:r>
              <a:rPr lang="el-GR" baseline="-25000">
                <a:solidFill>
                  <a:srgbClr val="0070C0"/>
                </a:solidFill>
                <a:latin typeface="Lucida Grande" pitchFamily="28" charset="0"/>
                <a:cs typeface="Tahoma" pitchFamily="28" charset="0"/>
              </a:rPr>
              <a:t>N</a:t>
            </a:r>
            <a:r>
              <a:rPr lang="en-US"/>
              <a:t>(q</a:t>
            </a:r>
            <a:r>
              <a:rPr lang="en-US" baseline="-25000"/>
              <a:t>0</a:t>
            </a:r>
            <a:r>
              <a:rPr lang="en-US"/>
              <a:t>,w}</a:t>
            </a:r>
          </a:p>
        </p:txBody>
      </p:sp>
      <p:grpSp>
        <p:nvGrpSpPr>
          <p:cNvPr id="30725" name="Group 8"/>
          <p:cNvGrpSpPr>
            <a:grpSpLocks/>
          </p:cNvGrpSpPr>
          <p:nvPr/>
        </p:nvGrpSpPr>
        <p:grpSpPr bwMode="auto">
          <a:xfrm>
            <a:off x="3733800" y="4114800"/>
            <a:ext cx="152400" cy="76200"/>
            <a:chOff x="144" y="2784"/>
            <a:chExt cx="96" cy="48"/>
          </a:xfrm>
        </p:grpSpPr>
        <p:sp>
          <p:nvSpPr>
            <p:cNvPr id="30738" name="Line 6"/>
            <p:cNvSpPr>
              <a:spLocks noChangeShapeType="1"/>
            </p:cNvSpPr>
            <p:nvPr/>
          </p:nvSpPr>
          <p:spPr bwMode="auto">
            <a:xfrm flipV="1">
              <a:off x="144" y="2784"/>
              <a:ext cx="4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9" name="Line 7"/>
            <p:cNvSpPr>
              <a:spLocks noChangeShapeType="1"/>
            </p:cNvSpPr>
            <p:nvPr/>
          </p:nvSpPr>
          <p:spPr bwMode="auto">
            <a:xfrm>
              <a:off x="192" y="2784"/>
              <a:ext cx="4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726" name="Group 9"/>
          <p:cNvGrpSpPr>
            <a:grpSpLocks/>
          </p:cNvGrpSpPr>
          <p:nvPr/>
        </p:nvGrpSpPr>
        <p:grpSpPr bwMode="auto">
          <a:xfrm>
            <a:off x="5715000" y="4114800"/>
            <a:ext cx="152400" cy="76200"/>
            <a:chOff x="144" y="2784"/>
            <a:chExt cx="96" cy="48"/>
          </a:xfrm>
        </p:grpSpPr>
        <p:sp>
          <p:nvSpPr>
            <p:cNvPr id="30736" name="Line 10"/>
            <p:cNvSpPr>
              <a:spLocks noChangeShapeType="1"/>
            </p:cNvSpPr>
            <p:nvPr/>
          </p:nvSpPr>
          <p:spPr bwMode="auto">
            <a:xfrm flipV="1">
              <a:off x="144" y="2784"/>
              <a:ext cx="4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7" name="Line 11"/>
            <p:cNvSpPr>
              <a:spLocks noChangeShapeType="1"/>
            </p:cNvSpPr>
            <p:nvPr/>
          </p:nvSpPr>
          <p:spPr bwMode="auto">
            <a:xfrm>
              <a:off x="192" y="2784"/>
              <a:ext cx="4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727" name="Group 12"/>
          <p:cNvGrpSpPr>
            <a:grpSpLocks/>
          </p:cNvGrpSpPr>
          <p:nvPr/>
        </p:nvGrpSpPr>
        <p:grpSpPr bwMode="auto">
          <a:xfrm>
            <a:off x="2438400" y="5562600"/>
            <a:ext cx="152400" cy="76200"/>
            <a:chOff x="144" y="2784"/>
            <a:chExt cx="96" cy="48"/>
          </a:xfrm>
        </p:grpSpPr>
        <p:sp>
          <p:nvSpPr>
            <p:cNvPr id="30734" name="Line 13"/>
            <p:cNvSpPr>
              <a:spLocks noChangeShapeType="1"/>
            </p:cNvSpPr>
            <p:nvPr/>
          </p:nvSpPr>
          <p:spPr bwMode="auto">
            <a:xfrm flipV="1">
              <a:off x="144" y="2784"/>
              <a:ext cx="4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5" name="Line 14"/>
            <p:cNvSpPr>
              <a:spLocks noChangeShapeType="1"/>
            </p:cNvSpPr>
            <p:nvPr/>
          </p:nvSpPr>
          <p:spPr bwMode="auto">
            <a:xfrm>
              <a:off x="192" y="2784"/>
              <a:ext cx="4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728" name="Group 15"/>
          <p:cNvGrpSpPr>
            <a:grpSpLocks/>
          </p:cNvGrpSpPr>
          <p:nvPr/>
        </p:nvGrpSpPr>
        <p:grpSpPr bwMode="auto">
          <a:xfrm>
            <a:off x="4648200" y="5562600"/>
            <a:ext cx="152400" cy="76200"/>
            <a:chOff x="144" y="2784"/>
            <a:chExt cx="96" cy="48"/>
          </a:xfrm>
        </p:grpSpPr>
        <p:sp>
          <p:nvSpPr>
            <p:cNvPr id="30732" name="Line 16"/>
            <p:cNvSpPr>
              <a:spLocks noChangeShapeType="1"/>
            </p:cNvSpPr>
            <p:nvPr/>
          </p:nvSpPr>
          <p:spPr bwMode="auto">
            <a:xfrm flipV="1">
              <a:off x="144" y="2784"/>
              <a:ext cx="4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3" name="Line 17"/>
            <p:cNvSpPr>
              <a:spLocks noChangeShapeType="1"/>
            </p:cNvSpPr>
            <p:nvPr/>
          </p:nvSpPr>
          <p:spPr bwMode="auto">
            <a:xfrm>
              <a:off x="192" y="2784"/>
              <a:ext cx="4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729" name="Group 18"/>
          <p:cNvGrpSpPr>
            <a:grpSpLocks/>
          </p:cNvGrpSpPr>
          <p:nvPr/>
        </p:nvGrpSpPr>
        <p:grpSpPr bwMode="auto">
          <a:xfrm>
            <a:off x="6553200" y="5562600"/>
            <a:ext cx="152400" cy="76200"/>
            <a:chOff x="144" y="2784"/>
            <a:chExt cx="96" cy="48"/>
          </a:xfrm>
        </p:grpSpPr>
        <p:sp>
          <p:nvSpPr>
            <p:cNvPr id="30730" name="Line 19"/>
            <p:cNvSpPr>
              <a:spLocks noChangeShapeType="1"/>
            </p:cNvSpPr>
            <p:nvPr/>
          </p:nvSpPr>
          <p:spPr bwMode="auto">
            <a:xfrm flipV="1">
              <a:off x="144" y="2784"/>
              <a:ext cx="4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1" name="Line 20"/>
            <p:cNvSpPr>
              <a:spLocks noChangeShapeType="1"/>
            </p:cNvSpPr>
            <p:nvPr/>
          </p:nvSpPr>
          <p:spPr bwMode="auto">
            <a:xfrm>
              <a:off x="192" y="2784"/>
              <a:ext cx="4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977755B-8C61-4F85-A0FD-D2778C733DA1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 bad case where #states(DFA)&gt;&gt;#states(NFA)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L = {w | w is a binary string s.t., the k</a:t>
            </a:r>
            <a:r>
              <a:rPr lang="en-US" sz="2800" baseline="30000"/>
              <a:t>th</a:t>
            </a:r>
            <a:r>
              <a:rPr lang="en-US" sz="2800"/>
              <a:t> symbol from its end is a 1}</a:t>
            </a:r>
          </a:p>
          <a:p>
            <a:pPr eaLnBrk="1" hangingPunct="1">
              <a:lnSpc>
                <a:spcPct val="90000"/>
              </a:lnSpc>
            </a:pPr>
            <a:endParaRPr lang="en-US" sz="2800"/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NFA has k+1 states</a:t>
            </a:r>
          </a:p>
          <a:p>
            <a:pPr lvl="1" eaLnBrk="1" hangingPunct="1">
              <a:lnSpc>
                <a:spcPct val="90000"/>
              </a:lnSpc>
            </a:pPr>
            <a:endParaRPr lang="en-US" sz="2400"/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But an equivalent DFA needs to have at least 2</a:t>
            </a:r>
            <a:r>
              <a:rPr lang="en-US" sz="2400" baseline="30000"/>
              <a:t>k</a:t>
            </a:r>
            <a:r>
              <a:rPr lang="en-US" sz="2400"/>
              <a:t> states</a:t>
            </a:r>
            <a:br>
              <a:rPr lang="en-US" sz="2400"/>
            </a:br>
            <a:endParaRPr lang="en-US" sz="2400"/>
          </a:p>
          <a:p>
            <a:pPr eaLnBrk="1" hangingPunct="1">
              <a:lnSpc>
                <a:spcPct val="90000"/>
              </a:lnSpc>
              <a:buFont typeface="Wingdings" pitchFamily="28" charset="2"/>
              <a:buNone/>
            </a:pPr>
            <a:r>
              <a:rPr lang="en-US" sz="2800" u="sng"/>
              <a:t>(Pigeon hole principle)</a:t>
            </a:r>
            <a:endParaRPr lang="en-US" sz="2800"/>
          </a:p>
          <a:p>
            <a:pPr lvl="1" eaLnBrk="1" hangingPunct="1">
              <a:lnSpc>
                <a:spcPct val="90000"/>
              </a:lnSpc>
            </a:pPr>
            <a:r>
              <a:rPr lang="en-US" sz="2400" i="1"/>
              <a:t>m</a:t>
            </a:r>
            <a:r>
              <a:rPr lang="en-US" sz="2400"/>
              <a:t> holes and &gt;</a:t>
            </a:r>
            <a:r>
              <a:rPr lang="en-US" sz="2400" i="1"/>
              <a:t>m</a:t>
            </a:r>
            <a:r>
              <a:rPr lang="en-US" sz="2400"/>
              <a:t> pigeons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/>
              <a:t>=&gt; at least one hole has to contain two or more pigeons</a:t>
            </a:r>
          </a:p>
          <a:p>
            <a:pPr lvl="1" eaLnBrk="1" hangingPunct="1">
              <a:lnSpc>
                <a:spcPct val="90000"/>
              </a:lnSpc>
            </a:pPr>
            <a:endParaRPr lang="en-US" sz="24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A5BB247-3133-49FB-B94E-44D6880BD7E1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Applications 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/>
              <a:t>Text indexing </a:t>
            </a:r>
          </a:p>
          <a:p>
            <a:pPr lvl="1" eaLnBrk="1" hangingPunct="1"/>
            <a:r>
              <a:rPr lang="en-US" sz="2400"/>
              <a:t>inverted indexing</a:t>
            </a:r>
          </a:p>
          <a:p>
            <a:pPr lvl="1" eaLnBrk="1" hangingPunct="1"/>
            <a:r>
              <a:rPr lang="en-US" sz="2400"/>
              <a:t>For each unique word in the database, store all locations that contain it using an NFA or a DFA</a:t>
            </a:r>
          </a:p>
          <a:p>
            <a:pPr eaLnBrk="1" hangingPunct="1"/>
            <a:r>
              <a:rPr lang="en-US" sz="2800"/>
              <a:t>Find pattern P in text T</a:t>
            </a:r>
          </a:p>
          <a:p>
            <a:pPr lvl="1" eaLnBrk="1" hangingPunct="1"/>
            <a:r>
              <a:rPr lang="en-US" sz="2400"/>
              <a:t>Example: Google querying</a:t>
            </a:r>
          </a:p>
          <a:p>
            <a:pPr eaLnBrk="1" hangingPunct="1"/>
            <a:r>
              <a:rPr lang="en-US" sz="2800"/>
              <a:t>Extensions of this idea:</a:t>
            </a:r>
          </a:p>
          <a:p>
            <a:pPr lvl="1" eaLnBrk="1" hangingPunct="1"/>
            <a:r>
              <a:rPr lang="en-US" sz="2400"/>
              <a:t>PATRICIA tree, suffix tree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few subtle properties of DFAs and NFAs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>
                <a:solidFill>
                  <a:schemeClr val="tx2"/>
                </a:solidFill>
              </a:rPr>
              <a:t>The machine never really terminates. </a:t>
            </a:r>
          </a:p>
          <a:p>
            <a:pPr lvl="1"/>
            <a:r>
              <a:rPr lang="en-US" sz="2000">
                <a:solidFill>
                  <a:schemeClr val="tx2"/>
                </a:solidFill>
              </a:rPr>
              <a:t>It is always waiting for the next input symbol or making transitions.</a:t>
            </a:r>
          </a:p>
          <a:p>
            <a:r>
              <a:rPr lang="en-US" sz="2000">
                <a:solidFill>
                  <a:srgbClr val="FF0000"/>
                </a:solidFill>
              </a:rPr>
              <a:t>The machine decides when to </a:t>
            </a:r>
            <a:r>
              <a:rPr lang="en-US" sz="2000" u="sng">
                <a:solidFill>
                  <a:srgbClr val="FF0000"/>
                </a:solidFill>
              </a:rPr>
              <a:t>consume</a:t>
            </a:r>
            <a:r>
              <a:rPr lang="en-US" sz="2000">
                <a:solidFill>
                  <a:srgbClr val="FF0000"/>
                </a:solidFill>
              </a:rPr>
              <a:t> the next symbol from the input and when to </a:t>
            </a:r>
            <a:r>
              <a:rPr lang="en-US" sz="2000" u="sng">
                <a:solidFill>
                  <a:srgbClr val="FF0000"/>
                </a:solidFill>
              </a:rPr>
              <a:t>ignore</a:t>
            </a:r>
            <a:r>
              <a:rPr lang="en-US" sz="2000">
                <a:solidFill>
                  <a:srgbClr val="FF0000"/>
                </a:solidFill>
              </a:rPr>
              <a:t> it.</a:t>
            </a:r>
          </a:p>
          <a:p>
            <a:pPr lvl="1"/>
            <a:r>
              <a:rPr lang="en-US" sz="2000">
                <a:solidFill>
                  <a:srgbClr val="FF0000"/>
                </a:solidFill>
              </a:rPr>
              <a:t>(but the machine can never </a:t>
            </a:r>
            <a:r>
              <a:rPr lang="en-US" sz="2000" u="sng">
                <a:solidFill>
                  <a:srgbClr val="FF0000"/>
                </a:solidFill>
              </a:rPr>
              <a:t>skip </a:t>
            </a:r>
            <a:r>
              <a:rPr lang="en-US" sz="2000">
                <a:solidFill>
                  <a:srgbClr val="FF0000"/>
                </a:solidFill>
              </a:rPr>
              <a:t>a symbol)</a:t>
            </a:r>
          </a:p>
          <a:p>
            <a:r>
              <a:rPr lang="en-US" sz="2000">
                <a:solidFill>
                  <a:srgbClr val="7030A0"/>
                </a:solidFill>
              </a:rPr>
              <a:t>=&gt; A transition can happen even </a:t>
            </a:r>
            <a:r>
              <a:rPr lang="en-US" sz="2000" i="1">
                <a:solidFill>
                  <a:srgbClr val="7030A0"/>
                </a:solidFill>
              </a:rPr>
              <a:t>without </a:t>
            </a:r>
            <a:r>
              <a:rPr lang="en-US" sz="2000">
                <a:solidFill>
                  <a:srgbClr val="7030A0"/>
                </a:solidFill>
              </a:rPr>
              <a:t>really consuming an input symbol (think of consuming </a:t>
            </a:r>
            <a:r>
              <a:rPr lang="en-US" sz="2000">
                <a:solidFill>
                  <a:srgbClr val="7030A0"/>
                </a:solidFill>
                <a:sym typeface="Symbol" pitchFamily="28" charset="2"/>
              </a:rPr>
              <a:t> as a free token) – if this happens, then it becomes an -NFA (see next few slides).</a:t>
            </a:r>
          </a:p>
          <a:p>
            <a:r>
              <a:rPr lang="en-US" sz="2000">
                <a:solidFill>
                  <a:srgbClr val="C00000"/>
                </a:solidFill>
                <a:sym typeface="Symbol" pitchFamily="28" charset="2"/>
              </a:rPr>
              <a:t>A single transition </a:t>
            </a:r>
            <a:r>
              <a:rPr lang="en-US" sz="2000" i="1">
                <a:solidFill>
                  <a:srgbClr val="C00000"/>
                </a:solidFill>
                <a:sym typeface="Symbol" pitchFamily="28" charset="2"/>
              </a:rPr>
              <a:t>cannot</a:t>
            </a:r>
            <a:r>
              <a:rPr lang="en-US" sz="2000">
                <a:solidFill>
                  <a:srgbClr val="C00000"/>
                </a:solidFill>
                <a:sym typeface="Symbol" pitchFamily="28" charset="2"/>
              </a:rPr>
              <a:t> consume more than one (non</a:t>
            </a:r>
            <a:r>
              <a:rPr lang="en-US" sz="2000">
                <a:solidFill>
                  <a:srgbClr val="7030A0"/>
                </a:solidFill>
                <a:sym typeface="Symbol" pitchFamily="28" charset="2"/>
              </a:rPr>
              <a:t>-) </a:t>
            </a:r>
            <a:r>
              <a:rPr lang="en-US" sz="2000">
                <a:solidFill>
                  <a:srgbClr val="C00000"/>
                </a:solidFill>
                <a:sym typeface="Symbol" pitchFamily="28" charset="2"/>
              </a:rPr>
              <a:t>symbol.</a:t>
            </a:r>
            <a:endParaRPr lang="en-US" sz="2000">
              <a:solidFill>
                <a:srgbClr val="C00000"/>
              </a:solidFill>
            </a:endParaRPr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515AD06-0C64-4C18-BF59-967630FA9AB4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DEBC795-D03D-4601-9A0A-294655918D3B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FA with </a:t>
            </a:r>
            <a:r>
              <a:rPr lang="en-US">
                <a:sym typeface="Symbol" pitchFamily="28" charset="2"/>
              </a:rPr>
              <a:t></a:t>
            </a:r>
            <a:r>
              <a:rPr lang="en-US"/>
              <a:t>-Transitions 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dirty="0"/>
              <a:t>We can allow </a:t>
            </a:r>
            <a:r>
              <a:rPr lang="en-US" sz="2800" u="sng" dirty="0"/>
              <a:t>explicit</a:t>
            </a:r>
            <a:r>
              <a:rPr lang="en-US" sz="2800" dirty="0"/>
              <a:t> </a:t>
            </a:r>
            <a:r>
              <a:rPr lang="en-US" sz="2800" dirty="0">
                <a:sym typeface="Symbol" pitchFamily="28" charset="2"/>
              </a:rPr>
              <a:t></a:t>
            </a:r>
            <a:r>
              <a:rPr lang="en-US" sz="2800" dirty="0"/>
              <a:t>-transitions in finite automata</a:t>
            </a:r>
          </a:p>
          <a:p>
            <a:pPr lvl="1" eaLnBrk="1" hangingPunct="1"/>
            <a:r>
              <a:rPr lang="en-US" sz="2400" dirty="0"/>
              <a:t>i.e., a transition from one state to another state without consuming any additional input symbol </a:t>
            </a:r>
          </a:p>
          <a:p>
            <a:pPr lvl="1" eaLnBrk="1" hangingPunct="1"/>
            <a:r>
              <a:rPr lang="en-US" sz="2400" dirty="0"/>
              <a:t>Explicit </a:t>
            </a:r>
            <a:r>
              <a:rPr lang="en-US" sz="2400" dirty="0">
                <a:sym typeface="Symbol" pitchFamily="28" charset="2"/>
              </a:rPr>
              <a:t></a:t>
            </a:r>
            <a:r>
              <a:rPr lang="en-US" sz="2400" dirty="0"/>
              <a:t>-transitions between different states introduce non-determinism.</a:t>
            </a:r>
          </a:p>
          <a:p>
            <a:pPr lvl="1" eaLnBrk="1" hangingPunct="1"/>
            <a:r>
              <a:rPr lang="en-US" sz="2400" dirty="0"/>
              <a:t>Makes it easier sometimes to construct NFAs</a:t>
            </a:r>
          </a:p>
          <a:p>
            <a:pPr eaLnBrk="1" hangingPunct="1">
              <a:buFont typeface="Wingdings" pitchFamily="28" charset="2"/>
              <a:buNone/>
            </a:pPr>
            <a:r>
              <a:rPr lang="en-US" sz="2800" b="1" i="1" u="sng" dirty="0">
                <a:sym typeface="Symbol" pitchFamily="28" charset="2"/>
              </a:rPr>
              <a:t>Definition:</a:t>
            </a:r>
            <a:r>
              <a:rPr lang="en-US" sz="2800" b="1" i="1" dirty="0">
                <a:sym typeface="Symbol" pitchFamily="28" charset="2"/>
              </a:rPr>
              <a:t> </a:t>
            </a:r>
            <a:r>
              <a:rPr lang="en-US" sz="2800" b="1" i="1" dirty="0"/>
              <a:t> -NFAs are those NFAs with at least one explicit </a:t>
            </a:r>
            <a:r>
              <a:rPr lang="en-US" sz="2800" b="1" i="1" dirty="0">
                <a:sym typeface="Symbol" pitchFamily="28" charset="2"/>
              </a:rPr>
              <a:t></a:t>
            </a:r>
            <a:r>
              <a:rPr lang="en-US" sz="2800" b="1" i="1" dirty="0"/>
              <a:t>-transition defined.</a:t>
            </a:r>
            <a:endParaRPr lang="en-US" sz="2800" b="1" i="1" dirty="0">
              <a:sym typeface="Symbol" pitchFamily="28" charset="2"/>
            </a:endParaRPr>
          </a:p>
          <a:p>
            <a:pPr eaLnBrk="1" hangingPunct="1"/>
            <a:r>
              <a:rPr lang="en-US" sz="2800" dirty="0">
                <a:sym typeface="Symbol" pitchFamily="28" charset="2"/>
              </a:rPr>
              <a:t></a:t>
            </a:r>
            <a:r>
              <a:rPr lang="en-US" sz="2800" dirty="0"/>
              <a:t> -NFAs have one more column in their transition table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F1FAE72-7948-4FC4-908F-D4C93EBD550A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 of an </a:t>
            </a:r>
            <a:r>
              <a:rPr lang="en-US">
                <a:sym typeface="Symbol" pitchFamily="28" charset="2"/>
              </a:rPr>
              <a:t></a:t>
            </a:r>
            <a:r>
              <a:rPr lang="en-US"/>
              <a:t>-NFA</a:t>
            </a:r>
          </a:p>
        </p:txBody>
      </p:sp>
      <p:sp>
        <p:nvSpPr>
          <p:cNvPr id="35844" name="Text Box 25"/>
          <p:cNvSpPr txBox="1">
            <a:spLocks noChangeArrowheads="1"/>
          </p:cNvSpPr>
          <p:nvPr/>
        </p:nvSpPr>
        <p:spPr bwMode="auto">
          <a:xfrm>
            <a:off x="746125" y="2105025"/>
            <a:ext cx="69786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folHlink"/>
                </a:solidFill>
              </a:rPr>
              <a:t>L = {w | w is empty, </a:t>
            </a:r>
            <a:r>
              <a:rPr lang="en-US" u="sng">
                <a:solidFill>
                  <a:schemeClr val="folHlink"/>
                </a:solidFill>
              </a:rPr>
              <a:t>or</a:t>
            </a:r>
            <a:r>
              <a:rPr lang="en-US">
                <a:solidFill>
                  <a:schemeClr val="folHlink"/>
                </a:solidFill>
              </a:rPr>
              <a:t> if non-empty will end in 01}</a:t>
            </a:r>
          </a:p>
        </p:txBody>
      </p:sp>
      <p:graphicFrame>
        <p:nvGraphicFramePr>
          <p:cNvPr id="141451" name="Group 139"/>
          <p:cNvGraphicFramePr>
            <a:graphicFrameLocks noGrp="1"/>
          </p:cNvGraphicFramePr>
          <p:nvPr/>
        </p:nvGraphicFramePr>
        <p:xfrm>
          <a:off x="838200" y="4876800"/>
          <a:ext cx="2946400" cy="1737360"/>
        </p:xfrm>
        <a:graphic>
          <a:graphicData uri="http://schemas.openxmlformats.org/drawingml/2006/table">
            <a:tbl>
              <a:tblPr/>
              <a:tblGrid>
                <a:gridCol w="73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l-G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Grande" pitchFamily="28" charset="0"/>
                          <a:cs typeface="Tahoma" pitchFamily="28" charset="0"/>
                        </a:rPr>
                        <a:t>δ</a:t>
                      </a:r>
                      <a:r>
                        <a:rPr kumimoji="0" lang="el-GR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Grande" pitchFamily="28" charset="0"/>
                          <a:cs typeface="Tahoma" pitchFamily="28" charset="0"/>
                        </a:rPr>
                        <a:t>E</a:t>
                      </a:r>
                      <a:endParaRPr kumimoji="0" lang="en-US" sz="14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Grande" pitchFamily="28" charset="0"/>
                        <a:cs typeface="Tahoma" pitchFamily="2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sym typeface="Symbol" pitchFamily="28" charset="2"/>
                        </a:rPr>
                        <a:t>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sym typeface="Symbol" pitchFamily="2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*q’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{q’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  <a:endParaRPr kumimoji="0" lang="en-US" sz="14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*q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1395" name="Line 83"/>
          <p:cNvSpPr>
            <a:spLocks noChangeShapeType="1"/>
          </p:cNvSpPr>
          <p:nvPr/>
        </p:nvSpPr>
        <p:spPr bwMode="auto">
          <a:xfrm>
            <a:off x="533400" y="54864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41"/>
          <p:cNvGrpSpPr>
            <a:grpSpLocks/>
          </p:cNvGrpSpPr>
          <p:nvPr/>
        </p:nvGrpSpPr>
        <p:grpSpPr bwMode="auto">
          <a:xfrm>
            <a:off x="3581400" y="5272088"/>
            <a:ext cx="1666875" cy="747712"/>
            <a:chOff x="2256" y="3321"/>
            <a:chExt cx="1050" cy="471"/>
          </a:xfrm>
        </p:grpSpPr>
        <p:sp>
          <p:nvSpPr>
            <p:cNvPr id="35903" name="Text Box 81"/>
            <p:cNvSpPr txBox="1">
              <a:spLocks noChangeArrowheads="1"/>
            </p:cNvSpPr>
            <p:nvPr/>
          </p:nvSpPr>
          <p:spPr bwMode="auto">
            <a:xfrm>
              <a:off x="2534" y="3321"/>
              <a:ext cx="772" cy="192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ECLOSE(q’</a:t>
              </a:r>
              <a:r>
                <a:rPr lang="en-US" sz="1400" baseline="-25000"/>
                <a:t>0</a:t>
              </a:r>
              <a:r>
                <a:rPr lang="en-US" sz="1400"/>
                <a:t>)</a:t>
              </a:r>
            </a:p>
          </p:txBody>
        </p:sp>
        <p:sp>
          <p:nvSpPr>
            <p:cNvPr id="35904" name="Text Box 82"/>
            <p:cNvSpPr txBox="1">
              <a:spLocks noChangeArrowheads="1"/>
            </p:cNvSpPr>
            <p:nvPr/>
          </p:nvSpPr>
          <p:spPr bwMode="auto">
            <a:xfrm>
              <a:off x="2544" y="3600"/>
              <a:ext cx="747" cy="192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ECLOSE(q</a:t>
              </a:r>
              <a:r>
                <a:rPr lang="en-US" sz="1400" baseline="-25000"/>
                <a:t>0</a:t>
              </a:r>
              <a:r>
                <a:rPr lang="en-US" sz="1400"/>
                <a:t>)</a:t>
              </a:r>
            </a:p>
          </p:txBody>
        </p:sp>
        <p:sp>
          <p:nvSpPr>
            <p:cNvPr id="35905" name="Line 84"/>
            <p:cNvSpPr>
              <a:spLocks noChangeShapeType="1"/>
            </p:cNvSpPr>
            <p:nvPr/>
          </p:nvSpPr>
          <p:spPr bwMode="auto">
            <a:xfrm flipH="1">
              <a:off x="2304" y="3456"/>
              <a:ext cx="24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906" name="Line 85"/>
            <p:cNvSpPr>
              <a:spLocks noChangeShapeType="1"/>
            </p:cNvSpPr>
            <p:nvPr/>
          </p:nvSpPr>
          <p:spPr bwMode="auto">
            <a:xfrm flipH="1">
              <a:off x="2256" y="3696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41399" name="Rectangle 87"/>
          <p:cNvSpPr>
            <a:spLocks noGrp="1" noChangeArrowheads="1"/>
          </p:cNvSpPr>
          <p:nvPr>
            <p:ph type="body" sz="half" idx="2"/>
          </p:nvPr>
        </p:nvSpPr>
        <p:spPr>
          <a:xfrm>
            <a:off x="5145088" y="2895600"/>
            <a:ext cx="3810000" cy="4114800"/>
          </a:xfrm>
        </p:spPr>
        <p:txBody>
          <a:bodyPr/>
          <a:lstStyle/>
          <a:p>
            <a:pPr eaLnBrk="1" hangingPunct="1"/>
            <a:r>
              <a:rPr lang="en-US" sz="2800">
                <a:sym typeface="Symbol" pitchFamily="28" charset="2"/>
              </a:rPr>
              <a:t></a:t>
            </a:r>
            <a:r>
              <a:rPr lang="en-US" sz="2400"/>
              <a:t>-closure of a state q, </a:t>
            </a:r>
            <a:r>
              <a:rPr lang="en-US" sz="2400" b="1" i="1">
                <a:solidFill>
                  <a:schemeClr val="hlink"/>
                </a:solidFill>
              </a:rPr>
              <a:t>ECLOSE(q)</a:t>
            </a:r>
            <a:r>
              <a:rPr lang="en-US" sz="2400"/>
              <a:t>, is the set of all states (including itself) that can be </a:t>
            </a:r>
            <a:r>
              <a:rPr lang="en-US" sz="2400" i="1"/>
              <a:t>reached </a:t>
            </a:r>
            <a:r>
              <a:rPr lang="en-US" sz="2400"/>
              <a:t>from q by repeatedly making an arbitrary number of </a:t>
            </a:r>
            <a:r>
              <a:rPr lang="en-US" sz="2800">
                <a:sym typeface="Symbol" pitchFamily="28" charset="2"/>
              </a:rPr>
              <a:t></a:t>
            </a:r>
            <a:r>
              <a:rPr lang="en-US" sz="2400"/>
              <a:t>-transitions.  </a:t>
            </a:r>
          </a:p>
        </p:txBody>
      </p:sp>
      <p:grpSp>
        <p:nvGrpSpPr>
          <p:cNvPr id="3" name="Group 31"/>
          <p:cNvGrpSpPr>
            <a:grpSpLocks/>
          </p:cNvGrpSpPr>
          <p:nvPr/>
        </p:nvGrpSpPr>
        <p:grpSpPr bwMode="auto">
          <a:xfrm>
            <a:off x="228600" y="3976688"/>
            <a:ext cx="914400" cy="366712"/>
            <a:chOff x="228600" y="3976688"/>
            <a:chExt cx="914400" cy="366713"/>
          </a:xfrm>
        </p:grpSpPr>
        <p:sp>
          <p:nvSpPr>
            <p:cNvPr id="35901" name="Line 6"/>
            <p:cNvSpPr>
              <a:spLocks noChangeShapeType="1"/>
            </p:cNvSpPr>
            <p:nvPr/>
          </p:nvSpPr>
          <p:spPr bwMode="auto">
            <a:xfrm>
              <a:off x="533400" y="4286250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02" name="Text Box 7"/>
            <p:cNvSpPr txBox="1">
              <a:spLocks noChangeArrowheads="1"/>
            </p:cNvSpPr>
            <p:nvPr/>
          </p:nvSpPr>
          <p:spPr bwMode="auto">
            <a:xfrm>
              <a:off x="228600" y="3976688"/>
              <a:ext cx="6286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/>
                <a:t>start</a:t>
              </a:r>
            </a:p>
          </p:txBody>
        </p:sp>
      </p:grpSp>
      <p:grpSp>
        <p:nvGrpSpPr>
          <p:cNvPr id="4" name="Group 30"/>
          <p:cNvGrpSpPr>
            <a:grpSpLocks/>
          </p:cNvGrpSpPr>
          <p:nvPr/>
        </p:nvGrpSpPr>
        <p:grpSpPr bwMode="auto">
          <a:xfrm>
            <a:off x="1447800" y="2625725"/>
            <a:ext cx="2667000" cy="1184275"/>
            <a:chOff x="1447800" y="2625725"/>
            <a:chExt cx="2667000" cy="1184275"/>
          </a:xfrm>
        </p:grpSpPr>
        <p:sp>
          <p:nvSpPr>
            <p:cNvPr id="35891" name="Oval 5"/>
            <p:cNvSpPr>
              <a:spLocks noChangeArrowheads="1"/>
            </p:cNvSpPr>
            <p:nvPr/>
          </p:nvSpPr>
          <p:spPr bwMode="auto">
            <a:xfrm>
              <a:off x="1600200" y="3276600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q</a:t>
              </a:r>
              <a:r>
                <a:rPr lang="en-US" sz="1800" baseline="-25000"/>
                <a:t>0</a:t>
              </a:r>
            </a:p>
          </p:txBody>
        </p:sp>
        <p:sp>
          <p:nvSpPr>
            <p:cNvPr id="35892" name="Line 9"/>
            <p:cNvSpPr>
              <a:spLocks noChangeShapeType="1"/>
            </p:cNvSpPr>
            <p:nvPr/>
          </p:nvSpPr>
          <p:spPr bwMode="auto">
            <a:xfrm>
              <a:off x="2057400" y="3505200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893" name="Oval 10"/>
            <p:cNvSpPr>
              <a:spLocks noChangeArrowheads="1"/>
            </p:cNvSpPr>
            <p:nvPr/>
          </p:nvSpPr>
          <p:spPr bwMode="auto">
            <a:xfrm>
              <a:off x="2590800" y="3276600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q</a:t>
              </a:r>
              <a:r>
                <a:rPr lang="en-US" sz="1800" baseline="-25000"/>
                <a:t>1</a:t>
              </a:r>
            </a:p>
          </p:txBody>
        </p:sp>
        <p:sp>
          <p:nvSpPr>
            <p:cNvPr id="35894" name="Text Box 11"/>
            <p:cNvSpPr txBox="1">
              <a:spLocks noChangeArrowheads="1"/>
            </p:cNvSpPr>
            <p:nvPr/>
          </p:nvSpPr>
          <p:spPr bwMode="auto">
            <a:xfrm>
              <a:off x="2117725" y="3159125"/>
              <a:ext cx="3111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/>
                <a:t>0</a:t>
              </a:r>
              <a:endParaRPr lang="en-US" sz="1800">
                <a:solidFill>
                  <a:schemeClr val="hlink"/>
                </a:solidFill>
              </a:endParaRPr>
            </a:p>
          </p:txBody>
        </p:sp>
        <p:sp>
          <p:nvSpPr>
            <p:cNvPr id="35895" name="Freeform 12"/>
            <p:cNvSpPr>
              <a:spLocks/>
            </p:cNvSpPr>
            <p:nvPr/>
          </p:nvSpPr>
          <p:spPr bwMode="auto">
            <a:xfrm>
              <a:off x="1574800" y="2959100"/>
              <a:ext cx="419100" cy="317500"/>
            </a:xfrm>
            <a:custGeom>
              <a:avLst/>
              <a:gdLst>
                <a:gd name="T0" fmla="*/ 2147483647 w 264"/>
                <a:gd name="T1" fmla="*/ 2147483647 h 200"/>
                <a:gd name="T2" fmla="*/ 2147483647 w 264"/>
                <a:gd name="T3" fmla="*/ 2147483647 h 200"/>
                <a:gd name="T4" fmla="*/ 2147483647 w 264"/>
                <a:gd name="T5" fmla="*/ 2147483647 h 200"/>
                <a:gd name="T6" fmla="*/ 2147483647 w 264"/>
                <a:gd name="T7" fmla="*/ 2147483647 h 200"/>
                <a:gd name="T8" fmla="*/ 2147483647 w 264"/>
                <a:gd name="T9" fmla="*/ 2147483647 h 2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4"/>
                <a:gd name="T16" fmla="*/ 0 h 200"/>
                <a:gd name="T17" fmla="*/ 264 w 264"/>
                <a:gd name="T18" fmla="*/ 200 h 2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4" h="200">
                  <a:moveTo>
                    <a:pt x="64" y="200"/>
                  </a:moveTo>
                  <a:cubicBezTo>
                    <a:pt x="32" y="144"/>
                    <a:pt x="0" y="88"/>
                    <a:pt x="16" y="56"/>
                  </a:cubicBezTo>
                  <a:cubicBezTo>
                    <a:pt x="32" y="24"/>
                    <a:pt x="120" y="0"/>
                    <a:pt x="160" y="8"/>
                  </a:cubicBezTo>
                  <a:cubicBezTo>
                    <a:pt x="200" y="16"/>
                    <a:pt x="248" y="72"/>
                    <a:pt x="256" y="104"/>
                  </a:cubicBezTo>
                  <a:cubicBezTo>
                    <a:pt x="264" y="136"/>
                    <a:pt x="236" y="168"/>
                    <a:pt x="208" y="20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896" name="Text Box 13"/>
            <p:cNvSpPr txBox="1">
              <a:spLocks noChangeArrowheads="1"/>
            </p:cNvSpPr>
            <p:nvPr/>
          </p:nvSpPr>
          <p:spPr bwMode="auto">
            <a:xfrm>
              <a:off x="1447800" y="2625725"/>
              <a:ext cx="5016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/>
                <a:t>0,1</a:t>
              </a:r>
            </a:p>
          </p:txBody>
        </p:sp>
        <p:sp>
          <p:nvSpPr>
            <p:cNvPr id="35897" name="Text Box 18"/>
            <p:cNvSpPr txBox="1">
              <a:spLocks noChangeArrowheads="1"/>
            </p:cNvSpPr>
            <p:nvPr/>
          </p:nvSpPr>
          <p:spPr bwMode="auto">
            <a:xfrm>
              <a:off x="3048000" y="3162300"/>
              <a:ext cx="3111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/>
                <a:t>1</a:t>
              </a:r>
            </a:p>
          </p:txBody>
        </p:sp>
        <p:sp>
          <p:nvSpPr>
            <p:cNvPr id="35898" name="Oval 19"/>
            <p:cNvSpPr>
              <a:spLocks noChangeArrowheads="1"/>
            </p:cNvSpPr>
            <p:nvPr/>
          </p:nvSpPr>
          <p:spPr bwMode="auto">
            <a:xfrm>
              <a:off x="3581400" y="3276600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q</a:t>
              </a:r>
              <a:r>
                <a:rPr lang="en-US" sz="1800" baseline="-25000"/>
                <a:t>2</a:t>
              </a:r>
            </a:p>
          </p:txBody>
        </p:sp>
        <p:sp>
          <p:nvSpPr>
            <p:cNvPr id="35899" name="Line 20"/>
            <p:cNvSpPr>
              <a:spLocks noChangeShapeType="1"/>
            </p:cNvSpPr>
            <p:nvPr/>
          </p:nvSpPr>
          <p:spPr bwMode="auto">
            <a:xfrm>
              <a:off x="3048000" y="3505200"/>
              <a:ext cx="457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00" name="Oval 22"/>
            <p:cNvSpPr>
              <a:spLocks noChangeArrowheads="1"/>
            </p:cNvSpPr>
            <p:nvPr/>
          </p:nvSpPr>
          <p:spPr bwMode="auto">
            <a:xfrm>
              <a:off x="3505200" y="3200400"/>
              <a:ext cx="609600" cy="609600"/>
            </a:xfrm>
            <a:prstGeom prst="ellipse">
              <a:avLst/>
            </a:prstGeom>
            <a:solidFill>
              <a:schemeClr val="accent1">
                <a:alpha val="12157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32"/>
          <p:cNvGrpSpPr>
            <a:grpSpLocks/>
          </p:cNvGrpSpPr>
          <p:nvPr/>
        </p:nvGrpSpPr>
        <p:grpSpPr bwMode="auto">
          <a:xfrm>
            <a:off x="1143000" y="3595688"/>
            <a:ext cx="609600" cy="976312"/>
            <a:chOff x="1143000" y="3595688"/>
            <a:chExt cx="609600" cy="976312"/>
          </a:xfrm>
        </p:grpSpPr>
        <p:sp>
          <p:nvSpPr>
            <p:cNvPr id="35887" name="Oval 90"/>
            <p:cNvSpPr>
              <a:spLocks noChangeArrowheads="1"/>
            </p:cNvSpPr>
            <p:nvPr/>
          </p:nvSpPr>
          <p:spPr bwMode="auto">
            <a:xfrm>
              <a:off x="1219200" y="4038600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q’</a:t>
              </a:r>
              <a:r>
                <a:rPr lang="en-US" sz="1800" baseline="-25000"/>
                <a:t>0</a:t>
              </a:r>
            </a:p>
          </p:txBody>
        </p:sp>
        <p:sp>
          <p:nvSpPr>
            <p:cNvPr id="35888" name="Oval 91"/>
            <p:cNvSpPr>
              <a:spLocks noChangeArrowheads="1"/>
            </p:cNvSpPr>
            <p:nvPr/>
          </p:nvSpPr>
          <p:spPr bwMode="auto">
            <a:xfrm>
              <a:off x="1143000" y="3962400"/>
              <a:ext cx="609600" cy="609600"/>
            </a:xfrm>
            <a:prstGeom prst="ellipse">
              <a:avLst/>
            </a:prstGeom>
            <a:solidFill>
              <a:schemeClr val="accent1">
                <a:alpha val="12157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89" name="Line 92"/>
            <p:cNvSpPr>
              <a:spLocks noChangeShapeType="1"/>
            </p:cNvSpPr>
            <p:nvPr/>
          </p:nvSpPr>
          <p:spPr bwMode="auto">
            <a:xfrm flipV="1">
              <a:off x="1447800" y="3733800"/>
              <a:ext cx="2286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90" name="Text Box 93"/>
            <p:cNvSpPr txBox="1">
              <a:spLocks noChangeArrowheads="1"/>
            </p:cNvSpPr>
            <p:nvPr/>
          </p:nvSpPr>
          <p:spPr bwMode="auto">
            <a:xfrm>
              <a:off x="1219200" y="3595688"/>
              <a:ext cx="285750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>
                  <a:sym typeface="Symbol" pitchFamily="28" charset="2"/>
                </a:rPr>
                <a:t></a:t>
              </a:r>
              <a:endParaRPr lang="en-US" sz="1800">
                <a:solidFill>
                  <a:schemeClr val="hlink"/>
                </a:solidFill>
              </a:endParaRPr>
            </a:p>
          </p:txBody>
        </p:sp>
      </p:grpSp>
      <p:sp>
        <p:nvSpPr>
          <p:cNvPr id="35881" name="TextBox 29"/>
          <p:cNvSpPr txBox="1">
            <a:spLocks noChangeArrowheads="1"/>
          </p:cNvSpPr>
          <p:nvPr/>
        </p:nvSpPr>
        <p:spPr bwMode="auto">
          <a:xfrm>
            <a:off x="4343400" y="6477000"/>
            <a:ext cx="1841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grpSp>
        <p:nvGrpSpPr>
          <p:cNvPr id="6" name="Group 141"/>
          <p:cNvGrpSpPr>
            <a:grpSpLocks/>
          </p:cNvGrpSpPr>
          <p:nvPr/>
        </p:nvGrpSpPr>
        <p:grpSpPr bwMode="auto">
          <a:xfrm>
            <a:off x="3581400" y="5957888"/>
            <a:ext cx="1681163" cy="750887"/>
            <a:chOff x="2256" y="3321"/>
            <a:chExt cx="1059" cy="473"/>
          </a:xfrm>
        </p:grpSpPr>
        <p:sp>
          <p:nvSpPr>
            <p:cNvPr id="35883" name="Text Box 81"/>
            <p:cNvSpPr txBox="1">
              <a:spLocks noChangeArrowheads="1"/>
            </p:cNvSpPr>
            <p:nvPr/>
          </p:nvSpPr>
          <p:spPr bwMode="auto">
            <a:xfrm>
              <a:off x="2534" y="3321"/>
              <a:ext cx="781" cy="194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ECLOSE(q</a:t>
              </a:r>
              <a:r>
                <a:rPr lang="en-US" sz="1400" baseline="-25000"/>
                <a:t>1</a:t>
              </a:r>
              <a:r>
                <a:rPr lang="en-US" sz="1400"/>
                <a:t>)</a:t>
              </a:r>
            </a:p>
          </p:txBody>
        </p:sp>
        <p:sp>
          <p:nvSpPr>
            <p:cNvPr id="35884" name="Text Box 82"/>
            <p:cNvSpPr txBox="1">
              <a:spLocks noChangeArrowheads="1"/>
            </p:cNvSpPr>
            <p:nvPr/>
          </p:nvSpPr>
          <p:spPr bwMode="auto">
            <a:xfrm>
              <a:off x="2544" y="3600"/>
              <a:ext cx="756" cy="194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ECLOSE(q</a:t>
              </a:r>
              <a:r>
                <a:rPr lang="en-US" sz="1400" baseline="-25000"/>
                <a:t>2</a:t>
              </a:r>
              <a:r>
                <a:rPr lang="en-US" sz="1400"/>
                <a:t>)</a:t>
              </a:r>
            </a:p>
          </p:txBody>
        </p:sp>
        <p:sp>
          <p:nvSpPr>
            <p:cNvPr id="35885" name="Line 84"/>
            <p:cNvSpPr>
              <a:spLocks noChangeShapeType="1"/>
            </p:cNvSpPr>
            <p:nvPr/>
          </p:nvSpPr>
          <p:spPr bwMode="auto">
            <a:xfrm flipH="1">
              <a:off x="2304" y="3456"/>
              <a:ext cx="24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86" name="Line 85"/>
            <p:cNvSpPr>
              <a:spLocks noChangeShapeType="1"/>
            </p:cNvSpPr>
            <p:nvPr/>
          </p:nvSpPr>
          <p:spPr bwMode="auto">
            <a:xfrm flipH="1">
              <a:off x="2256" y="3696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1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95" grpId="0" animBg="1"/>
      <p:bldP spid="141399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4A1EC90-F3CC-4184-A98B-8553AA82A259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 of an </a:t>
            </a:r>
            <a:r>
              <a:rPr lang="en-US">
                <a:sym typeface="Symbol" pitchFamily="28" charset="2"/>
              </a:rPr>
              <a:t></a:t>
            </a:r>
            <a:r>
              <a:rPr lang="en-US"/>
              <a:t>-NFA</a:t>
            </a:r>
          </a:p>
        </p:txBody>
      </p:sp>
      <p:sp>
        <p:nvSpPr>
          <p:cNvPr id="36868" name="Text Box 25"/>
          <p:cNvSpPr txBox="1">
            <a:spLocks noChangeArrowheads="1"/>
          </p:cNvSpPr>
          <p:nvPr/>
        </p:nvSpPr>
        <p:spPr bwMode="auto">
          <a:xfrm>
            <a:off x="746125" y="2105025"/>
            <a:ext cx="69786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folHlink"/>
                </a:solidFill>
              </a:rPr>
              <a:t>L = {w | w is empty, or if non-empty will end in 01}</a:t>
            </a:r>
          </a:p>
        </p:txBody>
      </p:sp>
      <p:graphicFrame>
        <p:nvGraphicFramePr>
          <p:cNvPr id="141451" name="Group 139"/>
          <p:cNvGraphicFramePr>
            <a:graphicFrameLocks noGrp="1"/>
          </p:cNvGraphicFramePr>
          <p:nvPr/>
        </p:nvGraphicFramePr>
        <p:xfrm>
          <a:off x="838200" y="4876800"/>
          <a:ext cx="2946400" cy="1737360"/>
        </p:xfrm>
        <a:graphic>
          <a:graphicData uri="http://schemas.openxmlformats.org/drawingml/2006/table">
            <a:tbl>
              <a:tblPr/>
              <a:tblGrid>
                <a:gridCol w="73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l-G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Grande" pitchFamily="28" charset="0"/>
                          <a:cs typeface="Tahoma" pitchFamily="28" charset="0"/>
                        </a:rPr>
                        <a:t>δ</a:t>
                      </a:r>
                      <a:r>
                        <a:rPr kumimoji="0" lang="el-GR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Grande" pitchFamily="28" charset="0"/>
                          <a:cs typeface="Tahoma" pitchFamily="28" charset="0"/>
                        </a:rPr>
                        <a:t>E</a:t>
                      </a:r>
                      <a:endParaRPr kumimoji="0" lang="en-US" sz="14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Grande" pitchFamily="28" charset="0"/>
                        <a:cs typeface="Tahoma" pitchFamily="2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sym typeface="Symbol" pitchFamily="28" charset="2"/>
                        </a:rPr>
                        <a:t>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sym typeface="Symbol" pitchFamily="2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*q’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{q’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  <a:endParaRPr kumimoji="0" lang="en-US" sz="14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*q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6899" name="Line 83"/>
          <p:cNvSpPr>
            <a:spLocks noChangeShapeType="1"/>
          </p:cNvSpPr>
          <p:nvPr/>
        </p:nvSpPr>
        <p:spPr bwMode="auto">
          <a:xfrm>
            <a:off x="533400" y="54864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6900" name="Group 141"/>
          <p:cNvGrpSpPr>
            <a:grpSpLocks/>
          </p:cNvGrpSpPr>
          <p:nvPr/>
        </p:nvGrpSpPr>
        <p:grpSpPr bwMode="auto">
          <a:xfrm>
            <a:off x="3581400" y="5272088"/>
            <a:ext cx="1666875" cy="747712"/>
            <a:chOff x="2256" y="3321"/>
            <a:chExt cx="1050" cy="471"/>
          </a:xfrm>
        </p:grpSpPr>
        <p:sp>
          <p:nvSpPr>
            <p:cNvPr id="36948" name="Text Box 81"/>
            <p:cNvSpPr txBox="1">
              <a:spLocks noChangeArrowheads="1"/>
            </p:cNvSpPr>
            <p:nvPr/>
          </p:nvSpPr>
          <p:spPr bwMode="auto">
            <a:xfrm>
              <a:off x="2534" y="3321"/>
              <a:ext cx="772" cy="192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ECLOSE(q’</a:t>
              </a:r>
              <a:r>
                <a:rPr lang="en-US" sz="1400" baseline="-25000"/>
                <a:t>0</a:t>
              </a:r>
              <a:r>
                <a:rPr lang="en-US" sz="1400"/>
                <a:t>)</a:t>
              </a:r>
            </a:p>
          </p:txBody>
        </p:sp>
        <p:sp>
          <p:nvSpPr>
            <p:cNvPr id="36949" name="Text Box 82"/>
            <p:cNvSpPr txBox="1">
              <a:spLocks noChangeArrowheads="1"/>
            </p:cNvSpPr>
            <p:nvPr/>
          </p:nvSpPr>
          <p:spPr bwMode="auto">
            <a:xfrm>
              <a:off x="2544" y="3600"/>
              <a:ext cx="747" cy="192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ECLOSE(q</a:t>
              </a:r>
              <a:r>
                <a:rPr lang="en-US" sz="1400" baseline="-25000"/>
                <a:t>0</a:t>
              </a:r>
              <a:r>
                <a:rPr lang="en-US" sz="1400"/>
                <a:t>)</a:t>
              </a:r>
            </a:p>
          </p:txBody>
        </p:sp>
        <p:sp>
          <p:nvSpPr>
            <p:cNvPr id="36950" name="Line 84"/>
            <p:cNvSpPr>
              <a:spLocks noChangeShapeType="1"/>
            </p:cNvSpPr>
            <p:nvPr/>
          </p:nvSpPr>
          <p:spPr bwMode="auto">
            <a:xfrm flipH="1">
              <a:off x="2304" y="3456"/>
              <a:ext cx="24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51" name="Line 85"/>
            <p:cNvSpPr>
              <a:spLocks noChangeShapeType="1"/>
            </p:cNvSpPr>
            <p:nvPr/>
          </p:nvSpPr>
          <p:spPr bwMode="auto">
            <a:xfrm flipH="1">
              <a:off x="2256" y="3696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41399" name="Rectangle 87"/>
          <p:cNvSpPr>
            <a:spLocks noGrp="1" noChangeArrowheads="1"/>
          </p:cNvSpPr>
          <p:nvPr>
            <p:ph type="body" sz="half" idx="2"/>
          </p:nvPr>
        </p:nvSpPr>
        <p:spPr>
          <a:xfrm>
            <a:off x="5145088" y="2895600"/>
            <a:ext cx="3810000" cy="762000"/>
          </a:xfrm>
        </p:spPr>
        <p:txBody>
          <a:bodyPr/>
          <a:lstStyle/>
          <a:p>
            <a:pPr eaLnBrk="1" hangingPunct="1">
              <a:buFont typeface="Wingdings" pitchFamily="28" charset="2"/>
              <a:buNone/>
            </a:pPr>
            <a:r>
              <a:rPr lang="en-US" sz="2800" u="sng">
                <a:sym typeface="Symbol" pitchFamily="28" charset="2"/>
              </a:rPr>
              <a:t>Simulate for w=101:</a:t>
            </a:r>
          </a:p>
          <a:p>
            <a:pPr eaLnBrk="1" hangingPunct="1"/>
            <a:endParaRPr lang="en-US" sz="2400"/>
          </a:p>
        </p:txBody>
      </p:sp>
      <p:grpSp>
        <p:nvGrpSpPr>
          <p:cNvPr id="36902" name="Group 31"/>
          <p:cNvGrpSpPr>
            <a:grpSpLocks/>
          </p:cNvGrpSpPr>
          <p:nvPr/>
        </p:nvGrpSpPr>
        <p:grpSpPr bwMode="auto">
          <a:xfrm>
            <a:off x="228600" y="3976688"/>
            <a:ext cx="914400" cy="366712"/>
            <a:chOff x="228600" y="3976688"/>
            <a:chExt cx="914400" cy="366713"/>
          </a:xfrm>
        </p:grpSpPr>
        <p:sp>
          <p:nvSpPr>
            <p:cNvPr id="36946" name="Line 6"/>
            <p:cNvSpPr>
              <a:spLocks noChangeShapeType="1"/>
            </p:cNvSpPr>
            <p:nvPr/>
          </p:nvSpPr>
          <p:spPr bwMode="auto">
            <a:xfrm>
              <a:off x="533400" y="4286250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47" name="Text Box 7"/>
            <p:cNvSpPr txBox="1">
              <a:spLocks noChangeArrowheads="1"/>
            </p:cNvSpPr>
            <p:nvPr/>
          </p:nvSpPr>
          <p:spPr bwMode="auto">
            <a:xfrm>
              <a:off x="228600" y="3976688"/>
              <a:ext cx="6286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/>
                <a:t>start</a:t>
              </a:r>
            </a:p>
          </p:txBody>
        </p:sp>
      </p:grpSp>
      <p:grpSp>
        <p:nvGrpSpPr>
          <p:cNvPr id="36903" name="Group 30"/>
          <p:cNvGrpSpPr>
            <a:grpSpLocks/>
          </p:cNvGrpSpPr>
          <p:nvPr/>
        </p:nvGrpSpPr>
        <p:grpSpPr bwMode="auto">
          <a:xfrm>
            <a:off x="1447800" y="2625725"/>
            <a:ext cx="2667000" cy="1184275"/>
            <a:chOff x="1447800" y="2625725"/>
            <a:chExt cx="2667000" cy="1184275"/>
          </a:xfrm>
        </p:grpSpPr>
        <p:sp>
          <p:nvSpPr>
            <p:cNvPr id="36936" name="Oval 5"/>
            <p:cNvSpPr>
              <a:spLocks noChangeArrowheads="1"/>
            </p:cNvSpPr>
            <p:nvPr/>
          </p:nvSpPr>
          <p:spPr bwMode="auto">
            <a:xfrm>
              <a:off x="1600200" y="3276600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q</a:t>
              </a:r>
              <a:r>
                <a:rPr lang="en-US" sz="1800" baseline="-25000"/>
                <a:t>0</a:t>
              </a:r>
            </a:p>
          </p:txBody>
        </p:sp>
        <p:sp>
          <p:nvSpPr>
            <p:cNvPr id="36937" name="Line 9"/>
            <p:cNvSpPr>
              <a:spLocks noChangeShapeType="1"/>
            </p:cNvSpPr>
            <p:nvPr/>
          </p:nvSpPr>
          <p:spPr bwMode="auto">
            <a:xfrm>
              <a:off x="2057400" y="3505200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38" name="Oval 10"/>
            <p:cNvSpPr>
              <a:spLocks noChangeArrowheads="1"/>
            </p:cNvSpPr>
            <p:nvPr/>
          </p:nvSpPr>
          <p:spPr bwMode="auto">
            <a:xfrm>
              <a:off x="2590800" y="3276600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q</a:t>
              </a:r>
              <a:r>
                <a:rPr lang="en-US" sz="1800" baseline="-25000"/>
                <a:t>1</a:t>
              </a:r>
            </a:p>
          </p:txBody>
        </p:sp>
        <p:sp>
          <p:nvSpPr>
            <p:cNvPr id="36939" name="Text Box 11"/>
            <p:cNvSpPr txBox="1">
              <a:spLocks noChangeArrowheads="1"/>
            </p:cNvSpPr>
            <p:nvPr/>
          </p:nvSpPr>
          <p:spPr bwMode="auto">
            <a:xfrm>
              <a:off x="2117725" y="3159125"/>
              <a:ext cx="3111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/>
                <a:t>0</a:t>
              </a:r>
              <a:endParaRPr lang="en-US" sz="1800">
                <a:solidFill>
                  <a:schemeClr val="hlink"/>
                </a:solidFill>
              </a:endParaRPr>
            </a:p>
          </p:txBody>
        </p:sp>
        <p:sp>
          <p:nvSpPr>
            <p:cNvPr id="36940" name="Freeform 12"/>
            <p:cNvSpPr>
              <a:spLocks/>
            </p:cNvSpPr>
            <p:nvPr/>
          </p:nvSpPr>
          <p:spPr bwMode="auto">
            <a:xfrm>
              <a:off x="1574800" y="2959100"/>
              <a:ext cx="419100" cy="317500"/>
            </a:xfrm>
            <a:custGeom>
              <a:avLst/>
              <a:gdLst>
                <a:gd name="T0" fmla="*/ 2147483647 w 264"/>
                <a:gd name="T1" fmla="*/ 2147483647 h 200"/>
                <a:gd name="T2" fmla="*/ 2147483647 w 264"/>
                <a:gd name="T3" fmla="*/ 2147483647 h 200"/>
                <a:gd name="T4" fmla="*/ 2147483647 w 264"/>
                <a:gd name="T5" fmla="*/ 2147483647 h 200"/>
                <a:gd name="T6" fmla="*/ 2147483647 w 264"/>
                <a:gd name="T7" fmla="*/ 2147483647 h 200"/>
                <a:gd name="T8" fmla="*/ 2147483647 w 264"/>
                <a:gd name="T9" fmla="*/ 2147483647 h 2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4"/>
                <a:gd name="T16" fmla="*/ 0 h 200"/>
                <a:gd name="T17" fmla="*/ 264 w 264"/>
                <a:gd name="T18" fmla="*/ 200 h 2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4" h="200">
                  <a:moveTo>
                    <a:pt x="64" y="200"/>
                  </a:moveTo>
                  <a:cubicBezTo>
                    <a:pt x="32" y="144"/>
                    <a:pt x="0" y="88"/>
                    <a:pt x="16" y="56"/>
                  </a:cubicBezTo>
                  <a:cubicBezTo>
                    <a:pt x="32" y="24"/>
                    <a:pt x="120" y="0"/>
                    <a:pt x="160" y="8"/>
                  </a:cubicBezTo>
                  <a:cubicBezTo>
                    <a:pt x="200" y="16"/>
                    <a:pt x="248" y="72"/>
                    <a:pt x="256" y="104"/>
                  </a:cubicBezTo>
                  <a:cubicBezTo>
                    <a:pt x="264" y="136"/>
                    <a:pt x="236" y="168"/>
                    <a:pt x="208" y="20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41" name="Text Box 13"/>
            <p:cNvSpPr txBox="1">
              <a:spLocks noChangeArrowheads="1"/>
            </p:cNvSpPr>
            <p:nvPr/>
          </p:nvSpPr>
          <p:spPr bwMode="auto">
            <a:xfrm>
              <a:off x="1447800" y="2625725"/>
              <a:ext cx="5016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/>
                <a:t>0,1</a:t>
              </a:r>
            </a:p>
          </p:txBody>
        </p:sp>
        <p:sp>
          <p:nvSpPr>
            <p:cNvPr id="36942" name="Text Box 18"/>
            <p:cNvSpPr txBox="1">
              <a:spLocks noChangeArrowheads="1"/>
            </p:cNvSpPr>
            <p:nvPr/>
          </p:nvSpPr>
          <p:spPr bwMode="auto">
            <a:xfrm>
              <a:off x="3048000" y="3162300"/>
              <a:ext cx="3111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/>
                <a:t>1</a:t>
              </a:r>
            </a:p>
          </p:txBody>
        </p:sp>
        <p:sp>
          <p:nvSpPr>
            <p:cNvPr id="36943" name="Oval 19"/>
            <p:cNvSpPr>
              <a:spLocks noChangeArrowheads="1"/>
            </p:cNvSpPr>
            <p:nvPr/>
          </p:nvSpPr>
          <p:spPr bwMode="auto">
            <a:xfrm>
              <a:off x="3581400" y="3276600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q</a:t>
              </a:r>
              <a:r>
                <a:rPr lang="en-US" sz="1800" baseline="-25000"/>
                <a:t>2</a:t>
              </a:r>
            </a:p>
          </p:txBody>
        </p:sp>
        <p:sp>
          <p:nvSpPr>
            <p:cNvPr id="36944" name="Line 20"/>
            <p:cNvSpPr>
              <a:spLocks noChangeShapeType="1"/>
            </p:cNvSpPr>
            <p:nvPr/>
          </p:nvSpPr>
          <p:spPr bwMode="auto">
            <a:xfrm>
              <a:off x="3048000" y="3505200"/>
              <a:ext cx="457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45" name="Oval 22"/>
            <p:cNvSpPr>
              <a:spLocks noChangeArrowheads="1"/>
            </p:cNvSpPr>
            <p:nvPr/>
          </p:nvSpPr>
          <p:spPr bwMode="auto">
            <a:xfrm>
              <a:off x="3505200" y="3200400"/>
              <a:ext cx="609600" cy="609600"/>
            </a:xfrm>
            <a:prstGeom prst="ellipse">
              <a:avLst/>
            </a:prstGeom>
            <a:solidFill>
              <a:schemeClr val="accent1">
                <a:alpha val="12157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6904" name="Group 32"/>
          <p:cNvGrpSpPr>
            <a:grpSpLocks/>
          </p:cNvGrpSpPr>
          <p:nvPr/>
        </p:nvGrpSpPr>
        <p:grpSpPr bwMode="auto">
          <a:xfrm>
            <a:off x="1143000" y="3595688"/>
            <a:ext cx="609600" cy="976312"/>
            <a:chOff x="1143000" y="3595688"/>
            <a:chExt cx="609600" cy="976312"/>
          </a:xfrm>
        </p:grpSpPr>
        <p:sp>
          <p:nvSpPr>
            <p:cNvPr id="36932" name="Oval 90"/>
            <p:cNvSpPr>
              <a:spLocks noChangeArrowheads="1"/>
            </p:cNvSpPr>
            <p:nvPr/>
          </p:nvSpPr>
          <p:spPr bwMode="auto">
            <a:xfrm>
              <a:off x="1219200" y="4038600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q’</a:t>
              </a:r>
              <a:r>
                <a:rPr lang="en-US" sz="1800" baseline="-25000"/>
                <a:t>0</a:t>
              </a:r>
            </a:p>
          </p:txBody>
        </p:sp>
        <p:sp>
          <p:nvSpPr>
            <p:cNvPr id="36933" name="Oval 91"/>
            <p:cNvSpPr>
              <a:spLocks noChangeArrowheads="1"/>
            </p:cNvSpPr>
            <p:nvPr/>
          </p:nvSpPr>
          <p:spPr bwMode="auto">
            <a:xfrm>
              <a:off x="1143000" y="3962400"/>
              <a:ext cx="609600" cy="609600"/>
            </a:xfrm>
            <a:prstGeom prst="ellipse">
              <a:avLst/>
            </a:prstGeom>
            <a:solidFill>
              <a:schemeClr val="accent1">
                <a:alpha val="12157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34" name="Line 92"/>
            <p:cNvSpPr>
              <a:spLocks noChangeShapeType="1"/>
            </p:cNvSpPr>
            <p:nvPr/>
          </p:nvSpPr>
          <p:spPr bwMode="auto">
            <a:xfrm flipV="1">
              <a:off x="1447800" y="3733800"/>
              <a:ext cx="2286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35" name="Text Box 93"/>
            <p:cNvSpPr txBox="1">
              <a:spLocks noChangeArrowheads="1"/>
            </p:cNvSpPr>
            <p:nvPr/>
          </p:nvSpPr>
          <p:spPr bwMode="auto">
            <a:xfrm>
              <a:off x="1219200" y="3595688"/>
              <a:ext cx="285750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>
                  <a:sym typeface="Symbol" pitchFamily="28" charset="2"/>
                </a:rPr>
                <a:t></a:t>
              </a:r>
              <a:endParaRPr lang="en-US" sz="1800">
                <a:solidFill>
                  <a:schemeClr val="hlink"/>
                </a:solidFill>
              </a:endParaRPr>
            </a:p>
          </p:txBody>
        </p:sp>
      </p:grpSp>
      <p:sp>
        <p:nvSpPr>
          <p:cNvPr id="36905" name="TextBox 29"/>
          <p:cNvSpPr txBox="1">
            <a:spLocks noChangeArrowheads="1"/>
          </p:cNvSpPr>
          <p:nvPr/>
        </p:nvSpPr>
        <p:spPr bwMode="auto">
          <a:xfrm>
            <a:off x="4343400" y="6477000"/>
            <a:ext cx="1841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3" name="TextBox 32"/>
          <p:cNvSpPr txBox="1">
            <a:spLocks noChangeArrowheads="1"/>
          </p:cNvSpPr>
          <p:nvPr/>
        </p:nvSpPr>
        <p:spPr bwMode="auto">
          <a:xfrm>
            <a:off x="6858000" y="3733800"/>
            <a:ext cx="4191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q</a:t>
            </a:r>
            <a:r>
              <a:rPr lang="en-US" sz="1600" baseline="-25000"/>
              <a:t>0</a:t>
            </a:r>
            <a:r>
              <a:rPr lang="en-US" sz="1600"/>
              <a:t>’</a:t>
            </a:r>
          </a:p>
        </p:txBody>
      </p:sp>
      <p:grpSp>
        <p:nvGrpSpPr>
          <p:cNvPr id="6" name="Group 64"/>
          <p:cNvGrpSpPr>
            <a:grpSpLocks/>
          </p:cNvGrpSpPr>
          <p:nvPr/>
        </p:nvGrpSpPr>
        <p:grpSpPr bwMode="auto">
          <a:xfrm>
            <a:off x="6438900" y="3886200"/>
            <a:ext cx="1212850" cy="719138"/>
            <a:chOff x="6439296" y="3886200"/>
            <a:chExt cx="1212020" cy="719554"/>
          </a:xfrm>
        </p:grpSpPr>
        <p:sp>
          <p:nvSpPr>
            <p:cNvPr id="36925" name="TextBox 34"/>
            <p:cNvSpPr txBox="1">
              <a:spLocks noChangeArrowheads="1"/>
            </p:cNvSpPr>
            <p:nvPr/>
          </p:nvSpPr>
          <p:spPr bwMode="auto">
            <a:xfrm>
              <a:off x="7277496" y="4267200"/>
              <a:ext cx="37382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/>
                <a:t>q</a:t>
              </a:r>
              <a:r>
                <a:rPr lang="en-US" sz="1600" baseline="-25000"/>
                <a:t>0</a:t>
              </a:r>
              <a:endParaRPr lang="en-US" sz="1600"/>
            </a:p>
          </p:txBody>
        </p:sp>
        <p:grpSp>
          <p:nvGrpSpPr>
            <p:cNvPr id="36926" name="Group 59"/>
            <p:cNvGrpSpPr>
              <a:grpSpLocks/>
            </p:cNvGrpSpPr>
            <p:nvPr/>
          </p:nvGrpSpPr>
          <p:grpSpPr bwMode="auto">
            <a:xfrm>
              <a:off x="6439296" y="4038600"/>
              <a:ext cx="1025110" cy="533400"/>
              <a:chOff x="6439296" y="4038600"/>
              <a:chExt cx="1025110" cy="533400"/>
            </a:xfrm>
          </p:grpSpPr>
          <p:sp>
            <p:nvSpPr>
              <p:cNvPr id="36929" name="TextBox 33"/>
              <p:cNvSpPr txBox="1">
                <a:spLocks noChangeArrowheads="1"/>
              </p:cNvSpPr>
              <p:nvPr/>
            </p:nvSpPr>
            <p:spPr bwMode="auto">
              <a:xfrm>
                <a:off x="6439296" y="4233446"/>
                <a:ext cx="418704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/>
                  <a:t>q</a:t>
                </a:r>
                <a:r>
                  <a:rPr lang="en-US" sz="1600" baseline="-25000"/>
                  <a:t>0</a:t>
                </a:r>
                <a:r>
                  <a:rPr lang="en-US" sz="1600"/>
                  <a:t>’</a:t>
                </a:r>
              </a:p>
            </p:txBody>
          </p:sp>
          <p:cxnSp>
            <p:nvCxnSpPr>
              <p:cNvPr id="36930" name="Straight Arrow Connector 39"/>
              <p:cNvCxnSpPr>
                <a:cxnSpLocks noChangeShapeType="1"/>
                <a:endCxn id="36929" idx="0"/>
              </p:cNvCxnSpPr>
              <p:nvPr/>
            </p:nvCxnSpPr>
            <p:spPr bwMode="auto">
              <a:xfrm rot="10800000" flipV="1">
                <a:off x="6648648" y="4038600"/>
                <a:ext cx="285552" cy="194846"/>
              </a:xfrm>
              <a:prstGeom prst="straightConnector1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36931" name="Straight Arrow Connector 41"/>
              <p:cNvCxnSpPr>
                <a:cxnSpLocks noChangeShapeType="1"/>
                <a:stCxn id="33" idx="2"/>
                <a:endCxn id="36925" idx="0"/>
              </p:cNvCxnSpPr>
              <p:nvPr/>
            </p:nvCxnSpPr>
            <p:spPr bwMode="auto">
              <a:xfrm rot="16200000" flipH="1">
                <a:off x="7168456" y="3971250"/>
                <a:ext cx="194846" cy="397054"/>
              </a:xfrm>
              <a:prstGeom prst="straightConnector1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 type="arrow" w="med" len="med"/>
              </a:ln>
            </p:spPr>
          </p:cxnSp>
        </p:grpSp>
        <p:sp>
          <p:nvSpPr>
            <p:cNvPr id="36927" name="TextBox 48"/>
            <p:cNvSpPr txBox="1">
              <a:spLocks noChangeArrowheads="1"/>
            </p:cNvSpPr>
            <p:nvPr/>
          </p:nvSpPr>
          <p:spPr bwMode="auto">
            <a:xfrm>
              <a:off x="7162800" y="3886200"/>
              <a:ext cx="274434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  <a:sym typeface="Symbol" pitchFamily="28" charset="2"/>
                </a:rPr>
                <a:t></a:t>
              </a:r>
              <a:endParaRPr lang="en-US" sz="1600">
                <a:solidFill>
                  <a:srgbClr val="FF0000"/>
                </a:solidFill>
              </a:endParaRPr>
            </a:p>
          </p:txBody>
        </p:sp>
        <p:sp>
          <p:nvSpPr>
            <p:cNvPr id="36928" name="TextBox 51"/>
            <p:cNvSpPr txBox="1">
              <a:spLocks noChangeArrowheads="1"/>
            </p:cNvSpPr>
            <p:nvPr/>
          </p:nvSpPr>
          <p:spPr bwMode="auto">
            <a:xfrm>
              <a:off x="6629400" y="3886200"/>
              <a:ext cx="274434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  <a:sym typeface="Symbol" pitchFamily="28" charset="2"/>
                </a:rPr>
                <a:t></a:t>
              </a:r>
              <a:endParaRPr lang="en-US" sz="1600">
                <a:solidFill>
                  <a:srgbClr val="FF0000"/>
                </a:solidFill>
              </a:endParaRPr>
            </a:p>
          </p:txBody>
        </p:sp>
      </p:grpSp>
      <p:grpSp>
        <p:nvGrpSpPr>
          <p:cNvPr id="8" name="Group 61"/>
          <p:cNvGrpSpPr>
            <a:grpSpLocks/>
          </p:cNvGrpSpPr>
          <p:nvPr/>
        </p:nvGrpSpPr>
        <p:grpSpPr bwMode="auto">
          <a:xfrm>
            <a:off x="7239000" y="4995863"/>
            <a:ext cx="449263" cy="719137"/>
            <a:chOff x="7239000" y="4995446"/>
            <a:chExt cx="450020" cy="719554"/>
          </a:xfrm>
        </p:grpSpPr>
        <p:sp>
          <p:nvSpPr>
            <p:cNvPr id="36922" name="TextBox 36"/>
            <p:cNvSpPr txBox="1">
              <a:spLocks noChangeArrowheads="1"/>
            </p:cNvSpPr>
            <p:nvPr/>
          </p:nvSpPr>
          <p:spPr bwMode="auto">
            <a:xfrm>
              <a:off x="7315200" y="5376446"/>
              <a:ext cx="37382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/>
                <a:t>q</a:t>
              </a:r>
              <a:r>
                <a:rPr lang="en-US" sz="1600" baseline="-25000"/>
                <a:t>1</a:t>
              </a:r>
              <a:endParaRPr lang="en-US" sz="1600"/>
            </a:p>
          </p:txBody>
        </p:sp>
        <p:cxnSp>
          <p:nvCxnSpPr>
            <p:cNvPr id="36923" name="Straight Arrow Connector 45"/>
            <p:cNvCxnSpPr>
              <a:cxnSpLocks noChangeShapeType="1"/>
              <a:stCxn id="36913" idx="2"/>
              <a:endCxn id="36922" idx="0"/>
            </p:cNvCxnSpPr>
            <p:nvPr/>
          </p:nvCxnSpPr>
          <p:spPr bwMode="auto">
            <a:xfrm rot="5400000">
              <a:off x="7366587" y="5240923"/>
              <a:ext cx="271046" cy="158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sp>
          <p:nvSpPr>
            <p:cNvPr id="36924" name="TextBox 53"/>
            <p:cNvSpPr txBox="1">
              <a:spLocks noChangeArrowheads="1"/>
            </p:cNvSpPr>
            <p:nvPr/>
          </p:nvSpPr>
          <p:spPr bwMode="auto">
            <a:xfrm>
              <a:off x="7239000" y="4995446"/>
              <a:ext cx="29848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  <a:sym typeface="Symbol" pitchFamily="28" charset="2"/>
                </a:rPr>
                <a:t>0</a:t>
              </a:r>
              <a:endParaRPr lang="en-US" sz="1600">
                <a:solidFill>
                  <a:srgbClr val="FF0000"/>
                </a:solidFill>
              </a:endParaRPr>
            </a:p>
          </p:txBody>
        </p:sp>
      </p:grpSp>
      <p:grpSp>
        <p:nvGrpSpPr>
          <p:cNvPr id="9" name="Group 62"/>
          <p:cNvGrpSpPr>
            <a:grpSpLocks/>
          </p:cNvGrpSpPr>
          <p:nvPr/>
        </p:nvGrpSpPr>
        <p:grpSpPr bwMode="auto">
          <a:xfrm>
            <a:off x="7239000" y="5605463"/>
            <a:ext cx="449263" cy="642937"/>
            <a:chOff x="7239000" y="5605046"/>
            <a:chExt cx="450020" cy="643354"/>
          </a:xfrm>
        </p:grpSpPr>
        <p:sp>
          <p:nvSpPr>
            <p:cNvPr id="36919" name="TextBox 37"/>
            <p:cNvSpPr txBox="1">
              <a:spLocks noChangeArrowheads="1"/>
            </p:cNvSpPr>
            <p:nvPr/>
          </p:nvSpPr>
          <p:spPr bwMode="auto">
            <a:xfrm>
              <a:off x="7315200" y="5909846"/>
              <a:ext cx="37382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/>
                <a:t>q</a:t>
              </a:r>
              <a:r>
                <a:rPr lang="en-US" sz="1600" baseline="-25000"/>
                <a:t>2</a:t>
              </a:r>
              <a:endParaRPr lang="en-US" sz="1600"/>
            </a:p>
          </p:txBody>
        </p:sp>
        <p:cxnSp>
          <p:nvCxnSpPr>
            <p:cNvPr id="36920" name="Straight Arrow Connector 47"/>
            <p:cNvCxnSpPr>
              <a:cxnSpLocks noChangeShapeType="1"/>
              <a:stCxn id="36922" idx="2"/>
              <a:endCxn id="36919" idx="0"/>
            </p:cNvCxnSpPr>
            <p:nvPr/>
          </p:nvCxnSpPr>
          <p:spPr bwMode="auto">
            <a:xfrm rot="5400000">
              <a:off x="7404687" y="5812423"/>
              <a:ext cx="194846" cy="158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sp>
          <p:nvSpPr>
            <p:cNvPr id="36921" name="TextBox 54"/>
            <p:cNvSpPr txBox="1">
              <a:spLocks noChangeArrowheads="1"/>
            </p:cNvSpPr>
            <p:nvPr/>
          </p:nvSpPr>
          <p:spPr bwMode="auto">
            <a:xfrm>
              <a:off x="7239000" y="5605046"/>
              <a:ext cx="29848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  <a:sym typeface="Symbol" pitchFamily="28" charset="2"/>
                </a:rPr>
                <a:t>1</a:t>
              </a:r>
              <a:endParaRPr lang="en-US" sz="1600">
                <a:solidFill>
                  <a:srgbClr val="FF0000"/>
                </a:solidFill>
              </a:endParaRPr>
            </a:p>
          </p:txBody>
        </p:sp>
      </p:grpSp>
      <p:grpSp>
        <p:nvGrpSpPr>
          <p:cNvPr id="10" name="Group 60"/>
          <p:cNvGrpSpPr>
            <a:grpSpLocks/>
          </p:cNvGrpSpPr>
          <p:nvPr/>
        </p:nvGrpSpPr>
        <p:grpSpPr bwMode="auto">
          <a:xfrm>
            <a:off x="6324600" y="4462463"/>
            <a:ext cx="1363663" cy="719137"/>
            <a:chOff x="6324600" y="4462046"/>
            <a:chExt cx="1364420" cy="719554"/>
          </a:xfrm>
        </p:grpSpPr>
        <p:sp>
          <p:nvSpPr>
            <p:cNvPr id="36913" name="TextBox 35"/>
            <p:cNvSpPr txBox="1">
              <a:spLocks noChangeArrowheads="1"/>
            </p:cNvSpPr>
            <p:nvPr/>
          </p:nvSpPr>
          <p:spPr bwMode="auto">
            <a:xfrm>
              <a:off x="7315200" y="4766846"/>
              <a:ext cx="37382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/>
                <a:t>q</a:t>
              </a:r>
              <a:r>
                <a:rPr lang="en-US" sz="1600" baseline="-25000"/>
                <a:t>0</a:t>
              </a:r>
              <a:endParaRPr lang="en-US" sz="1600"/>
            </a:p>
          </p:txBody>
        </p:sp>
        <p:cxnSp>
          <p:nvCxnSpPr>
            <p:cNvPr id="36914" name="Straight Arrow Connector 43"/>
            <p:cNvCxnSpPr>
              <a:cxnSpLocks noChangeShapeType="1"/>
              <a:stCxn id="36925" idx="2"/>
            </p:cNvCxnSpPr>
            <p:nvPr/>
          </p:nvCxnSpPr>
          <p:spPr bwMode="auto">
            <a:xfrm rot="16200000" flipH="1">
              <a:off x="7330480" y="4739680"/>
              <a:ext cx="271046" cy="3194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sp>
          <p:nvSpPr>
            <p:cNvPr id="36915" name="TextBox 52"/>
            <p:cNvSpPr txBox="1">
              <a:spLocks noChangeArrowheads="1"/>
            </p:cNvSpPr>
            <p:nvPr/>
          </p:nvSpPr>
          <p:spPr bwMode="auto">
            <a:xfrm>
              <a:off x="7239000" y="4462046"/>
              <a:ext cx="29848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  <a:sym typeface="Symbol" pitchFamily="28" charset="2"/>
                </a:rPr>
                <a:t>1</a:t>
              </a:r>
              <a:endParaRPr lang="en-US" sz="1600">
                <a:solidFill>
                  <a:srgbClr val="FF0000"/>
                </a:solidFill>
              </a:endParaRPr>
            </a:p>
          </p:txBody>
        </p:sp>
        <p:sp>
          <p:nvSpPr>
            <p:cNvPr id="36916" name="TextBox 56"/>
            <p:cNvSpPr txBox="1">
              <a:spLocks noChangeArrowheads="1"/>
            </p:cNvSpPr>
            <p:nvPr/>
          </p:nvSpPr>
          <p:spPr bwMode="auto">
            <a:xfrm>
              <a:off x="6484180" y="4843046"/>
              <a:ext cx="344966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/>
                <a:t>Ø</a:t>
              </a:r>
            </a:p>
          </p:txBody>
        </p:sp>
        <p:cxnSp>
          <p:nvCxnSpPr>
            <p:cNvPr id="36917" name="Straight Arrow Connector 57"/>
            <p:cNvCxnSpPr>
              <a:cxnSpLocks noChangeShapeType="1"/>
            </p:cNvCxnSpPr>
            <p:nvPr/>
          </p:nvCxnSpPr>
          <p:spPr bwMode="auto">
            <a:xfrm rot="16200000" flipH="1">
              <a:off x="6499460" y="4782127"/>
              <a:ext cx="271046" cy="3194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sp>
          <p:nvSpPr>
            <p:cNvPr id="36918" name="TextBox 58"/>
            <p:cNvSpPr txBox="1">
              <a:spLocks noChangeArrowheads="1"/>
            </p:cNvSpPr>
            <p:nvPr/>
          </p:nvSpPr>
          <p:spPr bwMode="auto">
            <a:xfrm>
              <a:off x="6324600" y="4495800"/>
              <a:ext cx="29848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  <a:sym typeface="Symbol" pitchFamily="28" charset="2"/>
                </a:rPr>
                <a:t>1</a:t>
              </a:r>
              <a:endParaRPr lang="en-US" sz="1600">
                <a:solidFill>
                  <a:srgbClr val="FF0000"/>
                </a:solidFill>
              </a:endParaRPr>
            </a:p>
          </p:txBody>
        </p:sp>
      </p:grpSp>
      <p:sp>
        <p:nvSpPr>
          <p:cNvPr id="57" name="TextBox 56"/>
          <p:cNvSpPr txBox="1">
            <a:spLocks noChangeArrowheads="1"/>
          </p:cNvSpPr>
          <p:nvPr/>
        </p:nvSpPr>
        <p:spPr bwMode="auto">
          <a:xfrm>
            <a:off x="6477000" y="4953000"/>
            <a:ext cx="33813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8200" y="0"/>
            <a:ext cx="7567613" cy="1016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rgbClr val="0070C0"/>
                </a:solidFill>
              </a:rPr>
              <a:t>To simulate any transition:</a:t>
            </a:r>
            <a:br>
              <a:rPr lang="en-US" sz="2000" dirty="0">
                <a:solidFill>
                  <a:srgbClr val="0070C0"/>
                </a:solidFill>
              </a:rPr>
            </a:br>
            <a:r>
              <a:rPr lang="en-US" sz="2000" dirty="0">
                <a:solidFill>
                  <a:srgbClr val="0070C0"/>
                </a:solidFill>
              </a:rPr>
              <a:t>	Step 1) Go to all immediate destination states.</a:t>
            </a:r>
          </a:p>
          <a:p>
            <a:pPr>
              <a:defRPr/>
            </a:pPr>
            <a:r>
              <a:rPr lang="en-US" sz="2000" dirty="0">
                <a:solidFill>
                  <a:srgbClr val="0070C0"/>
                </a:solidFill>
              </a:rPr>
              <a:t>	Step 2) From there go to all their </a:t>
            </a:r>
            <a:r>
              <a:rPr lang="en-US" sz="2000" dirty="0">
                <a:solidFill>
                  <a:srgbClr val="0070C0"/>
                </a:solidFill>
                <a:sym typeface="Symbol"/>
              </a:rPr>
              <a:t>-closure states as well.</a:t>
            </a:r>
            <a:endParaRPr lang="en-US" sz="20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99" grpId="0" build="p"/>
      <p:bldP spid="33" grpId="0"/>
      <p:bldP spid="57" grpId="0"/>
      <p:bldP spid="5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705600" y="6248400"/>
            <a:ext cx="1905000" cy="457200"/>
          </a:xfrm>
          <a:noFill/>
        </p:spPr>
        <p:txBody>
          <a:bodyPr/>
          <a:lstStyle/>
          <a:p>
            <a:fld id="{4DCF8C33-92ED-42B4-9DA5-0286F64C4429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 of another </a:t>
            </a:r>
            <a:r>
              <a:rPr lang="en-US">
                <a:sym typeface="Symbol" pitchFamily="28" charset="2"/>
              </a:rPr>
              <a:t></a:t>
            </a:r>
            <a:r>
              <a:rPr lang="en-US"/>
              <a:t>-NFA</a:t>
            </a:r>
          </a:p>
        </p:txBody>
      </p:sp>
      <p:graphicFrame>
        <p:nvGraphicFramePr>
          <p:cNvPr id="141451" name="Group 139"/>
          <p:cNvGraphicFramePr>
            <a:graphicFrameLocks noGrp="1"/>
          </p:cNvGraphicFramePr>
          <p:nvPr/>
        </p:nvGraphicFramePr>
        <p:xfrm>
          <a:off x="838200" y="4191000"/>
          <a:ext cx="3124200" cy="2042160"/>
        </p:xfrm>
        <a:graphic>
          <a:graphicData uri="http://schemas.openxmlformats.org/drawingml/2006/table">
            <a:tbl>
              <a:tblPr/>
              <a:tblGrid>
                <a:gridCol w="510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2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3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l-G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Grande" pitchFamily="28" charset="0"/>
                          <a:cs typeface="Tahoma" pitchFamily="28" charset="0"/>
                        </a:rPr>
                        <a:t>δ</a:t>
                      </a:r>
                      <a:r>
                        <a:rPr kumimoji="0" lang="el-GR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Grande" pitchFamily="28" charset="0"/>
                          <a:cs typeface="Tahoma" pitchFamily="28" charset="0"/>
                        </a:rPr>
                        <a:t>E</a:t>
                      </a:r>
                      <a:endParaRPr kumimoji="0" lang="en-US" sz="14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Grande" pitchFamily="28" charset="0"/>
                        <a:cs typeface="Tahoma" pitchFamily="2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sym typeface="Symbol" pitchFamily="28" charset="2"/>
                        </a:rPr>
                        <a:t>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sym typeface="Symbol" pitchFamily="2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*q’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{q’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  <a:endParaRPr kumimoji="0" lang="en-US" sz="14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0,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*q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7927" name="Line 83"/>
          <p:cNvSpPr>
            <a:spLocks noChangeShapeType="1"/>
          </p:cNvSpPr>
          <p:nvPr/>
        </p:nvSpPr>
        <p:spPr bwMode="auto">
          <a:xfrm>
            <a:off x="533400" y="4876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7928" name="Rectangle 87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981200"/>
            <a:ext cx="3810000" cy="762000"/>
          </a:xfrm>
        </p:spPr>
        <p:txBody>
          <a:bodyPr/>
          <a:lstStyle/>
          <a:p>
            <a:pPr eaLnBrk="1" hangingPunct="1">
              <a:buFont typeface="Wingdings" pitchFamily="28" charset="2"/>
              <a:buNone/>
            </a:pPr>
            <a:r>
              <a:rPr lang="en-US" sz="2800" u="sng">
                <a:sym typeface="Symbol" pitchFamily="28" charset="2"/>
              </a:rPr>
              <a:t>Simulate for w=101:</a:t>
            </a:r>
            <a:r>
              <a:rPr lang="en-US" sz="2800">
                <a:sym typeface="Symbol" pitchFamily="28" charset="2"/>
              </a:rPr>
              <a:t> </a:t>
            </a:r>
          </a:p>
          <a:p>
            <a:pPr eaLnBrk="1" hangingPunct="1">
              <a:buFont typeface="Wingdings" pitchFamily="28" charset="2"/>
              <a:buNone/>
            </a:pPr>
            <a:r>
              <a:rPr lang="en-US" sz="2800">
                <a:sym typeface="Symbol" pitchFamily="28" charset="2"/>
              </a:rPr>
              <a:t>			?</a:t>
            </a:r>
          </a:p>
          <a:p>
            <a:pPr eaLnBrk="1" hangingPunct="1"/>
            <a:endParaRPr lang="en-US" sz="2400"/>
          </a:p>
        </p:txBody>
      </p:sp>
      <p:grpSp>
        <p:nvGrpSpPr>
          <p:cNvPr id="37929" name="Group 31"/>
          <p:cNvGrpSpPr>
            <a:grpSpLocks/>
          </p:cNvGrpSpPr>
          <p:nvPr/>
        </p:nvGrpSpPr>
        <p:grpSpPr bwMode="auto">
          <a:xfrm>
            <a:off x="228600" y="3367088"/>
            <a:ext cx="914400" cy="366712"/>
            <a:chOff x="228600" y="3976688"/>
            <a:chExt cx="914400" cy="366713"/>
          </a:xfrm>
        </p:grpSpPr>
        <p:sp>
          <p:nvSpPr>
            <p:cNvPr id="37951" name="Line 6"/>
            <p:cNvSpPr>
              <a:spLocks noChangeShapeType="1"/>
            </p:cNvSpPr>
            <p:nvPr/>
          </p:nvSpPr>
          <p:spPr bwMode="auto">
            <a:xfrm>
              <a:off x="533400" y="4286250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52" name="Text Box 7"/>
            <p:cNvSpPr txBox="1">
              <a:spLocks noChangeArrowheads="1"/>
            </p:cNvSpPr>
            <p:nvPr/>
          </p:nvSpPr>
          <p:spPr bwMode="auto">
            <a:xfrm>
              <a:off x="228600" y="3976688"/>
              <a:ext cx="6286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/>
                <a:t>start</a:t>
              </a:r>
            </a:p>
          </p:txBody>
        </p:sp>
      </p:grpSp>
      <p:sp>
        <p:nvSpPr>
          <p:cNvPr id="37930" name="Oval 5"/>
          <p:cNvSpPr>
            <a:spLocks noChangeArrowheads="1"/>
          </p:cNvSpPr>
          <p:nvPr/>
        </p:nvSpPr>
        <p:spPr bwMode="auto">
          <a:xfrm>
            <a:off x="1600200" y="26670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q</a:t>
            </a:r>
            <a:r>
              <a:rPr lang="en-US" sz="1800" baseline="-25000"/>
              <a:t>0</a:t>
            </a:r>
          </a:p>
        </p:txBody>
      </p:sp>
      <p:sp>
        <p:nvSpPr>
          <p:cNvPr id="37931" name="Line 9"/>
          <p:cNvSpPr>
            <a:spLocks noChangeShapeType="1"/>
          </p:cNvSpPr>
          <p:nvPr/>
        </p:nvSpPr>
        <p:spPr bwMode="auto">
          <a:xfrm>
            <a:off x="2057400" y="2895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7932" name="Oval 10"/>
          <p:cNvSpPr>
            <a:spLocks noChangeArrowheads="1"/>
          </p:cNvSpPr>
          <p:nvPr/>
        </p:nvSpPr>
        <p:spPr bwMode="auto">
          <a:xfrm>
            <a:off x="2590800" y="26670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q</a:t>
            </a:r>
            <a:r>
              <a:rPr lang="en-US" sz="1800" baseline="-25000"/>
              <a:t>1</a:t>
            </a:r>
          </a:p>
        </p:txBody>
      </p:sp>
      <p:sp>
        <p:nvSpPr>
          <p:cNvPr id="37933" name="Text Box 11"/>
          <p:cNvSpPr txBox="1">
            <a:spLocks noChangeArrowheads="1"/>
          </p:cNvSpPr>
          <p:nvPr/>
        </p:nvSpPr>
        <p:spPr bwMode="auto">
          <a:xfrm>
            <a:off x="2117725" y="2549525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0</a:t>
            </a:r>
            <a:endParaRPr lang="en-US" sz="1800">
              <a:solidFill>
                <a:schemeClr val="hlink"/>
              </a:solidFill>
            </a:endParaRPr>
          </a:p>
        </p:txBody>
      </p:sp>
      <p:sp>
        <p:nvSpPr>
          <p:cNvPr id="37934" name="Freeform 12"/>
          <p:cNvSpPr>
            <a:spLocks/>
          </p:cNvSpPr>
          <p:nvPr/>
        </p:nvSpPr>
        <p:spPr bwMode="auto">
          <a:xfrm>
            <a:off x="1574800" y="2349500"/>
            <a:ext cx="419100" cy="317500"/>
          </a:xfrm>
          <a:custGeom>
            <a:avLst/>
            <a:gdLst>
              <a:gd name="T0" fmla="*/ 2147483647 w 264"/>
              <a:gd name="T1" fmla="*/ 2147483647 h 200"/>
              <a:gd name="T2" fmla="*/ 2147483647 w 264"/>
              <a:gd name="T3" fmla="*/ 2147483647 h 200"/>
              <a:gd name="T4" fmla="*/ 2147483647 w 264"/>
              <a:gd name="T5" fmla="*/ 2147483647 h 200"/>
              <a:gd name="T6" fmla="*/ 2147483647 w 264"/>
              <a:gd name="T7" fmla="*/ 2147483647 h 200"/>
              <a:gd name="T8" fmla="*/ 2147483647 w 264"/>
              <a:gd name="T9" fmla="*/ 2147483647 h 2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4"/>
              <a:gd name="T16" fmla="*/ 0 h 200"/>
              <a:gd name="T17" fmla="*/ 264 w 264"/>
              <a:gd name="T18" fmla="*/ 200 h 2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4" h="200">
                <a:moveTo>
                  <a:pt x="64" y="200"/>
                </a:moveTo>
                <a:cubicBezTo>
                  <a:pt x="32" y="144"/>
                  <a:pt x="0" y="88"/>
                  <a:pt x="16" y="56"/>
                </a:cubicBezTo>
                <a:cubicBezTo>
                  <a:pt x="32" y="24"/>
                  <a:pt x="120" y="0"/>
                  <a:pt x="160" y="8"/>
                </a:cubicBezTo>
                <a:cubicBezTo>
                  <a:pt x="200" y="16"/>
                  <a:pt x="248" y="72"/>
                  <a:pt x="256" y="104"/>
                </a:cubicBezTo>
                <a:cubicBezTo>
                  <a:pt x="264" y="136"/>
                  <a:pt x="236" y="168"/>
                  <a:pt x="208" y="20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7935" name="Text Box 13"/>
          <p:cNvSpPr txBox="1">
            <a:spLocks noChangeArrowheads="1"/>
          </p:cNvSpPr>
          <p:nvPr/>
        </p:nvSpPr>
        <p:spPr bwMode="auto">
          <a:xfrm>
            <a:off x="1447800" y="2016125"/>
            <a:ext cx="501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0,1</a:t>
            </a:r>
          </a:p>
        </p:txBody>
      </p:sp>
      <p:sp>
        <p:nvSpPr>
          <p:cNvPr id="37936" name="Text Box 18"/>
          <p:cNvSpPr txBox="1">
            <a:spLocks noChangeArrowheads="1"/>
          </p:cNvSpPr>
          <p:nvPr/>
        </p:nvSpPr>
        <p:spPr bwMode="auto">
          <a:xfrm>
            <a:off x="3048000" y="25527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1</a:t>
            </a:r>
          </a:p>
        </p:txBody>
      </p:sp>
      <p:sp>
        <p:nvSpPr>
          <p:cNvPr id="37937" name="Oval 19"/>
          <p:cNvSpPr>
            <a:spLocks noChangeArrowheads="1"/>
          </p:cNvSpPr>
          <p:nvPr/>
        </p:nvSpPr>
        <p:spPr bwMode="auto">
          <a:xfrm>
            <a:off x="3581400" y="26670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q</a:t>
            </a:r>
            <a:r>
              <a:rPr lang="en-US" sz="1800" baseline="-25000"/>
              <a:t>2</a:t>
            </a:r>
          </a:p>
        </p:txBody>
      </p:sp>
      <p:sp>
        <p:nvSpPr>
          <p:cNvPr id="37938" name="Line 20"/>
          <p:cNvSpPr>
            <a:spLocks noChangeShapeType="1"/>
          </p:cNvSpPr>
          <p:nvPr/>
        </p:nvSpPr>
        <p:spPr bwMode="auto">
          <a:xfrm>
            <a:off x="3048000" y="28956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7939" name="Oval 22"/>
          <p:cNvSpPr>
            <a:spLocks noChangeArrowheads="1"/>
          </p:cNvSpPr>
          <p:nvPr/>
        </p:nvSpPr>
        <p:spPr bwMode="auto">
          <a:xfrm>
            <a:off x="3505200" y="2590800"/>
            <a:ext cx="609600" cy="609600"/>
          </a:xfrm>
          <a:prstGeom prst="ellipse">
            <a:avLst/>
          </a:prstGeom>
          <a:solidFill>
            <a:schemeClr val="accent1">
              <a:alpha val="12157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7940" name="Oval 90"/>
          <p:cNvSpPr>
            <a:spLocks noChangeArrowheads="1"/>
          </p:cNvSpPr>
          <p:nvPr/>
        </p:nvSpPr>
        <p:spPr bwMode="auto">
          <a:xfrm>
            <a:off x="1219200" y="34290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q’</a:t>
            </a:r>
            <a:r>
              <a:rPr lang="en-US" sz="1800" baseline="-25000"/>
              <a:t>0</a:t>
            </a:r>
          </a:p>
        </p:txBody>
      </p:sp>
      <p:sp>
        <p:nvSpPr>
          <p:cNvPr id="37941" name="Oval 91"/>
          <p:cNvSpPr>
            <a:spLocks noChangeArrowheads="1"/>
          </p:cNvSpPr>
          <p:nvPr/>
        </p:nvSpPr>
        <p:spPr bwMode="auto">
          <a:xfrm>
            <a:off x="1143000" y="3352800"/>
            <a:ext cx="609600" cy="609600"/>
          </a:xfrm>
          <a:prstGeom prst="ellipse">
            <a:avLst/>
          </a:prstGeom>
          <a:solidFill>
            <a:schemeClr val="accent1">
              <a:alpha val="12157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7942" name="Line 92"/>
          <p:cNvSpPr>
            <a:spLocks noChangeShapeType="1"/>
          </p:cNvSpPr>
          <p:nvPr/>
        </p:nvSpPr>
        <p:spPr bwMode="auto">
          <a:xfrm flipV="1">
            <a:off x="1447800" y="31242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7943" name="Text Box 93"/>
          <p:cNvSpPr txBox="1">
            <a:spLocks noChangeArrowheads="1"/>
          </p:cNvSpPr>
          <p:nvPr/>
        </p:nvSpPr>
        <p:spPr bwMode="auto">
          <a:xfrm>
            <a:off x="1219200" y="2986088"/>
            <a:ext cx="2857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sym typeface="Symbol" pitchFamily="28" charset="2"/>
              </a:rPr>
              <a:t></a:t>
            </a:r>
            <a:endParaRPr lang="en-US" sz="1800">
              <a:solidFill>
                <a:schemeClr val="hlink"/>
              </a:solidFill>
            </a:endParaRPr>
          </a:p>
        </p:txBody>
      </p:sp>
      <p:sp>
        <p:nvSpPr>
          <p:cNvPr id="37944" name="TextBox 29"/>
          <p:cNvSpPr txBox="1">
            <a:spLocks noChangeArrowheads="1"/>
          </p:cNvSpPr>
          <p:nvPr/>
        </p:nvSpPr>
        <p:spPr bwMode="auto">
          <a:xfrm>
            <a:off x="4343400" y="6477000"/>
            <a:ext cx="1841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cxnSp>
        <p:nvCxnSpPr>
          <p:cNvPr id="37945" name="Straight Arrow Connector 57"/>
          <p:cNvCxnSpPr>
            <a:cxnSpLocks noChangeShapeType="1"/>
            <a:stCxn id="37930" idx="5"/>
          </p:cNvCxnSpPr>
          <p:nvPr/>
        </p:nvCxnSpPr>
        <p:spPr bwMode="auto">
          <a:xfrm>
            <a:off x="1990725" y="3057525"/>
            <a:ext cx="371475" cy="4476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37946" name="Text Box 93"/>
          <p:cNvSpPr txBox="1">
            <a:spLocks noChangeArrowheads="1"/>
          </p:cNvSpPr>
          <p:nvPr/>
        </p:nvSpPr>
        <p:spPr bwMode="auto">
          <a:xfrm>
            <a:off x="2133600" y="2971800"/>
            <a:ext cx="2857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sym typeface="Symbol" pitchFamily="28" charset="2"/>
              </a:rPr>
              <a:t></a:t>
            </a:r>
            <a:endParaRPr lang="en-US" sz="1800">
              <a:solidFill>
                <a:schemeClr val="hlink"/>
              </a:solidFill>
            </a:endParaRPr>
          </a:p>
        </p:txBody>
      </p:sp>
      <p:sp>
        <p:nvSpPr>
          <p:cNvPr id="37947" name="Oval 10"/>
          <p:cNvSpPr>
            <a:spLocks noChangeArrowheads="1"/>
          </p:cNvSpPr>
          <p:nvPr/>
        </p:nvSpPr>
        <p:spPr bwMode="auto">
          <a:xfrm>
            <a:off x="2362200" y="33528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q</a:t>
            </a:r>
            <a:r>
              <a:rPr lang="en-US" sz="1800" baseline="-25000"/>
              <a:t>3</a:t>
            </a:r>
          </a:p>
        </p:txBody>
      </p:sp>
      <p:cxnSp>
        <p:nvCxnSpPr>
          <p:cNvPr id="37948" name="Straight Arrow Connector 61"/>
          <p:cNvCxnSpPr>
            <a:cxnSpLocks noChangeShapeType="1"/>
            <a:stCxn id="37947" idx="6"/>
            <a:endCxn id="37939" idx="3"/>
          </p:cNvCxnSpPr>
          <p:nvPr/>
        </p:nvCxnSpPr>
        <p:spPr bwMode="auto">
          <a:xfrm flipV="1">
            <a:off x="2819400" y="3111500"/>
            <a:ext cx="774700" cy="4699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37949" name="Text Box 18"/>
          <p:cNvSpPr txBox="1">
            <a:spLocks noChangeArrowheads="1"/>
          </p:cNvSpPr>
          <p:nvPr/>
        </p:nvSpPr>
        <p:spPr bwMode="auto">
          <a:xfrm>
            <a:off x="3200400" y="29098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8200" y="0"/>
            <a:ext cx="7567613" cy="1016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rgbClr val="0070C0"/>
                </a:solidFill>
              </a:rPr>
              <a:t>To simulate any transition:</a:t>
            </a:r>
            <a:br>
              <a:rPr lang="en-US" sz="2000" dirty="0">
                <a:solidFill>
                  <a:srgbClr val="0070C0"/>
                </a:solidFill>
              </a:rPr>
            </a:br>
            <a:r>
              <a:rPr lang="en-US" sz="2000" dirty="0">
                <a:solidFill>
                  <a:srgbClr val="0070C0"/>
                </a:solidFill>
              </a:rPr>
              <a:t>	Step 1) Go to all immediate destination states.</a:t>
            </a:r>
          </a:p>
          <a:p>
            <a:pPr>
              <a:defRPr/>
            </a:pPr>
            <a:r>
              <a:rPr lang="en-US" sz="2000" dirty="0">
                <a:solidFill>
                  <a:srgbClr val="0070C0"/>
                </a:solidFill>
              </a:rPr>
              <a:t>	Step 2) From there go to all their </a:t>
            </a:r>
            <a:r>
              <a:rPr lang="en-US" sz="2000" dirty="0">
                <a:solidFill>
                  <a:srgbClr val="0070C0"/>
                </a:solidFill>
                <a:sym typeface="Symbol"/>
              </a:rPr>
              <a:t>-closure states as well.</a:t>
            </a:r>
            <a:endParaRPr lang="en-US" sz="20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7FB6CA3-5225-4CEE-AF32-0BC3281E8E16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/>
              <a:t>Equivalency of DFA, NFA, </a:t>
            </a:r>
            <a:r>
              <a:rPr lang="en-US">
                <a:sym typeface="Symbol" pitchFamily="28" charset="2"/>
              </a:rPr>
              <a:t></a:t>
            </a:r>
            <a:r>
              <a:rPr lang="en-US" sz="4000"/>
              <a:t>-NFA</a:t>
            </a:r>
            <a:r>
              <a:rPr lang="en-US"/>
              <a:t> 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u="sng"/>
              <a:t>Theorem:</a:t>
            </a:r>
            <a:r>
              <a:rPr lang="en-US"/>
              <a:t> A language L is accepted by some </a:t>
            </a:r>
            <a:r>
              <a:rPr lang="en-US">
                <a:sym typeface="Symbol" pitchFamily="28" charset="2"/>
              </a:rPr>
              <a:t></a:t>
            </a:r>
            <a:r>
              <a:rPr lang="en-US" sz="2800"/>
              <a:t>-NFA if and only if L is accepted by some DFA</a:t>
            </a:r>
          </a:p>
          <a:p>
            <a:pPr eaLnBrk="1" hangingPunct="1"/>
            <a:endParaRPr lang="en-US" sz="2800"/>
          </a:p>
          <a:p>
            <a:pPr eaLnBrk="1" hangingPunct="1"/>
            <a:endParaRPr lang="en-US" sz="2800" u="sng"/>
          </a:p>
          <a:p>
            <a:pPr eaLnBrk="1" hangingPunct="1"/>
            <a:r>
              <a:rPr lang="en-US" sz="2800" u="sng"/>
              <a:t>Implication:</a:t>
            </a:r>
          </a:p>
          <a:p>
            <a:pPr lvl="1" eaLnBrk="1" hangingPunct="1"/>
            <a:r>
              <a:rPr lang="en-US" sz="2400"/>
              <a:t>DFA </a:t>
            </a:r>
            <a:r>
              <a:rPr lang="en-US" sz="2400">
                <a:sym typeface="Symbol" pitchFamily="28" charset="2"/>
              </a:rPr>
              <a:t>≡ </a:t>
            </a:r>
            <a:r>
              <a:rPr lang="en-US" sz="2400"/>
              <a:t> NFA </a:t>
            </a:r>
            <a:r>
              <a:rPr lang="en-US" sz="2400">
                <a:sym typeface="Symbol" pitchFamily="28" charset="2"/>
              </a:rPr>
              <a:t>≡</a:t>
            </a:r>
            <a:r>
              <a:rPr lang="en-US" sz="2400"/>
              <a:t> </a:t>
            </a:r>
            <a:r>
              <a:rPr lang="en-US">
                <a:sym typeface="Symbol" pitchFamily="28" charset="2"/>
              </a:rPr>
              <a:t></a:t>
            </a:r>
            <a:r>
              <a:rPr lang="en-US" sz="2400"/>
              <a:t>-NFA</a:t>
            </a:r>
          </a:p>
          <a:p>
            <a:pPr lvl="1" eaLnBrk="1" hangingPunct="1"/>
            <a:r>
              <a:rPr lang="en-US" sz="2400"/>
              <a:t>(all accept Regular Languages)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FC1FFA1-3FB0-4619-BDB1-56551E69BDFF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/>
              <a:t>Eliminating </a:t>
            </a:r>
            <a:r>
              <a:rPr lang="en-US">
                <a:sym typeface="Symbol" pitchFamily="28" charset="2"/>
              </a:rPr>
              <a:t></a:t>
            </a:r>
            <a:r>
              <a:rPr lang="en-US" sz="4000"/>
              <a:t>-transitions</a:t>
            </a:r>
            <a:r>
              <a:rPr lang="en-US" sz="3200"/>
              <a:t> </a:t>
            </a: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90000"/>
              </a:lnSpc>
              <a:buFont typeface="Wingdings" pitchFamily="28" charset="2"/>
              <a:buNone/>
            </a:pPr>
            <a:r>
              <a:rPr lang="el-GR" sz="2400">
                <a:latin typeface="Lucida Grande" pitchFamily="28" charset="0"/>
                <a:cs typeface="Tahoma" pitchFamily="28" charset="0"/>
              </a:rPr>
              <a:t>Let E = {Q</a:t>
            </a:r>
            <a:r>
              <a:rPr lang="el-GR" sz="2400" baseline="-25000">
                <a:latin typeface="Lucida Grande" pitchFamily="28" charset="0"/>
                <a:cs typeface="Tahoma" pitchFamily="28" charset="0"/>
              </a:rPr>
              <a:t>E</a:t>
            </a:r>
            <a:r>
              <a:rPr lang="el-GR" sz="2400">
                <a:latin typeface="Lucida Grande" pitchFamily="28" charset="0"/>
                <a:cs typeface="Tahoma" pitchFamily="28" charset="0"/>
              </a:rPr>
              <a:t>,∑,δ</a:t>
            </a:r>
            <a:r>
              <a:rPr lang="el-GR" sz="2400" baseline="-25000">
                <a:latin typeface="Lucida Grande" pitchFamily="28" charset="0"/>
                <a:cs typeface="Tahoma" pitchFamily="28" charset="0"/>
              </a:rPr>
              <a:t>E</a:t>
            </a:r>
            <a:r>
              <a:rPr lang="el-GR" sz="2400">
                <a:latin typeface="Lucida Grande" pitchFamily="28" charset="0"/>
                <a:cs typeface="Tahoma" pitchFamily="28" charset="0"/>
              </a:rPr>
              <a:t>,q</a:t>
            </a:r>
            <a:r>
              <a:rPr lang="el-GR" sz="2400" baseline="-25000">
                <a:latin typeface="Lucida Grande" pitchFamily="28" charset="0"/>
                <a:cs typeface="Tahoma" pitchFamily="28" charset="0"/>
              </a:rPr>
              <a:t>0</a:t>
            </a:r>
            <a:r>
              <a:rPr lang="el-GR" sz="2400">
                <a:latin typeface="Lucida Grande" pitchFamily="28" charset="0"/>
                <a:cs typeface="Tahoma" pitchFamily="28" charset="0"/>
              </a:rPr>
              <a:t>,F</a:t>
            </a:r>
            <a:r>
              <a:rPr lang="el-GR" sz="2400" baseline="-25000">
                <a:latin typeface="Lucida Grande" pitchFamily="28" charset="0"/>
                <a:cs typeface="Tahoma" pitchFamily="28" charset="0"/>
              </a:rPr>
              <a:t>E</a:t>
            </a:r>
            <a:r>
              <a:rPr lang="el-GR" sz="2400">
                <a:latin typeface="Lucida Grande" pitchFamily="28" charset="0"/>
                <a:cs typeface="Tahoma" pitchFamily="28" charset="0"/>
              </a:rPr>
              <a:t>}</a:t>
            </a:r>
            <a:r>
              <a:rPr lang="en-US" sz="2400">
                <a:latin typeface="Lucida Grande" pitchFamily="28" charset="0"/>
                <a:cs typeface="Tahoma" pitchFamily="28" charset="0"/>
              </a:rPr>
              <a:t> be an </a:t>
            </a:r>
            <a:r>
              <a:rPr lang="en-US" sz="2400">
                <a:sym typeface="Symbol" pitchFamily="28" charset="2"/>
              </a:rPr>
              <a:t></a:t>
            </a:r>
            <a:r>
              <a:rPr lang="en-US" sz="2400">
                <a:latin typeface="Lucida Grande" pitchFamily="28" charset="0"/>
                <a:cs typeface="Tahoma" pitchFamily="28" charset="0"/>
              </a:rPr>
              <a:t>-NFA</a:t>
            </a:r>
            <a:endParaRPr lang="el-GR" sz="2400">
              <a:latin typeface="Lucida Grande" pitchFamily="28" charset="0"/>
              <a:cs typeface="Tahoma" pitchFamily="28" charset="0"/>
            </a:endParaRPr>
          </a:p>
          <a:p>
            <a:pPr marL="609600" indent="-609600" eaLnBrk="1" hangingPunct="1">
              <a:lnSpc>
                <a:spcPct val="90000"/>
              </a:lnSpc>
              <a:buFont typeface="Wingdings" pitchFamily="28" charset="2"/>
              <a:buNone/>
            </a:pPr>
            <a:r>
              <a:rPr lang="el-GR" sz="2400" u="sng">
                <a:latin typeface="Lucida Grande" pitchFamily="28" charset="0"/>
                <a:cs typeface="Tahoma" pitchFamily="28" charset="0"/>
              </a:rPr>
              <a:t>Goal:</a:t>
            </a:r>
            <a:r>
              <a:rPr lang="el-GR" sz="2400">
                <a:latin typeface="Lucida Grande" pitchFamily="28" charset="0"/>
                <a:cs typeface="Tahoma" pitchFamily="28" charset="0"/>
              </a:rPr>
              <a:t> </a:t>
            </a:r>
            <a:r>
              <a:rPr lang="en-US" sz="2400">
                <a:latin typeface="Lucida Grande" pitchFamily="28" charset="0"/>
                <a:cs typeface="Tahoma" pitchFamily="28" charset="0"/>
              </a:rPr>
              <a:t>To b</a:t>
            </a:r>
            <a:r>
              <a:rPr lang="el-GR" sz="2400">
                <a:latin typeface="Lucida Grande" pitchFamily="28" charset="0"/>
                <a:cs typeface="Tahoma" pitchFamily="28" charset="0"/>
              </a:rPr>
              <a:t>uild </a:t>
            </a:r>
            <a:r>
              <a:rPr lang="en-US" sz="2400">
                <a:latin typeface="Lucida Grande" pitchFamily="28" charset="0"/>
                <a:cs typeface="Tahoma" pitchFamily="28" charset="0"/>
              </a:rPr>
              <a:t>DFA </a:t>
            </a:r>
            <a:r>
              <a:rPr lang="el-GR" sz="2400">
                <a:latin typeface="Lucida Grande" pitchFamily="28" charset="0"/>
                <a:cs typeface="Tahoma" pitchFamily="28" charset="0"/>
              </a:rPr>
              <a:t>D={</a:t>
            </a:r>
            <a:r>
              <a:rPr lang="el-GR" sz="2400">
                <a:solidFill>
                  <a:schemeClr val="hlink"/>
                </a:solidFill>
                <a:latin typeface="Lucida Grande" pitchFamily="28" charset="0"/>
                <a:cs typeface="Tahoma" pitchFamily="28" charset="0"/>
              </a:rPr>
              <a:t>Q</a:t>
            </a:r>
            <a:r>
              <a:rPr lang="el-GR" sz="2400" baseline="-25000">
                <a:solidFill>
                  <a:schemeClr val="hlink"/>
                </a:solidFill>
                <a:latin typeface="Lucida Grande" pitchFamily="28" charset="0"/>
                <a:cs typeface="Tahoma" pitchFamily="28" charset="0"/>
              </a:rPr>
              <a:t>D</a:t>
            </a:r>
            <a:r>
              <a:rPr lang="el-GR" sz="2400">
                <a:solidFill>
                  <a:schemeClr val="hlink"/>
                </a:solidFill>
                <a:latin typeface="Lucida Grande" pitchFamily="28" charset="0"/>
                <a:cs typeface="Tahoma" pitchFamily="28" charset="0"/>
              </a:rPr>
              <a:t>,∑,δ</a:t>
            </a:r>
            <a:r>
              <a:rPr lang="el-GR" sz="2400" baseline="-25000">
                <a:solidFill>
                  <a:schemeClr val="hlink"/>
                </a:solidFill>
                <a:latin typeface="Lucida Grande" pitchFamily="28" charset="0"/>
                <a:cs typeface="Tahoma" pitchFamily="28" charset="0"/>
              </a:rPr>
              <a:t>D</a:t>
            </a:r>
            <a:r>
              <a:rPr lang="el-GR" sz="2400">
                <a:solidFill>
                  <a:schemeClr val="hlink"/>
                </a:solidFill>
                <a:latin typeface="Lucida Grande" pitchFamily="28" charset="0"/>
                <a:cs typeface="Tahoma" pitchFamily="28" charset="0"/>
              </a:rPr>
              <a:t>,{q</a:t>
            </a:r>
            <a:r>
              <a:rPr lang="el-GR" sz="2400" baseline="-25000">
                <a:solidFill>
                  <a:schemeClr val="hlink"/>
                </a:solidFill>
                <a:latin typeface="Lucida Grande" pitchFamily="28" charset="0"/>
                <a:cs typeface="Tahoma" pitchFamily="28" charset="0"/>
              </a:rPr>
              <a:t>D</a:t>
            </a:r>
            <a:r>
              <a:rPr lang="el-GR" sz="2400">
                <a:solidFill>
                  <a:schemeClr val="hlink"/>
                </a:solidFill>
                <a:latin typeface="Lucida Grande" pitchFamily="28" charset="0"/>
                <a:cs typeface="Tahoma" pitchFamily="28" charset="0"/>
              </a:rPr>
              <a:t>},F</a:t>
            </a:r>
            <a:r>
              <a:rPr lang="el-GR" sz="2400" baseline="-25000">
                <a:solidFill>
                  <a:schemeClr val="hlink"/>
                </a:solidFill>
                <a:latin typeface="Lucida Grande" pitchFamily="28" charset="0"/>
                <a:cs typeface="Tahoma" pitchFamily="28" charset="0"/>
              </a:rPr>
              <a:t>D</a:t>
            </a:r>
            <a:r>
              <a:rPr lang="el-GR" sz="2400">
                <a:latin typeface="Lucida Grande" pitchFamily="28" charset="0"/>
                <a:cs typeface="Tahoma" pitchFamily="28" charset="0"/>
              </a:rPr>
              <a:t>} s.t. L(D)=L(E)</a:t>
            </a:r>
          </a:p>
          <a:p>
            <a:pPr marL="609600" indent="-609600" eaLnBrk="1" hangingPunct="1">
              <a:lnSpc>
                <a:spcPct val="90000"/>
              </a:lnSpc>
              <a:buFont typeface="Wingdings" pitchFamily="28" charset="2"/>
              <a:buNone/>
            </a:pPr>
            <a:r>
              <a:rPr lang="en-US" sz="2400" u="sng">
                <a:latin typeface="Lucida Grande" pitchFamily="28" charset="0"/>
                <a:cs typeface="Tahoma" pitchFamily="28" charset="0"/>
              </a:rPr>
              <a:t>Construction:</a:t>
            </a:r>
            <a:endParaRPr lang="en-US" sz="2400">
              <a:latin typeface="Lucida Grande" pitchFamily="28" charset="0"/>
              <a:cs typeface="Tahoma" pitchFamily="28" charset="0"/>
            </a:endParaRPr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eriod"/>
            </a:pPr>
            <a:r>
              <a:rPr lang="el-GR" sz="2000">
                <a:solidFill>
                  <a:schemeClr val="hlink"/>
                </a:solidFill>
                <a:latin typeface="Lucida Grande" pitchFamily="28" charset="0"/>
                <a:cs typeface="Tahoma" pitchFamily="28" charset="0"/>
              </a:rPr>
              <a:t>Q</a:t>
            </a:r>
            <a:r>
              <a:rPr lang="el-GR" sz="2000" baseline="-25000">
                <a:solidFill>
                  <a:schemeClr val="hlink"/>
                </a:solidFill>
                <a:latin typeface="Lucida Grande" pitchFamily="28" charset="0"/>
                <a:cs typeface="Tahoma" pitchFamily="28" charset="0"/>
              </a:rPr>
              <a:t>D</a:t>
            </a:r>
            <a:r>
              <a:rPr lang="el-GR" sz="2000">
                <a:latin typeface="Lucida Grande" pitchFamily="28" charset="0"/>
                <a:cs typeface="Tahoma" pitchFamily="28" charset="0"/>
              </a:rPr>
              <a:t>= all </a:t>
            </a:r>
            <a:r>
              <a:rPr lang="en-US" sz="2000">
                <a:latin typeface="Lucida Grande" pitchFamily="28" charset="0"/>
                <a:cs typeface="Tahoma" pitchFamily="28" charset="0"/>
              </a:rPr>
              <a:t>reachable </a:t>
            </a:r>
            <a:r>
              <a:rPr lang="el-GR" sz="2000">
                <a:latin typeface="Lucida Grande" pitchFamily="28" charset="0"/>
                <a:cs typeface="Tahoma" pitchFamily="28" charset="0"/>
              </a:rPr>
              <a:t>subsets of Q</a:t>
            </a:r>
            <a:r>
              <a:rPr lang="el-GR" sz="2000" baseline="-25000">
                <a:latin typeface="Lucida Grande" pitchFamily="28" charset="0"/>
                <a:cs typeface="Tahoma" pitchFamily="28" charset="0"/>
              </a:rPr>
              <a:t>E </a:t>
            </a:r>
            <a:r>
              <a:rPr lang="el-GR" sz="2000">
                <a:latin typeface="Lucida Grande" pitchFamily="28" charset="0"/>
                <a:cs typeface="Tahoma" pitchFamily="28" charset="0"/>
              </a:rPr>
              <a:t>factoring in </a:t>
            </a:r>
            <a:r>
              <a:rPr lang="en-US" sz="2000">
                <a:sym typeface="Symbol" pitchFamily="28" charset="2"/>
              </a:rPr>
              <a:t></a:t>
            </a:r>
            <a:r>
              <a:rPr lang="en-US" sz="2000"/>
              <a:t>-closures</a:t>
            </a:r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eriod"/>
            </a:pPr>
            <a:r>
              <a:rPr lang="el-GR" sz="2000">
                <a:latin typeface="Lucida Grande" pitchFamily="28" charset="0"/>
                <a:cs typeface="Tahoma" pitchFamily="28" charset="0"/>
              </a:rPr>
              <a:t>q</a:t>
            </a:r>
            <a:r>
              <a:rPr lang="en-US" sz="2000" baseline="-25000">
                <a:latin typeface="Lucida Grande" pitchFamily="28" charset="0"/>
                <a:cs typeface="Tahoma" pitchFamily="28" charset="0"/>
              </a:rPr>
              <a:t>D</a:t>
            </a:r>
            <a:r>
              <a:rPr lang="el-GR" sz="2000">
                <a:latin typeface="Lucida Grande" pitchFamily="28" charset="0"/>
                <a:cs typeface="Tahoma" pitchFamily="28" charset="0"/>
              </a:rPr>
              <a:t> = ECLOSE(q</a:t>
            </a:r>
            <a:r>
              <a:rPr lang="el-GR" sz="2000" baseline="-25000">
                <a:latin typeface="Lucida Grande" pitchFamily="28" charset="0"/>
                <a:cs typeface="Tahoma" pitchFamily="28" charset="0"/>
              </a:rPr>
              <a:t>0</a:t>
            </a:r>
            <a:r>
              <a:rPr lang="el-GR" sz="2000">
                <a:latin typeface="Lucida Grande" pitchFamily="28" charset="0"/>
                <a:cs typeface="Tahoma" pitchFamily="28" charset="0"/>
              </a:rPr>
              <a:t>)</a:t>
            </a:r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eriod"/>
            </a:pPr>
            <a:r>
              <a:rPr lang="el-GR" sz="2000">
                <a:solidFill>
                  <a:schemeClr val="hlink"/>
                </a:solidFill>
                <a:latin typeface="Lucida Grande" pitchFamily="28" charset="0"/>
                <a:cs typeface="Tahoma" pitchFamily="28" charset="0"/>
              </a:rPr>
              <a:t>F</a:t>
            </a:r>
            <a:r>
              <a:rPr lang="el-GR" sz="2000" baseline="-25000">
                <a:solidFill>
                  <a:schemeClr val="hlink"/>
                </a:solidFill>
                <a:latin typeface="Lucida Grande" pitchFamily="28" charset="0"/>
                <a:cs typeface="Tahoma" pitchFamily="28" charset="0"/>
              </a:rPr>
              <a:t>D</a:t>
            </a:r>
            <a:r>
              <a:rPr lang="el-GR" sz="2000">
                <a:latin typeface="Lucida Grande" pitchFamily="28" charset="0"/>
                <a:cs typeface="Tahoma" pitchFamily="28" charset="0"/>
              </a:rPr>
              <a:t>=subsets S in Q</a:t>
            </a:r>
            <a:r>
              <a:rPr lang="el-GR" sz="2000" baseline="-25000">
                <a:latin typeface="Lucida Grande" pitchFamily="28" charset="0"/>
                <a:cs typeface="Tahoma" pitchFamily="28" charset="0"/>
              </a:rPr>
              <a:t>D</a:t>
            </a:r>
            <a:r>
              <a:rPr lang="el-GR" sz="2000">
                <a:latin typeface="Lucida Grande" pitchFamily="28" charset="0"/>
                <a:cs typeface="Tahoma" pitchFamily="28" charset="0"/>
              </a:rPr>
              <a:t> s.t. S</a:t>
            </a:r>
            <a:r>
              <a:rPr lang="en-US" sz="2000">
                <a:cs typeface="Arial" charset="0"/>
              </a:rPr>
              <a:t>∩F</a:t>
            </a:r>
            <a:r>
              <a:rPr lang="en-US" sz="2000" baseline="-25000">
                <a:cs typeface="Arial" charset="0"/>
              </a:rPr>
              <a:t>E</a:t>
            </a:r>
            <a:r>
              <a:rPr lang="en-US" sz="2000">
                <a:cs typeface="Arial" charset="0"/>
              </a:rPr>
              <a:t>≠</a:t>
            </a:r>
            <a:r>
              <a:rPr lang="el-GR" sz="2000">
                <a:cs typeface="Arial" charset="0"/>
              </a:rPr>
              <a:t>Φ</a:t>
            </a:r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eriod"/>
            </a:pPr>
            <a:r>
              <a:rPr lang="el-GR" sz="2000">
                <a:solidFill>
                  <a:schemeClr val="hlink"/>
                </a:solidFill>
                <a:latin typeface="Lucida Grande" pitchFamily="28" charset="0"/>
                <a:cs typeface="Tahoma" pitchFamily="28" charset="0"/>
              </a:rPr>
              <a:t>δ</a:t>
            </a:r>
            <a:r>
              <a:rPr lang="el-GR" sz="2000" baseline="-25000">
                <a:solidFill>
                  <a:schemeClr val="hlink"/>
                </a:solidFill>
                <a:latin typeface="Lucida Grande" pitchFamily="28" charset="0"/>
                <a:cs typeface="Tahoma" pitchFamily="28" charset="0"/>
              </a:rPr>
              <a:t>D</a:t>
            </a:r>
            <a:r>
              <a:rPr lang="el-GR" sz="2000">
                <a:latin typeface="Lucida Grande" pitchFamily="28" charset="0"/>
                <a:cs typeface="Tahoma" pitchFamily="28" charset="0"/>
              </a:rPr>
              <a:t>: for each subset S of Q</a:t>
            </a:r>
            <a:r>
              <a:rPr lang="el-GR" sz="2000" baseline="-25000">
                <a:latin typeface="Lucida Grande" pitchFamily="28" charset="0"/>
                <a:cs typeface="Tahoma" pitchFamily="28" charset="0"/>
              </a:rPr>
              <a:t>E</a:t>
            </a:r>
            <a:r>
              <a:rPr lang="el-GR" sz="2000">
                <a:latin typeface="Lucida Grande" pitchFamily="28" charset="0"/>
                <a:cs typeface="Tahoma" pitchFamily="28" charset="0"/>
              </a:rPr>
              <a:t> and for each input symbol </a:t>
            </a:r>
            <a:r>
              <a:rPr lang="el-GR" sz="2000" i="1">
                <a:latin typeface="Lucida Grande" pitchFamily="28" charset="0"/>
                <a:cs typeface="Tahoma" pitchFamily="28" charset="0"/>
              </a:rPr>
              <a:t>a</a:t>
            </a:r>
            <a:r>
              <a:rPr lang="el-GR" sz="2000" i="1">
                <a:latin typeface="Lucida Grande" pitchFamily="28" charset="0"/>
                <a:cs typeface="Tahoma" pitchFamily="28" charset="0"/>
                <a:sym typeface="Symbol" pitchFamily="28" charset="2"/>
              </a:rPr>
              <a:t></a:t>
            </a:r>
            <a:r>
              <a:rPr lang="el-GR" sz="2000">
                <a:latin typeface="Lucida Grande" pitchFamily="28" charset="0"/>
                <a:cs typeface="Tahoma" pitchFamily="28" charset="0"/>
              </a:rPr>
              <a:t>∑: </a:t>
            </a:r>
          </a:p>
          <a:p>
            <a:pPr marL="1371600" lvl="2" indent="-457200" eaLnBrk="1" hangingPunct="1">
              <a:lnSpc>
                <a:spcPct val="90000"/>
              </a:lnSpc>
            </a:pPr>
            <a:r>
              <a:rPr lang="el-GR" sz="1800">
                <a:latin typeface="Lucida Grande" pitchFamily="28" charset="0"/>
                <a:cs typeface="Tahoma" pitchFamily="28" charset="0"/>
              </a:rPr>
              <a:t>Let R= </a:t>
            </a:r>
            <a:r>
              <a:rPr lang="el-GR">
                <a:latin typeface="Lucida Grande" pitchFamily="28" charset="0"/>
                <a:cs typeface="Tahoma" pitchFamily="28" charset="0"/>
              </a:rPr>
              <a:t>U</a:t>
            </a:r>
            <a:r>
              <a:rPr lang="el-GR" sz="1800">
                <a:latin typeface="Lucida Grande" pitchFamily="28" charset="0"/>
                <a:cs typeface="Tahoma" pitchFamily="28" charset="0"/>
              </a:rPr>
              <a:t> δ</a:t>
            </a:r>
            <a:r>
              <a:rPr lang="el-GR" sz="1800" baseline="-25000">
                <a:latin typeface="Lucida Grande" pitchFamily="28" charset="0"/>
                <a:cs typeface="Tahoma" pitchFamily="28" charset="0"/>
              </a:rPr>
              <a:t>E</a:t>
            </a:r>
            <a:r>
              <a:rPr lang="el-GR" sz="1800">
                <a:latin typeface="Lucida Grande" pitchFamily="28" charset="0"/>
                <a:cs typeface="Tahoma" pitchFamily="28" charset="0"/>
              </a:rPr>
              <a:t>(p,a)</a:t>
            </a:r>
            <a:r>
              <a:rPr lang="en-US" sz="1800">
                <a:latin typeface="Lucida Grande" pitchFamily="28" charset="0"/>
                <a:cs typeface="Tahoma" pitchFamily="28" charset="0"/>
              </a:rPr>
              <a:t>		</a:t>
            </a:r>
            <a:r>
              <a:rPr lang="en-US" sz="1800">
                <a:solidFill>
                  <a:srgbClr val="0070C0"/>
                </a:solidFill>
                <a:latin typeface="Lucida Grande" pitchFamily="28" charset="0"/>
                <a:cs typeface="Tahoma" pitchFamily="28" charset="0"/>
              </a:rPr>
              <a:t>// go to destination states</a:t>
            </a:r>
            <a:endParaRPr lang="el-GR" sz="1800">
              <a:solidFill>
                <a:srgbClr val="0070C0"/>
              </a:solidFill>
              <a:latin typeface="Lucida Grande" pitchFamily="28" charset="0"/>
              <a:cs typeface="Tahoma" pitchFamily="28" charset="0"/>
            </a:endParaRPr>
          </a:p>
          <a:p>
            <a:pPr marL="1371600" lvl="2" indent="-457200" eaLnBrk="1" hangingPunct="1">
              <a:lnSpc>
                <a:spcPct val="90000"/>
              </a:lnSpc>
            </a:pPr>
            <a:endParaRPr lang="el-GR" sz="1800">
              <a:latin typeface="Lucida Grande" pitchFamily="28" charset="0"/>
              <a:cs typeface="Tahoma" pitchFamily="28" charset="0"/>
            </a:endParaRPr>
          </a:p>
          <a:p>
            <a:pPr marL="1371600" lvl="2" indent="-457200" eaLnBrk="1" hangingPunct="1">
              <a:lnSpc>
                <a:spcPct val="90000"/>
              </a:lnSpc>
            </a:pPr>
            <a:r>
              <a:rPr lang="el-GR" sz="1800">
                <a:solidFill>
                  <a:schemeClr val="hlink"/>
                </a:solidFill>
                <a:latin typeface="Lucida Grande" pitchFamily="28" charset="0"/>
                <a:cs typeface="Tahoma" pitchFamily="28" charset="0"/>
              </a:rPr>
              <a:t>δ</a:t>
            </a:r>
            <a:r>
              <a:rPr lang="el-GR" sz="1800" baseline="-25000">
                <a:solidFill>
                  <a:schemeClr val="hlink"/>
                </a:solidFill>
                <a:latin typeface="Lucida Grande" pitchFamily="28" charset="0"/>
                <a:cs typeface="Tahoma" pitchFamily="28" charset="0"/>
              </a:rPr>
              <a:t>D</a:t>
            </a:r>
            <a:r>
              <a:rPr lang="el-GR" sz="1800">
                <a:solidFill>
                  <a:schemeClr val="hlink"/>
                </a:solidFill>
                <a:latin typeface="Lucida Grande" pitchFamily="28" charset="0"/>
                <a:cs typeface="Tahoma" pitchFamily="28" charset="0"/>
              </a:rPr>
              <a:t>(S,a)</a:t>
            </a:r>
            <a:r>
              <a:rPr lang="el-GR" sz="1800">
                <a:latin typeface="Lucida Grande" pitchFamily="28" charset="0"/>
                <a:cs typeface="Tahoma" pitchFamily="28" charset="0"/>
              </a:rPr>
              <a:t> = </a:t>
            </a:r>
            <a:r>
              <a:rPr lang="el-GR">
                <a:latin typeface="Lucida Grande" pitchFamily="28" charset="0"/>
                <a:cs typeface="Tahoma" pitchFamily="28" charset="0"/>
              </a:rPr>
              <a:t>U</a:t>
            </a:r>
            <a:r>
              <a:rPr lang="el-GR" sz="1800">
                <a:latin typeface="Lucida Grande" pitchFamily="28" charset="0"/>
                <a:cs typeface="Tahoma" pitchFamily="28" charset="0"/>
              </a:rPr>
              <a:t> ECLOSE(r)</a:t>
            </a:r>
            <a:r>
              <a:rPr lang="en-US" sz="1800">
                <a:latin typeface="Lucida Grande" pitchFamily="28" charset="0"/>
                <a:cs typeface="Tahoma" pitchFamily="28" charset="0"/>
              </a:rPr>
              <a:t>	</a:t>
            </a:r>
            <a:r>
              <a:rPr lang="en-US" sz="1800">
                <a:solidFill>
                  <a:srgbClr val="0070C0"/>
                </a:solidFill>
                <a:latin typeface="Lucida Grande" pitchFamily="28" charset="0"/>
                <a:cs typeface="Tahoma" pitchFamily="28" charset="0"/>
              </a:rPr>
              <a:t>// from there, take a union</a:t>
            </a:r>
            <a:br>
              <a:rPr lang="en-US" sz="1800">
                <a:solidFill>
                  <a:srgbClr val="0070C0"/>
                </a:solidFill>
                <a:latin typeface="Lucida Grande" pitchFamily="28" charset="0"/>
                <a:cs typeface="Tahoma" pitchFamily="28" charset="0"/>
              </a:rPr>
            </a:br>
            <a:r>
              <a:rPr lang="en-US" sz="1800">
                <a:solidFill>
                  <a:srgbClr val="0070C0"/>
                </a:solidFill>
                <a:latin typeface="Lucida Grande" pitchFamily="28" charset="0"/>
                <a:cs typeface="Tahoma" pitchFamily="28" charset="0"/>
              </a:rPr>
              <a:t>					of all their </a:t>
            </a:r>
            <a:r>
              <a:rPr lang="en-US" sz="1800">
                <a:solidFill>
                  <a:srgbClr val="0070C0"/>
                </a:solidFill>
                <a:latin typeface="Lucida Grande" pitchFamily="28" charset="0"/>
                <a:cs typeface="Tahoma" pitchFamily="28" charset="0"/>
                <a:sym typeface="Symbol" pitchFamily="28" charset="2"/>
              </a:rPr>
              <a:t>-closures</a:t>
            </a:r>
            <a:endParaRPr lang="en-US" sz="1800">
              <a:solidFill>
                <a:srgbClr val="0070C0"/>
              </a:solidFill>
              <a:latin typeface="Lucida Grande" pitchFamily="28" charset="0"/>
              <a:cs typeface="Tahoma" pitchFamily="28" charset="0"/>
            </a:endParaRPr>
          </a:p>
        </p:txBody>
      </p:sp>
      <p:sp>
        <p:nvSpPr>
          <p:cNvPr id="36869" name="Text Box 4"/>
          <p:cNvSpPr txBox="1">
            <a:spLocks noChangeArrowheads="1"/>
          </p:cNvSpPr>
          <p:nvPr/>
        </p:nvSpPr>
        <p:spPr bwMode="auto">
          <a:xfrm>
            <a:off x="3262313" y="5181600"/>
            <a:ext cx="547687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/>
              <a:t>p in s</a:t>
            </a:r>
          </a:p>
        </p:txBody>
      </p:sp>
      <p:sp>
        <p:nvSpPr>
          <p:cNvPr id="36870" name="Text Box 5"/>
          <p:cNvSpPr txBox="1">
            <a:spLocks noChangeArrowheads="1"/>
          </p:cNvSpPr>
          <p:nvPr/>
        </p:nvSpPr>
        <p:spPr bwMode="auto">
          <a:xfrm>
            <a:off x="3581400" y="5913438"/>
            <a:ext cx="54768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/>
              <a:t>r in R</a:t>
            </a:r>
          </a:p>
        </p:txBody>
      </p:sp>
      <p:sp>
        <p:nvSpPr>
          <p:cNvPr id="39943" name="TextBox 6"/>
          <p:cNvSpPr txBox="1">
            <a:spLocks noChangeArrowheads="1"/>
          </p:cNvSpPr>
          <p:nvPr/>
        </p:nvSpPr>
        <p:spPr bwMode="auto">
          <a:xfrm>
            <a:off x="1219200" y="6248400"/>
            <a:ext cx="43799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u="sng">
                <a:solidFill>
                  <a:srgbClr val="0070C0"/>
                </a:solidFill>
              </a:rPr>
              <a:t>Reading:</a:t>
            </a:r>
            <a:r>
              <a:rPr lang="en-US">
                <a:solidFill>
                  <a:srgbClr val="0070C0"/>
                </a:solidFill>
              </a:rPr>
              <a:t> Section 2.5.5 in book</a:t>
            </a:r>
          </a:p>
        </p:txBody>
      </p:sp>
      <p:cxnSp>
        <p:nvCxnSpPr>
          <p:cNvPr id="39944" name="Straight Connector 8"/>
          <p:cNvCxnSpPr>
            <a:cxnSpLocks noChangeShapeType="1"/>
          </p:cNvCxnSpPr>
          <p:nvPr/>
        </p:nvCxnSpPr>
        <p:spPr bwMode="auto">
          <a:xfrm>
            <a:off x="533400" y="6248400"/>
            <a:ext cx="82296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68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68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68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68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68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68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68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68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8" grpId="0" build="p"/>
      <p:bldP spid="36869" grpId="0"/>
      <p:bldP spid="3687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9638841-5C10-4F3D-AB64-818D3E59FDF5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Example: </a:t>
            </a:r>
            <a:r>
              <a:rPr lang="en-US">
                <a:sym typeface="Symbol" pitchFamily="28" charset="2"/>
              </a:rPr>
              <a:t></a:t>
            </a:r>
            <a:r>
              <a:rPr lang="en-US"/>
              <a:t>-NFA </a:t>
            </a:r>
            <a:r>
              <a:rPr lang="en-US">
                <a:sym typeface="Wingdings" pitchFamily="28" charset="2"/>
              </a:rPr>
              <a:t> DFA</a:t>
            </a:r>
            <a:endParaRPr lang="en-US"/>
          </a:p>
        </p:txBody>
      </p:sp>
      <p:sp>
        <p:nvSpPr>
          <p:cNvPr id="40964" name="Text Box 25"/>
          <p:cNvSpPr txBox="1">
            <a:spLocks noChangeArrowheads="1"/>
          </p:cNvSpPr>
          <p:nvPr/>
        </p:nvSpPr>
        <p:spPr bwMode="auto">
          <a:xfrm>
            <a:off x="746125" y="2105025"/>
            <a:ext cx="69786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folHlink"/>
                </a:solidFill>
              </a:rPr>
              <a:t>L = {w | w is empty, or if non-empty will end in 01}</a:t>
            </a:r>
          </a:p>
        </p:txBody>
      </p:sp>
      <p:grpSp>
        <p:nvGrpSpPr>
          <p:cNvPr id="40965" name="Group 31"/>
          <p:cNvGrpSpPr>
            <a:grpSpLocks/>
          </p:cNvGrpSpPr>
          <p:nvPr/>
        </p:nvGrpSpPr>
        <p:grpSpPr bwMode="auto">
          <a:xfrm>
            <a:off x="-76200" y="3976688"/>
            <a:ext cx="914400" cy="366712"/>
            <a:chOff x="228600" y="3976688"/>
            <a:chExt cx="914400" cy="366713"/>
          </a:xfrm>
        </p:grpSpPr>
        <p:sp>
          <p:nvSpPr>
            <p:cNvPr id="41030" name="Line 6"/>
            <p:cNvSpPr>
              <a:spLocks noChangeShapeType="1"/>
            </p:cNvSpPr>
            <p:nvPr/>
          </p:nvSpPr>
          <p:spPr bwMode="auto">
            <a:xfrm>
              <a:off x="533400" y="4286250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31" name="Text Box 7"/>
            <p:cNvSpPr txBox="1">
              <a:spLocks noChangeArrowheads="1"/>
            </p:cNvSpPr>
            <p:nvPr/>
          </p:nvSpPr>
          <p:spPr bwMode="auto">
            <a:xfrm>
              <a:off x="228600" y="3976688"/>
              <a:ext cx="6286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/>
                <a:t>start</a:t>
              </a:r>
            </a:p>
          </p:txBody>
        </p:sp>
      </p:grpSp>
      <p:sp>
        <p:nvSpPr>
          <p:cNvPr id="40966" name="Oval 5"/>
          <p:cNvSpPr>
            <a:spLocks noChangeArrowheads="1"/>
          </p:cNvSpPr>
          <p:nvPr/>
        </p:nvSpPr>
        <p:spPr bwMode="auto">
          <a:xfrm>
            <a:off x="1295400" y="32766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q</a:t>
            </a:r>
            <a:r>
              <a:rPr lang="en-US" sz="1800" baseline="-25000"/>
              <a:t>0</a:t>
            </a:r>
          </a:p>
        </p:txBody>
      </p:sp>
      <p:sp>
        <p:nvSpPr>
          <p:cNvPr id="40967" name="Line 9"/>
          <p:cNvSpPr>
            <a:spLocks noChangeShapeType="1"/>
          </p:cNvSpPr>
          <p:nvPr/>
        </p:nvSpPr>
        <p:spPr bwMode="auto">
          <a:xfrm>
            <a:off x="1752600" y="35052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0968" name="Oval 10"/>
          <p:cNvSpPr>
            <a:spLocks noChangeArrowheads="1"/>
          </p:cNvSpPr>
          <p:nvPr/>
        </p:nvSpPr>
        <p:spPr bwMode="auto">
          <a:xfrm>
            <a:off x="2286000" y="32766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q</a:t>
            </a:r>
            <a:r>
              <a:rPr lang="en-US" sz="1800" baseline="-25000"/>
              <a:t>1</a:t>
            </a:r>
          </a:p>
        </p:txBody>
      </p:sp>
      <p:sp>
        <p:nvSpPr>
          <p:cNvPr id="40969" name="Text Box 11"/>
          <p:cNvSpPr txBox="1">
            <a:spLocks noChangeArrowheads="1"/>
          </p:cNvSpPr>
          <p:nvPr/>
        </p:nvSpPr>
        <p:spPr bwMode="auto">
          <a:xfrm>
            <a:off x="1812925" y="3159125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0</a:t>
            </a:r>
            <a:endParaRPr lang="en-US" sz="1800">
              <a:solidFill>
                <a:schemeClr val="hlink"/>
              </a:solidFill>
            </a:endParaRPr>
          </a:p>
        </p:txBody>
      </p:sp>
      <p:sp>
        <p:nvSpPr>
          <p:cNvPr id="40970" name="Freeform 12"/>
          <p:cNvSpPr>
            <a:spLocks/>
          </p:cNvSpPr>
          <p:nvPr/>
        </p:nvSpPr>
        <p:spPr bwMode="auto">
          <a:xfrm>
            <a:off x="1270000" y="2959100"/>
            <a:ext cx="419100" cy="317500"/>
          </a:xfrm>
          <a:custGeom>
            <a:avLst/>
            <a:gdLst>
              <a:gd name="T0" fmla="*/ 2147483647 w 264"/>
              <a:gd name="T1" fmla="*/ 2147483647 h 200"/>
              <a:gd name="T2" fmla="*/ 2147483647 w 264"/>
              <a:gd name="T3" fmla="*/ 2147483647 h 200"/>
              <a:gd name="T4" fmla="*/ 2147483647 w 264"/>
              <a:gd name="T5" fmla="*/ 2147483647 h 200"/>
              <a:gd name="T6" fmla="*/ 2147483647 w 264"/>
              <a:gd name="T7" fmla="*/ 2147483647 h 200"/>
              <a:gd name="T8" fmla="*/ 2147483647 w 264"/>
              <a:gd name="T9" fmla="*/ 2147483647 h 2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4"/>
              <a:gd name="T16" fmla="*/ 0 h 200"/>
              <a:gd name="T17" fmla="*/ 264 w 264"/>
              <a:gd name="T18" fmla="*/ 200 h 2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4" h="200">
                <a:moveTo>
                  <a:pt x="64" y="200"/>
                </a:moveTo>
                <a:cubicBezTo>
                  <a:pt x="32" y="144"/>
                  <a:pt x="0" y="88"/>
                  <a:pt x="16" y="56"/>
                </a:cubicBezTo>
                <a:cubicBezTo>
                  <a:pt x="32" y="24"/>
                  <a:pt x="120" y="0"/>
                  <a:pt x="160" y="8"/>
                </a:cubicBezTo>
                <a:cubicBezTo>
                  <a:pt x="200" y="16"/>
                  <a:pt x="248" y="72"/>
                  <a:pt x="256" y="104"/>
                </a:cubicBezTo>
                <a:cubicBezTo>
                  <a:pt x="264" y="136"/>
                  <a:pt x="236" y="168"/>
                  <a:pt x="208" y="20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0971" name="Text Box 13"/>
          <p:cNvSpPr txBox="1">
            <a:spLocks noChangeArrowheads="1"/>
          </p:cNvSpPr>
          <p:nvPr/>
        </p:nvSpPr>
        <p:spPr bwMode="auto">
          <a:xfrm>
            <a:off x="1143000" y="2625725"/>
            <a:ext cx="501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0,1</a:t>
            </a:r>
          </a:p>
        </p:txBody>
      </p:sp>
      <p:sp>
        <p:nvSpPr>
          <p:cNvPr id="40972" name="Text Box 18"/>
          <p:cNvSpPr txBox="1">
            <a:spLocks noChangeArrowheads="1"/>
          </p:cNvSpPr>
          <p:nvPr/>
        </p:nvSpPr>
        <p:spPr bwMode="auto">
          <a:xfrm>
            <a:off x="2743200" y="31623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1</a:t>
            </a:r>
          </a:p>
        </p:txBody>
      </p:sp>
      <p:sp>
        <p:nvSpPr>
          <p:cNvPr id="40973" name="Oval 19"/>
          <p:cNvSpPr>
            <a:spLocks noChangeArrowheads="1"/>
          </p:cNvSpPr>
          <p:nvPr/>
        </p:nvSpPr>
        <p:spPr bwMode="auto">
          <a:xfrm>
            <a:off x="3276600" y="32766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q</a:t>
            </a:r>
            <a:r>
              <a:rPr lang="en-US" sz="1800" baseline="-25000"/>
              <a:t>2</a:t>
            </a:r>
          </a:p>
        </p:txBody>
      </p:sp>
      <p:sp>
        <p:nvSpPr>
          <p:cNvPr id="40974" name="Line 20"/>
          <p:cNvSpPr>
            <a:spLocks noChangeShapeType="1"/>
          </p:cNvSpPr>
          <p:nvPr/>
        </p:nvSpPr>
        <p:spPr bwMode="auto">
          <a:xfrm>
            <a:off x="2743200" y="35052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0975" name="Oval 22"/>
          <p:cNvSpPr>
            <a:spLocks noChangeArrowheads="1"/>
          </p:cNvSpPr>
          <p:nvPr/>
        </p:nvSpPr>
        <p:spPr bwMode="auto">
          <a:xfrm>
            <a:off x="3200400" y="3200400"/>
            <a:ext cx="609600" cy="609600"/>
          </a:xfrm>
          <a:prstGeom prst="ellipse">
            <a:avLst/>
          </a:prstGeom>
          <a:solidFill>
            <a:schemeClr val="accent1">
              <a:alpha val="12157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0976" name="Group 32"/>
          <p:cNvGrpSpPr>
            <a:grpSpLocks/>
          </p:cNvGrpSpPr>
          <p:nvPr/>
        </p:nvGrpSpPr>
        <p:grpSpPr bwMode="auto">
          <a:xfrm>
            <a:off x="838200" y="3595688"/>
            <a:ext cx="609600" cy="976312"/>
            <a:chOff x="1143000" y="3595688"/>
            <a:chExt cx="609600" cy="976312"/>
          </a:xfrm>
        </p:grpSpPr>
        <p:sp>
          <p:nvSpPr>
            <p:cNvPr id="41026" name="Oval 90"/>
            <p:cNvSpPr>
              <a:spLocks noChangeArrowheads="1"/>
            </p:cNvSpPr>
            <p:nvPr/>
          </p:nvSpPr>
          <p:spPr bwMode="auto">
            <a:xfrm>
              <a:off x="1219200" y="4038600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q’</a:t>
              </a:r>
              <a:r>
                <a:rPr lang="en-US" sz="1800" baseline="-25000"/>
                <a:t>0</a:t>
              </a:r>
            </a:p>
          </p:txBody>
        </p:sp>
        <p:sp>
          <p:nvSpPr>
            <p:cNvPr id="41027" name="Oval 91"/>
            <p:cNvSpPr>
              <a:spLocks noChangeArrowheads="1"/>
            </p:cNvSpPr>
            <p:nvPr/>
          </p:nvSpPr>
          <p:spPr bwMode="auto">
            <a:xfrm>
              <a:off x="1143000" y="3962400"/>
              <a:ext cx="609600" cy="609600"/>
            </a:xfrm>
            <a:prstGeom prst="ellipse">
              <a:avLst/>
            </a:prstGeom>
            <a:solidFill>
              <a:schemeClr val="accent1">
                <a:alpha val="12157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28" name="Line 92"/>
            <p:cNvSpPr>
              <a:spLocks noChangeShapeType="1"/>
            </p:cNvSpPr>
            <p:nvPr/>
          </p:nvSpPr>
          <p:spPr bwMode="auto">
            <a:xfrm flipV="1">
              <a:off x="1447800" y="3733800"/>
              <a:ext cx="2286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29" name="Text Box 93"/>
            <p:cNvSpPr txBox="1">
              <a:spLocks noChangeArrowheads="1"/>
            </p:cNvSpPr>
            <p:nvPr/>
          </p:nvSpPr>
          <p:spPr bwMode="auto">
            <a:xfrm>
              <a:off x="1219200" y="3595688"/>
              <a:ext cx="285750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>
                  <a:sym typeface="Symbol" pitchFamily="28" charset="2"/>
                </a:rPr>
                <a:t></a:t>
              </a:r>
              <a:endParaRPr lang="en-US" sz="1800">
                <a:solidFill>
                  <a:schemeClr val="hlink"/>
                </a:solidFill>
              </a:endParaRPr>
            </a:p>
          </p:txBody>
        </p:sp>
      </p:grpSp>
      <p:sp>
        <p:nvSpPr>
          <p:cNvPr id="40977" name="TextBox 29"/>
          <p:cNvSpPr txBox="1">
            <a:spLocks noChangeArrowheads="1"/>
          </p:cNvSpPr>
          <p:nvPr/>
        </p:nvSpPr>
        <p:spPr bwMode="auto">
          <a:xfrm>
            <a:off x="4343400" y="6477000"/>
            <a:ext cx="1841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66" name="Group 139"/>
          <p:cNvGraphicFramePr>
            <a:graphicFrameLocks noGrp="1"/>
          </p:cNvGraphicFramePr>
          <p:nvPr/>
        </p:nvGraphicFramePr>
        <p:xfrm>
          <a:off x="838200" y="4876800"/>
          <a:ext cx="2946400" cy="1737360"/>
        </p:xfrm>
        <a:graphic>
          <a:graphicData uri="http://schemas.openxmlformats.org/drawingml/2006/table">
            <a:tbl>
              <a:tblPr/>
              <a:tblGrid>
                <a:gridCol w="73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l-G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Grande" pitchFamily="28" charset="0"/>
                          <a:cs typeface="Tahoma" pitchFamily="28" charset="0"/>
                        </a:rPr>
                        <a:t>δ</a:t>
                      </a:r>
                      <a:r>
                        <a:rPr kumimoji="0" lang="el-GR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Grande" pitchFamily="28" charset="0"/>
                          <a:cs typeface="Tahoma" pitchFamily="28" charset="0"/>
                        </a:rPr>
                        <a:t>E</a:t>
                      </a:r>
                      <a:endParaRPr kumimoji="0" lang="en-US" sz="14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Grande" pitchFamily="28" charset="0"/>
                        <a:cs typeface="Tahoma" pitchFamily="2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sym typeface="Symbol" pitchFamily="28" charset="2"/>
                        </a:rPr>
                        <a:t>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sym typeface="Symbol" pitchFamily="2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*q’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{q’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  <a:endParaRPr kumimoji="0" lang="en-US" sz="14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*q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9" name="Group 139"/>
          <p:cNvGraphicFramePr>
            <a:graphicFrameLocks noGrp="1"/>
          </p:cNvGraphicFramePr>
          <p:nvPr/>
        </p:nvGraphicFramePr>
        <p:xfrm>
          <a:off x="4419600" y="4876800"/>
          <a:ext cx="2895600" cy="1137653"/>
        </p:xfrm>
        <a:graphic>
          <a:graphicData uri="http://schemas.openxmlformats.org/drawingml/2006/table">
            <a:tbl>
              <a:tblPr/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27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l-G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Grande" pitchFamily="28" charset="0"/>
                          <a:cs typeface="Tahoma" pitchFamily="28" charset="0"/>
                        </a:rPr>
                        <a:t>δ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Grande" pitchFamily="28" charset="0"/>
                          <a:cs typeface="Tahoma" pitchFamily="28" charset="0"/>
                        </a:rPr>
                        <a:t>D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4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*{q’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  <a:endParaRPr kumimoji="0" lang="en-US" sz="14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4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4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41024" name="Straight Arrow Connector 70"/>
          <p:cNvCxnSpPr>
            <a:cxnSpLocks noChangeShapeType="1"/>
          </p:cNvCxnSpPr>
          <p:nvPr/>
        </p:nvCxnSpPr>
        <p:spPr bwMode="auto">
          <a:xfrm>
            <a:off x="533400" y="5562600"/>
            <a:ext cx="304800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73" name="Straight Arrow Connector 72"/>
          <p:cNvCxnSpPr>
            <a:cxnSpLocks noChangeShapeType="1"/>
          </p:cNvCxnSpPr>
          <p:nvPr/>
        </p:nvCxnSpPr>
        <p:spPr bwMode="auto">
          <a:xfrm>
            <a:off x="4191000" y="5562600"/>
            <a:ext cx="228600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17DCE0F-8767-48C5-80D3-07F9580BB3A6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Example: </a:t>
            </a:r>
            <a:r>
              <a:rPr lang="en-US">
                <a:sym typeface="Symbol" pitchFamily="28" charset="2"/>
              </a:rPr>
              <a:t></a:t>
            </a:r>
            <a:r>
              <a:rPr lang="en-US"/>
              <a:t>-NFA </a:t>
            </a:r>
            <a:r>
              <a:rPr lang="en-US">
                <a:sym typeface="Wingdings" pitchFamily="28" charset="2"/>
              </a:rPr>
              <a:t> DFA</a:t>
            </a:r>
            <a:endParaRPr lang="en-US"/>
          </a:p>
        </p:txBody>
      </p:sp>
      <p:sp>
        <p:nvSpPr>
          <p:cNvPr id="41988" name="Text Box 25"/>
          <p:cNvSpPr txBox="1">
            <a:spLocks noChangeArrowheads="1"/>
          </p:cNvSpPr>
          <p:nvPr/>
        </p:nvSpPr>
        <p:spPr bwMode="auto">
          <a:xfrm>
            <a:off x="746125" y="2105025"/>
            <a:ext cx="69786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folHlink"/>
                </a:solidFill>
              </a:rPr>
              <a:t>L = {w | w is empty, or if non-empty will end in 01}</a:t>
            </a:r>
          </a:p>
        </p:txBody>
      </p:sp>
      <p:grpSp>
        <p:nvGrpSpPr>
          <p:cNvPr id="41989" name="Group 31"/>
          <p:cNvGrpSpPr>
            <a:grpSpLocks/>
          </p:cNvGrpSpPr>
          <p:nvPr/>
        </p:nvGrpSpPr>
        <p:grpSpPr bwMode="auto">
          <a:xfrm>
            <a:off x="-76200" y="3976688"/>
            <a:ext cx="914400" cy="366712"/>
            <a:chOff x="228600" y="3976688"/>
            <a:chExt cx="914400" cy="366713"/>
          </a:xfrm>
        </p:grpSpPr>
        <p:sp>
          <p:nvSpPr>
            <p:cNvPr id="42100" name="Line 6"/>
            <p:cNvSpPr>
              <a:spLocks noChangeShapeType="1"/>
            </p:cNvSpPr>
            <p:nvPr/>
          </p:nvSpPr>
          <p:spPr bwMode="auto">
            <a:xfrm>
              <a:off x="533400" y="4286250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101" name="Text Box 7"/>
            <p:cNvSpPr txBox="1">
              <a:spLocks noChangeArrowheads="1"/>
            </p:cNvSpPr>
            <p:nvPr/>
          </p:nvSpPr>
          <p:spPr bwMode="auto">
            <a:xfrm>
              <a:off x="228600" y="3976688"/>
              <a:ext cx="6286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/>
                <a:t>start</a:t>
              </a:r>
            </a:p>
          </p:txBody>
        </p:sp>
      </p:grpSp>
      <p:sp>
        <p:nvSpPr>
          <p:cNvPr id="41990" name="Oval 5"/>
          <p:cNvSpPr>
            <a:spLocks noChangeArrowheads="1"/>
          </p:cNvSpPr>
          <p:nvPr/>
        </p:nvSpPr>
        <p:spPr bwMode="auto">
          <a:xfrm>
            <a:off x="1295400" y="32766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q</a:t>
            </a:r>
            <a:r>
              <a:rPr lang="en-US" sz="1800" baseline="-25000"/>
              <a:t>0</a:t>
            </a:r>
          </a:p>
        </p:txBody>
      </p:sp>
      <p:sp>
        <p:nvSpPr>
          <p:cNvPr id="41991" name="Line 9"/>
          <p:cNvSpPr>
            <a:spLocks noChangeShapeType="1"/>
          </p:cNvSpPr>
          <p:nvPr/>
        </p:nvSpPr>
        <p:spPr bwMode="auto">
          <a:xfrm>
            <a:off x="1752600" y="35052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1992" name="Oval 10"/>
          <p:cNvSpPr>
            <a:spLocks noChangeArrowheads="1"/>
          </p:cNvSpPr>
          <p:nvPr/>
        </p:nvSpPr>
        <p:spPr bwMode="auto">
          <a:xfrm>
            <a:off x="2286000" y="32766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q</a:t>
            </a:r>
            <a:r>
              <a:rPr lang="en-US" sz="1800" baseline="-25000"/>
              <a:t>1</a:t>
            </a:r>
          </a:p>
        </p:txBody>
      </p:sp>
      <p:sp>
        <p:nvSpPr>
          <p:cNvPr id="41993" name="Text Box 11"/>
          <p:cNvSpPr txBox="1">
            <a:spLocks noChangeArrowheads="1"/>
          </p:cNvSpPr>
          <p:nvPr/>
        </p:nvSpPr>
        <p:spPr bwMode="auto">
          <a:xfrm>
            <a:off x="1812925" y="3159125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0</a:t>
            </a:r>
            <a:endParaRPr lang="en-US" sz="1800">
              <a:solidFill>
                <a:schemeClr val="hlink"/>
              </a:solidFill>
            </a:endParaRPr>
          </a:p>
        </p:txBody>
      </p:sp>
      <p:sp>
        <p:nvSpPr>
          <p:cNvPr id="41994" name="Freeform 12"/>
          <p:cNvSpPr>
            <a:spLocks/>
          </p:cNvSpPr>
          <p:nvPr/>
        </p:nvSpPr>
        <p:spPr bwMode="auto">
          <a:xfrm>
            <a:off x="1270000" y="2959100"/>
            <a:ext cx="419100" cy="317500"/>
          </a:xfrm>
          <a:custGeom>
            <a:avLst/>
            <a:gdLst>
              <a:gd name="T0" fmla="*/ 2147483647 w 264"/>
              <a:gd name="T1" fmla="*/ 2147483647 h 200"/>
              <a:gd name="T2" fmla="*/ 2147483647 w 264"/>
              <a:gd name="T3" fmla="*/ 2147483647 h 200"/>
              <a:gd name="T4" fmla="*/ 2147483647 w 264"/>
              <a:gd name="T5" fmla="*/ 2147483647 h 200"/>
              <a:gd name="T6" fmla="*/ 2147483647 w 264"/>
              <a:gd name="T7" fmla="*/ 2147483647 h 200"/>
              <a:gd name="T8" fmla="*/ 2147483647 w 264"/>
              <a:gd name="T9" fmla="*/ 2147483647 h 2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4"/>
              <a:gd name="T16" fmla="*/ 0 h 200"/>
              <a:gd name="T17" fmla="*/ 264 w 264"/>
              <a:gd name="T18" fmla="*/ 200 h 2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4" h="200">
                <a:moveTo>
                  <a:pt x="64" y="200"/>
                </a:moveTo>
                <a:cubicBezTo>
                  <a:pt x="32" y="144"/>
                  <a:pt x="0" y="88"/>
                  <a:pt x="16" y="56"/>
                </a:cubicBezTo>
                <a:cubicBezTo>
                  <a:pt x="32" y="24"/>
                  <a:pt x="120" y="0"/>
                  <a:pt x="160" y="8"/>
                </a:cubicBezTo>
                <a:cubicBezTo>
                  <a:pt x="200" y="16"/>
                  <a:pt x="248" y="72"/>
                  <a:pt x="256" y="104"/>
                </a:cubicBezTo>
                <a:cubicBezTo>
                  <a:pt x="264" y="136"/>
                  <a:pt x="236" y="168"/>
                  <a:pt x="208" y="20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1995" name="Text Box 13"/>
          <p:cNvSpPr txBox="1">
            <a:spLocks noChangeArrowheads="1"/>
          </p:cNvSpPr>
          <p:nvPr/>
        </p:nvSpPr>
        <p:spPr bwMode="auto">
          <a:xfrm>
            <a:off x="1143000" y="2625725"/>
            <a:ext cx="501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0,1</a:t>
            </a:r>
          </a:p>
        </p:txBody>
      </p:sp>
      <p:sp>
        <p:nvSpPr>
          <p:cNvPr id="41996" name="Text Box 18"/>
          <p:cNvSpPr txBox="1">
            <a:spLocks noChangeArrowheads="1"/>
          </p:cNvSpPr>
          <p:nvPr/>
        </p:nvSpPr>
        <p:spPr bwMode="auto">
          <a:xfrm>
            <a:off x="2743200" y="31623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1</a:t>
            </a:r>
          </a:p>
        </p:txBody>
      </p:sp>
      <p:sp>
        <p:nvSpPr>
          <p:cNvPr id="41997" name="Oval 19"/>
          <p:cNvSpPr>
            <a:spLocks noChangeArrowheads="1"/>
          </p:cNvSpPr>
          <p:nvPr/>
        </p:nvSpPr>
        <p:spPr bwMode="auto">
          <a:xfrm>
            <a:off x="3276600" y="32766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q</a:t>
            </a:r>
            <a:r>
              <a:rPr lang="en-US" sz="1800" baseline="-25000"/>
              <a:t>2</a:t>
            </a:r>
          </a:p>
        </p:txBody>
      </p:sp>
      <p:sp>
        <p:nvSpPr>
          <p:cNvPr id="41998" name="Line 20"/>
          <p:cNvSpPr>
            <a:spLocks noChangeShapeType="1"/>
          </p:cNvSpPr>
          <p:nvPr/>
        </p:nvSpPr>
        <p:spPr bwMode="auto">
          <a:xfrm>
            <a:off x="2743200" y="35052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1999" name="Oval 22"/>
          <p:cNvSpPr>
            <a:spLocks noChangeArrowheads="1"/>
          </p:cNvSpPr>
          <p:nvPr/>
        </p:nvSpPr>
        <p:spPr bwMode="auto">
          <a:xfrm>
            <a:off x="3200400" y="3200400"/>
            <a:ext cx="609600" cy="609600"/>
          </a:xfrm>
          <a:prstGeom prst="ellipse">
            <a:avLst/>
          </a:prstGeom>
          <a:solidFill>
            <a:schemeClr val="accent1">
              <a:alpha val="12157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2000" name="Group 32"/>
          <p:cNvGrpSpPr>
            <a:grpSpLocks/>
          </p:cNvGrpSpPr>
          <p:nvPr/>
        </p:nvGrpSpPr>
        <p:grpSpPr bwMode="auto">
          <a:xfrm>
            <a:off x="838200" y="3595688"/>
            <a:ext cx="609600" cy="976312"/>
            <a:chOff x="1143000" y="3595688"/>
            <a:chExt cx="609600" cy="976312"/>
          </a:xfrm>
        </p:grpSpPr>
        <p:sp>
          <p:nvSpPr>
            <p:cNvPr id="42096" name="Oval 90"/>
            <p:cNvSpPr>
              <a:spLocks noChangeArrowheads="1"/>
            </p:cNvSpPr>
            <p:nvPr/>
          </p:nvSpPr>
          <p:spPr bwMode="auto">
            <a:xfrm>
              <a:off x="1219200" y="4038600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q’</a:t>
              </a:r>
              <a:r>
                <a:rPr lang="en-US" sz="1800" baseline="-25000"/>
                <a:t>0</a:t>
              </a:r>
            </a:p>
          </p:txBody>
        </p:sp>
        <p:sp>
          <p:nvSpPr>
            <p:cNvPr id="42097" name="Oval 91"/>
            <p:cNvSpPr>
              <a:spLocks noChangeArrowheads="1"/>
            </p:cNvSpPr>
            <p:nvPr/>
          </p:nvSpPr>
          <p:spPr bwMode="auto">
            <a:xfrm>
              <a:off x="1143000" y="3962400"/>
              <a:ext cx="609600" cy="609600"/>
            </a:xfrm>
            <a:prstGeom prst="ellipse">
              <a:avLst/>
            </a:prstGeom>
            <a:solidFill>
              <a:schemeClr val="accent1">
                <a:alpha val="12157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98" name="Line 92"/>
            <p:cNvSpPr>
              <a:spLocks noChangeShapeType="1"/>
            </p:cNvSpPr>
            <p:nvPr/>
          </p:nvSpPr>
          <p:spPr bwMode="auto">
            <a:xfrm flipV="1">
              <a:off x="1447800" y="3733800"/>
              <a:ext cx="2286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99" name="Text Box 93"/>
            <p:cNvSpPr txBox="1">
              <a:spLocks noChangeArrowheads="1"/>
            </p:cNvSpPr>
            <p:nvPr/>
          </p:nvSpPr>
          <p:spPr bwMode="auto">
            <a:xfrm>
              <a:off x="1219200" y="3595688"/>
              <a:ext cx="285750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>
                  <a:sym typeface="Symbol" pitchFamily="28" charset="2"/>
                </a:rPr>
                <a:t></a:t>
              </a:r>
              <a:endParaRPr lang="en-US" sz="1800">
                <a:solidFill>
                  <a:schemeClr val="hlink"/>
                </a:solidFill>
              </a:endParaRPr>
            </a:p>
          </p:txBody>
        </p:sp>
      </p:grpSp>
      <p:sp>
        <p:nvSpPr>
          <p:cNvPr id="42001" name="TextBox 29"/>
          <p:cNvSpPr txBox="1">
            <a:spLocks noChangeArrowheads="1"/>
          </p:cNvSpPr>
          <p:nvPr/>
        </p:nvSpPr>
        <p:spPr bwMode="auto">
          <a:xfrm>
            <a:off x="4343400" y="6477000"/>
            <a:ext cx="1841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66" name="Group 139"/>
          <p:cNvGraphicFramePr>
            <a:graphicFrameLocks noGrp="1"/>
          </p:cNvGraphicFramePr>
          <p:nvPr/>
        </p:nvGraphicFramePr>
        <p:xfrm>
          <a:off x="838200" y="4876800"/>
          <a:ext cx="2946400" cy="1737360"/>
        </p:xfrm>
        <a:graphic>
          <a:graphicData uri="http://schemas.openxmlformats.org/drawingml/2006/table">
            <a:tbl>
              <a:tblPr/>
              <a:tblGrid>
                <a:gridCol w="73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l-G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Grande" pitchFamily="28" charset="0"/>
                          <a:cs typeface="Tahoma" pitchFamily="28" charset="0"/>
                        </a:rPr>
                        <a:t>δ</a:t>
                      </a:r>
                      <a:r>
                        <a:rPr kumimoji="0" lang="el-GR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Grande" pitchFamily="28" charset="0"/>
                          <a:cs typeface="Tahoma" pitchFamily="28" charset="0"/>
                        </a:rPr>
                        <a:t>E</a:t>
                      </a:r>
                      <a:endParaRPr kumimoji="0" lang="en-US" sz="14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Grande" pitchFamily="28" charset="0"/>
                        <a:cs typeface="Tahoma" pitchFamily="2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sym typeface="Symbol" pitchFamily="28" charset="2"/>
                        </a:rPr>
                        <a:t>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sym typeface="Symbol" pitchFamily="2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*q’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{q’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  <a:endParaRPr kumimoji="0" lang="en-US" sz="14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*q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9" name="Group 139"/>
          <p:cNvGraphicFramePr>
            <a:graphicFrameLocks noGrp="1"/>
          </p:cNvGraphicFramePr>
          <p:nvPr/>
        </p:nvGraphicFramePr>
        <p:xfrm>
          <a:off x="4419600" y="4876800"/>
          <a:ext cx="2895600" cy="1752601"/>
        </p:xfrm>
        <a:graphic>
          <a:graphicData uri="http://schemas.openxmlformats.org/drawingml/2006/table">
            <a:tbl>
              <a:tblPr/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27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l-G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Grande" pitchFamily="28" charset="0"/>
                          <a:cs typeface="Tahoma" pitchFamily="28" charset="0"/>
                        </a:rPr>
                        <a:t>δ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Grande" pitchFamily="28" charset="0"/>
                          <a:cs typeface="Tahoma" pitchFamily="28" charset="0"/>
                        </a:rPr>
                        <a:t>D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4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*{q’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  <a:endParaRPr kumimoji="0" lang="en-US" sz="14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4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  <a:endParaRPr kumimoji="0" lang="en-US" sz="14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4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4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*{q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,q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{q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42056" name="Straight Arrow Connector 70"/>
          <p:cNvCxnSpPr>
            <a:cxnSpLocks noChangeShapeType="1"/>
          </p:cNvCxnSpPr>
          <p:nvPr/>
        </p:nvCxnSpPr>
        <p:spPr bwMode="auto">
          <a:xfrm>
            <a:off x="533400" y="5562600"/>
            <a:ext cx="304800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73" name="Straight Arrow Connector 72"/>
          <p:cNvCxnSpPr>
            <a:cxnSpLocks noChangeShapeType="1"/>
          </p:cNvCxnSpPr>
          <p:nvPr/>
        </p:nvCxnSpPr>
        <p:spPr bwMode="auto">
          <a:xfrm>
            <a:off x="4191000" y="5562600"/>
            <a:ext cx="228600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grpSp>
        <p:nvGrpSpPr>
          <p:cNvPr id="4" name="Group 98"/>
          <p:cNvGrpSpPr>
            <a:grpSpLocks/>
          </p:cNvGrpSpPr>
          <p:nvPr/>
        </p:nvGrpSpPr>
        <p:grpSpPr bwMode="auto">
          <a:xfrm>
            <a:off x="4038600" y="2525713"/>
            <a:ext cx="3733800" cy="2046287"/>
            <a:chOff x="4038600" y="2526268"/>
            <a:chExt cx="3733800" cy="2045732"/>
          </a:xfrm>
        </p:grpSpPr>
        <p:sp>
          <p:nvSpPr>
            <p:cNvPr id="42070" name="Oval 90"/>
            <p:cNvSpPr>
              <a:spLocks noChangeArrowheads="1"/>
            </p:cNvSpPr>
            <p:nvPr/>
          </p:nvSpPr>
          <p:spPr bwMode="auto">
            <a:xfrm>
              <a:off x="4876800" y="3810000"/>
              <a:ext cx="762000" cy="67151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{q’</a:t>
              </a:r>
              <a:r>
                <a:rPr lang="en-US" sz="1800" baseline="-25000"/>
                <a:t>0</a:t>
              </a:r>
              <a:r>
                <a:rPr lang="en-US" sz="1800"/>
                <a:t>, q</a:t>
              </a:r>
              <a:r>
                <a:rPr lang="en-US" sz="1800" baseline="-25000"/>
                <a:t>0</a:t>
              </a:r>
              <a:r>
                <a:rPr lang="en-US" sz="1800"/>
                <a:t>}</a:t>
              </a:r>
            </a:p>
          </p:txBody>
        </p:sp>
        <p:sp>
          <p:nvSpPr>
            <p:cNvPr id="42071" name="Oval 91"/>
            <p:cNvSpPr>
              <a:spLocks noChangeArrowheads="1"/>
            </p:cNvSpPr>
            <p:nvPr/>
          </p:nvSpPr>
          <p:spPr bwMode="auto">
            <a:xfrm>
              <a:off x="4800600" y="3733800"/>
              <a:ext cx="914400" cy="838200"/>
            </a:xfrm>
            <a:prstGeom prst="ellipse">
              <a:avLst/>
            </a:prstGeom>
            <a:solidFill>
              <a:schemeClr val="accent1">
                <a:alpha val="12157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72" name="Line 92"/>
            <p:cNvSpPr>
              <a:spLocks noChangeShapeType="1"/>
            </p:cNvSpPr>
            <p:nvPr/>
          </p:nvSpPr>
          <p:spPr bwMode="auto">
            <a:xfrm flipV="1">
              <a:off x="5562600" y="3581400"/>
              <a:ext cx="2286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73" name="Text Box 93"/>
            <p:cNvSpPr txBox="1">
              <a:spLocks noChangeArrowheads="1"/>
            </p:cNvSpPr>
            <p:nvPr/>
          </p:nvSpPr>
          <p:spPr bwMode="auto">
            <a:xfrm>
              <a:off x="5410200" y="3352800"/>
              <a:ext cx="31290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>
                  <a:sym typeface="Symbol" pitchFamily="28" charset="2"/>
                </a:rPr>
                <a:t>0</a:t>
              </a:r>
              <a:endParaRPr lang="en-US" sz="1800">
                <a:solidFill>
                  <a:schemeClr val="hlink"/>
                </a:solidFill>
              </a:endParaRPr>
            </a:p>
          </p:txBody>
        </p:sp>
        <p:grpSp>
          <p:nvGrpSpPr>
            <p:cNvPr id="42074" name="Group 31"/>
            <p:cNvGrpSpPr>
              <a:grpSpLocks/>
            </p:cNvGrpSpPr>
            <p:nvPr/>
          </p:nvGrpSpPr>
          <p:grpSpPr bwMode="auto">
            <a:xfrm>
              <a:off x="4038600" y="3962400"/>
              <a:ext cx="914400" cy="366712"/>
              <a:chOff x="228600" y="3976688"/>
              <a:chExt cx="914400" cy="366713"/>
            </a:xfrm>
          </p:grpSpPr>
          <p:sp>
            <p:nvSpPr>
              <p:cNvPr id="42094" name="Line 6"/>
              <p:cNvSpPr>
                <a:spLocks noChangeShapeType="1"/>
              </p:cNvSpPr>
              <p:nvPr/>
            </p:nvSpPr>
            <p:spPr bwMode="auto">
              <a:xfrm>
                <a:off x="533400" y="4286250"/>
                <a:ext cx="6096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95" name="Text Box 7"/>
              <p:cNvSpPr txBox="1">
                <a:spLocks noChangeArrowheads="1"/>
              </p:cNvSpPr>
              <p:nvPr/>
            </p:nvSpPr>
            <p:spPr bwMode="auto">
              <a:xfrm>
                <a:off x="228600" y="3976688"/>
                <a:ext cx="628650" cy="3667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800"/>
                  <a:t>start</a:t>
                </a:r>
              </a:p>
            </p:txBody>
          </p:sp>
        </p:grpSp>
        <p:cxnSp>
          <p:nvCxnSpPr>
            <p:cNvPr id="42075" name="Straight Connector 67"/>
            <p:cNvCxnSpPr>
              <a:cxnSpLocks noChangeShapeType="1"/>
            </p:cNvCxnSpPr>
            <p:nvPr/>
          </p:nvCxnSpPr>
          <p:spPr bwMode="auto">
            <a:xfrm rot="5400000">
              <a:off x="3124200" y="3581400"/>
              <a:ext cx="1981200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42076" name="Oval 10"/>
            <p:cNvSpPr>
              <a:spLocks noChangeArrowheads="1"/>
            </p:cNvSpPr>
            <p:nvPr/>
          </p:nvSpPr>
          <p:spPr bwMode="auto">
            <a:xfrm>
              <a:off x="5638800" y="2971800"/>
              <a:ext cx="762000" cy="685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{q</a:t>
              </a:r>
              <a:r>
                <a:rPr lang="en-US" sz="1800" baseline="-25000"/>
                <a:t>0</a:t>
              </a:r>
              <a:r>
                <a:rPr lang="en-US" sz="1800"/>
                <a:t>,q</a:t>
              </a:r>
              <a:r>
                <a:rPr lang="en-US" sz="1800" baseline="-25000"/>
                <a:t>1</a:t>
              </a:r>
              <a:r>
                <a:rPr lang="en-US" sz="1800"/>
                <a:t>}</a:t>
              </a:r>
              <a:endParaRPr lang="en-US" sz="1800" baseline="-25000"/>
            </a:p>
          </p:txBody>
        </p:sp>
        <p:sp>
          <p:nvSpPr>
            <p:cNvPr id="42077" name="Oval 10"/>
            <p:cNvSpPr>
              <a:spLocks noChangeArrowheads="1"/>
            </p:cNvSpPr>
            <p:nvPr/>
          </p:nvSpPr>
          <p:spPr bwMode="auto">
            <a:xfrm>
              <a:off x="6934200" y="3124200"/>
              <a:ext cx="762000" cy="685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{q</a:t>
              </a:r>
              <a:r>
                <a:rPr lang="en-US" sz="1800" baseline="-25000"/>
                <a:t>0</a:t>
              </a:r>
              <a:r>
                <a:rPr lang="en-US" sz="1800"/>
                <a:t>,q</a:t>
              </a:r>
              <a:r>
                <a:rPr lang="en-US" sz="1800" baseline="-25000"/>
                <a:t>2</a:t>
              </a:r>
              <a:r>
                <a:rPr lang="en-US" sz="1800"/>
                <a:t>}</a:t>
              </a:r>
              <a:endParaRPr lang="en-US" sz="1800" baseline="-25000"/>
            </a:p>
          </p:txBody>
        </p:sp>
        <p:sp>
          <p:nvSpPr>
            <p:cNvPr id="42078" name="Oval 91"/>
            <p:cNvSpPr>
              <a:spLocks noChangeArrowheads="1"/>
            </p:cNvSpPr>
            <p:nvPr/>
          </p:nvSpPr>
          <p:spPr bwMode="auto">
            <a:xfrm>
              <a:off x="6858000" y="3048000"/>
              <a:ext cx="914400" cy="838200"/>
            </a:xfrm>
            <a:prstGeom prst="ellipse">
              <a:avLst/>
            </a:prstGeom>
            <a:solidFill>
              <a:schemeClr val="accent1">
                <a:alpha val="12157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42079" name="Straight Arrow Connector 78"/>
            <p:cNvCxnSpPr>
              <a:cxnSpLocks noChangeShapeType="1"/>
              <a:stCxn id="42076" idx="6"/>
              <a:endCxn id="42078" idx="2"/>
            </p:cNvCxnSpPr>
            <p:nvPr/>
          </p:nvCxnSpPr>
          <p:spPr bwMode="auto">
            <a:xfrm>
              <a:off x="6400800" y="3314700"/>
              <a:ext cx="457200" cy="1524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sp>
          <p:nvSpPr>
            <p:cNvPr id="42080" name="Text Box 93"/>
            <p:cNvSpPr txBox="1">
              <a:spLocks noChangeArrowheads="1"/>
            </p:cNvSpPr>
            <p:nvPr/>
          </p:nvSpPr>
          <p:spPr bwMode="auto">
            <a:xfrm>
              <a:off x="6553200" y="3352800"/>
              <a:ext cx="31290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>
                  <a:sym typeface="Symbol" pitchFamily="28" charset="2"/>
                </a:rPr>
                <a:t>1</a:t>
              </a:r>
              <a:endParaRPr lang="en-US" sz="1800">
                <a:solidFill>
                  <a:schemeClr val="hlink"/>
                </a:solidFill>
              </a:endParaRPr>
            </a:p>
          </p:txBody>
        </p:sp>
        <p:sp>
          <p:nvSpPr>
            <p:cNvPr id="42081" name="Freeform 12"/>
            <p:cNvSpPr>
              <a:spLocks/>
            </p:cNvSpPr>
            <p:nvPr/>
          </p:nvSpPr>
          <p:spPr bwMode="auto">
            <a:xfrm>
              <a:off x="5918200" y="2695575"/>
              <a:ext cx="419100" cy="317500"/>
            </a:xfrm>
            <a:custGeom>
              <a:avLst/>
              <a:gdLst>
                <a:gd name="T0" fmla="*/ 2147483647 w 264"/>
                <a:gd name="T1" fmla="*/ 2147483647 h 200"/>
                <a:gd name="T2" fmla="*/ 2147483647 w 264"/>
                <a:gd name="T3" fmla="*/ 2147483647 h 200"/>
                <a:gd name="T4" fmla="*/ 2147483647 w 264"/>
                <a:gd name="T5" fmla="*/ 2147483647 h 200"/>
                <a:gd name="T6" fmla="*/ 2147483647 w 264"/>
                <a:gd name="T7" fmla="*/ 2147483647 h 200"/>
                <a:gd name="T8" fmla="*/ 2147483647 w 264"/>
                <a:gd name="T9" fmla="*/ 2147483647 h 2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4"/>
                <a:gd name="T16" fmla="*/ 0 h 200"/>
                <a:gd name="T17" fmla="*/ 264 w 264"/>
                <a:gd name="T18" fmla="*/ 200 h 2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4" h="200">
                  <a:moveTo>
                    <a:pt x="64" y="200"/>
                  </a:moveTo>
                  <a:cubicBezTo>
                    <a:pt x="32" y="144"/>
                    <a:pt x="0" y="88"/>
                    <a:pt x="16" y="56"/>
                  </a:cubicBezTo>
                  <a:cubicBezTo>
                    <a:pt x="32" y="24"/>
                    <a:pt x="120" y="0"/>
                    <a:pt x="160" y="8"/>
                  </a:cubicBezTo>
                  <a:cubicBezTo>
                    <a:pt x="200" y="16"/>
                    <a:pt x="248" y="72"/>
                    <a:pt x="256" y="104"/>
                  </a:cubicBezTo>
                  <a:cubicBezTo>
                    <a:pt x="264" y="136"/>
                    <a:pt x="236" y="168"/>
                    <a:pt x="208" y="20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82" name="Text Box 13"/>
            <p:cNvSpPr txBox="1">
              <a:spLocks noChangeArrowheads="1"/>
            </p:cNvSpPr>
            <p:nvPr/>
          </p:nvSpPr>
          <p:spPr bwMode="auto">
            <a:xfrm>
              <a:off x="5783094" y="2526268"/>
              <a:ext cx="31290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/>
                <a:t>0</a:t>
              </a:r>
            </a:p>
          </p:txBody>
        </p:sp>
        <p:sp>
          <p:nvSpPr>
            <p:cNvPr id="42083" name="Oval 5"/>
            <p:cNvSpPr>
              <a:spLocks noChangeArrowheads="1"/>
            </p:cNvSpPr>
            <p:nvPr/>
          </p:nvSpPr>
          <p:spPr bwMode="auto">
            <a:xfrm>
              <a:off x="6248400" y="4114800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q</a:t>
              </a:r>
              <a:r>
                <a:rPr lang="en-US" sz="1800" baseline="-25000"/>
                <a:t>0</a:t>
              </a:r>
            </a:p>
          </p:txBody>
        </p:sp>
        <p:cxnSp>
          <p:nvCxnSpPr>
            <p:cNvPr id="42084" name="Straight Arrow Connector 84"/>
            <p:cNvCxnSpPr>
              <a:cxnSpLocks noChangeShapeType="1"/>
              <a:stCxn id="42071" idx="6"/>
              <a:endCxn id="42083" idx="2"/>
            </p:cNvCxnSpPr>
            <p:nvPr/>
          </p:nvCxnSpPr>
          <p:spPr bwMode="auto">
            <a:xfrm>
              <a:off x="5715000" y="4152900"/>
              <a:ext cx="533400" cy="1905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sp>
          <p:nvSpPr>
            <p:cNvPr id="42085" name="Text Box 93"/>
            <p:cNvSpPr txBox="1">
              <a:spLocks noChangeArrowheads="1"/>
            </p:cNvSpPr>
            <p:nvPr/>
          </p:nvSpPr>
          <p:spPr bwMode="auto">
            <a:xfrm>
              <a:off x="5783094" y="3897868"/>
              <a:ext cx="31290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>
                  <a:sym typeface="Symbol" pitchFamily="28" charset="2"/>
                </a:rPr>
                <a:t>1</a:t>
              </a:r>
              <a:endParaRPr lang="en-US" sz="1800">
                <a:solidFill>
                  <a:schemeClr val="hlink"/>
                </a:solidFill>
              </a:endParaRPr>
            </a:p>
          </p:txBody>
        </p:sp>
        <p:sp>
          <p:nvSpPr>
            <p:cNvPr id="42086" name="Freeform 12"/>
            <p:cNvSpPr>
              <a:spLocks/>
            </p:cNvSpPr>
            <p:nvPr/>
          </p:nvSpPr>
          <p:spPr bwMode="auto">
            <a:xfrm rot="5181248">
              <a:off x="6664273" y="4141352"/>
              <a:ext cx="419100" cy="317500"/>
            </a:xfrm>
            <a:custGeom>
              <a:avLst/>
              <a:gdLst>
                <a:gd name="T0" fmla="*/ 2147483647 w 264"/>
                <a:gd name="T1" fmla="*/ 2147483647 h 200"/>
                <a:gd name="T2" fmla="*/ 2147483647 w 264"/>
                <a:gd name="T3" fmla="*/ 2147483647 h 200"/>
                <a:gd name="T4" fmla="*/ 2147483647 w 264"/>
                <a:gd name="T5" fmla="*/ 2147483647 h 200"/>
                <a:gd name="T6" fmla="*/ 2147483647 w 264"/>
                <a:gd name="T7" fmla="*/ 2147483647 h 200"/>
                <a:gd name="T8" fmla="*/ 2147483647 w 264"/>
                <a:gd name="T9" fmla="*/ 2147483647 h 2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4"/>
                <a:gd name="T16" fmla="*/ 0 h 200"/>
                <a:gd name="T17" fmla="*/ 264 w 264"/>
                <a:gd name="T18" fmla="*/ 200 h 2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4" h="200">
                  <a:moveTo>
                    <a:pt x="64" y="200"/>
                  </a:moveTo>
                  <a:cubicBezTo>
                    <a:pt x="32" y="144"/>
                    <a:pt x="0" y="88"/>
                    <a:pt x="16" y="56"/>
                  </a:cubicBezTo>
                  <a:cubicBezTo>
                    <a:pt x="32" y="24"/>
                    <a:pt x="120" y="0"/>
                    <a:pt x="160" y="8"/>
                  </a:cubicBezTo>
                  <a:cubicBezTo>
                    <a:pt x="200" y="16"/>
                    <a:pt x="248" y="72"/>
                    <a:pt x="256" y="104"/>
                  </a:cubicBezTo>
                  <a:cubicBezTo>
                    <a:pt x="264" y="136"/>
                    <a:pt x="236" y="168"/>
                    <a:pt x="208" y="20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87" name="Text Box 93"/>
            <p:cNvSpPr txBox="1">
              <a:spLocks noChangeArrowheads="1"/>
            </p:cNvSpPr>
            <p:nvPr/>
          </p:nvSpPr>
          <p:spPr bwMode="auto">
            <a:xfrm>
              <a:off x="7010400" y="4191000"/>
              <a:ext cx="31290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>
                  <a:sym typeface="Symbol" pitchFamily="28" charset="2"/>
                </a:rPr>
                <a:t>1</a:t>
              </a:r>
              <a:endParaRPr lang="en-US" sz="1800">
                <a:solidFill>
                  <a:schemeClr val="hlink"/>
                </a:solidFill>
              </a:endParaRPr>
            </a:p>
          </p:txBody>
        </p:sp>
        <p:cxnSp>
          <p:nvCxnSpPr>
            <p:cNvPr id="42088" name="Straight Arrow Connector 89"/>
            <p:cNvCxnSpPr>
              <a:cxnSpLocks noChangeShapeType="1"/>
              <a:stCxn id="42083" idx="0"/>
            </p:cNvCxnSpPr>
            <p:nvPr/>
          </p:nvCxnSpPr>
          <p:spPr bwMode="auto">
            <a:xfrm rot="16200000" flipV="1">
              <a:off x="6096000" y="3733800"/>
              <a:ext cx="457200" cy="3048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sp>
          <p:nvSpPr>
            <p:cNvPr id="42089" name="Text Box 93"/>
            <p:cNvSpPr txBox="1">
              <a:spLocks noChangeArrowheads="1"/>
            </p:cNvSpPr>
            <p:nvPr/>
          </p:nvSpPr>
          <p:spPr bwMode="auto">
            <a:xfrm>
              <a:off x="6248400" y="3593068"/>
              <a:ext cx="31290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>
                  <a:sym typeface="Symbol" pitchFamily="28" charset="2"/>
                </a:rPr>
                <a:t>0</a:t>
              </a:r>
              <a:endParaRPr lang="en-US" sz="1800">
                <a:solidFill>
                  <a:schemeClr val="hlink"/>
                </a:solidFill>
              </a:endParaRPr>
            </a:p>
          </p:txBody>
        </p:sp>
        <p:cxnSp>
          <p:nvCxnSpPr>
            <p:cNvPr id="42090" name="Straight Arrow Connector 92"/>
            <p:cNvCxnSpPr>
              <a:cxnSpLocks noChangeShapeType="1"/>
              <a:stCxn id="42078" idx="1"/>
            </p:cNvCxnSpPr>
            <p:nvPr/>
          </p:nvCxnSpPr>
          <p:spPr bwMode="auto">
            <a:xfrm rot="-5400000" flipH="1" flipV="1">
              <a:off x="6681531" y="2890019"/>
              <a:ext cx="29649" cy="591111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sp>
          <p:nvSpPr>
            <p:cNvPr id="42091" name="Text Box 93"/>
            <p:cNvSpPr txBox="1">
              <a:spLocks noChangeArrowheads="1"/>
            </p:cNvSpPr>
            <p:nvPr/>
          </p:nvSpPr>
          <p:spPr bwMode="auto">
            <a:xfrm>
              <a:off x="6621294" y="2895600"/>
              <a:ext cx="31290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>
                  <a:sym typeface="Symbol" pitchFamily="28" charset="2"/>
                </a:rPr>
                <a:t>0</a:t>
              </a:r>
              <a:endParaRPr lang="en-US" sz="1800">
                <a:solidFill>
                  <a:schemeClr val="hlink"/>
                </a:solidFill>
              </a:endParaRPr>
            </a:p>
          </p:txBody>
        </p:sp>
        <p:sp>
          <p:nvSpPr>
            <p:cNvPr id="42092" name="Text Box 93"/>
            <p:cNvSpPr txBox="1">
              <a:spLocks noChangeArrowheads="1"/>
            </p:cNvSpPr>
            <p:nvPr/>
          </p:nvSpPr>
          <p:spPr bwMode="auto">
            <a:xfrm>
              <a:off x="6629400" y="3733800"/>
              <a:ext cx="31290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>
                  <a:sym typeface="Symbol" pitchFamily="28" charset="2"/>
                </a:rPr>
                <a:t>1</a:t>
              </a:r>
              <a:endParaRPr lang="en-US" sz="1800">
                <a:solidFill>
                  <a:schemeClr val="hlink"/>
                </a:solidFill>
              </a:endParaRPr>
            </a:p>
          </p:txBody>
        </p:sp>
        <p:cxnSp>
          <p:nvCxnSpPr>
            <p:cNvPr id="42093" name="Straight Arrow Connector 97"/>
            <p:cNvCxnSpPr>
              <a:cxnSpLocks noChangeShapeType="1"/>
              <a:stCxn id="42078" idx="3"/>
              <a:endCxn id="42083" idx="7"/>
            </p:cNvCxnSpPr>
            <p:nvPr/>
          </p:nvCxnSpPr>
          <p:spPr bwMode="auto">
            <a:xfrm rot="5400000">
              <a:off x="6606125" y="3795969"/>
              <a:ext cx="418306" cy="353266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</p:grpSp>
      <p:grpSp>
        <p:nvGrpSpPr>
          <p:cNvPr id="6" name="Group 83"/>
          <p:cNvGrpSpPr>
            <a:grpSpLocks/>
          </p:cNvGrpSpPr>
          <p:nvPr/>
        </p:nvGrpSpPr>
        <p:grpSpPr bwMode="auto">
          <a:xfrm>
            <a:off x="1600200" y="5257800"/>
            <a:ext cx="2057400" cy="1066800"/>
            <a:chOff x="1600200" y="5257800"/>
            <a:chExt cx="2057400" cy="1066800"/>
          </a:xfrm>
        </p:grpSpPr>
        <p:sp>
          <p:nvSpPr>
            <p:cNvPr id="55" name="Rounded Rectangle 54"/>
            <p:cNvSpPr/>
            <p:nvPr/>
          </p:nvSpPr>
          <p:spPr bwMode="auto">
            <a:xfrm>
              <a:off x="1600200" y="5257800"/>
              <a:ext cx="609600" cy="838200"/>
            </a:xfrm>
            <a:prstGeom prst="roundRect">
              <a:avLst/>
            </a:prstGeom>
            <a:solidFill>
              <a:schemeClr val="lt1">
                <a:alpha val="11000"/>
              </a:schemeClr>
            </a:solidFill>
            <a:ln>
              <a:solidFill>
                <a:srgbClr val="00B050"/>
              </a:solidFill>
              <a:prstDash val="dash"/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defRPr/>
              </a:pPr>
              <a:endParaRPr lang="en-US">
                <a:solidFill>
                  <a:schemeClr val="tx1"/>
                </a:solidFill>
                <a:ea typeface="ＭＳ Ｐゴシック" pitchFamily="28" charset="-128"/>
              </a:endParaRPr>
            </a:p>
          </p:txBody>
        </p:sp>
        <p:sp>
          <p:nvSpPr>
            <p:cNvPr id="56" name="Rounded Rectangle 55"/>
            <p:cNvSpPr/>
            <p:nvPr/>
          </p:nvSpPr>
          <p:spPr bwMode="auto">
            <a:xfrm>
              <a:off x="3048000" y="5715000"/>
              <a:ext cx="609600" cy="609600"/>
            </a:xfrm>
            <a:prstGeom prst="roundRect">
              <a:avLst/>
            </a:prstGeom>
            <a:solidFill>
              <a:schemeClr val="lt1">
                <a:alpha val="11000"/>
              </a:schemeClr>
            </a:solidFill>
            <a:ln>
              <a:solidFill>
                <a:srgbClr val="00B050"/>
              </a:solidFill>
              <a:prstDash val="dash"/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defRPr/>
              </a:pPr>
              <a:endParaRPr lang="en-US">
                <a:solidFill>
                  <a:schemeClr val="tx1"/>
                </a:solidFill>
                <a:ea typeface="ＭＳ Ｐゴシック" pitchFamily="28" charset="-128"/>
              </a:endParaRPr>
            </a:p>
          </p:txBody>
        </p:sp>
      </p:grpSp>
      <p:grpSp>
        <p:nvGrpSpPr>
          <p:cNvPr id="7" name="Group 82"/>
          <p:cNvGrpSpPr>
            <a:grpSpLocks/>
          </p:cNvGrpSpPr>
          <p:nvPr/>
        </p:nvGrpSpPr>
        <p:grpSpPr bwMode="auto">
          <a:xfrm>
            <a:off x="3440113" y="4452938"/>
            <a:ext cx="2046287" cy="1371600"/>
            <a:chOff x="3440029" y="4452938"/>
            <a:chExt cx="2046371" cy="1371102"/>
          </a:xfrm>
        </p:grpSpPr>
        <p:cxnSp>
          <p:nvCxnSpPr>
            <p:cNvPr id="42065" name="Elbow Connector 62"/>
            <p:cNvCxnSpPr>
              <a:cxnSpLocks noChangeShapeType="1"/>
              <a:endCxn id="67" idx="2"/>
            </p:cNvCxnSpPr>
            <p:nvPr/>
          </p:nvCxnSpPr>
          <p:spPr bwMode="auto">
            <a:xfrm rot="5400000" flipH="1" flipV="1">
              <a:off x="3268785" y="5005044"/>
              <a:ext cx="990240" cy="647751"/>
            </a:xfrm>
            <a:prstGeom prst="bentConnector3">
              <a:avLst>
                <a:gd name="adj1" fmla="val 50000"/>
              </a:avLst>
            </a:prstGeom>
            <a:noFill/>
            <a:ln w="9525" algn="ctr">
              <a:solidFill>
                <a:srgbClr val="C00000"/>
              </a:solidFill>
              <a:prstDash val="sysDash"/>
              <a:round/>
              <a:headEnd/>
              <a:tailEnd type="arrow" w="med" len="med"/>
            </a:ln>
          </p:spPr>
        </p:cxnSp>
        <p:sp>
          <p:nvSpPr>
            <p:cNvPr id="67" name="Rectangle 66"/>
            <p:cNvSpPr/>
            <p:nvPr/>
          </p:nvSpPr>
          <p:spPr bwMode="auto">
            <a:xfrm>
              <a:off x="3668638" y="4452938"/>
              <a:ext cx="838234" cy="380862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defRPr/>
              </a:pPr>
              <a:r>
                <a:rPr lang="en-US" sz="1800" i="1" dirty="0">
                  <a:solidFill>
                    <a:srgbClr val="C00000"/>
                  </a:solidFill>
                  <a:ea typeface="ＭＳ Ｐゴシック" pitchFamily="28" charset="-128"/>
                </a:rPr>
                <a:t>union</a:t>
              </a:r>
            </a:p>
          </p:txBody>
        </p:sp>
        <p:cxnSp>
          <p:nvCxnSpPr>
            <p:cNvPr id="42067" name="Straight Arrow Connector 81"/>
            <p:cNvCxnSpPr>
              <a:cxnSpLocks noChangeShapeType="1"/>
              <a:stCxn id="67" idx="3"/>
            </p:cNvCxnSpPr>
            <p:nvPr/>
          </p:nvCxnSpPr>
          <p:spPr bwMode="auto">
            <a:xfrm>
              <a:off x="4506913" y="4643438"/>
              <a:ext cx="979487" cy="919162"/>
            </a:xfrm>
            <a:prstGeom prst="straightConnector1">
              <a:avLst/>
            </a:prstGeom>
            <a:noFill/>
            <a:ln w="9525" algn="ctr">
              <a:solidFill>
                <a:srgbClr val="C00000"/>
              </a:solidFill>
              <a:prstDash val="sysDash"/>
              <a:round/>
              <a:headEnd/>
              <a:tailEnd type="arrow" w="med" len="med"/>
            </a:ln>
          </p:spPr>
        </p:cxnSp>
      </p:grpSp>
      <p:grpSp>
        <p:nvGrpSpPr>
          <p:cNvPr id="8" name="Group 80"/>
          <p:cNvGrpSpPr>
            <a:grpSpLocks/>
          </p:cNvGrpSpPr>
          <p:nvPr/>
        </p:nvGrpSpPr>
        <p:grpSpPr bwMode="auto">
          <a:xfrm>
            <a:off x="1905000" y="4419600"/>
            <a:ext cx="1447800" cy="1371600"/>
            <a:chOff x="1905000" y="4419600"/>
            <a:chExt cx="1447800" cy="1371600"/>
          </a:xfrm>
        </p:grpSpPr>
        <p:sp>
          <p:nvSpPr>
            <p:cNvPr id="90" name="Rectangle 89"/>
            <p:cNvSpPr/>
            <p:nvPr/>
          </p:nvSpPr>
          <p:spPr bwMode="auto">
            <a:xfrm>
              <a:off x="2286000" y="4419600"/>
              <a:ext cx="1066800" cy="3810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defRPr/>
              </a:pPr>
              <a:r>
                <a:rPr lang="en-US" sz="1600" dirty="0">
                  <a:solidFill>
                    <a:srgbClr val="C00000"/>
                  </a:solidFill>
                  <a:ea typeface="ＭＳ Ｐゴシック" pitchFamily="28" charset="-128"/>
                </a:rPr>
                <a:t>ECLOSE</a:t>
              </a:r>
            </a:p>
          </p:txBody>
        </p:sp>
        <p:cxnSp>
          <p:nvCxnSpPr>
            <p:cNvPr id="42063" name="Shape 64"/>
            <p:cNvCxnSpPr>
              <a:cxnSpLocks noChangeShapeType="1"/>
              <a:stCxn id="55" idx="0"/>
              <a:endCxn id="90" idx="1"/>
            </p:cNvCxnSpPr>
            <p:nvPr/>
          </p:nvCxnSpPr>
          <p:spPr bwMode="auto">
            <a:xfrm rot="5400000" flipH="1" flipV="1">
              <a:off x="1771650" y="4743450"/>
              <a:ext cx="647700" cy="381000"/>
            </a:xfrm>
            <a:prstGeom prst="bentConnector2">
              <a:avLst/>
            </a:prstGeom>
            <a:noFill/>
            <a:ln w="9525" algn="ctr">
              <a:solidFill>
                <a:srgbClr val="C00000"/>
              </a:solidFill>
              <a:prstDash val="sysDash"/>
              <a:round/>
              <a:headEnd/>
              <a:tailEnd type="arrow" w="med" len="med"/>
            </a:ln>
          </p:spPr>
        </p:cxnSp>
        <p:cxnSp>
          <p:nvCxnSpPr>
            <p:cNvPr id="42064" name="Straight Arrow Connector 79"/>
            <p:cNvCxnSpPr>
              <a:cxnSpLocks noChangeShapeType="1"/>
            </p:cNvCxnSpPr>
            <p:nvPr/>
          </p:nvCxnSpPr>
          <p:spPr bwMode="auto">
            <a:xfrm>
              <a:off x="2895600" y="4724400"/>
              <a:ext cx="152400" cy="1066800"/>
            </a:xfrm>
            <a:prstGeom prst="straightConnector1">
              <a:avLst/>
            </a:prstGeom>
            <a:noFill/>
            <a:ln w="9525" algn="ctr">
              <a:solidFill>
                <a:srgbClr val="C00000"/>
              </a:solidFill>
              <a:prstDash val="sysDash"/>
              <a:round/>
              <a:headEnd/>
              <a:tailEnd type="arrow" w="med" len="med"/>
            </a:ln>
          </p:spPr>
        </p:cxn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DB1A133-2B90-420B-88AA-7FD0E7C5556C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Summary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/>
              <a:t>DFA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/>
              <a:t>Definition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/>
              <a:t>Transition diagrams &amp; tables</a:t>
            </a:r>
          </a:p>
          <a:p>
            <a:pPr eaLnBrk="1" hangingPunct="1">
              <a:lnSpc>
                <a:spcPct val="90000"/>
              </a:lnSpc>
            </a:pPr>
            <a:r>
              <a:rPr lang="en-US" sz="2000"/>
              <a:t>Regular language</a:t>
            </a:r>
          </a:p>
          <a:p>
            <a:pPr eaLnBrk="1" hangingPunct="1">
              <a:lnSpc>
                <a:spcPct val="90000"/>
              </a:lnSpc>
            </a:pPr>
            <a:r>
              <a:rPr lang="en-US" sz="2000"/>
              <a:t>NFA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/>
              <a:t>Definition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/>
              <a:t>Transition diagrams &amp; tables</a:t>
            </a:r>
          </a:p>
          <a:p>
            <a:pPr eaLnBrk="1" hangingPunct="1">
              <a:lnSpc>
                <a:spcPct val="90000"/>
              </a:lnSpc>
            </a:pPr>
            <a:r>
              <a:rPr lang="en-US" sz="2000"/>
              <a:t>DFA vs. NFA</a:t>
            </a:r>
          </a:p>
          <a:p>
            <a:pPr eaLnBrk="1" hangingPunct="1">
              <a:lnSpc>
                <a:spcPct val="90000"/>
              </a:lnSpc>
            </a:pPr>
            <a:r>
              <a:rPr lang="en-US" sz="2000"/>
              <a:t>NFA to DFA conversion using subset construction</a:t>
            </a:r>
          </a:p>
          <a:p>
            <a:pPr eaLnBrk="1" hangingPunct="1">
              <a:lnSpc>
                <a:spcPct val="90000"/>
              </a:lnSpc>
            </a:pPr>
            <a:r>
              <a:rPr lang="en-US" sz="2000"/>
              <a:t>Equivalency of DFA &amp; NFA</a:t>
            </a:r>
          </a:p>
          <a:p>
            <a:pPr eaLnBrk="1" hangingPunct="1">
              <a:lnSpc>
                <a:spcPct val="90000"/>
              </a:lnSpc>
            </a:pPr>
            <a:r>
              <a:rPr lang="en-US" sz="2000"/>
              <a:t>Removal of redundant states and including dead states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>
                <a:sym typeface="Symbol" pitchFamily="28" charset="2"/>
              </a:rPr>
              <a:t></a:t>
            </a:r>
            <a:r>
              <a:rPr lang="en-US" sz="2000"/>
              <a:t>-transitions in NFA</a:t>
            </a:r>
          </a:p>
          <a:p>
            <a:pPr eaLnBrk="1" hangingPunct="1">
              <a:lnSpc>
                <a:spcPct val="90000"/>
              </a:lnSpc>
            </a:pPr>
            <a:r>
              <a:rPr lang="en-US" sz="2000"/>
              <a:t>Pigeon hole principles</a:t>
            </a:r>
          </a:p>
          <a:p>
            <a:pPr eaLnBrk="1" hangingPunct="1">
              <a:lnSpc>
                <a:spcPct val="90000"/>
              </a:lnSpc>
            </a:pPr>
            <a:r>
              <a:rPr lang="en-US" sz="2000"/>
              <a:t>Text searching applications</a:t>
            </a:r>
          </a:p>
          <a:p>
            <a:pPr lvl="2" eaLnBrk="1" hangingPunct="1">
              <a:lnSpc>
                <a:spcPct val="90000"/>
              </a:lnSpc>
              <a:buFont typeface="Wingdings" pitchFamily="28" charset="2"/>
              <a:buNone/>
            </a:pPr>
            <a:endParaRPr lang="en-US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2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28" charset="-128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HD:Applications:Microsoft Office 2004:Templates:Presentations:Designs:Blends</Template>
  <TotalTime>1467</TotalTime>
  <Words>4168</Words>
  <Application>Microsoft Office PowerPoint</Application>
  <PresentationFormat>On-screen Show (4:3)</PresentationFormat>
  <Paragraphs>859</Paragraphs>
  <Slides>41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ＭＳ Ｐゴシック</vt:lpstr>
      <vt:lpstr>Arial</vt:lpstr>
      <vt:lpstr>Arial MT</vt:lpstr>
      <vt:lpstr>Lucida Grande</vt:lpstr>
      <vt:lpstr>Symbol</vt:lpstr>
      <vt:lpstr>Wingdings</vt:lpstr>
      <vt:lpstr>Blends</vt:lpstr>
      <vt:lpstr>Finite Automata</vt:lpstr>
      <vt:lpstr>Finite Automaton (FA)</vt:lpstr>
      <vt:lpstr>Deterministic Finite Automata - Definition</vt:lpstr>
      <vt:lpstr>What does a DFA do on reading an input string?</vt:lpstr>
      <vt:lpstr>Regular Languages</vt:lpstr>
      <vt:lpstr>The Chomsky Hierachy</vt:lpstr>
      <vt:lpstr>Example #1</vt:lpstr>
      <vt:lpstr>DFA for strings containing 01</vt:lpstr>
      <vt:lpstr>Example #2</vt:lpstr>
      <vt:lpstr>Example #3</vt:lpstr>
      <vt:lpstr>Extension of transitions (δ) to Paths (δ)</vt:lpstr>
      <vt:lpstr>Language of a DFA</vt:lpstr>
      <vt:lpstr>Non-deterministic Finite Automata (NFA)</vt:lpstr>
      <vt:lpstr>Non-deterministic Finite Automata (NFA)</vt:lpstr>
      <vt:lpstr>How to use an NFA?</vt:lpstr>
      <vt:lpstr>NFA for strings containing 01</vt:lpstr>
      <vt:lpstr>What is an “error state”?</vt:lpstr>
      <vt:lpstr>Example #2</vt:lpstr>
      <vt:lpstr>Extension of δ to NFA Paths</vt:lpstr>
      <vt:lpstr>Language of an NFA</vt:lpstr>
      <vt:lpstr>Advantages &amp; Caveats for NFA</vt:lpstr>
      <vt:lpstr>Technologies for NFAs</vt:lpstr>
      <vt:lpstr>Differences: DFA vs. NFA</vt:lpstr>
      <vt:lpstr>Equivalence of DFA &amp; NFA</vt:lpstr>
      <vt:lpstr>Proof for the if-part</vt:lpstr>
      <vt:lpstr>NFA to DFA by subset construction</vt:lpstr>
      <vt:lpstr>NFA to DFA construction: Example</vt:lpstr>
      <vt:lpstr>NFA to DFA: Repeating the example using LAZY CREATION</vt:lpstr>
      <vt:lpstr>Correctness of subset construction</vt:lpstr>
      <vt:lpstr>A bad case where #states(DFA)&gt;&gt;#states(NFA)</vt:lpstr>
      <vt:lpstr>Applications </vt:lpstr>
      <vt:lpstr>A few subtle properties of DFAs and NFAs</vt:lpstr>
      <vt:lpstr>FA with -Transitions </vt:lpstr>
      <vt:lpstr>Example of an -NFA</vt:lpstr>
      <vt:lpstr>Example of an -NFA</vt:lpstr>
      <vt:lpstr>Example of another -NFA</vt:lpstr>
      <vt:lpstr>Equivalency of DFA, NFA, -NFA </vt:lpstr>
      <vt:lpstr>Eliminating -transitions </vt:lpstr>
      <vt:lpstr>Example: -NFA  DFA</vt:lpstr>
      <vt:lpstr>Example: -NFA  DFA</vt:lpstr>
      <vt:lpstr>Summary</vt:lpstr>
    </vt:vector>
  </TitlesOfParts>
  <Company>Office 2004 ananth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CPT S 223: Advanced Data Structures</dc:title>
  <dc:creator>Office 2004 ananth</dc:creator>
  <cp:lastModifiedBy>Shinnu [MU - Jaipur]</cp:lastModifiedBy>
  <cp:revision>457</cp:revision>
  <cp:lastPrinted>2007-08-15T03:01:31Z</cp:lastPrinted>
  <dcterms:created xsi:type="dcterms:W3CDTF">2007-08-14T22:08:29Z</dcterms:created>
  <dcterms:modified xsi:type="dcterms:W3CDTF">2026-08-10T10:29:37Z</dcterms:modified>
</cp:coreProperties>
</file>