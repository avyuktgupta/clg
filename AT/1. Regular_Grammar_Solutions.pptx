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24308A"/>
          </a:solidFill>
          <a:ln/>
        </p:spPr>
      </p:sp>
      <p:sp>
        <p:nvSpPr>
          <p:cNvPr id="3" name="Shape 1"/>
          <p:cNvSpPr/>
          <p:nvPr/>
        </p:nvSpPr>
        <p:spPr>
          <a:xfrm>
            <a:off x="10241280" y="4206240"/>
            <a:ext cx="3291840" cy="3291840"/>
          </a:xfrm>
          <a:prstGeom prst="ellipse">
            <a:avLst/>
          </a:prstGeom>
          <a:solidFill>
            <a:srgbClr val="24308A"/>
          </a:solidFill>
          <a:ln/>
        </p:spPr>
      </p:sp>
      <p:sp>
        <p:nvSpPr>
          <p:cNvPr id="4" name="Shape 2"/>
          <p:cNvSpPr/>
          <p:nvPr/>
        </p:nvSpPr>
        <p:spPr>
          <a:xfrm>
            <a:off x="502920" y="2331720"/>
            <a:ext cx="2834640" cy="384048"/>
          </a:xfrm>
          <a:prstGeom prst="roundRect">
            <a:avLst>
              <a:gd name="adj" fmla="val 50000"/>
            </a:avLst>
          </a:prstGeom>
          <a:solidFill>
            <a:srgbClr val="CADCFC"/>
          </a:solidFill>
          <a:ln/>
        </p:spPr>
      </p:sp>
      <p:sp>
        <p:nvSpPr>
          <p:cNvPr id="5" name="Text 3"/>
          <p:cNvSpPr/>
          <p:nvPr/>
        </p:nvSpPr>
        <p:spPr>
          <a:xfrm>
            <a:off x="502920" y="2331720"/>
            <a:ext cx="2834640" cy="384048"/>
          </a:xfrm>
          <a:prstGeom prst="rect">
            <a:avLst/>
          </a:prstGeom>
          <a:noFill/>
          <a:ln/>
        </p:spPr>
        <p:txBody>
          <a:bodyPr wrap="square" rtlCol="0" anchor="ctr"/>
          <a:lstStyle/>
          <a:p>
            <a:pPr algn="ctr" indent="0" marL="0">
              <a:buNone/>
            </a:pPr>
            <a:r>
              <a:rPr lang="en-US" sz="1200" b="1" spc="100" kern="0" dirty="0">
                <a:solidFill>
                  <a:srgbClr val="1E2761"/>
                </a:solidFill>
                <a:latin typeface="Calibri" pitchFamily="34" charset="0"/>
                <a:ea typeface="Calibri" pitchFamily="34" charset="-122"/>
                <a:cs typeface="Calibri" pitchFamily="34" charset="-120"/>
              </a:rPr>
              <a:t>THEORY OF COMPUTATION</a:t>
            </a:r>
            <a:endParaRPr lang="en-US" sz="1200" dirty="0"/>
          </a:p>
        </p:txBody>
      </p:sp>
      <p:sp>
        <p:nvSpPr>
          <p:cNvPr id="6" name="Text 4"/>
          <p:cNvSpPr/>
          <p:nvPr/>
        </p:nvSpPr>
        <p:spPr>
          <a:xfrm>
            <a:off x="502920" y="2788920"/>
            <a:ext cx="96012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Regular Grammar</a:t>
            </a:r>
            <a:endParaRPr lang="en-US" sz="4800" dirty="0"/>
          </a:p>
        </p:txBody>
      </p:sp>
      <p:sp>
        <p:nvSpPr>
          <p:cNvPr id="7" name="Text 5"/>
          <p:cNvSpPr/>
          <p:nvPr/>
        </p:nvSpPr>
        <p:spPr>
          <a:xfrm>
            <a:off x="502920" y="3703320"/>
            <a:ext cx="8686800" cy="50292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Worked Solutions to 20 Practice Questions</a:t>
            </a:r>
            <a:endParaRPr lang="en-US" sz="1800" dirty="0"/>
          </a:p>
        </p:txBody>
      </p:sp>
      <p:sp>
        <p:nvSpPr>
          <p:cNvPr id="8" name="Text 6"/>
          <p:cNvSpPr/>
          <p:nvPr/>
        </p:nvSpPr>
        <p:spPr>
          <a:xfrm>
            <a:off x="502920" y="4251960"/>
            <a:ext cx="9144000" cy="365760"/>
          </a:xfrm>
          <a:prstGeom prst="rect">
            <a:avLst/>
          </a:prstGeom>
          <a:noFill/>
          <a:ln/>
        </p:spPr>
        <p:txBody>
          <a:bodyPr wrap="square" lIns="0" tIns="0" rIns="0" bIns="0" rtlCol="0" anchor="ctr"/>
          <a:lstStyle/>
          <a:p>
            <a:pPr indent="0" marL="0">
              <a:buNone/>
            </a:pPr>
            <a:r>
              <a:rPr lang="en-US" sz="1300" i="1" dirty="0">
                <a:solidFill>
                  <a:srgbClr val="9FB3E8"/>
                </a:solidFill>
                <a:latin typeface="Calibri" pitchFamily="34" charset="0"/>
                <a:ea typeface="Calibri" pitchFamily="34" charset="-122"/>
                <a:cs typeface="Calibri" pitchFamily="34" charset="-120"/>
              </a:rPr>
              <a:t>Concepts  ·  Conversions  ·  Grammar Construction  ·  Derivations  ·  Closure Properties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02920" y="347472"/>
            <a:ext cx="2231136" cy="329184"/>
          </a:xfrm>
          <a:prstGeom prst="roundRect">
            <a:avLst>
              <a:gd name="adj" fmla="val 50000"/>
            </a:avLst>
          </a:prstGeom>
          <a:solidFill>
            <a:srgbClr val="CADCFC"/>
          </a:solidFill>
          <a:ln/>
        </p:spPr>
      </p:sp>
      <p:sp>
        <p:nvSpPr>
          <p:cNvPr id="3" name="Text 1"/>
          <p:cNvSpPr/>
          <p:nvPr/>
        </p:nvSpPr>
        <p:spPr>
          <a:xfrm>
            <a:off x="502920" y="347472"/>
            <a:ext cx="2231136"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CONCEPTUAL · Q1–Q2</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Definition &amp; the No-Mixing Rule</a:t>
            </a:r>
            <a:endParaRPr lang="en-US" sz="2500" dirty="0"/>
          </a:p>
        </p:txBody>
      </p:sp>
      <p:sp>
        <p:nvSpPr>
          <p:cNvPr id="5" name="Text 3"/>
          <p:cNvSpPr/>
          <p:nvPr/>
        </p:nvSpPr>
        <p:spPr>
          <a:xfrm>
            <a:off x="502920" y="155448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Q1. What is a regular grammar?</a:t>
            </a:r>
            <a:endParaRPr lang="en-US" sz="1300" dirty="0"/>
          </a:p>
        </p:txBody>
      </p:sp>
      <p:sp>
        <p:nvSpPr>
          <p:cNvPr id="6" name="Text 4"/>
          <p:cNvSpPr/>
          <p:nvPr/>
        </p:nvSpPr>
        <p:spPr>
          <a:xfrm>
            <a:off x="502920" y="1874520"/>
            <a:ext cx="5394960" cy="201168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A grammar G = (V, T, P, S) where every production has ONE nonterminal, and it sits at a fixed end.</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Right-linear: A → aB  or  A → a  (nonterminal only at the right end)</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Left-linear: A → Ba  or  A → a  (nonterminal only at the left end)</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A grammar is regular only if ALL its productions follow ONE of these two forms consistently.</a:t>
            </a:r>
            <a:endParaRPr lang="en-US" sz="1400" dirty="0"/>
          </a:p>
        </p:txBody>
      </p:sp>
      <p:sp>
        <p:nvSpPr>
          <p:cNvPr id="7" name="Text 5"/>
          <p:cNvSpPr/>
          <p:nvPr/>
        </p:nvSpPr>
        <p:spPr>
          <a:xfrm>
            <a:off x="6309360" y="155448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Q2. Why can't the two be mixed?</a:t>
            </a:r>
            <a:endParaRPr lang="en-US" sz="1300" dirty="0"/>
          </a:p>
        </p:txBody>
      </p:sp>
      <p:sp>
        <p:nvSpPr>
          <p:cNvPr id="8" name="Text 6"/>
          <p:cNvSpPr/>
          <p:nvPr/>
        </p:nvSpPr>
        <p:spPr>
          <a:xfrm>
            <a:off x="6309360" y="1874520"/>
            <a:ext cx="5394960" cy="201168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Right-linear productions model a scan of the input left-to-right by an NFA (nonterminal = current state).</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Left-linear productions model that same scan but built up from the right end backward.</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Mixing both inside one derivation breaks this single, consistent left-to-right state correspondence, so the grammar no longer maps cleanly onto one finite automaton.</a:t>
            </a:r>
            <a:endParaRPr lang="en-US" sz="1400" dirty="0"/>
          </a:p>
        </p:txBody>
      </p:sp>
      <p:sp>
        <p:nvSpPr>
          <p:cNvPr id="9" name="Shape 7"/>
          <p:cNvSpPr/>
          <p:nvPr/>
        </p:nvSpPr>
        <p:spPr>
          <a:xfrm>
            <a:off x="502920" y="4160520"/>
            <a:ext cx="5394960" cy="1737360"/>
          </a:xfrm>
          <a:prstGeom prst="roundRect">
            <a:avLst>
              <a:gd name="adj" fmla="val 4211"/>
            </a:avLst>
          </a:prstGeom>
          <a:solidFill>
            <a:srgbClr val="F4F6FB"/>
          </a:solidFill>
          <a:ln w="12700">
            <a:solidFill>
              <a:srgbClr val="1E2761"/>
            </a:solidFill>
            <a:prstDash val="solid"/>
          </a:ln>
        </p:spPr>
      </p:sp>
      <p:sp>
        <p:nvSpPr>
          <p:cNvPr id="10" name="Text 8"/>
          <p:cNvSpPr/>
          <p:nvPr/>
        </p:nvSpPr>
        <p:spPr>
          <a:xfrm>
            <a:off x="731520" y="4325112"/>
            <a:ext cx="4937760" cy="1408176"/>
          </a:xfrm>
          <a:prstGeom prst="rect">
            <a:avLst/>
          </a:prstGeom>
          <a:noFill/>
          <a:ln/>
        </p:spPr>
        <p:txBody>
          <a:bodyPr wrap="square" lIns="0" tIns="0" rIns="0" bIns="0" rtlCol="0" anchor="t"/>
          <a:lstStyle/>
          <a:p>
            <a:pPr indent="0" marL="0">
              <a:lnSpc>
                <a:spcPct val="125000"/>
              </a:lnSpc>
              <a:buNone/>
            </a:pPr>
            <a:r>
              <a:rPr lang="en-US" sz="1400" dirty="0">
                <a:solidFill>
                  <a:srgbClr val="1E2761"/>
                </a:solidFill>
                <a:latin typeface="Courier New" pitchFamily="34" charset="0"/>
                <a:ea typeface="Courier New" pitchFamily="34" charset="-122"/>
                <a:cs typeface="Courier New" pitchFamily="34" charset="-120"/>
              </a:rPr>
              <a:t>Right-linear example:</a:t>
            </a:r>
            <a:endParaRPr lang="en-US" sz="1400" dirty="0"/>
          </a:p>
          <a:p>
            <a:pPr indent="0" marL="0">
              <a:lnSpc>
                <a:spcPct val="125000"/>
              </a:lnSpc>
              <a:buNone/>
            </a:pPr>
            <a:r>
              <a:rPr lang="en-US" sz="1400" dirty="0">
                <a:solidFill>
                  <a:srgbClr val="1E2761"/>
                </a:solidFill>
                <a:latin typeface="Courier New" pitchFamily="34" charset="0"/>
                <a:ea typeface="Courier New" pitchFamily="34" charset="-122"/>
                <a:cs typeface="Courier New" pitchFamily="34" charset="-120"/>
              </a:rPr>
              <a:t>  S → aA</a:t>
            </a:r>
            <a:endParaRPr lang="en-US" sz="1400" dirty="0"/>
          </a:p>
          <a:p>
            <a:pPr indent="0" marL="0">
              <a:lnSpc>
                <a:spcPct val="125000"/>
              </a:lnSpc>
              <a:buNone/>
            </a:pPr>
            <a:r>
              <a:rPr lang="en-US" sz="1400" dirty="0">
                <a:solidFill>
                  <a:srgbClr val="1E2761"/>
                </a:solidFill>
                <a:latin typeface="Courier New" pitchFamily="34" charset="0"/>
                <a:ea typeface="Courier New" pitchFamily="34" charset="-122"/>
                <a:cs typeface="Courier New" pitchFamily="34" charset="-120"/>
              </a:rPr>
              <a:t>  A → bA | ε</a:t>
            </a:r>
            <a:endParaRPr lang="en-US" sz="1400" dirty="0"/>
          </a:p>
        </p:txBody>
      </p:sp>
      <p:sp>
        <p:nvSpPr>
          <p:cNvPr id="11" name="Shape 9"/>
          <p:cNvSpPr/>
          <p:nvPr/>
        </p:nvSpPr>
        <p:spPr>
          <a:xfrm>
            <a:off x="6309360" y="4160520"/>
            <a:ext cx="5394960" cy="1737360"/>
          </a:xfrm>
          <a:prstGeom prst="roundRect">
            <a:avLst>
              <a:gd name="adj" fmla="val 4211"/>
            </a:avLst>
          </a:prstGeom>
          <a:solidFill>
            <a:srgbClr val="F4F6FB"/>
          </a:solidFill>
          <a:ln w="12700">
            <a:solidFill>
              <a:srgbClr val="1E2761"/>
            </a:solidFill>
            <a:prstDash val="solid"/>
          </a:ln>
        </p:spPr>
      </p:sp>
      <p:sp>
        <p:nvSpPr>
          <p:cNvPr id="12" name="Text 10"/>
          <p:cNvSpPr/>
          <p:nvPr/>
        </p:nvSpPr>
        <p:spPr>
          <a:xfrm>
            <a:off x="6537960" y="4325112"/>
            <a:ext cx="4937760" cy="1408176"/>
          </a:xfrm>
          <a:prstGeom prst="rect">
            <a:avLst/>
          </a:prstGeom>
          <a:noFill/>
          <a:ln/>
        </p:spPr>
        <p:txBody>
          <a:bodyPr wrap="square" lIns="0" tIns="0" rIns="0" bIns="0" rtlCol="0" anchor="t"/>
          <a:lstStyle/>
          <a:p>
            <a:pPr indent="0" marL="0">
              <a:lnSpc>
                <a:spcPct val="125000"/>
              </a:lnSpc>
              <a:buNone/>
            </a:pPr>
            <a:r>
              <a:rPr lang="en-US" sz="1400" dirty="0">
                <a:solidFill>
                  <a:srgbClr val="1E2761"/>
                </a:solidFill>
                <a:latin typeface="Courier New" pitchFamily="34" charset="0"/>
                <a:ea typeface="Courier New" pitchFamily="34" charset="-122"/>
                <a:cs typeface="Courier New" pitchFamily="34" charset="-120"/>
              </a:rPr>
              <a:t>Left-linear example:</a:t>
            </a:r>
            <a:endParaRPr lang="en-US" sz="1400" dirty="0"/>
          </a:p>
          <a:p>
            <a:pPr indent="0" marL="0">
              <a:lnSpc>
                <a:spcPct val="125000"/>
              </a:lnSpc>
              <a:buNone/>
            </a:pPr>
            <a:r>
              <a:rPr lang="en-US" sz="1400" dirty="0">
                <a:solidFill>
                  <a:srgbClr val="1E2761"/>
                </a:solidFill>
                <a:latin typeface="Courier New" pitchFamily="34" charset="0"/>
                <a:ea typeface="Courier New" pitchFamily="34" charset="-122"/>
                <a:cs typeface="Courier New" pitchFamily="34" charset="-120"/>
              </a:rPr>
              <a:t>  S → Ab</a:t>
            </a:r>
            <a:endParaRPr lang="en-US" sz="1400" dirty="0"/>
          </a:p>
          <a:p>
            <a:pPr indent="0" marL="0">
              <a:lnSpc>
                <a:spcPct val="125000"/>
              </a:lnSpc>
              <a:buNone/>
            </a:pPr>
            <a:r>
              <a:rPr lang="en-US" sz="1400" dirty="0">
                <a:solidFill>
                  <a:srgbClr val="1E2761"/>
                </a:solidFill>
                <a:latin typeface="Courier New" pitchFamily="34" charset="0"/>
                <a:ea typeface="Courier New" pitchFamily="34" charset="-122"/>
                <a:cs typeface="Courier New" pitchFamily="34" charset="-120"/>
              </a:rPr>
              <a:t>  A → Aa | ε</a:t>
            </a:r>
            <a:endParaRPr lang="en-US" sz="1400" dirty="0"/>
          </a:p>
        </p:txBody>
      </p:sp>
      <p:sp>
        <p:nvSpPr>
          <p:cNvPr id="13" name="Text 11"/>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2920" y="347472"/>
            <a:ext cx="2231136" cy="329184"/>
          </a:xfrm>
          <a:prstGeom prst="roundRect">
            <a:avLst>
              <a:gd name="adj" fmla="val 50000"/>
            </a:avLst>
          </a:prstGeom>
          <a:solidFill>
            <a:srgbClr val="CADCFC"/>
          </a:solidFill>
          <a:ln/>
        </p:spPr>
      </p:sp>
      <p:sp>
        <p:nvSpPr>
          <p:cNvPr id="3" name="Text 1"/>
          <p:cNvSpPr/>
          <p:nvPr/>
        </p:nvSpPr>
        <p:spPr>
          <a:xfrm>
            <a:off x="502920" y="347472"/>
            <a:ext cx="2231136"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CONCEPTUAL · Q3–Q4</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FA Equivalence &amp; Ambiguity</a:t>
            </a:r>
            <a:endParaRPr lang="en-US" sz="2500" dirty="0"/>
          </a:p>
        </p:txBody>
      </p:sp>
      <p:sp>
        <p:nvSpPr>
          <p:cNvPr id="5" name="Text 3"/>
          <p:cNvSpPr/>
          <p:nvPr/>
        </p:nvSpPr>
        <p:spPr>
          <a:xfrm>
            <a:off x="502920" y="155448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Q3. Regular grammars ↔ finite automata</a:t>
            </a:r>
            <a:endParaRPr lang="en-US" sz="1300" dirty="0"/>
          </a:p>
        </p:txBody>
      </p:sp>
      <p:sp>
        <p:nvSpPr>
          <p:cNvPr id="6" name="Text 4"/>
          <p:cNvSpPr/>
          <p:nvPr/>
        </p:nvSpPr>
        <p:spPr>
          <a:xfrm>
            <a:off x="502920" y="1874520"/>
            <a:ext cx="5394960" cy="219456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Theorem: A language L is generated by some regular (Type-3) grammar if and only if L is accepted by some finite automaton (DFA/NFA).</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Each nonterminal of the grammar corresponds to a state of the automaton.</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Each production A → aB corresponds to a transition δ(A, a) = B; A → a corresponds to a transition into a final state.</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This is the constructive proof used throughout this deck (see Q6, Q9).</a:t>
            </a:r>
            <a:endParaRPr lang="en-US" sz="1400" dirty="0"/>
          </a:p>
        </p:txBody>
      </p:sp>
      <p:sp>
        <p:nvSpPr>
          <p:cNvPr id="7" name="Text 5"/>
          <p:cNvSpPr/>
          <p:nvPr/>
        </p:nvSpPr>
        <p:spPr>
          <a:xfrm>
            <a:off x="6309360" y="155448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Q4. Is every regular grammar unambiguous?</a:t>
            </a:r>
            <a:endParaRPr lang="en-US" sz="1300" dirty="0"/>
          </a:p>
        </p:txBody>
      </p:sp>
      <p:sp>
        <p:nvSpPr>
          <p:cNvPr id="8" name="Text 6"/>
          <p:cNvSpPr/>
          <p:nvPr/>
        </p:nvSpPr>
        <p:spPr>
          <a:xfrm>
            <a:off x="6309360" y="1874520"/>
            <a:ext cx="5394960" cy="10058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No. Ambiguity is a property of the grammar, not of the language — two distinct derivation (parse) trees can produce the same string.</a:t>
            </a:r>
            <a:endParaRPr lang="en-US" sz="1400" dirty="0"/>
          </a:p>
        </p:txBody>
      </p:sp>
      <p:sp>
        <p:nvSpPr>
          <p:cNvPr id="9" name="Shape 7"/>
          <p:cNvSpPr/>
          <p:nvPr/>
        </p:nvSpPr>
        <p:spPr>
          <a:xfrm>
            <a:off x="6309360" y="2926080"/>
            <a:ext cx="5394960" cy="2011680"/>
          </a:xfrm>
          <a:prstGeom prst="roundRect">
            <a:avLst>
              <a:gd name="adj" fmla="val 3636"/>
            </a:avLst>
          </a:prstGeom>
          <a:solidFill>
            <a:srgbClr val="F4F6FB"/>
          </a:solidFill>
          <a:ln w="12700">
            <a:solidFill>
              <a:srgbClr val="1E2761"/>
            </a:solidFill>
            <a:prstDash val="solid"/>
          </a:ln>
        </p:spPr>
      </p:sp>
      <p:sp>
        <p:nvSpPr>
          <p:cNvPr id="10" name="Text 8"/>
          <p:cNvSpPr/>
          <p:nvPr/>
        </p:nvSpPr>
        <p:spPr>
          <a:xfrm>
            <a:off x="6537960" y="3090672"/>
            <a:ext cx="4937760" cy="1682496"/>
          </a:xfrm>
          <a:prstGeom prst="rect">
            <a:avLst/>
          </a:prstGeom>
          <a:noFill/>
          <a:ln/>
        </p:spPr>
        <p:txBody>
          <a:bodyPr wrap="square" lIns="0" tIns="0" rIns="0" bIns="0" rtlCol="0" anchor="t"/>
          <a:lstStyle/>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S → aA | aB</a:t>
            </a: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A → b</a:t>
            </a: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B → b</a:t>
            </a:r>
            <a:endParaRPr lang="en-US" sz="1300" dirty="0"/>
          </a:p>
          <a:p>
            <a:pPr indent="0" marL="0">
              <a:lnSpc>
                <a:spcPct val="125000"/>
              </a:lnSpc>
              <a:buNone/>
            </a:pP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Derives "ab" two ways:</a:t>
            </a: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  S ⇒ aA ⇒ ab</a:t>
            </a: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  S ⇒ aB ⇒ ab   ← ambiguous!</a:t>
            </a:r>
            <a:endParaRPr lang="en-US" sz="1300" dirty="0"/>
          </a:p>
        </p:txBody>
      </p:sp>
      <p:sp>
        <p:nvSpPr>
          <p:cNvPr id="11" name="Text 9"/>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2920" y="347472"/>
            <a:ext cx="2011680" cy="329184"/>
          </a:xfrm>
          <a:prstGeom prst="roundRect">
            <a:avLst>
              <a:gd name="adj" fmla="val 50000"/>
            </a:avLst>
          </a:prstGeom>
          <a:solidFill>
            <a:srgbClr val="CADCFC"/>
          </a:solidFill>
          <a:ln/>
        </p:spPr>
      </p:sp>
      <p:sp>
        <p:nvSpPr>
          <p:cNvPr id="3" name="Text 1"/>
          <p:cNvSpPr/>
          <p:nvPr/>
        </p:nvSpPr>
        <p:spPr>
          <a:xfrm>
            <a:off x="502920" y="347472"/>
            <a:ext cx="2011680"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CONCEPTUAL · Q5</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Why Regular Grammars Can't Count</a:t>
            </a:r>
            <a:endParaRPr lang="en-US" sz="2500" dirty="0"/>
          </a:p>
        </p:txBody>
      </p:sp>
      <p:sp>
        <p:nvSpPr>
          <p:cNvPr id="5" name="Text 3"/>
          <p:cNvSpPr/>
          <p:nvPr/>
        </p:nvSpPr>
        <p:spPr>
          <a:xfrm>
            <a:off x="502920" y="1600200"/>
            <a:ext cx="5577840" cy="32004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50" dirty="0">
                <a:solidFill>
                  <a:srgbClr val="2B2F42"/>
                </a:solidFill>
                <a:latin typeface="Calibri" pitchFamily="34" charset="0"/>
                <a:ea typeface="Calibri" pitchFamily="34" charset="-122"/>
                <a:cs typeface="Calibri" pitchFamily="34" charset="-120"/>
              </a:rPr>
              <a:t>Target language: L = { a^n b^n | n ≥ 0 }, which requires the number of a's to exactly equal the number of b's.</a:t>
            </a:r>
            <a:endParaRPr lang="en-US" sz="1450" dirty="0"/>
          </a:p>
          <a:p>
            <a:pPr marL="342900" indent="-342900">
              <a:lnSpc>
                <a:spcPct val="115000"/>
              </a:lnSpc>
              <a:spcAft>
                <a:spcPts val="800"/>
              </a:spcAft>
              <a:buSzPct val="100000"/>
              <a:buChar char="•"/>
            </a:pPr>
            <a:r>
              <a:rPr lang="en-US" sz="1450" dirty="0">
                <a:solidFill>
                  <a:srgbClr val="2B2F42"/>
                </a:solidFill>
                <a:latin typeface="Calibri" pitchFamily="34" charset="0"/>
                <a:ea typeface="Calibri" pitchFamily="34" charset="-122"/>
                <a:cs typeface="Calibri" pitchFamily="34" charset="-120"/>
              </a:rPr>
              <a:t>A regular grammar's derivation only ever carries ONE nonterminal at a time (linear form), so it has no way to remember "how many a's have been produced" once it starts generating b's.</a:t>
            </a:r>
            <a:endParaRPr lang="en-US" sz="1450" dirty="0"/>
          </a:p>
          <a:p>
            <a:pPr marL="342900" indent="-342900">
              <a:lnSpc>
                <a:spcPct val="115000"/>
              </a:lnSpc>
              <a:spcAft>
                <a:spcPts val="800"/>
              </a:spcAft>
              <a:buSzPct val="100000"/>
              <a:buChar char="•"/>
            </a:pPr>
            <a:r>
              <a:rPr lang="en-US" sz="1450" dirty="0">
                <a:solidFill>
                  <a:srgbClr val="2B2F42"/>
                </a:solidFill>
                <a:latin typeface="Calibri" pitchFamily="34" charset="0"/>
                <a:ea typeface="Calibri" pitchFamily="34" charset="-122"/>
                <a:cs typeface="Calibri" pitchFamily="34" charset="-120"/>
              </a:rPr>
              <a:t>Equivalently: regular grammars ↔ finite automata, and a finite automaton has only finitely many states — it cannot count an unbounded n.</a:t>
            </a:r>
            <a:endParaRPr lang="en-US" sz="1450" dirty="0"/>
          </a:p>
          <a:p>
            <a:pPr marL="342900" indent="-342900">
              <a:lnSpc>
                <a:spcPct val="115000"/>
              </a:lnSpc>
              <a:spcAft>
                <a:spcPts val="800"/>
              </a:spcAft>
              <a:buSzPct val="100000"/>
              <a:buChar char="•"/>
            </a:pPr>
            <a:r>
              <a:rPr lang="en-US" sz="1450" dirty="0">
                <a:solidFill>
                  <a:srgbClr val="2B2F42"/>
                </a:solidFill>
                <a:latin typeface="Calibri" pitchFamily="34" charset="0"/>
                <a:ea typeface="Calibri" pitchFamily="34" charset="-122"/>
                <a:cs typeface="Calibri" pitchFamily="34" charset="-120"/>
              </a:rPr>
              <a:t>Formal proof: the Pumping Lemma for regular languages shows any candidate regular expression/automaton for a^n b^n can be "pumped" into a string outside the language — contradiction.</a:t>
            </a:r>
            <a:endParaRPr lang="en-US" sz="1450" dirty="0"/>
          </a:p>
          <a:p>
            <a:pPr marL="342900" indent="-342900">
              <a:lnSpc>
                <a:spcPct val="115000"/>
              </a:lnSpc>
              <a:spcAft>
                <a:spcPts val="800"/>
              </a:spcAft>
              <a:buSzPct val="100000"/>
              <a:buChar char="•"/>
            </a:pPr>
            <a:r>
              <a:rPr lang="en-US" sz="1450" dirty="0">
                <a:solidFill>
                  <a:srgbClr val="2B2F42"/>
                </a:solidFill>
                <a:latin typeface="Calibri" pitchFamily="34" charset="0"/>
                <a:ea typeface="Calibri" pitchFamily="34" charset="-122"/>
                <a:cs typeface="Calibri" pitchFamily="34" charset="-120"/>
              </a:rPr>
              <a:t>Conclusion: a^n b^n is context-free (via S → aSb | ε) but NOT regular.</a:t>
            </a:r>
            <a:endParaRPr lang="en-US" sz="1450" dirty="0"/>
          </a:p>
        </p:txBody>
      </p:sp>
      <p:sp>
        <p:nvSpPr>
          <p:cNvPr id="6" name="Shape 4"/>
          <p:cNvSpPr/>
          <p:nvPr/>
        </p:nvSpPr>
        <p:spPr>
          <a:xfrm>
            <a:off x="6720840" y="1600200"/>
            <a:ext cx="4983480" cy="3200400"/>
          </a:xfrm>
          <a:prstGeom prst="roundRect">
            <a:avLst>
              <a:gd name="adj" fmla="val 2286"/>
            </a:avLst>
          </a:prstGeom>
          <a:solidFill>
            <a:srgbClr val="F4F6FB"/>
          </a:solidFill>
          <a:ln w="12700">
            <a:solidFill>
              <a:srgbClr val="1E2761"/>
            </a:solidFill>
            <a:prstDash val="solid"/>
          </a:ln>
        </p:spPr>
      </p:sp>
      <p:sp>
        <p:nvSpPr>
          <p:cNvPr id="7" name="Text 5"/>
          <p:cNvSpPr/>
          <p:nvPr/>
        </p:nvSpPr>
        <p:spPr>
          <a:xfrm>
            <a:off x="6949440" y="1764792"/>
            <a:ext cx="4526280" cy="2871216"/>
          </a:xfrm>
          <a:prstGeom prst="rect">
            <a:avLst/>
          </a:prstGeom>
          <a:noFill/>
          <a:ln/>
        </p:spPr>
        <p:txBody>
          <a:bodyPr wrap="square" lIns="0" tIns="0" rIns="0" bIns="0" rtlCol="0" anchor="t"/>
          <a:lstStyle/>
          <a:p>
            <a:pPr indent="0" marL="0">
              <a:lnSpc>
                <a:spcPct val="125000"/>
              </a:lnSpc>
              <a:buNone/>
            </a:pPr>
            <a:r>
              <a:rPr lang="en-US" sz="1250" dirty="0">
                <a:solidFill>
                  <a:srgbClr val="1E2761"/>
                </a:solidFill>
                <a:latin typeface="Courier New" pitchFamily="34" charset="0"/>
                <a:ea typeface="Courier New" pitchFamily="34" charset="-122"/>
                <a:cs typeface="Courier New" pitchFamily="34" charset="-120"/>
              </a:rPr>
              <a:t>Pumping Lemma sketch:</a:t>
            </a:r>
            <a:endParaRPr lang="en-US" sz="1250" dirty="0"/>
          </a:p>
          <a:p>
            <a:pPr indent="0" marL="0">
              <a:lnSpc>
                <a:spcPct val="125000"/>
              </a:lnSpc>
              <a:buNone/>
            </a:pPr>
            <a:endParaRPr lang="en-US" sz="1250" dirty="0"/>
          </a:p>
          <a:p>
            <a:pPr indent="0" marL="0">
              <a:lnSpc>
                <a:spcPct val="125000"/>
              </a:lnSpc>
              <a:buNone/>
            </a:pPr>
            <a:r>
              <a:rPr lang="en-US" sz="1250" dirty="0">
                <a:solidFill>
                  <a:srgbClr val="1E2761"/>
                </a:solidFill>
                <a:latin typeface="Courier New" pitchFamily="34" charset="0"/>
                <a:ea typeface="Courier New" pitchFamily="34" charset="-122"/>
                <a:cs typeface="Courier New" pitchFamily="34" charset="-120"/>
              </a:rPr>
              <a:t>Assume L is regular, pumping</a:t>
            </a:r>
            <a:endParaRPr lang="en-US" sz="1250" dirty="0"/>
          </a:p>
          <a:p>
            <a:pPr indent="0" marL="0">
              <a:lnSpc>
                <a:spcPct val="125000"/>
              </a:lnSpc>
              <a:buNone/>
            </a:pPr>
            <a:r>
              <a:rPr lang="en-US" sz="1250" dirty="0">
                <a:solidFill>
                  <a:srgbClr val="1E2761"/>
                </a:solidFill>
                <a:latin typeface="Courier New" pitchFamily="34" charset="0"/>
                <a:ea typeface="Courier New" pitchFamily="34" charset="-122"/>
                <a:cs typeface="Courier New" pitchFamily="34" charset="-120"/>
              </a:rPr>
              <a:t>length p.</a:t>
            </a:r>
            <a:endParaRPr lang="en-US" sz="1250" dirty="0"/>
          </a:p>
          <a:p>
            <a:pPr indent="0" marL="0">
              <a:lnSpc>
                <a:spcPct val="125000"/>
              </a:lnSpc>
              <a:buNone/>
            </a:pPr>
            <a:r>
              <a:rPr lang="en-US" sz="1250" dirty="0">
                <a:solidFill>
                  <a:srgbClr val="1E2761"/>
                </a:solidFill>
                <a:latin typeface="Courier New" pitchFamily="34" charset="0"/>
                <a:ea typeface="Courier New" pitchFamily="34" charset="-122"/>
                <a:cs typeface="Courier New" pitchFamily="34" charset="-120"/>
              </a:rPr>
              <a:t>Take w = a^p b^p ∈ L.</a:t>
            </a:r>
            <a:endParaRPr lang="en-US" sz="1250" dirty="0"/>
          </a:p>
          <a:p>
            <a:pPr indent="0" marL="0">
              <a:lnSpc>
                <a:spcPct val="125000"/>
              </a:lnSpc>
              <a:buNone/>
            </a:pPr>
            <a:r>
              <a:rPr lang="en-US" sz="1250" dirty="0">
                <a:solidFill>
                  <a:srgbClr val="1E2761"/>
                </a:solidFill>
                <a:latin typeface="Courier New" pitchFamily="34" charset="0"/>
                <a:ea typeface="Courier New" pitchFamily="34" charset="-122"/>
                <a:cs typeface="Courier New" pitchFamily="34" charset="-120"/>
              </a:rPr>
              <a:t>Any split w = xyz with</a:t>
            </a:r>
            <a:endParaRPr lang="en-US" sz="1250" dirty="0"/>
          </a:p>
          <a:p>
            <a:pPr indent="0" marL="0">
              <a:lnSpc>
                <a:spcPct val="125000"/>
              </a:lnSpc>
              <a:buNone/>
            </a:pPr>
            <a:r>
              <a:rPr lang="en-US" sz="1250" dirty="0">
                <a:solidFill>
                  <a:srgbClr val="1E2761"/>
                </a:solidFill>
                <a:latin typeface="Courier New" pitchFamily="34" charset="0"/>
                <a:ea typeface="Courier New" pitchFamily="34" charset="-122"/>
                <a:cs typeface="Courier New" pitchFamily="34" charset="-120"/>
              </a:rPr>
              <a:t>|xy| ≤ p, |y| ≥ 1 forces y</a:t>
            </a:r>
            <a:endParaRPr lang="en-US" sz="1250" dirty="0"/>
          </a:p>
          <a:p>
            <a:pPr indent="0" marL="0">
              <a:lnSpc>
                <a:spcPct val="125000"/>
              </a:lnSpc>
              <a:buNone/>
            </a:pPr>
            <a:r>
              <a:rPr lang="en-US" sz="1250" dirty="0">
                <a:solidFill>
                  <a:srgbClr val="1E2761"/>
                </a:solidFill>
                <a:latin typeface="Courier New" pitchFamily="34" charset="0"/>
                <a:ea typeface="Courier New" pitchFamily="34" charset="-122"/>
                <a:cs typeface="Courier New" pitchFamily="34" charset="-120"/>
              </a:rPr>
              <a:t>to be all a's.</a:t>
            </a:r>
            <a:endParaRPr lang="en-US" sz="1250" dirty="0"/>
          </a:p>
          <a:p>
            <a:pPr indent="0" marL="0">
              <a:lnSpc>
                <a:spcPct val="125000"/>
              </a:lnSpc>
              <a:buNone/>
            </a:pPr>
            <a:endParaRPr lang="en-US" sz="1250" dirty="0"/>
          </a:p>
          <a:p>
            <a:pPr indent="0" marL="0">
              <a:lnSpc>
                <a:spcPct val="125000"/>
              </a:lnSpc>
              <a:buNone/>
            </a:pPr>
            <a:r>
              <a:rPr lang="en-US" sz="1250" dirty="0">
                <a:solidFill>
                  <a:srgbClr val="1E2761"/>
                </a:solidFill>
                <a:latin typeface="Courier New" pitchFamily="34" charset="0"/>
                <a:ea typeface="Courier New" pitchFamily="34" charset="-122"/>
                <a:cs typeface="Courier New" pitchFamily="34" charset="-120"/>
              </a:rPr>
              <a:t>Then xy²z has more a's than</a:t>
            </a:r>
            <a:endParaRPr lang="en-US" sz="1250" dirty="0"/>
          </a:p>
          <a:p>
            <a:pPr indent="0" marL="0">
              <a:lnSpc>
                <a:spcPct val="125000"/>
              </a:lnSpc>
              <a:buNone/>
            </a:pPr>
            <a:r>
              <a:rPr lang="en-US" sz="1250" dirty="0">
                <a:solidFill>
                  <a:srgbClr val="1E2761"/>
                </a:solidFill>
                <a:latin typeface="Courier New" pitchFamily="34" charset="0"/>
                <a:ea typeface="Courier New" pitchFamily="34" charset="-122"/>
                <a:cs typeface="Courier New" pitchFamily="34" charset="-120"/>
              </a:rPr>
              <a:t>b's → xy²z ∉ L.</a:t>
            </a:r>
            <a:endParaRPr lang="en-US" sz="1250" dirty="0"/>
          </a:p>
          <a:p>
            <a:pPr indent="0" marL="0">
              <a:lnSpc>
                <a:spcPct val="125000"/>
              </a:lnSpc>
              <a:buNone/>
            </a:pPr>
            <a:r>
              <a:rPr lang="en-US" sz="1250" dirty="0">
                <a:solidFill>
                  <a:srgbClr val="1E2761"/>
                </a:solidFill>
                <a:latin typeface="Courier New" pitchFamily="34" charset="0"/>
                <a:ea typeface="Courier New" pitchFamily="34" charset="-122"/>
                <a:cs typeface="Courier New" pitchFamily="34" charset="-120"/>
              </a:rPr>
              <a:t>Contradiction → L not regular.</a:t>
            </a:r>
            <a:endParaRPr lang="en-US" sz="1250" dirty="0"/>
          </a:p>
        </p:txBody>
      </p:sp>
      <p:sp>
        <p:nvSpPr>
          <p:cNvPr id="8" name="Text 6"/>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2920" y="347472"/>
            <a:ext cx="2011680" cy="329184"/>
          </a:xfrm>
          <a:prstGeom prst="roundRect">
            <a:avLst>
              <a:gd name="adj" fmla="val 50000"/>
            </a:avLst>
          </a:prstGeom>
          <a:solidFill>
            <a:srgbClr val="CADCFC"/>
          </a:solidFill>
          <a:ln/>
        </p:spPr>
      </p:sp>
      <p:sp>
        <p:nvSpPr>
          <p:cNvPr id="3" name="Text 1"/>
          <p:cNvSpPr/>
          <p:nvPr/>
        </p:nvSpPr>
        <p:spPr>
          <a:xfrm>
            <a:off x="502920" y="347472"/>
            <a:ext cx="2011680"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CONVERSION · Q6</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Right-Linear Grammar → NFA</a:t>
            </a:r>
            <a:endParaRPr lang="en-US" sz="2500" dirty="0"/>
          </a:p>
        </p:txBody>
      </p:sp>
      <p:sp>
        <p:nvSpPr>
          <p:cNvPr id="5" name="Shape 3"/>
          <p:cNvSpPr/>
          <p:nvPr/>
        </p:nvSpPr>
        <p:spPr>
          <a:xfrm>
            <a:off x="502920" y="1600200"/>
            <a:ext cx="4023360" cy="1691640"/>
          </a:xfrm>
          <a:prstGeom prst="roundRect">
            <a:avLst>
              <a:gd name="adj" fmla="val 4324"/>
            </a:avLst>
          </a:prstGeom>
          <a:solidFill>
            <a:srgbClr val="F4F6FB"/>
          </a:solidFill>
          <a:ln w="12700">
            <a:solidFill>
              <a:srgbClr val="1E2761"/>
            </a:solidFill>
            <a:prstDash val="solid"/>
          </a:ln>
        </p:spPr>
      </p:sp>
      <p:sp>
        <p:nvSpPr>
          <p:cNvPr id="6" name="Text 4"/>
          <p:cNvSpPr/>
          <p:nvPr/>
        </p:nvSpPr>
        <p:spPr>
          <a:xfrm>
            <a:off x="731520" y="1764792"/>
            <a:ext cx="3566160" cy="1362456"/>
          </a:xfrm>
          <a:prstGeom prst="rect">
            <a:avLst/>
          </a:prstGeom>
          <a:noFill/>
          <a:ln/>
        </p:spPr>
        <p:txBody>
          <a:bodyPr wrap="square" lIns="0" tIns="0" rIns="0" bIns="0" rtlCol="0" anchor="t"/>
          <a:lstStyle/>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S → aA | bB</a:t>
            </a:r>
            <a:endParaRPr lang="en-US" sz="1500" dirty="0"/>
          </a:p>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A → aA | ε</a:t>
            </a:r>
            <a:endParaRPr lang="en-US" sz="1500" dirty="0"/>
          </a:p>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B → bB | ε</a:t>
            </a:r>
            <a:endParaRPr lang="en-US" sz="1500" dirty="0"/>
          </a:p>
        </p:txBody>
      </p:sp>
      <p:sp>
        <p:nvSpPr>
          <p:cNvPr id="7" name="Text 5"/>
          <p:cNvSpPr/>
          <p:nvPr/>
        </p:nvSpPr>
        <p:spPr>
          <a:xfrm>
            <a:off x="502920" y="3474720"/>
            <a:ext cx="4023360" cy="265176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Each nonterminal becomes a state: S, A, B.</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S → aA gives transition δ(S,a) = A. S → bB gives δ(S,b) = B.</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A → aA gives a self-loop δ(A,a) = A; A → ε makes A a final state.</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B → bB gives a self-loop δ(B,b) = B; B → ε makes B a final state.</a:t>
            </a:r>
            <a:endParaRPr lang="en-US" sz="1400" dirty="0"/>
          </a:p>
        </p:txBody>
      </p:sp>
      <p:sp>
        <p:nvSpPr>
          <p:cNvPr id="8" name="Shape 6"/>
          <p:cNvSpPr/>
          <p:nvPr/>
        </p:nvSpPr>
        <p:spPr>
          <a:xfrm>
            <a:off x="5486400" y="2743200"/>
            <a:ext cx="914400" cy="914400"/>
          </a:xfrm>
          <a:prstGeom prst="ellipse">
            <a:avLst/>
          </a:prstGeom>
          <a:solidFill>
            <a:srgbClr val="F4F6FB"/>
          </a:solidFill>
          <a:ln w="25400">
            <a:solidFill>
              <a:srgbClr val="1E2761"/>
            </a:solidFill>
            <a:prstDash val="solid"/>
          </a:ln>
        </p:spPr>
      </p:sp>
      <p:sp>
        <p:nvSpPr>
          <p:cNvPr id="9" name="Text 7"/>
          <p:cNvSpPr/>
          <p:nvPr/>
        </p:nvSpPr>
        <p:spPr>
          <a:xfrm>
            <a:off x="5486400" y="2743200"/>
            <a:ext cx="914400" cy="914400"/>
          </a:xfrm>
          <a:prstGeom prst="rect">
            <a:avLst/>
          </a:prstGeom>
          <a:noFill/>
          <a:ln/>
        </p:spPr>
        <p:txBody>
          <a:bodyPr wrap="square"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S</a:t>
            </a:r>
            <a:endParaRPr lang="en-US" sz="2000" dirty="0"/>
          </a:p>
        </p:txBody>
      </p:sp>
      <p:sp>
        <p:nvSpPr>
          <p:cNvPr id="10" name="Shape 8"/>
          <p:cNvSpPr/>
          <p:nvPr/>
        </p:nvSpPr>
        <p:spPr>
          <a:xfrm>
            <a:off x="8229600" y="1828800"/>
            <a:ext cx="914400" cy="914400"/>
          </a:xfrm>
          <a:prstGeom prst="ellipse">
            <a:avLst/>
          </a:prstGeom>
          <a:solidFill>
            <a:srgbClr val="CADCFC"/>
          </a:solidFill>
          <a:ln w="25400">
            <a:solidFill>
              <a:srgbClr val="1E2761"/>
            </a:solidFill>
            <a:prstDash val="solid"/>
          </a:ln>
        </p:spPr>
      </p:sp>
      <p:sp>
        <p:nvSpPr>
          <p:cNvPr id="11" name="Shape 9"/>
          <p:cNvSpPr/>
          <p:nvPr/>
        </p:nvSpPr>
        <p:spPr>
          <a:xfrm>
            <a:off x="8366760" y="1965960"/>
            <a:ext cx="640080" cy="640080"/>
          </a:xfrm>
          <a:prstGeom prst="ellipse">
            <a:avLst/>
          </a:prstGeom>
          <a:ln w="19050">
            <a:solidFill>
              <a:srgbClr val="1E2761"/>
            </a:solidFill>
            <a:prstDash val="solid"/>
          </a:ln>
        </p:spPr>
      </p:sp>
      <p:sp>
        <p:nvSpPr>
          <p:cNvPr id="12" name="Text 10"/>
          <p:cNvSpPr/>
          <p:nvPr/>
        </p:nvSpPr>
        <p:spPr>
          <a:xfrm>
            <a:off x="8229600" y="1828800"/>
            <a:ext cx="914400" cy="914400"/>
          </a:xfrm>
          <a:prstGeom prst="rect">
            <a:avLst/>
          </a:prstGeom>
          <a:noFill/>
          <a:ln/>
        </p:spPr>
        <p:txBody>
          <a:bodyPr wrap="square"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A</a:t>
            </a:r>
            <a:endParaRPr lang="en-US" sz="2000" dirty="0"/>
          </a:p>
        </p:txBody>
      </p:sp>
      <p:sp>
        <p:nvSpPr>
          <p:cNvPr id="13" name="Shape 11"/>
          <p:cNvSpPr/>
          <p:nvPr/>
        </p:nvSpPr>
        <p:spPr>
          <a:xfrm>
            <a:off x="8229600" y="3657600"/>
            <a:ext cx="914400" cy="914400"/>
          </a:xfrm>
          <a:prstGeom prst="ellipse">
            <a:avLst/>
          </a:prstGeom>
          <a:solidFill>
            <a:srgbClr val="CADCFC"/>
          </a:solidFill>
          <a:ln w="25400">
            <a:solidFill>
              <a:srgbClr val="1E2761"/>
            </a:solidFill>
            <a:prstDash val="solid"/>
          </a:ln>
        </p:spPr>
      </p:sp>
      <p:sp>
        <p:nvSpPr>
          <p:cNvPr id="14" name="Shape 12"/>
          <p:cNvSpPr/>
          <p:nvPr/>
        </p:nvSpPr>
        <p:spPr>
          <a:xfrm>
            <a:off x="8366760" y="3794760"/>
            <a:ext cx="640080" cy="640080"/>
          </a:xfrm>
          <a:prstGeom prst="ellipse">
            <a:avLst/>
          </a:prstGeom>
          <a:ln w="19050">
            <a:solidFill>
              <a:srgbClr val="1E2761"/>
            </a:solidFill>
            <a:prstDash val="solid"/>
          </a:ln>
        </p:spPr>
      </p:sp>
      <p:sp>
        <p:nvSpPr>
          <p:cNvPr id="15" name="Text 13"/>
          <p:cNvSpPr/>
          <p:nvPr/>
        </p:nvSpPr>
        <p:spPr>
          <a:xfrm>
            <a:off x="8229600" y="3657600"/>
            <a:ext cx="914400" cy="914400"/>
          </a:xfrm>
          <a:prstGeom prst="rect">
            <a:avLst/>
          </a:prstGeom>
          <a:noFill/>
          <a:ln/>
        </p:spPr>
        <p:txBody>
          <a:bodyPr wrap="square"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B</a:t>
            </a:r>
            <a:endParaRPr lang="en-US" sz="2000" dirty="0"/>
          </a:p>
        </p:txBody>
      </p:sp>
      <p:sp>
        <p:nvSpPr>
          <p:cNvPr id="16" name="Shape 14"/>
          <p:cNvSpPr/>
          <p:nvPr/>
        </p:nvSpPr>
        <p:spPr>
          <a:xfrm>
            <a:off x="6400800" y="3017520"/>
            <a:ext cx="1828800" cy="-731520"/>
          </a:xfrm>
          <a:prstGeom prst="line">
            <a:avLst/>
          </a:prstGeom>
          <a:noFill/>
          <a:ln w="19050">
            <a:solidFill>
              <a:srgbClr val="1E2761"/>
            </a:solidFill>
            <a:prstDash val="solid"/>
            <a:tailEnd type="triangle"/>
          </a:ln>
        </p:spPr>
      </p:sp>
      <p:sp>
        <p:nvSpPr>
          <p:cNvPr id="17" name="Text 15"/>
          <p:cNvSpPr/>
          <p:nvPr/>
        </p:nvSpPr>
        <p:spPr>
          <a:xfrm>
            <a:off x="6949440" y="2331720"/>
            <a:ext cx="45720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a:t>
            </a:r>
            <a:endParaRPr lang="en-US" sz="1300" dirty="0"/>
          </a:p>
        </p:txBody>
      </p:sp>
      <p:sp>
        <p:nvSpPr>
          <p:cNvPr id="18" name="Shape 16"/>
          <p:cNvSpPr/>
          <p:nvPr/>
        </p:nvSpPr>
        <p:spPr>
          <a:xfrm>
            <a:off x="6400800" y="3383280"/>
            <a:ext cx="1828800" cy="731520"/>
          </a:xfrm>
          <a:prstGeom prst="line">
            <a:avLst/>
          </a:prstGeom>
          <a:noFill/>
          <a:ln w="19050">
            <a:solidFill>
              <a:srgbClr val="1E2761"/>
            </a:solidFill>
            <a:prstDash val="solid"/>
            <a:tailEnd type="triangle"/>
          </a:ln>
        </p:spPr>
      </p:sp>
      <p:sp>
        <p:nvSpPr>
          <p:cNvPr id="19" name="Text 17"/>
          <p:cNvSpPr/>
          <p:nvPr/>
        </p:nvSpPr>
        <p:spPr>
          <a:xfrm>
            <a:off x="6949440" y="3794760"/>
            <a:ext cx="45720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a:t>
            </a:r>
            <a:endParaRPr lang="en-US" sz="1300" dirty="0"/>
          </a:p>
        </p:txBody>
      </p:sp>
      <p:sp>
        <p:nvSpPr>
          <p:cNvPr id="20" name="Shape 18"/>
          <p:cNvSpPr/>
          <p:nvPr/>
        </p:nvSpPr>
        <p:spPr>
          <a:xfrm flipH="1">
            <a:off x="8229600" y="1572768"/>
            <a:ext cx="914400" cy="0"/>
          </a:xfrm>
          <a:prstGeom prst="line">
            <a:avLst/>
          </a:prstGeom>
          <a:noFill/>
          <a:ln w="19050">
            <a:solidFill>
              <a:srgbClr val="1E2761"/>
            </a:solidFill>
            <a:prstDash val="solid"/>
            <a:tailEnd type="triangle"/>
          </a:ln>
        </p:spPr>
      </p:sp>
      <p:sp>
        <p:nvSpPr>
          <p:cNvPr id="21" name="Text 19"/>
          <p:cNvSpPr/>
          <p:nvPr/>
        </p:nvSpPr>
        <p:spPr>
          <a:xfrm>
            <a:off x="8412480" y="1325880"/>
            <a:ext cx="54864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a:t>
            </a:r>
            <a:endParaRPr lang="en-US" sz="1300" dirty="0"/>
          </a:p>
        </p:txBody>
      </p:sp>
      <p:sp>
        <p:nvSpPr>
          <p:cNvPr id="22" name="Text 20"/>
          <p:cNvSpPr/>
          <p:nvPr/>
        </p:nvSpPr>
        <p:spPr>
          <a:xfrm>
            <a:off x="8138160" y="4709160"/>
            <a:ext cx="2743200" cy="274320"/>
          </a:xfrm>
          <a:prstGeom prst="rect">
            <a:avLst/>
          </a:prstGeom>
          <a:noFill/>
          <a:ln/>
        </p:spPr>
        <p:txBody>
          <a:bodyPr wrap="square" rtlCol="0" anchor="ctr"/>
          <a:lstStyle/>
          <a:p>
            <a:pPr indent="0" marL="0">
              <a:buNone/>
            </a:pPr>
            <a:r>
              <a:rPr lang="en-US" sz="1100" i="1" dirty="0">
                <a:solidFill>
                  <a:srgbClr val="5A6178"/>
                </a:solidFill>
                <a:latin typeface="Calibri" pitchFamily="34" charset="0"/>
                <a:ea typeface="Calibri" pitchFamily="34" charset="-122"/>
                <a:cs typeface="Calibri" pitchFamily="34" charset="-120"/>
              </a:rPr>
              <a:t>(self-loop on A, B)</a:t>
            </a:r>
            <a:endParaRPr lang="en-US" sz="1100" dirty="0"/>
          </a:p>
        </p:txBody>
      </p:sp>
      <p:sp>
        <p:nvSpPr>
          <p:cNvPr id="23" name="Text 21"/>
          <p:cNvSpPr/>
          <p:nvPr/>
        </p:nvSpPr>
        <p:spPr>
          <a:xfrm>
            <a:off x="4937760" y="3063240"/>
            <a:ext cx="640080" cy="274320"/>
          </a:xfrm>
          <a:prstGeom prst="rect">
            <a:avLst/>
          </a:prstGeom>
          <a:noFill/>
          <a:ln/>
        </p:spPr>
        <p:txBody>
          <a:bodyPr wrap="square" rtlCol="0" anchor="ctr"/>
          <a:lstStyle/>
          <a:p>
            <a:pPr indent="0" marL="0">
              <a:buNone/>
            </a:pPr>
            <a:r>
              <a:rPr lang="en-US" sz="1100" dirty="0">
                <a:solidFill>
                  <a:srgbClr val="5A6178"/>
                </a:solidFill>
                <a:latin typeface="Calibri" pitchFamily="34" charset="0"/>
                <a:ea typeface="Calibri" pitchFamily="34" charset="-122"/>
                <a:cs typeface="Calibri" pitchFamily="34" charset="-120"/>
              </a:rPr>
              <a:t>Start</a:t>
            </a:r>
            <a:endParaRPr lang="en-US" sz="1100" dirty="0"/>
          </a:p>
        </p:txBody>
      </p:sp>
      <p:sp>
        <p:nvSpPr>
          <p:cNvPr id="24" name="Text 22"/>
          <p:cNvSpPr/>
          <p:nvPr/>
        </p:nvSpPr>
        <p:spPr>
          <a:xfrm>
            <a:off x="5486400" y="5029200"/>
            <a:ext cx="3657600" cy="274320"/>
          </a:xfrm>
          <a:prstGeom prst="rect">
            <a:avLst/>
          </a:prstGeom>
          <a:noFill/>
          <a:ln/>
        </p:spPr>
        <p:txBody>
          <a:bodyPr wrap="square" rtlCol="0" anchor="ctr"/>
          <a:lstStyle/>
          <a:p>
            <a:pPr indent="0" marL="0">
              <a:buNone/>
            </a:pPr>
            <a:r>
              <a:rPr lang="en-US" sz="1100" i="1" dirty="0">
                <a:solidFill>
                  <a:srgbClr val="5A6178"/>
                </a:solidFill>
                <a:latin typeface="Calibri" pitchFamily="34" charset="0"/>
                <a:ea typeface="Calibri" pitchFamily="34" charset="-122"/>
                <a:cs typeface="Calibri" pitchFamily="34" charset="-120"/>
              </a:rPr>
              <a:t>Final states = A, B  (double circle)</a:t>
            </a:r>
            <a:endParaRPr lang="en-US" sz="1100" dirty="0"/>
          </a:p>
        </p:txBody>
      </p:sp>
      <p:sp>
        <p:nvSpPr>
          <p:cNvPr id="25" name="Text 23"/>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2920" y="347472"/>
            <a:ext cx="2011680" cy="329184"/>
          </a:xfrm>
          <a:prstGeom prst="roundRect">
            <a:avLst>
              <a:gd name="adj" fmla="val 50000"/>
            </a:avLst>
          </a:prstGeom>
          <a:solidFill>
            <a:srgbClr val="CADCFC"/>
          </a:solidFill>
          <a:ln/>
        </p:spPr>
      </p:sp>
      <p:sp>
        <p:nvSpPr>
          <p:cNvPr id="3" name="Text 1"/>
          <p:cNvSpPr/>
          <p:nvPr/>
        </p:nvSpPr>
        <p:spPr>
          <a:xfrm>
            <a:off x="502920" y="347472"/>
            <a:ext cx="2011680"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CONVERSION · Q7</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Grammar for Strings Ending in “00”</a:t>
            </a:r>
            <a:endParaRPr lang="en-US" sz="2500" dirty="0"/>
          </a:p>
        </p:txBody>
      </p:sp>
      <p:sp>
        <p:nvSpPr>
          <p:cNvPr id="5" name="Text 3"/>
          <p:cNvSpPr/>
          <p:nvPr/>
        </p:nvSpPr>
        <p:spPr>
          <a:xfrm>
            <a:off x="502920" y="1600200"/>
            <a:ext cx="5394960" cy="155448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L = { w ∈ {0,1}* | w ends in 00 }</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Track a DFA with 3 states: S = “no matching suffix yet”, A = “just saw one 0”, B = “just saw two 0's” (accept).</a:t>
            </a:r>
            <a:endParaRPr lang="en-US" sz="1400" dirty="0"/>
          </a:p>
        </p:txBody>
      </p:sp>
      <p:sp>
        <p:nvSpPr>
          <p:cNvPr id="6" name="Shape 4"/>
          <p:cNvSpPr/>
          <p:nvPr/>
        </p:nvSpPr>
        <p:spPr>
          <a:xfrm>
            <a:off x="502920" y="3063240"/>
            <a:ext cx="5394960" cy="2560320"/>
          </a:xfrm>
          <a:prstGeom prst="roundRect">
            <a:avLst>
              <a:gd name="adj" fmla="val 2857"/>
            </a:avLst>
          </a:prstGeom>
          <a:solidFill>
            <a:srgbClr val="F4F6FB"/>
          </a:solidFill>
          <a:ln w="12700">
            <a:solidFill>
              <a:srgbClr val="1E2761"/>
            </a:solidFill>
            <a:prstDash val="solid"/>
          </a:ln>
        </p:spPr>
      </p:sp>
      <p:sp>
        <p:nvSpPr>
          <p:cNvPr id="7" name="Text 5"/>
          <p:cNvSpPr/>
          <p:nvPr/>
        </p:nvSpPr>
        <p:spPr>
          <a:xfrm>
            <a:off x="731520" y="3227832"/>
            <a:ext cx="4937760" cy="2231136"/>
          </a:xfrm>
          <a:prstGeom prst="rect">
            <a:avLst/>
          </a:prstGeom>
          <a:noFill/>
          <a:ln/>
        </p:spPr>
        <p:txBody>
          <a:bodyPr wrap="square" lIns="0" tIns="0" rIns="0" bIns="0" rtlCol="0" anchor="t"/>
          <a:lstStyle/>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S → 0A | 1S</a:t>
            </a:r>
            <a:endParaRPr lang="en-US" sz="1500" dirty="0"/>
          </a:p>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A → 0B | 1S</a:t>
            </a:r>
            <a:endParaRPr lang="en-US" sz="1500" dirty="0"/>
          </a:p>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B → 0B | 1S | ε</a:t>
            </a:r>
            <a:endParaRPr lang="en-US" sz="1500" dirty="0"/>
          </a:p>
          <a:p>
            <a:pPr indent="0" marL="0">
              <a:lnSpc>
                <a:spcPct val="125000"/>
              </a:lnSpc>
              <a:buNone/>
            </a:pPr>
            <a:endParaRPr lang="en-US" sz="1500" dirty="0"/>
          </a:p>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Start symbol: S</a:t>
            </a:r>
            <a:endParaRPr lang="en-US" sz="1500" dirty="0"/>
          </a:p>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Accepting (nullable): B</a:t>
            </a:r>
            <a:endParaRPr lang="en-US" sz="1500" dirty="0"/>
          </a:p>
        </p:txBody>
      </p:sp>
      <p:sp>
        <p:nvSpPr>
          <p:cNvPr id="8" name="Text 6"/>
          <p:cNvSpPr/>
          <p:nvPr/>
        </p:nvSpPr>
        <p:spPr>
          <a:xfrm>
            <a:off x="6675120" y="160020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Transition table (equivalent DFA)</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675120" y="1965960"/>
          <a:ext cx="5029200" cy="1645920"/>
        </p:xfrm>
        <a:graphic>
          <a:graphicData uri="http://schemas.openxmlformats.org/drawingml/2006/table">
            <a:tbl>
              <a:tblPr/>
              <a:tblGrid>
                <a:gridCol w="1676400"/>
                <a:gridCol w="1676400"/>
                <a:gridCol w="1676400"/>
              </a:tblGrid>
              <a:tr h="41148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solidFill>
                      <a:srgbClr val="1E276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on 0</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solidFill>
                      <a:srgbClr val="1E276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on 1</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solidFill>
                      <a:srgbClr val="1E2761"/>
                    </a:solidFill>
                  </a:tcPr>
                </a:tc>
              </a:tr>
              <a:tr h="411480">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S (start)</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r>
              <a:tr h="411480">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r>
              <a:tr h="411480">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B (final)</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r>
            </a:tbl>
          </a:graphicData>
        </a:graphic>
      </p:graphicFrame>
      <p:sp>
        <p:nvSpPr>
          <p:cNvPr id="10" name="Text 7"/>
          <p:cNvSpPr/>
          <p:nvPr/>
        </p:nvSpPr>
        <p:spPr>
          <a:xfrm>
            <a:off x="6675120" y="3840480"/>
            <a:ext cx="5029200" cy="18288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Example: input “1100” → S→1(S)→1(S)→0(A)→0(B) — ends in B, accepted.</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Any string not ending in 00 lands back in S or A, which are not accepting.</a:t>
            </a:r>
            <a:endParaRPr lang="en-US" sz="1400" dirty="0"/>
          </a:p>
        </p:txBody>
      </p:sp>
      <p:sp>
        <p:nvSpPr>
          <p:cNvPr id="11" name="Text 8"/>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2920" y="347472"/>
            <a:ext cx="2011680" cy="329184"/>
          </a:xfrm>
          <a:prstGeom prst="roundRect">
            <a:avLst>
              <a:gd name="adj" fmla="val 50000"/>
            </a:avLst>
          </a:prstGeom>
          <a:solidFill>
            <a:srgbClr val="CADCFC"/>
          </a:solidFill>
          <a:ln/>
        </p:spPr>
      </p:sp>
      <p:sp>
        <p:nvSpPr>
          <p:cNvPr id="3" name="Text 1"/>
          <p:cNvSpPr/>
          <p:nvPr/>
        </p:nvSpPr>
        <p:spPr>
          <a:xfrm>
            <a:off x="502920" y="347472"/>
            <a:ext cx="2011680"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CONVERSION · Q8</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Left-Linear Grammar Starting with “ab”</a:t>
            </a:r>
            <a:endParaRPr lang="en-US" sz="2500" dirty="0"/>
          </a:p>
        </p:txBody>
      </p:sp>
      <p:sp>
        <p:nvSpPr>
          <p:cNvPr id="5" name="Text 3"/>
          <p:cNvSpPr/>
          <p:nvPr/>
        </p:nvSpPr>
        <p:spPr>
          <a:xfrm>
            <a:off x="502920" y="1600200"/>
            <a:ext cx="5394960" cy="173736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L = ab(a|b)*  — strings over {a,b} that start with “ab”.</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In a left-linear grammar, recursion nests on the LEFT symbol, so the fixed prefix “ab” must be built as the base case, and later symbols are appended on the right by further recursion.</a:t>
            </a:r>
            <a:endParaRPr lang="en-US" sz="1400" dirty="0"/>
          </a:p>
        </p:txBody>
      </p:sp>
      <p:sp>
        <p:nvSpPr>
          <p:cNvPr id="6" name="Shape 4"/>
          <p:cNvSpPr/>
          <p:nvPr/>
        </p:nvSpPr>
        <p:spPr>
          <a:xfrm>
            <a:off x="502920" y="3429000"/>
            <a:ext cx="5394960" cy="2377440"/>
          </a:xfrm>
          <a:prstGeom prst="roundRect">
            <a:avLst>
              <a:gd name="adj" fmla="val 3077"/>
            </a:avLst>
          </a:prstGeom>
          <a:solidFill>
            <a:srgbClr val="F4F6FB"/>
          </a:solidFill>
          <a:ln w="12700">
            <a:solidFill>
              <a:srgbClr val="1E2761"/>
            </a:solidFill>
            <a:prstDash val="solid"/>
          </a:ln>
        </p:spPr>
      </p:sp>
      <p:sp>
        <p:nvSpPr>
          <p:cNvPr id="7" name="Text 5"/>
          <p:cNvSpPr/>
          <p:nvPr/>
        </p:nvSpPr>
        <p:spPr>
          <a:xfrm>
            <a:off x="731520" y="3593592"/>
            <a:ext cx="4937760" cy="2048256"/>
          </a:xfrm>
          <a:prstGeom prst="rect">
            <a:avLst/>
          </a:prstGeom>
          <a:noFill/>
          <a:ln/>
        </p:spPr>
        <p:txBody>
          <a:bodyPr wrap="square" lIns="0" tIns="0" rIns="0" bIns="0" rtlCol="0" anchor="t"/>
          <a:lstStyle/>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S → S a | S b | B b</a:t>
            </a:r>
            <a:endParaRPr lang="en-US" sz="1500" dirty="0"/>
          </a:p>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B → a</a:t>
            </a:r>
            <a:endParaRPr lang="en-US" sz="1500" dirty="0"/>
          </a:p>
          <a:p>
            <a:pPr indent="0" marL="0">
              <a:lnSpc>
                <a:spcPct val="125000"/>
              </a:lnSpc>
              <a:buNone/>
            </a:pPr>
            <a:endParaRPr lang="en-US" sz="1500" dirty="0"/>
          </a:p>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(all productions are of the</a:t>
            </a:r>
            <a:endParaRPr lang="en-US" sz="1500" dirty="0"/>
          </a:p>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 form X → Y t  or  X → t)</a:t>
            </a:r>
            <a:endParaRPr lang="en-US" sz="1500" dirty="0"/>
          </a:p>
        </p:txBody>
      </p:sp>
      <p:sp>
        <p:nvSpPr>
          <p:cNvPr id="8" name="Text 6"/>
          <p:cNvSpPr/>
          <p:nvPr/>
        </p:nvSpPr>
        <p:spPr>
          <a:xfrm>
            <a:off x="6675120" y="160020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Sample derivation of “aba”</a:t>
            </a:r>
            <a:endParaRPr lang="en-US" sz="1300" dirty="0"/>
          </a:p>
        </p:txBody>
      </p:sp>
      <p:sp>
        <p:nvSpPr>
          <p:cNvPr id="9" name="Shape 7"/>
          <p:cNvSpPr/>
          <p:nvPr/>
        </p:nvSpPr>
        <p:spPr>
          <a:xfrm>
            <a:off x="6675120" y="1920240"/>
            <a:ext cx="5029200" cy="2651760"/>
          </a:xfrm>
          <a:prstGeom prst="roundRect">
            <a:avLst>
              <a:gd name="adj" fmla="val 2759"/>
            </a:avLst>
          </a:prstGeom>
          <a:solidFill>
            <a:srgbClr val="F4F6FB"/>
          </a:solidFill>
          <a:ln w="12700">
            <a:solidFill>
              <a:srgbClr val="1E2761"/>
            </a:solidFill>
            <a:prstDash val="solid"/>
          </a:ln>
        </p:spPr>
      </p:sp>
      <p:sp>
        <p:nvSpPr>
          <p:cNvPr id="10" name="Text 8"/>
          <p:cNvSpPr/>
          <p:nvPr/>
        </p:nvSpPr>
        <p:spPr>
          <a:xfrm>
            <a:off x="6903720" y="2084832"/>
            <a:ext cx="4572000" cy="2322576"/>
          </a:xfrm>
          <a:prstGeom prst="rect">
            <a:avLst/>
          </a:prstGeom>
          <a:noFill/>
          <a:ln/>
        </p:spPr>
        <p:txBody>
          <a:bodyPr wrap="square" lIns="0" tIns="0" rIns="0" bIns="0" rtlCol="0" anchor="t"/>
          <a:lstStyle/>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S ⇒ S a</a:t>
            </a: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  ⇒ (B b) a</a:t>
            </a: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  ⇒ (a b) a</a:t>
            </a: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  = a b a   ✓</a:t>
            </a:r>
            <a:endParaRPr lang="en-US" sz="1300" dirty="0"/>
          </a:p>
          <a:p>
            <a:pPr indent="0" marL="0">
              <a:lnSpc>
                <a:spcPct val="125000"/>
              </a:lnSpc>
              <a:buNone/>
            </a:pP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Base case B→a gives "a";</a:t>
            </a: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S→Bb appends "b" → "ab";</a:t>
            </a: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S→Sa appends another "a".</a:t>
            </a:r>
            <a:endParaRPr lang="en-US" sz="1300" dirty="0"/>
          </a:p>
        </p:txBody>
      </p:sp>
      <p:sp>
        <p:nvSpPr>
          <p:cNvPr id="11" name="Text 9"/>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02920" y="347472"/>
            <a:ext cx="2011680" cy="329184"/>
          </a:xfrm>
          <a:prstGeom prst="roundRect">
            <a:avLst>
              <a:gd name="adj" fmla="val 50000"/>
            </a:avLst>
          </a:prstGeom>
          <a:solidFill>
            <a:srgbClr val="CADCFC"/>
          </a:solidFill>
          <a:ln/>
        </p:spPr>
      </p:sp>
      <p:sp>
        <p:nvSpPr>
          <p:cNvPr id="3" name="Text 1"/>
          <p:cNvSpPr/>
          <p:nvPr/>
        </p:nvSpPr>
        <p:spPr>
          <a:xfrm>
            <a:off x="502920" y="347472"/>
            <a:ext cx="2011680"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CONVERSION · Q9</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Finite Automaton → Regular Grammar</a:t>
            </a:r>
            <a:endParaRPr lang="en-US" sz="2500" dirty="0"/>
          </a:p>
        </p:txBody>
      </p:sp>
      <p:sp>
        <p:nvSpPr>
          <p:cNvPr id="5" name="Text 3"/>
          <p:cNvSpPr/>
          <p:nvPr/>
        </p:nvSpPr>
        <p:spPr>
          <a:xfrm>
            <a:off x="502920" y="1600200"/>
            <a:ext cx="5120640" cy="118872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FA: states q0 (start), q1 (final); transitions q0 –a→ q1, q1 –b→ q1.</a:t>
            </a:r>
            <a:endParaRPr lang="en-US" sz="1400" dirty="0"/>
          </a:p>
        </p:txBody>
      </p:sp>
      <p:sp>
        <p:nvSpPr>
          <p:cNvPr id="6" name="Shape 4"/>
          <p:cNvSpPr/>
          <p:nvPr/>
        </p:nvSpPr>
        <p:spPr>
          <a:xfrm>
            <a:off x="822960" y="2743200"/>
            <a:ext cx="914400" cy="914400"/>
          </a:xfrm>
          <a:prstGeom prst="ellipse">
            <a:avLst/>
          </a:prstGeom>
          <a:solidFill>
            <a:srgbClr val="F4F6FB"/>
          </a:solidFill>
          <a:ln w="25400">
            <a:solidFill>
              <a:srgbClr val="1E2761"/>
            </a:solidFill>
            <a:prstDash val="solid"/>
          </a:ln>
        </p:spPr>
      </p:sp>
      <p:sp>
        <p:nvSpPr>
          <p:cNvPr id="7" name="Text 5"/>
          <p:cNvSpPr/>
          <p:nvPr/>
        </p:nvSpPr>
        <p:spPr>
          <a:xfrm>
            <a:off x="822960" y="2743200"/>
            <a:ext cx="914400" cy="914400"/>
          </a:xfrm>
          <a:prstGeom prst="rect">
            <a:avLst/>
          </a:prstGeom>
          <a:noFill/>
          <a:ln/>
        </p:spPr>
        <p:txBody>
          <a:bodyPr wrap="square"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q0</a:t>
            </a:r>
            <a:endParaRPr lang="en-US" sz="1800" dirty="0"/>
          </a:p>
        </p:txBody>
      </p:sp>
      <p:sp>
        <p:nvSpPr>
          <p:cNvPr id="8" name="Shape 6"/>
          <p:cNvSpPr/>
          <p:nvPr/>
        </p:nvSpPr>
        <p:spPr>
          <a:xfrm>
            <a:off x="3566160" y="2743200"/>
            <a:ext cx="914400" cy="914400"/>
          </a:xfrm>
          <a:prstGeom prst="ellipse">
            <a:avLst/>
          </a:prstGeom>
          <a:solidFill>
            <a:srgbClr val="CADCFC"/>
          </a:solidFill>
          <a:ln w="25400">
            <a:solidFill>
              <a:srgbClr val="1E2761"/>
            </a:solidFill>
            <a:prstDash val="solid"/>
          </a:ln>
        </p:spPr>
      </p:sp>
      <p:sp>
        <p:nvSpPr>
          <p:cNvPr id="9" name="Shape 7"/>
          <p:cNvSpPr/>
          <p:nvPr/>
        </p:nvSpPr>
        <p:spPr>
          <a:xfrm>
            <a:off x="3703320" y="2880360"/>
            <a:ext cx="640080" cy="640080"/>
          </a:xfrm>
          <a:prstGeom prst="ellipse">
            <a:avLst/>
          </a:prstGeom>
          <a:ln w="19050">
            <a:solidFill>
              <a:srgbClr val="1E2761"/>
            </a:solidFill>
            <a:prstDash val="solid"/>
          </a:ln>
        </p:spPr>
      </p:sp>
      <p:sp>
        <p:nvSpPr>
          <p:cNvPr id="10" name="Text 8"/>
          <p:cNvSpPr/>
          <p:nvPr/>
        </p:nvSpPr>
        <p:spPr>
          <a:xfrm>
            <a:off x="3566160" y="2743200"/>
            <a:ext cx="914400" cy="914400"/>
          </a:xfrm>
          <a:prstGeom prst="rect">
            <a:avLst/>
          </a:prstGeom>
          <a:noFill/>
          <a:ln/>
        </p:spPr>
        <p:txBody>
          <a:bodyPr wrap="square"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q1</a:t>
            </a:r>
            <a:endParaRPr lang="en-US" sz="1800" dirty="0"/>
          </a:p>
        </p:txBody>
      </p:sp>
      <p:sp>
        <p:nvSpPr>
          <p:cNvPr id="11" name="Shape 9"/>
          <p:cNvSpPr/>
          <p:nvPr/>
        </p:nvSpPr>
        <p:spPr>
          <a:xfrm>
            <a:off x="1737360" y="3200400"/>
            <a:ext cx="1828800" cy="0"/>
          </a:xfrm>
          <a:prstGeom prst="line">
            <a:avLst/>
          </a:prstGeom>
          <a:noFill/>
          <a:ln w="19050">
            <a:solidFill>
              <a:srgbClr val="1E2761"/>
            </a:solidFill>
            <a:prstDash val="solid"/>
            <a:tailEnd type="triangle"/>
          </a:ln>
        </p:spPr>
      </p:sp>
      <p:sp>
        <p:nvSpPr>
          <p:cNvPr id="12" name="Text 10"/>
          <p:cNvSpPr/>
          <p:nvPr/>
        </p:nvSpPr>
        <p:spPr>
          <a:xfrm>
            <a:off x="2377440" y="2788920"/>
            <a:ext cx="45720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a:t>
            </a:r>
            <a:endParaRPr lang="en-US" sz="1300" dirty="0"/>
          </a:p>
        </p:txBody>
      </p:sp>
      <p:sp>
        <p:nvSpPr>
          <p:cNvPr id="13" name="Text 11"/>
          <p:cNvSpPr/>
          <p:nvPr/>
        </p:nvSpPr>
        <p:spPr>
          <a:xfrm>
            <a:off x="3840480" y="2148840"/>
            <a:ext cx="45720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a:t>
            </a:r>
            <a:endParaRPr lang="en-US" sz="1300" dirty="0"/>
          </a:p>
        </p:txBody>
      </p:sp>
      <p:sp>
        <p:nvSpPr>
          <p:cNvPr id="14" name="Text 12"/>
          <p:cNvSpPr/>
          <p:nvPr/>
        </p:nvSpPr>
        <p:spPr>
          <a:xfrm>
            <a:off x="3474720" y="3794760"/>
            <a:ext cx="1828800" cy="274320"/>
          </a:xfrm>
          <a:prstGeom prst="rect">
            <a:avLst/>
          </a:prstGeom>
          <a:noFill/>
          <a:ln/>
        </p:spPr>
        <p:txBody>
          <a:bodyPr wrap="square" rtlCol="0" anchor="ctr"/>
          <a:lstStyle/>
          <a:p>
            <a:pPr indent="0" marL="0">
              <a:buNone/>
            </a:pPr>
            <a:r>
              <a:rPr lang="en-US" sz="1100" i="1" dirty="0">
                <a:solidFill>
                  <a:srgbClr val="5A6178"/>
                </a:solidFill>
                <a:latin typeface="Calibri" pitchFamily="34" charset="0"/>
                <a:ea typeface="Calibri" pitchFamily="34" charset="-122"/>
                <a:cs typeface="Calibri" pitchFamily="34" charset="-120"/>
              </a:rPr>
              <a:t>(self-loop)</a:t>
            </a:r>
            <a:endParaRPr lang="en-US" sz="1100" dirty="0"/>
          </a:p>
        </p:txBody>
      </p:sp>
      <p:sp>
        <p:nvSpPr>
          <p:cNvPr id="15" name="Text 13"/>
          <p:cNvSpPr/>
          <p:nvPr/>
        </p:nvSpPr>
        <p:spPr>
          <a:xfrm>
            <a:off x="6675120" y="160020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Grammar construction rule</a:t>
            </a:r>
            <a:endParaRPr lang="en-US" sz="1300" dirty="0"/>
          </a:p>
        </p:txBody>
      </p:sp>
      <p:sp>
        <p:nvSpPr>
          <p:cNvPr id="16" name="Text 14"/>
          <p:cNvSpPr/>
          <p:nvPr/>
        </p:nvSpPr>
        <p:spPr>
          <a:xfrm>
            <a:off x="6675120" y="1920240"/>
            <a:ext cx="5029200" cy="14630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For each transition δ(X, t) = Y, write production X → tY.</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For every final state F, also add F → ε.</a:t>
            </a:r>
            <a:endParaRPr lang="en-US" sz="1400" dirty="0"/>
          </a:p>
        </p:txBody>
      </p:sp>
      <p:sp>
        <p:nvSpPr>
          <p:cNvPr id="17" name="Shape 15"/>
          <p:cNvSpPr/>
          <p:nvPr/>
        </p:nvSpPr>
        <p:spPr>
          <a:xfrm>
            <a:off x="6675120" y="3520440"/>
            <a:ext cx="5029200" cy="1554480"/>
          </a:xfrm>
          <a:prstGeom prst="roundRect">
            <a:avLst>
              <a:gd name="adj" fmla="val 4706"/>
            </a:avLst>
          </a:prstGeom>
          <a:solidFill>
            <a:srgbClr val="F4F6FB"/>
          </a:solidFill>
          <a:ln w="12700">
            <a:solidFill>
              <a:srgbClr val="1E2761"/>
            </a:solidFill>
            <a:prstDash val="solid"/>
          </a:ln>
        </p:spPr>
      </p:sp>
      <p:sp>
        <p:nvSpPr>
          <p:cNvPr id="18" name="Text 16"/>
          <p:cNvSpPr/>
          <p:nvPr/>
        </p:nvSpPr>
        <p:spPr>
          <a:xfrm>
            <a:off x="6903720" y="3685032"/>
            <a:ext cx="4572000" cy="1225296"/>
          </a:xfrm>
          <a:prstGeom prst="rect">
            <a:avLst/>
          </a:prstGeom>
          <a:noFill/>
          <a:ln/>
        </p:spPr>
        <p:txBody>
          <a:bodyPr wrap="square" lIns="0" tIns="0" rIns="0" bIns="0" rtlCol="0" anchor="t"/>
          <a:lstStyle/>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S → a A       (from q0 –a→ q1)</a:t>
            </a:r>
            <a:endParaRPr lang="en-US" sz="1500" dirty="0"/>
          </a:p>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A → b A | ε  (q1 –b→ q1, q1 final)</a:t>
            </a:r>
            <a:endParaRPr lang="en-US" sz="1500" dirty="0"/>
          </a:p>
        </p:txBody>
      </p:sp>
      <p:sp>
        <p:nvSpPr>
          <p:cNvPr id="19" name="Text 17"/>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2920" y="347472"/>
            <a:ext cx="2039112" cy="329184"/>
          </a:xfrm>
          <a:prstGeom prst="roundRect">
            <a:avLst>
              <a:gd name="adj" fmla="val 50000"/>
            </a:avLst>
          </a:prstGeom>
          <a:solidFill>
            <a:srgbClr val="CADCFC"/>
          </a:solidFill>
          <a:ln/>
        </p:spPr>
      </p:sp>
      <p:sp>
        <p:nvSpPr>
          <p:cNvPr id="3" name="Text 1"/>
          <p:cNvSpPr/>
          <p:nvPr/>
        </p:nvSpPr>
        <p:spPr>
          <a:xfrm>
            <a:off x="502920" y="347472"/>
            <a:ext cx="2039112"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CONVERSION · Q10</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Grammar for Even Number of 1's</a:t>
            </a:r>
            <a:endParaRPr lang="en-US" sz="2500" dirty="0"/>
          </a:p>
        </p:txBody>
      </p:sp>
      <p:sp>
        <p:nvSpPr>
          <p:cNvPr id="5" name="Text 3"/>
          <p:cNvSpPr/>
          <p:nvPr/>
        </p:nvSpPr>
        <p:spPr>
          <a:xfrm>
            <a:off x="502920" y="1600200"/>
            <a:ext cx="5394960" cy="18288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DFA over {0,1}: state E = “even # of 1's seen so far” (start, final), state O = “odd # of 1's seen so far”.</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0 never changes parity; 1 flips it.</a:t>
            </a:r>
            <a:endParaRPr lang="en-US" sz="1400" dirty="0"/>
          </a:p>
        </p:txBody>
      </p:sp>
      <p:sp>
        <p:nvSpPr>
          <p:cNvPr id="6" name="Shape 4"/>
          <p:cNvSpPr/>
          <p:nvPr/>
        </p:nvSpPr>
        <p:spPr>
          <a:xfrm>
            <a:off x="502920" y="3520440"/>
            <a:ext cx="5394960" cy="2011680"/>
          </a:xfrm>
          <a:prstGeom prst="roundRect">
            <a:avLst>
              <a:gd name="adj" fmla="val 3636"/>
            </a:avLst>
          </a:prstGeom>
          <a:solidFill>
            <a:srgbClr val="F4F6FB"/>
          </a:solidFill>
          <a:ln w="12700">
            <a:solidFill>
              <a:srgbClr val="1E2761"/>
            </a:solidFill>
            <a:prstDash val="solid"/>
          </a:ln>
        </p:spPr>
      </p:sp>
      <p:sp>
        <p:nvSpPr>
          <p:cNvPr id="7" name="Text 5"/>
          <p:cNvSpPr/>
          <p:nvPr/>
        </p:nvSpPr>
        <p:spPr>
          <a:xfrm>
            <a:off x="731520" y="3685032"/>
            <a:ext cx="4937760" cy="1682496"/>
          </a:xfrm>
          <a:prstGeom prst="rect">
            <a:avLst/>
          </a:prstGeom>
          <a:noFill/>
          <a:ln/>
        </p:spPr>
        <p:txBody>
          <a:bodyPr wrap="square" lIns="0" tIns="0" rIns="0" bIns="0" rtlCol="0" anchor="t"/>
          <a:lstStyle/>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S → 0S | 1A | ε   (S = even, start/final)</a:t>
            </a:r>
            <a:endParaRPr lang="en-US" sz="1350" dirty="0"/>
          </a:p>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A → 0A | 1S       (A = odd)</a:t>
            </a:r>
            <a:endParaRPr lang="en-US" sz="1350" dirty="0"/>
          </a:p>
        </p:txBody>
      </p:sp>
      <p:sp>
        <p:nvSpPr>
          <p:cNvPr id="8" name="Text 6"/>
          <p:cNvSpPr/>
          <p:nvPr/>
        </p:nvSpPr>
        <p:spPr>
          <a:xfrm>
            <a:off x="6675120" y="160020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Transition table</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75120" y="1965960"/>
          <a:ext cx="5029200" cy="1280160"/>
        </p:xfrm>
        <a:graphic>
          <a:graphicData uri="http://schemas.openxmlformats.org/drawingml/2006/table">
            <a:tbl>
              <a:tblPr/>
              <a:tblGrid>
                <a:gridCol w="1676400"/>
                <a:gridCol w="1676400"/>
                <a:gridCol w="1676400"/>
              </a:tblGrid>
              <a:tr h="42672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solidFill>
                      <a:srgbClr val="1E276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on 0</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solidFill>
                      <a:srgbClr val="1E276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on 1</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solidFill>
                      <a:srgbClr val="1E2761"/>
                    </a:solidFill>
                  </a:tcPr>
                </a:tc>
              </a:tr>
              <a:tr h="426720">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S (even, final)</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r>
              <a:tr h="426720">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A (odd)</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ctr" indent="0" marL="0">
                        <a:buNone/>
                      </a:pPr>
                      <a:r>
                        <a:rPr lang="en-US" sz="1400" dirty="0">
                          <a:solidFill>
                            <a:srgbClr val="2B2F42"/>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r>
            </a:tbl>
          </a:graphicData>
        </a:graphic>
      </p:graphicFrame>
      <p:sp>
        <p:nvSpPr>
          <p:cNvPr id="10" name="Text 7"/>
          <p:cNvSpPr/>
          <p:nvPr/>
        </p:nvSpPr>
        <p:spPr>
          <a:xfrm>
            <a:off x="6675120" y="3474720"/>
            <a:ext cx="5029200" cy="201168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Check “101” (two 1's — even): S →1(A) →0(A) →1(S) — ends in S → accepted. ✓</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The ε-production only on S guarantees the empty string (zero 1's, even) is also accepted.</a:t>
            </a:r>
            <a:endParaRPr lang="en-US" sz="1400" dirty="0"/>
          </a:p>
        </p:txBody>
      </p:sp>
      <p:sp>
        <p:nvSpPr>
          <p:cNvPr id="11" name="Text 8"/>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02920" y="347472"/>
            <a:ext cx="2999232" cy="329184"/>
          </a:xfrm>
          <a:prstGeom prst="roundRect">
            <a:avLst>
              <a:gd name="adj" fmla="val 50000"/>
            </a:avLst>
          </a:prstGeom>
          <a:solidFill>
            <a:srgbClr val="CADCFC"/>
          </a:solidFill>
          <a:ln/>
        </p:spPr>
      </p:sp>
      <p:sp>
        <p:nvSpPr>
          <p:cNvPr id="3" name="Text 1"/>
          <p:cNvSpPr/>
          <p:nvPr/>
        </p:nvSpPr>
        <p:spPr>
          <a:xfrm>
            <a:off x="502920" y="347472"/>
            <a:ext cx="2999232"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GRAMMAR CONSTRUCTION · Q11</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No “aa” Substring</a:t>
            </a:r>
            <a:endParaRPr lang="en-US" sz="2500" dirty="0"/>
          </a:p>
        </p:txBody>
      </p:sp>
      <p:sp>
        <p:nvSpPr>
          <p:cNvPr id="5" name="Text 3"/>
          <p:cNvSpPr/>
          <p:nvPr/>
        </p:nvSpPr>
        <p:spPr>
          <a:xfrm>
            <a:off x="502920" y="1600200"/>
            <a:ext cx="5394960" cy="210312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L = strings over {a,b} that never contain “aa”.</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State S: last character read was NOT 'a' (or start). State A: last character read WAS 'a'.</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From A, reading another 'a' is forbidden (no transition — it would create “aa”), so A only continues on 'b'.</a:t>
            </a:r>
            <a:endParaRPr lang="en-US" sz="1400" dirty="0"/>
          </a:p>
        </p:txBody>
      </p:sp>
      <p:sp>
        <p:nvSpPr>
          <p:cNvPr id="6" name="Shape 4"/>
          <p:cNvSpPr/>
          <p:nvPr/>
        </p:nvSpPr>
        <p:spPr>
          <a:xfrm>
            <a:off x="502920" y="3886200"/>
            <a:ext cx="5394960" cy="2011680"/>
          </a:xfrm>
          <a:prstGeom prst="roundRect">
            <a:avLst>
              <a:gd name="adj" fmla="val 3636"/>
            </a:avLst>
          </a:prstGeom>
          <a:solidFill>
            <a:srgbClr val="F4F6FB"/>
          </a:solidFill>
          <a:ln w="12700">
            <a:solidFill>
              <a:srgbClr val="1E2761"/>
            </a:solidFill>
            <a:prstDash val="solid"/>
          </a:ln>
        </p:spPr>
      </p:sp>
      <p:sp>
        <p:nvSpPr>
          <p:cNvPr id="7" name="Text 5"/>
          <p:cNvSpPr/>
          <p:nvPr/>
        </p:nvSpPr>
        <p:spPr>
          <a:xfrm>
            <a:off x="731520" y="4050792"/>
            <a:ext cx="4937760" cy="1682496"/>
          </a:xfrm>
          <a:prstGeom prst="rect">
            <a:avLst/>
          </a:prstGeom>
          <a:noFill/>
          <a:ln/>
        </p:spPr>
        <p:txBody>
          <a:bodyPr wrap="square" lIns="0" tIns="0" rIns="0" bIns="0" rtlCol="0" anchor="t"/>
          <a:lstStyle/>
          <a:p>
            <a:pPr indent="0" marL="0">
              <a:lnSpc>
                <a:spcPct val="125000"/>
              </a:lnSpc>
              <a:buNone/>
            </a:pPr>
            <a:r>
              <a:rPr lang="en-US" sz="1600" dirty="0">
                <a:solidFill>
                  <a:srgbClr val="1E2761"/>
                </a:solidFill>
                <a:latin typeface="Courier New" pitchFamily="34" charset="0"/>
                <a:ea typeface="Courier New" pitchFamily="34" charset="-122"/>
                <a:cs typeface="Courier New" pitchFamily="34" charset="-120"/>
              </a:rPr>
              <a:t>S → aA | bS | ε</a:t>
            </a:r>
            <a:endParaRPr lang="en-US" sz="1600" dirty="0"/>
          </a:p>
          <a:p>
            <a:pPr indent="0" marL="0">
              <a:lnSpc>
                <a:spcPct val="125000"/>
              </a:lnSpc>
              <a:buNone/>
            </a:pPr>
            <a:r>
              <a:rPr lang="en-US" sz="1600" dirty="0">
                <a:solidFill>
                  <a:srgbClr val="1E2761"/>
                </a:solidFill>
                <a:latin typeface="Courier New" pitchFamily="34" charset="0"/>
                <a:ea typeface="Courier New" pitchFamily="34" charset="-122"/>
                <a:cs typeface="Courier New" pitchFamily="34" charset="-120"/>
              </a:rPr>
              <a:t>A → bS | ε</a:t>
            </a:r>
            <a:endParaRPr lang="en-US" sz="1600" dirty="0"/>
          </a:p>
        </p:txBody>
      </p:sp>
      <p:sp>
        <p:nvSpPr>
          <p:cNvPr id="8" name="Text 6"/>
          <p:cNvSpPr/>
          <p:nvPr/>
        </p:nvSpPr>
        <p:spPr>
          <a:xfrm>
            <a:off x="6675120" y="160020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Trace: “abab” (accepted)</a:t>
            </a:r>
            <a:endParaRPr lang="en-US" sz="1300" dirty="0"/>
          </a:p>
        </p:txBody>
      </p:sp>
      <p:sp>
        <p:nvSpPr>
          <p:cNvPr id="9" name="Shape 7"/>
          <p:cNvSpPr/>
          <p:nvPr/>
        </p:nvSpPr>
        <p:spPr>
          <a:xfrm>
            <a:off x="6675120" y="1920240"/>
            <a:ext cx="5029200" cy="1828800"/>
          </a:xfrm>
          <a:prstGeom prst="roundRect">
            <a:avLst>
              <a:gd name="adj" fmla="val 4000"/>
            </a:avLst>
          </a:prstGeom>
          <a:solidFill>
            <a:srgbClr val="F4F6FB"/>
          </a:solidFill>
          <a:ln w="12700">
            <a:solidFill>
              <a:srgbClr val="1E2761"/>
            </a:solidFill>
            <a:prstDash val="solid"/>
          </a:ln>
        </p:spPr>
      </p:sp>
      <p:sp>
        <p:nvSpPr>
          <p:cNvPr id="10" name="Text 8"/>
          <p:cNvSpPr/>
          <p:nvPr/>
        </p:nvSpPr>
        <p:spPr>
          <a:xfrm>
            <a:off x="6903720" y="2084832"/>
            <a:ext cx="4572000" cy="1499616"/>
          </a:xfrm>
          <a:prstGeom prst="rect">
            <a:avLst/>
          </a:prstGeom>
          <a:noFill/>
          <a:ln/>
        </p:spPr>
        <p:txBody>
          <a:bodyPr wrap="square" lIns="0" tIns="0" rIns="0" bIns="0" rtlCol="0" anchor="t"/>
          <a:lstStyle/>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S ⇒ aA ⇒ a(bS) ⇒ ab(aA)</a:t>
            </a: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  ⇒ aba(bS) ⇒ abab(ε) = abab ✓</a:t>
            </a:r>
            <a:endParaRPr lang="en-US" sz="1300" dirty="0"/>
          </a:p>
        </p:txBody>
      </p:sp>
      <p:sp>
        <p:nvSpPr>
          <p:cNvPr id="11" name="Text 9"/>
          <p:cNvSpPr/>
          <p:nvPr/>
        </p:nvSpPr>
        <p:spPr>
          <a:xfrm>
            <a:off x="6675120" y="397764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“aa” is rejected</a:t>
            </a:r>
            <a:endParaRPr lang="en-US" sz="1300" dirty="0"/>
          </a:p>
        </p:txBody>
      </p:sp>
      <p:sp>
        <p:nvSpPr>
          <p:cNvPr id="12" name="Text 10"/>
          <p:cNvSpPr/>
          <p:nvPr/>
        </p:nvSpPr>
        <p:spPr>
          <a:xfrm>
            <a:off x="6675120" y="4297680"/>
            <a:ext cx="5029200" cy="14630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After S → aA (one 'a' seen), state A has NO production of the form A → aX — so a second consecutive 'a' cannot be generated.</a:t>
            </a:r>
            <a:endParaRPr lang="en-US" sz="1400" dirty="0"/>
          </a:p>
        </p:txBody>
      </p:sp>
      <p:sp>
        <p:nvSpPr>
          <p:cNvPr id="13" name="Text 11"/>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02920" y="347472"/>
            <a:ext cx="2999232" cy="329184"/>
          </a:xfrm>
          <a:prstGeom prst="roundRect">
            <a:avLst>
              <a:gd name="adj" fmla="val 50000"/>
            </a:avLst>
          </a:prstGeom>
          <a:solidFill>
            <a:srgbClr val="CADCFC"/>
          </a:solidFill>
          <a:ln/>
        </p:spPr>
      </p:sp>
      <p:sp>
        <p:nvSpPr>
          <p:cNvPr id="3" name="Text 1"/>
          <p:cNvSpPr/>
          <p:nvPr/>
        </p:nvSpPr>
        <p:spPr>
          <a:xfrm>
            <a:off x="502920" y="347472"/>
            <a:ext cx="2999232"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GRAMMAR CONSTRUCTION · Q12</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Binary Numbers Divisible by 3</a:t>
            </a:r>
            <a:endParaRPr lang="en-US" sz="2500" dirty="0"/>
          </a:p>
        </p:txBody>
      </p:sp>
      <p:sp>
        <p:nvSpPr>
          <p:cNvPr id="5" name="Text 3"/>
          <p:cNvSpPr/>
          <p:nvPr/>
        </p:nvSpPr>
        <p:spPr>
          <a:xfrm>
            <a:off x="502920" y="1600200"/>
            <a:ext cx="11155680" cy="10058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Track the value mod 3 while reading bits MSB-first. Reading digit d from remainder r moves to remainder (2r + d) mod 3, since shifting left multiplies the value read so far by 2.</a:t>
            </a:r>
            <a:endParaRPr lang="en-US" sz="1400" dirty="0"/>
          </a:p>
        </p:txBody>
      </p:sp>
      <p:sp>
        <p:nvSpPr>
          <p:cNvPr id="6" name="Shape 4"/>
          <p:cNvSpPr/>
          <p:nvPr/>
        </p:nvSpPr>
        <p:spPr>
          <a:xfrm>
            <a:off x="502920" y="2788920"/>
            <a:ext cx="5394960" cy="2834640"/>
          </a:xfrm>
          <a:prstGeom prst="roundRect">
            <a:avLst>
              <a:gd name="adj" fmla="val 2581"/>
            </a:avLst>
          </a:prstGeom>
          <a:solidFill>
            <a:srgbClr val="F4F6FB"/>
          </a:solidFill>
          <a:ln w="12700">
            <a:solidFill>
              <a:srgbClr val="1E2761"/>
            </a:solidFill>
            <a:prstDash val="solid"/>
          </a:ln>
        </p:spPr>
      </p:sp>
      <p:sp>
        <p:nvSpPr>
          <p:cNvPr id="7" name="Text 5"/>
          <p:cNvSpPr/>
          <p:nvPr/>
        </p:nvSpPr>
        <p:spPr>
          <a:xfrm>
            <a:off x="731520" y="2953512"/>
            <a:ext cx="4937760" cy="2505456"/>
          </a:xfrm>
          <a:prstGeom prst="rect">
            <a:avLst/>
          </a:prstGeom>
          <a:noFill/>
          <a:ln/>
        </p:spPr>
        <p:txBody>
          <a:bodyPr wrap="square" lIns="0" tIns="0" rIns="0" bIns="0" rtlCol="0" anchor="t"/>
          <a:lstStyle/>
          <a:p>
            <a:pPr indent="0" marL="0">
              <a:lnSpc>
                <a:spcPct val="125000"/>
              </a:lnSpc>
              <a:buNone/>
            </a:pPr>
            <a:r>
              <a:rPr lang="en-US" sz="1400" dirty="0">
                <a:solidFill>
                  <a:srgbClr val="1E2761"/>
                </a:solidFill>
                <a:latin typeface="Courier New" pitchFamily="34" charset="0"/>
                <a:ea typeface="Courier New" pitchFamily="34" charset="-122"/>
                <a:cs typeface="Courier New" pitchFamily="34" charset="-120"/>
              </a:rPr>
              <a:t>S0 → 0 S0 | 1 S1 | ε    (remainder 0, start &amp; final)</a:t>
            </a:r>
            <a:endParaRPr lang="en-US" sz="1400" dirty="0"/>
          </a:p>
          <a:p>
            <a:pPr indent="0" marL="0">
              <a:lnSpc>
                <a:spcPct val="125000"/>
              </a:lnSpc>
              <a:buNone/>
            </a:pPr>
            <a:r>
              <a:rPr lang="en-US" sz="1400" dirty="0">
                <a:solidFill>
                  <a:srgbClr val="1E2761"/>
                </a:solidFill>
                <a:latin typeface="Courier New" pitchFamily="34" charset="0"/>
                <a:ea typeface="Courier New" pitchFamily="34" charset="-122"/>
                <a:cs typeface="Courier New" pitchFamily="34" charset="-120"/>
              </a:rPr>
              <a:t>S1 → 0 S2 | 1 S0        (remainder 1)</a:t>
            </a:r>
            <a:endParaRPr lang="en-US" sz="1400" dirty="0"/>
          </a:p>
          <a:p>
            <a:pPr indent="0" marL="0">
              <a:lnSpc>
                <a:spcPct val="125000"/>
              </a:lnSpc>
              <a:buNone/>
            </a:pPr>
            <a:r>
              <a:rPr lang="en-US" sz="1400" dirty="0">
                <a:solidFill>
                  <a:srgbClr val="1E2761"/>
                </a:solidFill>
                <a:latin typeface="Courier New" pitchFamily="34" charset="0"/>
                <a:ea typeface="Courier New" pitchFamily="34" charset="-122"/>
                <a:cs typeface="Courier New" pitchFamily="34" charset="-120"/>
              </a:rPr>
              <a:t>S2 → 0 S1 | 1 S2        (remainder 2)</a:t>
            </a:r>
            <a:endParaRPr lang="en-US" sz="1400" dirty="0"/>
          </a:p>
        </p:txBody>
      </p:sp>
      <p:sp>
        <p:nvSpPr>
          <p:cNvPr id="8" name="Text 6"/>
          <p:cNvSpPr/>
          <p:nvPr/>
        </p:nvSpPr>
        <p:spPr>
          <a:xfrm>
            <a:off x="6675120" y="278892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Check: “110” = 6 (divisible by 3)</a:t>
            </a:r>
            <a:endParaRPr lang="en-US" sz="1300" dirty="0"/>
          </a:p>
        </p:txBody>
      </p:sp>
      <p:sp>
        <p:nvSpPr>
          <p:cNvPr id="9" name="Shape 7"/>
          <p:cNvSpPr/>
          <p:nvPr/>
        </p:nvSpPr>
        <p:spPr>
          <a:xfrm>
            <a:off x="6675120" y="3108960"/>
            <a:ext cx="5029200" cy="2194560"/>
          </a:xfrm>
          <a:prstGeom prst="roundRect">
            <a:avLst>
              <a:gd name="adj" fmla="val 3333"/>
            </a:avLst>
          </a:prstGeom>
          <a:solidFill>
            <a:srgbClr val="F4F6FB"/>
          </a:solidFill>
          <a:ln w="12700">
            <a:solidFill>
              <a:srgbClr val="1E2761"/>
            </a:solidFill>
            <a:prstDash val="solid"/>
          </a:ln>
        </p:spPr>
      </p:sp>
      <p:sp>
        <p:nvSpPr>
          <p:cNvPr id="10" name="Text 8"/>
          <p:cNvSpPr/>
          <p:nvPr/>
        </p:nvSpPr>
        <p:spPr>
          <a:xfrm>
            <a:off x="6903720" y="3273552"/>
            <a:ext cx="4572000" cy="1865376"/>
          </a:xfrm>
          <a:prstGeom prst="rect">
            <a:avLst/>
          </a:prstGeom>
          <a:noFill/>
          <a:ln/>
        </p:spPr>
        <p:txBody>
          <a:bodyPr wrap="square" lIns="0" tIns="0" rIns="0" bIns="0" rtlCol="0" anchor="t"/>
          <a:lstStyle/>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S0 ⇒ 1 S1 ⇒ 1 1 S0 ⇒ 1 1 0 S0</a:t>
            </a: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  ⇒ 110  (ends at S0, final) ✓</a:t>
            </a:r>
            <a:endParaRPr lang="en-US" sz="1300" dirty="0"/>
          </a:p>
          <a:p>
            <a:pPr indent="0" marL="0">
              <a:lnSpc>
                <a:spcPct val="125000"/>
              </a:lnSpc>
              <a:buNone/>
            </a:pP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Remainders: 0 →1→ 1 →1→ 0 →0→ 0</a:t>
            </a:r>
            <a:endParaRPr lang="en-US" sz="1300" dirty="0"/>
          </a:p>
        </p:txBody>
      </p:sp>
      <p:sp>
        <p:nvSpPr>
          <p:cNvPr id="11" name="Text 9"/>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02920" y="347472"/>
            <a:ext cx="2999232" cy="329184"/>
          </a:xfrm>
          <a:prstGeom prst="roundRect">
            <a:avLst>
              <a:gd name="adj" fmla="val 50000"/>
            </a:avLst>
          </a:prstGeom>
          <a:solidFill>
            <a:srgbClr val="CADCFC"/>
          </a:solidFill>
          <a:ln/>
        </p:spPr>
      </p:sp>
      <p:sp>
        <p:nvSpPr>
          <p:cNvPr id="3" name="Text 1"/>
          <p:cNvSpPr/>
          <p:nvPr/>
        </p:nvSpPr>
        <p:spPr>
          <a:xfrm>
            <a:off x="502920" y="347472"/>
            <a:ext cx="2999232"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GRAMMAR CONSTRUCTION · Q13</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L = { a^n | n≥1 } ∪ { b^n | n≥1 }</a:t>
            </a:r>
            <a:endParaRPr lang="en-US" sz="2500" dirty="0"/>
          </a:p>
        </p:txBody>
      </p:sp>
      <p:sp>
        <p:nvSpPr>
          <p:cNvPr id="5" name="Text 3"/>
          <p:cNvSpPr/>
          <p:nvPr/>
        </p:nvSpPr>
        <p:spPr>
          <a:xfrm>
            <a:off x="502920" y="1645920"/>
            <a:ext cx="5394960" cy="18288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This is a union of two simple languages, so give S a choice between two independent right-linear “arms,” one generating all-a strings and one generating all-b strings.</a:t>
            </a:r>
            <a:endParaRPr lang="en-US" sz="1400" dirty="0"/>
          </a:p>
        </p:txBody>
      </p:sp>
      <p:sp>
        <p:nvSpPr>
          <p:cNvPr id="6" name="Shape 4"/>
          <p:cNvSpPr/>
          <p:nvPr/>
        </p:nvSpPr>
        <p:spPr>
          <a:xfrm>
            <a:off x="502920" y="3291840"/>
            <a:ext cx="5394960" cy="2377440"/>
          </a:xfrm>
          <a:prstGeom prst="roundRect">
            <a:avLst>
              <a:gd name="adj" fmla="val 3077"/>
            </a:avLst>
          </a:prstGeom>
          <a:solidFill>
            <a:srgbClr val="F4F6FB"/>
          </a:solidFill>
          <a:ln w="12700">
            <a:solidFill>
              <a:srgbClr val="1E2761"/>
            </a:solidFill>
            <a:prstDash val="solid"/>
          </a:ln>
        </p:spPr>
      </p:sp>
      <p:sp>
        <p:nvSpPr>
          <p:cNvPr id="7" name="Text 5"/>
          <p:cNvSpPr/>
          <p:nvPr/>
        </p:nvSpPr>
        <p:spPr>
          <a:xfrm>
            <a:off x="731520" y="3456432"/>
            <a:ext cx="4937760" cy="2048256"/>
          </a:xfrm>
          <a:prstGeom prst="rect">
            <a:avLst/>
          </a:prstGeom>
          <a:noFill/>
          <a:ln/>
        </p:spPr>
        <p:txBody>
          <a:bodyPr wrap="square" lIns="0" tIns="0" rIns="0" bIns="0" rtlCol="0" anchor="t"/>
          <a:lstStyle/>
          <a:p>
            <a:pPr indent="0" marL="0">
              <a:lnSpc>
                <a:spcPct val="125000"/>
              </a:lnSpc>
              <a:buNone/>
            </a:pPr>
            <a:r>
              <a:rPr lang="en-US" sz="1600" dirty="0">
                <a:solidFill>
                  <a:srgbClr val="1E2761"/>
                </a:solidFill>
                <a:latin typeface="Courier New" pitchFamily="34" charset="0"/>
                <a:ea typeface="Courier New" pitchFamily="34" charset="-122"/>
                <a:cs typeface="Courier New" pitchFamily="34" charset="-120"/>
              </a:rPr>
              <a:t>S → A | B</a:t>
            </a:r>
            <a:endParaRPr lang="en-US" sz="1600" dirty="0"/>
          </a:p>
          <a:p>
            <a:pPr indent="0" marL="0">
              <a:lnSpc>
                <a:spcPct val="125000"/>
              </a:lnSpc>
              <a:buNone/>
            </a:pPr>
            <a:r>
              <a:rPr lang="en-US" sz="1600" dirty="0">
                <a:solidFill>
                  <a:srgbClr val="1E2761"/>
                </a:solidFill>
                <a:latin typeface="Courier New" pitchFamily="34" charset="0"/>
                <a:ea typeface="Courier New" pitchFamily="34" charset="-122"/>
                <a:cs typeface="Courier New" pitchFamily="34" charset="-120"/>
              </a:rPr>
              <a:t>A → a A | a</a:t>
            </a:r>
            <a:endParaRPr lang="en-US" sz="1600" dirty="0"/>
          </a:p>
          <a:p>
            <a:pPr indent="0" marL="0">
              <a:lnSpc>
                <a:spcPct val="125000"/>
              </a:lnSpc>
              <a:buNone/>
            </a:pPr>
            <a:r>
              <a:rPr lang="en-US" sz="1600" dirty="0">
                <a:solidFill>
                  <a:srgbClr val="1E2761"/>
                </a:solidFill>
                <a:latin typeface="Courier New" pitchFamily="34" charset="0"/>
                <a:ea typeface="Courier New" pitchFamily="34" charset="-122"/>
                <a:cs typeface="Courier New" pitchFamily="34" charset="-120"/>
              </a:rPr>
              <a:t>B → b B | b</a:t>
            </a:r>
            <a:endParaRPr lang="en-US" sz="1600" dirty="0"/>
          </a:p>
        </p:txBody>
      </p:sp>
      <p:sp>
        <p:nvSpPr>
          <p:cNvPr id="8" name="Text 6"/>
          <p:cNvSpPr/>
          <p:nvPr/>
        </p:nvSpPr>
        <p:spPr>
          <a:xfrm>
            <a:off x="6675120" y="1645920"/>
            <a:ext cx="5029200" cy="402336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S → A branch generates a, aa, aaa, … (never ε, since n ≥ 1).</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S → B branch generates b, bb, bbb, … similarly.</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Note: strings mixing a's and b's (like “ab”) are NOT in this language — and indeed this grammar cannot generate them, since A only ever appends a's and B only ever appends b's.</a:t>
            </a:r>
            <a:endParaRPr lang="en-US" sz="1400" dirty="0"/>
          </a:p>
        </p:txBody>
      </p:sp>
      <p:sp>
        <p:nvSpPr>
          <p:cNvPr id="9" name="Text 7"/>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02920" y="347472"/>
            <a:ext cx="2999232" cy="329184"/>
          </a:xfrm>
          <a:prstGeom prst="roundRect">
            <a:avLst>
              <a:gd name="adj" fmla="val 50000"/>
            </a:avLst>
          </a:prstGeom>
          <a:solidFill>
            <a:srgbClr val="CADCFC"/>
          </a:solidFill>
          <a:ln/>
        </p:spPr>
      </p:sp>
      <p:sp>
        <p:nvSpPr>
          <p:cNvPr id="3" name="Text 1"/>
          <p:cNvSpPr/>
          <p:nvPr/>
        </p:nvSpPr>
        <p:spPr>
          <a:xfrm>
            <a:off x="502920" y="347472"/>
            <a:ext cx="2999232"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GRAMMAR CONSTRUCTION · Q14</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Every 0 Immediately Followed by 1</a:t>
            </a:r>
            <a:endParaRPr lang="en-US" sz="2500" dirty="0"/>
          </a:p>
        </p:txBody>
      </p:sp>
      <p:sp>
        <p:nvSpPr>
          <p:cNvPr id="5" name="Text 3"/>
          <p:cNvSpPr/>
          <p:nvPr/>
        </p:nvSpPr>
        <p:spPr>
          <a:xfrm>
            <a:off x="502920" y="1645920"/>
            <a:ext cx="5394960" cy="210312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State S: “safe” — no pending 0 that still needs its 1.</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State A: “just saw a 0” — the very next symbol MUST be 1.</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A has no production for reading another 0, and A must not be nullable (a trailing 0 with nothing after it is invalid).</a:t>
            </a:r>
            <a:endParaRPr lang="en-US" sz="1400" dirty="0"/>
          </a:p>
        </p:txBody>
      </p:sp>
      <p:sp>
        <p:nvSpPr>
          <p:cNvPr id="6" name="Shape 4"/>
          <p:cNvSpPr/>
          <p:nvPr/>
        </p:nvSpPr>
        <p:spPr>
          <a:xfrm>
            <a:off x="502920" y="3977640"/>
            <a:ext cx="5394960" cy="1920240"/>
          </a:xfrm>
          <a:prstGeom prst="roundRect">
            <a:avLst>
              <a:gd name="adj" fmla="val 3810"/>
            </a:avLst>
          </a:prstGeom>
          <a:solidFill>
            <a:srgbClr val="F4F6FB"/>
          </a:solidFill>
          <a:ln w="12700">
            <a:solidFill>
              <a:srgbClr val="1E2761"/>
            </a:solidFill>
            <a:prstDash val="solid"/>
          </a:ln>
        </p:spPr>
      </p:sp>
      <p:sp>
        <p:nvSpPr>
          <p:cNvPr id="7" name="Text 5"/>
          <p:cNvSpPr/>
          <p:nvPr/>
        </p:nvSpPr>
        <p:spPr>
          <a:xfrm>
            <a:off x="731520" y="4142232"/>
            <a:ext cx="4937760" cy="1591056"/>
          </a:xfrm>
          <a:prstGeom prst="rect">
            <a:avLst/>
          </a:prstGeom>
          <a:noFill/>
          <a:ln/>
        </p:spPr>
        <p:txBody>
          <a:bodyPr wrap="square" lIns="0" tIns="0" rIns="0" bIns="0" rtlCol="0" anchor="t"/>
          <a:lstStyle/>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S → 1 S | 0 A | ε</a:t>
            </a:r>
            <a:endParaRPr lang="en-US" sz="1500" dirty="0"/>
          </a:p>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A → 1 S</a:t>
            </a:r>
            <a:endParaRPr lang="en-US" sz="1500" dirty="0"/>
          </a:p>
          <a:p>
            <a:pPr indent="0" marL="0">
              <a:lnSpc>
                <a:spcPct val="125000"/>
              </a:lnSpc>
              <a:buNone/>
            </a:pPr>
            <a:endParaRPr lang="en-US" sz="1500" dirty="0"/>
          </a:p>
          <a:p>
            <a:pPr indent="0" marL="0">
              <a:lnSpc>
                <a:spcPct val="125000"/>
              </a:lnSpc>
              <a:buNone/>
            </a:pPr>
            <a:r>
              <a:rPr lang="en-US" sz="1500" dirty="0">
                <a:solidFill>
                  <a:srgbClr val="1E2761"/>
                </a:solidFill>
                <a:latin typeface="Courier New" pitchFamily="34" charset="0"/>
                <a:ea typeface="Courier New" pitchFamily="34" charset="-122"/>
                <a:cs typeface="Courier New" pitchFamily="34" charset="-120"/>
              </a:rPr>
              <a:t>(note: A is NOT nullable)</a:t>
            </a:r>
            <a:endParaRPr lang="en-US" sz="1500" dirty="0"/>
          </a:p>
        </p:txBody>
      </p:sp>
      <p:sp>
        <p:nvSpPr>
          <p:cNvPr id="8" name="Text 6"/>
          <p:cNvSpPr/>
          <p:nvPr/>
        </p:nvSpPr>
        <p:spPr>
          <a:xfrm>
            <a:off x="6675120" y="164592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Trace: “1011” (valid)</a:t>
            </a:r>
            <a:endParaRPr lang="en-US" sz="1300" dirty="0"/>
          </a:p>
        </p:txBody>
      </p:sp>
      <p:sp>
        <p:nvSpPr>
          <p:cNvPr id="9" name="Shape 7"/>
          <p:cNvSpPr/>
          <p:nvPr/>
        </p:nvSpPr>
        <p:spPr>
          <a:xfrm>
            <a:off x="6675120" y="1965960"/>
            <a:ext cx="5029200" cy="1645920"/>
          </a:xfrm>
          <a:prstGeom prst="roundRect">
            <a:avLst>
              <a:gd name="adj" fmla="val 4444"/>
            </a:avLst>
          </a:prstGeom>
          <a:solidFill>
            <a:srgbClr val="F4F6FB"/>
          </a:solidFill>
          <a:ln w="12700">
            <a:solidFill>
              <a:srgbClr val="1E2761"/>
            </a:solidFill>
            <a:prstDash val="solid"/>
          </a:ln>
        </p:spPr>
      </p:sp>
      <p:sp>
        <p:nvSpPr>
          <p:cNvPr id="10" name="Text 8"/>
          <p:cNvSpPr/>
          <p:nvPr/>
        </p:nvSpPr>
        <p:spPr>
          <a:xfrm>
            <a:off x="6903720" y="2130552"/>
            <a:ext cx="4572000" cy="1316736"/>
          </a:xfrm>
          <a:prstGeom prst="rect">
            <a:avLst/>
          </a:prstGeom>
          <a:noFill/>
          <a:ln/>
        </p:spPr>
        <p:txBody>
          <a:bodyPr wrap="square" lIns="0" tIns="0" rIns="0" bIns="0" rtlCol="0" anchor="t"/>
          <a:lstStyle/>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S ⇒ 1S ⇒ 1(0A) ⇒ 10(1S)</a:t>
            </a:r>
            <a:endParaRPr lang="en-US" sz="1300" dirty="0"/>
          </a:p>
          <a:p>
            <a:pPr indent="0" marL="0">
              <a:lnSpc>
                <a:spcPct val="125000"/>
              </a:lnSpc>
              <a:buNone/>
            </a:pPr>
            <a:r>
              <a:rPr lang="en-US" sz="1300" dirty="0">
                <a:solidFill>
                  <a:srgbClr val="1E2761"/>
                </a:solidFill>
                <a:latin typeface="Courier New" pitchFamily="34" charset="0"/>
                <a:ea typeface="Courier New" pitchFamily="34" charset="-122"/>
                <a:cs typeface="Courier New" pitchFamily="34" charset="-120"/>
              </a:rPr>
              <a:t>  ⇒ 101(1) = 1011 ✓</a:t>
            </a:r>
            <a:endParaRPr lang="en-US" sz="1300" dirty="0"/>
          </a:p>
        </p:txBody>
      </p:sp>
      <p:sp>
        <p:nvSpPr>
          <p:cNvPr id="11" name="Text 9"/>
          <p:cNvSpPr/>
          <p:nvPr/>
        </p:nvSpPr>
        <p:spPr>
          <a:xfrm>
            <a:off x="6675120" y="384048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“10” is rejected</a:t>
            </a:r>
            <a:endParaRPr lang="en-US" sz="1300" dirty="0"/>
          </a:p>
        </p:txBody>
      </p:sp>
      <p:sp>
        <p:nvSpPr>
          <p:cNvPr id="12" name="Text 10"/>
          <p:cNvSpPr/>
          <p:nvPr/>
        </p:nvSpPr>
        <p:spPr>
          <a:xfrm>
            <a:off x="6675120" y="4160520"/>
            <a:ext cx="5029200" cy="164592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“10” forces S ⇒ 1S ⇒ 10A, and A has no ε-production — the derivation cannot terminate, so “10” is correctly excluded.</a:t>
            </a:r>
            <a:endParaRPr lang="en-US" sz="1400" dirty="0"/>
          </a:p>
        </p:txBody>
      </p:sp>
      <p:sp>
        <p:nvSpPr>
          <p:cNvPr id="13" name="Text 11"/>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02920" y="347472"/>
            <a:ext cx="2999232" cy="329184"/>
          </a:xfrm>
          <a:prstGeom prst="roundRect">
            <a:avLst>
              <a:gd name="adj" fmla="val 50000"/>
            </a:avLst>
          </a:prstGeom>
          <a:solidFill>
            <a:srgbClr val="CADCFC"/>
          </a:solidFill>
          <a:ln/>
        </p:spPr>
      </p:sp>
      <p:sp>
        <p:nvSpPr>
          <p:cNvPr id="3" name="Text 1"/>
          <p:cNvSpPr/>
          <p:nvPr/>
        </p:nvSpPr>
        <p:spPr>
          <a:xfrm>
            <a:off x="502920" y="347472"/>
            <a:ext cx="2999232"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GRAMMAR CONSTRUCTION · Q15</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Identifiers: Letter Then Letters/Digits</a:t>
            </a:r>
            <a:endParaRPr lang="en-US" sz="2500" dirty="0"/>
          </a:p>
        </p:txBody>
      </p:sp>
      <p:sp>
        <p:nvSpPr>
          <p:cNvPr id="5" name="Text 3"/>
          <p:cNvSpPr/>
          <p:nvPr/>
        </p:nvSpPr>
        <p:spPr>
          <a:xfrm>
            <a:off x="502920" y="1645920"/>
            <a:ext cx="11155680" cy="9144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L = letter (letter | digit)*  — the classic pattern for variable names in most programming languages.</a:t>
            </a:r>
            <a:endParaRPr lang="en-US" sz="1400" dirty="0"/>
          </a:p>
        </p:txBody>
      </p:sp>
      <p:sp>
        <p:nvSpPr>
          <p:cNvPr id="6" name="Shape 4"/>
          <p:cNvSpPr/>
          <p:nvPr/>
        </p:nvSpPr>
        <p:spPr>
          <a:xfrm>
            <a:off x="502920" y="2697480"/>
            <a:ext cx="5394960" cy="2834640"/>
          </a:xfrm>
          <a:prstGeom prst="roundRect">
            <a:avLst>
              <a:gd name="adj" fmla="val 2581"/>
            </a:avLst>
          </a:prstGeom>
          <a:solidFill>
            <a:srgbClr val="F4F6FB"/>
          </a:solidFill>
          <a:ln w="12700">
            <a:solidFill>
              <a:srgbClr val="1E2761"/>
            </a:solidFill>
            <a:prstDash val="solid"/>
          </a:ln>
        </p:spPr>
      </p:sp>
      <p:sp>
        <p:nvSpPr>
          <p:cNvPr id="7" name="Text 5"/>
          <p:cNvSpPr/>
          <p:nvPr/>
        </p:nvSpPr>
        <p:spPr>
          <a:xfrm>
            <a:off x="731520" y="2862072"/>
            <a:ext cx="4937760" cy="2505456"/>
          </a:xfrm>
          <a:prstGeom prst="rect">
            <a:avLst/>
          </a:prstGeom>
          <a:noFill/>
          <a:ln/>
        </p:spPr>
        <p:txBody>
          <a:bodyPr wrap="square" lIns="0" tIns="0" rIns="0" bIns="0" rtlCol="0" anchor="t"/>
          <a:lstStyle/>
          <a:p>
            <a:pPr indent="0" marL="0">
              <a:lnSpc>
                <a:spcPct val="125000"/>
              </a:lnSpc>
              <a:buNone/>
            </a:pPr>
            <a:r>
              <a:rPr lang="en-US" sz="1400" dirty="0">
                <a:solidFill>
                  <a:srgbClr val="1E2761"/>
                </a:solidFill>
                <a:latin typeface="Courier New" pitchFamily="34" charset="0"/>
                <a:ea typeface="Courier New" pitchFamily="34" charset="-122"/>
                <a:cs typeface="Courier New" pitchFamily="34" charset="-120"/>
              </a:rPr>
              <a:t>S → L A</a:t>
            </a:r>
            <a:endParaRPr lang="en-US" sz="1400" dirty="0"/>
          </a:p>
          <a:p>
            <a:pPr indent="0" marL="0">
              <a:lnSpc>
                <a:spcPct val="125000"/>
              </a:lnSpc>
              <a:buNone/>
            </a:pPr>
            <a:r>
              <a:rPr lang="en-US" sz="1400" dirty="0">
                <a:solidFill>
                  <a:srgbClr val="1E2761"/>
                </a:solidFill>
                <a:latin typeface="Courier New" pitchFamily="34" charset="0"/>
                <a:ea typeface="Courier New" pitchFamily="34" charset="-122"/>
                <a:cs typeface="Courier New" pitchFamily="34" charset="-120"/>
              </a:rPr>
              <a:t>A → L A | D A | ε</a:t>
            </a:r>
            <a:endParaRPr lang="en-US" sz="1400" dirty="0"/>
          </a:p>
          <a:p>
            <a:pPr indent="0" marL="0">
              <a:lnSpc>
                <a:spcPct val="125000"/>
              </a:lnSpc>
              <a:buNone/>
            </a:pPr>
            <a:endParaRPr lang="en-US" sz="1400" dirty="0"/>
          </a:p>
          <a:p>
            <a:pPr indent="0" marL="0">
              <a:lnSpc>
                <a:spcPct val="125000"/>
              </a:lnSpc>
              <a:buNone/>
            </a:pPr>
            <a:r>
              <a:rPr lang="en-US" sz="1400" dirty="0">
                <a:solidFill>
                  <a:srgbClr val="1E2761"/>
                </a:solidFill>
                <a:latin typeface="Courier New" pitchFamily="34" charset="0"/>
                <a:ea typeface="Courier New" pitchFamily="34" charset="-122"/>
                <a:cs typeface="Courier New" pitchFamily="34" charset="-120"/>
              </a:rPr>
              <a:t>L → a | b | … | z | A | … | Z</a:t>
            </a:r>
            <a:endParaRPr lang="en-US" sz="1400" dirty="0"/>
          </a:p>
          <a:p>
            <a:pPr indent="0" marL="0">
              <a:lnSpc>
                <a:spcPct val="125000"/>
              </a:lnSpc>
              <a:buNone/>
            </a:pPr>
            <a:r>
              <a:rPr lang="en-US" sz="1400" dirty="0">
                <a:solidFill>
                  <a:srgbClr val="1E2761"/>
                </a:solidFill>
                <a:latin typeface="Courier New" pitchFamily="34" charset="0"/>
                <a:ea typeface="Courier New" pitchFamily="34" charset="-122"/>
                <a:cs typeface="Courier New" pitchFamily="34" charset="-120"/>
              </a:rPr>
              <a:t>D → 0 | 1 | … | 9</a:t>
            </a:r>
            <a:endParaRPr lang="en-US" sz="1400" dirty="0"/>
          </a:p>
        </p:txBody>
      </p:sp>
      <p:sp>
        <p:nvSpPr>
          <p:cNvPr id="8" name="Text 6"/>
          <p:cNvSpPr/>
          <p:nvPr/>
        </p:nvSpPr>
        <p:spPr>
          <a:xfrm>
            <a:off x="6675120" y="2697480"/>
            <a:ext cx="5029200" cy="310896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S → LA fixes that the FIRST symbol must be a letter (L), never a digit.</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A then loops, accepting any mixture of further letters or digits (L A | D A), and ε lets the identifier end at any point after the first letter.</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Examples generated: x, x1, count, var_2 (if _ is added to L).</a:t>
            </a:r>
            <a:endParaRPr lang="en-US" sz="1400" dirty="0"/>
          </a:p>
        </p:txBody>
      </p:sp>
      <p:sp>
        <p:nvSpPr>
          <p:cNvPr id="9" name="Text 7"/>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02920" y="347472"/>
            <a:ext cx="2039112" cy="329184"/>
          </a:xfrm>
          <a:prstGeom prst="roundRect">
            <a:avLst>
              <a:gd name="adj" fmla="val 50000"/>
            </a:avLst>
          </a:prstGeom>
          <a:solidFill>
            <a:srgbClr val="CADCFC"/>
          </a:solidFill>
          <a:ln/>
        </p:spPr>
      </p:sp>
      <p:sp>
        <p:nvSpPr>
          <p:cNvPr id="3" name="Text 1"/>
          <p:cNvSpPr/>
          <p:nvPr/>
        </p:nvSpPr>
        <p:spPr>
          <a:xfrm>
            <a:off x="502920" y="347472"/>
            <a:ext cx="2039112"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DERIVATION · Q16</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Leftmost Derivation of “aabb”</a:t>
            </a:r>
            <a:endParaRPr lang="en-US" sz="2500" dirty="0"/>
          </a:p>
        </p:txBody>
      </p:sp>
      <p:sp>
        <p:nvSpPr>
          <p:cNvPr id="5" name="Shape 3"/>
          <p:cNvSpPr/>
          <p:nvPr/>
        </p:nvSpPr>
        <p:spPr>
          <a:xfrm>
            <a:off x="502920" y="1645920"/>
            <a:ext cx="4937760" cy="1371600"/>
          </a:xfrm>
          <a:prstGeom prst="roundRect">
            <a:avLst>
              <a:gd name="adj" fmla="val 5333"/>
            </a:avLst>
          </a:prstGeom>
          <a:solidFill>
            <a:srgbClr val="F4F6FB"/>
          </a:solidFill>
          <a:ln w="12700">
            <a:solidFill>
              <a:srgbClr val="1E2761"/>
            </a:solidFill>
            <a:prstDash val="solid"/>
          </a:ln>
        </p:spPr>
      </p:sp>
      <p:sp>
        <p:nvSpPr>
          <p:cNvPr id="6" name="Text 4"/>
          <p:cNvSpPr/>
          <p:nvPr/>
        </p:nvSpPr>
        <p:spPr>
          <a:xfrm>
            <a:off x="731520" y="1810512"/>
            <a:ext cx="4480560" cy="1042416"/>
          </a:xfrm>
          <a:prstGeom prst="rect">
            <a:avLst/>
          </a:prstGeom>
          <a:noFill/>
          <a:ln/>
        </p:spPr>
        <p:txBody>
          <a:bodyPr wrap="square" lIns="0" tIns="0" rIns="0" bIns="0" rtlCol="0" anchor="t"/>
          <a:lstStyle/>
          <a:p>
            <a:pPr indent="0" marL="0">
              <a:lnSpc>
                <a:spcPct val="125000"/>
              </a:lnSpc>
              <a:buNone/>
            </a:pPr>
            <a:r>
              <a:rPr lang="en-US" sz="1600" dirty="0">
                <a:solidFill>
                  <a:srgbClr val="1E2761"/>
                </a:solidFill>
                <a:latin typeface="Courier New" pitchFamily="34" charset="0"/>
                <a:ea typeface="Courier New" pitchFamily="34" charset="-122"/>
                <a:cs typeface="Courier New" pitchFamily="34" charset="-120"/>
              </a:rPr>
              <a:t>S → aS | bA</a:t>
            </a:r>
            <a:endParaRPr lang="en-US" sz="1600" dirty="0"/>
          </a:p>
          <a:p>
            <a:pPr indent="0" marL="0">
              <a:lnSpc>
                <a:spcPct val="125000"/>
              </a:lnSpc>
              <a:buNone/>
            </a:pPr>
            <a:r>
              <a:rPr lang="en-US" sz="1600" dirty="0">
                <a:solidFill>
                  <a:srgbClr val="1E2761"/>
                </a:solidFill>
                <a:latin typeface="Courier New" pitchFamily="34" charset="0"/>
                <a:ea typeface="Courier New" pitchFamily="34" charset="-122"/>
                <a:cs typeface="Courier New" pitchFamily="34" charset="-120"/>
              </a:rPr>
              <a:t>A → bA | ε</a:t>
            </a:r>
            <a:endParaRPr lang="en-US" sz="1600" dirty="0"/>
          </a:p>
        </p:txBody>
      </p:sp>
      <p:sp>
        <p:nvSpPr>
          <p:cNvPr id="7" name="Text 5"/>
          <p:cNvSpPr/>
          <p:nvPr/>
        </p:nvSpPr>
        <p:spPr>
          <a:xfrm>
            <a:off x="502920" y="324612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Step-by-step leftmost derivation</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3566160"/>
          <a:ext cx="5486400" cy="2651760"/>
        </p:xfrm>
        <a:graphic>
          <a:graphicData uri="http://schemas.openxmlformats.org/drawingml/2006/table">
            <a:tbl>
              <a:tblPr/>
              <a:tblGrid>
                <a:gridCol w="731520"/>
                <a:gridCol w="2377440"/>
                <a:gridCol w="2377440"/>
              </a:tblGrid>
              <a:tr h="44196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Step</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solidFill>
                      <a:srgbClr val="1E2761"/>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Derivation</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solidFill>
                      <a:srgbClr val="1E2761"/>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Rule used</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solidFill>
                      <a:srgbClr val="1E2761"/>
                    </a:solidFill>
                  </a:tcPr>
                </a:tc>
              </a:tr>
              <a:tr h="441960">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S ⇒ aS</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S → aS</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r>
              <a:tr h="441960">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 aaS</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S → aS</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r>
              <a:tr h="441960">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 aabA</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S → bA</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r>
              <a:tr h="441960">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 aabbA</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A → bA</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r>
              <a:tr h="441960">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 aabb</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c>
                  <a:txBody>
                    <a:bodyPr/>
                    <a:lstStyle/>
                    <a:p>
                      <a:pPr algn="l" indent="0" marL="0">
                        <a:buNone/>
                      </a:pPr>
                      <a:r>
                        <a:rPr lang="en-US" sz="1350" dirty="0">
                          <a:solidFill>
                            <a:srgbClr val="2B2F42"/>
                          </a:solidFill>
                          <a:latin typeface="Calibri" pitchFamily="34" charset="0"/>
                          <a:ea typeface="Calibri" pitchFamily="34" charset="-122"/>
                          <a:cs typeface="Calibri" pitchFamily="34" charset="-120"/>
                        </a:rPr>
                        <a:t>A → ε</a:t>
                      </a:r>
                      <a:endParaRPr lang="en-US" sz="1350" dirty="0">
                        <a:latin typeface="Calibri" charset="0"/>
                        <a:ea typeface="Calibri" charset="0"/>
                        <a:cs typeface="Calibri" charset="0"/>
                      </a:endParaRPr>
                    </a:p>
                  </a:txBody>
                  <a:tcPr marL="91440" marR="91440" marT="45720" marB="45720" anchor="ctr">
                    <a:lnL w="12700" cap="flat" cmpd="sng" algn="ctr">
                      <a:solidFill>
                        <a:srgbClr val="D6DCEA"/>
                      </a:solidFill>
                      <a:prstDash val="solid"/>
                      <a:round/>
                      <a:headEnd type="none" w="med" len="med"/>
                      <a:tailEnd type="none" w="med" len="med"/>
                    </a:lnL>
                    <a:lnR w="12700" cap="flat" cmpd="sng" algn="ctr">
                      <a:solidFill>
                        <a:srgbClr val="D6DCEA"/>
                      </a:solidFill>
                      <a:prstDash val="solid"/>
                      <a:round/>
                      <a:headEnd type="none" w="med" len="med"/>
                      <a:tailEnd type="none" w="med" len="med"/>
                    </a:lnR>
                    <a:lnT w="12700" cap="flat" cmpd="sng" algn="ctr">
                      <a:solidFill>
                        <a:srgbClr val="D6DCEA"/>
                      </a:solidFill>
                      <a:prstDash val="solid"/>
                      <a:round/>
                      <a:headEnd type="none" w="med" len="med"/>
                      <a:tailEnd type="none" w="med" len="med"/>
                    </a:lnT>
                    <a:lnB w="12700" cap="flat" cmpd="sng" algn="ctr">
                      <a:solidFill>
                        <a:srgbClr val="D6DCEA"/>
                      </a:solidFill>
                      <a:prstDash val="solid"/>
                      <a:round/>
                      <a:headEnd type="none" w="med" len="med"/>
                      <a:tailEnd type="none" w="med" len="med"/>
                    </a:lnB>
                  </a:tcPr>
                </a:tc>
              </a:tr>
            </a:tbl>
          </a:graphicData>
        </a:graphic>
      </p:graphicFrame>
      <p:sp>
        <p:nvSpPr>
          <p:cNvPr id="9" name="Text 6"/>
          <p:cNvSpPr/>
          <p:nvPr/>
        </p:nvSpPr>
        <p:spPr>
          <a:xfrm>
            <a:off x="6675120" y="164592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Reading the string “aabb”</a:t>
            </a:r>
            <a:endParaRPr lang="en-US" sz="1300" dirty="0"/>
          </a:p>
        </p:txBody>
      </p:sp>
      <p:sp>
        <p:nvSpPr>
          <p:cNvPr id="10" name="Text 7"/>
          <p:cNvSpPr/>
          <p:nvPr/>
        </p:nvSpPr>
        <p:spPr>
          <a:xfrm>
            <a:off x="6675120" y="1965960"/>
            <a:ext cx="5029200" cy="41148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Every 'a' is consumed while in state S (S → aS), matching how many a's precede the b's.</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The moment a 'b' appears, control passes to A via S → bA — there is no way back to S, so once a 'b' is seen, no further a's can be generated.</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A then consumes the remaining b's (A → bA) and finally erases itself (A → ε) to end the derivation.</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This grammar generates exactly a*b* — any number of a's followed by any number of b's.</a:t>
            </a:r>
            <a:endParaRPr lang="en-US" sz="1400" dirty="0"/>
          </a:p>
        </p:txBody>
      </p:sp>
      <p:sp>
        <p:nvSpPr>
          <p:cNvPr id="11" name="Text 8"/>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02920" y="347472"/>
            <a:ext cx="2039112" cy="329184"/>
          </a:xfrm>
          <a:prstGeom prst="roundRect">
            <a:avLst>
              <a:gd name="adj" fmla="val 50000"/>
            </a:avLst>
          </a:prstGeom>
          <a:solidFill>
            <a:srgbClr val="CADCFC"/>
          </a:solidFill>
          <a:ln/>
        </p:spPr>
      </p:sp>
      <p:sp>
        <p:nvSpPr>
          <p:cNvPr id="3" name="Text 1"/>
          <p:cNvSpPr/>
          <p:nvPr/>
        </p:nvSpPr>
        <p:spPr>
          <a:xfrm>
            <a:off x="502920" y="347472"/>
            <a:ext cx="2039112"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DERIVATION · Q17</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Why S → aSb | ε Is NOT Regular</a:t>
            </a:r>
            <a:endParaRPr lang="en-US" sz="2500" dirty="0"/>
          </a:p>
        </p:txBody>
      </p:sp>
      <p:sp>
        <p:nvSpPr>
          <p:cNvPr id="5" name="Shape 3"/>
          <p:cNvSpPr/>
          <p:nvPr/>
        </p:nvSpPr>
        <p:spPr>
          <a:xfrm>
            <a:off x="502920" y="1645920"/>
            <a:ext cx="4937760" cy="1097280"/>
          </a:xfrm>
          <a:prstGeom prst="roundRect">
            <a:avLst>
              <a:gd name="adj" fmla="val 6667"/>
            </a:avLst>
          </a:prstGeom>
          <a:solidFill>
            <a:srgbClr val="F4F6FB"/>
          </a:solidFill>
          <a:ln w="12700">
            <a:solidFill>
              <a:srgbClr val="1E2761"/>
            </a:solidFill>
            <a:prstDash val="solid"/>
          </a:ln>
        </p:spPr>
      </p:sp>
      <p:sp>
        <p:nvSpPr>
          <p:cNvPr id="6" name="Text 4"/>
          <p:cNvSpPr/>
          <p:nvPr/>
        </p:nvSpPr>
        <p:spPr>
          <a:xfrm>
            <a:off x="731520" y="1810512"/>
            <a:ext cx="4480560" cy="768096"/>
          </a:xfrm>
          <a:prstGeom prst="rect">
            <a:avLst/>
          </a:prstGeom>
          <a:noFill/>
          <a:ln/>
        </p:spPr>
        <p:txBody>
          <a:bodyPr wrap="square" lIns="0" tIns="0" rIns="0" bIns="0" rtlCol="0" anchor="t"/>
          <a:lstStyle/>
          <a:p>
            <a:pPr indent="0" marL="0">
              <a:lnSpc>
                <a:spcPct val="125000"/>
              </a:lnSpc>
              <a:buNone/>
            </a:pPr>
            <a:r>
              <a:rPr lang="en-US" sz="1700" dirty="0">
                <a:solidFill>
                  <a:srgbClr val="1E2761"/>
                </a:solidFill>
                <a:latin typeface="Courier New" pitchFamily="34" charset="0"/>
                <a:ea typeface="Courier New" pitchFamily="34" charset="-122"/>
                <a:cs typeface="Courier New" pitchFamily="34" charset="-120"/>
              </a:rPr>
              <a:t>S → a S b | ε</a:t>
            </a:r>
            <a:endParaRPr lang="en-US" sz="1700" dirty="0"/>
          </a:p>
        </p:txBody>
      </p:sp>
      <p:sp>
        <p:nvSpPr>
          <p:cNvPr id="7" name="Text 5"/>
          <p:cNvSpPr/>
          <p:nvPr/>
        </p:nvSpPr>
        <p:spPr>
          <a:xfrm>
            <a:off x="502920" y="2971800"/>
            <a:ext cx="5394960" cy="310896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This production places a terminal BEFORE and a terminal AFTER the nonterminal S — it is neither right-linear (A → aB) nor left-linear (A → Ba).</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It is a context-free production, one level up in the Chomsky hierarchy.</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It generates L = { a^n b^n | n ≥ 0 }, exactly the language shown in Q5 to be non-regular by the Pumping Lemma.</a:t>
            </a:r>
            <a:endParaRPr lang="en-US" sz="1400" dirty="0"/>
          </a:p>
        </p:txBody>
      </p:sp>
      <p:sp>
        <p:nvSpPr>
          <p:cNvPr id="8" name="Text 6"/>
          <p:cNvSpPr/>
          <p:nvPr/>
        </p:nvSpPr>
        <p:spPr>
          <a:xfrm>
            <a:off x="6675120" y="164592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Key takeaway</a:t>
            </a:r>
            <a:endParaRPr lang="en-US" sz="1300" dirty="0"/>
          </a:p>
        </p:txBody>
      </p:sp>
      <p:sp>
        <p:nvSpPr>
          <p:cNvPr id="9" name="Shape 7"/>
          <p:cNvSpPr/>
          <p:nvPr/>
        </p:nvSpPr>
        <p:spPr>
          <a:xfrm>
            <a:off x="6675120" y="1965960"/>
            <a:ext cx="5029200" cy="4114800"/>
          </a:xfrm>
          <a:prstGeom prst="roundRect">
            <a:avLst>
              <a:gd name="adj" fmla="val 1778"/>
            </a:avLst>
          </a:prstGeom>
          <a:solidFill>
            <a:srgbClr val="1E2761"/>
          </a:solidFill>
          <a:ln w="12700">
            <a:solidFill>
              <a:srgbClr val="1E2761"/>
            </a:solidFill>
            <a:prstDash val="solid"/>
          </a:ln>
        </p:spPr>
      </p:sp>
      <p:sp>
        <p:nvSpPr>
          <p:cNvPr id="10" name="Text 8"/>
          <p:cNvSpPr/>
          <p:nvPr/>
        </p:nvSpPr>
        <p:spPr>
          <a:xfrm>
            <a:off x="6903720" y="2130552"/>
            <a:ext cx="4572000" cy="3785616"/>
          </a:xfrm>
          <a:prstGeom prst="rect">
            <a:avLst/>
          </a:prstGeom>
          <a:noFill/>
          <a:ln/>
        </p:spPr>
        <p:txBody>
          <a:bodyPr wrap="square" lIns="0" tIns="0" rIns="0" bIns="0" rtlCol="0" anchor="t"/>
          <a:lstStyle/>
          <a:p>
            <a:pPr indent="0" marL="0">
              <a:lnSpc>
                <a:spcPct val="125000"/>
              </a:lnSpc>
              <a:buNone/>
            </a:pPr>
            <a:r>
              <a:rPr lang="en-US" sz="1250" dirty="0">
                <a:solidFill>
                  <a:srgbClr val="FFFFFF"/>
                </a:solidFill>
                <a:latin typeface="Courier New" pitchFamily="34" charset="0"/>
                <a:ea typeface="Courier New" pitchFamily="34" charset="-122"/>
                <a:cs typeface="Courier New" pitchFamily="34" charset="-120"/>
              </a:rPr>
              <a:t>Form                Class</a:t>
            </a:r>
            <a:endParaRPr lang="en-US" sz="1250" dirty="0"/>
          </a:p>
          <a:p>
            <a:pPr indent="0" marL="0">
              <a:lnSpc>
                <a:spcPct val="125000"/>
              </a:lnSpc>
              <a:buNone/>
            </a:pPr>
            <a:r>
              <a:rPr lang="en-US" sz="1250" dirty="0">
                <a:solidFill>
                  <a:srgbClr val="FFFFFF"/>
                </a:solidFill>
                <a:latin typeface="Courier New" pitchFamily="34" charset="0"/>
                <a:ea typeface="Courier New" pitchFamily="34" charset="-122"/>
                <a:cs typeface="Courier New" pitchFamily="34" charset="-120"/>
              </a:rPr>
              <a:t>─────────────────────</a:t>
            </a:r>
            <a:endParaRPr lang="en-US" sz="1250" dirty="0"/>
          </a:p>
          <a:p>
            <a:pPr indent="0" marL="0">
              <a:lnSpc>
                <a:spcPct val="125000"/>
              </a:lnSpc>
              <a:buNone/>
            </a:pPr>
            <a:r>
              <a:rPr lang="en-US" sz="1250" dirty="0">
                <a:solidFill>
                  <a:srgbClr val="FFFFFF"/>
                </a:solidFill>
                <a:latin typeface="Courier New" pitchFamily="34" charset="0"/>
                <a:ea typeface="Courier New" pitchFamily="34" charset="-122"/>
                <a:cs typeface="Courier New" pitchFamily="34" charset="-120"/>
              </a:rPr>
              <a:t>A → aB             Regular</a:t>
            </a:r>
            <a:endParaRPr lang="en-US" sz="1250" dirty="0"/>
          </a:p>
          <a:p>
            <a:pPr indent="0" marL="0">
              <a:lnSpc>
                <a:spcPct val="125000"/>
              </a:lnSpc>
              <a:buNone/>
            </a:pPr>
            <a:r>
              <a:rPr lang="en-US" sz="1250" dirty="0">
                <a:solidFill>
                  <a:srgbClr val="FFFFFF"/>
                </a:solidFill>
                <a:latin typeface="Courier New" pitchFamily="34" charset="0"/>
                <a:ea typeface="Courier New" pitchFamily="34" charset="-122"/>
                <a:cs typeface="Courier New" pitchFamily="34" charset="-120"/>
              </a:rPr>
              <a:t>A → Ba             Regular</a:t>
            </a:r>
            <a:endParaRPr lang="en-US" sz="1250" dirty="0"/>
          </a:p>
          <a:p>
            <a:pPr indent="0" marL="0">
              <a:lnSpc>
                <a:spcPct val="125000"/>
              </a:lnSpc>
              <a:buNone/>
            </a:pPr>
            <a:r>
              <a:rPr lang="en-US" sz="1250" dirty="0">
                <a:solidFill>
                  <a:srgbClr val="FFFFFF"/>
                </a:solidFill>
                <a:latin typeface="Courier New" pitchFamily="34" charset="0"/>
                <a:ea typeface="Courier New" pitchFamily="34" charset="-122"/>
                <a:cs typeface="Courier New" pitchFamily="34" charset="-120"/>
              </a:rPr>
              <a:t>A → a               Regular</a:t>
            </a:r>
            <a:endParaRPr lang="en-US" sz="1250" dirty="0"/>
          </a:p>
          <a:p>
            <a:pPr indent="0" marL="0">
              <a:lnSpc>
                <a:spcPct val="125000"/>
              </a:lnSpc>
              <a:buNone/>
            </a:pPr>
            <a:r>
              <a:rPr lang="en-US" sz="1250" dirty="0">
                <a:solidFill>
                  <a:srgbClr val="FFFFFF"/>
                </a:solidFill>
                <a:latin typeface="Courier New" pitchFamily="34" charset="0"/>
                <a:ea typeface="Courier New" pitchFamily="34" charset="-122"/>
                <a:cs typeface="Courier New" pitchFamily="34" charset="-120"/>
              </a:rPr>
              <a:t>A → aBb           Context-free</a:t>
            </a:r>
            <a:endParaRPr lang="en-US" sz="1250" dirty="0"/>
          </a:p>
          <a:p>
            <a:pPr indent="0" marL="0">
              <a:lnSpc>
                <a:spcPct val="125000"/>
              </a:lnSpc>
              <a:buNone/>
            </a:pPr>
            <a:r>
              <a:rPr lang="en-US" sz="1250" dirty="0">
                <a:solidFill>
                  <a:srgbClr val="FFFFFF"/>
                </a:solidFill>
                <a:latin typeface="Courier New" pitchFamily="34" charset="0"/>
                <a:ea typeface="Courier New" pitchFamily="34" charset="-122"/>
                <a:cs typeface="Courier New" pitchFamily="34" charset="-120"/>
              </a:rPr>
              <a:t>                     (NOT regular)</a:t>
            </a:r>
            <a:endParaRPr lang="en-US" sz="1250" dirty="0"/>
          </a:p>
          <a:p>
            <a:pPr indent="0" marL="0">
              <a:lnSpc>
                <a:spcPct val="125000"/>
              </a:lnSpc>
              <a:buNone/>
            </a:pPr>
            <a:endParaRPr lang="en-US" sz="1250" dirty="0"/>
          </a:p>
          <a:p>
            <a:pPr indent="0" marL="0">
              <a:lnSpc>
                <a:spcPct val="125000"/>
              </a:lnSpc>
              <a:buNone/>
            </a:pPr>
            <a:r>
              <a:rPr lang="en-US" sz="1250" dirty="0">
                <a:solidFill>
                  <a:srgbClr val="FFFFFF"/>
                </a:solidFill>
                <a:latin typeface="Courier New" pitchFamily="34" charset="0"/>
                <a:ea typeface="Courier New" pitchFamily="34" charset="-122"/>
                <a:cs typeface="Courier New" pitchFamily="34" charset="-120"/>
              </a:rPr>
              <a:t>A production needs a nonterminal</a:t>
            </a:r>
            <a:endParaRPr lang="en-US" sz="1250" dirty="0"/>
          </a:p>
          <a:p>
            <a:pPr indent="0" marL="0">
              <a:lnSpc>
                <a:spcPct val="125000"/>
              </a:lnSpc>
              <a:buNone/>
            </a:pPr>
            <a:r>
              <a:rPr lang="en-US" sz="1250" dirty="0">
                <a:solidFill>
                  <a:srgbClr val="FFFFFF"/>
                </a:solidFill>
                <a:latin typeface="Courier New" pitchFamily="34" charset="0"/>
                <a:ea typeface="Courier New" pitchFamily="34" charset="-122"/>
                <a:cs typeface="Courier New" pitchFamily="34" charset="-120"/>
              </a:rPr>
              <a:t>sandwiched between terminals to</a:t>
            </a:r>
            <a:endParaRPr lang="en-US" sz="1250" dirty="0"/>
          </a:p>
          <a:p>
            <a:pPr indent="0" marL="0">
              <a:lnSpc>
                <a:spcPct val="125000"/>
              </a:lnSpc>
              <a:buNone/>
            </a:pPr>
            <a:r>
              <a:rPr lang="en-US" sz="1250" dirty="0">
                <a:solidFill>
                  <a:srgbClr val="FFFFFF"/>
                </a:solidFill>
                <a:latin typeface="Courier New" pitchFamily="34" charset="0"/>
                <a:ea typeface="Courier New" pitchFamily="34" charset="-122"/>
                <a:cs typeface="Courier New" pitchFamily="34" charset="-120"/>
              </a:rPr>
              <a:t>"remember" a count — and that is</a:t>
            </a:r>
            <a:endParaRPr lang="en-US" sz="1250" dirty="0"/>
          </a:p>
          <a:p>
            <a:pPr indent="0" marL="0">
              <a:lnSpc>
                <a:spcPct val="125000"/>
              </a:lnSpc>
              <a:buNone/>
            </a:pPr>
            <a:r>
              <a:rPr lang="en-US" sz="1250" dirty="0">
                <a:solidFill>
                  <a:srgbClr val="FFFFFF"/>
                </a:solidFill>
                <a:latin typeface="Courier New" pitchFamily="34" charset="0"/>
                <a:ea typeface="Courier New" pitchFamily="34" charset="-122"/>
                <a:cs typeface="Courier New" pitchFamily="34" charset="-120"/>
              </a:rPr>
              <a:t>exactly what regular grammars forbid.</a:t>
            </a:r>
            <a:endParaRPr lang="en-US" sz="1250" dirty="0"/>
          </a:p>
        </p:txBody>
      </p:sp>
      <p:sp>
        <p:nvSpPr>
          <p:cNvPr id="11" name="Text 9"/>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02920" y="347472"/>
            <a:ext cx="2807208" cy="329184"/>
          </a:xfrm>
          <a:prstGeom prst="roundRect">
            <a:avLst>
              <a:gd name="adj" fmla="val 50000"/>
            </a:avLst>
          </a:prstGeom>
          <a:solidFill>
            <a:srgbClr val="CADCFC"/>
          </a:solidFill>
          <a:ln/>
        </p:spPr>
      </p:sp>
      <p:sp>
        <p:nvSpPr>
          <p:cNvPr id="3" name="Text 1"/>
          <p:cNvSpPr/>
          <p:nvPr/>
        </p:nvSpPr>
        <p:spPr>
          <a:xfrm>
            <a:off x="502920" y="347472"/>
            <a:ext cx="2807208"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CLOSURE PROPERTIES · Q18</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Closure Under Union</a:t>
            </a:r>
            <a:endParaRPr lang="en-US" sz="2500" dirty="0"/>
          </a:p>
        </p:txBody>
      </p:sp>
      <p:sp>
        <p:nvSpPr>
          <p:cNvPr id="5" name="Text 3"/>
          <p:cNvSpPr/>
          <p:nvPr/>
        </p:nvSpPr>
        <p:spPr>
          <a:xfrm>
            <a:off x="502920" y="1645920"/>
            <a:ext cx="11155680" cy="9144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Claim: if L1 = L(G1) and L2 = L(G2) for regular grammars G1, G2, then L1 ∪ L2 is also generated by a regular grammar.</a:t>
            </a:r>
            <a:endParaRPr lang="en-US" sz="1400" dirty="0"/>
          </a:p>
        </p:txBody>
      </p:sp>
      <p:sp>
        <p:nvSpPr>
          <p:cNvPr id="6" name="Text 4"/>
          <p:cNvSpPr/>
          <p:nvPr/>
        </p:nvSpPr>
        <p:spPr>
          <a:xfrm>
            <a:off x="502920" y="269748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Construction</a:t>
            </a:r>
            <a:endParaRPr lang="en-US" sz="1300" dirty="0"/>
          </a:p>
        </p:txBody>
      </p:sp>
      <p:sp>
        <p:nvSpPr>
          <p:cNvPr id="7" name="Shape 5"/>
          <p:cNvSpPr/>
          <p:nvPr/>
        </p:nvSpPr>
        <p:spPr>
          <a:xfrm>
            <a:off x="502920" y="3017520"/>
            <a:ext cx="5394960" cy="2560320"/>
          </a:xfrm>
          <a:prstGeom prst="roundRect">
            <a:avLst>
              <a:gd name="adj" fmla="val 2857"/>
            </a:avLst>
          </a:prstGeom>
          <a:solidFill>
            <a:srgbClr val="F4F6FB"/>
          </a:solidFill>
          <a:ln w="12700">
            <a:solidFill>
              <a:srgbClr val="1E2761"/>
            </a:solidFill>
            <a:prstDash val="solid"/>
          </a:ln>
        </p:spPr>
      </p:sp>
      <p:sp>
        <p:nvSpPr>
          <p:cNvPr id="8" name="Text 6"/>
          <p:cNvSpPr/>
          <p:nvPr/>
        </p:nvSpPr>
        <p:spPr>
          <a:xfrm>
            <a:off x="731520" y="3182112"/>
            <a:ext cx="4937760" cy="2231136"/>
          </a:xfrm>
          <a:prstGeom prst="rect">
            <a:avLst/>
          </a:prstGeom>
          <a:noFill/>
          <a:ln/>
        </p:spPr>
        <p:txBody>
          <a:bodyPr wrap="square" lIns="0" tIns="0" rIns="0" bIns="0" rtlCol="0" anchor="t"/>
          <a:lstStyle/>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Given G1=(V1,T,P1,S1), G2=(V2,T,P2,S2)</a:t>
            </a:r>
            <a:endParaRPr lang="en-US" sz="1350" dirty="0"/>
          </a:p>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with V1 ∩ V2 = ∅ (rename if needed):</a:t>
            </a:r>
            <a:endParaRPr lang="en-US" sz="1350" dirty="0"/>
          </a:p>
          <a:p>
            <a:pPr indent="0" marL="0">
              <a:lnSpc>
                <a:spcPct val="125000"/>
              </a:lnSpc>
              <a:buNone/>
            </a:pPr>
            <a:endParaRPr lang="en-US" sz="1350" dirty="0"/>
          </a:p>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G = (V1 ∪ V2 ∪ {S}, T, P, S)</a:t>
            </a:r>
            <a:endParaRPr lang="en-US" sz="1350" dirty="0"/>
          </a:p>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P = P1 ∪ P2 ∪ { S → S1 | S2 }</a:t>
            </a:r>
            <a:endParaRPr lang="en-US" sz="1350" dirty="0"/>
          </a:p>
        </p:txBody>
      </p:sp>
      <p:sp>
        <p:nvSpPr>
          <p:cNvPr id="9" name="Text 7"/>
          <p:cNvSpPr/>
          <p:nvPr/>
        </p:nvSpPr>
        <p:spPr>
          <a:xfrm>
            <a:off x="6675120" y="269748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it works</a:t>
            </a:r>
            <a:endParaRPr lang="en-US" sz="1300" dirty="0"/>
          </a:p>
        </p:txBody>
      </p:sp>
      <p:sp>
        <p:nvSpPr>
          <p:cNvPr id="10" name="Text 8"/>
          <p:cNvSpPr/>
          <p:nvPr/>
        </p:nvSpPr>
        <p:spPr>
          <a:xfrm>
            <a:off x="6675120" y="3017520"/>
            <a:ext cx="5029200" cy="338328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A new start symbol S offers exactly two first moves: expand to S1 (enters G1's derivation) or to S2 (enters G2's).</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Every derivation from S therefore terminates as either a valid G1-derivation or a valid G2-derivation, so L(G) = L1 ∪ L2.</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If G1, G2 were both right-linear (or both left-linear), G stays in that same form — so G is still a regular grammar.</a:t>
            </a:r>
            <a:endParaRPr lang="en-US" sz="1400" dirty="0"/>
          </a:p>
        </p:txBody>
      </p:sp>
      <p:sp>
        <p:nvSpPr>
          <p:cNvPr id="11" name="Text 9"/>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02920" y="347472"/>
            <a:ext cx="2807208" cy="329184"/>
          </a:xfrm>
          <a:prstGeom prst="roundRect">
            <a:avLst>
              <a:gd name="adj" fmla="val 50000"/>
            </a:avLst>
          </a:prstGeom>
          <a:solidFill>
            <a:srgbClr val="CADCFC"/>
          </a:solidFill>
          <a:ln/>
        </p:spPr>
      </p:sp>
      <p:sp>
        <p:nvSpPr>
          <p:cNvPr id="3" name="Text 1"/>
          <p:cNvSpPr/>
          <p:nvPr/>
        </p:nvSpPr>
        <p:spPr>
          <a:xfrm>
            <a:off x="502920" y="347472"/>
            <a:ext cx="2807208"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CLOSURE PROPERTIES · Q19</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Closure Under Concatenation</a:t>
            </a:r>
            <a:endParaRPr lang="en-US" sz="2500" dirty="0"/>
          </a:p>
        </p:txBody>
      </p:sp>
      <p:sp>
        <p:nvSpPr>
          <p:cNvPr id="5" name="Text 3"/>
          <p:cNvSpPr/>
          <p:nvPr/>
        </p:nvSpPr>
        <p:spPr>
          <a:xfrm>
            <a:off x="502920" y="1645920"/>
            <a:ext cx="11155680" cy="9144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Goal: build a regular grammar for L1 L2 from right-linear grammars G1 (start S1) and G2 (start S2), with disjoint nonterminals.</a:t>
            </a:r>
            <a:endParaRPr lang="en-US" sz="1400" dirty="0"/>
          </a:p>
        </p:txBody>
      </p:sp>
      <p:sp>
        <p:nvSpPr>
          <p:cNvPr id="6" name="Text 4"/>
          <p:cNvSpPr/>
          <p:nvPr/>
        </p:nvSpPr>
        <p:spPr>
          <a:xfrm>
            <a:off x="502920" y="269748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Construction</a:t>
            </a:r>
            <a:endParaRPr lang="en-US" sz="1300" dirty="0"/>
          </a:p>
        </p:txBody>
      </p:sp>
      <p:sp>
        <p:nvSpPr>
          <p:cNvPr id="7" name="Shape 5"/>
          <p:cNvSpPr/>
          <p:nvPr/>
        </p:nvSpPr>
        <p:spPr>
          <a:xfrm>
            <a:off x="502920" y="3017520"/>
            <a:ext cx="5394960" cy="2560320"/>
          </a:xfrm>
          <a:prstGeom prst="roundRect">
            <a:avLst>
              <a:gd name="adj" fmla="val 2857"/>
            </a:avLst>
          </a:prstGeom>
          <a:solidFill>
            <a:srgbClr val="F4F6FB"/>
          </a:solidFill>
          <a:ln w="12700">
            <a:solidFill>
              <a:srgbClr val="1E2761"/>
            </a:solidFill>
            <a:prstDash val="solid"/>
          </a:ln>
        </p:spPr>
      </p:sp>
      <p:sp>
        <p:nvSpPr>
          <p:cNvPr id="8" name="Text 6"/>
          <p:cNvSpPr/>
          <p:nvPr/>
        </p:nvSpPr>
        <p:spPr>
          <a:xfrm>
            <a:off x="731520" y="3182112"/>
            <a:ext cx="4937760" cy="2231136"/>
          </a:xfrm>
          <a:prstGeom prst="rect">
            <a:avLst/>
          </a:prstGeom>
          <a:noFill/>
          <a:ln/>
        </p:spPr>
        <p:txBody>
          <a:bodyPr wrap="square" lIns="0" tIns="0" rIns="0" bIns="0" rtlCol="0" anchor="t"/>
          <a:lstStyle/>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G = (V1 ∪ V2, T, P, S1)</a:t>
            </a:r>
            <a:endParaRPr lang="en-US" sz="1350" dirty="0"/>
          </a:p>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P = P2 ∪ { modified P1 }</a:t>
            </a:r>
            <a:endParaRPr lang="en-US" sz="1350" dirty="0"/>
          </a:p>
          <a:p>
            <a:pPr indent="0" marL="0">
              <a:lnSpc>
                <a:spcPct val="125000"/>
              </a:lnSpc>
              <a:buNone/>
            </a:pPr>
            <a:endParaRPr lang="en-US" sz="1350" dirty="0"/>
          </a:p>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In P1, replace every terminating</a:t>
            </a:r>
            <a:endParaRPr lang="en-US" sz="1350" dirty="0"/>
          </a:p>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production A → w  (w ∈ T*)</a:t>
            </a:r>
            <a:endParaRPr lang="en-US" sz="1350" dirty="0"/>
          </a:p>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with  A → w S2</a:t>
            </a:r>
            <a:endParaRPr lang="en-US" sz="1350" dirty="0"/>
          </a:p>
        </p:txBody>
      </p:sp>
      <p:sp>
        <p:nvSpPr>
          <p:cNvPr id="9" name="Text 7"/>
          <p:cNvSpPr/>
          <p:nvPr/>
        </p:nvSpPr>
        <p:spPr>
          <a:xfrm>
            <a:off x="6675120" y="269748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it works</a:t>
            </a:r>
            <a:endParaRPr lang="en-US" sz="1300" dirty="0"/>
          </a:p>
        </p:txBody>
      </p:sp>
      <p:sp>
        <p:nvSpPr>
          <p:cNvPr id="10" name="Text 8"/>
          <p:cNvSpPr/>
          <p:nvPr/>
        </p:nvSpPr>
        <p:spPr>
          <a:xfrm>
            <a:off x="6675120" y="3017520"/>
            <a:ext cx="5029200" cy="338328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A derivation from S1 proceeds through G1 exactly as before, but instead of stopping when a string of L1 is finished, it "hands off" to S2.</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From that point the derivation continues purely within G2, appending a string of L2.</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Net effect: every generated string is (some string in L1) followed by (some string in L2) — precisely L1L2, and the grammar is still right-linear.</a:t>
            </a:r>
            <a:endParaRPr lang="en-US" sz="1400" dirty="0"/>
          </a:p>
        </p:txBody>
      </p:sp>
      <p:sp>
        <p:nvSpPr>
          <p:cNvPr id="11" name="Text 9"/>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02920" y="347472"/>
            <a:ext cx="2807208" cy="329184"/>
          </a:xfrm>
          <a:prstGeom prst="roundRect">
            <a:avLst>
              <a:gd name="adj" fmla="val 50000"/>
            </a:avLst>
          </a:prstGeom>
          <a:solidFill>
            <a:srgbClr val="CADCFC"/>
          </a:solidFill>
          <a:ln/>
        </p:spPr>
      </p:sp>
      <p:sp>
        <p:nvSpPr>
          <p:cNvPr id="3" name="Text 1"/>
          <p:cNvSpPr/>
          <p:nvPr/>
        </p:nvSpPr>
        <p:spPr>
          <a:xfrm>
            <a:off x="502920" y="347472"/>
            <a:ext cx="2807208" cy="329184"/>
          </a:xfrm>
          <a:prstGeom prst="rect">
            <a:avLst/>
          </a:prstGeom>
          <a:noFill/>
          <a:ln/>
        </p:spPr>
        <p:txBody>
          <a:bodyPr wrap="none" rtlCol="0" anchor="ctr"/>
          <a:lstStyle/>
          <a:p>
            <a:pPr algn="ctr" indent="0" marL="0">
              <a:buNone/>
            </a:pPr>
            <a:r>
              <a:rPr lang="en-US" sz="1100" b="1" spc="100" kern="0" dirty="0">
                <a:solidFill>
                  <a:srgbClr val="1E2761"/>
                </a:solidFill>
                <a:latin typeface="Calibri" pitchFamily="34" charset="0"/>
                <a:ea typeface="Calibri" pitchFamily="34" charset="-122"/>
                <a:cs typeface="Calibri" pitchFamily="34" charset="-120"/>
              </a:rPr>
              <a:t>CLOSURE PROPERTIES · Q20</a:t>
            </a:r>
            <a:endParaRPr lang="en-US" sz="1100" dirty="0"/>
          </a:p>
        </p:txBody>
      </p:sp>
      <p:sp>
        <p:nvSpPr>
          <p:cNvPr id="4" name="Text 2"/>
          <p:cNvSpPr/>
          <p:nvPr/>
        </p:nvSpPr>
        <p:spPr>
          <a:xfrm>
            <a:off x="502920" y="731520"/>
            <a:ext cx="11183112" cy="59436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Closure Under Kleene Star</a:t>
            </a:r>
            <a:endParaRPr lang="en-US" sz="2500" dirty="0"/>
          </a:p>
        </p:txBody>
      </p:sp>
      <p:sp>
        <p:nvSpPr>
          <p:cNvPr id="5" name="Text 3"/>
          <p:cNvSpPr/>
          <p:nvPr/>
        </p:nvSpPr>
        <p:spPr>
          <a:xfrm>
            <a:off x="502920" y="1645920"/>
            <a:ext cx="11155680" cy="9144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Goal: build a regular grammar for L* from a right-linear grammar G1 (start S1, nonterminals V1).</a:t>
            </a:r>
            <a:endParaRPr lang="en-US" sz="1400" dirty="0"/>
          </a:p>
        </p:txBody>
      </p:sp>
      <p:sp>
        <p:nvSpPr>
          <p:cNvPr id="6" name="Text 4"/>
          <p:cNvSpPr/>
          <p:nvPr/>
        </p:nvSpPr>
        <p:spPr>
          <a:xfrm>
            <a:off x="502920" y="269748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Construction</a:t>
            </a:r>
            <a:endParaRPr lang="en-US" sz="1300" dirty="0"/>
          </a:p>
        </p:txBody>
      </p:sp>
      <p:sp>
        <p:nvSpPr>
          <p:cNvPr id="7" name="Shape 5"/>
          <p:cNvSpPr/>
          <p:nvPr/>
        </p:nvSpPr>
        <p:spPr>
          <a:xfrm>
            <a:off x="502920" y="3017520"/>
            <a:ext cx="5394960" cy="2743200"/>
          </a:xfrm>
          <a:prstGeom prst="roundRect">
            <a:avLst>
              <a:gd name="adj" fmla="val 2667"/>
            </a:avLst>
          </a:prstGeom>
          <a:solidFill>
            <a:srgbClr val="F4F6FB"/>
          </a:solidFill>
          <a:ln w="12700">
            <a:solidFill>
              <a:srgbClr val="1E2761"/>
            </a:solidFill>
            <a:prstDash val="solid"/>
          </a:ln>
        </p:spPr>
      </p:sp>
      <p:sp>
        <p:nvSpPr>
          <p:cNvPr id="8" name="Text 6"/>
          <p:cNvSpPr/>
          <p:nvPr/>
        </p:nvSpPr>
        <p:spPr>
          <a:xfrm>
            <a:off x="731520" y="3182112"/>
            <a:ext cx="4937760" cy="2414016"/>
          </a:xfrm>
          <a:prstGeom prst="rect">
            <a:avLst/>
          </a:prstGeom>
          <a:noFill/>
          <a:ln/>
        </p:spPr>
        <p:txBody>
          <a:bodyPr wrap="square" lIns="0" tIns="0" rIns="0" bIns="0" rtlCol="0" anchor="t"/>
          <a:lstStyle/>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G = (V1 ∪ {S0}, T, P, S0)</a:t>
            </a:r>
            <a:endParaRPr lang="en-US" sz="1350" dirty="0"/>
          </a:p>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P = { modified P1 } ∪ { S0 → S1 | ε }</a:t>
            </a:r>
            <a:endParaRPr lang="en-US" sz="1350" dirty="0"/>
          </a:p>
          <a:p>
            <a:pPr indent="0" marL="0">
              <a:lnSpc>
                <a:spcPct val="125000"/>
              </a:lnSpc>
              <a:buNone/>
            </a:pPr>
            <a:endParaRPr lang="en-US" sz="1350" dirty="0"/>
          </a:p>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In P1, replace every terminating</a:t>
            </a:r>
            <a:endParaRPr lang="en-US" sz="1350" dirty="0"/>
          </a:p>
          <a:p>
            <a:pPr indent="0" marL="0">
              <a:lnSpc>
                <a:spcPct val="125000"/>
              </a:lnSpc>
              <a:buNone/>
            </a:pPr>
            <a:r>
              <a:rPr lang="en-US" sz="1350" dirty="0">
                <a:solidFill>
                  <a:srgbClr val="1E2761"/>
                </a:solidFill>
                <a:latin typeface="Courier New" pitchFamily="34" charset="0"/>
                <a:ea typeface="Courier New" pitchFamily="34" charset="-122"/>
                <a:cs typeface="Courier New" pitchFamily="34" charset="-120"/>
              </a:rPr>
              <a:t>production A → w  with  A → w S1</a:t>
            </a:r>
            <a:endParaRPr lang="en-US" sz="1350" dirty="0"/>
          </a:p>
        </p:txBody>
      </p:sp>
      <p:sp>
        <p:nvSpPr>
          <p:cNvPr id="9" name="Text 7"/>
          <p:cNvSpPr/>
          <p:nvPr/>
        </p:nvSpPr>
        <p:spPr>
          <a:xfrm>
            <a:off x="6675120" y="2697480"/>
            <a:ext cx="54864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it works</a:t>
            </a:r>
            <a:endParaRPr lang="en-US" sz="1300" dirty="0"/>
          </a:p>
        </p:txBody>
      </p:sp>
      <p:sp>
        <p:nvSpPr>
          <p:cNvPr id="10" name="Text 8"/>
          <p:cNvSpPr/>
          <p:nvPr/>
        </p:nvSpPr>
        <p:spPr>
          <a:xfrm>
            <a:off x="6675120" y="3017520"/>
            <a:ext cx="5029200" cy="338328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New start S0 → ε covers the “zero copies” case required by Kleene star.</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S0 → S1 begins one copy of L1; looping A → w S1 sends control back to S1 after each copy finishes, so any number of copies can be chained.</a:t>
            </a:r>
            <a:endParaRPr lang="en-US" sz="1400" dirty="0"/>
          </a:p>
          <a:p>
            <a:pPr marL="342900" indent="-342900">
              <a:lnSpc>
                <a:spcPct val="115000"/>
              </a:lnSpc>
              <a:spcAft>
                <a:spcPts val="800"/>
              </a:spcAft>
              <a:buSzPct val="100000"/>
              <a:buChar char="•"/>
            </a:pPr>
            <a:r>
              <a:rPr lang="en-US" sz="1400" dirty="0">
                <a:solidFill>
                  <a:srgbClr val="2B2F42"/>
                </a:solidFill>
                <a:latin typeface="Calibri" pitchFamily="34" charset="0"/>
                <a:ea typeface="Calibri" pitchFamily="34" charset="-122"/>
                <a:cs typeface="Calibri" pitchFamily="34" charset="-120"/>
              </a:rPr>
              <a:t>Net effect: S0 generates ε, or L1, or L1L1, or L1L1L1, … — exactly L1* — while staying right-linear throughout.</a:t>
            </a:r>
            <a:endParaRPr lang="en-US" sz="1400" dirty="0"/>
          </a:p>
        </p:txBody>
      </p:sp>
      <p:sp>
        <p:nvSpPr>
          <p:cNvPr id="11" name="Text 9"/>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4206240"/>
            <a:ext cx="4572000" cy="4572000"/>
          </a:xfrm>
          <a:prstGeom prst="ellipse">
            <a:avLst/>
          </a:prstGeom>
          <a:solidFill>
            <a:srgbClr val="24308A"/>
          </a:solidFill>
          <a:ln/>
        </p:spPr>
      </p:sp>
      <p:sp>
        <p:nvSpPr>
          <p:cNvPr id="3" name="Text 1"/>
          <p:cNvSpPr/>
          <p:nvPr/>
        </p:nvSpPr>
        <p:spPr>
          <a:xfrm>
            <a:off x="502920" y="640080"/>
            <a:ext cx="91440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Key Takeaways</a:t>
            </a:r>
            <a:endParaRPr lang="en-US" sz="3400" dirty="0"/>
          </a:p>
        </p:txBody>
      </p:sp>
      <p:sp>
        <p:nvSpPr>
          <p:cNvPr id="4" name="Text 2"/>
          <p:cNvSpPr/>
          <p:nvPr/>
        </p:nvSpPr>
        <p:spPr>
          <a:xfrm>
            <a:off x="502920" y="1645920"/>
            <a:ext cx="10789920" cy="4114800"/>
          </a:xfrm>
          <a:prstGeom prst="rect">
            <a:avLst/>
          </a:prstGeom>
          <a:noFill/>
          <a:ln/>
        </p:spPr>
        <p:txBody>
          <a:bodyPr wrap="square" lIns="0" tIns="0" rIns="0" bIns="0" rtlCol="0" anchor="t"/>
          <a:lstStyle/>
          <a:p>
            <a:pPr marL="342900" indent="-342900">
              <a:lnSpc>
                <a:spcPct val="120000"/>
              </a:lnSpc>
              <a:spcAft>
                <a:spcPts val="1800"/>
              </a:spcAft>
              <a:buSzPct val="100000"/>
              <a:buChar char="•"/>
            </a:pPr>
            <a:r>
              <a:rPr lang="en-US" sz="1700" dirty="0">
                <a:solidFill>
                  <a:srgbClr val="CADCFC"/>
                </a:solidFill>
                <a:latin typeface="Calibri" pitchFamily="34" charset="0"/>
                <a:ea typeface="Calibri" pitchFamily="34" charset="-122"/>
                <a:cs typeface="Calibri" pitchFamily="34" charset="-120"/>
              </a:rPr>
              <a:t>Regular grammars = Type-3 grammars: strictly right-linear OR strictly left-linear productions.</a:t>
            </a:r>
            <a:endParaRPr lang="en-US" sz="1700" dirty="0"/>
          </a:p>
          <a:p>
            <a:pPr marL="342900" indent="-342900">
              <a:lnSpc>
                <a:spcPct val="120000"/>
              </a:lnSpc>
              <a:spcAft>
                <a:spcPts val="1800"/>
              </a:spcAft>
              <a:buSzPct val="100000"/>
              <a:buChar char="•"/>
            </a:pPr>
            <a:r>
              <a:rPr lang="en-US" sz="1700" dirty="0">
                <a:solidFill>
                  <a:srgbClr val="CADCFC"/>
                </a:solidFill>
                <a:latin typeface="Calibri" pitchFamily="34" charset="0"/>
                <a:ea typeface="Calibri" pitchFamily="34" charset="-122"/>
                <a:cs typeface="Calibri" pitchFamily="34" charset="-120"/>
              </a:rPr>
              <a:t>They are exactly equivalent to finite automata — every conversion (Q6–Q10) mirrors states ↔ nonterminals.</a:t>
            </a:r>
            <a:endParaRPr lang="en-US" sz="1700" dirty="0"/>
          </a:p>
          <a:p>
            <a:pPr marL="342900" indent="-342900">
              <a:lnSpc>
                <a:spcPct val="120000"/>
              </a:lnSpc>
              <a:spcAft>
                <a:spcPts val="1800"/>
              </a:spcAft>
              <a:buSzPct val="100000"/>
              <a:buChar char="•"/>
            </a:pPr>
            <a:r>
              <a:rPr lang="en-US" sz="1700" dirty="0">
                <a:solidFill>
                  <a:srgbClr val="CADCFC"/>
                </a:solidFill>
                <a:latin typeface="Calibri" pitchFamily="34" charset="0"/>
                <a:ea typeface="Calibri" pitchFamily="34" charset="-122"/>
                <a:cs typeface="Calibri" pitchFamily="34" charset="-120"/>
              </a:rPr>
              <a:t>A single nonterminal per production means NO counting power — languages like a^n b^n need a context-free grammar instead (Q5, Q17).</a:t>
            </a:r>
            <a:endParaRPr lang="en-US" sz="1700" dirty="0"/>
          </a:p>
          <a:p>
            <a:pPr marL="342900" indent="-342900">
              <a:lnSpc>
                <a:spcPct val="120000"/>
              </a:lnSpc>
              <a:spcAft>
                <a:spcPts val="1800"/>
              </a:spcAft>
              <a:buSzPct val="100000"/>
              <a:buChar char="•"/>
            </a:pPr>
            <a:r>
              <a:rPr lang="en-US" sz="1700" dirty="0">
                <a:solidFill>
                  <a:srgbClr val="CADCFC"/>
                </a:solidFill>
                <a:latin typeface="Calibri" pitchFamily="34" charset="0"/>
                <a:ea typeface="Calibri" pitchFamily="34" charset="-122"/>
                <a:cs typeface="Calibri" pitchFamily="34" charset="-120"/>
              </a:rPr>
              <a:t>Regular languages are closed under union, concatenation, and Kleene star — all provable by direct grammar construction (Q18–Q20).</a:t>
            </a:r>
            <a:endParaRPr lang="en-US" sz="1700" dirty="0"/>
          </a:p>
        </p:txBody>
      </p:sp>
      <p:sp>
        <p:nvSpPr>
          <p:cNvPr id="5" name="Text 3"/>
          <p:cNvSpPr/>
          <p:nvPr/>
        </p:nvSpPr>
        <p:spPr>
          <a:xfrm>
            <a:off x="502920" y="6537960"/>
            <a:ext cx="11183112" cy="256032"/>
          </a:xfrm>
          <a:prstGeom prst="rect">
            <a:avLst/>
          </a:prstGeom>
          <a:noFill/>
          <a:ln/>
        </p:spPr>
        <p:txBody>
          <a:bodyPr wrap="square"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Regular Grammar — Solutions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2026-08-10T09:29:41Z</dcterms:created>
  <dcterms:modified xsi:type="dcterms:W3CDTF">2026-08-10T09:29:41Z</dcterms:modified>
</cp:coreProperties>
</file>