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985" r:id="rId1"/>
  </p:sldMasterIdLst>
  <p:notesMasterIdLst>
    <p:notesMasterId r:id="rId7"/>
  </p:notesMasterIdLst>
  <p:handoutMasterIdLst>
    <p:handoutMasterId r:id="rId8"/>
  </p:handoutMasterIdLst>
  <p:sldIdLst>
    <p:sldId id="256" r:id="rId2"/>
    <p:sldId id="272" r:id="rId3"/>
    <p:sldId id="275" r:id="rId4"/>
    <p:sldId id="263" r:id="rId5"/>
    <p:sldId id="264" r:id="rId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02"/>
    <p:restoredTop sz="90941"/>
  </p:normalViewPr>
  <p:slideViewPr>
    <p:cSldViewPr>
      <p:cViewPr varScale="1">
        <p:scale>
          <a:sx n="67" d="100"/>
          <a:sy n="67" d="100"/>
        </p:scale>
        <p:origin x="60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0" d="100"/>
          <a:sy n="100" d="100"/>
        </p:scale>
        <p:origin x="-2496" y="-96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3528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charset="0"/>
                <a:ea typeface="ＭＳ Ｐゴシック" pitchFamily="28" charset="-128"/>
              </a:defRPr>
            </a:lvl1pPr>
          </a:lstStyle>
          <a:p>
            <a:pPr>
              <a:defRPr/>
            </a:pPr>
            <a:r>
              <a:rPr lang="en-US"/>
              <a:t>Cpt S 317: Automata &amp; Formal Languages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charset="0"/>
                <a:ea typeface="ＭＳ Ｐゴシック" pitchFamily="28" charset="-128"/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337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smtClean="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4089F339-71C1-4544-8A46-ECDE11D6429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42900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charset="0"/>
                <a:ea typeface="ＭＳ Ｐゴシック" pitchFamily="28" charset="-128"/>
              </a:defRPr>
            </a:lvl1pPr>
          </a:lstStyle>
          <a:p>
            <a:pPr>
              <a:defRPr/>
            </a:pPr>
            <a:r>
              <a:rPr lang="en-US"/>
              <a:t>Cpt S 317: Automata &amp; Formal Languages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Arial" charset="0"/>
                <a:ea typeface="ＭＳ Ｐゴシック" pitchFamily="28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>
                <a:latin typeface="Arial" charset="0"/>
                <a:ea typeface="ＭＳ Ｐゴシック" pitchFamily="28" charset="-128"/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 smtClean="0"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32F2A66B-AFFD-F24E-BF85-149328BB5F2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2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300"/>
              <a:t>Cpt S 317: Automata &amp; Formal Languages</a:t>
            </a:r>
          </a:p>
        </p:txBody>
      </p:sp>
      <p:sp>
        <p:nvSpPr>
          <p:cNvPr id="1638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300"/>
              <a:t>School of EECS, WSU</a:t>
            </a:r>
          </a:p>
        </p:txBody>
      </p:sp>
      <p:sp>
        <p:nvSpPr>
          <p:cNvPr id="1638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9CA2772C-FAF8-B94B-82A0-73ECBA5F8CCD}" type="slidenum">
              <a:rPr lang="en-US" altLang="en-US" sz="1300"/>
              <a:pPr/>
              <a:t>1</a:t>
            </a:fld>
            <a:endParaRPr lang="en-US" altLang="en-US" sz="1300"/>
          </a:p>
        </p:txBody>
      </p:sp>
      <p:sp>
        <p:nvSpPr>
          <p:cNvPr id="1638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300"/>
              <a:t>Cpt S 317: Automata &amp; Formal Languages</a:t>
            </a:r>
          </a:p>
        </p:txBody>
      </p:sp>
      <p:sp>
        <p:nvSpPr>
          <p:cNvPr id="20483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300"/>
              <a:t>School of EECS, WSU</a:t>
            </a:r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CA93A0E-47F5-0743-ADA8-403E0870D45C}" type="slidenum">
              <a:rPr lang="en-US" altLang="en-US" sz="1300"/>
              <a:pPr/>
              <a:t>2</a:t>
            </a:fld>
            <a:endParaRPr lang="en-US" altLang="en-US" sz="1300"/>
          </a:p>
        </p:txBody>
      </p:sp>
      <p:sp>
        <p:nvSpPr>
          <p:cNvPr id="2048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300"/>
              <a:t>Cpt S 317: Automata &amp; Formal Languages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300"/>
              <a:t>School of EECS, WSU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357C32B5-5C13-234F-8743-52F5328542EA}" type="slidenum">
              <a:rPr lang="en-US" altLang="en-US" sz="1300"/>
              <a:pPr/>
              <a:t>3</a:t>
            </a:fld>
            <a:endParaRPr lang="en-US" altLang="en-US" sz="1300"/>
          </a:p>
        </p:txBody>
      </p:sp>
      <p:sp>
        <p:nvSpPr>
          <p:cNvPr id="2253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300"/>
              <a:t>Cpt S 317: Automata &amp; Formal Languages</a:t>
            </a:r>
          </a:p>
        </p:txBody>
      </p:sp>
      <p:sp>
        <p:nvSpPr>
          <p:cNvPr id="368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300"/>
              <a:t>School of EECS, WSU</a:t>
            </a:r>
          </a:p>
        </p:txBody>
      </p:sp>
      <p:sp>
        <p:nvSpPr>
          <p:cNvPr id="368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76D413D2-E529-BD48-BCF8-14B9DC46ABDD}" type="slidenum">
              <a:rPr lang="en-US" altLang="en-US" sz="1300"/>
              <a:pPr/>
              <a:t>4</a:t>
            </a:fld>
            <a:endParaRPr lang="en-US" altLang="en-US" sz="1300"/>
          </a:p>
        </p:txBody>
      </p:sp>
      <p:sp>
        <p:nvSpPr>
          <p:cNvPr id="368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300"/>
              <a:t>Cpt S 317: Automata &amp; Formal Languages</a:t>
            </a:r>
          </a:p>
        </p:txBody>
      </p:sp>
      <p:sp>
        <p:nvSpPr>
          <p:cNvPr id="38915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r>
              <a:rPr lang="en-US" altLang="en-US" sz="1300"/>
              <a:t>School of EECS, WSU</a:t>
            </a:r>
          </a:p>
        </p:txBody>
      </p:sp>
      <p:sp>
        <p:nvSpPr>
          <p:cNvPr id="3891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fld id="{52EE1166-CE1F-3E4A-977A-58B582B8D768}" type="slidenum">
              <a:rPr lang="en-US" altLang="en-US" sz="1300"/>
              <a:pPr/>
              <a:t>5</a:t>
            </a:fld>
            <a:endParaRPr lang="en-US" altLang="en-US" sz="1300"/>
          </a:p>
        </p:txBody>
      </p:sp>
      <p:sp>
        <p:nvSpPr>
          <p:cNvPr id="3891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2965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22249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27898" y="1354138"/>
            <a:ext cx="3992165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831992"/>
            <a:ext cx="442341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4073" y="5372810"/>
            <a:ext cx="1773710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2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60647" y="612252"/>
            <a:ext cx="1552798" cy="518965"/>
          </a:xfrm>
          <a:solidFill>
            <a:schemeClr val="bg2"/>
          </a:solidFill>
        </p:spPr>
        <p:txBody>
          <a:bodyPr anchor="t"/>
          <a:lstStyle>
            <a:lvl1pPr algn="r">
              <a:defRPr sz="788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8020021" y="5275576"/>
            <a:ext cx="1223795" cy="273844"/>
          </a:xfrm>
          <a:solidFill>
            <a:schemeClr val="bg2"/>
          </a:solidFill>
        </p:spPr>
        <p:txBody>
          <a:bodyPr rIns="182880"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1050" y="6029867"/>
            <a:ext cx="346079" cy="365125"/>
          </a:xfrm>
          <a:solidFill>
            <a:schemeClr val="bg2"/>
          </a:solidFill>
        </p:spPr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52572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240" y="265729"/>
            <a:ext cx="8235853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240" y="1736177"/>
            <a:ext cx="8235853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6562600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27171" y="1090398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593" y="1371600"/>
            <a:ext cx="5029794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0387" y="685800"/>
            <a:ext cx="4780253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51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5343" y="5570290"/>
            <a:ext cx="30860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2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9287" y="508085"/>
            <a:ext cx="322029" cy="365125"/>
          </a:xfrm>
          <a:noFill/>
        </p:spPr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2747" y="508085"/>
            <a:ext cx="90249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00952" y="612063"/>
            <a:ext cx="1115472" cy="478334"/>
          </a:xfrm>
          <a:solidFill>
            <a:schemeClr val="bg2"/>
          </a:solidFill>
        </p:spPr>
        <p:txBody>
          <a:bodyPr anchor="t"/>
          <a:lstStyle>
            <a:lvl1pPr algn="r">
              <a:defRPr sz="788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</p:spTree>
    <p:extLst>
      <p:ext uri="{BB962C8B-B14F-4D97-AF65-F5344CB8AC3E}">
        <p14:creationId xmlns:p14="http://schemas.microsoft.com/office/powerpoint/2010/main" val="268480985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27171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69" y="338328"/>
            <a:ext cx="612648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7200" spc="-75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0" y="4754729"/>
            <a:ext cx="231333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200" cap="all" spc="75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1" y="447580"/>
            <a:ext cx="1858424" cy="586001"/>
          </a:xfrm>
          <a:noFill/>
        </p:spPr>
        <p:txBody>
          <a:bodyPr/>
          <a:lstStyle>
            <a:lvl1pPr algn="r">
              <a:defRPr sz="788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569114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94723" y="6172185"/>
            <a:ext cx="7745068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012" y="365761"/>
            <a:ext cx="8651093" cy="5525653"/>
          </a:xfrm>
          <a:noFill/>
        </p:spPr>
        <p:txBody>
          <a:bodyPr anchor="t">
            <a:normAutofit/>
          </a:bodyPr>
          <a:lstStyle>
            <a:lvl1pPr>
              <a:defRPr sz="8625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11846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9143997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91429" y="685800"/>
            <a:ext cx="7638221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43303" y="2043904"/>
            <a:ext cx="5600698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760309" y="3032185"/>
            <a:ext cx="5645423" cy="1870732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9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9808" y="569843"/>
            <a:ext cx="1103244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788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7649" y="2743202"/>
            <a:ext cx="4572001" cy="3467098"/>
          </a:xfrm>
        </p:spPr>
        <p:txBody>
          <a:bodyPr>
            <a:normAutofit/>
          </a:bodyPr>
          <a:lstStyle>
            <a:lvl1pPr marL="257175" indent="-257175">
              <a:buClr>
                <a:schemeClr val="accent2"/>
              </a:buClr>
              <a:buFont typeface="+mj-lt"/>
              <a:buAutoNum type="arabicPeriod"/>
              <a:defRPr sz="1350"/>
            </a:lvl1pPr>
            <a:lvl2pPr marL="600075" indent="-257175">
              <a:buClr>
                <a:schemeClr val="accent2"/>
              </a:buClr>
              <a:buFont typeface="+mj-lt"/>
              <a:buAutoNum type="arabicPeriod"/>
              <a:defRPr sz="1200"/>
            </a:lvl2pPr>
            <a:lvl3pPr marL="942975" indent="-257175">
              <a:buClr>
                <a:schemeClr val="accent2"/>
              </a:buClr>
              <a:buFont typeface="+mj-lt"/>
              <a:buAutoNum type="arabicPeriod"/>
              <a:defRPr sz="1050"/>
            </a:lvl3pPr>
            <a:lvl4pPr>
              <a:buClr>
                <a:schemeClr val="accent2"/>
              </a:buClr>
              <a:buFont typeface="+mj-lt"/>
              <a:buAutoNum type="arabicPeriod"/>
              <a:defRPr sz="900"/>
            </a:lvl4pPr>
            <a:lvl5pPr>
              <a:buClr>
                <a:schemeClr val="accent2"/>
              </a:buClr>
              <a:buFont typeface="+mj-lt"/>
              <a:buAutoNum type="arabicPeriod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25343" y="413627"/>
            <a:ext cx="942554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7897" y="413627"/>
            <a:ext cx="322029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09271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9143997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8703" y="3415504"/>
            <a:ext cx="8115298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862965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30" y="182881"/>
            <a:ext cx="5948169" cy="2238587"/>
          </a:xfrm>
          <a:noFill/>
        </p:spPr>
        <p:txBody>
          <a:bodyPr anchor="t">
            <a:normAutofit/>
          </a:bodyPr>
          <a:lstStyle>
            <a:lvl1pPr>
              <a:defRPr sz="9000" spc="-38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3710" y="3840480"/>
            <a:ext cx="4907943" cy="2536466"/>
          </a:xfrm>
        </p:spPr>
        <p:txBody>
          <a:bodyPr>
            <a:normAutofit/>
          </a:bodyPr>
          <a:lstStyle>
            <a:lvl1pPr marL="257175" indent="-257175">
              <a:buClr>
                <a:schemeClr val="accent2"/>
              </a:buClr>
              <a:buFont typeface="+mj-lt"/>
              <a:buAutoNum type="arabicPeriod"/>
              <a:defRPr sz="1350"/>
            </a:lvl1pPr>
            <a:lvl2pPr marL="600075" indent="-257175">
              <a:buClr>
                <a:schemeClr val="accent2"/>
              </a:buClr>
              <a:buFont typeface="+mj-lt"/>
              <a:buAutoNum type="arabicPeriod"/>
              <a:defRPr sz="1200"/>
            </a:lvl2pPr>
            <a:lvl3pPr marL="942975" indent="-257175">
              <a:buClr>
                <a:schemeClr val="accent2"/>
              </a:buClr>
              <a:buFont typeface="+mj-lt"/>
              <a:buAutoNum type="arabicPeriod"/>
              <a:defRPr sz="1050"/>
            </a:lvl3pPr>
            <a:lvl4pPr>
              <a:buClr>
                <a:schemeClr val="accent2"/>
              </a:buClr>
              <a:buFont typeface="+mj-lt"/>
              <a:buAutoNum type="arabicPeriod"/>
              <a:defRPr sz="900"/>
            </a:lvl4pPr>
            <a:lvl5pPr>
              <a:buClr>
                <a:schemeClr val="accent2"/>
              </a:buClr>
              <a:buFont typeface="+mj-lt"/>
              <a:buAutoNum type="arabicPeriod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00958" y="612381"/>
            <a:ext cx="1113171" cy="479352"/>
          </a:xfrm>
          <a:noFill/>
        </p:spPr>
        <p:txBody>
          <a:bodyPr anchor="t"/>
          <a:lstStyle>
            <a:lvl1pPr algn="r">
              <a:defRPr sz="788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50134" y="2756700"/>
            <a:ext cx="942554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7908" y="2756700"/>
            <a:ext cx="322029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2250" y="3415504"/>
            <a:ext cx="257175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024733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8701" y="2057400"/>
            <a:ext cx="257175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2057401"/>
            <a:ext cx="348615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208030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28" y="1031916"/>
            <a:ext cx="2976372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7515" y="1001865"/>
            <a:ext cx="4812135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3800" y="6029868"/>
            <a:ext cx="884682" cy="365125"/>
          </a:xfrm>
        </p:spPr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661522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234315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0"/>
            <a:ext cx="554355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0350" y="1367623"/>
            <a:ext cx="5946755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57500" y="6210300"/>
            <a:ext cx="577215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1" y="6029869"/>
            <a:ext cx="1518407" cy="365125"/>
          </a:xfrm>
        </p:spPr>
        <p:txBody>
          <a:bodyPr/>
          <a:lstStyle/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3800" y="6029869"/>
            <a:ext cx="884682" cy="365125"/>
          </a:xfrm>
        </p:spPr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940647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148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7489" y="0"/>
            <a:ext cx="328911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1292" y="1965281"/>
            <a:ext cx="3644994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6334504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28" y="499475"/>
            <a:ext cx="271908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74" y="2124222"/>
            <a:ext cx="2675553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600451" y="0"/>
            <a:ext cx="554355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3800" y="6029869"/>
            <a:ext cx="884682" cy="365125"/>
          </a:xfrm>
        </p:spPr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8655" y="6029869"/>
            <a:ext cx="322029" cy="365125"/>
          </a:xfrm>
        </p:spPr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137091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28" y="430047"/>
            <a:ext cx="3704254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074" y="1746792"/>
            <a:ext cx="4332672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43550" y="0"/>
            <a:ext cx="360045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3800" y="6029869"/>
            <a:ext cx="884682" cy="365125"/>
          </a:xfrm>
        </p:spPr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8655" y="6029869"/>
            <a:ext cx="322029" cy="365125"/>
          </a:xfrm>
        </p:spPr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9414112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88645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842" y="1"/>
            <a:ext cx="3107123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1647" y="2112973"/>
            <a:ext cx="2363318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29934" y="6029869"/>
            <a:ext cx="1433322" cy="365125"/>
          </a:xfrm>
          <a:noFill/>
        </p:spPr>
        <p:txBody>
          <a:bodyPr/>
          <a:lstStyle/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63256" y="6029869"/>
            <a:ext cx="667558" cy="365125"/>
          </a:xfrm>
          <a:noFill/>
        </p:spPr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210117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9144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28" y="1001376"/>
            <a:ext cx="270084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628" y="2496848"/>
            <a:ext cx="270084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629" y="503238"/>
            <a:ext cx="143084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2628" y="4800601"/>
            <a:ext cx="942554" cy="365125"/>
          </a:xfrm>
          <a:noFill/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60731" y="4800601"/>
            <a:ext cx="322029" cy="365125"/>
          </a:xfrm>
          <a:noFill/>
        </p:spPr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8127446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2628" y="4673956"/>
            <a:ext cx="236601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0"/>
            <a:ext cx="9143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6100" y="4647061"/>
            <a:ext cx="5664086" cy="1382807"/>
          </a:xfrm>
        </p:spPr>
        <p:txBody>
          <a:bodyPr/>
          <a:lstStyle>
            <a:lvl1pPr marL="0" indent="0">
              <a:buNone/>
              <a:defRPr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3800" y="6029869"/>
            <a:ext cx="884682" cy="365125"/>
          </a:xfrm>
          <a:noFill/>
        </p:spPr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8157" y="6029869"/>
            <a:ext cx="322029" cy="365125"/>
          </a:xfrm>
          <a:noFill/>
        </p:spPr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178709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9" y="337063"/>
            <a:ext cx="5090924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79102" y="637707"/>
            <a:ext cx="1430849" cy="365125"/>
          </a:xfrm>
        </p:spPr>
        <p:txBody>
          <a:bodyPr anchor="t"/>
          <a:lstStyle>
            <a:lvl1pPr algn="r">
              <a:defRPr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554355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4623" y="1266738"/>
            <a:ext cx="2171096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27028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351347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60045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1564" y="4374100"/>
            <a:ext cx="2923429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2137" y="685801"/>
            <a:ext cx="4073163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231" y="6029867"/>
            <a:ext cx="1433322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43800" y="6029869"/>
            <a:ext cx="884682" cy="365125"/>
          </a:xfrm>
          <a:solidFill>
            <a:schemeClr val="bg1"/>
          </a:solidFill>
        </p:spPr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9065849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450" y="5149122"/>
            <a:ext cx="5145830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5647" y="120765"/>
            <a:ext cx="804225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1000" spc="-150" baseline="0">
                <a:solidFill>
                  <a:schemeClr val="accent3"/>
                </a:solidFill>
                <a:latin typeface="+mj-lt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4074" y="6029868"/>
            <a:ext cx="1603327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27696" y="675862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4836689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9144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74" y="-785191"/>
            <a:ext cx="8235853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3448" y="1649896"/>
            <a:ext cx="762744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5400" cap="all" spc="-75" baseline="0">
                <a:solidFill>
                  <a:schemeClr val="accent1"/>
                </a:solidFill>
                <a:latin typeface="+mj-lt"/>
              </a:defRPr>
            </a:lvl1pPr>
            <a:lvl2pPr marL="342900" indent="0">
              <a:lnSpc>
                <a:spcPct val="80000"/>
              </a:lnSpc>
              <a:buNone/>
              <a:defRPr sz="5400" cap="all" baseline="0">
                <a:solidFill>
                  <a:schemeClr val="bg1"/>
                </a:solidFill>
                <a:latin typeface="+mj-lt"/>
              </a:defRPr>
            </a:lvl2pPr>
            <a:lvl3pPr marL="685800" indent="0">
              <a:lnSpc>
                <a:spcPct val="80000"/>
              </a:lnSpc>
              <a:buNone/>
              <a:defRPr sz="5400" cap="all" baseline="0">
                <a:solidFill>
                  <a:schemeClr val="bg1"/>
                </a:solidFill>
                <a:latin typeface="+mj-lt"/>
              </a:defRPr>
            </a:lvl3pPr>
            <a:lvl4pPr marL="1028700" indent="0">
              <a:lnSpc>
                <a:spcPct val="80000"/>
              </a:lnSpc>
              <a:buNone/>
              <a:defRPr sz="4950" cap="all" baseline="0">
                <a:solidFill>
                  <a:schemeClr val="bg1"/>
                </a:solidFill>
                <a:latin typeface="+mj-lt"/>
              </a:defRPr>
            </a:lvl4pPr>
            <a:lvl5pPr marL="1371600" indent="0">
              <a:lnSpc>
                <a:spcPct val="80000"/>
              </a:lnSpc>
              <a:buNone/>
              <a:defRPr sz="495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694723" y="685800"/>
            <a:ext cx="7745068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4074" y="501228"/>
            <a:ext cx="143084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25343" y="501228"/>
            <a:ext cx="942554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67897" y="501228"/>
            <a:ext cx="32202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1720927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1"/>
            <a:ext cx="9143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657225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41820" y="6212437"/>
            <a:ext cx="8106459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86100" y="5410203"/>
            <a:ext cx="565785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15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2628" y="725556"/>
            <a:ext cx="6633972" cy="3656168"/>
          </a:xfrm>
        </p:spPr>
        <p:txBody>
          <a:bodyPr>
            <a:normAutofit/>
          </a:bodyPr>
          <a:lstStyle>
            <a:lvl1pPr marL="171450" indent="-171450">
              <a:lnSpc>
                <a:spcPct val="85000"/>
              </a:lnSpc>
              <a:spcBef>
                <a:spcPts val="0"/>
              </a:spcBef>
              <a:buNone/>
              <a:defRPr sz="435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4073" y="6029869"/>
            <a:ext cx="1433322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1776" y="6029869"/>
            <a:ext cx="107670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381637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521186"/>
            <a:ext cx="8177022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4073" y="1756231"/>
            <a:ext cx="38862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43450" y="1756231"/>
            <a:ext cx="38862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052070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521206"/>
            <a:ext cx="8174736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074" y="1631076"/>
            <a:ext cx="3868340" cy="709394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spc="38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74" y="2372147"/>
            <a:ext cx="3868340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43450" y="1631077"/>
            <a:ext cx="3887391" cy="709393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spc="38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43450" y="2372146"/>
            <a:ext cx="3887391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7751127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9" y="265176"/>
            <a:ext cx="8271692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CD04C5F-4D9E-304E-B66E-AB41A5C4381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12546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1766987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3050" y="3084660"/>
            <a:ext cx="7600467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30" y="182881"/>
            <a:ext cx="6462513" cy="1874520"/>
          </a:xfrm>
          <a:noFill/>
        </p:spPr>
        <p:txBody>
          <a:bodyPr anchor="t">
            <a:normAutofit/>
          </a:bodyPr>
          <a:lstStyle>
            <a:lvl1pPr>
              <a:defRPr sz="72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17924"/>
            <a:ext cx="1400173" cy="461881"/>
          </a:xfrm>
          <a:noFill/>
        </p:spPr>
        <p:txBody>
          <a:bodyPr anchor="t"/>
          <a:lstStyle>
            <a:lvl1pPr algn="r">
              <a:defRPr sz="675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6884" y="3544866"/>
            <a:ext cx="674304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350"/>
            </a:lvl1pPr>
            <a:lvl2pPr marL="3429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2pPr>
            <a:lvl3pPr marL="685800" indent="0">
              <a:buClr>
                <a:schemeClr val="tx2"/>
              </a:buClr>
              <a:buFont typeface="Arial" panose="020B0604020202020204" pitchFamily="34" charset="0"/>
              <a:buNone/>
              <a:defRPr sz="1050"/>
            </a:lvl3pPr>
            <a:lvl4pPr marL="1028700" indent="0">
              <a:buClr>
                <a:schemeClr val="tx2"/>
              </a:buClr>
              <a:buFont typeface="Arial" panose="020B0604020202020204" pitchFamily="34" charset="0"/>
              <a:buNone/>
              <a:defRPr sz="900"/>
            </a:lvl4pPr>
            <a:lvl5pPr marL="1371600" indent="0">
              <a:buClr>
                <a:schemeClr val="tx2"/>
              </a:buClr>
              <a:buFont typeface="Arial" panose="020B0604020202020204" pitchFamily="34" charset="0"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946885" y="6024817"/>
            <a:ext cx="1357121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3767071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327058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14350" y="4564627"/>
            <a:ext cx="38010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219" y="530940"/>
            <a:ext cx="5777682" cy="1308290"/>
          </a:xfrm>
          <a:noFill/>
        </p:spPr>
        <p:txBody>
          <a:bodyPr anchor="t">
            <a:norm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754" y="3571531"/>
            <a:ext cx="3757151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350"/>
            </a:lvl1pPr>
            <a:lvl2pPr marL="3429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2pPr>
            <a:lvl3pPr marL="685800" indent="0">
              <a:buClr>
                <a:schemeClr val="tx2"/>
              </a:buClr>
              <a:buFont typeface="Arial" panose="020B0604020202020204" pitchFamily="34" charset="0"/>
              <a:buNone/>
              <a:defRPr sz="1050"/>
            </a:lvl3pPr>
            <a:lvl4pPr marL="1028700" indent="0">
              <a:buClr>
                <a:schemeClr val="tx2"/>
              </a:buClr>
              <a:buFont typeface="Arial" panose="020B0604020202020204" pitchFamily="34" charset="0"/>
              <a:buNone/>
              <a:defRPr sz="900"/>
            </a:lvl4pPr>
            <a:lvl5pPr marL="1371600" indent="0">
              <a:buClr>
                <a:schemeClr val="tx2"/>
              </a:buClr>
              <a:buFont typeface="Arial" panose="020B0604020202020204" pitchFamily="34" charset="0"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4073" y="6029867"/>
            <a:ext cx="1433322" cy="365126"/>
          </a:xfrm>
          <a:noFill/>
        </p:spPr>
        <p:txBody>
          <a:bodyPr anchor="ctr"/>
          <a:lstStyle>
            <a:lvl1pPr algn="l">
              <a:defRPr sz="675" b="1"/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49490" y="6029868"/>
            <a:ext cx="1081325" cy="365125"/>
          </a:xfrm>
          <a:noFill/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2578051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102" y="1090246"/>
            <a:ext cx="8130470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6102" y="1880756"/>
            <a:ext cx="8130470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27042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541820" y="6212437"/>
            <a:ext cx="8106459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28" y="351270"/>
            <a:ext cx="8235853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074" y="1745957"/>
            <a:ext cx="8235853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4073" y="6029869"/>
            <a:ext cx="143332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675" b="1" cap="all" spc="45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School of EECS, WSU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543800" y="6029869"/>
            <a:ext cx="887015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675" cap="all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Cpt S 317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5076" y="6029869"/>
            <a:ext cx="322029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675" cap="all" baseline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8B0DB51A-9EB9-7047-9A2D-C1062A53F17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170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6" r:id="rId1"/>
    <p:sldLayoutId id="2147483987" r:id="rId2"/>
    <p:sldLayoutId id="2147483988" r:id="rId3"/>
    <p:sldLayoutId id="2147483989" r:id="rId4"/>
    <p:sldLayoutId id="2147483990" r:id="rId5"/>
    <p:sldLayoutId id="2147483991" r:id="rId6"/>
    <p:sldLayoutId id="2147483992" r:id="rId7"/>
    <p:sldLayoutId id="2147483993" r:id="rId8"/>
    <p:sldLayoutId id="2147483994" r:id="rId9"/>
    <p:sldLayoutId id="2147483995" r:id="rId10"/>
    <p:sldLayoutId id="2147483996" r:id="rId11"/>
    <p:sldLayoutId id="2147483997" r:id="rId12"/>
    <p:sldLayoutId id="2147483998" r:id="rId13"/>
    <p:sldLayoutId id="2147483999" r:id="rId14"/>
    <p:sldLayoutId id="2147484000" r:id="rId15"/>
    <p:sldLayoutId id="2147484001" r:id="rId16"/>
    <p:sldLayoutId id="2147484002" r:id="rId17"/>
    <p:sldLayoutId id="2147484003" r:id="rId18"/>
    <p:sldLayoutId id="2147484004" r:id="rId19"/>
    <p:sldLayoutId id="2147484005" r:id="rId20"/>
    <p:sldLayoutId id="2147484006" r:id="rId21"/>
    <p:sldLayoutId id="2147484007" r:id="rId22"/>
    <p:sldLayoutId id="2147484008" r:id="rId23"/>
    <p:sldLayoutId id="2147484009" r:id="rId24"/>
    <p:sldLayoutId id="2147484010" r:id="rId25"/>
    <p:sldLayoutId id="2147484011" r:id="rId26"/>
    <p:sldLayoutId id="2147484012" r:id="rId27"/>
    <p:sldLayoutId id="2147484013" r:id="rId28"/>
  </p:sldLayoutIdLst>
  <p:hf hdr="0" ftr="0" dt="0"/>
  <p:txStyles>
    <p:titleStyle>
      <a:lvl1pPr marL="0" algn="l" defTabSz="6858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1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219200"/>
            <a:ext cx="77724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Automata and Formal Languages</a:t>
            </a:r>
          </a:p>
        </p:txBody>
      </p:sp>
      <p:sp>
        <p:nvSpPr>
          <p:cNvPr id="15362" name="Rectangle 14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91640A-2B60-F94E-935D-FAC136E02BC1}" type="slidenum">
              <a:rPr lang="en-US" altLang="en-US" sz="1400">
                <a:solidFill>
                  <a:schemeClr val="bg2"/>
                </a:solidFill>
                <a:ea typeface="ＭＳ Ｐゴシック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>
              <a:solidFill>
                <a:schemeClr val="bg2"/>
              </a:solidFill>
              <a:ea typeface="ＭＳ Ｐゴシック" charset="-128"/>
            </a:endParaRP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C1F8F86A-3810-8173-FE7B-D1EAC911396F}"/>
              </a:ext>
            </a:extLst>
          </p:cNvPr>
          <p:cNvSpPr txBox="1"/>
          <p:nvPr/>
        </p:nvSpPr>
        <p:spPr>
          <a:xfrm>
            <a:off x="1143000" y="3962400"/>
            <a:ext cx="6400800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5300" algn="ctr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282823"/>
                </a:solidFill>
                <a:latin typeface="Arial"/>
                <a:cs typeface="Arial"/>
              </a:rPr>
              <a:t>Dr.</a:t>
            </a:r>
            <a:r>
              <a:rPr sz="3600" b="1" spc="-2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282823"/>
                </a:solidFill>
                <a:latin typeface="Arial"/>
                <a:cs typeface="Arial"/>
              </a:rPr>
              <a:t>Shinnu</a:t>
            </a:r>
            <a:r>
              <a:rPr sz="3600" b="1" spc="-25" dirty="0">
                <a:solidFill>
                  <a:srgbClr val="282823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282823"/>
                </a:solidFill>
                <a:latin typeface="Arial"/>
                <a:cs typeface="Arial"/>
              </a:rPr>
              <a:t>Jangra</a:t>
            </a:r>
            <a:endParaRPr lang="en-US" sz="3600" b="1" spc="-10" dirty="0">
              <a:solidFill>
                <a:srgbClr val="282823"/>
              </a:solidFill>
              <a:latin typeface="Arial"/>
              <a:cs typeface="Arial"/>
            </a:endParaRPr>
          </a:p>
          <a:p>
            <a:pPr marL="495300" algn="ctr">
              <a:lnSpc>
                <a:spcPct val="100000"/>
              </a:lnSpc>
              <a:spcBef>
                <a:spcPts val="100"/>
              </a:spcBef>
            </a:pPr>
            <a:r>
              <a:rPr lang="en-US" sz="3600" b="1" spc="-10" dirty="0">
                <a:solidFill>
                  <a:srgbClr val="282823"/>
                </a:solidFill>
                <a:latin typeface="Arial"/>
                <a:cs typeface="Arial"/>
              </a:rPr>
              <a:t>Assistant Professor</a:t>
            </a:r>
            <a:endParaRPr sz="3600" dirty="0">
              <a:latin typeface="Arial"/>
              <a:cs typeface="Arial"/>
            </a:endParaRPr>
          </a:p>
          <a:p>
            <a:pPr marL="12065" marR="5080" algn="ctr">
              <a:lnSpc>
                <a:spcPct val="123000"/>
              </a:lnSpc>
              <a:spcBef>
                <a:spcPts val="640"/>
              </a:spcBef>
            </a:pP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Department</a:t>
            </a:r>
            <a:r>
              <a:rPr sz="1800" spc="-3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of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Artificial</a:t>
            </a:r>
            <a:r>
              <a:rPr sz="1800" spc="-3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Intelligence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and</a:t>
            </a:r>
            <a:r>
              <a:rPr sz="1800" spc="-30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94945"/>
                </a:solidFill>
                <a:latin typeface="Arial MT"/>
                <a:cs typeface="Arial MT"/>
              </a:rPr>
              <a:t>Machine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Learning,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Manipal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University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94945"/>
                </a:solidFill>
                <a:latin typeface="Arial MT"/>
                <a:cs typeface="Arial MT"/>
              </a:rPr>
              <a:t>Jaipur,</a:t>
            </a:r>
            <a:r>
              <a:rPr sz="1800" spc="-25" dirty="0">
                <a:solidFill>
                  <a:srgbClr val="494945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94945"/>
                </a:solidFill>
                <a:latin typeface="Arial MT"/>
                <a:cs typeface="Arial MT"/>
              </a:rPr>
              <a:t>Rajasthan, India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Introduce concepts in automata theory and theory of computation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solidFill>
                  <a:schemeClr val="hlink"/>
                </a:solidFill>
              </a:rPr>
              <a:t>Identify different formal language classes and their relationships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Design grammars and recognizers for different formal languages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>
                <a:solidFill>
                  <a:schemeClr val="hlink"/>
                </a:solidFill>
              </a:rPr>
              <a:t>Prove or disprove theorems in automata theory using its properties</a:t>
            </a:r>
            <a:r>
              <a:rPr lang="en-US" altLang="en-US" sz="2800"/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Determine the decidability and intractability of computational problems </a:t>
            </a:r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4AE40BC-6B6F-6C40-911B-5161C4E60CA6}" type="slidenum">
              <a:rPr lang="en-US" altLang="en-US" sz="1400">
                <a:ea typeface="ＭＳ Ｐゴシック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>
              <a:ea typeface="ＭＳ Ｐゴシック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Course Organization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/>
            <a:r>
              <a:rPr lang="en-US" altLang="en-US"/>
              <a:t>Very broadly, the course will contain  three parts:</a:t>
            </a:r>
          </a:p>
          <a:p>
            <a:pPr marL="990600" lvl="1" indent="-533400" eaLnBrk="1" hangingPunct="1"/>
            <a:r>
              <a:rPr lang="en-US" altLang="en-US"/>
              <a:t>Part I)	Regular languages </a:t>
            </a:r>
          </a:p>
          <a:p>
            <a:pPr marL="990600" lvl="1" indent="-533400" eaLnBrk="1" hangingPunct="1"/>
            <a:r>
              <a:rPr lang="en-US" altLang="en-US"/>
              <a:t>Part II)	Context-free languages</a:t>
            </a:r>
          </a:p>
          <a:p>
            <a:pPr marL="990600" lvl="1" indent="-533400" eaLnBrk="1" hangingPunct="1"/>
            <a:r>
              <a:rPr lang="en-US" altLang="en-US"/>
              <a:t>Part III)	Turing machines &amp; decidability</a:t>
            </a:r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BA6C807-B7A6-A54F-8345-59EEF996FE95}" type="slidenum">
              <a:rPr lang="en-US" altLang="en-US" sz="1400">
                <a:ea typeface="ＭＳ Ｐゴシック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>
              <a:ea typeface="ＭＳ Ｐゴシック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Grading</a:t>
            </a:r>
          </a:p>
        </p:txBody>
      </p:sp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25834E-C075-B347-BEC1-AF177ECF81FA}" type="slidenum">
              <a:rPr lang="en-US" altLang="en-US" sz="1400">
                <a:ea typeface="ＭＳ Ｐゴシック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>
              <a:ea typeface="ＭＳ Ｐゴシック" charset="-128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40DC3F-B410-A87B-2A56-02DB27B02A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675406"/>
              </p:ext>
            </p:extLst>
          </p:nvPr>
        </p:nvGraphicFramePr>
        <p:xfrm>
          <a:off x="816102" y="1890281"/>
          <a:ext cx="7924800" cy="358140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3241368">
                  <a:extLst>
                    <a:ext uri="{9D8B030D-6E8A-4147-A177-3AD203B41FA5}">
                      <a16:colId xmlns:a16="http://schemas.microsoft.com/office/drawing/2014/main" val="2572352269"/>
                    </a:ext>
                  </a:extLst>
                </a:gridCol>
                <a:gridCol w="3241368">
                  <a:extLst>
                    <a:ext uri="{9D8B030D-6E8A-4147-A177-3AD203B41FA5}">
                      <a16:colId xmlns:a16="http://schemas.microsoft.com/office/drawing/2014/main" val="1177440776"/>
                    </a:ext>
                  </a:extLst>
                </a:gridCol>
                <a:gridCol w="1442064">
                  <a:extLst>
                    <a:ext uri="{9D8B030D-6E8A-4147-A177-3AD203B41FA5}">
                      <a16:colId xmlns:a16="http://schemas.microsoft.com/office/drawing/2014/main" val="272916527"/>
                    </a:ext>
                  </a:extLst>
                </a:gridCol>
              </a:tblGrid>
              <a:tr h="391644">
                <a:tc>
                  <a:txBody>
                    <a:bodyPr/>
                    <a:lstStyle/>
                    <a:p>
                      <a:pPr marL="470535" marR="0">
                        <a:spcBef>
                          <a:spcPts val="610"/>
                        </a:spcBef>
                        <a:buNone/>
                      </a:pPr>
                      <a:r>
                        <a:rPr lang="en-US" sz="1200" spc="-10" dirty="0">
                          <a:effectLst/>
                        </a:rPr>
                        <a:t>Criteria</a:t>
                      </a:r>
                      <a:endParaRPr lang="en-US" sz="11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 marR="5080" algn="ctr">
                        <a:spcBef>
                          <a:spcPts val="610"/>
                        </a:spcBef>
                        <a:buNone/>
                      </a:pPr>
                      <a:r>
                        <a:rPr lang="en-US" sz="1200" spc="-10">
                          <a:effectLst/>
                        </a:rPr>
                        <a:t>Description</a:t>
                      </a:r>
                      <a:endParaRPr lang="en-US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0" algn="ctr">
                        <a:spcBef>
                          <a:spcPts val="610"/>
                        </a:spcBef>
                        <a:buNone/>
                      </a:pPr>
                      <a:r>
                        <a:rPr lang="en-US" sz="1200" spc="-10">
                          <a:effectLst/>
                        </a:rPr>
                        <a:t>Maximum</a:t>
                      </a:r>
                      <a:r>
                        <a:rPr lang="en-US" sz="1200" spc="-60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Marks</a:t>
                      </a:r>
                      <a:endParaRPr lang="en-US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58092700"/>
                  </a:ext>
                </a:extLst>
              </a:tr>
              <a:tr h="781463">
                <a:tc rowSpan="2"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0" marR="0">
                        <a:spcBef>
                          <a:spcPts val="200"/>
                        </a:spcBef>
                        <a:buNone/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</a:endParaRPr>
                    </a:p>
                    <a:p>
                      <a:pPr marL="327025" marR="0" indent="-233680">
                        <a:lnSpc>
                          <a:spcPct val="120000"/>
                        </a:lnSpc>
                        <a:buNone/>
                      </a:pPr>
                      <a:r>
                        <a:rPr lang="en-US" sz="1200" spc="-10" dirty="0">
                          <a:effectLst/>
                        </a:rPr>
                        <a:t>Internal</a:t>
                      </a:r>
                      <a:r>
                        <a:rPr lang="en-US" sz="1200" spc="-110" dirty="0">
                          <a:effectLst/>
                        </a:rPr>
                        <a:t> </a:t>
                      </a:r>
                      <a:r>
                        <a:rPr lang="en-US" sz="1200" spc="-10" dirty="0">
                          <a:effectLst/>
                        </a:rPr>
                        <a:t>Assessment (Summative)</a:t>
                      </a:r>
                      <a:endParaRPr lang="en-US" sz="11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 marR="0" algn="ctr">
                        <a:spcBef>
                          <a:spcPts val="595"/>
                        </a:spcBef>
                        <a:buNone/>
                      </a:pPr>
                      <a:r>
                        <a:rPr lang="en-US" sz="1200" spc="-50">
                          <a:effectLst/>
                        </a:rPr>
                        <a:t>Mid-Term</a:t>
                      </a:r>
                      <a:r>
                        <a:rPr lang="en-US" sz="1200" spc="-80">
                          <a:effectLst/>
                        </a:rPr>
                        <a:t> </a:t>
                      </a:r>
                      <a:r>
                        <a:rPr lang="en-US" sz="1200" spc="-50">
                          <a:effectLst/>
                        </a:rPr>
                        <a:t>Examination</a:t>
                      </a:r>
                      <a:endParaRPr lang="en-US" sz="1100">
                        <a:effectLst/>
                      </a:endParaRPr>
                    </a:p>
                    <a:p>
                      <a:pPr marL="18415" marR="6985" algn="ctr">
                        <a:spcBef>
                          <a:spcPts val="870"/>
                        </a:spcBef>
                        <a:buNone/>
                      </a:pPr>
                      <a:r>
                        <a:rPr lang="en-US" sz="1200" spc="-10">
                          <a:effectLst/>
                        </a:rPr>
                        <a:t>(Close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Book)</a:t>
                      </a:r>
                      <a:endParaRPr lang="en-US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1270" algn="ctr">
                        <a:spcBef>
                          <a:spcPts val="595"/>
                        </a:spcBef>
                        <a:buNone/>
                      </a:pPr>
                      <a:r>
                        <a:rPr lang="en-US" sz="1200" spc="-25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46865773"/>
                  </a:ext>
                </a:extLst>
              </a:tr>
              <a:tr h="123336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09905" marR="0" indent="-192405">
                        <a:lnSpc>
                          <a:spcPct val="120000"/>
                        </a:lnSpc>
                        <a:spcBef>
                          <a:spcPts val="610"/>
                        </a:spcBef>
                        <a:buNone/>
                      </a:pPr>
                      <a:r>
                        <a:rPr lang="en-US" sz="1200" spc="-10" dirty="0">
                          <a:effectLst/>
                        </a:rPr>
                        <a:t>Class</a:t>
                      </a:r>
                      <a:r>
                        <a:rPr lang="en-US" sz="1200" spc="-95" dirty="0">
                          <a:effectLst/>
                        </a:rPr>
                        <a:t> </a:t>
                      </a:r>
                      <a:r>
                        <a:rPr lang="en-US" sz="1200" spc="-10" dirty="0">
                          <a:effectLst/>
                        </a:rPr>
                        <a:t>Work</a:t>
                      </a:r>
                      <a:r>
                        <a:rPr lang="en-US" sz="1200" spc="-60" dirty="0">
                          <a:effectLst/>
                        </a:rPr>
                        <a:t> </a:t>
                      </a:r>
                      <a:r>
                        <a:rPr lang="en-US" sz="1200" spc="-10" dirty="0">
                          <a:effectLst/>
                        </a:rPr>
                        <a:t>Sessional</a:t>
                      </a:r>
                      <a:r>
                        <a:rPr lang="en-US" sz="1200" spc="-85" dirty="0">
                          <a:effectLst/>
                        </a:rPr>
                        <a:t> </a:t>
                      </a:r>
                      <a:r>
                        <a:rPr lang="en-US" sz="1200" spc="-10" dirty="0">
                          <a:effectLst/>
                        </a:rPr>
                        <a:t>(CWS):</a:t>
                      </a:r>
                      <a:r>
                        <a:rPr lang="en-US" sz="1200" spc="-65" dirty="0">
                          <a:effectLst/>
                        </a:rPr>
                        <a:t> 2 </a:t>
                      </a:r>
                      <a:r>
                        <a:rPr lang="en-US" sz="1200" spc="-10" dirty="0">
                          <a:effectLst/>
                        </a:rPr>
                        <a:t>Quiz</a:t>
                      </a:r>
                      <a:r>
                        <a:rPr lang="en-US" sz="1200" spc="-85" dirty="0">
                          <a:effectLst/>
                        </a:rPr>
                        <a:t> </a:t>
                      </a:r>
                      <a:r>
                        <a:rPr lang="en-US" sz="1200" spc="-10" dirty="0">
                          <a:effectLst/>
                        </a:rPr>
                        <a:t>(30/2) =15 Marks, </a:t>
                      </a:r>
                      <a:r>
                        <a:rPr lang="en-US" sz="1200" dirty="0">
                          <a:effectLst/>
                        </a:rPr>
                        <a:t>Assignment (10 Marks), Open Book Test/Attendance (5 Marks)</a:t>
                      </a:r>
                      <a:endParaRPr lang="en-US" sz="11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1270" algn="ctr">
                        <a:spcBef>
                          <a:spcPts val="610"/>
                        </a:spcBef>
                        <a:buNone/>
                      </a:pPr>
                      <a:r>
                        <a:rPr lang="en-US" sz="1200" spc="-25">
                          <a:effectLst/>
                        </a:rPr>
                        <a:t>30</a:t>
                      </a:r>
                      <a:endParaRPr lang="en-US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4166423976"/>
                  </a:ext>
                </a:extLst>
              </a:tr>
              <a:tr h="783289">
                <a:tc>
                  <a:txBody>
                    <a:bodyPr/>
                    <a:lstStyle/>
                    <a:p>
                      <a:pPr marL="250825" marR="0">
                        <a:spcBef>
                          <a:spcPts val="610"/>
                        </a:spcBef>
                        <a:buNone/>
                      </a:pPr>
                      <a:r>
                        <a:rPr lang="en-US" sz="1200" spc="-40">
                          <a:effectLst/>
                        </a:rPr>
                        <a:t>End</a:t>
                      </a:r>
                      <a:r>
                        <a:rPr lang="en-US" sz="1200" spc="-100">
                          <a:effectLst/>
                        </a:rPr>
                        <a:t> </a:t>
                      </a:r>
                      <a:r>
                        <a:rPr lang="en-US" sz="1200" spc="-40">
                          <a:effectLst/>
                        </a:rPr>
                        <a:t>Term</a:t>
                      </a:r>
                      <a:r>
                        <a:rPr lang="en-US" sz="1200" spc="-100">
                          <a:effectLst/>
                        </a:rPr>
                        <a:t> </a:t>
                      </a:r>
                      <a:r>
                        <a:rPr lang="en-US" sz="1200" spc="-40">
                          <a:effectLst/>
                        </a:rPr>
                        <a:t>Exam</a:t>
                      </a:r>
                      <a:endParaRPr lang="en-US" sz="1100">
                        <a:effectLst/>
                      </a:endParaRPr>
                    </a:p>
                    <a:p>
                      <a:pPr marL="327025" marR="0">
                        <a:spcBef>
                          <a:spcPts val="855"/>
                        </a:spcBef>
                        <a:buNone/>
                      </a:pPr>
                      <a:r>
                        <a:rPr lang="en-US" sz="1200" spc="-10">
                          <a:effectLst/>
                        </a:rPr>
                        <a:t>(Summative)</a:t>
                      </a:r>
                      <a:endParaRPr lang="en-US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 marR="0" algn="ctr">
                        <a:spcBef>
                          <a:spcPts val="610"/>
                        </a:spcBef>
                        <a:buNone/>
                      </a:pPr>
                      <a:r>
                        <a:rPr lang="en-US" sz="1200" spc="-40" dirty="0">
                          <a:effectLst/>
                        </a:rPr>
                        <a:t>End</a:t>
                      </a:r>
                      <a:r>
                        <a:rPr lang="en-US" sz="1200" spc="-100" dirty="0">
                          <a:effectLst/>
                        </a:rPr>
                        <a:t> </a:t>
                      </a:r>
                      <a:r>
                        <a:rPr lang="en-US" sz="1200" spc="-40" dirty="0">
                          <a:effectLst/>
                        </a:rPr>
                        <a:t>Term</a:t>
                      </a:r>
                      <a:r>
                        <a:rPr lang="en-US" sz="1200" spc="-100" dirty="0">
                          <a:effectLst/>
                        </a:rPr>
                        <a:t> </a:t>
                      </a:r>
                      <a:r>
                        <a:rPr lang="en-US" sz="1200" spc="-40" dirty="0">
                          <a:effectLst/>
                        </a:rPr>
                        <a:t>Exam</a:t>
                      </a:r>
                      <a:endParaRPr lang="en-US" sz="1100" dirty="0">
                        <a:effectLst/>
                      </a:endParaRPr>
                    </a:p>
                    <a:p>
                      <a:pPr marL="18415" marR="8890" algn="ctr">
                        <a:spcBef>
                          <a:spcPts val="855"/>
                        </a:spcBef>
                        <a:buNone/>
                      </a:pPr>
                      <a:r>
                        <a:rPr lang="en-US" sz="1200" spc="-10" dirty="0">
                          <a:effectLst/>
                        </a:rPr>
                        <a:t>(Close Book)</a:t>
                      </a:r>
                      <a:endParaRPr lang="en-US" sz="11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1270" algn="ctr">
                        <a:spcBef>
                          <a:spcPts val="610"/>
                        </a:spcBef>
                        <a:buNone/>
                      </a:pPr>
                      <a:r>
                        <a:rPr lang="en-US" sz="1200" spc="-25" dirty="0">
                          <a:effectLst/>
                        </a:rPr>
                        <a:t>40</a:t>
                      </a:r>
                      <a:endParaRPr lang="en-US" sz="11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3221797852"/>
                  </a:ext>
                </a:extLst>
              </a:tr>
              <a:tr h="391644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n-US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415" marR="4445" algn="ctr">
                        <a:spcBef>
                          <a:spcPts val="595"/>
                        </a:spcBef>
                        <a:buNone/>
                      </a:pPr>
                      <a:r>
                        <a:rPr lang="en-US" sz="1200" spc="-10">
                          <a:effectLst/>
                        </a:rPr>
                        <a:t>Total</a:t>
                      </a:r>
                      <a:endParaRPr lang="en-US" sz="110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430" marR="3810" algn="ctr">
                        <a:spcBef>
                          <a:spcPts val="595"/>
                        </a:spcBef>
                        <a:buNone/>
                      </a:pPr>
                      <a:r>
                        <a:rPr lang="en-US" sz="1200" spc="-25" dirty="0">
                          <a:effectLst/>
                        </a:rPr>
                        <a:t>100</a:t>
                      </a:r>
                      <a:endParaRPr lang="en-US" sz="1100" dirty="0">
                        <a:effectLst/>
                        <a:latin typeface="Trebuchet MS" panose="020B0603020202020204" pitchFamily="34" charset="0"/>
                        <a:ea typeface="Trebuchet MS" panose="020B0603020202020204" pitchFamily="34" charset="0"/>
                        <a:cs typeface="Trebuchet MS" panose="020B0603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7710103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Homework Submission Policy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Hardcopy to be submitted </a:t>
            </a:r>
            <a:r>
              <a:rPr lang="en-US" altLang="en-US" sz="2800" i="1" dirty="0">
                <a:solidFill>
                  <a:schemeClr val="folHlink"/>
                </a:solidFill>
              </a:rPr>
              <a:t>in class </a:t>
            </a:r>
            <a:r>
              <a:rPr lang="en-US" altLang="en-US" sz="2800" dirty="0"/>
              <a:t>on the due date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Early submissions allowed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i="1" dirty="0"/>
              <a:t>No late submissions </a:t>
            </a:r>
          </a:p>
        </p:txBody>
      </p:sp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charset="2"/>
              <a:buChar char="n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charset="2"/>
              <a:buChar char="n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4DF40F-C187-AD4B-9171-04F3EFE868F5}" type="slidenum">
              <a:rPr lang="en-US" altLang="en-US" sz="1400">
                <a:ea typeface="ＭＳ Ｐゴシック" charset="-128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>
              <a:ea typeface="ＭＳ Ｐゴシック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489</TotalTime>
  <Words>261</Words>
  <Application>Microsoft Office PowerPoint</Application>
  <PresentationFormat>On-screen Show (4:3)</PresentationFormat>
  <Paragraphs>60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ＭＳ Ｐゴシック</vt:lpstr>
      <vt:lpstr>Arial</vt:lpstr>
      <vt:lpstr>Arial MT</vt:lpstr>
      <vt:lpstr>Calibri</vt:lpstr>
      <vt:lpstr>Oswald SemiBold</vt:lpstr>
      <vt:lpstr>Trebuchet MS</vt:lpstr>
      <vt:lpstr>Univers Condensed Light</vt:lpstr>
      <vt:lpstr>Orange Experience</vt:lpstr>
      <vt:lpstr>Automata and Formal Languages</vt:lpstr>
      <vt:lpstr>Objectives</vt:lpstr>
      <vt:lpstr>Course Organization</vt:lpstr>
      <vt:lpstr>Grading</vt:lpstr>
      <vt:lpstr>Homework Submission Policy</vt:lpstr>
    </vt:vector>
  </TitlesOfParts>
  <Company>Office 2004 ananth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CPT S 223: Advanced Data Structures</dc:title>
  <dc:creator>Office 2004 ananth</dc:creator>
  <cp:lastModifiedBy>Shinnu [MU - Jaipur]</cp:lastModifiedBy>
  <cp:revision>110</cp:revision>
  <cp:lastPrinted>2007-08-15T03:01:31Z</cp:lastPrinted>
  <dcterms:created xsi:type="dcterms:W3CDTF">2007-08-14T22:08:29Z</dcterms:created>
  <dcterms:modified xsi:type="dcterms:W3CDTF">2026-08-10T10:14:03Z</dcterms:modified>
</cp:coreProperties>
</file>