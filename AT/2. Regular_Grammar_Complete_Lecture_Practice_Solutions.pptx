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7" r:id="rId1"/>
  </p:sldMasterIdLst>
  <p:sldIdLst>
    <p:sldId id="31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4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15B60-8390-4733-914D-E4EB6339F6CB}" type="doc">
      <dgm:prSet loTypeId="urn:microsoft.com/office/officeart/2005/8/layout/list1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8288F0D-C25B-44FB-8516-4FEA7E81681B}">
      <dgm:prSet/>
      <dgm:spPr/>
      <dgm:t>
        <a:bodyPr/>
        <a:lstStyle/>
        <a:p>
          <a:r>
            <a:rPr lang="en-US"/>
            <a:t>L={aⁿ | n≥0}</a:t>
          </a:r>
        </a:p>
      </dgm:t>
    </dgm:pt>
    <dgm:pt modelId="{AD33E751-8BF4-4A81-884E-08D361C93D55}" type="parTrans" cxnId="{E50D6694-8D61-4436-BAC8-3022D31B6295}">
      <dgm:prSet/>
      <dgm:spPr/>
      <dgm:t>
        <a:bodyPr/>
        <a:lstStyle/>
        <a:p>
          <a:endParaRPr lang="en-US"/>
        </a:p>
      </dgm:t>
    </dgm:pt>
    <dgm:pt modelId="{B837E45D-530B-4D92-A95A-F0C793C9AF76}" type="sibTrans" cxnId="{E50D6694-8D61-4436-BAC8-3022D31B6295}">
      <dgm:prSet/>
      <dgm:spPr/>
      <dgm:t>
        <a:bodyPr/>
        <a:lstStyle/>
        <a:p>
          <a:endParaRPr lang="en-US"/>
        </a:p>
      </dgm:t>
    </dgm:pt>
    <dgm:pt modelId="{F03C1086-5AAD-4905-9C39-F6CF8FE00670}">
      <dgm:prSet/>
      <dgm:spPr/>
      <dgm:t>
        <a:bodyPr/>
        <a:lstStyle/>
        <a:p>
          <a:r>
            <a:rPr lang="en-US"/>
            <a:t>S → aS | ε</a:t>
          </a:r>
        </a:p>
      </dgm:t>
    </dgm:pt>
    <dgm:pt modelId="{31D0F3FF-5B07-421C-AA95-C64A40163CAF}" type="parTrans" cxnId="{B83BEFA3-3299-4BDB-BDA5-1B300F88278A}">
      <dgm:prSet/>
      <dgm:spPr/>
      <dgm:t>
        <a:bodyPr/>
        <a:lstStyle/>
        <a:p>
          <a:endParaRPr lang="en-US"/>
        </a:p>
      </dgm:t>
    </dgm:pt>
    <dgm:pt modelId="{65470C97-42CF-4193-A696-3F4E02A14345}" type="sibTrans" cxnId="{B83BEFA3-3299-4BDB-BDA5-1B300F88278A}">
      <dgm:prSet/>
      <dgm:spPr/>
      <dgm:t>
        <a:bodyPr/>
        <a:lstStyle/>
        <a:p>
          <a:endParaRPr lang="en-US"/>
        </a:p>
      </dgm:t>
    </dgm:pt>
    <dgm:pt modelId="{53937C17-C9F0-4FE4-82E8-EEB304CE745D}" type="pres">
      <dgm:prSet presAssocID="{D3515B60-8390-4733-914D-E4EB6339F6CB}" presName="linear" presStyleCnt="0">
        <dgm:presLayoutVars>
          <dgm:dir/>
          <dgm:animLvl val="lvl"/>
          <dgm:resizeHandles val="exact"/>
        </dgm:presLayoutVars>
      </dgm:prSet>
      <dgm:spPr/>
    </dgm:pt>
    <dgm:pt modelId="{FB09F9F8-4183-4CD9-AD25-3CA3529344B1}" type="pres">
      <dgm:prSet presAssocID="{C8288F0D-C25B-44FB-8516-4FEA7E81681B}" presName="parentLin" presStyleCnt="0"/>
      <dgm:spPr/>
    </dgm:pt>
    <dgm:pt modelId="{82F73447-6611-4B82-99EE-0D7E5C7971DA}" type="pres">
      <dgm:prSet presAssocID="{C8288F0D-C25B-44FB-8516-4FEA7E81681B}" presName="parentLeftMargin" presStyleLbl="node1" presStyleIdx="0" presStyleCnt="2"/>
      <dgm:spPr/>
    </dgm:pt>
    <dgm:pt modelId="{4F883192-DD59-41C3-B06E-646A92CCC247}" type="pres">
      <dgm:prSet presAssocID="{C8288F0D-C25B-44FB-8516-4FEA7E8168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DF9B6E7-3A2C-44F6-85CE-7BE76EEC92F8}" type="pres">
      <dgm:prSet presAssocID="{C8288F0D-C25B-44FB-8516-4FEA7E81681B}" presName="negativeSpace" presStyleCnt="0"/>
      <dgm:spPr/>
    </dgm:pt>
    <dgm:pt modelId="{D1F210B3-EBDD-45D7-94A3-35E458D71BDE}" type="pres">
      <dgm:prSet presAssocID="{C8288F0D-C25B-44FB-8516-4FEA7E81681B}" presName="childText" presStyleLbl="conFgAcc1" presStyleIdx="0" presStyleCnt="2">
        <dgm:presLayoutVars>
          <dgm:bulletEnabled val="1"/>
        </dgm:presLayoutVars>
      </dgm:prSet>
      <dgm:spPr/>
    </dgm:pt>
    <dgm:pt modelId="{FE1A9809-A3CF-4EB3-A9A1-E21067400F7F}" type="pres">
      <dgm:prSet presAssocID="{B837E45D-530B-4D92-A95A-F0C793C9AF76}" presName="spaceBetweenRectangles" presStyleCnt="0"/>
      <dgm:spPr/>
    </dgm:pt>
    <dgm:pt modelId="{1FD8614B-A732-4D48-B0BC-D653E4048CC4}" type="pres">
      <dgm:prSet presAssocID="{F03C1086-5AAD-4905-9C39-F6CF8FE00670}" presName="parentLin" presStyleCnt="0"/>
      <dgm:spPr/>
    </dgm:pt>
    <dgm:pt modelId="{837DCF04-B92C-4C13-B871-E9EB6AC0BCA1}" type="pres">
      <dgm:prSet presAssocID="{F03C1086-5AAD-4905-9C39-F6CF8FE00670}" presName="parentLeftMargin" presStyleLbl="node1" presStyleIdx="0" presStyleCnt="2"/>
      <dgm:spPr/>
    </dgm:pt>
    <dgm:pt modelId="{656DEFAB-9559-4450-92DD-08E95BAAD6E4}" type="pres">
      <dgm:prSet presAssocID="{F03C1086-5AAD-4905-9C39-F6CF8FE0067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9DFFD12-9052-46C8-AE21-A109EE4DC0F9}" type="pres">
      <dgm:prSet presAssocID="{F03C1086-5AAD-4905-9C39-F6CF8FE00670}" presName="negativeSpace" presStyleCnt="0"/>
      <dgm:spPr/>
    </dgm:pt>
    <dgm:pt modelId="{6664FE92-2E77-47A4-8470-082B62F12B7F}" type="pres">
      <dgm:prSet presAssocID="{F03C1086-5AAD-4905-9C39-F6CF8FE0067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D81B00E-C666-4C1B-8BBF-952FFDECF365}" type="presOf" srcId="{F03C1086-5AAD-4905-9C39-F6CF8FE00670}" destId="{656DEFAB-9559-4450-92DD-08E95BAAD6E4}" srcOrd="1" destOrd="0" presId="urn:microsoft.com/office/officeart/2005/8/layout/list1"/>
    <dgm:cxn modelId="{CE7FE76B-8C43-4C18-83E3-A99F1EEF51AC}" type="presOf" srcId="{D3515B60-8390-4733-914D-E4EB6339F6CB}" destId="{53937C17-C9F0-4FE4-82E8-EEB304CE745D}" srcOrd="0" destOrd="0" presId="urn:microsoft.com/office/officeart/2005/8/layout/list1"/>
    <dgm:cxn modelId="{10D62980-CEA2-4F40-A83D-0DCA21DF9F9D}" type="presOf" srcId="{F03C1086-5AAD-4905-9C39-F6CF8FE00670}" destId="{837DCF04-B92C-4C13-B871-E9EB6AC0BCA1}" srcOrd="0" destOrd="0" presId="urn:microsoft.com/office/officeart/2005/8/layout/list1"/>
    <dgm:cxn modelId="{72499092-7F9F-436D-96B4-C83CED654B89}" type="presOf" srcId="{C8288F0D-C25B-44FB-8516-4FEA7E81681B}" destId="{82F73447-6611-4B82-99EE-0D7E5C7971DA}" srcOrd="0" destOrd="0" presId="urn:microsoft.com/office/officeart/2005/8/layout/list1"/>
    <dgm:cxn modelId="{E50D6694-8D61-4436-BAC8-3022D31B6295}" srcId="{D3515B60-8390-4733-914D-E4EB6339F6CB}" destId="{C8288F0D-C25B-44FB-8516-4FEA7E81681B}" srcOrd="0" destOrd="0" parTransId="{AD33E751-8BF4-4A81-884E-08D361C93D55}" sibTransId="{B837E45D-530B-4D92-A95A-F0C793C9AF76}"/>
    <dgm:cxn modelId="{B83BEFA3-3299-4BDB-BDA5-1B300F88278A}" srcId="{D3515B60-8390-4733-914D-E4EB6339F6CB}" destId="{F03C1086-5AAD-4905-9C39-F6CF8FE00670}" srcOrd="1" destOrd="0" parTransId="{31D0F3FF-5B07-421C-AA95-C64A40163CAF}" sibTransId="{65470C97-42CF-4193-A696-3F4E02A14345}"/>
    <dgm:cxn modelId="{638655B7-8B17-4BE0-A62C-8EFAB0D3E13E}" type="presOf" srcId="{C8288F0D-C25B-44FB-8516-4FEA7E81681B}" destId="{4F883192-DD59-41C3-B06E-646A92CCC247}" srcOrd="1" destOrd="0" presId="urn:microsoft.com/office/officeart/2005/8/layout/list1"/>
    <dgm:cxn modelId="{ED7D3FA5-1E58-487B-9B6E-8B45A3A0B51D}" type="presParOf" srcId="{53937C17-C9F0-4FE4-82E8-EEB304CE745D}" destId="{FB09F9F8-4183-4CD9-AD25-3CA3529344B1}" srcOrd="0" destOrd="0" presId="urn:microsoft.com/office/officeart/2005/8/layout/list1"/>
    <dgm:cxn modelId="{B58BDB1B-0824-4674-A67F-4F6B0D788504}" type="presParOf" srcId="{FB09F9F8-4183-4CD9-AD25-3CA3529344B1}" destId="{82F73447-6611-4B82-99EE-0D7E5C7971DA}" srcOrd="0" destOrd="0" presId="urn:microsoft.com/office/officeart/2005/8/layout/list1"/>
    <dgm:cxn modelId="{C0854AF7-A830-47C2-B321-E9E23625AB79}" type="presParOf" srcId="{FB09F9F8-4183-4CD9-AD25-3CA3529344B1}" destId="{4F883192-DD59-41C3-B06E-646A92CCC247}" srcOrd="1" destOrd="0" presId="urn:microsoft.com/office/officeart/2005/8/layout/list1"/>
    <dgm:cxn modelId="{EC98D6EB-B427-464C-A147-1EB3EB373CB4}" type="presParOf" srcId="{53937C17-C9F0-4FE4-82E8-EEB304CE745D}" destId="{1DF9B6E7-3A2C-44F6-85CE-7BE76EEC92F8}" srcOrd="1" destOrd="0" presId="urn:microsoft.com/office/officeart/2005/8/layout/list1"/>
    <dgm:cxn modelId="{BD72CC84-D5B5-4454-9A22-051EA5F17703}" type="presParOf" srcId="{53937C17-C9F0-4FE4-82E8-EEB304CE745D}" destId="{D1F210B3-EBDD-45D7-94A3-35E458D71BDE}" srcOrd="2" destOrd="0" presId="urn:microsoft.com/office/officeart/2005/8/layout/list1"/>
    <dgm:cxn modelId="{27510668-9A3F-459A-B845-70097DA437EE}" type="presParOf" srcId="{53937C17-C9F0-4FE4-82E8-EEB304CE745D}" destId="{FE1A9809-A3CF-4EB3-A9A1-E21067400F7F}" srcOrd="3" destOrd="0" presId="urn:microsoft.com/office/officeart/2005/8/layout/list1"/>
    <dgm:cxn modelId="{E09B5533-0F6C-4000-AC78-3E419C504386}" type="presParOf" srcId="{53937C17-C9F0-4FE4-82E8-EEB304CE745D}" destId="{1FD8614B-A732-4D48-B0BC-D653E4048CC4}" srcOrd="4" destOrd="0" presId="urn:microsoft.com/office/officeart/2005/8/layout/list1"/>
    <dgm:cxn modelId="{EB48C393-4B7D-4EB9-A7FE-6F17E1F8ECC8}" type="presParOf" srcId="{1FD8614B-A732-4D48-B0BC-D653E4048CC4}" destId="{837DCF04-B92C-4C13-B871-E9EB6AC0BCA1}" srcOrd="0" destOrd="0" presId="urn:microsoft.com/office/officeart/2005/8/layout/list1"/>
    <dgm:cxn modelId="{CB1DBB95-272A-4076-9BBB-91A3830C57F3}" type="presParOf" srcId="{1FD8614B-A732-4D48-B0BC-D653E4048CC4}" destId="{656DEFAB-9559-4450-92DD-08E95BAAD6E4}" srcOrd="1" destOrd="0" presId="urn:microsoft.com/office/officeart/2005/8/layout/list1"/>
    <dgm:cxn modelId="{008BC5C7-347F-4A14-A29E-62CEBC3E3A3F}" type="presParOf" srcId="{53937C17-C9F0-4FE4-82E8-EEB304CE745D}" destId="{99DFFD12-9052-46C8-AE21-A109EE4DC0F9}" srcOrd="5" destOrd="0" presId="urn:microsoft.com/office/officeart/2005/8/layout/list1"/>
    <dgm:cxn modelId="{1F631C4F-3EF9-42E0-8778-A25A76D5E087}" type="presParOf" srcId="{53937C17-C9F0-4FE4-82E8-EEB304CE745D}" destId="{6664FE92-2E77-47A4-8470-082B62F12B7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210B3-EBDD-45D7-94A3-35E458D71BDE}">
      <dsp:nvSpPr>
        <dsp:cNvPr id="0" name=""/>
        <dsp:cNvSpPr/>
      </dsp:nvSpPr>
      <dsp:spPr>
        <a:xfrm>
          <a:off x="0" y="789027"/>
          <a:ext cx="7281061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83192-DD59-41C3-B06E-646A92CCC247}">
      <dsp:nvSpPr>
        <dsp:cNvPr id="0" name=""/>
        <dsp:cNvSpPr/>
      </dsp:nvSpPr>
      <dsp:spPr>
        <a:xfrm>
          <a:off x="364053" y="36267"/>
          <a:ext cx="5096742" cy="1505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2645" tIns="0" rIns="192645" bIns="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L={aⁿ | n≥0}</a:t>
          </a:r>
        </a:p>
      </dsp:txBody>
      <dsp:txXfrm>
        <a:off x="437546" y="109760"/>
        <a:ext cx="4949756" cy="1358534"/>
      </dsp:txXfrm>
    </dsp:sp>
    <dsp:sp modelId="{6664FE92-2E77-47A4-8470-082B62F12B7F}">
      <dsp:nvSpPr>
        <dsp:cNvPr id="0" name=""/>
        <dsp:cNvSpPr/>
      </dsp:nvSpPr>
      <dsp:spPr>
        <a:xfrm>
          <a:off x="0" y="3102387"/>
          <a:ext cx="7281061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DEFAB-9559-4450-92DD-08E95BAAD6E4}">
      <dsp:nvSpPr>
        <dsp:cNvPr id="0" name=""/>
        <dsp:cNvSpPr/>
      </dsp:nvSpPr>
      <dsp:spPr>
        <a:xfrm>
          <a:off x="364053" y="2349627"/>
          <a:ext cx="5096742" cy="1505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2645" tIns="0" rIns="192645" bIns="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S → aS | ε</a:t>
          </a:r>
        </a:p>
      </dsp:txBody>
      <dsp:txXfrm>
        <a:off x="437546" y="2423120"/>
        <a:ext cx="4949756" cy="1358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908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1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523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67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646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42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407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132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921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7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020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61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67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269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112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68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51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467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4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987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10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2668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584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407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382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82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201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  <p:sldLayoutId id="2147483995" r:id="rId18"/>
    <p:sldLayoutId id="2147483996" r:id="rId19"/>
    <p:sldLayoutId id="2147483997" r:id="rId20"/>
    <p:sldLayoutId id="2147483998" r:id="rId21"/>
    <p:sldLayoutId id="2147483999" r:id="rId22"/>
    <p:sldLayoutId id="2147484000" r:id="rId23"/>
    <p:sldLayoutId id="2147484001" r:id="rId24"/>
    <p:sldLayoutId id="2147484002" r:id="rId25"/>
    <p:sldLayoutId id="2147484003" r:id="rId26"/>
    <p:sldLayoutId id="2147484004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feed" TargetMode="External"/><Relationship Id="rId2" Type="http://schemas.openxmlformats.org/officeDocument/2006/relationships/hyperlink" Target="mailto:shinnujangra204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400" y="1280075"/>
            <a:ext cx="10972800" cy="19601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42253" marR="4830113" algn="ctr">
              <a:lnSpc>
                <a:spcPct val="123000"/>
              </a:lnSpc>
              <a:spcBef>
                <a:spcPts val="133"/>
              </a:spcBef>
            </a:pPr>
            <a:r>
              <a:rPr sz="1867" spc="-13" dirty="0">
                <a:solidFill>
                  <a:srgbClr val="494945"/>
                </a:solidFill>
                <a:latin typeface="Arial MT"/>
                <a:cs typeface="Arial MT"/>
              </a:rPr>
              <a:t>Presen</a:t>
            </a:r>
            <a:r>
              <a:rPr lang="en-US" sz="1867" spc="-13" dirty="0">
                <a:solidFill>
                  <a:srgbClr val="494945"/>
                </a:solidFill>
                <a:latin typeface="Arial MT"/>
                <a:cs typeface="Arial MT"/>
              </a:rPr>
              <a:t>t</a:t>
            </a:r>
            <a:r>
              <a:rPr sz="1867" spc="-13" dirty="0">
                <a:solidFill>
                  <a:srgbClr val="494945"/>
                </a:solidFill>
                <a:latin typeface="Arial MT"/>
                <a:cs typeface="Arial MT"/>
              </a:rPr>
              <a:t>ation </a:t>
            </a:r>
            <a:r>
              <a:rPr sz="1867" spc="-33" dirty="0">
                <a:solidFill>
                  <a:srgbClr val="494945"/>
                </a:solidFill>
                <a:latin typeface="Arial MT"/>
                <a:cs typeface="Arial MT"/>
              </a:rPr>
              <a:t>on</a:t>
            </a:r>
            <a:endParaRPr sz="1867" dirty="0">
              <a:latin typeface="Arial MT"/>
              <a:cs typeface="Arial MT"/>
            </a:endParaRPr>
          </a:p>
          <a:p>
            <a:pPr marL="16933" algn="ctr">
              <a:spcBef>
                <a:spcPts val="545"/>
              </a:spcBef>
            </a:pPr>
            <a:r>
              <a:rPr lang="en-US" sz="4800" b="1" dirty="0">
                <a:latin typeface="Arial"/>
                <a:cs typeface="Arial"/>
              </a:rPr>
              <a:t>Regular Grammar in TOC</a:t>
            </a:r>
          </a:p>
          <a:p>
            <a:pPr marL="16933" algn="ctr">
              <a:spcBef>
                <a:spcPts val="545"/>
              </a:spcBef>
            </a:pPr>
            <a:r>
              <a:rPr lang="en-US" sz="2400" b="1" dirty="0">
                <a:latin typeface="Arial"/>
                <a:cs typeface="Arial"/>
              </a:rPr>
              <a:t>By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1600" y="4132607"/>
            <a:ext cx="6502400" cy="10785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0383" algn="ctr">
              <a:spcBef>
                <a:spcPts val="133"/>
              </a:spcBef>
            </a:pPr>
            <a:r>
              <a:rPr sz="24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2400" b="1" spc="-33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2400" b="1" spc="-33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400" b="1" spc="-13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sz="2400" dirty="0">
              <a:latin typeface="Arial"/>
              <a:cs typeface="Arial"/>
            </a:endParaRPr>
          </a:p>
          <a:p>
            <a:pPr marL="16086" marR="6773" algn="ctr">
              <a:lnSpc>
                <a:spcPct val="123000"/>
              </a:lnSpc>
              <a:spcBef>
                <a:spcPts val="853"/>
              </a:spcBef>
            </a:pP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600" spc="-47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600" spc="-4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600" spc="-47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600" spc="-4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spc="-13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600" spc="-33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600" spc="-33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600" spc="-33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600" spc="-33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600" spc="-13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Regular Grammar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Concepts • Construction • Solved Examples • Practice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• Define regular grammar and its components.</a:t>
            </a:r>
          </a:p>
          <a:p>
            <a:pPr>
              <a:spcAft>
                <a:spcPts val="700"/>
              </a:spcAft>
              <a:defRPr sz="1900"/>
            </a:pPr>
            <a:r>
              <a:t>• Understand right-linear and left-linear grammar.</a:t>
            </a:r>
          </a:p>
          <a:p>
            <a:pPr>
              <a:spcAft>
                <a:spcPts val="700"/>
              </a:spcAft>
              <a:defRPr sz="1900"/>
            </a:pPr>
            <a:r>
              <a:t>• Construct grammars from language descriptions.</a:t>
            </a:r>
          </a:p>
          <a:p>
            <a:pPr>
              <a:spcAft>
                <a:spcPts val="700"/>
              </a:spcAft>
              <a:defRPr sz="1900"/>
            </a:pPr>
            <a:r>
              <a:t>• Relate regular grammar to DFA/NFA and regular expressions.</a:t>
            </a:r>
          </a:p>
          <a:p>
            <a:pPr>
              <a:spcAft>
                <a:spcPts val="700"/>
              </a:spcAft>
              <a:defRPr sz="1900"/>
            </a:pPr>
            <a:r>
              <a:t>• Solve common exam/practice problems.</a:t>
            </a:r>
          </a:p>
          <a:p>
            <a:pPr>
              <a:spcAft>
                <a:spcPts val="700"/>
              </a:spcAft>
              <a:defRPr sz="1900"/>
            </a:pPr>
            <a:r>
              <a:t>• Identify non-regular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Formal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rPr dirty="0"/>
              <a:t>A grammar is G = (V, T, P, S).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V: variables/non-terminals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T: terminals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P: productions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S: start symbol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A regular grammar has productions of restricted linear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Right-Linear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Typical productions:</a:t>
            </a:r>
          </a:p>
          <a:p>
            <a:pPr>
              <a:spcAft>
                <a:spcPts val="700"/>
              </a:spcAft>
              <a:defRPr sz="1900"/>
            </a:pPr>
            <a:r>
              <a:t>A → aB | a | ε</a:t>
            </a:r>
          </a:p>
          <a:p>
            <a:pPr>
              <a:spcAft>
                <a:spcPts val="700"/>
              </a:spcAft>
              <a:defRPr sz="1900"/>
            </a:pPr>
            <a:r>
              <a:t>The non-terminal, if present, is at the RIGHT end.</a:t>
            </a:r>
          </a:p>
          <a:p>
            <a:pPr>
              <a:spcAft>
                <a:spcPts val="700"/>
              </a:spcAft>
              <a:defRPr sz="1900"/>
            </a:pPr>
            <a:r>
              <a:t>Example: S → aS | bA | 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Left-Linear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Typical productions:</a:t>
            </a:r>
          </a:p>
          <a:p>
            <a:pPr>
              <a:spcAft>
                <a:spcPts val="700"/>
              </a:spcAft>
              <a:defRPr sz="1900"/>
            </a:pPr>
            <a:r>
              <a:t>A → Ba | a | ε</a:t>
            </a:r>
          </a:p>
          <a:p>
            <a:pPr>
              <a:spcAft>
                <a:spcPts val="700"/>
              </a:spcAft>
              <a:defRPr sz="1900"/>
            </a:pPr>
            <a:r>
              <a:t>The non-terminal, if present, is at the LEFT end.</a:t>
            </a:r>
          </a:p>
          <a:p>
            <a:pPr>
              <a:spcAft>
                <a:spcPts val="700"/>
              </a:spcAft>
              <a:defRPr sz="1900"/>
            </a:pPr>
            <a:r>
              <a:t>For classroom construction, choose one form and use it consistently.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Regular Grammar and Finite Automata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Regular grammar, DFA/NFA and regular expression describe exactly the regular languages.</a:t>
            </a:r>
          </a:p>
          <a:p>
            <a:pPr>
              <a:spcAft>
                <a:spcPts val="700"/>
              </a:spcAft>
              <a:defRPr sz="1900"/>
            </a:pPr>
            <a:r>
              <a:t>DFA → Regular Grammar: make one variable per state; accepting states get ε.</a:t>
            </a:r>
          </a:p>
          <a:p>
            <a:pPr>
              <a:spcAft>
                <a:spcPts val="700"/>
              </a:spcAft>
              <a:defRPr sz="1900"/>
            </a:pPr>
            <a:r>
              <a:t>Grammar → DFA: variables become states and productions become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80728"/>
            <a:ext cx="7281067" cy="1005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1. All a's</a:t>
            </a:r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BC6534C4-A2E8-71FB-E6F1-27CEAB1B58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307946"/>
              </p:ext>
            </p:extLst>
          </p:nvPr>
        </p:nvGraphicFramePr>
        <p:xfrm>
          <a:off x="457200" y="1823728"/>
          <a:ext cx="7281061" cy="4423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One or more 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L={aⁿ | n≥1}</a:t>
            </a:r>
          </a:p>
          <a:p>
            <a:pPr>
              <a:spcAft>
                <a:spcPts val="700"/>
              </a:spcAft>
              <a:defRPr sz="1900"/>
            </a:pPr>
            <a:r>
              <a:t>S → aS |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Strings ending in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1161288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rPr dirty="0"/>
              <a:t>S → </a:t>
            </a:r>
            <a:r>
              <a:rPr dirty="0" err="1"/>
              <a:t>aA</a:t>
            </a:r>
            <a:r>
              <a:rPr dirty="0"/>
              <a:t> | </a:t>
            </a:r>
            <a:r>
              <a:rPr dirty="0" err="1"/>
              <a:t>bS</a:t>
            </a:r>
            <a:endParaRPr dirty="0"/>
          </a:p>
          <a:p>
            <a:pPr>
              <a:spcAft>
                <a:spcPts val="700"/>
              </a:spcAft>
              <a:defRPr sz="1900"/>
            </a:pPr>
            <a:r>
              <a:rPr dirty="0"/>
              <a:t>A → </a:t>
            </a:r>
            <a:r>
              <a:rPr dirty="0" err="1"/>
              <a:t>aA</a:t>
            </a:r>
            <a:r>
              <a:rPr dirty="0"/>
              <a:t> | </a:t>
            </a:r>
            <a:r>
              <a:rPr dirty="0" err="1"/>
              <a:t>bS</a:t>
            </a:r>
            <a:r>
              <a:rPr dirty="0"/>
              <a:t> | 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Strings ending in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</a:t>
            </a:r>
          </a:p>
          <a:p>
            <a:pPr>
              <a:spcAft>
                <a:spcPts val="700"/>
              </a:spcAft>
              <a:defRPr sz="1900"/>
            </a:pPr>
            <a:r>
              <a:t>A → aS | bA | 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Strings beginning with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</a:t>
            </a:r>
          </a:p>
          <a:p>
            <a:pPr>
              <a:spcAft>
                <a:spcPts val="700"/>
              </a:spcAft>
              <a:defRPr sz="1900"/>
            </a:pPr>
            <a:r>
              <a:t>A → aA | bA | 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Strings beginning with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bA</a:t>
            </a:r>
          </a:p>
          <a:p>
            <a:pPr>
              <a:spcAft>
                <a:spcPts val="700"/>
              </a:spcAft>
              <a:defRPr sz="1900"/>
            </a:pPr>
            <a:r>
              <a:t>A → aA | bA | 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At least one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</a:t>
            </a:r>
          </a:p>
          <a:p>
            <a:pPr>
              <a:spcAft>
                <a:spcPts val="700"/>
              </a:spcAft>
              <a:defRPr sz="1900"/>
            </a:pPr>
            <a:r>
              <a:t>A → aA | bA | 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At least one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</a:t>
            </a:r>
          </a:p>
          <a:p>
            <a:pPr>
              <a:spcAft>
                <a:spcPts val="700"/>
              </a:spcAft>
              <a:defRPr sz="1900"/>
            </a:pPr>
            <a:r>
              <a:t>A → aA | bA | 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Exactly one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</a:t>
            </a:r>
          </a:p>
          <a:p>
            <a:pPr>
              <a:spcAft>
                <a:spcPts val="700"/>
              </a:spcAft>
              <a:defRPr sz="1900"/>
            </a:pPr>
            <a:r>
              <a:t>A → bA | 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Exactly two 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</a:t>
            </a:r>
          </a:p>
          <a:p>
            <a:pPr>
              <a:spcAft>
                <a:spcPts val="700"/>
              </a:spcAft>
              <a:defRPr sz="1900"/>
            </a:pPr>
            <a:r>
              <a:t>A → bA | aB</a:t>
            </a:r>
          </a:p>
          <a:p>
            <a:pPr>
              <a:spcAft>
                <a:spcPts val="700"/>
              </a:spcAft>
              <a:defRPr sz="1900"/>
            </a:pPr>
            <a:r>
              <a:t>B → bB | 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Even number of 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 | ε</a:t>
            </a:r>
          </a:p>
          <a:p>
            <a:pPr>
              <a:spcAft>
                <a:spcPts val="700"/>
              </a:spcAft>
              <a:defRPr sz="1900"/>
            </a:pPr>
            <a:r>
              <a:t>A → bA | 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Odd number of 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</a:t>
            </a:r>
          </a:p>
          <a:p>
            <a:pPr>
              <a:spcAft>
                <a:spcPts val="700"/>
              </a:spcAft>
              <a:defRPr sz="1900"/>
            </a:pPr>
            <a:r>
              <a:t>A → bA | aS | 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Even number of b's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 | ε</a:t>
            </a:r>
          </a:p>
          <a:p>
            <a:pPr>
              <a:spcAft>
                <a:spcPts val="700"/>
              </a:spcAft>
              <a:defRPr sz="1900"/>
            </a:pPr>
            <a:r>
              <a:t>A → aA | bS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Odd number of b's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</a:t>
            </a:r>
          </a:p>
          <a:p>
            <a:pPr>
              <a:spcAft>
                <a:spcPts val="700"/>
              </a:spcAft>
              <a:defRPr sz="1900"/>
            </a:pPr>
            <a:r>
              <a:t>A → aA | bS | 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No consecutive 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 | ε</a:t>
            </a:r>
          </a:p>
          <a:p>
            <a:pPr>
              <a:spcAft>
                <a:spcPts val="700"/>
              </a:spcAft>
              <a:defRPr sz="1900"/>
            </a:pPr>
            <a:r>
              <a:t>A → bS | 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No consecutive b's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 | ε</a:t>
            </a:r>
          </a:p>
          <a:p>
            <a:pPr>
              <a:spcAft>
                <a:spcPts val="700"/>
              </a:spcAft>
              <a:defRPr sz="1900"/>
            </a:pPr>
            <a:r>
              <a:t>A → aS | 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Contains substring 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bS | aA</a:t>
            </a:r>
          </a:p>
          <a:p>
            <a:pPr>
              <a:spcAft>
                <a:spcPts val="700"/>
              </a:spcAft>
              <a:defRPr sz="1900"/>
            </a:pPr>
            <a:r>
              <a:t>A → aA | bB</a:t>
            </a:r>
          </a:p>
          <a:p>
            <a:pPr>
              <a:spcAft>
                <a:spcPts val="700"/>
              </a:spcAft>
              <a:defRPr sz="1900"/>
            </a:pPr>
            <a:r>
              <a:t>B → aB | bB | 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Contains substring 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</a:t>
            </a:r>
          </a:p>
          <a:p>
            <a:pPr>
              <a:spcAft>
                <a:spcPts val="700"/>
              </a:spcAft>
              <a:defRPr sz="1900"/>
            </a:pPr>
            <a:r>
              <a:t>A → bA | aB</a:t>
            </a:r>
          </a:p>
          <a:p>
            <a:pPr>
              <a:spcAft>
                <a:spcPts val="700"/>
              </a:spcAft>
              <a:defRPr sz="1900"/>
            </a:pPr>
            <a:r>
              <a:t>B → aB | bB | 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Ends with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1S | 0A</a:t>
            </a:r>
          </a:p>
          <a:p>
            <a:pPr>
              <a:spcAft>
                <a:spcPts val="700"/>
              </a:spcAft>
              <a:defRPr sz="1900"/>
            </a:pPr>
            <a:r>
              <a:t>A → 1B</a:t>
            </a:r>
          </a:p>
          <a:p>
            <a:pPr>
              <a:spcAft>
                <a:spcPts val="700"/>
              </a:spcAft>
              <a:defRPr sz="1900"/>
            </a:pPr>
            <a:r>
              <a:t>B → 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Ends with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1S | 1A</a:t>
            </a:r>
          </a:p>
          <a:p>
            <a:pPr>
              <a:spcAft>
                <a:spcPts val="700"/>
              </a:spcAft>
              <a:defRPr sz="1900"/>
            </a:pPr>
            <a:r>
              <a:t>A → 0B</a:t>
            </a:r>
          </a:p>
          <a:p>
            <a:pPr>
              <a:spcAft>
                <a:spcPts val="700"/>
              </a:spcAft>
              <a:defRPr sz="1900"/>
            </a:pPr>
            <a:r>
              <a:t>B → 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Contains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</a:t>
            </a:r>
          </a:p>
          <a:p>
            <a:pPr>
              <a:spcAft>
                <a:spcPts val="700"/>
              </a:spcAft>
              <a:defRPr sz="1900"/>
            </a:pPr>
            <a:r>
              <a:t>A → 1A | 0B</a:t>
            </a:r>
          </a:p>
          <a:p>
            <a:pPr>
              <a:spcAft>
                <a:spcPts val="700"/>
              </a:spcAft>
              <a:defRPr sz="1900"/>
            </a:pPr>
            <a:r>
              <a:t>B → 0B | 1C</a:t>
            </a:r>
          </a:p>
          <a:p>
            <a:pPr>
              <a:spcAft>
                <a:spcPts val="700"/>
              </a:spcAft>
              <a:defRPr sz="1900"/>
            </a:pPr>
            <a:r>
              <a:t>C → 0C | 1C | 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Contains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1S | 0A</a:t>
            </a:r>
          </a:p>
          <a:p>
            <a:pPr>
              <a:spcAft>
                <a:spcPts val="700"/>
              </a:spcAft>
              <a:defRPr sz="1900"/>
            </a:pPr>
            <a:r>
              <a:t>A → 1S | 0B</a:t>
            </a:r>
          </a:p>
          <a:p>
            <a:pPr>
              <a:spcAft>
                <a:spcPts val="700"/>
              </a:spcAft>
              <a:defRPr sz="1900"/>
            </a:pPr>
            <a:r>
              <a:t>B → 0B | 1B | 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Starts with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1A</a:t>
            </a:r>
          </a:p>
          <a:p>
            <a:pPr>
              <a:spcAft>
                <a:spcPts val="700"/>
              </a:spcAft>
              <a:defRPr sz="1900"/>
            </a:pPr>
            <a:r>
              <a:t>A → 0B</a:t>
            </a:r>
          </a:p>
          <a:p>
            <a:pPr>
              <a:spcAft>
                <a:spcPts val="700"/>
              </a:spcAft>
              <a:defRPr sz="1900"/>
            </a:pPr>
            <a:r>
              <a:t>B → 0B | 1B | 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Even number of 1s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 | ε</a:t>
            </a:r>
          </a:p>
          <a:p>
            <a:pPr>
              <a:spcAft>
                <a:spcPts val="700"/>
              </a:spcAft>
              <a:defRPr sz="1900"/>
            </a:pPr>
            <a:r>
              <a:t>A → 0A | 1S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Odd number of 1s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</a:t>
            </a:r>
          </a:p>
          <a:p>
            <a:pPr>
              <a:spcAft>
                <a:spcPts val="700"/>
              </a:spcAft>
              <a:defRPr sz="1900"/>
            </a:pPr>
            <a:r>
              <a:t>A → 0A | 1S | 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26. No consecutive 1s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 | ε</a:t>
            </a:r>
          </a:p>
          <a:p>
            <a:pPr>
              <a:spcAft>
                <a:spcPts val="700"/>
              </a:spcAft>
              <a:defRPr sz="1900"/>
            </a:pPr>
            <a:r>
              <a:t>A → 0S | 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27. No consecutive 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1S | 0A | ε</a:t>
            </a:r>
          </a:p>
          <a:p>
            <a:pPr>
              <a:spcAft>
                <a:spcPts val="700"/>
              </a:spcAft>
              <a:defRPr sz="1900"/>
            </a:pPr>
            <a:r>
              <a:t>A → 1S | 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28. Exactly 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</a:t>
            </a:r>
          </a:p>
          <a:p>
            <a:pPr>
              <a:spcAft>
                <a:spcPts val="700"/>
              </a:spcAft>
              <a:defRPr sz="1900"/>
            </a:pPr>
            <a:r>
              <a:t>A → 0A | 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29. Exactly two 1s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1A</a:t>
            </a:r>
          </a:p>
          <a:p>
            <a:pPr>
              <a:spcAft>
                <a:spcPts val="700"/>
              </a:spcAft>
              <a:defRPr sz="1900"/>
            </a:pPr>
            <a:r>
              <a:t>A → 0A | 1B</a:t>
            </a:r>
          </a:p>
          <a:p>
            <a:pPr>
              <a:spcAft>
                <a:spcPts val="700"/>
              </a:spcAft>
              <a:defRPr sz="1900"/>
            </a:pPr>
            <a:r>
              <a:t>B → 0B | 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30. At least one 0 and 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0A | 1B</a:t>
            </a:r>
          </a:p>
          <a:p>
            <a:pPr>
              <a:spcAft>
                <a:spcPts val="700"/>
              </a:spcAft>
              <a:defRPr sz="1900"/>
            </a:pPr>
            <a:r>
              <a:t>A → 0A | 1C</a:t>
            </a:r>
          </a:p>
          <a:p>
            <a:pPr>
              <a:spcAft>
                <a:spcPts val="700"/>
              </a:spcAft>
              <a:defRPr sz="1900"/>
            </a:pPr>
            <a:r>
              <a:t>B → 1B | 0C</a:t>
            </a:r>
          </a:p>
          <a:p>
            <a:pPr>
              <a:spcAft>
                <a:spcPts val="700"/>
              </a:spcAft>
              <a:defRPr sz="1900"/>
            </a:pPr>
            <a:r>
              <a:t>C → 0C | 1C | 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31. Even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 | bA | ε</a:t>
            </a:r>
          </a:p>
          <a:p>
            <a:pPr>
              <a:spcAft>
                <a:spcPts val="700"/>
              </a:spcAft>
              <a:defRPr sz="1900"/>
            </a:pPr>
            <a:r>
              <a:t>A → aS | bS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32. Length divisible by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 | bA | ε</a:t>
            </a:r>
          </a:p>
          <a:p>
            <a:pPr>
              <a:spcAft>
                <a:spcPts val="700"/>
              </a:spcAft>
              <a:defRPr sz="1900"/>
            </a:pPr>
            <a:r>
              <a:t>A → aB | bB</a:t>
            </a:r>
          </a:p>
          <a:p>
            <a:pPr>
              <a:spcAft>
                <a:spcPts val="700"/>
              </a:spcAft>
              <a:defRPr sz="1900"/>
            </a:pPr>
            <a:r>
              <a:t>B → aS | bS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33. ab*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</a:t>
            </a:r>
          </a:p>
          <a:p>
            <a:pPr>
              <a:spcAft>
                <a:spcPts val="700"/>
              </a:spcAft>
              <a:defRPr sz="1900"/>
            </a:pPr>
            <a:r>
              <a:t>A → bA | 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34. a*b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35. a*b*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aS | bA | ε</a:t>
            </a:r>
          </a:p>
          <a:p>
            <a:pPr>
              <a:spcAft>
                <a:spcPts val="700"/>
              </a:spcAft>
              <a:defRPr sz="1900"/>
            </a:pPr>
            <a:r>
              <a:t>A → bA | 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36. (ab)*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 | ε</a:t>
            </a:r>
          </a:p>
          <a:p>
            <a:pPr>
              <a:spcAft>
                <a:spcPts val="700"/>
              </a:spcAft>
              <a:defRPr sz="1900"/>
            </a:pPr>
            <a:r>
              <a:t>A → bS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37. a(ba)*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aA</a:t>
            </a:r>
          </a:p>
          <a:p>
            <a:pPr>
              <a:spcAft>
                <a:spcPts val="700"/>
              </a:spcAft>
              <a:defRPr sz="1900"/>
            </a:pPr>
            <a:r>
              <a:t>A → bB | ε</a:t>
            </a:r>
          </a:p>
          <a:p>
            <a:pPr>
              <a:spcAft>
                <a:spcPts val="700"/>
              </a:spcAft>
              <a:defRPr sz="1900"/>
            </a:pPr>
            <a:r>
              <a:t>B → aA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Non-Regular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No regular grammar exists for:</a:t>
            </a:r>
          </a:p>
          <a:p>
            <a:pPr>
              <a:spcAft>
                <a:spcPts val="700"/>
              </a:spcAft>
              <a:defRPr sz="1900"/>
            </a:pPr>
            <a:r>
              <a:t>• {aⁿbⁿ | n≥0}</a:t>
            </a:r>
          </a:p>
          <a:p>
            <a:pPr>
              <a:spcAft>
                <a:spcPts val="700"/>
              </a:spcAft>
              <a:defRPr sz="1900"/>
            </a:pPr>
            <a:r>
              <a:t>• {ww | w∈{a,b}*}</a:t>
            </a:r>
          </a:p>
          <a:p>
            <a:pPr>
              <a:spcAft>
                <a:spcPts val="700"/>
              </a:spcAft>
              <a:defRPr sz="1900"/>
            </a:pPr>
            <a:r>
              <a:t>• {aⁿ | n is prime}</a:t>
            </a:r>
          </a:p>
          <a:p>
            <a:pPr>
              <a:spcAft>
                <a:spcPts val="700"/>
              </a:spcAft>
              <a:defRPr sz="1900"/>
            </a:pPr>
            <a:r>
              <a:t>Reason: these languages are not regular. Use pumping lemma, closure properties, or another appropriate proof.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Set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Construct regular grammars for:</a:t>
            </a:r>
          </a:p>
          <a:p>
            <a:pPr>
              <a:spcAft>
                <a:spcPts val="700"/>
              </a:spcAft>
              <a:defRPr sz="1900"/>
            </a:pPr>
            <a:r>
              <a:t>1. Strings ending in 00.</a:t>
            </a:r>
          </a:p>
          <a:p>
            <a:pPr>
              <a:spcAft>
                <a:spcPts val="700"/>
              </a:spcAft>
              <a:defRPr sz="1900"/>
            </a:pPr>
            <a:r>
              <a:t>2. Strings beginning with 11.</a:t>
            </a:r>
          </a:p>
          <a:p>
            <a:pPr>
              <a:spcAft>
                <a:spcPts val="700"/>
              </a:spcAft>
              <a:defRPr sz="1900"/>
            </a:pPr>
            <a:r>
              <a:t>3. Strings containing at least two 1s.</a:t>
            </a:r>
          </a:p>
          <a:p>
            <a:pPr>
              <a:spcAft>
                <a:spcPts val="700"/>
              </a:spcAft>
              <a:defRPr sz="1900"/>
            </a:pPr>
            <a:r>
              <a:t>4. Strings containing exactly two 0s.</a:t>
            </a:r>
          </a:p>
          <a:p>
            <a:pPr>
              <a:spcAft>
                <a:spcPts val="700"/>
              </a:spcAft>
              <a:defRPr sz="1900"/>
            </a:pPr>
            <a:r>
              <a:t>5. Strings with an even number of 0s.</a:t>
            </a:r>
          </a:p>
          <a:p>
            <a:pPr>
              <a:spcAft>
                <a:spcPts val="700"/>
              </a:spcAft>
              <a:defRPr sz="1900"/>
            </a:pPr>
            <a:r>
              <a:t>6. Strings with odd length.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Set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Construct regular grammars for:</a:t>
            </a:r>
          </a:p>
          <a:p>
            <a:pPr>
              <a:spcAft>
                <a:spcPts val="700"/>
              </a:spcAft>
              <a:defRPr sz="1900"/>
            </a:pPr>
            <a:r>
              <a:t>1. Strings containing 010.</a:t>
            </a:r>
          </a:p>
          <a:p>
            <a:pPr>
              <a:spcAft>
                <a:spcPts val="700"/>
              </a:spcAft>
              <a:defRPr sz="1900"/>
            </a:pPr>
            <a:r>
              <a:t>2. Strings ending in 010.</a:t>
            </a:r>
          </a:p>
          <a:p>
            <a:pPr>
              <a:spcAft>
                <a:spcPts val="700"/>
              </a:spcAft>
              <a:defRPr sz="1900"/>
            </a:pPr>
            <a:r>
              <a:t>3. Strings that do not contain 101.</a:t>
            </a:r>
          </a:p>
          <a:p>
            <a:pPr>
              <a:spcAft>
                <a:spcPts val="700"/>
              </a:spcAft>
              <a:defRPr sz="1900"/>
            </a:pPr>
            <a:r>
              <a:t>4. Strings with no consecutive 0s.</a:t>
            </a:r>
          </a:p>
          <a:p>
            <a:pPr>
              <a:spcAft>
                <a:spcPts val="700"/>
              </a:spcAft>
              <a:defRPr sz="1900"/>
            </a:pPr>
            <a:r>
              <a:t>5. Strings with no consecutive 1s.</a:t>
            </a:r>
          </a:p>
          <a:p>
            <a:pPr>
              <a:spcAft>
                <a:spcPts val="700"/>
              </a:spcAft>
              <a:defRPr sz="1900"/>
            </a:pPr>
            <a:r>
              <a:t>6. Strings whose first and last symbols are the same.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Set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Construct regular grammars for:</a:t>
            </a:r>
          </a:p>
          <a:p>
            <a:pPr>
              <a:spcAft>
                <a:spcPts val="700"/>
              </a:spcAft>
              <a:defRPr sz="1900"/>
            </a:pPr>
            <a:r>
              <a:t>1. a*b*</a:t>
            </a:r>
          </a:p>
          <a:p>
            <a:pPr>
              <a:spcAft>
                <a:spcPts val="700"/>
              </a:spcAft>
              <a:defRPr sz="1900"/>
            </a:pPr>
            <a:r>
              <a:t>2. (ab)*</a:t>
            </a:r>
          </a:p>
          <a:p>
            <a:pPr>
              <a:spcAft>
                <a:spcPts val="700"/>
              </a:spcAft>
              <a:defRPr sz="1900"/>
            </a:pPr>
            <a:r>
              <a:t>3. a(ba)*</a:t>
            </a:r>
          </a:p>
          <a:p>
            <a:pPr>
              <a:spcAft>
                <a:spcPts val="700"/>
              </a:spcAft>
              <a:defRPr sz="1900"/>
            </a:pPr>
            <a:r>
              <a:t>4. a*b(a+b)*</a:t>
            </a:r>
          </a:p>
          <a:p>
            <a:pPr>
              <a:spcAft>
                <a:spcPts val="700"/>
              </a:spcAft>
              <a:defRPr sz="1900"/>
            </a:pPr>
            <a:r>
              <a:t>5. (a+b)*ab</a:t>
            </a:r>
          </a:p>
          <a:p>
            <a:pPr>
              <a:spcAft>
                <a:spcPts val="700"/>
              </a:spcAft>
              <a:defRPr sz="1900"/>
            </a:pPr>
            <a:r>
              <a:t>6. (01+10)*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Solved Practice: Even Number of 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Language: binary strings with even number of 0s.</a:t>
            </a:r>
          </a:p>
          <a:p>
            <a:pPr>
              <a:spcAft>
                <a:spcPts val="700"/>
              </a:spcAft>
              <a:defRPr sz="1900"/>
            </a:pPr>
            <a:r>
              <a:t>S → 1S | 0A | ε</a:t>
            </a:r>
          </a:p>
          <a:p>
            <a:pPr>
              <a:spcAft>
                <a:spcPts val="700"/>
              </a:spcAft>
              <a:defRPr sz="1900"/>
            </a:pPr>
            <a:r>
              <a:t>A → 1A | 0S</a:t>
            </a:r>
          </a:p>
          <a:p>
            <a:pPr>
              <a:spcAft>
                <a:spcPts val="700"/>
              </a:spcAft>
              <a:defRPr sz="1900"/>
            </a:pPr>
            <a:r>
              <a:t>S = even number of 0s; A = odd number of 0s.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Solved Practice: Exactly Two 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1S | 0A</a:t>
            </a:r>
          </a:p>
          <a:p>
            <a:pPr>
              <a:spcAft>
                <a:spcPts val="700"/>
              </a:spcAft>
              <a:defRPr sz="1900"/>
            </a:pPr>
            <a:r>
              <a:t>A → 1A | 0B</a:t>
            </a:r>
          </a:p>
          <a:p>
            <a:pPr>
              <a:spcAft>
                <a:spcPts val="700"/>
              </a:spcAft>
              <a:defRPr sz="1900"/>
            </a:pPr>
            <a:r>
              <a:t>B → 1B | ε</a:t>
            </a:r>
          </a:p>
          <a:p>
            <a:pPr>
              <a:spcAft>
                <a:spcPts val="700"/>
              </a:spcAft>
              <a:defRPr sz="1900"/>
            </a:pPr>
            <a:r>
              <a:t>This permits any number of 1s but exactly two 0s.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Solved Practice: Ends in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0S | 1S | 0A</a:t>
            </a:r>
          </a:p>
          <a:p>
            <a:pPr>
              <a:spcAft>
                <a:spcPts val="700"/>
              </a:spcAft>
              <a:defRPr sz="1900"/>
            </a:pPr>
            <a:r>
              <a:t>A → 0B</a:t>
            </a:r>
          </a:p>
          <a:p>
            <a:pPr>
              <a:spcAft>
                <a:spcPts val="700"/>
              </a:spcAft>
              <a:defRPr sz="1900"/>
            </a:pPr>
            <a:r>
              <a:t>B → ε</a:t>
            </a:r>
          </a:p>
          <a:p>
            <a:pPr>
              <a:spcAft>
                <a:spcPts val="700"/>
              </a:spcAft>
              <a:defRPr sz="1900"/>
            </a:pPr>
            <a:r>
              <a:t>The final two generated symbols must be 00.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Solved Practice: Contains 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S → 1S | 0A</a:t>
            </a:r>
          </a:p>
          <a:p>
            <a:pPr>
              <a:spcAft>
                <a:spcPts val="700"/>
              </a:spcAft>
              <a:defRPr sz="1900"/>
            </a:pPr>
            <a:r>
              <a:t>A → 0A | 1B</a:t>
            </a:r>
          </a:p>
          <a:p>
            <a:pPr>
              <a:spcAft>
                <a:spcPts val="700"/>
              </a:spcAft>
              <a:defRPr sz="1900"/>
            </a:pPr>
            <a:r>
              <a:t>B → 0C</a:t>
            </a:r>
          </a:p>
          <a:p>
            <a:pPr>
              <a:spcAft>
                <a:spcPts val="700"/>
              </a:spcAft>
              <a:defRPr sz="1900"/>
            </a:pPr>
            <a:r>
              <a:t>C → 0C | 1C | 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Check Your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Test positive strings:</a:t>
            </a:r>
          </a:p>
          <a:p>
            <a:pPr>
              <a:spcAft>
                <a:spcPts val="700"/>
              </a:spcAft>
              <a:defRPr sz="1900"/>
            </a:pPr>
            <a:r>
              <a:t>• ε, short strings, boundary cases.</a:t>
            </a:r>
          </a:p>
          <a:p>
            <a:pPr>
              <a:spcAft>
                <a:spcPts val="700"/>
              </a:spcAft>
              <a:defRPr sz="1900"/>
            </a:pPr>
            <a:r>
              <a:t>Test negative strings:</a:t>
            </a:r>
          </a:p>
          <a:p>
            <a:pPr>
              <a:spcAft>
                <a:spcPts val="700"/>
              </a:spcAft>
              <a:defRPr sz="1900"/>
            </a:pPr>
            <a:r>
              <a:t>• strings violating the condition.</a:t>
            </a:r>
          </a:p>
          <a:p>
            <a:pPr>
              <a:spcAft>
                <a:spcPts val="700"/>
              </a:spcAft>
              <a:defRPr sz="1900"/>
            </a:pPr>
            <a:r>
              <a:t>Check that every production is right-linear or left-linear.</a:t>
            </a:r>
          </a:p>
          <a:p>
            <a:pPr>
              <a:spcAft>
                <a:spcPts val="700"/>
              </a:spcAft>
              <a:defRPr sz="1900"/>
            </a:pPr>
            <a:r>
              <a:t>Avoid accidentally generating an invalid string.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Exam-Oriented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1. Define regular grammar with example.</a:t>
            </a:r>
          </a:p>
          <a:p>
            <a:pPr>
              <a:spcAft>
                <a:spcPts val="700"/>
              </a:spcAft>
              <a:defRPr sz="1900"/>
            </a:pPr>
            <a:r>
              <a:t>2. Differentiate left-linear and right-linear grammar.</a:t>
            </a:r>
          </a:p>
          <a:p>
            <a:pPr>
              <a:spcAft>
                <a:spcPts val="700"/>
              </a:spcAft>
              <a:defRPr sz="1900"/>
            </a:pPr>
            <a:r>
              <a:t>3. Construct RG for even number of 1s.</a:t>
            </a:r>
          </a:p>
          <a:p>
            <a:pPr>
              <a:spcAft>
                <a:spcPts val="700"/>
              </a:spcAft>
              <a:defRPr sz="1900"/>
            </a:pPr>
            <a:r>
              <a:t>4. Construct RG for strings ending in 01.</a:t>
            </a:r>
          </a:p>
          <a:p>
            <a:pPr>
              <a:spcAft>
                <a:spcPts val="700"/>
              </a:spcAft>
              <a:defRPr sz="1900"/>
            </a:pPr>
            <a:r>
              <a:t>5. Construct RG for strings containing 101.</a:t>
            </a:r>
          </a:p>
          <a:p>
            <a:pPr>
              <a:spcAft>
                <a:spcPts val="700"/>
              </a:spcAft>
              <a:defRPr sz="1900"/>
            </a:pPr>
            <a:r>
              <a:t>6. Convert DFA to regular grammar.</a:t>
            </a:r>
          </a:p>
          <a:p>
            <a:pPr>
              <a:spcAft>
                <a:spcPts val="700"/>
              </a:spcAft>
              <a:defRPr sz="1900"/>
            </a:pPr>
            <a:r>
              <a:t>7. Convert regular grammar to finite automaton.</a:t>
            </a:r>
          </a:p>
          <a:p>
            <a:pPr>
              <a:spcAft>
                <a:spcPts val="700"/>
              </a:spcAft>
              <a:defRPr sz="1900"/>
            </a:pPr>
            <a:r>
              <a:t>8. Explain why aⁿbⁿ has no regular grammar.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• Regular grammar generates regular languages.</a:t>
            </a:r>
          </a:p>
          <a:p>
            <a:pPr>
              <a:spcAft>
                <a:spcPts val="700"/>
              </a:spcAft>
              <a:defRPr sz="1900"/>
            </a:pPr>
            <a:r>
              <a:t>• Right-linear and left-linear forms are standard.</a:t>
            </a:r>
          </a:p>
          <a:p>
            <a:pPr>
              <a:spcAft>
                <a:spcPts val="700"/>
              </a:spcAft>
              <a:defRPr sz="1900"/>
            </a:pPr>
            <a:r>
              <a:t>• State-based thinking makes construction easier.</a:t>
            </a:r>
          </a:p>
          <a:p>
            <a:pPr>
              <a:spcAft>
                <a:spcPts val="700"/>
              </a:spcAft>
              <a:defRPr sz="1900"/>
            </a:pPr>
            <a:r>
              <a:t>• DFA, NFA, regular expression and regular grammar are equivalent in power.</a:t>
            </a:r>
          </a:p>
          <a:p>
            <a:pPr>
              <a:spcAft>
                <a:spcPts val="700"/>
              </a:spcAft>
              <a:defRPr sz="1900"/>
            </a:pPr>
            <a:r>
              <a:t>• Always test accepted and rejected strings.</a:t>
            </a:r>
          </a:p>
          <a:p>
            <a:pPr>
              <a:spcAft>
                <a:spcPts val="700"/>
              </a:spcAft>
              <a:defRPr sz="1900"/>
            </a:pPr>
            <a:r>
              <a:t>• aⁿbⁿ is a classic non-regular language.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B5B1-2321-3DDC-1E27-6526BFC9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9D80DB-25C7-6092-9D8A-F34FDF204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799" y="-56581"/>
            <a:ext cx="11574400" cy="989719"/>
          </a:xfrm>
          <a:prstGeom prst="rect">
            <a:avLst/>
          </a:prstGeom>
        </p:spPr>
        <p:txBody>
          <a:bodyPr vert="horz" wrap="square" lIns="0" tIns="309587" rIns="0" bIns="0" rtlCol="0" anchor="ctr">
            <a:spAutoFit/>
          </a:bodyPr>
          <a:lstStyle/>
          <a:p>
            <a:pPr marL="1505336">
              <a:spcBef>
                <a:spcPts val="133"/>
              </a:spcBef>
            </a:pPr>
            <a:r>
              <a:rPr dirty="0"/>
              <a:t>Thank</a:t>
            </a:r>
            <a:r>
              <a:rPr spc="-27" dirty="0"/>
              <a:t> </a:t>
            </a:r>
            <a:r>
              <a:rPr dirty="0"/>
              <a:t>you</a:t>
            </a:r>
            <a:r>
              <a:rPr spc="-27" dirty="0"/>
              <a:t> </a:t>
            </a:r>
            <a:r>
              <a:rPr dirty="0"/>
              <a:t>for</a:t>
            </a:r>
            <a:r>
              <a:rPr spc="-27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time</a:t>
            </a:r>
            <a:r>
              <a:rPr spc="-13" dirty="0"/>
              <a:t>.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01CA811-7045-F3FC-E4C2-8A4567E6916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685799" y="6508872"/>
            <a:ext cx="6171111" cy="183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>
            <a:pPr marL="16933">
              <a:lnSpc>
                <a:spcPts val="1587"/>
              </a:lnSpc>
            </a:pPr>
            <a:r>
              <a:rPr lang="en-US" spc="-10" dirty="0"/>
              <a:t>Department</a:t>
            </a:r>
            <a:r>
              <a:rPr lang="en-US" spc="-15" dirty="0"/>
              <a:t> </a:t>
            </a:r>
            <a:r>
              <a:rPr lang="en-US" dirty="0"/>
              <a:t>of</a:t>
            </a:r>
            <a:r>
              <a:rPr lang="en-US" spc="-10" dirty="0"/>
              <a:t> Artificial Intelligence </a:t>
            </a:r>
            <a:r>
              <a:rPr lang="en-US" dirty="0"/>
              <a:t>and</a:t>
            </a:r>
            <a:r>
              <a:rPr lang="en-US" spc="-10" dirty="0"/>
              <a:t> Machine </a:t>
            </a:r>
            <a:r>
              <a:rPr lang="en-US" dirty="0"/>
              <a:t>Learning,</a:t>
            </a:r>
            <a:r>
              <a:rPr lang="en-US" spc="-10" dirty="0"/>
              <a:t> Manipal</a:t>
            </a:r>
            <a:r>
              <a:rPr lang="en-US" spc="-15" dirty="0"/>
              <a:t> </a:t>
            </a:r>
            <a:r>
              <a:rPr lang="en-US" dirty="0"/>
              <a:t>University</a:t>
            </a:r>
            <a:r>
              <a:rPr lang="en-US" spc="-10" dirty="0"/>
              <a:t> </a:t>
            </a:r>
            <a:r>
              <a:rPr lang="en-US" dirty="0"/>
              <a:t>Jaipur,</a:t>
            </a:r>
            <a:r>
              <a:rPr lang="en-US" spc="-10" dirty="0"/>
              <a:t> </a:t>
            </a:r>
            <a:r>
              <a:rPr lang="en-US" dirty="0"/>
              <a:t>Rajasthan,</a:t>
            </a:r>
            <a:r>
              <a:rPr lang="en-US" spc="-10" dirty="0"/>
              <a:t> India</a:t>
            </a:r>
            <a:endParaRPr spc="-13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AA862F2-950E-AE8B-8673-0D8E092C46ED}"/>
              </a:ext>
            </a:extLst>
          </p:cNvPr>
          <p:cNvGrpSpPr/>
          <p:nvPr/>
        </p:nvGrpSpPr>
        <p:grpSpPr>
          <a:xfrm>
            <a:off x="386455" y="1015163"/>
            <a:ext cx="6847840" cy="2548467"/>
            <a:chOff x="289841" y="761372"/>
            <a:chExt cx="5135880" cy="19113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B62282-E173-30E1-1550-4896CFF7F121}"/>
                </a:ext>
              </a:extLst>
            </p:cNvPr>
            <p:cNvSpPr/>
            <p:nvPr/>
          </p:nvSpPr>
          <p:spPr>
            <a:xfrm>
              <a:off x="294604" y="766135"/>
              <a:ext cx="5126355" cy="1901825"/>
            </a:xfrm>
            <a:custGeom>
              <a:avLst/>
              <a:gdLst/>
              <a:ahLst/>
              <a:cxnLst/>
              <a:rect l="l" t="t" r="r" b="b"/>
              <a:pathLst>
                <a:path w="5126355" h="1901825">
                  <a:moveTo>
                    <a:pt x="5091518" y="0"/>
                  </a:moveTo>
                  <a:lnTo>
                    <a:pt x="34266" y="0"/>
                  </a:lnTo>
                  <a:lnTo>
                    <a:pt x="20981" y="2710"/>
                  </a:lnTo>
                  <a:lnTo>
                    <a:pt x="10084" y="10083"/>
                  </a:lnTo>
                  <a:lnTo>
                    <a:pt x="2710" y="20981"/>
                  </a:lnTo>
                  <a:lnTo>
                    <a:pt x="0" y="34264"/>
                  </a:lnTo>
                  <a:lnTo>
                    <a:pt x="0" y="1867331"/>
                  </a:lnTo>
                  <a:lnTo>
                    <a:pt x="2710" y="1880615"/>
                  </a:lnTo>
                  <a:lnTo>
                    <a:pt x="10084" y="1891512"/>
                  </a:lnTo>
                  <a:lnTo>
                    <a:pt x="20981" y="1898885"/>
                  </a:lnTo>
                  <a:lnTo>
                    <a:pt x="34266" y="1901596"/>
                  </a:lnTo>
                  <a:lnTo>
                    <a:pt x="5091518" y="1901596"/>
                  </a:lnTo>
                  <a:lnTo>
                    <a:pt x="5104802" y="1898885"/>
                  </a:lnTo>
                  <a:lnTo>
                    <a:pt x="5115699" y="1891512"/>
                  </a:lnTo>
                  <a:lnTo>
                    <a:pt x="5123072" y="1880615"/>
                  </a:lnTo>
                  <a:lnTo>
                    <a:pt x="5125783" y="1867331"/>
                  </a:lnTo>
                  <a:lnTo>
                    <a:pt x="5125783" y="34264"/>
                  </a:lnTo>
                  <a:lnTo>
                    <a:pt x="5123072" y="20981"/>
                  </a:lnTo>
                  <a:lnTo>
                    <a:pt x="5115699" y="10083"/>
                  </a:lnTo>
                  <a:lnTo>
                    <a:pt x="5104802" y="2710"/>
                  </a:lnTo>
                  <a:lnTo>
                    <a:pt x="5091518" y="0"/>
                  </a:lnTo>
                  <a:close/>
                </a:path>
              </a:pathLst>
            </a:custGeom>
            <a:solidFill>
              <a:srgbClr val="EEEBE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BE010BD-F440-698A-5505-53868ABEF14A}"/>
                </a:ext>
              </a:extLst>
            </p:cNvPr>
            <p:cNvSpPr/>
            <p:nvPr/>
          </p:nvSpPr>
          <p:spPr>
            <a:xfrm>
              <a:off x="294604" y="766135"/>
              <a:ext cx="5126355" cy="1901825"/>
            </a:xfrm>
            <a:custGeom>
              <a:avLst/>
              <a:gdLst/>
              <a:ahLst/>
              <a:cxnLst/>
              <a:rect l="l" t="t" r="r" b="b"/>
              <a:pathLst>
                <a:path w="5126355" h="1901825">
                  <a:moveTo>
                    <a:pt x="0" y="34264"/>
                  </a:moveTo>
                  <a:lnTo>
                    <a:pt x="2710" y="20981"/>
                  </a:lnTo>
                  <a:lnTo>
                    <a:pt x="10084" y="10083"/>
                  </a:lnTo>
                  <a:lnTo>
                    <a:pt x="20981" y="2710"/>
                  </a:lnTo>
                  <a:lnTo>
                    <a:pt x="34266" y="0"/>
                  </a:lnTo>
                  <a:lnTo>
                    <a:pt x="5091518" y="0"/>
                  </a:lnTo>
                  <a:lnTo>
                    <a:pt x="5104802" y="2710"/>
                  </a:lnTo>
                  <a:lnTo>
                    <a:pt x="5115699" y="10083"/>
                  </a:lnTo>
                  <a:lnTo>
                    <a:pt x="5123072" y="20981"/>
                  </a:lnTo>
                  <a:lnTo>
                    <a:pt x="5125783" y="34264"/>
                  </a:lnTo>
                  <a:lnTo>
                    <a:pt x="5125783" y="1867331"/>
                  </a:lnTo>
                  <a:lnTo>
                    <a:pt x="5123072" y="1880615"/>
                  </a:lnTo>
                  <a:lnTo>
                    <a:pt x="5115699" y="1891512"/>
                  </a:lnTo>
                  <a:lnTo>
                    <a:pt x="5104802" y="1898885"/>
                  </a:lnTo>
                  <a:lnTo>
                    <a:pt x="5091518" y="1901596"/>
                  </a:lnTo>
                  <a:lnTo>
                    <a:pt x="34266" y="1901596"/>
                  </a:lnTo>
                  <a:lnTo>
                    <a:pt x="20981" y="1898885"/>
                  </a:lnTo>
                  <a:lnTo>
                    <a:pt x="10084" y="1891512"/>
                  </a:lnTo>
                  <a:lnTo>
                    <a:pt x="2710" y="1880615"/>
                  </a:lnTo>
                  <a:lnTo>
                    <a:pt x="0" y="1867331"/>
                  </a:lnTo>
                  <a:lnTo>
                    <a:pt x="0" y="34264"/>
                  </a:lnTo>
                  <a:close/>
                </a:path>
              </a:pathLst>
            </a:custGeom>
            <a:ln w="9524">
              <a:solidFill>
                <a:srgbClr val="CAC5B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0439A3E-9C52-27E3-0931-82101C5D2C64}"/>
              </a:ext>
            </a:extLst>
          </p:cNvPr>
          <p:cNvSpPr txBox="1"/>
          <p:nvPr/>
        </p:nvSpPr>
        <p:spPr>
          <a:xfrm>
            <a:off x="1416878" y="1641225"/>
            <a:ext cx="4787053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0" b="1" dirty="0">
                <a:latin typeface="Arial"/>
                <a:cs typeface="Arial"/>
              </a:rPr>
              <a:t>Thank</a:t>
            </a:r>
            <a:r>
              <a:rPr sz="8000" b="1" spc="-493" dirty="0">
                <a:latin typeface="Arial"/>
                <a:cs typeface="Arial"/>
              </a:rPr>
              <a:t> </a:t>
            </a:r>
            <a:r>
              <a:rPr sz="6400" b="1" spc="-33" dirty="0">
                <a:latin typeface="Arial"/>
                <a:cs typeface="Arial"/>
              </a:rPr>
              <a:t>You</a:t>
            </a:r>
            <a:endParaRPr sz="6400">
              <a:latin typeface="Arial"/>
              <a:cs typeface="Arial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550BCB95-1478-417D-D812-43F643918390}"/>
              </a:ext>
            </a:extLst>
          </p:cNvPr>
          <p:cNvGrpSpPr/>
          <p:nvPr/>
        </p:nvGrpSpPr>
        <p:grpSpPr>
          <a:xfrm>
            <a:off x="386455" y="3765194"/>
            <a:ext cx="6847840" cy="2735580"/>
            <a:chOff x="289841" y="2823895"/>
            <a:chExt cx="5135880" cy="205168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7913190-9991-E7F8-7B7D-E6DE71F5875B}"/>
                </a:ext>
              </a:extLst>
            </p:cNvPr>
            <p:cNvSpPr/>
            <p:nvPr/>
          </p:nvSpPr>
          <p:spPr>
            <a:xfrm>
              <a:off x="294604" y="2828658"/>
              <a:ext cx="5126355" cy="2042160"/>
            </a:xfrm>
            <a:custGeom>
              <a:avLst/>
              <a:gdLst/>
              <a:ahLst/>
              <a:cxnLst/>
              <a:rect l="l" t="t" r="r" b="b"/>
              <a:pathLst>
                <a:path w="5126355" h="2042160">
                  <a:moveTo>
                    <a:pt x="5091125" y="0"/>
                  </a:moveTo>
                  <a:lnTo>
                    <a:pt x="34666" y="0"/>
                  </a:lnTo>
                  <a:lnTo>
                    <a:pt x="21227" y="2742"/>
                  </a:lnTo>
                  <a:lnTo>
                    <a:pt x="10201" y="10201"/>
                  </a:lnTo>
                  <a:lnTo>
                    <a:pt x="2742" y="21227"/>
                  </a:lnTo>
                  <a:lnTo>
                    <a:pt x="0" y="34671"/>
                  </a:lnTo>
                  <a:lnTo>
                    <a:pt x="0" y="2006981"/>
                  </a:lnTo>
                  <a:lnTo>
                    <a:pt x="2742" y="2020424"/>
                  </a:lnTo>
                  <a:lnTo>
                    <a:pt x="10201" y="2031450"/>
                  </a:lnTo>
                  <a:lnTo>
                    <a:pt x="21227" y="2038909"/>
                  </a:lnTo>
                  <a:lnTo>
                    <a:pt x="34666" y="2041652"/>
                  </a:lnTo>
                  <a:lnTo>
                    <a:pt x="5091125" y="2041652"/>
                  </a:lnTo>
                  <a:lnTo>
                    <a:pt x="5104561" y="2038909"/>
                  </a:lnTo>
                  <a:lnTo>
                    <a:pt x="5115583" y="2031450"/>
                  </a:lnTo>
                  <a:lnTo>
                    <a:pt x="5123041" y="2020424"/>
                  </a:lnTo>
                  <a:lnTo>
                    <a:pt x="5125783" y="2006981"/>
                  </a:lnTo>
                  <a:lnTo>
                    <a:pt x="5125783" y="34671"/>
                  </a:lnTo>
                  <a:lnTo>
                    <a:pt x="5123041" y="21227"/>
                  </a:lnTo>
                  <a:lnTo>
                    <a:pt x="5115583" y="10201"/>
                  </a:lnTo>
                  <a:lnTo>
                    <a:pt x="5104561" y="2742"/>
                  </a:lnTo>
                  <a:lnTo>
                    <a:pt x="5091125" y="0"/>
                  </a:lnTo>
                  <a:close/>
                </a:path>
              </a:pathLst>
            </a:custGeom>
            <a:solidFill>
              <a:srgbClr val="EEEBE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15A89DF-D5F4-A8B5-8A95-E4A456213A85}"/>
                </a:ext>
              </a:extLst>
            </p:cNvPr>
            <p:cNvSpPr/>
            <p:nvPr/>
          </p:nvSpPr>
          <p:spPr>
            <a:xfrm>
              <a:off x="294604" y="2828658"/>
              <a:ext cx="5126355" cy="2042160"/>
            </a:xfrm>
            <a:custGeom>
              <a:avLst/>
              <a:gdLst/>
              <a:ahLst/>
              <a:cxnLst/>
              <a:rect l="l" t="t" r="r" b="b"/>
              <a:pathLst>
                <a:path w="5126355" h="2042160">
                  <a:moveTo>
                    <a:pt x="0" y="34671"/>
                  </a:moveTo>
                  <a:lnTo>
                    <a:pt x="2742" y="21227"/>
                  </a:lnTo>
                  <a:lnTo>
                    <a:pt x="10201" y="10201"/>
                  </a:lnTo>
                  <a:lnTo>
                    <a:pt x="21227" y="2742"/>
                  </a:lnTo>
                  <a:lnTo>
                    <a:pt x="34666" y="0"/>
                  </a:lnTo>
                  <a:lnTo>
                    <a:pt x="5091125" y="0"/>
                  </a:lnTo>
                  <a:lnTo>
                    <a:pt x="5104561" y="2742"/>
                  </a:lnTo>
                  <a:lnTo>
                    <a:pt x="5115583" y="10201"/>
                  </a:lnTo>
                  <a:lnTo>
                    <a:pt x="5123041" y="21227"/>
                  </a:lnTo>
                  <a:lnTo>
                    <a:pt x="5125783" y="34671"/>
                  </a:lnTo>
                  <a:lnTo>
                    <a:pt x="5125783" y="2006981"/>
                  </a:lnTo>
                  <a:lnTo>
                    <a:pt x="5123041" y="2020424"/>
                  </a:lnTo>
                  <a:lnTo>
                    <a:pt x="5115583" y="2031450"/>
                  </a:lnTo>
                  <a:lnTo>
                    <a:pt x="5104561" y="2038909"/>
                  </a:lnTo>
                  <a:lnTo>
                    <a:pt x="5091125" y="2041652"/>
                  </a:lnTo>
                  <a:lnTo>
                    <a:pt x="34666" y="2041652"/>
                  </a:lnTo>
                  <a:lnTo>
                    <a:pt x="21227" y="2038909"/>
                  </a:lnTo>
                  <a:lnTo>
                    <a:pt x="10201" y="2031450"/>
                  </a:lnTo>
                  <a:lnTo>
                    <a:pt x="2742" y="2020424"/>
                  </a:lnTo>
                  <a:lnTo>
                    <a:pt x="0" y="2006981"/>
                  </a:lnTo>
                  <a:lnTo>
                    <a:pt x="0" y="34671"/>
                  </a:lnTo>
                  <a:close/>
                </a:path>
              </a:pathLst>
            </a:custGeom>
            <a:ln w="9524">
              <a:solidFill>
                <a:srgbClr val="CAC5B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AB8F45D8-BB34-D0E2-C6CD-90948E8BA27A}"/>
              </a:ext>
            </a:extLst>
          </p:cNvPr>
          <p:cNvSpPr txBox="1"/>
          <p:nvPr/>
        </p:nvSpPr>
        <p:spPr>
          <a:xfrm>
            <a:off x="511208" y="3914427"/>
            <a:ext cx="4403513" cy="23254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494945"/>
                </a:solidFill>
                <a:latin typeface="Arial"/>
                <a:cs typeface="Arial"/>
              </a:rPr>
              <a:t>Connect </a:t>
            </a:r>
            <a:r>
              <a:rPr sz="1333" b="1" spc="-13" dirty="0">
                <a:solidFill>
                  <a:srgbClr val="494945"/>
                </a:solidFill>
                <a:latin typeface="Arial"/>
                <a:cs typeface="Arial"/>
              </a:rPr>
              <a:t>Details:</a:t>
            </a:r>
            <a:endParaRPr sz="1333" dirty="0">
              <a:latin typeface="Arial"/>
              <a:cs typeface="Arial"/>
            </a:endParaRPr>
          </a:p>
          <a:p>
            <a:pPr marL="16933">
              <a:spcBef>
                <a:spcPts val="1027"/>
              </a:spcBef>
            </a:pPr>
            <a:r>
              <a:rPr sz="1400" b="1" dirty="0">
                <a:solidFill>
                  <a:srgbClr val="494945"/>
                </a:solidFill>
                <a:latin typeface="Arial"/>
                <a:cs typeface="Arial"/>
              </a:rPr>
              <a:t>Dr.</a:t>
            </a:r>
            <a:r>
              <a:rPr sz="1400" b="1" spc="-53" dirty="0">
                <a:solidFill>
                  <a:srgbClr val="49494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94945"/>
                </a:solidFill>
                <a:latin typeface="Arial"/>
                <a:cs typeface="Arial"/>
              </a:rPr>
              <a:t>Shinnu</a:t>
            </a:r>
            <a:r>
              <a:rPr sz="1400" b="1" spc="-47" dirty="0">
                <a:solidFill>
                  <a:srgbClr val="49494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94945"/>
                </a:solidFill>
                <a:latin typeface="Arial"/>
                <a:cs typeface="Arial"/>
              </a:rPr>
              <a:t>Jangra</a:t>
            </a:r>
            <a:r>
              <a:rPr sz="1400" b="1" spc="293" dirty="0">
                <a:solidFill>
                  <a:srgbClr val="4949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94945"/>
                </a:solidFill>
                <a:latin typeface="Arial MT"/>
                <a:cs typeface="Arial MT"/>
              </a:rPr>
              <a:t>Assistant</a:t>
            </a:r>
            <a:r>
              <a:rPr sz="1400" spc="-47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94945"/>
                </a:solidFill>
                <a:latin typeface="Arial MT"/>
                <a:cs typeface="Arial MT"/>
              </a:rPr>
              <a:t>Professor</a:t>
            </a:r>
            <a:r>
              <a:rPr sz="1400" spc="-47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400" spc="-13" dirty="0">
                <a:solidFill>
                  <a:srgbClr val="494945"/>
                </a:solidFill>
                <a:latin typeface="Arial MT"/>
                <a:cs typeface="Arial MT"/>
              </a:rPr>
              <a:t>(Ph.D.)</a:t>
            </a:r>
            <a:endParaRPr sz="1400" dirty="0">
              <a:latin typeface="Arial MT"/>
              <a:cs typeface="Arial MT"/>
            </a:endParaRPr>
          </a:p>
          <a:p>
            <a:pPr marL="16933">
              <a:spcBef>
                <a:spcPts val="847"/>
              </a:spcBef>
            </a:pPr>
            <a:r>
              <a:rPr sz="1067" spc="-13" dirty="0">
                <a:solidFill>
                  <a:srgbClr val="C55A11"/>
                </a:solidFill>
                <a:latin typeface="Arial MT"/>
                <a:cs typeface="Arial MT"/>
              </a:rPr>
              <a:t>Department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dirty="0">
                <a:solidFill>
                  <a:srgbClr val="C55A11"/>
                </a:solidFill>
                <a:latin typeface="Arial MT"/>
                <a:cs typeface="Arial MT"/>
              </a:rPr>
              <a:t>of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dirty="0">
                <a:solidFill>
                  <a:srgbClr val="C55A11"/>
                </a:solidFill>
                <a:latin typeface="Arial MT"/>
                <a:cs typeface="Arial MT"/>
              </a:rPr>
              <a:t>AIML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spc="-13" dirty="0">
                <a:solidFill>
                  <a:srgbClr val="C55A11"/>
                </a:solidFill>
                <a:latin typeface="Arial MT"/>
                <a:cs typeface="Arial MT"/>
              </a:rPr>
              <a:t>Manipal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dirty="0">
                <a:solidFill>
                  <a:srgbClr val="C55A11"/>
                </a:solidFill>
                <a:latin typeface="Arial MT"/>
                <a:cs typeface="Arial MT"/>
              </a:rPr>
              <a:t>University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dirty="0">
                <a:solidFill>
                  <a:srgbClr val="C55A11"/>
                </a:solidFill>
                <a:latin typeface="Arial MT"/>
                <a:cs typeface="Arial MT"/>
              </a:rPr>
              <a:t>Jaipur,</a:t>
            </a:r>
            <a:r>
              <a:rPr sz="1067" spc="-27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067" spc="-13" dirty="0">
                <a:solidFill>
                  <a:srgbClr val="C55A11"/>
                </a:solidFill>
                <a:latin typeface="Arial MT"/>
                <a:cs typeface="Arial MT"/>
              </a:rPr>
              <a:t>India</a:t>
            </a:r>
            <a:endParaRPr sz="1067" dirty="0">
              <a:latin typeface="Arial MT"/>
              <a:cs typeface="Arial MT"/>
            </a:endParaRPr>
          </a:p>
          <a:p>
            <a:pPr marL="16933" marR="6773">
              <a:lnSpc>
                <a:spcPts val="2160"/>
              </a:lnSpc>
              <a:spcBef>
                <a:spcPts val="107"/>
              </a:spcBef>
            </a:pPr>
            <a:r>
              <a:rPr sz="1200" b="1" dirty="0">
                <a:latin typeface="Arial"/>
                <a:cs typeface="Arial"/>
              </a:rPr>
              <a:t>Research</a:t>
            </a:r>
            <a:r>
              <a:rPr sz="1200" b="1" spc="-3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Area:</a:t>
            </a:r>
            <a:r>
              <a:rPr sz="1200" b="1" spc="-87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AR,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VR,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Immersive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Learning,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Human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spc="-13" dirty="0">
                <a:latin typeface="Arial MT"/>
                <a:cs typeface="Arial MT"/>
              </a:rPr>
              <a:t>Computer </a:t>
            </a:r>
            <a:r>
              <a:rPr sz="1200" dirty="0">
                <a:latin typeface="Arial MT"/>
                <a:cs typeface="Arial MT"/>
              </a:rPr>
              <a:t>Interaction,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Malware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Detection,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Machine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3" dirty="0">
                <a:latin typeface="Arial MT"/>
                <a:cs typeface="Arial MT"/>
              </a:rPr>
              <a:t>Learning</a:t>
            </a:r>
            <a:endParaRPr sz="1200" dirty="0">
              <a:latin typeface="Arial MT"/>
              <a:cs typeface="Arial MT"/>
            </a:endParaRPr>
          </a:p>
          <a:p>
            <a:pPr marL="16933">
              <a:spcBef>
                <a:spcPts val="467"/>
              </a:spcBef>
            </a:pPr>
            <a:r>
              <a:rPr sz="1400" dirty="0">
                <a:latin typeface="Calibri"/>
                <a:cs typeface="Calibri"/>
              </a:rPr>
              <a:t>Email:</a:t>
            </a:r>
            <a:r>
              <a:rPr sz="1400" spc="-33" dirty="0">
                <a:latin typeface="Calibri"/>
                <a:cs typeface="Calibri"/>
              </a:rPr>
              <a:t> </a:t>
            </a:r>
            <a:r>
              <a:rPr sz="1400" u="sng" spc="-13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shinnujangra204@gmail.com</a:t>
            </a:r>
            <a:endParaRPr sz="1400" dirty="0">
              <a:latin typeface="Calibri"/>
              <a:cs typeface="Calibri"/>
            </a:endParaRPr>
          </a:p>
          <a:p>
            <a:pPr marL="16933"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Mobile: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+91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3" dirty="0">
                <a:latin typeface="Calibri"/>
                <a:cs typeface="Calibri"/>
              </a:rPr>
              <a:t>9896006220</a:t>
            </a:r>
            <a:endParaRPr sz="1400" dirty="0">
              <a:latin typeface="Calibri"/>
              <a:cs typeface="Calibri"/>
            </a:endParaRPr>
          </a:p>
          <a:p>
            <a:pPr marL="16933"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LinkedIn:</a:t>
            </a:r>
            <a:r>
              <a:rPr sz="1400" spc="-53" dirty="0">
                <a:latin typeface="Calibri"/>
                <a:cs typeface="Calibri"/>
              </a:rPr>
              <a:t> </a:t>
            </a:r>
            <a:r>
              <a:rPr sz="1400" u="sng" spc="-13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https://www.linkedin.com/feed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2627D9BF-5297-0894-8D3C-C231306E9AE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0266" y="4287402"/>
            <a:ext cx="1626645" cy="184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76752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26</TotalTime>
  <Words>1523</Words>
  <Application>Microsoft Office PowerPoint</Application>
  <PresentationFormat>Widescreen</PresentationFormat>
  <Paragraphs>242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 Light</vt:lpstr>
      <vt:lpstr>Arial</vt:lpstr>
      <vt:lpstr>Arial MT</vt:lpstr>
      <vt:lpstr>Calibri</vt:lpstr>
      <vt:lpstr>Walbaum Display</vt:lpstr>
      <vt:lpstr>Shoji</vt:lpstr>
      <vt:lpstr>PowerPoint Presentation</vt:lpstr>
      <vt:lpstr>Regular Grammar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time.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Shinnu [MU - Jaipur]</cp:lastModifiedBy>
  <cp:revision>59</cp:revision>
  <dcterms:created xsi:type="dcterms:W3CDTF">2013-01-27T09:14:16Z</dcterms:created>
  <dcterms:modified xsi:type="dcterms:W3CDTF">2026-08-11T08:53:57Z</dcterms:modified>
  <cp:category/>
</cp:coreProperties>
</file>