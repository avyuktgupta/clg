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61"/>
  </p:notesMasterIdLst>
  <p:handoutMasterIdLst>
    <p:handoutMasterId r:id="rId62"/>
  </p:handoutMasterIdLst>
  <p:sldIdLst>
    <p:sldId id="256" r:id="rId2"/>
    <p:sldId id="291" r:id="rId3"/>
    <p:sldId id="339" r:id="rId4"/>
    <p:sldId id="292" r:id="rId5"/>
    <p:sldId id="293" r:id="rId6"/>
    <p:sldId id="294" r:id="rId7"/>
    <p:sldId id="341" r:id="rId8"/>
    <p:sldId id="295" r:id="rId9"/>
    <p:sldId id="296" r:id="rId10"/>
    <p:sldId id="297" r:id="rId11"/>
    <p:sldId id="332" r:id="rId12"/>
    <p:sldId id="334" r:id="rId13"/>
    <p:sldId id="333" r:id="rId14"/>
    <p:sldId id="342" r:id="rId15"/>
    <p:sldId id="350" r:id="rId16"/>
    <p:sldId id="298" r:id="rId17"/>
    <p:sldId id="299" r:id="rId18"/>
    <p:sldId id="340" r:id="rId19"/>
    <p:sldId id="300" r:id="rId20"/>
    <p:sldId id="347" r:id="rId21"/>
    <p:sldId id="343" r:id="rId22"/>
    <p:sldId id="301" r:id="rId23"/>
    <p:sldId id="302" r:id="rId24"/>
    <p:sldId id="335" r:id="rId25"/>
    <p:sldId id="305" r:id="rId26"/>
    <p:sldId id="306" r:id="rId27"/>
    <p:sldId id="336" r:id="rId28"/>
    <p:sldId id="307" r:id="rId29"/>
    <p:sldId id="308" r:id="rId30"/>
    <p:sldId id="310" r:id="rId31"/>
    <p:sldId id="309" r:id="rId32"/>
    <p:sldId id="312" r:id="rId33"/>
    <p:sldId id="313" r:id="rId34"/>
    <p:sldId id="349" r:id="rId35"/>
    <p:sldId id="314" r:id="rId36"/>
    <p:sldId id="315" r:id="rId37"/>
    <p:sldId id="316" r:id="rId38"/>
    <p:sldId id="317" r:id="rId39"/>
    <p:sldId id="318" r:id="rId40"/>
    <p:sldId id="348" r:id="rId41"/>
    <p:sldId id="303" r:id="rId42"/>
    <p:sldId id="319" r:id="rId43"/>
    <p:sldId id="337" r:id="rId44"/>
    <p:sldId id="320" r:id="rId45"/>
    <p:sldId id="338" r:id="rId46"/>
    <p:sldId id="321" r:id="rId47"/>
    <p:sldId id="322" r:id="rId48"/>
    <p:sldId id="323" r:id="rId49"/>
    <p:sldId id="324" r:id="rId50"/>
    <p:sldId id="325" r:id="rId51"/>
    <p:sldId id="326" r:id="rId52"/>
    <p:sldId id="327" r:id="rId53"/>
    <p:sldId id="328" r:id="rId54"/>
    <p:sldId id="345" r:id="rId55"/>
    <p:sldId id="329" r:id="rId56"/>
    <p:sldId id="346" r:id="rId57"/>
    <p:sldId id="331" r:id="rId58"/>
    <p:sldId id="330" r:id="rId59"/>
    <p:sldId id="290" r:id="rId6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8000"/>
    <a:srgbClr val="FFFFFF"/>
    <a:srgbClr val="9F9F9F"/>
    <a:srgbClr val="F7F7F7"/>
    <a:srgbClr val="993300"/>
    <a:srgbClr val="CC3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67" autoAdjust="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-2488" y="-12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9B18EAEA-A2AF-40E4-91D8-23199EBB04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Cpt S 317: Spring 2009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DD1D5517-FFE8-40A5-914D-91441C6149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27C708-44BE-4605-80CC-499B0046BE1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55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55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71A94C-6B42-4C05-B05B-6C27D51784F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55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65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65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B9065B-94C9-4B40-B9B6-FB48042CE8D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65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75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75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C4EA69-1D16-4BCE-B562-B6B34019EFE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75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86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3C88CB-994F-4AED-BCB8-E1DA6F05946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86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696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696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348535-7AEC-43D1-B681-E6B26C38406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96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06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06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8F873A-CAFB-43F6-85BE-E6DF289F9FA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06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16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16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ACF3BA-A8B0-42C3-BBA0-FE87DE20BDF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16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273609-41F1-4794-89B1-8B34FA0BAB5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27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37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37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FAA2F2-7762-403D-8D51-65FB49F2E22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37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47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47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25FB2E-2ED9-4508-B8E7-EB6580758D7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47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57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57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701A51-E251-4B61-8DC0-12774C9CF2A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57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68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68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BDB8FF-9634-457B-B40D-E3409446488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68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78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78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70E0B3-4291-40BA-9D15-2D4C861CABC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78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88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88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F202AB-A6CF-4992-96B1-47357F3D6C2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88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798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798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2CE785-0904-40D0-A8BF-EBE27525848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98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08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09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784E9C-2738-4BFB-BE4B-0DEAD43232D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809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19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19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E2E499-8D91-45CD-9230-A282A5863E5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19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29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29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B1067B-46A3-428E-ADCD-DF4BBF3596B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29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39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39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4C709B-946D-4B1B-9F7F-D6E37F1D3AD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39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49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49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DB2CEC-42A1-478B-B8E0-2B2FC642C9F1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49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60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60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234D16-6F3A-4153-9926-7E8163DF65B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60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70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70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53F3C0-9AAF-4040-8836-655CC0EC15A4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870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80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80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73D3A6-EF3F-4F8B-AFDE-9584DF4B1E65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880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890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890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7769C6-48B8-4E4D-95F5-6BAF5D8AC39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890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901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901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C65A62-554D-40D4-BFC8-72D8284BB7C7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901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911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911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95FC91-6C0D-446A-908B-9DB6A02CB9A7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911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921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921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C1CCF1-4B94-481C-98C1-F91E4C14A35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921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931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931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836027-C39B-4F23-AD3C-BB2016FEE79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931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942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942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AA9A29-3954-418C-BE39-AD5EC73B0A80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942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962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962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87F300-6367-41B6-85B2-FB5C30103610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962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972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972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4BCFE3-B6E8-4A3F-BA82-B0FC6CFB096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972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983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983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838628-154C-4160-B2A4-175CD2AEE1DC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983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993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993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658114-7BF0-4486-8E6F-674DC8D21B9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993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03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03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B8AF1D-745E-4FDB-BB1F-8961D58B6000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003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13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13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8BA5FF-0158-4618-A8F1-D263CC2DDD6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013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24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24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F31466-30D3-47CD-AF13-3D066378612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024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34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34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AD9EE0-A725-48F0-AA20-207F5994AFF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034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44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44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B05945-BF49-42F1-B215-46D3534E6AC5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044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54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54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7B3B6C-2950-4AE9-BAA7-F1369E3B29E0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1054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64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65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5CA439-D0F5-43F0-9351-D21A7EC17D75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1065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75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75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26DDCE-0220-4DE0-B773-7F0933BB236E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075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85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85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262B31-EF0D-4EB9-8BA9-4A5116174691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085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095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095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F25C55-60EC-4C2E-8D0C-CF901DA6A165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1095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05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05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2560E1-AB1E-4FFE-A5FF-2045BD76F7A2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1105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16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16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B36E31-E015-43D8-A903-7DCF0945B2C0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1116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26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26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22779C-C6FE-4605-90DA-6630B27B2945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1126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36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36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7EA6A8-EB14-4677-BFFD-0D6DEC91AA92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1136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46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46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8B6FA1-A7E8-4613-97D3-0B36E1749B0F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1146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57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57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5A82D5-C4AA-4F97-BF81-193FCF556F96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1157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67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67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A1FEFC-BD38-4FFC-A5E1-98441FE03B44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1167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77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77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19D90D-1C0C-477D-AF47-CE8886E923B8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1177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87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87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A6A78B-111D-441C-A0C9-F506CC38A8E4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1187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198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198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20728E-75D2-47D3-82B8-65541C90DFED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1198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Cpt S 317: Spring 2009</a:t>
            </a:r>
          </a:p>
        </p:txBody>
      </p:sp>
      <p:sp>
        <p:nvSpPr>
          <p:cNvPr id="1208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School of EECS, WSU</a:t>
            </a:r>
          </a:p>
        </p:txBody>
      </p:sp>
      <p:sp>
        <p:nvSpPr>
          <p:cNvPr id="1208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12FFB2-3CCC-4CC1-B0DD-8597F3B037AB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1208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90513" y="2546350"/>
            <a:ext cx="711200" cy="474663"/>
            <a:chOff x="720" y="336"/>
            <a:chExt cx="624" cy="432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720" y="336"/>
              <a:ext cx="384" cy="432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056" y="336"/>
              <a:ext cx="288" cy="432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414338" y="2968625"/>
            <a:ext cx="738187" cy="474663"/>
            <a:chOff x="912" y="2640"/>
            <a:chExt cx="672" cy="432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912" y="2640"/>
              <a:ext cx="384" cy="43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249" y="2640"/>
              <a:ext cx="335" cy="432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28956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35000" y="24384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gray">
          <a:xfrm flipV="1">
            <a:off x="315913" y="3265488"/>
            <a:ext cx="8683625" cy="4603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43018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019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8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8FD924A-C65D-4375-A489-2BF19C9C10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70674C-54CF-4EC1-BCF0-43EEACE578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82157-1D29-4432-92BC-B80EBD930C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4F864-F347-4F88-891D-13F813B0A2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95F76-720D-4507-A5A9-74B677CE2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E2B87A-321D-48F3-AA40-4D313696BC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9CFAB4-CBB9-424F-9DC6-7D0B95F94F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3511D3-0242-4C26-A1F6-0275B1B7D3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591442-31FB-4958-B404-81959A5544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60B276-B3D1-4B1E-8313-986B4063D8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B43366-B1F6-4857-8982-F81A921988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gray">
          <a:xfrm flipV="1">
            <a:off x="460375" y="1828800"/>
            <a:ext cx="8683625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9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F979F6C-8344-4D5F-8273-F60B724272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8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8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8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8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675436-D2A9-4F57-8B69-1C0252100FD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190500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Properties of Regular Languages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276600"/>
            <a:ext cx="6400800" cy="1752600"/>
          </a:xfrm>
        </p:spPr>
        <p:txBody>
          <a:bodyPr/>
          <a:lstStyle/>
          <a:p>
            <a:pPr eaLnBrk="1" hangingPunct="1"/>
            <a:r>
              <a:rPr lang="en-US"/>
              <a:t>Reading: Chapter 4</a:t>
            </a: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49A3EB3C-C69A-D247-EBA6-D9DBF29E8360}"/>
              </a:ext>
            </a:extLst>
          </p:cNvPr>
          <p:cNvSpPr txBox="1"/>
          <p:nvPr/>
        </p:nvSpPr>
        <p:spPr>
          <a:xfrm>
            <a:off x="1310640" y="4617517"/>
            <a:ext cx="64008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28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28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28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28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28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28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28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28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28" charset="-128"/>
                <a:cs typeface="+mn-cs"/>
              </a:defRPr>
            </a:lvl9pPr>
          </a:lstStyle>
          <a:p>
            <a:pPr marL="49530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282823"/>
                </a:solidFill>
                <a:latin typeface="Arial"/>
                <a:cs typeface="Arial"/>
              </a:rPr>
              <a:t>Dr.</a:t>
            </a:r>
            <a:r>
              <a:rPr sz="3600" b="1" spc="-2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282823"/>
                </a:solidFill>
                <a:latin typeface="Arial"/>
                <a:cs typeface="Arial"/>
              </a:rPr>
              <a:t>Shinnu</a:t>
            </a:r>
            <a:r>
              <a:rPr sz="3600" b="1" spc="-2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282823"/>
                </a:solidFill>
                <a:latin typeface="Arial"/>
                <a:cs typeface="Arial"/>
              </a:rPr>
              <a:t>Jangra</a:t>
            </a:r>
            <a:endParaRPr lang="en-US" sz="3600" b="1" spc="-10" dirty="0">
              <a:solidFill>
                <a:srgbClr val="282823"/>
              </a:solidFill>
              <a:latin typeface="Arial"/>
              <a:cs typeface="Arial"/>
            </a:endParaRPr>
          </a:p>
          <a:p>
            <a:pPr marL="495300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>
                <a:solidFill>
                  <a:srgbClr val="282823"/>
                </a:solidFill>
                <a:latin typeface="Arial"/>
                <a:cs typeface="Arial"/>
              </a:rPr>
              <a:t>Assistant Professor</a:t>
            </a:r>
            <a:endParaRPr sz="3600" dirty="0">
              <a:latin typeface="Arial"/>
              <a:cs typeface="Arial"/>
            </a:endParaRPr>
          </a:p>
          <a:p>
            <a:pPr marL="12065" marR="5080" algn="ctr">
              <a:lnSpc>
                <a:spcPct val="123000"/>
              </a:lnSpc>
              <a:spcBef>
                <a:spcPts val="640"/>
              </a:spcBef>
            </a:pP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Department</a:t>
            </a:r>
            <a:r>
              <a:rPr sz="1800" spc="-3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of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Artificial</a:t>
            </a:r>
            <a:r>
              <a:rPr sz="1800" spc="-3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Intelligence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94945"/>
                </a:solidFill>
                <a:latin typeface="Arial MT"/>
                <a:cs typeface="Arial MT"/>
              </a:rPr>
              <a:t>Machine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Learning,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Manipal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University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Jaipur,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94945"/>
                </a:solidFill>
                <a:latin typeface="Arial MT"/>
                <a:cs typeface="Arial MT"/>
              </a:rPr>
              <a:t>Rajasthan, India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FC36671-7C86-48FA-9068-FAF17DC71A6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Topics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 eaLnBrk="1" hangingPunct="1">
              <a:buFont typeface="Wingdings" pitchFamily="28" charset="2"/>
              <a:buAutoNum type="arabicParenR"/>
              <a:defRPr/>
            </a:pPr>
            <a:r>
              <a:rPr lang="en-US" dirty="0"/>
              <a:t>How to prove whether a given language is regular or not?</a:t>
            </a:r>
          </a:p>
          <a:p>
            <a:pPr marL="514350" indent="-514350" eaLnBrk="1" hangingPunct="1">
              <a:buFont typeface="Wingdings" pitchFamily="28" charset="2"/>
              <a:buAutoNum type="arabicParenR"/>
              <a:defRPr/>
            </a:pPr>
            <a:endParaRPr lang="en-US" dirty="0"/>
          </a:p>
          <a:p>
            <a:pPr marL="514350" indent="-514350" eaLnBrk="1" hangingPunct="1">
              <a:buFont typeface="Wingdings" pitchFamily="28" charset="2"/>
              <a:buAutoNum type="arabicParenR"/>
              <a:defRPr/>
            </a:pPr>
            <a:r>
              <a:rPr lang="en-US" dirty="0"/>
              <a:t>Closure properties of regular languages</a:t>
            </a:r>
          </a:p>
          <a:p>
            <a:pPr marL="514350" indent="-514350" eaLnBrk="1" hangingPunct="1">
              <a:buFont typeface="Wingdings" pitchFamily="28" charset="2"/>
              <a:buAutoNum type="arabicParenR"/>
              <a:defRPr/>
            </a:pPr>
            <a:endParaRPr lang="en-US" dirty="0"/>
          </a:p>
          <a:p>
            <a:pPr marL="514350" indent="-514350" eaLnBrk="1" hangingPunct="1">
              <a:buFont typeface="Wingdings" pitchFamily="28" charset="2"/>
              <a:buAutoNum type="arabicParenR"/>
              <a:defRPr/>
            </a:pPr>
            <a:r>
              <a:rPr lang="en-US" dirty="0"/>
              <a:t>Minimization of DFAs</a:t>
            </a:r>
          </a:p>
          <a:p>
            <a:pPr eaLnBrk="1" hangingPunct="1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1B64BC1-EE9E-401C-ADED-5EB4C5EEAC9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Some languages are </a:t>
            </a:r>
            <a:r>
              <a:rPr lang="en-US" i="1"/>
              <a:t>not </a:t>
            </a:r>
            <a:r>
              <a:rPr lang="en-US"/>
              <a:t>regular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/>
              <a:t>When is a language is regular? </a:t>
            </a:r>
            <a:br>
              <a:rPr lang="en-US" sz="2800"/>
            </a:br>
            <a:r>
              <a:rPr lang="en-US" sz="2800"/>
              <a:t>if we are able to construct one of the following: </a:t>
            </a:r>
            <a:r>
              <a:rPr lang="en-US" sz="2400"/>
              <a:t>DFA </a:t>
            </a:r>
            <a:r>
              <a:rPr lang="en-US" sz="2400" i="1"/>
              <a:t>or</a:t>
            </a:r>
            <a:r>
              <a:rPr lang="en-US" sz="2400"/>
              <a:t> NFA </a:t>
            </a:r>
            <a:r>
              <a:rPr lang="en-US" sz="2400" i="1"/>
              <a:t>or</a:t>
            </a:r>
            <a:r>
              <a:rPr lang="en-US" sz="2400"/>
              <a:t> </a:t>
            </a:r>
            <a:r>
              <a:rPr lang="en-US">
                <a:ea typeface="ＭＳ Ｐゴシック" pitchFamily="28" charset="-128"/>
                <a:sym typeface="Symbol" pitchFamily="28" charset="2"/>
              </a:rPr>
              <a:t></a:t>
            </a:r>
            <a:r>
              <a:rPr lang="en-US" sz="2400">
                <a:ea typeface="ＭＳ Ｐゴシック" pitchFamily="28" charset="-128"/>
              </a:rPr>
              <a:t> -NFA </a:t>
            </a:r>
            <a:r>
              <a:rPr lang="en-US" sz="2400" i="1">
                <a:ea typeface="ＭＳ Ｐゴシック" pitchFamily="28" charset="-128"/>
              </a:rPr>
              <a:t>or</a:t>
            </a:r>
            <a:r>
              <a:rPr lang="en-US" sz="2400">
                <a:ea typeface="ＭＳ Ｐゴシック" pitchFamily="28" charset="-128"/>
              </a:rPr>
              <a:t> regular expression</a:t>
            </a:r>
          </a:p>
          <a:p>
            <a:pPr lvl="1" eaLnBrk="1" hangingPunct="1">
              <a:lnSpc>
                <a:spcPct val="90000"/>
              </a:lnSpc>
            </a:pPr>
            <a:endParaRPr lang="en-US" sz="2400">
              <a:ea typeface="ＭＳ Ｐゴシック" pitchFamily="28" charset="-128"/>
            </a:endParaRPr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>
                <a:ea typeface="ＭＳ Ｐゴシック" pitchFamily="28" charset="-128"/>
              </a:rPr>
              <a:t>When is it not?</a:t>
            </a:r>
            <a:br>
              <a:rPr lang="en-US">
                <a:ea typeface="ＭＳ Ｐゴシック" pitchFamily="28" charset="-128"/>
              </a:rPr>
            </a:br>
            <a:r>
              <a:rPr lang="en-US" sz="2800">
                <a:ea typeface="ＭＳ Ｐゴシック" pitchFamily="28" charset="-128"/>
              </a:rPr>
              <a:t>If we can show that no FA can be built for a language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11CFC09-0289-4D13-AD7C-8D4C11450CB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to prove languages are </a:t>
            </a:r>
            <a:r>
              <a:rPr lang="en-US" b="1" i="1"/>
              <a:t>not</a:t>
            </a:r>
            <a:r>
              <a:rPr lang="en-US"/>
              <a:t> regular?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 sz="2800"/>
              <a:t>What if we cannot come up with any FA? </a:t>
            </a:r>
          </a:p>
          <a:p>
            <a:pPr eaLnBrk="1" hangingPunct="1">
              <a:buFont typeface="Wingdings" pitchFamily="28" charset="2"/>
              <a:buNone/>
            </a:pPr>
            <a:r>
              <a:rPr lang="en-US" sz="2800"/>
              <a:t>A)	Can it be language that is not regular? </a:t>
            </a:r>
          </a:p>
          <a:p>
            <a:pPr eaLnBrk="1" hangingPunct="1">
              <a:buFont typeface="Wingdings" pitchFamily="28" charset="2"/>
              <a:buNone/>
            </a:pPr>
            <a:r>
              <a:rPr lang="en-US" sz="2800"/>
              <a:t>B)	Or is it that we tried wrong approaches?</a:t>
            </a:r>
            <a:endParaRPr lang="en-US" sz="2800">
              <a:solidFill>
                <a:schemeClr val="folHlink"/>
              </a:solidFill>
            </a:endParaRPr>
          </a:p>
          <a:p>
            <a:pPr eaLnBrk="1" hangingPunct="1">
              <a:buFont typeface="Wingdings" pitchFamily="28" charset="2"/>
              <a:buNone/>
            </a:pPr>
            <a:br>
              <a:rPr lang="en-US" sz="2800"/>
            </a:br>
            <a:r>
              <a:rPr lang="en-US" sz="2800"/>
              <a:t>How do we </a:t>
            </a:r>
            <a:r>
              <a:rPr lang="en-US" sz="2800" i="1"/>
              <a:t>decisively </a:t>
            </a:r>
            <a:r>
              <a:rPr lang="en-US" sz="2800"/>
              <a:t>prove that a language is not regular?</a:t>
            </a:r>
          </a:p>
        </p:txBody>
      </p:sp>
      <p:sp>
        <p:nvSpPr>
          <p:cNvPr id="6149" name="Text Box 6"/>
          <p:cNvSpPr txBox="1">
            <a:spLocks noChangeArrowheads="1"/>
          </p:cNvSpPr>
          <p:nvPr/>
        </p:nvSpPr>
        <p:spPr bwMode="auto">
          <a:xfrm>
            <a:off x="1295400" y="5765800"/>
            <a:ext cx="6999288" cy="711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“The hardest thing of all is to find a black cat in a dark room, </a:t>
            </a:r>
            <a:br>
              <a:rPr lang="en-US" i="1"/>
            </a:br>
            <a:r>
              <a:rPr lang="en-US" i="1"/>
              <a:t>especially if there is no cat!”  	-Confucius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658A7DD-1293-4E4A-B301-54EC1C733C8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of a non-regular language 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 sz="2800">
                <a:solidFill>
                  <a:srgbClr val="FF0000"/>
                </a:solidFill>
              </a:rPr>
              <a:t>Let L = {w | w is of the form 0</a:t>
            </a:r>
            <a:r>
              <a:rPr lang="en-US" sz="2800" baseline="30000">
                <a:solidFill>
                  <a:srgbClr val="FF0000"/>
                </a:solidFill>
              </a:rPr>
              <a:t>n</a:t>
            </a:r>
            <a:r>
              <a:rPr lang="en-US" sz="2800">
                <a:solidFill>
                  <a:srgbClr val="FF0000"/>
                </a:solidFill>
              </a:rPr>
              <a:t>1</a:t>
            </a:r>
            <a:r>
              <a:rPr lang="en-US" sz="2800" baseline="30000">
                <a:solidFill>
                  <a:srgbClr val="FF0000"/>
                </a:solidFill>
              </a:rPr>
              <a:t>n</a:t>
            </a:r>
            <a:r>
              <a:rPr lang="en-US" sz="2800">
                <a:solidFill>
                  <a:srgbClr val="FF0000"/>
                </a:solidFill>
              </a:rPr>
              <a:t> , for all n≥0} </a:t>
            </a:r>
          </a:p>
          <a:p>
            <a:pPr eaLnBrk="1" hangingPunct="1"/>
            <a:r>
              <a:rPr lang="en-US" sz="2800" i="1" u="sng"/>
              <a:t>Hypothesis:</a:t>
            </a:r>
            <a:r>
              <a:rPr lang="en-US" sz="2800" i="1"/>
              <a:t> L is not regular</a:t>
            </a:r>
          </a:p>
          <a:p>
            <a:pPr eaLnBrk="1" hangingPunct="1"/>
            <a:r>
              <a:rPr lang="en-US" sz="2800" u="sng"/>
              <a:t>Intuitive rationale:</a:t>
            </a:r>
            <a:r>
              <a:rPr lang="en-US" sz="2800"/>
              <a:t>	How do you keep track of a running count in an FA?</a:t>
            </a:r>
          </a:p>
          <a:p>
            <a:pPr eaLnBrk="1" hangingPunct="1"/>
            <a:r>
              <a:rPr lang="en-US" sz="2800" u="sng"/>
              <a:t>A more formal rationale: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000"/>
              <a:t>By contradition, if L is regular then there should exist a DFA for L. 		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000"/>
              <a:t>Let k = number of states in that DFA.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000"/>
              <a:t>Consider the special word w= 0</a:t>
            </a:r>
            <a:r>
              <a:rPr lang="en-US" sz="2000" baseline="30000"/>
              <a:t>k</a:t>
            </a:r>
            <a:r>
              <a:rPr lang="en-US" sz="2000"/>
              <a:t>1</a:t>
            </a:r>
            <a:r>
              <a:rPr lang="en-US" sz="2000" baseline="30000"/>
              <a:t>k</a:t>
            </a:r>
            <a:r>
              <a:rPr lang="en-US" sz="2000"/>
              <a:t> 	=&gt; w </a:t>
            </a:r>
            <a:r>
              <a:rPr lang="en-US" sz="2000">
                <a:sym typeface="Symbol" pitchFamily="28" charset="2"/>
              </a:rPr>
              <a:t> </a:t>
            </a:r>
            <a:r>
              <a:rPr lang="en-US" sz="2000"/>
              <a:t>L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000"/>
              <a:t>DFA is in some state p</a:t>
            </a:r>
            <a:r>
              <a:rPr lang="en-US" sz="2000" baseline="-25000"/>
              <a:t>i</a:t>
            </a:r>
            <a:r>
              <a:rPr lang="en-US" sz="2000"/>
              <a:t>, after consuming the first i symbols in 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423A23E-9A97-480A-942E-8D40D8E50C7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Rationale… 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itchFamily="28" charset="2"/>
              <a:buChar char="Ø"/>
            </a:pPr>
            <a:r>
              <a:rPr lang="en-US" sz="2400"/>
              <a:t>Let {p</a:t>
            </a:r>
            <a:r>
              <a:rPr lang="en-US" sz="2400" baseline="-25000"/>
              <a:t>0</a:t>
            </a:r>
            <a:r>
              <a:rPr lang="en-US" sz="2400"/>
              <a:t>,p</a:t>
            </a:r>
            <a:r>
              <a:rPr lang="en-US" sz="2400" baseline="-25000"/>
              <a:t>1</a:t>
            </a:r>
            <a:r>
              <a:rPr lang="en-US" sz="2400"/>
              <a:t>,… p</a:t>
            </a:r>
            <a:r>
              <a:rPr lang="en-US" sz="2400" baseline="-25000"/>
              <a:t>k</a:t>
            </a:r>
            <a:r>
              <a:rPr lang="en-US" sz="2400"/>
              <a:t>} be the sequence of states that the DFA should have visited after consuming the first k symbols in w which is 0</a:t>
            </a:r>
            <a:r>
              <a:rPr lang="en-US" sz="2400" baseline="30000"/>
              <a:t>k</a:t>
            </a:r>
            <a:endParaRPr lang="en-US" sz="2400"/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400"/>
              <a:t>But there are only k states in the DFA!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400"/>
              <a:t>==&gt; at least one state should repeat somewhere along the path    (by 	           ++	       Principle) 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400"/>
              <a:t>==&gt; Let  the repeating state be p</a:t>
            </a:r>
            <a:r>
              <a:rPr lang="en-US" sz="2400" baseline="-25000"/>
              <a:t>i</a:t>
            </a:r>
            <a:r>
              <a:rPr lang="en-US" sz="2400"/>
              <a:t>=p</a:t>
            </a:r>
            <a:r>
              <a:rPr lang="en-US" sz="2400" baseline="-25000"/>
              <a:t>J</a:t>
            </a:r>
            <a:r>
              <a:rPr lang="en-US" sz="2400"/>
              <a:t> for </a:t>
            </a:r>
            <a:r>
              <a:rPr lang="en-US" sz="2400">
                <a:solidFill>
                  <a:schemeClr val="hlink"/>
                </a:solidFill>
              </a:rPr>
              <a:t>i &lt; j</a:t>
            </a:r>
            <a:endParaRPr lang="en-US" sz="2400"/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400"/>
              <a:t>==&gt; We can fool the DFA by inputing 0</a:t>
            </a:r>
            <a:r>
              <a:rPr lang="en-US" sz="2400" baseline="30000"/>
              <a:t>(k-(j-i))</a:t>
            </a:r>
            <a:r>
              <a:rPr lang="en-US" sz="2400"/>
              <a:t>1</a:t>
            </a:r>
            <a:r>
              <a:rPr lang="en-US" sz="2400" baseline="30000"/>
              <a:t>k</a:t>
            </a:r>
            <a:r>
              <a:rPr lang="en-US" sz="2400"/>
              <a:t> and still get it to accept  (note: k-(j-i) is at most k-1).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400"/>
              <a:t>==&gt; DFA accepts strings w/ unequal number of 0s and 1s, implying that the DFA is wrong!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8001000" y="6248400"/>
            <a:ext cx="304800" cy="381000"/>
            <a:chOff x="3072" y="3840"/>
            <a:chExt cx="192" cy="240"/>
          </a:xfrm>
        </p:grpSpPr>
        <p:grpSp>
          <p:nvGrpSpPr>
            <p:cNvPr id="8207" name="Group 8"/>
            <p:cNvGrpSpPr>
              <a:grpSpLocks/>
            </p:cNvGrpSpPr>
            <p:nvPr/>
          </p:nvGrpSpPr>
          <p:grpSpPr bwMode="auto">
            <a:xfrm>
              <a:off x="3120" y="3840"/>
              <a:ext cx="96" cy="240"/>
              <a:chOff x="3120" y="3840"/>
              <a:chExt cx="96" cy="240"/>
            </a:xfrm>
          </p:grpSpPr>
          <p:sp>
            <p:nvSpPr>
              <p:cNvPr id="8209" name="Line 4"/>
              <p:cNvSpPr>
                <a:spLocks noChangeShapeType="1"/>
              </p:cNvSpPr>
              <p:nvPr/>
            </p:nvSpPr>
            <p:spPr bwMode="auto">
              <a:xfrm flipH="1">
                <a:off x="3120" y="3840"/>
                <a:ext cx="48" cy="96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0" name="Line 5"/>
              <p:cNvSpPr>
                <a:spLocks noChangeShapeType="1"/>
              </p:cNvSpPr>
              <p:nvPr/>
            </p:nvSpPr>
            <p:spPr bwMode="auto">
              <a:xfrm>
                <a:off x="3120" y="3936"/>
                <a:ext cx="96" cy="48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1" name="Line 7"/>
              <p:cNvSpPr>
                <a:spLocks noChangeShapeType="1"/>
              </p:cNvSpPr>
              <p:nvPr/>
            </p:nvSpPr>
            <p:spPr bwMode="auto">
              <a:xfrm flipH="1">
                <a:off x="3120" y="3984"/>
                <a:ext cx="96" cy="96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3072" y="3936"/>
              <a:ext cx="192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4800600" y="4035425"/>
            <a:ext cx="2438400" cy="460375"/>
            <a:chOff x="5181600" y="3276600"/>
            <a:chExt cx="2438400" cy="460375"/>
          </a:xfrm>
        </p:grpSpPr>
        <p:pic>
          <p:nvPicPr>
            <p:cNvPr id="8199" name="Picture 1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989355" y="3276600"/>
              <a:ext cx="411445" cy="460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200" name="Group 17"/>
            <p:cNvGrpSpPr>
              <a:grpSpLocks/>
            </p:cNvGrpSpPr>
            <p:nvPr/>
          </p:nvGrpSpPr>
          <p:grpSpPr bwMode="auto">
            <a:xfrm>
              <a:off x="5181600" y="3276600"/>
              <a:ext cx="2438400" cy="460375"/>
              <a:chOff x="5257800" y="3276600"/>
              <a:chExt cx="2438400" cy="460375"/>
            </a:xfrm>
          </p:grpSpPr>
          <p:grpSp>
            <p:nvGrpSpPr>
              <p:cNvPr id="8201" name="Group 14"/>
              <p:cNvGrpSpPr>
                <a:grpSpLocks/>
              </p:cNvGrpSpPr>
              <p:nvPr/>
            </p:nvGrpSpPr>
            <p:grpSpPr bwMode="auto">
              <a:xfrm>
                <a:off x="5257800" y="3276600"/>
                <a:ext cx="1981200" cy="460375"/>
                <a:chOff x="5257800" y="3276600"/>
                <a:chExt cx="1981200" cy="460375"/>
              </a:xfrm>
            </p:grpSpPr>
            <p:grpSp>
              <p:nvGrpSpPr>
                <p:cNvPr id="8203" name="Group 13"/>
                <p:cNvGrpSpPr>
                  <a:grpSpLocks/>
                </p:cNvGrpSpPr>
                <p:nvPr/>
              </p:nvGrpSpPr>
              <p:grpSpPr bwMode="auto">
                <a:xfrm>
                  <a:off x="5257800" y="3276600"/>
                  <a:ext cx="1981200" cy="460375"/>
                  <a:chOff x="4343400" y="2895600"/>
                  <a:chExt cx="1981200" cy="460242"/>
                </a:xfrm>
              </p:grpSpPr>
              <p:pic>
                <p:nvPicPr>
                  <p:cNvPr id="8205" name="Picture 11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/>
                  <a:srcRect/>
                  <a:stretch>
                    <a:fillRect/>
                  </a:stretch>
                </p:blipFill>
                <p:spPr bwMode="auto">
                  <a:xfrm>
                    <a:off x="4343400" y="2895600"/>
                    <a:ext cx="411445" cy="46024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sp>
                <p:nvSpPr>
                  <p:cNvPr id="13" name="Oval 12"/>
                  <p:cNvSpPr/>
                  <p:nvPr/>
                </p:nvSpPr>
                <p:spPr bwMode="auto">
                  <a:xfrm>
                    <a:off x="5867400" y="2895600"/>
                    <a:ext cx="457200" cy="380890"/>
                  </a:xfrm>
                  <a:prstGeom prst="ellipse">
                    <a:avLst/>
                  </a:prstGeom>
                  <a:solidFill>
                    <a:schemeClr val="accent3">
                      <a:lumMod val="50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</p:grpSp>
            <p:pic>
              <p:nvPicPr>
                <p:cNvPr id="8204" name="Picture 11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638800" y="3276600"/>
                  <a:ext cx="411445" cy="4603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17" name="Oval 16"/>
              <p:cNvSpPr/>
              <p:nvPr/>
            </p:nvSpPr>
            <p:spPr bwMode="auto">
              <a:xfrm>
                <a:off x="7239000" y="3276600"/>
                <a:ext cx="457200" cy="381000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20" name="TextBox 19"/>
          <p:cNvSpPr txBox="1"/>
          <p:nvPr/>
        </p:nvSpPr>
        <p:spPr>
          <a:xfrm>
            <a:off x="5791200" y="152400"/>
            <a:ext cx="3424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Uses Pigeon Hole Principle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Pumping Lemma for Regular Languages</a:t>
            </a:r>
          </a:p>
        </p:txBody>
      </p:sp>
      <p:sp>
        <p:nvSpPr>
          <p:cNvPr id="9219" name="Subtitle 5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1752600"/>
          </a:xfrm>
        </p:spPr>
        <p:txBody>
          <a:bodyPr/>
          <a:lstStyle/>
          <a:p>
            <a:pPr algn="l"/>
            <a:r>
              <a:rPr lang="en-US" sz="3000" b="1" dirty="0"/>
              <a:t>What it is? </a:t>
            </a:r>
            <a:br>
              <a:rPr lang="en-US" sz="3000" dirty="0"/>
            </a:br>
            <a:r>
              <a:rPr lang="en-US" sz="3000" dirty="0"/>
              <a:t>The Pumping Lemma is a property of all regular languages.</a:t>
            </a:r>
          </a:p>
          <a:p>
            <a:pPr algn="l"/>
            <a:r>
              <a:rPr lang="en-US" sz="3000" b="1" dirty="0"/>
              <a:t>How is it used? </a:t>
            </a:r>
            <a:br>
              <a:rPr lang="en-US" sz="3000" b="1" dirty="0"/>
            </a:br>
            <a:r>
              <a:rPr lang="en-US" sz="3000" dirty="0"/>
              <a:t>A technique that is used to show that a given language is not regular</a:t>
            </a: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8E1588-22C0-47E7-BD62-C3F7F6D95F6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792B1C1-2A01-4413-A063-8D9019A2B8A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Pumping Lemma for Regular Languages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/>
              <a:t>Let L be a regular language</a:t>
            </a:r>
          </a:p>
          <a:p>
            <a:pPr marL="609600" indent="-609600" eaLnBrk="1" hangingPunct="1">
              <a:lnSpc>
                <a:spcPct val="90000"/>
              </a:lnSpc>
            </a:pPr>
            <a:endParaRPr lang="en-US" sz="2800"/>
          </a:p>
          <a:p>
            <a:pPr marL="609600" indent="-6096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/>
              <a:t>Then </a:t>
            </a:r>
            <a:r>
              <a:rPr lang="en-US" sz="2800" i="1" u="sng">
                <a:solidFill>
                  <a:srgbClr val="FF0000"/>
                </a:solidFill>
              </a:rPr>
              <a:t>there exists</a:t>
            </a:r>
            <a:r>
              <a:rPr lang="en-US" sz="2800">
                <a:solidFill>
                  <a:srgbClr val="FF0000"/>
                </a:solidFill>
              </a:rPr>
              <a:t> </a:t>
            </a:r>
            <a:r>
              <a:rPr lang="en-US" sz="2800"/>
              <a:t>some constant </a:t>
            </a:r>
            <a:r>
              <a:rPr lang="en-US" sz="2800" b="1" i="1"/>
              <a:t>N</a:t>
            </a:r>
            <a:r>
              <a:rPr lang="en-US" sz="2800"/>
              <a:t> such that</a:t>
            </a:r>
            <a:r>
              <a:rPr lang="en-US" sz="2800">
                <a:solidFill>
                  <a:schemeClr val="tx2"/>
                </a:solidFill>
              </a:rPr>
              <a:t> </a:t>
            </a:r>
            <a:r>
              <a:rPr lang="en-US" sz="2800" i="1" u="sng">
                <a:solidFill>
                  <a:schemeClr val="tx2"/>
                </a:solidFill>
              </a:rPr>
              <a:t>for every</a:t>
            </a:r>
            <a:r>
              <a:rPr lang="en-US" sz="2800"/>
              <a:t> string </a:t>
            </a:r>
            <a:r>
              <a:rPr lang="en-US" sz="2800" i="1"/>
              <a:t>w </a:t>
            </a:r>
            <a:r>
              <a:rPr lang="en-US" sz="2800" i="1">
                <a:sym typeface="Symbol" pitchFamily="28" charset="2"/>
              </a:rPr>
              <a:t> </a:t>
            </a:r>
            <a:r>
              <a:rPr lang="en-US" sz="2800" i="1"/>
              <a:t>L</a:t>
            </a:r>
            <a:r>
              <a:rPr lang="en-US" sz="2800"/>
              <a:t> s.t. </a:t>
            </a:r>
            <a:r>
              <a:rPr lang="en-US" sz="2800" i="1"/>
              <a:t>|w|≥N</a:t>
            </a:r>
            <a:r>
              <a:rPr lang="en-US" sz="2800"/>
              <a:t>, </a:t>
            </a:r>
            <a:r>
              <a:rPr lang="en-US" sz="2800" i="1" u="sng">
                <a:solidFill>
                  <a:srgbClr val="FF0000"/>
                </a:solidFill>
              </a:rPr>
              <a:t>there exists</a:t>
            </a:r>
            <a:r>
              <a:rPr lang="en-US" sz="2800">
                <a:solidFill>
                  <a:srgbClr val="FF0000"/>
                </a:solidFill>
              </a:rPr>
              <a:t> </a:t>
            </a:r>
            <a:r>
              <a:rPr lang="en-US" sz="2800"/>
              <a:t>a way to break </a:t>
            </a:r>
            <a:r>
              <a:rPr lang="en-US" sz="2800" i="1"/>
              <a:t>w</a:t>
            </a:r>
            <a:r>
              <a:rPr lang="en-US" sz="2800"/>
              <a:t> into three parts, </a:t>
            </a:r>
            <a:r>
              <a:rPr lang="en-US" sz="2800" i="1"/>
              <a:t>w=</a:t>
            </a:r>
            <a:r>
              <a:rPr lang="en-US" sz="2800" i="1">
                <a:solidFill>
                  <a:schemeClr val="hlink"/>
                </a:solidFill>
              </a:rPr>
              <a:t>x</a:t>
            </a:r>
            <a:r>
              <a:rPr lang="en-US" sz="2800" i="1">
                <a:solidFill>
                  <a:srgbClr val="006600"/>
                </a:solidFill>
              </a:rPr>
              <a:t>y</a:t>
            </a:r>
            <a:r>
              <a:rPr lang="en-US" sz="2800" i="1">
                <a:solidFill>
                  <a:srgbClr val="993300"/>
                </a:solidFill>
              </a:rPr>
              <a:t>z</a:t>
            </a:r>
            <a:r>
              <a:rPr lang="en-US" sz="2800"/>
              <a:t>, such that: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400" i="1">
                <a:solidFill>
                  <a:srgbClr val="006600"/>
                </a:solidFill>
              </a:rPr>
              <a:t>y</a:t>
            </a:r>
            <a:r>
              <a:rPr lang="en-US" sz="2400" i="1"/>
              <a:t>≠ </a:t>
            </a:r>
            <a:r>
              <a:rPr lang="en-US" sz="2400" i="1">
                <a:sym typeface="Symbol" pitchFamily="28" charset="2"/>
              </a:rPr>
              <a:t></a:t>
            </a:r>
            <a:endParaRPr lang="en-US" sz="2400" i="1">
              <a:ea typeface="ＭＳ Ｐゴシック" pitchFamily="28" charset="-128"/>
            </a:endParaRP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400" i="1">
                <a:ea typeface="ＭＳ Ｐゴシック" pitchFamily="28" charset="-128"/>
              </a:rPr>
              <a:t>|</a:t>
            </a:r>
            <a:r>
              <a:rPr lang="en-US" sz="2400" i="1">
                <a:solidFill>
                  <a:schemeClr val="hlink"/>
                </a:solidFill>
                <a:ea typeface="ＭＳ Ｐゴシック" pitchFamily="28" charset="-128"/>
              </a:rPr>
              <a:t>x</a:t>
            </a:r>
            <a:r>
              <a:rPr lang="en-US" sz="2400" i="1">
                <a:solidFill>
                  <a:srgbClr val="006600"/>
                </a:solidFill>
                <a:ea typeface="ＭＳ Ｐゴシック" pitchFamily="28" charset="-128"/>
              </a:rPr>
              <a:t>y</a:t>
            </a:r>
            <a:r>
              <a:rPr lang="en-US" sz="2400" i="1">
                <a:ea typeface="ＭＳ Ｐゴシック" pitchFamily="28" charset="-128"/>
              </a:rPr>
              <a:t>|≤N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400">
                <a:ea typeface="ＭＳ Ｐゴシック" pitchFamily="28" charset="-128"/>
              </a:rPr>
              <a:t>For all </a:t>
            </a:r>
            <a:r>
              <a:rPr lang="en-US" sz="2400" i="1">
                <a:ea typeface="ＭＳ Ｐゴシック" pitchFamily="28" charset="-128"/>
              </a:rPr>
              <a:t>k</a:t>
            </a:r>
            <a:r>
              <a:rPr lang="en-US" sz="2400" i="1"/>
              <a:t>≥0</a:t>
            </a:r>
            <a:r>
              <a:rPr lang="en-US" sz="2400"/>
              <a:t>, all strings of the form </a:t>
            </a:r>
            <a:r>
              <a:rPr lang="en-US" sz="2400" i="1">
                <a:solidFill>
                  <a:schemeClr val="hlink"/>
                </a:solidFill>
              </a:rPr>
              <a:t>x</a:t>
            </a:r>
            <a:r>
              <a:rPr lang="en-US" sz="2400" i="1">
                <a:solidFill>
                  <a:srgbClr val="006600"/>
                </a:solidFill>
              </a:rPr>
              <a:t>y</a:t>
            </a:r>
            <a:r>
              <a:rPr lang="en-US" sz="2400" i="1" baseline="30000">
                <a:solidFill>
                  <a:srgbClr val="006600"/>
                </a:solidFill>
              </a:rPr>
              <a:t>k</a:t>
            </a:r>
            <a:r>
              <a:rPr lang="en-US" sz="2400" i="1">
                <a:solidFill>
                  <a:srgbClr val="993300"/>
                </a:solidFill>
              </a:rPr>
              <a:t>z</a:t>
            </a:r>
            <a:r>
              <a:rPr lang="en-US" sz="2400"/>
              <a:t> </a:t>
            </a:r>
            <a:r>
              <a:rPr lang="en-US" sz="2400" i="1">
                <a:sym typeface="Symbol" pitchFamily="28" charset="2"/>
              </a:rPr>
              <a:t></a:t>
            </a:r>
            <a:r>
              <a:rPr lang="en-US" sz="2400"/>
              <a:t> </a:t>
            </a:r>
            <a:r>
              <a:rPr lang="en-US" sz="2400" i="1"/>
              <a:t>L</a:t>
            </a:r>
            <a:endParaRPr lang="en-US" sz="2400"/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1219200" y="2971800"/>
            <a:ext cx="7696200" cy="28194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19200" y="5943600"/>
            <a:ext cx="5955476" cy="40011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This property should hold for </a:t>
            </a:r>
            <a:r>
              <a:rPr lang="en-US" u="sng" dirty="0"/>
              <a:t>all</a:t>
            </a:r>
            <a:r>
              <a:rPr lang="en-US" dirty="0"/>
              <a:t> regular languages.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6457950"/>
            <a:ext cx="6407150" cy="40005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/>
              <a:t>Definition:</a:t>
            </a:r>
            <a:r>
              <a:rPr lang="en-US" dirty="0"/>
              <a:t> </a:t>
            </a:r>
            <a:r>
              <a:rPr lang="en-US" i="1" dirty="0"/>
              <a:t>N </a:t>
            </a:r>
            <a:r>
              <a:rPr lang="en-US" dirty="0"/>
              <a:t>is called the “Pumping Lemma Constant”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EDAF0F5-F1A8-4C8B-80A7-0C07C7281D6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Pumping Lemma: Proof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752600"/>
            <a:ext cx="7772400" cy="4114800"/>
          </a:xfrm>
        </p:spPr>
        <p:txBody>
          <a:bodyPr/>
          <a:lstStyle/>
          <a:p>
            <a:pPr eaLnBrk="1" hangingPunct="1"/>
            <a:r>
              <a:rPr lang="en-US" sz="2800"/>
              <a:t>L is regular =&gt; it should have a DFA. </a:t>
            </a:r>
          </a:p>
          <a:p>
            <a:pPr lvl="1" eaLnBrk="1" hangingPunct="1"/>
            <a:r>
              <a:rPr lang="en-US" sz="2400" u="sng"/>
              <a:t>Set</a:t>
            </a:r>
            <a:r>
              <a:rPr lang="en-US" sz="2400"/>
              <a:t> </a:t>
            </a:r>
            <a:r>
              <a:rPr lang="en-US" i="1"/>
              <a:t>N</a:t>
            </a:r>
            <a:r>
              <a:rPr lang="en-US"/>
              <a:t> := number of states in the DFA</a:t>
            </a:r>
          </a:p>
          <a:p>
            <a:pPr eaLnBrk="1" hangingPunct="1"/>
            <a:r>
              <a:rPr lang="en-US" sz="2800"/>
              <a:t>Any string w</a:t>
            </a:r>
            <a:r>
              <a:rPr lang="en-US" sz="2800">
                <a:sym typeface="Symbol" pitchFamily="28" charset="2"/>
              </a:rPr>
              <a:t>L, s.t. |w|</a:t>
            </a:r>
            <a:r>
              <a:rPr lang="en-US" sz="2800" i="1"/>
              <a:t>≥N, </a:t>
            </a:r>
            <a:r>
              <a:rPr lang="en-US" sz="2800"/>
              <a:t>should have the form: </a:t>
            </a:r>
            <a:r>
              <a:rPr lang="en-US" sz="2800">
                <a:sym typeface="Symbol" pitchFamily="28" charset="2"/>
              </a:rPr>
              <a:t>	w</a:t>
            </a:r>
            <a:r>
              <a:rPr lang="en-US" sz="2800"/>
              <a:t>=a</a:t>
            </a:r>
            <a:r>
              <a:rPr lang="en-US" sz="2800" baseline="-25000"/>
              <a:t>1</a:t>
            </a:r>
            <a:r>
              <a:rPr lang="en-US" sz="2800"/>
              <a:t>a</a:t>
            </a:r>
            <a:r>
              <a:rPr lang="en-US" sz="2800" baseline="-25000"/>
              <a:t>2</a:t>
            </a:r>
            <a:r>
              <a:rPr lang="en-US" sz="2800"/>
              <a:t>…a</a:t>
            </a:r>
            <a:r>
              <a:rPr lang="en-US" sz="2800" baseline="-25000"/>
              <a:t>m</a:t>
            </a:r>
            <a:r>
              <a:rPr lang="en-US" sz="2800"/>
              <a:t>, where m≥N</a:t>
            </a:r>
          </a:p>
          <a:p>
            <a:pPr eaLnBrk="1" hangingPunct="1"/>
            <a:r>
              <a:rPr lang="en-US" sz="2800"/>
              <a:t>Let the states traversed after reading the first N symbols be:    {p</a:t>
            </a:r>
            <a:r>
              <a:rPr lang="en-US" sz="2800" baseline="-25000"/>
              <a:t>0</a:t>
            </a:r>
            <a:r>
              <a:rPr lang="en-US" sz="2800"/>
              <a:t>,p</a:t>
            </a:r>
            <a:r>
              <a:rPr lang="en-US" sz="2800" baseline="-25000"/>
              <a:t>1</a:t>
            </a:r>
            <a:r>
              <a:rPr lang="en-US" sz="2800"/>
              <a:t>,… p</a:t>
            </a:r>
            <a:r>
              <a:rPr lang="en-US" sz="2800" baseline="-25000"/>
              <a:t>N</a:t>
            </a:r>
            <a:r>
              <a:rPr lang="en-US" sz="2800"/>
              <a:t>}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400"/>
              <a:t>==&gt; There are N+1 p-states, while there are only N DFA states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400"/>
              <a:t>==&gt; at least one state has to repeat </a:t>
            </a:r>
            <a:br>
              <a:rPr lang="en-US" sz="2400"/>
            </a:br>
            <a:r>
              <a:rPr lang="en-US" sz="2400"/>
              <a:t>i.e, p</a:t>
            </a:r>
            <a:r>
              <a:rPr lang="en-US" sz="2400" baseline="-25000"/>
              <a:t>i</a:t>
            </a:r>
            <a:r>
              <a:rPr lang="en-US" sz="2400"/>
              <a:t>= p</a:t>
            </a:r>
            <a:r>
              <a:rPr lang="en-US" sz="2400" baseline="-25000"/>
              <a:t>J</a:t>
            </a:r>
            <a:r>
              <a:rPr lang="en-US" sz="2400"/>
              <a:t>where 0≤i&lt;j≤N (by PHP)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D6EBA9-3F93-4E3C-B6E4-6E4619E638B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Pumping Lemma: Proof…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905000"/>
            <a:ext cx="7772400" cy="4038600"/>
          </a:xfrm>
        </p:spPr>
        <p:txBody>
          <a:bodyPr/>
          <a:lstStyle/>
          <a:p>
            <a:pPr eaLnBrk="1" hangingPunct="1">
              <a:buFont typeface="Wingdings" pitchFamily="28" charset="2"/>
              <a:buChar char="Ø"/>
            </a:pPr>
            <a:r>
              <a:rPr lang="en-US" sz="2600"/>
              <a:t>=&gt; We should be able to break w=</a:t>
            </a:r>
            <a:r>
              <a:rPr lang="en-US" sz="2600">
                <a:solidFill>
                  <a:schemeClr val="hlink"/>
                </a:solidFill>
              </a:rPr>
              <a:t>x</a:t>
            </a:r>
            <a:r>
              <a:rPr lang="en-US" sz="2600">
                <a:solidFill>
                  <a:srgbClr val="006600"/>
                </a:solidFill>
              </a:rPr>
              <a:t>y</a:t>
            </a:r>
            <a:r>
              <a:rPr lang="en-US" sz="2600">
                <a:solidFill>
                  <a:srgbClr val="993300"/>
                </a:solidFill>
              </a:rPr>
              <a:t>z</a:t>
            </a:r>
            <a:r>
              <a:rPr lang="en-US" sz="2600"/>
              <a:t> as follows: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1800">
                <a:solidFill>
                  <a:schemeClr val="hlink"/>
                </a:solidFill>
              </a:rPr>
              <a:t>x=a</a:t>
            </a:r>
            <a:r>
              <a:rPr lang="en-US" sz="1800" baseline="-25000">
                <a:solidFill>
                  <a:schemeClr val="hlink"/>
                </a:solidFill>
              </a:rPr>
              <a:t>1</a:t>
            </a:r>
            <a:r>
              <a:rPr lang="en-US" sz="1800">
                <a:solidFill>
                  <a:schemeClr val="hlink"/>
                </a:solidFill>
              </a:rPr>
              <a:t>a</a:t>
            </a:r>
            <a:r>
              <a:rPr lang="en-US" sz="1800" baseline="-25000">
                <a:solidFill>
                  <a:schemeClr val="hlink"/>
                </a:solidFill>
              </a:rPr>
              <a:t>2</a:t>
            </a:r>
            <a:r>
              <a:rPr lang="en-US" sz="1800">
                <a:solidFill>
                  <a:schemeClr val="hlink"/>
                </a:solidFill>
              </a:rPr>
              <a:t>..a</a:t>
            </a:r>
            <a:r>
              <a:rPr lang="en-US" sz="1800" baseline="-25000">
                <a:solidFill>
                  <a:schemeClr val="hlink"/>
                </a:solidFill>
              </a:rPr>
              <a:t>i</a:t>
            </a:r>
            <a:r>
              <a:rPr lang="en-US" sz="1800"/>
              <a:t>;  	</a:t>
            </a:r>
            <a:r>
              <a:rPr lang="en-US" sz="1800">
                <a:solidFill>
                  <a:srgbClr val="006600"/>
                </a:solidFill>
              </a:rPr>
              <a:t>y=a</a:t>
            </a:r>
            <a:r>
              <a:rPr lang="en-US" sz="1800" baseline="-25000">
                <a:solidFill>
                  <a:srgbClr val="006600"/>
                </a:solidFill>
              </a:rPr>
              <a:t>i+1</a:t>
            </a:r>
            <a:r>
              <a:rPr lang="en-US" sz="1800">
                <a:solidFill>
                  <a:srgbClr val="006600"/>
                </a:solidFill>
              </a:rPr>
              <a:t>a</a:t>
            </a:r>
            <a:r>
              <a:rPr lang="en-US" sz="1800" baseline="-25000">
                <a:solidFill>
                  <a:srgbClr val="006600"/>
                </a:solidFill>
              </a:rPr>
              <a:t>i+2</a:t>
            </a:r>
            <a:r>
              <a:rPr lang="en-US" sz="1800">
                <a:solidFill>
                  <a:srgbClr val="006600"/>
                </a:solidFill>
              </a:rPr>
              <a:t>..a</a:t>
            </a:r>
            <a:r>
              <a:rPr lang="en-US" sz="1800" baseline="-25000">
                <a:solidFill>
                  <a:srgbClr val="006600"/>
                </a:solidFill>
              </a:rPr>
              <a:t>J</a:t>
            </a:r>
            <a:r>
              <a:rPr lang="en-US" sz="1800"/>
              <a:t>;  	</a:t>
            </a:r>
            <a:r>
              <a:rPr lang="en-US" sz="1800">
                <a:solidFill>
                  <a:srgbClr val="993300"/>
                </a:solidFill>
              </a:rPr>
              <a:t>z=a</a:t>
            </a:r>
            <a:r>
              <a:rPr lang="en-US" sz="1800" baseline="-25000">
                <a:solidFill>
                  <a:srgbClr val="993300"/>
                </a:solidFill>
              </a:rPr>
              <a:t>J+1</a:t>
            </a:r>
            <a:r>
              <a:rPr lang="en-US" sz="1800">
                <a:solidFill>
                  <a:srgbClr val="993300"/>
                </a:solidFill>
              </a:rPr>
              <a:t>a</a:t>
            </a:r>
            <a:r>
              <a:rPr lang="en-US" sz="1800" baseline="-25000">
                <a:solidFill>
                  <a:srgbClr val="993300"/>
                </a:solidFill>
              </a:rPr>
              <a:t>J+2</a:t>
            </a:r>
            <a:r>
              <a:rPr lang="en-US" sz="1800">
                <a:solidFill>
                  <a:srgbClr val="993300"/>
                </a:solidFill>
              </a:rPr>
              <a:t>..a</a:t>
            </a:r>
            <a:r>
              <a:rPr lang="en-US" sz="1800" baseline="-25000">
                <a:solidFill>
                  <a:srgbClr val="993300"/>
                </a:solidFill>
              </a:rPr>
              <a:t>m</a:t>
            </a:r>
            <a:endParaRPr lang="en-US" sz="1800">
              <a:solidFill>
                <a:srgbClr val="993300"/>
              </a:solidFill>
            </a:endParaRP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1800">
                <a:solidFill>
                  <a:schemeClr val="hlink"/>
                </a:solidFill>
              </a:rPr>
              <a:t>x’s path will be p</a:t>
            </a:r>
            <a:r>
              <a:rPr lang="en-US" sz="1800" baseline="-25000">
                <a:solidFill>
                  <a:schemeClr val="hlink"/>
                </a:solidFill>
              </a:rPr>
              <a:t>0</a:t>
            </a:r>
            <a:r>
              <a:rPr lang="en-US" sz="1800">
                <a:solidFill>
                  <a:schemeClr val="hlink"/>
                </a:solidFill>
              </a:rPr>
              <a:t>..p</a:t>
            </a:r>
            <a:r>
              <a:rPr lang="en-US" sz="1800" baseline="-25000">
                <a:solidFill>
                  <a:schemeClr val="hlink"/>
                </a:solidFill>
              </a:rPr>
              <a:t>i</a:t>
            </a:r>
            <a:r>
              <a:rPr lang="en-US" sz="1800"/>
              <a:t> 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1800">
                <a:solidFill>
                  <a:srgbClr val="006600"/>
                </a:solidFill>
              </a:rPr>
              <a:t>y’s path will be p</a:t>
            </a:r>
            <a:r>
              <a:rPr lang="en-US" sz="1800" baseline="-25000">
                <a:solidFill>
                  <a:srgbClr val="006600"/>
                </a:solidFill>
              </a:rPr>
              <a:t>i </a:t>
            </a:r>
            <a:r>
              <a:rPr lang="en-US" sz="1800">
                <a:solidFill>
                  <a:srgbClr val="006600"/>
                </a:solidFill>
              </a:rPr>
              <a:t>p</a:t>
            </a:r>
            <a:r>
              <a:rPr lang="en-US" sz="1800" baseline="-25000">
                <a:solidFill>
                  <a:srgbClr val="006600"/>
                </a:solidFill>
              </a:rPr>
              <a:t>i+1</a:t>
            </a:r>
            <a:r>
              <a:rPr lang="en-US" sz="1800">
                <a:solidFill>
                  <a:srgbClr val="006600"/>
                </a:solidFill>
              </a:rPr>
              <a:t>..p</a:t>
            </a:r>
            <a:r>
              <a:rPr lang="en-US" sz="1800" baseline="-25000">
                <a:solidFill>
                  <a:srgbClr val="006600"/>
                </a:solidFill>
              </a:rPr>
              <a:t>J</a:t>
            </a:r>
            <a:r>
              <a:rPr lang="en-US" sz="1800">
                <a:solidFill>
                  <a:srgbClr val="006600"/>
                </a:solidFill>
              </a:rPr>
              <a:t> (but p</a:t>
            </a:r>
            <a:r>
              <a:rPr lang="en-US" sz="1800" baseline="-25000">
                <a:solidFill>
                  <a:srgbClr val="006600"/>
                </a:solidFill>
              </a:rPr>
              <a:t>i</a:t>
            </a:r>
            <a:r>
              <a:rPr lang="en-US" sz="1800">
                <a:solidFill>
                  <a:srgbClr val="006600"/>
                </a:solidFill>
              </a:rPr>
              <a:t>=p</a:t>
            </a:r>
            <a:r>
              <a:rPr lang="en-US" sz="1800" baseline="-25000">
                <a:solidFill>
                  <a:srgbClr val="006600"/>
                </a:solidFill>
              </a:rPr>
              <a:t>J</a:t>
            </a:r>
            <a:r>
              <a:rPr lang="en-US" sz="1800">
                <a:solidFill>
                  <a:srgbClr val="006600"/>
                </a:solidFill>
              </a:rPr>
              <a:t> implying a loop)</a:t>
            </a:r>
            <a:endParaRPr lang="en-US" sz="1800"/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1800">
                <a:solidFill>
                  <a:srgbClr val="993300"/>
                </a:solidFill>
              </a:rPr>
              <a:t>z’s path will be p</a:t>
            </a:r>
            <a:r>
              <a:rPr lang="en-US" sz="1800" baseline="-25000">
                <a:solidFill>
                  <a:srgbClr val="993300"/>
                </a:solidFill>
              </a:rPr>
              <a:t>J</a:t>
            </a:r>
            <a:r>
              <a:rPr lang="en-US" sz="1800">
                <a:solidFill>
                  <a:srgbClr val="993300"/>
                </a:solidFill>
              </a:rPr>
              <a:t>p</a:t>
            </a:r>
            <a:r>
              <a:rPr lang="en-US" sz="1800" baseline="-25000">
                <a:solidFill>
                  <a:srgbClr val="993300"/>
                </a:solidFill>
              </a:rPr>
              <a:t>J+1</a:t>
            </a:r>
            <a:r>
              <a:rPr lang="en-US" sz="1800">
                <a:solidFill>
                  <a:srgbClr val="993300"/>
                </a:solidFill>
              </a:rPr>
              <a:t>..p</a:t>
            </a:r>
            <a:r>
              <a:rPr lang="en-US" sz="1800" baseline="-25000">
                <a:solidFill>
                  <a:srgbClr val="993300"/>
                </a:solidFill>
              </a:rPr>
              <a:t>m</a:t>
            </a:r>
            <a:r>
              <a:rPr lang="en-US" sz="1800">
                <a:solidFill>
                  <a:srgbClr val="993300"/>
                </a:solidFill>
              </a:rPr>
              <a:t> </a:t>
            </a:r>
          </a:p>
          <a:p>
            <a:pPr eaLnBrk="1" hangingPunct="1">
              <a:buFont typeface="Wingdings" pitchFamily="28" charset="2"/>
              <a:buChar char="Ø"/>
            </a:pPr>
            <a:r>
              <a:rPr lang="en-US" sz="2000"/>
              <a:t>Now consider another </a:t>
            </a:r>
            <a:br>
              <a:rPr lang="en-US" sz="2000"/>
            </a:br>
            <a:r>
              <a:rPr lang="en-US" sz="2000"/>
              <a:t>     string w</a:t>
            </a:r>
            <a:r>
              <a:rPr lang="en-US" sz="2000" baseline="-25000"/>
              <a:t>k</a:t>
            </a:r>
            <a:r>
              <a:rPr lang="en-US" sz="2000"/>
              <a:t>=</a:t>
            </a:r>
            <a:r>
              <a:rPr lang="en-US" sz="2000">
                <a:solidFill>
                  <a:schemeClr val="hlink"/>
                </a:solidFill>
              </a:rPr>
              <a:t>x</a:t>
            </a:r>
            <a:r>
              <a:rPr lang="en-US" sz="2000">
                <a:solidFill>
                  <a:srgbClr val="006600"/>
                </a:solidFill>
              </a:rPr>
              <a:t>y</a:t>
            </a:r>
            <a:r>
              <a:rPr lang="en-US" sz="2000" baseline="30000">
                <a:solidFill>
                  <a:srgbClr val="006600"/>
                </a:solidFill>
              </a:rPr>
              <a:t>k</a:t>
            </a:r>
            <a:r>
              <a:rPr lang="en-US" sz="2000">
                <a:solidFill>
                  <a:srgbClr val="993300"/>
                </a:solidFill>
              </a:rPr>
              <a:t>z</a:t>
            </a:r>
            <a:r>
              <a:rPr lang="en-US" sz="2000"/>
              <a:t> , where k≥0</a:t>
            </a:r>
          </a:p>
          <a:p>
            <a:pPr eaLnBrk="1" hangingPunct="1">
              <a:buFont typeface="Wingdings" pitchFamily="28" charset="2"/>
              <a:buChar char="Ø"/>
            </a:pPr>
            <a:r>
              <a:rPr lang="en-US" sz="2000"/>
              <a:t>Case k=0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1800"/>
              <a:t>DFA will reach the accept state p</a:t>
            </a:r>
            <a:r>
              <a:rPr lang="en-US" sz="1800" baseline="-25000"/>
              <a:t>m</a:t>
            </a:r>
            <a:endParaRPr lang="en-US" sz="1800"/>
          </a:p>
          <a:p>
            <a:pPr eaLnBrk="1" hangingPunct="1">
              <a:buFont typeface="Wingdings" pitchFamily="28" charset="2"/>
              <a:buChar char="Ø"/>
            </a:pPr>
            <a:r>
              <a:rPr lang="en-US" sz="2000"/>
              <a:t>Case k&gt;0</a:t>
            </a:r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1800"/>
              <a:t>DFA will loop for 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 baseline="30000">
                <a:solidFill>
                  <a:srgbClr val="006600"/>
                </a:solidFill>
              </a:rPr>
              <a:t>k</a:t>
            </a:r>
            <a:r>
              <a:rPr lang="en-US" sz="1800"/>
              <a:t>, and finally reach the accept state p</a:t>
            </a:r>
            <a:r>
              <a:rPr lang="en-US" sz="1800" baseline="-25000"/>
              <a:t>m</a:t>
            </a:r>
            <a:r>
              <a:rPr lang="en-US" sz="1800"/>
              <a:t> for </a:t>
            </a:r>
            <a:r>
              <a:rPr lang="en-US" sz="1800">
                <a:solidFill>
                  <a:srgbClr val="993300"/>
                </a:solidFill>
              </a:rPr>
              <a:t>z</a:t>
            </a:r>
            <a:endParaRPr lang="en-US" sz="1800"/>
          </a:p>
          <a:p>
            <a:pPr eaLnBrk="1" hangingPunct="1">
              <a:buFont typeface="Wingdings" pitchFamily="28" charset="2"/>
              <a:buChar char="Ø"/>
            </a:pPr>
            <a:r>
              <a:rPr lang="en-US" sz="2000"/>
              <a:t>In either case, w</a:t>
            </a:r>
            <a:r>
              <a:rPr lang="en-US" sz="2000" baseline="-25000"/>
              <a:t>k</a:t>
            </a:r>
            <a:r>
              <a:rPr lang="en-US" sz="2800">
                <a:solidFill>
                  <a:srgbClr val="000000"/>
                </a:solidFill>
                <a:sym typeface="Symbol" pitchFamily="28" charset="2"/>
              </a:rPr>
              <a:t></a:t>
            </a:r>
            <a:r>
              <a:rPr lang="en-US" sz="2000"/>
              <a:t> L </a:t>
            </a:r>
            <a:endParaRPr lang="en-US" sz="2000" baseline="-25000"/>
          </a:p>
        </p:txBody>
      </p:sp>
      <p:sp>
        <p:nvSpPr>
          <p:cNvPr id="12305" name="Text Box 19"/>
          <p:cNvSpPr txBox="1">
            <a:spLocks noChangeArrowheads="1"/>
          </p:cNvSpPr>
          <p:nvPr/>
        </p:nvSpPr>
        <p:spPr bwMode="auto">
          <a:xfrm>
            <a:off x="6927850" y="3352800"/>
            <a:ext cx="14033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6600"/>
                </a:solidFill>
              </a:rPr>
              <a:t>y</a:t>
            </a:r>
            <a:r>
              <a:rPr lang="en-US" baseline="30000">
                <a:solidFill>
                  <a:srgbClr val="006600"/>
                </a:solidFill>
              </a:rPr>
              <a:t>k</a:t>
            </a:r>
            <a:r>
              <a:rPr lang="en-US">
                <a:solidFill>
                  <a:srgbClr val="006600"/>
                </a:solidFill>
              </a:rPr>
              <a:t> </a:t>
            </a:r>
            <a:r>
              <a:rPr lang="en-US" sz="1400">
                <a:solidFill>
                  <a:srgbClr val="006600"/>
                </a:solidFill>
              </a:rPr>
              <a:t>(for k loops)</a:t>
            </a:r>
            <a:endParaRPr lang="en-US">
              <a:solidFill>
                <a:srgbClr val="006600"/>
              </a:solidFill>
            </a:endParaRP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181600" y="3429000"/>
            <a:ext cx="3733800" cy="1295400"/>
            <a:chOff x="5181600" y="3429000"/>
            <a:chExt cx="3733800" cy="1295400"/>
          </a:xfrm>
        </p:grpSpPr>
        <p:sp>
          <p:nvSpPr>
            <p:cNvPr id="12296" name="Oval 8"/>
            <p:cNvSpPr>
              <a:spLocks noChangeArrowheads="1"/>
            </p:cNvSpPr>
            <p:nvPr/>
          </p:nvSpPr>
          <p:spPr bwMode="auto">
            <a:xfrm>
              <a:off x="5715000" y="3962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  <a:r>
                <a:rPr lang="en-US" baseline="-25000"/>
                <a:t>0</a:t>
              </a:r>
              <a:endParaRPr lang="en-US"/>
            </a:p>
          </p:txBody>
        </p:sp>
        <p:sp>
          <p:nvSpPr>
            <p:cNvPr id="12297" name="Oval 10"/>
            <p:cNvSpPr>
              <a:spLocks noChangeArrowheads="1"/>
            </p:cNvSpPr>
            <p:nvPr/>
          </p:nvSpPr>
          <p:spPr bwMode="auto">
            <a:xfrm>
              <a:off x="7010400" y="3962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  <a:r>
                <a:rPr lang="en-US" baseline="-25000"/>
                <a:t>i</a:t>
              </a:r>
              <a:endParaRPr lang="en-US"/>
            </a:p>
          </p:txBody>
        </p:sp>
        <p:sp>
          <p:nvSpPr>
            <p:cNvPr id="12298" name="Oval 11"/>
            <p:cNvSpPr>
              <a:spLocks noChangeArrowheads="1"/>
            </p:cNvSpPr>
            <p:nvPr/>
          </p:nvSpPr>
          <p:spPr bwMode="auto">
            <a:xfrm>
              <a:off x="8382000" y="3962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  <a:r>
                <a:rPr lang="en-US" baseline="-25000"/>
                <a:t>m</a:t>
              </a:r>
              <a:endParaRPr lang="en-US"/>
            </a:p>
          </p:txBody>
        </p:sp>
        <p:sp>
          <p:nvSpPr>
            <p:cNvPr id="12299" name="Line 12"/>
            <p:cNvSpPr>
              <a:spLocks noChangeShapeType="1"/>
            </p:cNvSpPr>
            <p:nvPr/>
          </p:nvSpPr>
          <p:spPr bwMode="auto">
            <a:xfrm>
              <a:off x="5334000" y="41148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0" name="Line 13"/>
            <p:cNvSpPr>
              <a:spLocks noChangeShapeType="1"/>
            </p:cNvSpPr>
            <p:nvPr/>
          </p:nvSpPr>
          <p:spPr bwMode="auto">
            <a:xfrm>
              <a:off x="6096000" y="41148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1" name="Line 14"/>
            <p:cNvSpPr>
              <a:spLocks noChangeShapeType="1"/>
            </p:cNvSpPr>
            <p:nvPr/>
          </p:nvSpPr>
          <p:spPr bwMode="auto">
            <a:xfrm>
              <a:off x="7391400" y="41148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2" name="Oval 15"/>
            <p:cNvSpPr>
              <a:spLocks noChangeArrowheads="1"/>
            </p:cNvSpPr>
            <p:nvPr/>
          </p:nvSpPr>
          <p:spPr bwMode="auto">
            <a:xfrm>
              <a:off x="8305800" y="3886200"/>
              <a:ext cx="533400" cy="533400"/>
            </a:xfrm>
            <a:prstGeom prst="ellipse">
              <a:avLst/>
            </a:prstGeom>
            <a:solidFill>
              <a:schemeClr val="accent1">
                <a:alpha val="117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3" name="Freeform 16"/>
            <p:cNvSpPr>
              <a:spLocks/>
            </p:cNvSpPr>
            <p:nvPr/>
          </p:nvSpPr>
          <p:spPr bwMode="auto">
            <a:xfrm>
              <a:off x="6845300" y="3632200"/>
              <a:ext cx="635000" cy="406400"/>
            </a:xfrm>
            <a:custGeom>
              <a:avLst/>
              <a:gdLst>
                <a:gd name="T0" fmla="*/ 2147483647 w 400"/>
                <a:gd name="T1" fmla="*/ 2147483647 h 256"/>
                <a:gd name="T2" fmla="*/ 2147483647 w 400"/>
                <a:gd name="T3" fmla="*/ 2147483647 h 256"/>
                <a:gd name="T4" fmla="*/ 2147483647 w 400"/>
                <a:gd name="T5" fmla="*/ 2147483647 h 256"/>
                <a:gd name="T6" fmla="*/ 2147483647 w 400"/>
                <a:gd name="T7" fmla="*/ 2147483647 h 256"/>
                <a:gd name="T8" fmla="*/ 2147483647 w 400"/>
                <a:gd name="T9" fmla="*/ 2147483647 h 256"/>
                <a:gd name="T10" fmla="*/ 2147483647 w 400"/>
                <a:gd name="T11" fmla="*/ 2147483647 h 2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0"/>
                <a:gd name="T19" fmla="*/ 0 h 256"/>
                <a:gd name="T20" fmla="*/ 400 w 400"/>
                <a:gd name="T21" fmla="*/ 256 h 25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0" h="256">
                  <a:moveTo>
                    <a:pt x="152" y="256"/>
                  </a:moveTo>
                  <a:cubicBezTo>
                    <a:pt x="84" y="204"/>
                    <a:pt x="16" y="152"/>
                    <a:pt x="8" y="112"/>
                  </a:cubicBezTo>
                  <a:cubicBezTo>
                    <a:pt x="0" y="72"/>
                    <a:pt x="64" y="32"/>
                    <a:pt x="104" y="16"/>
                  </a:cubicBezTo>
                  <a:cubicBezTo>
                    <a:pt x="144" y="0"/>
                    <a:pt x="200" y="0"/>
                    <a:pt x="248" y="16"/>
                  </a:cubicBezTo>
                  <a:cubicBezTo>
                    <a:pt x="296" y="32"/>
                    <a:pt x="384" y="80"/>
                    <a:pt x="392" y="112"/>
                  </a:cubicBezTo>
                  <a:cubicBezTo>
                    <a:pt x="400" y="144"/>
                    <a:pt x="348" y="176"/>
                    <a:pt x="296" y="208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4" name="Text Box 17"/>
            <p:cNvSpPr txBox="1">
              <a:spLocks noChangeArrowheads="1"/>
            </p:cNvSpPr>
            <p:nvPr/>
          </p:nvSpPr>
          <p:spPr bwMode="auto">
            <a:xfrm>
              <a:off x="6232525" y="3752850"/>
              <a:ext cx="311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x</a:t>
              </a:r>
              <a:endParaRPr lang="en-US"/>
            </a:p>
          </p:txBody>
        </p:sp>
        <p:sp>
          <p:nvSpPr>
            <p:cNvPr id="3" name="Text Box 18"/>
            <p:cNvSpPr txBox="1">
              <a:spLocks noChangeArrowheads="1"/>
            </p:cNvSpPr>
            <p:nvPr/>
          </p:nvSpPr>
          <p:spPr bwMode="auto">
            <a:xfrm>
              <a:off x="7689850" y="3733800"/>
              <a:ext cx="311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993300"/>
                  </a:solidFill>
                </a:rPr>
                <a:t>z</a:t>
              </a:r>
              <a:endParaRPr lang="en-US"/>
            </a:p>
          </p:txBody>
        </p:sp>
        <p:sp>
          <p:nvSpPr>
            <p:cNvPr id="12306" name="Text Box 20"/>
            <p:cNvSpPr txBox="1">
              <a:spLocks noChangeArrowheads="1"/>
            </p:cNvSpPr>
            <p:nvPr/>
          </p:nvSpPr>
          <p:spPr bwMode="auto">
            <a:xfrm>
              <a:off x="7086600" y="4251325"/>
              <a:ext cx="5111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=p</a:t>
              </a:r>
              <a:r>
                <a:rPr lang="en-US" baseline="-25000"/>
                <a:t>j</a:t>
              </a:r>
            </a:p>
          </p:txBody>
        </p:sp>
        <p:sp>
          <p:nvSpPr>
            <p:cNvPr id="12307" name="AutoShape 21"/>
            <p:cNvSpPr>
              <a:spLocks noChangeArrowheads="1"/>
            </p:cNvSpPr>
            <p:nvPr/>
          </p:nvSpPr>
          <p:spPr bwMode="auto">
            <a:xfrm>
              <a:off x="5181600" y="3429000"/>
              <a:ext cx="3733800" cy="1295400"/>
            </a:xfrm>
            <a:prstGeom prst="roundRect">
              <a:avLst>
                <a:gd name="adj" fmla="val 16667"/>
              </a:avLst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70" name="Text Box 24"/>
          <p:cNvSpPr txBox="1">
            <a:spLocks noChangeArrowheads="1"/>
          </p:cNvSpPr>
          <p:nvPr/>
        </p:nvSpPr>
        <p:spPr bwMode="auto">
          <a:xfrm>
            <a:off x="4495800" y="5867400"/>
            <a:ext cx="3924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hlink"/>
                </a:solidFill>
              </a:rPr>
              <a:t>This proves part (3) of the lemma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/>
      <p:bldP spid="12305" grpId="0"/>
      <p:bldP spid="112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0ED9E9-DD12-41FD-899B-887EA8E2C2C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Pumping Lemma: Proof…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/>
              <a:t>For part (1): 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/>
              <a:t>Since i&lt;j, </a:t>
            </a:r>
            <a:r>
              <a:rPr lang="en-US">
                <a:solidFill>
                  <a:srgbClr val="006600"/>
                </a:solidFill>
              </a:rPr>
              <a:t>y </a:t>
            </a:r>
            <a:r>
              <a:rPr lang="en-US"/>
              <a:t>≠ </a:t>
            </a:r>
            <a:r>
              <a:rPr lang="en-US" i="1">
                <a:sym typeface="Symbol" pitchFamily="28" charset="2"/>
              </a:rPr>
              <a:t></a:t>
            </a:r>
            <a:endParaRPr lang="en-US">
              <a:ea typeface="ＭＳ Ｐゴシック" pitchFamily="28" charset="-128"/>
            </a:endParaRPr>
          </a:p>
          <a:p>
            <a:pPr marL="609600" indent="-609600" eaLnBrk="1" hangingPunct="1">
              <a:lnSpc>
                <a:spcPct val="90000"/>
              </a:lnSpc>
            </a:pPr>
            <a:endParaRPr lang="en-US">
              <a:ea typeface="ＭＳ Ｐゴシック" pitchFamily="28" charset="-128"/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lang="en-US">
                <a:ea typeface="ＭＳ Ｐゴシック" pitchFamily="28" charset="-128"/>
              </a:rPr>
              <a:t>For part (2):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>
                <a:ea typeface="ＭＳ Ｐゴシック" pitchFamily="28" charset="-128"/>
              </a:rPr>
              <a:t>By PHP, the repetition of states has to occur within the first N symbols in w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en-US">
                <a:ea typeface="ＭＳ Ｐゴシック" pitchFamily="28" charset="-128"/>
              </a:rPr>
              <a:t>==&gt; |</a:t>
            </a:r>
            <a:r>
              <a:rPr lang="en-US">
                <a:solidFill>
                  <a:schemeClr val="hlink"/>
                </a:solidFill>
                <a:ea typeface="ＭＳ Ｐゴシック" pitchFamily="28" charset="-128"/>
              </a:rPr>
              <a:t>x</a:t>
            </a:r>
            <a:r>
              <a:rPr lang="en-US">
                <a:solidFill>
                  <a:srgbClr val="006600"/>
                </a:solidFill>
                <a:ea typeface="ＭＳ Ｐゴシック" pitchFamily="28" charset="-128"/>
              </a:rPr>
              <a:t>y</a:t>
            </a:r>
            <a:r>
              <a:rPr lang="en-US">
                <a:ea typeface="ＭＳ Ｐゴシック" pitchFamily="28" charset="-128"/>
              </a:rPr>
              <a:t>|≤N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None/>
            </a:pPr>
            <a:endParaRPr lang="en-US"/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7772400" y="5791200"/>
            <a:ext cx="228600" cy="152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318" name="Group 22"/>
          <p:cNvGrpSpPr>
            <a:grpSpLocks/>
          </p:cNvGrpSpPr>
          <p:nvPr/>
        </p:nvGrpSpPr>
        <p:grpSpPr bwMode="auto">
          <a:xfrm>
            <a:off x="5257800" y="1981200"/>
            <a:ext cx="3733800" cy="1371600"/>
            <a:chOff x="3072" y="2160"/>
            <a:chExt cx="2352" cy="864"/>
          </a:xfrm>
        </p:grpSpPr>
        <p:sp>
          <p:nvSpPr>
            <p:cNvPr id="13319" name="Oval 8"/>
            <p:cNvSpPr>
              <a:spLocks noChangeArrowheads="1"/>
            </p:cNvSpPr>
            <p:nvPr/>
          </p:nvSpPr>
          <p:spPr bwMode="auto">
            <a:xfrm>
              <a:off x="3408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  <a:r>
                <a:rPr lang="en-US" baseline="-25000"/>
                <a:t>0</a:t>
              </a:r>
              <a:endParaRPr lang="en-US"/>
            </a:p>
          </p:txBody>
        </p:sp>
        <p:sp>
          <p:nvSpPr>
            <p:cNvPr id="13320" name="Oval 10"/>
            <p:cNvSpPr>
              <a:spLocks noChangeArrowheads="1"/>
            </p:cNvSpPr>
            <p:nvPr/>
          </p:nvSpPr>
          <p:spPr bwMode="auto">
            <a:xfrm>
              <a:off x="4224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  <a:r>
                <a:rPr lang="en-US" baseline="-25000"/>
                <a:t>i</a:t>
              </a:r>
              <a:endParaRPr lang="en-US"/>
            </a:p>
          </p:txBody>
        </p:sp>
        <p:sp>
          <p:nvSpPr>
            <p:cNvPr id="13321" name="Oval 11"/>
            <p:cNvSpPr>
              <a:spLocks noChangeArrowheads="1"/>
            </p:cNvSpPr>
            <p:nvPr/>
          </p:nvSpPr>
          <p:spPr bwMode="auto">
            <a:xfrm>
              <a:off x="5088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p</a:t>
              </a:r>
              <a:r>
                <a:rPr lang="en-US" baseline="-25000"/>
                <a:t>m</a:t>
              </a:r>
              <a:endParaRPr lang="en-US"/>
            </a:p>
          </p:txBody>
        </p:sp>
        <p:sp>
          <p:nvSpPr>
            <p:cNvPr id="13322" name="Line 12"/>
            <p:cNvSpPr>
              <a:spLocks noChangeShapeType="1"/>
            </p:cNvSpPr>
            <p:nvPr/>
          </p:nvSpPr>
          <p:spPr bwMode="auto">
            <a:xfrm>
              <a:off x="3168" y="264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3" name="Line 13"/>
            <p:cNvSpPr>
              <a:spLocks noChangeShapeType="1"/>
            </p:cNvSpPr>
            <p:nvPr/>
          </p:nvSpPr>
          <p:spPr bwMode="auto">
            <a:xfrm>
              <a:off x="3648" y="264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4" name="Line 14"/>
            <p:cNvSpPr>
              <a:spLocks noChangeShapeType="1"/>
            </p:cNvSpPr>
            <p:nvPr/>
          </p:nvSpPr>
          <p:spPr bwMode="auto">
            <a:xfrm>
              <a:off x="4464" y="264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5" name="Oval 15"/>
            <p:cNvSpPr>
              <a:spLocks noChangeArrowheads="1"/>
            </p:cNvSpPr>
            <p:nvPr/>
          </p:nvSpPr>
          <p:spPr bwMode="auto">
            <a:xfrm>
              <a:off x="5040" y="2496"/>
              <a:ext cx="336" cy="336"/>
            </a:xfrm>
            <a:prstGeom prst="ellipse">
              <a:avLst/>
            </a:prstGeom>
            <a:solidFill>
              <a:schemeClr val="accent1">
                <a:alpha val="117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6" name="Freeform 16"/>
            <p:cNvSpPr>
              <a:spLocks/>
            </p:cNvSpPr>
            <p:nvPr/>
          </p:nvSpPr>
          <p:spPr bwMode="auto">
            <a:xfrm>
              <a:off x="4120" y="2336"/>
              <a:ext cx="400" cy="256"/>
            </a:xfrm>
            <a:custGeom>
              <a:avLst/>
              <a:gdLst>
                <a:gd name="T0" fmla="*/ 152 w 400"/>
                <a:gd name="T1" fmla="*/ 256 h 256"/>
                <a:gd name="T2" fmla="*/ 8 w 400"/>
                <a:gd name="T3" fmla="*/ 112 h 256"/>
                <a:gd name="T4" fmla="*/ 104 w 400"/>
                <a:gd name="T5" fmla="*/ 16 h 256"/>
                <a:gd name="T6" fmla="*/ 248 w 400"/>
                <a:gd name="T7" fmla="*/ 16 h 256"/>
                <a:gd name="T8" fmla="*/ 392 w 400"/>
                <a:gd name="T9" fmla="*/ 112 h 256"/>
                <a:gd name="T10" fmla="*/ 296 w 400"/>
                <a:gd name="T11" fmla="*/ 208 h 2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00"/>
                <a:gd name="T19" fmla="*/ 0 h 256"/>
                <a:gd name="T20" fmla="*/ 400 w 400"/>
                <a:gd name="T21" fmla="*/ 256 h 25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00" h="256">
                  <a:moveTo>
                    <a:pt x="152" y="256"/>
                  </a:moveTo>
                  <a:cubicBezTo>
                    <a:pt x="84" y="204"/>
                    <a:pt x="16" y="152"/>
                    <a:pt x="8" y="112"/>
                  </a:cubicBezTo>
                  <a:cubicBezTo>
                    <a:pt x="0" y="72"/>
                    <a:pt x="64" y="32"/>
                    <a:pt x="104" y="16"/>
                  </a:cubicBezTo>
                  <a:cubicBezTo>
                    <a:pt x="144" y="0"/>
                    <a:pt x="200" y="0"/>
                    <a:pt x="248" y="16"/>
                  </a:cubicBezTo>
                  <a:cubicBezTo>
                    <a:pt x="296" y="32"/>
                    <a:pt x="384" y="80"/>
                    <a:pt x="392" y="112"/>
                  </a:cubicBezTo>
                  <a:cubicBezTo>
                    <a:pt x="400" y="144"/>
                    <a:pt x="348" y="176"/>
                    <a:pt x="296" y="208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7" name="Text Box 17"/>
            <p:cNvSpPr txBox="1">
              <a:spLocks noChangeArrowheads="1"/>
            </p:cNvSpPr>
            <p:nvPr/>
          </p:nvSpPr>
          <p:spPr bwMode="auto">
            <a:xfrm>
              <a:off x="3734" y="2412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x</a:t>
              </a:r>
              <a:endParaRPr lang="en-US"/>
            </a:p>
          </p:txBody>
        </p:sp>
        <p:sp>
          <p:nvSpPr>
            <p:cNvPr id="13328" name="Text Box 18"/>
            <p:cNvSpPr txBox="1">
              <a:spLocks noChangeArrowheads="1"/>
            </p:cNvSpPr>
            <p:nvPr/>
          </p:nvSpPr>
          <p:spPr bwMode="auto">
            <a:xfrm>
              <a:off x="4652" y="2400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993300"/>
                  </a:solidFill>
                </a:rPr>
                <a:t>z</a:t>
              </a:r>
              <a:endParaRPr lang="en-US"/>
            </a:p>
          </p:txBody>
        </p:sp>
        <p:sp>
          <p:nvSpPr>
            <p:cNvPr id="13329" name="Text Box 19"/>
            <p:cNvSpPr txBox="1">
              <a:spLocks noChangeArrowheads="1"/>
            </p:cNvSpPr>
            <p:nvPr/>
          </p:nvSpPr>
          <p:spPr bwMode="auto">
            <a:xfrm>
              <a:off x="4172" y="2160"/>
              <a:ext cx="88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6600"/>
                  </a:solidFill>
                </a:rPr>
                <a:t>y</a:t>
              </a:r>
              <a:r>
                <a:rPr lang="en-US" baseline="30000">
                  <a:solidFill>
                    <a:srgbClr val="006600"/>
                  </a:solidFill>
                </a:rPr>
                <a:t>k</a:t>
              </a:r>
              <a:r>
                <a:rPr lang="en-US">
                  <a:solidFill>
                    <a:srgbClr val="006600"/>
                  </a:solidFill>
                </a:rPr>
                <a:t> </a:t>
              </a:r>
              <a:r>
                <a:rPr lang="en-US" sz="1400">
                  <a:solidFill>
                    <a:srgbClr val="006600"/>
                  </a:solidFill>
                </a:rPr>
                <a:t>(for k loops)</a:t>
              </a:r>
              <a:endParaRPr lang="en-US">
                <a:solidFill>
                  <a:srgbClr val="006600"/>
                </a:solidFill>
              </a:endParaRPr>
            </a:p>
          </p:txBody>
        </p:sp>
        <p:sp>
          <p:nvSpPr>
            <p:cNvPr id="13330" name="Text Box 20"/>
            <p:cNvSpPr txBox="1">
              <a:spLocks noChangeArrowheads="1"/>
            </p:cNvSpPr>
            <p:nvPr/>
          </p:nvSpPr>
          <p:spPr bwMode="auto">
            <a:xfrm>
              <a:off x="4272" y="2726"/>
              <a:ext cx="32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=p</a:t>
              </a:r>
              <a:r>
                <a:rPr lang="en-US" baseline="-25000"/>
                <a:t>j</a:t>
              </a:r>
            </a:p>
          </p:txBody>
        </p:sp>
        <p:sp>
          <p:nvSpPr>
            <p:cNvPr id="13331" name="AutoShape 21"/>
            <p:cNvSpPr>
              <a:spLocks noChangeArrowheads="1"/>
            </p:cNvSpPr>
            <p:nvPr/>
          </p:nvSpPr>
          <p:spPr bwMode="auto">
            <a:xfrm>
              <a:off x="3072" y="2208"/>
              <a:ext cx="2352" cy="816"/>
            </a:xfrm>
            <a:prstGeom prst="roundRect">
              <a:avLst>
                <a:gd name="adj" fmla="val 16667"/>
              </a:avLst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9C85CC7-AE31-45F7-8A11-55A0A3D32DB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Purpose of the Pumping Lemma for RL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To prove that some languages</a:t>
            </a:r>
            <a:r>
              <a:rPr lang="en-US" i="1"/>
              <a:t> cannot be </a:t>
            </a:r>
            <a:r>
              <a:rPr lang="en-US"/>
              <a:t>regular.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CC5309C-B77D-4650-A2DE-FF0B7D4C54F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to use the pumping lemma?	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 dirty="0"/>
              <a:t>Think of playing a 2 person game</a:t>
            </a:r>
          </a:p>
          <a:p>
            <a:pPr marL="1009650" lvl="1" indent="-609600" eaLnBrk="1" hangingPunct="1">
              <a:lnSpc>
                <a:spcPct val="90000"/>
              </a:lnSpc>
            </a:pPr>
            <a:r>
              <a:rPr lang="en-US" sz="2400" u="sng" dirty="0">
                <a:solidFill>
                  <a:srgbClr val="FF0000"/>
                </a:solidFill>
              </a:rPr>
              <a:t>Role 1:</a:t>
            </a:r>
            <a:r>
              <a:rPr lang="en-US" sz="2400" dirty="0">
                <a:solidFill>
                  <a:srgbClr val="FF0000"/>
                </a:solidFill>
              </a:rPr>
              <a:t> 	</a:t>
            </a:r>
            <a:r>
              <a:rPr lang="en-US" sz="2400" b="1" i="1" dirty="0">
                <a:solidFill>
                  <a:srgbClr val="FF0000"/>
                </a:solidFill>
              </a:rPr>
              <a:t>We </a:t>
            </a:r>
            <a:r>
              <a:rPr lang="en-US" sz="2400" dirty="0">
                <a:solidFill>
                  <a:srgbClr val="FF0000"/>
                </a:solidFill>
              </a:rPr>
              <a:t>claim that the language cannot be regular</a:t>
            </a:r>
          </a:p>
          <a:p>
            <a:pPr marL="1009650" lvl="1" indent="-609600" eaLnBrk="1" hangingPunct="1">
              <a:lnSpc>
                <a:spcPct val="90000"/>
              </a:lnSpc>
            </a:pPr>
            <a:endParaRPr lang="en-US" sz="2400" dirty="0"/>
          </a:p>
          <a:p>
            <a:pPr marL="1009650" lvl="1" indent="-609600" eaLnBrk="1" hangingPunct="1">
              <a:lnSpc>
                <a:spcPct val="90000"/>
              </a:lnSpc>
            </a:pPr>
            <a:r>
              <a:rPr lang="en-US" sz="2400" u="sng" dirty="0">
                <a:solidFill>
                  <a:srgbClr val="006600"/>
                </a:solidFill>
              </a:rPr>
              <a:t>Role 2:</a:t>
            </a:r>
            <a:r>
              <a:rPr lang="en-US" sz="2400" dirty="0">
                <a:solidFill>
                  <a:srgbClr val="006600"/>
                </a:solidFill>
              </a:rPr>
              <a:t> 	An </a:t>
            </a:r>
            <a:r>
              <a:rPr lang="en-US" sz="2400" b="1" i="1" dirty="0">
                <a:solidFill>
                  <a:srgbClr val="006600"/>
                </a:solidFill>
              </a:rPr>
              <a:t>adversary</a:t>
            </a:r>
            <a:r>
              <a:rPr lang="en-US" sz="2400" dirty="0">
                <a:solidFill>
                  <a:srgbClr val="006600"/>
                </a:solidFill>
              </a:rPr>
              <a:t> who claims the language is regular</a:t>
            </a:r>
            <a:r>
              <a:rPr lang="en-US" sz="2400" dirty="0"/>
              <a:t>		</a:t>
            </a:r>
          </a:p>
          <a:p>
            <a:pPr marL="1009650" lvl="1" indent="-609600" eaLnBrk="1" hangingPunct="1">
              <a:lnSpc>
                <a:spcPct val="90000"/>
              </a:lnSpc>
            </a:pPr>
            <a:endParaRPr lang="en-US" sz="2400" dirty="0"/>
          </a:p>
          <a:p>
            <a:pPr marL="1009650" lvl="1" indent="-609600" eaLnBrk="1" hangingPunct="1">
              <a:lnSpc>
                <a:spcPct val="90000"/>
              </a:lnSpc>
            </a:pPr>
            <a:r>
              <a:rPr lang="en-US" sz="2400" dirty="0"/>
              <a:t>We show that the adversary’s statement will lead to a contradiction that </a:t>
            </a:r>
            <a:r>
              <a:rPr lang="en-US" sz="2400" dirty="0" err="1"/>
              <a:t>implyies</a:t>
            </a:r>
            <a:r>
              <a:rPr lang="en-US" sz="2400" dirty="0"/>
              <a:t> pumping lemma </a:t>
            </a:r>
            <a:r>
              <a:rPr lang="en-US" sz="2400" i="1" dirty="0"/>
              <a:t>cannot</a:t>
            </a:r>
            <a:r>
              <a:rPr lang="en-US" sz="2400" dirty="0"/>
              <a:t> hold for the language.</a:t>
            </a:r>
          </a:p>
          <a:p>
            <a:pPr marL="1009650" lvl="1" indent="-609600" eaLnBrk="1" hangingPunct="1">
              <a:lnSpc>
                <a:spcPct val="90000"/>
              </a:lnSpc>
            </a:pPr>
            <a:endParaRPr lang="en-US" sz="2400" dirty="0"/>
          </a:p>
          <a:p>
            <a:pPr marL="1009650" lvl="1" indent="-609600" eaLnBrk="1" hangingPunct="1">
              <a:lnSpc>
                <a:spcPct val="90000"/>
              </a:lnSpc>
            </a:pPr>
            <a:r>
              <a:rPr lang="en-US" sz="2400" dirty="0"/>
              <a:t>We win!!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6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F203F53-5E5E-4358-8CDD-FA9FC1C758F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How to use the pumping lemma?	(The Steps)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905000"/>
            <a:ext cx="7772400" cy="41148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(we) L is not regular.</a:t>
            </a:r>
          </a:p>
          <a:p>
            <a:pPr marL="609600" indent="-6096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800" dirty="0">
                <a:solidFill>
                  <a:srgbClr val="008000"/>
                </a:solidFill>
              </a:rPr>
              <a:t>(adv.) Claims that L is regular and gives you a value for N as its P/L constant</a:t>
            </a:r>
          </a:p>
          <a:p>
            <a:pPr marL="609600" indent="-6096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(we) Using N, choose a string w </a:t>
            </a:r>
            <a:r>
              <a:rPr lang="en-US" sz="2800" dirty="0">
                <a:solidFill>
                  <a:srgbClr val="FF0000"/>
                </a:solidFill>
                <a:sym typeface="Symbol" pitchFamily="28" charset="2"/>
              </a:rPr>
              <a:t></a:t>
            </a:r>
            <a:r>
              <a:rPr lang="en-US" sz="2800" dirty="0">
                <a:solidFill>
                  <a:srgbClr val="FF0000"/>
                </a:solidFill>
              </a:rPr>
              <a:t> L </a:t>
            </a:r>
            <a:r>
              <a:rPr lang="en-US" sz="2800" dirty="0" err="1">
                <a:solidFill>
                  <a:srgbClr val="FF0000"/>
                </a:solidFill>
              </a:rPr>
              <a:t>s.t</a:t>
            </a:r>
            <a:r>
              <a:rPr lang="en-US" sz="2800" dirty="0">
                <a:solidFill>
                  <a:srgbClr val="FF0000"/>
                </a:solidFill>
              </a:rPr>
              <a:t>., 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|w| ≥ N, 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400" dirty="0">
                <a:solidFill>
                  <a:srgbClr val="7030A0"/>
                </a:solidFill>
              </a:rPr>
              <a:t>Using w as the template, construct other words w</a:t>
            </a:r>
            <a:r>
              <a:rPr lang="en-US" sz="2400" baseline="-25000" dirty="0">
                <a:solidFill>
                  <a:srgbClr val="7030A0"/>
                </a:solidFill>
              </a:rPr>
              <a:t>k</a:t>
            </a:r>
            <a:r>
              <a:rPr lang="en-US" sz="2400" dirty="0">
                <a:solidFill>
                  <a:srgbClr val="7030A0"/>
                </a:solidFill>
              </a:rPr>
              <a:t> of the form </a:t>
            </a:r>
            <a:r>
              <a:rPr lang="en-US" sz="2400" dirty="0" err="1">
                <a:solidFill>
                  <a:srgbClr val="7030A0"/>
                </a:solidFill>
              </a:rPr>
              <a:t>xy</a:t>
            </a:r>
            <a:r>
              <a:rPr lang="en-US" sz="2400" baseline="30000" dirty="0" err="1">
                <a:solidFill>
                  <a:srgbClr val="7030A0"/>
                </a:solidFill>
              </a:rPr>
              <a:t>k</a:t>
            </a:r>
            <a:r>
              <a:rPr lang="en-US" sz="2400" dirty="0" err="1">
                <a:solidFill>
                  <a:srgbClr val="7030A0"/>
                </a:solidFill>
              </a:rPr>
              <a:t>z</a:t>
            </a:r>
            <a:r>
              <a:rPr lang="en-US" sz="2400" dirty="0">
                <a:solidFill>
                  <a:srgbClr val="7030A0"/>
                </a:solidFill>
              </a:rPr>
              <a:t> and show that at least one such w</a:t>
            </a:r>
            <a:r>
              <a:rPr lang="en-US" sz="2400" baseline="-25000" dirty="0">
                <a:solidFill>
                  <a:srgbClr val="7030A0"/>
                </a:solidFill>
              </a:rPr>
              <a:t>k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>
                <a:solidFill>
                  <a:srgbClr val="7030A0"/>
                </a:solidFill>
                <a:sym typeface="Symbol" pitchFamily="28" charset="2"/>
              </a:rPr>
              <a:t> </a:t>
            </a:r>
            <a:r>
              <a:rPr lang="en-US" sz="2400" dirty="0">
                <a:solidFill>
                  <a:srgbClr val="7030A0"/>
                </a:solidFill>
              </a:rPr>
              <a:t>L 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400" dirty="0">
                <a:solidFill>
                  <a:srgbClr val="7030A0"/>
                </a:solidFill>
              </a:rPr>
              <a:t>		</a:t>
            </a:r>
            <a:r>
              <a:rPr lang="en-US" sz="2000" dirty="0">
                <a:solidFill>
                  <a:srgbClr val="7030A0"/>
                </a:solidFill>
              </a:rPr>
              <a:t>=&gt; this implies we have successfully broken the pumping lemma for the language, and hence that the adversary is wrong.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000" dirty="0">
                <a:solidFill>
                  <a:srgbClr val="FF0000"/>
                </a:solidFill>
              </a:rPr>
              <a:t>(Note: In this process, we may have to try many values of k, starting with k=0, and then 2, 3, .. so on, until w</a:t>
            </a:r>
            <a:r>
              <a:rPr lang="en-US" sz="2000" baseline="-25000" dirty="0">
                <a:solidFill>
                  <a:srgbClr val="FF0000"/>
                </a:solidFill>
              </a:rPr>
              <a:t>k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  <a:sym typeface="Symbol" pitchFamily="28" charset="2"/>
              </a:rPr>
              <a:t> </a:t>
            </a:r>
            <a:r>
              <a:rPr lang="en-US" sz="2000" dirty="0">
                <a:solidFill>
                  <a:srgbClr val="FF0000"/>
                </a:solidFill>
              </a:rPr>
              <a:t>L )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8" charset="2"/>
              <a:buNone/>
            </a:pP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76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Pumping Lemma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What WE do?</a:t>
            </a:r>
          </a:p>
          <a:p>
            <a:endParaRPr lang="en-US" dirty="0"/>
          </a:p>
          <a:p>
            <a:endParaRPr lang="en-US" dirty="0"/>
          </a:p>
          <a:p>
            <a:pPr lvl="1">
              <a:buNone/>
            </a:pPr>
            <a:r>
              <a:rPr lang="en-US" sz="2200" dirty="0"/>
              <a:t>3. Using </a:t>
            </a:r>
            <a:r>
              <a:rPr lang="en-US" sz="2200" i="1" dirty="0"/>
              <a:t>N</a:t>
            </a:r>
            <a:r>
              <a:rPr lang="en-US" sz="2200" dirty="0"/>
              <a:t>, we construct our template string </a:t>
            </a:r>
            <a:r>
              <a:rPr lang="en-US" sz="2200" i="1" dirty="0"/>
              <a:t>w</a:t>
            </a:r>
          </a:p>
          <a:p>
            <a:pPr lvl="1">
              <a:buNone/>
            </a:pPr>
            <a:r>
              <a:rPr lang="en-US" sz="2200" dirty="0"/>
              <a:t>4. Demonstrate to the adversary, either through pumping up or down on </a:t>
            </a:r>
            <a:r>
              <a:rPr lang="en-US" sz="2200" i="1" dirty="0"/>
              <a:t>w</a:t>
            </a:r>
            <a:r>
              <a:rPr lang="en-US" sz="2200" dirty="0"/>
              <a:t>, that some string w</a:t>
            </a:r>
            <a:r>
              <a:rPr lang="en-US" sz="2200" baseline="-25000" dirty="0"/>
              <a:t>k</a:t>
            </a:r>
            <a:r>
              <a:rPr lang="en-US" sz="2200" dirty="0"/>
              <a:t> </a:t>
            </a:r>
            <a:r>
              <a:rPr lang="en-US" sz="2200" dirty="0">
                <a:sym typeface="Symbol" pitchFamily="28" charset="2"/>
              </a:rPr>
              <a:t> </a:t>
            </a:r>
            <a:r>
              <a:rPr lang="en-US" sz="2200" dirty="0"/>
              <a:t>L</a:t>
            </a:r>
            <a:br>
              <a:rPr lang="en-US" sz="2200" dirty="0"/>
            </a:br>
            <a:r>
              <a:rPr lang="en-US" sz="2200" dirty="0"/>
              <a:t>(this should happen regardless of w=xyz)</a:t>
            </a:r>
          </a:p>
          <a:p>
            <a:pPr lvl="1">
              <a:buNone/>
            </a:pPr>
            <a:endParaRPr lang="en-US" sz="2200" dirty="0"/>
          </a:p>
          <a:p>
            <a:pPr lvl="1">
              <a:buNone/>
            </a:pPr>
            <a:endParaRPr lang="en-US" sz="2200" i="1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u="sng" dirty="0"/>
              <a:t>What the Adversary does?</a:t>
            </a:r>
          </a:p>
          <a:p>
            <a:pPr marL="914400" lvl="1" indent="-457200">
              <a:buNone/>
            </a:pPr>
            <a:r>
              <a:rPr lang="en-US" sz="2200" dirty="0"/>
              <a:t>1. Claims L is regular</a:t>
            </a:r>
          </a:p>
          <a:p>
            <a:pPr marL="914400" lvl="1" indent="-457200">
              <a:buNone/>
            </a:pPr>
            <a:r>
              <a:rPr lang="en-US" sz="2200" dirty="0"/>
              <a:t>2. Provides </a:t>
            </a:r>
            <a:r>
              <a:rPr lang="en-US" sz="2200" i="1" dirty="0"/>
              <a:t>N</a:t>
            </a:r>
          </a:p>
          <a:p>
            <a:pPr lvl="1"/>
            <a:endParaRPr lang="en-US" sz="2200" i="1" dirty="0"/>
          </a:p>
          <a:p>
            <a:pPr lvl="1"/>
            <a:endParaRPr lang="en-US" sz="2200" i="1" dirty="0"/>
          </a:p>
          <a:p>
            <a:pPr lvl="1">
              <a:buNone/>
            </a:pP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70674C-54CF-4EC1-BCF0-43EEACE5786F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28600" y="0"/>
            <a:ext cx="79433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We don’t have any control over N, except that it is positive.</a:t>
            </a:r>
            <a:br>
              <a:rPr lang="en-US" dirty="0"/>
            </a:br>
            <a:r>
              <a:rPr lang="en-US" dirty="0"/>
              <a:t>	We also don’t have any control over how to split w=xyz, </a:t>
            </a:r>
            <a:br>
              <a:rPr lang="en-US" dirty="0"/>
            </a:br>
            <a:r>
              <a:rPr lang="en-US" dirty="0"/>
              <a:t>		but xyz should respect the P/L conditions (1) and (2).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9AD203E-8B15-4A53-BCE4-421760DB691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/>
              <a:t>Example of using the Pumping Lemma to prove that a language is not regular</a:t>
            </a:r>
            <a:endParaRPr lang="en-US"/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8288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400" b="1">
                <a:solidFill>
                  <a:srgbClr val="FF0000"/>
                </a:solidFill>
              </a:rPr>
              <a:t>Let L</a:t>
            </a:r>
            <a:r>
              <a:rPr lang="en-US" sz="2400" b="1" baseline="-25000">
                <a:solidFill>
                  <a:srgbClr val="FF0000"/>
                </a:solidFill>
              </a:rPr>
              <a:t>eq</a:t>
            </a:r>
            <a:r>
              <a:rPr lang="en-US" sz="2400" b="1">
                <a:solidFill>
                  <a:srgbClr val="FF0000"/>
                </a:solidFill>
              </a:rPr>
              <a:t> = {w | w is a binary string with equal number of 1s and 0s} 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2400" u="sng"/>
              <a:t>Your Claim:</a:t>
            </a:r>
            <a:r>
              <a:rPr lang="en-US" sz="2400"/>
              <a:t> L</a:t>
            </a:r>
            <a:r>
              <a:rPr lang="en-US" sz="2400" baseline="-25000"/>
              <a:t>eq</a:t>
            </a:r>
            <a:r>
              <a:rPr lang="en-US" sz="2400"/>
              <a:t> is not regular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2400" u="sng"/>
              <a:t>Proof: </a:t>
            </a:r>
            <a:endParaRPr lang="en-US" sz="2400"/>
          </a:p>
          <a:p>
            <a:pPr marL="914400" lvl="1" indent="-457200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2200"/>
              <a:t>By contradiction, let L</a:t>
            </a:r>
            <a:r>
              <a:rPr lang="en-US" sz="2200" baseline="-25000"/>
              <a:t>eq</a:t>
            </a:r>
            <a:r>
              <a:rPr lang="en-US" sz="2200"/>
              <a:t> be regular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2200"/>
              <a:t>P/L constant should exist</a:t>
            </a:r>
          </a:p>
          <a:p>
            <a:pPr marL="1295400" lvl="2" indent="-381000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2000"/>
              <a:t>Let </a:t>
            </a:r>
            <a:r>
              <a:rPr lang="en-US" sz="2000" i="1"/>
              <a:t>N</a:t>
            </a:r>
            <a:r>
              <a:rPr lang="en-US" sz="2000"/>
              <a:t> = that P/L constant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2200"/>
              <a:t>Consider input w = 0</a:t>
            </a:r>
            <a:r>
              <a:rPr lang="en-US" sz="2200" baseline="30000"/>
              <a:t>N</a:t>
            </a:r>
            <a:r>
              <a:rPr lang="en-US" sz="2200"/>
              <a:t>1</a:t>
            </a:r>
            <a:r>
              <a:rPr lang="en-US" sz="2200" baseline="30000"/>
              <a:t>N</a:t>
            </a:r>
            <a:r>
              <a:rPr lang="en-US" sz="2200"/>
              <a:t>    </a:t>
            </a:r>
            <a:br>
              <a:rPr lang="en-US" sz="2200"/>
            </a:br>
            <a:r>
              <a:rPr lang="en-US" sz="2200"/>
              <a:t>	</a:t>
            </a:r>
            <a:r>
              <a:rPr lang="en-US" sz="2200" i="1"/>
              <a:t>(your choice for the template string)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2200"/>
              <a:t>By pumping lemma, we should be able to break w=</a:t>
            </a:r>
            <a:r>
              <a:rPr lang="en-US" sz="2200">
                <a:solidFill>
                  <a:schemeClr val="hlink"/>
                </a:solidFill>
              </a:rPr>
              <a:t>x</a:t>
            </a:r>
            <a:r>
              <a:rPr lang="en-US" sz="2200">
                <a:solidFill>
                  <a:srgbClr val="006600"/>
                </a:solidFill>
              </a:rPr>
              <a:t>y</a:t>
            </a:r>
            <a:r>
              <a:rPr lang="en-US" sz="2200">
                <a:solidFill>
                  <a:srgbClr val="993300"/>
                </a:solidFill>
              </a:rPr>
              <a:t>z</a:t>
            </a:r>
            <a:r>
              <a:rPr lang="en-US" sz="2200"/>
              <a:t>, such that:</a:t>
            </a:r>
            <a:endParaRPr lang="en-US" sz="2400"/>
          </a:p>
          <a:p>
            <a:pPr marL="1295400" lvl="2" indent="-381000" eaLnBrk="1" hangingPunct="1">
              <a:lnSpc>
                <a:spcPct val="90000"/>
              </a:lnSpc>
              <a:buFont typeface="Arial" charset="0"/>
              <a:buAutoNum type="arabicParenR"/>
            </a:pP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/>
              <a:t>≠ </a:t>
            </a:r>
            <a:r>
              <a:rPr lang="en-US" sz="2000" i="1">
                <a:sym typeface="Symbol" pitchFamily="28" charset="2"/>
              </a:rPr>
              <a:t></a:t>
            </a:r>
            <a:endParaRPr lang="en-US" sz="1800">
              <a:ea typeface="ＭＳ Ｐゴシック" pitchFamily="28" charset="-128"/>
            </a:endParaRPr>
          </a:p>
          <a:p>
            <a:pPr marL="1295400" lvl="2" indent="-381000" eaLnBrk="1" hangingPunct="1">
              <a:lnSpc>
                <a:spcPct val="90000"/>
              </a:lnSpc>
              <a:buFont typeface="Arial" charset="0"/>
              <a:buAutoNum type="arabicParenR"/>
            </a:pPr>
            <a:r>
              <a:rPr lang="en-US" sz="1800">
                <a:ea typeface="ＭＳ Ｐゴシック" pitchFamily="28" charset="-128"/>
              </a:rPr>
              <a:t>|</a:t>
            </a:r>
            <a:r>
              <a:rPr lang="en-US" sz="1800">
                <a:solidFill>
                  <a:schemeClr val="hlink"/>
                </a:solidFill>
                <a:ea typeface="ＭＳ Ｐゴシック" pitchFamily="28" charset="-128"/>
              </a:rPr>
              <a:t>x</a:t>
            </a:r>
            <a:r>
              <a:rPr lang="en-US" sz="1800">
                <a:solidFill>
                  <a:srgbClr val="006600"/>
                </a:solidFill>
                <a:ea typeface="ＭＳ Ｐゴシック" pitchFamily="28" charset="-128"/>
              </a:rPr>
              <a:t>y</a:t>
            </a:r>
            <a:r>
              <a:rPr lang="en-US" sz="1800">
                <a:ea typeface="ＭＳ Ｐゴシック" pitchFamily="28" charset="-128"/>
              </a:rPr>
              <a:t>|≤N</a:t>
            </a:r>
          </a:p>
          <a:p>
            <a:pPr marL="1295400" lvl="2" indent="-381000" eaLnBrk="1" hangingPunct="1">
              <a:lnSpc>
                <a:spcPct val="90000"/>
              </a:lnSpc>
              <a:buFont typeface="Arial" charset="0"/>
              <a:buAutoNum type="arabicParenR"/>
            </a:pPr>
            <a:r>
              <a:rPr lang="en-US" sz="1800">
                <a:ea typeface="ＭＳ Ｐゴシック" pitchFamily="28" charset="-128"/>
              </a:rPr>
              <a:t>For all k</a:t>
            </a:r>
            <a:r>
              <a:rPr lang="en-US" sz="1800"/>
              <a:t>≥0, the string </a:t>
            </a:r>
            <a:r>
              <a:rPr lang="en-US" sz="1800">
                <a:solidFill>
                  <a:schemeClr val="hlink"/>
                </a:solidFill>
              </a:rPr>
              <a:t>x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 baseline="30000">
                <a:solidFill>
                  <a:srgbClr val="006600"/>
                </a:solidFill>
              </a:rPr>
              <a:t>k</a:t>
            </a:r>
            <a:r>
              <a:rPr lang="en-US" sz="1800">
                <a:solidFill>
                  <a:srgbClr val="993300"/>
                </a:solidFill>
              </a:rPr>
              <a:t>z</a:t>
            </a:r>
            <a:r>
              <a:rPr lang="en-US" sz="1800"/>
              <a:t> is also in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0" y="3276600"/>
            <a:ext cx="960438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  <a:sym typeface="Wingdings" pitchFamily="2" charset="2"/>
              </a:rPr>
              <a:t> </a:t>
            </a:r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</a:rPr>
              <a:t>adv.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077200" y="4386263"/>
            <a:ext cx="85407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 u="sng">
                <a:solidFill>
                  <a:srgbClr val="FF0000"/>
                </a:solidFill>
                <a:sym typeface="Wingdings" pitchFamily="28" charset="2"/>
              </a:rPr>
              <a:t> </a:t>
            </a:r>
            <a:r>
              <a:rPr lang="en-US" sz="1600" b="1" u="sng">
                <a:solidFill>
                  <a:srgbClr val="FF0000"/>
                </a:solidFill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7200" y="3776663"/>
            <a:ext cx="884238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  <a:sym typeface="Wingdings" pitchFamily="2" charset="2"/>
              </a:rPr>
              <a:t> </a:t>
            </a:r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</a:rPr>
              <a:t>adv.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153400" y="5072063"/>
            <a:ext cx="77787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 u="sng">
                <a:solidFill>
                  <a:srgbClr val="FF0000"/>
                </a:solidFill>
                <a:sym typeface="Wingdings" pitchFamily="28" charset="2"/>
              </a:rPr>
              <a:t></a:t>
            </a:r>
            <a:r>
              <a:rPr lang="en-US" sz="1600" b="1" u="sng">
                <a:solidFill>
                  <a:srgbClr val="FF0000"/>
                </a:solidFill>
              </a:rPr>
              <a:t>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52400"/>
            <a:ext cx="9080500" cy="708025"/>
          </a:xfrm>
          <a:prstGeom prst="rect">
            <a:avLst/>
          </a:prstGeom>
          <a:solidFill>
            <a:schemeClr val="accent2"/>
          </a:solidFill>
          <a:ln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u="sng" dirty="0"/>
              <a:t>Note: </a:t>
            </a:r>
            <a:r>
              <a:rPr lang="en-US" dirty="0"/>
              <a:t>This N can be anything (need not necessarily be the #states in the DFA. </a:t>
            </a:r>
            <a:br>
              <a:rPr lang="en-US" dirty="0"/>
            </a:br>
            <a:r>
              <a:rPr lang="en-US" dirty="0"/>
              <a:t>		It’s the adversary’s choice.)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 build="p"/>
      <p:bldP spid="5" grpId="0"/>
      <p:bldP spid="6" grpId="0"/>
      <p:bldP spid="7" grpId="0"/>
      <p:bldP spid="8" grpId="0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F341DB-4AEC-4583-A986-BB8DFB5E460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Proof…		</a:t>
            </a:r>
            <a:endParaRPr lang="en-US" sz="2000"/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990600" lvl="1" indent="-533400" eaLnBrk="1" hangingPunct="1">
              <a:buFont typeface="Wingdings" pitchFamily="28" charset="2"/>
              <a:buChar char="Ø"/>
            </a:pPr>
            <a:r>
              <a:rPr lang="en-US" sz="2200"/>
              <a:t>Because </a:t>
            </a:r>
            <a:r>
              <a:rPr lang="en-US" sz="2400">
                <a:ea typeface="ＭＳ Ｐゴシック" pitchFamily="28" charset="-128"/>
              </a:rPr>
              <a:t>|</a:t>
            </a:r>
            <a:r>
              <a:rPr lang="en-US" sz="2400">
                <a:solidFill>
                  <a:schemeClr val="hlink"/>
                </a:solidFill>
                <a:ea typeface="ＭＳ Ｐゴシック" pitchFamily="28" charset="-128"/>
              </a:rPr>
              <a:t>x</a:t>
            </a:r>
            <a:r>
              <a:rPr lang="en-US" sz="2400">
                <a:solidFill>
                  <a:srgbClr val="006600"/>
                </a:solidFill>
                <a:ea typeface="ＭＳ Ｐゴシック" pitchFamily="28" charset="-128"/>
              </a:rPr>
              <a:t>y</a:t>
            </a:r>
            <a:r>
              <a:rPr lang="en-US" sz="2400">
                <a:ea typeface="ＭＳ Ｐゴシック" pitchFamily="28" charset="-128"/>
              </a:rPr>
              <a:t>|≤N</a:t>
            </a:r>
            <a:r>
              <a:rPr lang="en-US" sz="2200"/>
              <a:t>, </a:t>
            </a:r>
            <a:r>
              <a:rPr lang="en-US" sz="2200">
                <a:solidFill>
                  <a:schemeClr val="hlink"/>
                </a:solidFill>
                <a:ea typeface="ＭＳ Ｐゴシック" pitchFamily="28" charset="-128"/>
              </a:rPr>
              <a:t>x</a:t>
            </a:r>
            <a:r>
              <a:rPr lang="en-US" sz="2200">
                <a:solidFill>
                  <a:srgbClr val="006600"/>
                </a:solidFill>
                <a:ea typeface="ＭＳ Ｐゴシック" pitchFamily="28" charset="-128"/>
              </a:rPr>
              <a:t>y</a:t>
            </a:r>
            <a:r>
              <a:rPr lang="en-US" sz="2200"/>
              <a:t> should contain only 0s</a:t>
            </a:r>
          </a:p>
          <a:p>
            <a:pPr marL="1390650" lvl="2" indent="-533400" eaLnBrk="1" hangingPunct="1">
              <a:buFont typeface="Wingdings" pitchFamily="28" charset="2"/>
              <a:buChar char="Ø"/>
            </a:pPr>
            <a:r>
              <a:rPr lang="en-US" sz="1800"/>
              <a:t>(This and because </a:t>
            </a:r>
            <a:r>
              <a:rPr lang="en-US" sz="2000">
                <a:solidFill>
                  <a:srgbClr val="006600"/>
                </a:solidFill>
              </a:rPr>
              <a:t>y</a:t>
            </a:r>
            <a:r>
              <a:rPr lang="en-US" sz="2000"/>
              <a:t>≠ </a:t>
            </a:r>
            <a:r>
              <a:rPr lang="en-US" sz="2000" i="1">
                <a:sym typeface="Symbol" pitchFamily="28" charset="2"/>
              </a:rPr>
              <a:t></a:t>
            </a:r>
            <a:r>
              <a:rPr lang="en-US" sz="2000">
                <a:ea typeface="ＭＳ Ｐゴシック" pitchFamily="28" charset="-128"/>
                <a:sym typeface="Symbol" pitchFamily="28" charset="2"/>
              </a:rPr>
              <a:t>,</a:t>
            </a:r>
            <a:r>
              <a:rPr lang="en-US" sz="1800"/>
              <a:t>  implies</a:t>
            </a:r>
            <a:r>
              <a:rPr lang="en-US" sz="1800">
                <a:solidFill>
                  <a:srgbClr val="006600"/>
                </a:solidFill>
                <a:ea typeface="ＭＳ Ｐゴシック" pitchFamily="28" charset="-128"/>
              </a:rPr>
              <a:t> y=0</a:t>
            </a:r>
            <a:r>
              <a:rPr lang="en-US" sz="1800" baseline="30000">
                <a:solidFill>
                  <a:srgbClr val="006600"/>
                </a:solidFill>
                <a:ea typeface="ＭＳ Ｐゴシック" pitchFamily="28" charset="-128"/>
              </a:rPr>
              <a:t>+</a:t>
            </a:r>
            <a:r>
              <a:rPr lang="en-US" sz="1800"/>
              <a:t>)</a:t>
            </a:r>
          </a:p>
          <a:p>
            <a:pPr marL="990600" lvl="1" indent="-533400" eaLnBrk="1" hangingPunct="1">
              <a:buFont typeface="Wingdings" pitchFamily="28" charset="2"/>
              <a:buChar char="Ø"/>
            </a:pPr>
            <a:r>
              <a:rPr lang="en-US" sz="2200"/>
              <a:t>Therefore </a:t>
            </a:r>
            <a:r>
              <a:rPr lang="en-US" sz="2200">
                <a:solidFill>
                  <a:schemeClr val="hlink"/>
                </a:solidFill>
                <a:ea typeface="ＭＳ Ｐゴシック" pitchFamily="28" charset="-128"/>
              </a:rPr>
              <a:t>x </a:t>
            </a:r>
            <a:r>
              <a:rPr lang="en-US" sz="2200"/>
              <a:t>can contain </a:t>
            </a:r>
            <a:r>
              <a:rPr lang="en-US" sz="2200" i="1"/>
              <a:t>at most</a:t>
            </a:r>
            <a:r>
              <a:rPr lang="en-US" sz="2200"/>
              <a:t> N-1 0s</a:t>
            </a:r>
          </a:p>
          <a:p>
            <a:pPr marL="990600" lvl="1" indent="-533400" eaLnBrk="1" hangingPunct="1">
              <a:buFont typeface="Wingdings" pitchFamily="28" charset="2"/>
              <a:buChar char="Ø"/>
            </a:pPr>
            <a:r>
              <a:rPr lang="en-US" sz="2200"/>
              <a:t>Also, all the N 1s must be inside </a:t>
            </a:r>
            <a:r>
              <a:rPr lang="en-US" sz="2200">
                <a:solidFill>
                  <a:srgbClr val="993300"/>
                </a:solidFill>
              </a:rPr>
              <a:t>z</a:t>
            </a:r>
            <a:endParaRPr lang="en-US" sz="2200"/>
          </a:p>
          <a:p>
            <a:pPr marL="990600" lvl="1" indent="-533400" eaLnBrk="1" hangingPunct="1">
              <a:buFont typeface="Wingdings" pitchFamily="28" charset="2"/>
              <a:buChar char="Ø"/>
            </a:pPr>
            <a:r>
              <a:rPr lang="en-US" sz="2200"/>
              <a:t>By (3), any string of the form </a:t>
            </a:r>
            <a:r>
              <a:rPr lang="en-US" sz="2200">
                <a:solidFill>
                  <a:schemeClr val="hlink"/>
                </a:solidFill>
              </a:rPr>
              <a:t>x</a:t>
            </a:r>
            <a:r>
              <a:rPr lang="en-US" sz="2200">
                <a:solidFill>
                  <a:srgbClr val="006600"/>
                </a:solidFill>
              </a:rPr>
              <a:t>y</a:t>
            </a:r>
            <a:r>
              <a:rPr lang="en-US" sz="2200" baseline="30000">
                <a:solidFill>
                  <a:srgbClr val="006600"/>
                </a:solidFill>
              </a:rPr>
              <a:t>k</a:t>
            </a:r>
            <a:r>
              <a:rPr lang="en-US" sz="2200">
                <a:solidFill>
                  <a:srgbClr val="993300"/>
                </a:solidFill>
              </a:rPr>
              <a:t>z</a:t>
            </a:r>
            <a:r>
              <a:rPr lang="en-US" sz="2200"/>
              <a:t> </a:t>
            </a:r>
            <a:r>
              <a:rPr lang="en-US" sz="2200">
                <a:sym typeface="Symbol" pitchFamily="28" charset="2"/>
              </a:rPr>
              <a:t></a:t>
            </a:r>
            <a:r>
              <a:rPr lang="en-US" sz="2200"/>
              <a:t> L</a:t>
            </a:r>
            <a:r>
              <a:rPr lang="en-US" sz="2200" baseline="-25000"/>
              <a:t>eq</a:t>
            </a:r>
            <a:r>
              <a:rPr lang="en-US" sz="2200"/>
              <a:t> for all </a:t>
            </a:r>
            <a:r>
              <a:rPr lang="en-US" sz="2200">
                <a:ea typeface="ＭＳ Ｐゴシック" pitchFamily="28" charset="-128"/>
              </a:rPr>
              <a:t>k</a:t>
            </a:r>
            <a:r>
              <a:rPr lang="en-US" sz="2200"/>
              <a:t>≥0 </a:t>
            </a:r>
          </a:p>
          <a:p>
            <a:pPr marL="990600" lvl="1" indent="-533400" eaLnBrk="1" hangingPunct="1">
              <a:buFont typeface="Wingdings" pitchFamily="28" charset="2"/>
              <a:buChar char="Ø"/>
            </a:pPr>
            <a:r>
              <a:rPr lang="en-US" sz="2200" u="sng"/>
              <a:t>Case k=0:</a:t>
            </a:r>
            <a:r>
              <a:rPr lang="en-US" sz="2200"/>
              <a:t> </a:t>
            </a:r>
            <a:r>
              <a:rPr lang="en-US" sz="2200">
                <a:solidFill>
                  <a:schemeClr val="hlink"/>
                </a:solidFill>
                <a:ea typeface="ＭＳ Ｐゴシック" pitchFamily="28" charset="-128"/>
              </a:rPr>
              <a:t>x</a:t>
            </a:r>
            <a:r>
              <a:rPr lang="en-US" sz="2200">
                <a:solidFill>
                  <a:srgbClr val="993300"/>
                </a:solidFill>
              </a:rPr>
              <a:t>z </a:t>
            </a:r>
            <a:r>
              <a:rPr lang="en-US" sz="2200"/>
              <a:t>has at most N-1 0s but has N 1s</a:t>
            </a:r>
          </a:p>
          <a:p>
            <a:pPr marL="990600" lvl="1" indent="-533400" eaLnBrk="1" hangingPunct="1">
              <a:buFont typeface="Wingdings" pitchFamily="28" charset="2"/>
              <a:buChar char="Ø"/>
            </a:pPr>
            <a:r>
              <a:rPr lang="en-US" sz="2200"/>
              <a:t>Therefore, </a:t>
            </a:r>
            <a:r>
              <a:rPr lang="en-US" sz="2200">
                <a:solidFill>
                  <a:schemeClr val="hlink"/>
                </a:solidFill>
              </a:rPr>
              <a:t>x</a:t>
            </a:r>
            <a:r>
              <a:rPr lang="en-US" sz="2200">
                <a:solidFill>
                  <a:srgbClr val="006600"/>
                </a:solidFill>
              </a:rPr>
              <a:t>y</a:t>
            </a:r>
            <a:r>
              <a:rPr lang="en-US" sz="2200" baseline="30000">
                <a:solidFill>
                  <a:srgbClr val="006600"/>
                </a:solidFill>
              </a:rPr>
              <a:t>0</a:t>
            </a:r>
            <a:r>
              <a:rPr lang="en-US" sz="2200">
                <a:solidFill>
                  <a:srgbClr val="993300"/>
                </a:solidFill>
              </a:rPr>
              <a:t>z</a:t>
            </a:r>
            <a:r>
              <a:rPr lang="en-US" sz="2200"/>
              <a:t> </a:t>
            </a:r>
            <a:r>
              <a:rPr lang="en-US" sz="2200">
                <a:sym typeface="Symbol" pitchFamily="28" charset="2"/>
              </a:rPr>
              <a:t></a:t>
            </a:r>
            <a:r>
              <a:rPr lang="en-US" sz="2200"/>
              <a:t> L</a:t>
            </a:r>
            <a:r>
              <a:rPr lang="en-US" sz="2200" baseline="-25000"/>
              <a:t>eq</a:t>
            </a:r>
            <a:endParaRPr lang="en-US" sz="2200"/>
          </a:p>
          <a:p>
            <a:pPr marL="990600" lvl="1" indent="-533400" eaLnBrk="1" hangingPunct="1">
              <a:buFont typeface="Wingdings" pitchFamily="28" charset="2"/>
              <a:buChar char="Ø"/>
            </a:pPr>
            <a:r>
              <a:rPr lang="en-US" sz="2200"/>
              <a:t>This violates the P/L (a contradiction)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162800" y="4800600"/>
            <a:ext cx="304800" cy="381000"/>
            <a:chOff x="3072" y="3840"/>
            <a:chExt cx="192" cy="240"/>
          </a:xfrm>
        </p:grpSpPr>
        <p:grpSp>
          <p:nvGrpSpPr>
            <p:cNvPr id="18450" name="Group 5"/>
            <p:cNvGrpSpPr>
              <a:grpSpLocks/>
            </p:cNvGrpSpPr>
            <p:nvPr/>
          </p:nvGrpSpPr>
          <p:grpSpPr bwMode="auto">
            <a:xfrm>
              <a:off x="3120" y="3840"/>
              <a:ext cx="96" cy="240"/>
              <a:chOff x="3120" y="3840"/>
              <a:chExt cx="96" cy="240"/>
            </a:xfrm>
          </p:grpSpPr>
          <p:sp>
            <p:nvSpPr>
              <p:cNvPr id="18452" name="Line 6"/>
              <p:cNvSpPr>
                <a:spLocks noChangeShapeType="1"/>
              </p:cNvSpPr>
              <p:nvPr/>
            </p:nvSpPr>
            <p:spPr bwMode="auto">
              <a:xfrm flipH="1">
                <a:off x="3120" y="3840"/>
                <a:ext cx="48" cy="96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3" name="Line 7"/>
              <p:cNvSpPr>
                <a:spLocks noChangeShapeType="1"/>
              </p:cNvSpPr>
              <p:nvPr/>
            </p:nvSpPr>
            <p:spPr bwMode="auto">
              <a:xfrm>
                <a:off x="3120" y="3936"/>
                <a:ext cx="96" cy="48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54" name="Line 8"/>
              <p:cNvSpPr>
                <a:spLocks noChangeShapeType="1"/>
              </p:cNvSpPr>
              <p:nvPr/>
            </p:nvSpPr>
            <p:spPr bwMode="auto">
              <a:xfrm flipH="1">
                <a:off x="3120" y="3984"/>
                <a:ext cx="96" cy="96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51" name="Line 9"/>
            <p:cNvSpPr>
              <a:spLocks noChangeShapeType="1"/>
            </p:cNvSpPr>
            <p:nvPr/>
          </p:nvSpPr>
          <p:spPr bwMode="auto">
            <a:xfrm>
              <a:off x="3072" y="3936"/>
              <a:ext cx="192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4570" name="Text Box 10"/>
          <p:cNvSpPr txBox="1">
            <a:spLocks noChangeArrowheads="1"/>
          </p:cNvSpPr>
          <p:nvPr/>
        </p:nvSpPr>
        <p:spPr bwMode="auto">
          <a:xfrm>
            <a:off x="1676400" y="5562600"/>
            <a:ext cx="6400800" cy="100647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Another way of proving this will be to show that if </a:t>
            </a:r>
            <a:br>
              <a:rPr lang="en-US">
                <a:solidFill>
                  <a:schemeClr val="tx2"/>
                </a:solidFill>
              </a:rPr>
            </a:br>
            <a:r>
              <a:rPr lang="en-US">
                <a:solidFill>
                  <a:schemeClr val="tx2"/>
                </a:solidFill>
              </a:rPr>
              <a:t>the #0s is arbitrarily pumped up (e.g., k=2),</a:t>
            </a:r>
            <a:br>
              <a:rPr lang="en-US">
                <a:solidFill>
                  <a:schemeClr val="tx2"/>
                </a:solidFill>
              </a:rPr>
            </a:br>
            <a:r>
              <a:rPr lang="en-US">
                <a:solidFill>
                  <a:schemeClr val="tx2"/>
                </a:solidFill>
              </a:rPr>
              <a:t>then the #0s will become exceed the #1s </a:t>
            </a:r>
          </a:p>
        </p:txBody>
      </p:sp>
      <p:sp>
        <p:nvSpPr>
          <p:cNvPr id="18439" name="TextBox 11"/>
          <p:cNvSpPr txBox="1">
            <a:spLocks noChangeArrowheads="1"/>
          </p:cNvSpPr>
          <p:nvPr/>
        </p:nvSpPr>
        <p:spPr bwMode="auto">
          <a:xfrm>
            <a:off x="8229600" y="2057400"/>
            <a:ext cx="8255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u="sng">
                <a:solidFill>
                  <a:srgbClr val="FF0000"/>
                </a:solidFill>
                <a:sym typeface="Wingdings" pitchFamily="28" charset="2"/>
              </a:rPr>
              <a:t> </a:t>
            </a:r>
            <a:r>
              <a:rPr lang="en-US" sz="1600" b="1" u="sng">
                <a:solidFill>
                  <a:srgbClr val="FF0000"/>
                </a:solidFill>
              </a:rPr>
              <a:t>you</a:t>
            </a:r>
          </a:p>
        </p:txBody>
      </p:sp>
      <p:cxnSp>
        <p:nvCxnSpPr>
          <p:cNvPr id="18440" name="Straight Arrow Connector 15"/>
          <p:cNvCxnSpPr>
            <a:cxnSpLocks noChangeShapeType="1"/>
          </p:cNvCxnSpPr>
          <p:nvPr/>
        </p:nvCxnSpPr>
        <p:spPr bwMode="auto">
          <a:xfrm flipH="1">
            <a:off x="8610600" y="2362200"/>
            <a:ext cx="31750" cy="2895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8441" name="TextBox 14"/>
          <p:cNvSpPr txBox="1">
            <a:spLocks noChangeArrowheads="1"/>
          </p:cNvSpPr>
          <p:nvPr/>
        </p:nvSpPr>
        <p:spPr bwMode="auto">
          <a:xfrm>
            <a:off x="2209800" y="304800"/>
            <a:ext cx="57070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Template string w = 0</a:t>
            </a:r>
            <a:r>
              <a:rPr lang="en-US" baseline="30000">
                <a:solidFill>
                  <a:srgbClr val="C00000"/>
                </a:solidFill>
              </a:rPr>
              <a:t>N</a:t>
            </a:r>
            <a:r>
              <a:rPr lang="en-US">
                <a:solidFill>
                  <a:srgbClr val="C00000"/>
                </a:solidFill>
              </a:rPr>
              <a:t>1</a:t>
            </a:r>
            <a:r>
              <a:rPr lang="en-US" baseline="30000">
                <a:solidFill>
                  <a:srgbClr val="C00000"/>
                </a:solidFill>
              </a:rPr>
              <a:t>N  </a:t>
            </a:r>
            <a:r>
              <a:rPr lang="en-US">
                <a:solidFill>
                  <a:srgbClr val="C00000"/>
                </a:solidFill>
              </a:rPr>
              <a:t>= 00  ….     011  …    1</a:t>
            </a:r>
          </a:p>
        </p:txBody>
      </p:sp>
      <p:cxnSp>
        <p:nvCxnSpPr>
          <p:cNvPr id="18442" name="Straight Arrow Connector 18"/>
          <p:cNvCxnSpPr>
            <a:cxnSpLocks noChangeShapeType="1"/>
          </p:cNvCxnSpPr>
          <p:nvPr/>
        </p:nvCxnSpPr>
        <p:spPr bwMode="auto">
          <a:xfrm flipH="1">
            <a:off x="5410200" y="685800"/>
            <a:ext cx="381000" cy="0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arrow" w="med" len="med"/>
          </a:ln>
        </p:spPr>
      </p:cxnSp>
      <p:cxnSp>
        <p:nvCxnSpPr>
          <p:cNvPr id="18443" name="Straight Arrow Connector 20"/>
          <p:cNvCxnSpPr>
            <a:cxnSpLocks noChangeShapeType="1"/>
          </p:cNvCxnSpPr>
          <p:nvPr/>
        </p:nvCxnSpPr>
        <p:spPr bwMode="auto">
          <a:xfrm flipH="1">
            <a:off x="6629400" y="685800"/>
            <a:ext cx="381000" cy="0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/>
            <a:tailEnd type="arrow" w="med" len="med"/>
          </a:ln>
        </p:spPr>
      </p:cxnSp>
      <p:cxnSp>
        <p:nvCxnSpPr>
          <p:cNvPr id="18444" name="Straight Arrow Connector 21"/>
          <p:cNvCxnSpPr>
            <a:cxnSpLocks noChangeShapeType="1"/>
          </p:cNvCxnSpPr>
          <p:nvPr/>
        </p:nvCxnSpPr>
        <p:spPr bwMode="auto">
          <a:xfrm flipH="1">
            <a:off x="7315200" y="685800"/>
            <a:ext cx="381000" cy="0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 type="arrow" w="med" len="med"/>
            <a:tailEnd/>
          </a:ln>
        </p:spPr>
      </p:cxnSp>
      <p:cxnSp>
        <p:nvCxnSpPr>
          <p:cNvPr id="18445" name="Straight Arrow Connector 22"/>
          <p:cNvCxnSpPr>
            <a:cxnSpLocks noChangeShapeType="1"/>
          </p:cNvCxnSpPr>
          <p:nvPr/>
        </p:nvCxnSpPr>
        <p:spPr bwMode="auto">
          <a:xfrm flipH="1">
            <a:off x="6248400" y="685800"/>
            <a:ext cx="381000" cy="0"/>
          </a:xfrm>
          <a:prstGeom prst="straightConnector1">
            <a:avLst/>
          </a:prstGeom>
          <a:noFill/>
          <a:ln w="9525" algn="ctr">
            <a:solidFill>
              <a:srgbClr val="C00000"/>
            </a:solidFill>
            <a:round/>
            <a:headEnd type="arrow" w="med" len="med"/>
            <a:tailEnd/>
          </a:ln>
        </p:spPr>
      </p:cxnSp>
      <p:sp>
        <p:nvSpPr>
          <p:cNvPr id="18446" name="TextBox 23"/>
          <p:cNvSpPr txBox="1">
            <a:spLocks noChangeArrowheads="1"/>
          </p:cNvSpPr>
          <p:nvPr/>
        </p:nvSpPr>
        <p:spPr bwMode="auto">
          <a:xfrm>
            <a:off x="5867400" y="514350"/>
            <a:ext cx="331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18447" name="TextBox 24"/>
          <p:cNvSpPr txBox="1">
            <a:spLocks noChangeArrowheads="1"/>
          </p:cNvSpPr>
          <p:nvPr/>
        </p:nvSpPr>
        <p:spPr bwMode="auto">
          <a:xfrm>
            <a:off x="7010400" y="514350"/>
            <a:ext cx="3317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C00000"/>
                </a:solidFill>
              </a:rPr>
              <a:t>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" y="4114800"/>
            <a:ext cx="1635125" cy="738188"/>
          </a:xfrm>
          <a:prstGeom prst="rect">
            <a:avLst/>
          </a:prstGeom>
          <a:solidFill>
            <a:schemeClr val="accent2"/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1400" dirty="0"/>
              <a:t>Setting k=0 is </a:t>
            </a:r>
            <a:br>
              <a:rPr lang="en-US" sz="1400" dirty="0"/>
            </a:br>
            <a:r>
              <a:rPr lang="en-US" sz="1400" dirty="0"/>
              <a:t>referred to as</a:t>
            </a:r>
            <a:br>
              <a:rPr lang="en-US" sz="1400" dirty="0"/>
            </a:br>
            <a:r>
              <a:rPr lang="en-US" sz="1400" b="1" u="sng" dirty="0"/>
              <a:t>“pumping down”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" y="5867400"/>
            <a:ext cx="1387475" cy="738188"/>
          </a:xfrm>
          <a:prstGeom prst="rect">
            <a:avLst/>
          </a:prstGeom>
          <a:solidFill>
            <a:schemeClr val="accent2"/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1400" dirty="0"/>
              <a:t>Setting k&gt;1 is </a:t>
            </a:r>
            <a:br>
              <a:rPr lang="en-US" sz="1400" dirty="0"/>
            </a:br>
            <a:r>
              <a:rPr lang="en-US" sz="1400" dirty="0"/>
              <a:t>referred to as</a:t>
            </a:r>
            <a:br>
              <a:rPr lang="en-US" sz="1400" dirty="0"/>
            </a:br>
            <a:r>
              <a:rPr lang="en-US" sz="1400" b="1" u="sng" dirty="0"/>
              <a:t>“pumping up”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build="p"/>
      <p:bldP spid="194570" grpId="0" animBg="1"/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BBF7A4B-E53E-42F3-A52B-D56A59304D7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Exercise 2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 i="1">
                <a:solidFill>
                  <a:srgbClr val="FF0000"/>
                </a:solidFill>
              </a:rPr>
              <a:t>Prove L = {0</a:t>
            </a:r>
            <a:r>
              <a:rPr lang="en-US" i="1" baseline="30000">
                <a:solidFill>
                  <a:srgbClr val="FF0000"/>
                </a:solidFill>
              </a:rPr>
              <a:t>n</a:t>
            </a:r>
            <a:r>
              <a:rPr lang="en-US" i="1">
                <a:solidFill>
                  <a:srgbClr val="FF0000"/>
                </a:solidFill>
              </a:rPr>
              <a:t>10</a:t>
            </a:r>
            <a:r>
              <a:rPr lang="en-US" i="1" baseline="30000">
                <a:solidFill>
                  <a:srgbClr val="FF0000"/>
                </a:solidFill>
              </a:rPr>
              <a:t>n</a:t>
            </a:r>
            <a:r>
              <a:rPr lang="en-US" i="1">
                <a:solidFill>
                  <a:srgbClr val="FF0000"/>
                </a:solidFill>
              </a:rPr>
              <a:t> | n≥ 1} is not regular</a:t>
            </a:r>
          </a:p>
          <a:p>
            <a:pPr eaLnBrk="1" hangingPunct="1"/>
            <a:endParaRPr lang="en-US" sz="2600" u="sng"/>
          </a:p>
          <a:p>
            <a:pPr eaLnBrk="1" hangingPunct="1">
              <a:buFont typeface="Wingdings" pitchFamily="28" charset="2"/>
              <a:buNone/>
            </a:pPr>
            <a:r>
              <a:rPr lang="en-US" sz="2600" u="sng"/>
              <a:t>Note: </a:t>
            </a:r>
            <a:r>
              <a:rPr lang="en-US" sz="2600"/>
              <a:t>This n is not to be confused with the pumping lemma constant N. That </a:t>
            </a:r>
            <a:r>
              <a:rPr lang="en-US" sz="2600" i="1"/>
              <a:t>can</a:t>
            </a:r>
            <a:r>
              <a:rPr lang="en-US" sz="2600"/>
              <a:t> be different.</a:t>
            </a:r>
          </a:p>
          <a:p>
            <a:pPr eaLnBrk="1" hangingPunct="1">
              <a:buFont typeface="Wingdings" pitchFamily="28" charset="2"/>
              <a:buNone/>
            </a:pPr>
            <a:endParaRPr lang="en-US" sz="2600">
              <a:sym typeface="Wingdings" pitchFamily="28" charset="2"/>
            </a:endParaRPr>
          </a:p>
          <a:p>
            <a:pPr eaLnBrk="1" hangingPunct="1">
              <a:buFont typeface="Wingdings" pitchFamily="28" charset="2"/>
              <a:buNone/>
            </a:pPr>
            <a:r>
              <a:rPr lang="en-US" sz="2600">
                <a:sym typeface="Wingdings" pitchFamily="28" charset="2"/>
              </a:rPr>
              <a:t>In other words, the above question is s</a:t>
            </a:r>
            <a:r>
              <a:rPr lang="en-US" sz="2600"/>
              <a:t>ame as proving:</a:t>
            </a:r>
          </a:p>
          <a:p>
            <a:pPr lvl="1" eaLnBrk="1" hangingPunct="1"/>
            <a:r>
              <a:rPr lang="en-US" sz="2600">
                <a:solidFill>
                  <a:srgbClr val="FF0000"/>
                </a:solidFill>
              </a:rPr>
              <a:t>L = {0</a:t>
            </a:r>
            <a:r>
              <a:rPr lang="en-US" sz="2600" baseline="30000">
                <a:solidFill>
                  <a:srgbClr val="FF0000"/>
                </a:solidFill>
              </a:rPr>
              <a:t>m</a:t>
            </a:r>
            <a:r>
              <a:rPr lang="en-US" sz="2600">
                <a:solidFill>
                  <a:srgbClr val="FF0000"/>
                </a:solidFill>
              </a:rPr>
              <a:t>10</a:t>
            </a:r>
            <a:r>
              <a:rPr lang="en-US" sz="2600" baseline="30000">
                <a:solidFill>
                  <a:srgbClr val="FF0000"/>
                </a:solidFill>
              </a:rPr>
              <a:t>m</a:t>
            </a:r>
            <a:r>
              <a:rPr lang="en-US" sz="2600">
                <a:solidFill>
                  <a:srgbClr val="FF0000"/>
                </a:solidFill>
              </a:rPr>
              <a:t> | m≥ 1} is not regular</a:t>
            </a:r>
          </a:p>
          <a:p>
            <a:pPr eaLnBrk="1" hangingPunct="1">
              <a:buFont typeface="Wingdings" pitchFamily="28" charset="2"/>
              <a:buNone/>
            </a:pPr>
            <a:endParaRPr lang="en-US" sz="2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9099098-90A4-4F51-9A78-2575BA059481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3: Pumping Lemma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400" b="1" u="sng">
                <a:solidFill>
                  <a:schemeClr val="hlink"/>
                </a:solidFill>
              </a:rPr>
              <a:t>Claim: </a:t>
            </a:r>
            <a:r>
              <a:rPr lang="en-US" sz="2400" b="1">
                <a:solidFill>
                  <a:schemeClr val="hlink"/>
                </a:solidFill>
              </a:rPr>
              <a:t>L = { 0</a:t>
            </a:r>
            <a:r>
              <a:rPr lang="en-US" sz="2400" b="1" baseline="30000">
                <a:solidFill>
                  <a:schemeClr val="hlink"/>
                </a:solidFill>
              </a:rPr>
              <a:t>i</a:t>
            </a:r>
            <a:r>
              <a:rPr lang="en-US" sz="2400" b="1">
                <a:solidFill>
                  <a:schemeClr val="hlink"/>
                </a:solidFill>
              </a:rPr>
              <a:t> | i is a perfect square} is not regular</a:t>
            </a:r>
            <a:endParaRPr lang="en-US" sz="2400"/>
          </a:p>
          <a:p>
            <a:pPr eaLnBrk="1" hangingPunct="1">
              <a:lnSpc>
                <a:spcPct val="90000"/>
              </a:lnSpc>
            </a:pPr>
            <a:r>
              <a:rPr lang="en-US" sz="2400" u="sng"/>
              <a:t>Proof:</a:t>
            </a:r>
            <a:r>
              <a:rPr lang="en-US" sz="2600" u="sng"/>
              <a:t> </a:t>
            </a:r>
            <a:endParaRPr lang="en-US" sz="2600"/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By contradiction, let L be regular. 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P/L should apply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Let </a:t>
            </a:r>
            <a:r>
              <a:rPr lang="en-US" sz="1800" i="1"/>
              <a:t>N</a:t>
            </a:r>
            <a:r>
              <a:rPr lang="en-US" sz="1800"/>
              <a:t> = P/L constant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Choose w=0</a:t>
            </a:r>
            <a:r>
              <a:rPr lang="en-US" sz="1800" baseline="30000"/>
              <a:t>N</a:t>
            </a:r>
            <a:r>
              <a:rPr lang="en-US" sz="1800" baseline="50000"/>
              <a:t>2</a:t>
            </a:r>
            <a:endParaRPr lang="en-US" sz="1800"/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By pumping lemma, w=</a:t>
            </a:r>
            <a:r>
              <a:rPr lang="en-US" sz="1800">
                <a:solidFill>
                  <a:schemeClr val="hlink"/>
                </a:solidFill>
              </a:rPr>
              <a:t>x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>
                <a:solidFill>
                  <a:srgbClr val="993300"/>
                </a:solidFill>
              </a:rPr>
              <a:t>z</a:t>
            </a:r>
            <a:r>
              <a:rPr lang="en-US" sz="1800"/>
              <a:t> satisfying all three rules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By rules (1) &amp; (2), 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/>
              <a:t> has between 1 and N 0s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By rule (3), any string of the form </a:t>
            </a:r>
            <a:r>
              <a:rPr lang="en-US" sz="1800">
                <a:solidFill>
                  <a:schemeClr val="hlink"/>
                </a:solidFill>
              </a:rPr>
              <a:t>x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 baseline="30000">
                <a:solidFill>
                  <a:srgbClr val="006600"/>
                </a:solidFill>
              </a:rPr>
              <a:t>k</a:t>
            </a:r>
            <a:r>
              <a:rPr lang="en-US" sz="1800">
                <a:solidFill>
                  <a:srgbClr val="993300"/>
                </a:solidFill>
              </a:rPr>
              <a:t>z</a:t>
            </a:r>
            <a:r>
              <a:rPr lang="en-US" sz="1800"/>
              <a:t> is also in L for all </a:t>
            </a:r>
            <a:r>
              <a:rPr lang="en-US" sz="1800">
                <a:ea typeface="ＭＳ Ｐゴシック" pitchFamily="28" charset="-128"/>
              </a:rPr>
              <a:t>k</a:t>
            </a:r>
            <a:r>
              <a:rPr lang="en-US" sz="1800"/>
              <a:t>≥0 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Case k=0: 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	= 	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- #zeros (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/>
              <a:t>)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                 N</a:t>
            </a:r>
            <a:r>
              <a:rPr lang="en-US" sz="1400" baseline="30000"/>
              <a:t>2</a:t>
            </a:r>
            <a:r>
              <a:rPr lang="en-US" sz="1400"/>
              <a:t> – N    ≤  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   ≤   N</a:t>
            </a:r>
            <a:r>
              <a:rPr lang="en-US" sz="1400" baseline="30000"/>
              <a:t>2</a:t>
            </a:r>
            <a:r>
              <a:rPr lang="en-US" sz="1400"/>
              <a:t> - 1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 b="1"/>
              <a:t>(N-1)</a:t>
            </a:r>
            <a:r>
              <a:rPr lang="en-US" sz="1400" b="1" baseline="30000"/>
              <a:t>2</a:t>
            </a:r>
            <a:r>
              <a:rPr lang="en-US" sz="1400"/>
              <a:t>   &lt;   N</a:t>
            </a:r>
            <a:r>
              <a:rPr lang="en-US" sz="1400" baseline="30000"/>
              <a:t>2</a:t>
            </a:r>
            <a:r>
              <a:rPr lang="en-US" sz="1400"/>
              <a:t> - N   ≤ 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    ≤    N</a:t>
            </a:r>
            <a:r>
              <a:rPr lang="en-US" sz="1400" baseline="30000"/>
              <a:t>2</a:t>
            </a:r>
            <a:r>
              <a:rPr lang="en-US" sz="1400"/>
              <a:t> - 1   &lt;   </a:t>
            </a:r>
            <a:r>
              <a:rPr lang="en-US" sz="1400" b="1"/>
              <a:t>N</a:t>
            </a:r>
            <a:r>
              <a:rPr lang="en-US" sz="1400" b="1" baseline="30000"/>
              <a:t>2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 </a:t>
            </a:r>
            <a:r>
              <a:rPr lang="en-US" sz="1400">
                <a:sym typeface="Symbol" pitchFamily="28" charset="2"/>
              </a:rPr>
              <a:t> </a:t>
            </a:r>
            <a:r>
              <a:rPr lang="en-US" sz="1400"/>
              <a:t> L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But the above will complete the proof ONLY IF N&gt;1. 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… (proof contd.. Next slide)</a:t>
            </a:r>
            <a:endParaRPr lang="en-US" sz="2200"/>
          </a:p>
          <a:p>
            <a:pPr eaLnBrk="1" hangingPunct="1">
              <a:lnSpc>
                <a:spcPct val="90000"/>
              </a:lnSpc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B0CDF95-7123-4939-968B-C70ED084A09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 3: Pumping Lemma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(proof contd…)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If the adversary pick N=1, then </a:t>
            </a:r>
            <a:r>
              <a:rPr lang="en-US" sz="1400" b="1"/>
              <a:t>(N-1)</a:t>
            </a:r>
            <a:r>
              <a:rPr lang="en-US" sz="1400" b="1" baseline="30000"/>
              <a:t>2</a:t>
            </a:r>
            <a:r>
              <a:rPr lang="en-US" sz="1400"/>
              <a:t>   </a:t>
            </a:r>
            <a:r>
              <a:rPr lang="en-US" sz="1400">
                <a:solidFill>
                  <a:srgbClr val="FF0000"/>
                </a:solidFill>
              </a:rPr>
              <a:t>≤   </a:t>
            </a:r>
            <a:r>
              <a:rPr lang="en-US" sz="1400"/>
              <a:t>N</a:t>
            </a:r>
            <a:r>
              <a:rPr lang="en-US" sz="1400" baseline="30000"/>
              <a:t>2</a:t>
            </a:r>
            <a:r>
              <a:rPr lang="en-US" sz="1400"/>
              <a:t> – N, and therefore the #zeros(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could end up being a perfect square!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This means that pumping down (i.e., setting k=0) is not giving us the proof!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So lets try pumping up next…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800"/>
              <a:t>Case k=2: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2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	=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+  #zeros (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/>
              <a:t>)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                 N</a:t>
            </a:r>
            <a:r>
              <a:rPr lang="en-US" sz="1400" baseline="30000"/>
              <a:t>2</a:t>
            </a:r>
            <a:r>
              <a:rPr lang="en-US" sz="1400"/>
              <a:t> + 1    ≤  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2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   ≤   N</a:t>
            </a:r>
            <a:r>
              <a:rPr lang="en-US" sz="1400" baseline="30000"/>
              <a:t>2</a:t>
            </a:r>
            <a:r>
              <a:rPr lang="en-US" sz="1400"/>
              <a:t> + N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 b="1"/>
              <a:t>N</a:t>
            </a:r>
            <a:r>
              <a:rPr lang="en-US" sz="1400" b="1" baseline="30000"/>
              <a:t>2</a:t>
            </a:r>
            <a:r>
              <a:rPr lang="en-US" sz="1400"/>
              <a:t>   &lt;   N</a:t>
            </a:r>
            <a:r>
              <a:rPr lang="en-US" sz="1400" baseline="30000"/>
              <a:t>2</a:t>
            </a:r>
            <a:r>
              <a:rPr lang="en-US" sz="1400"/>
              <a:t> + 1 ≤ 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2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    ≤    N</a:t>
            </a:r>
            <a:r>
              <a:rPr lang="en-US" sz="1400" baseline="30000"/>
              <a:t>2</a:t>
            </a:r>
            <a:r>
              <a:rPr lang="en-US" sz="1400"/>
              <a:t> + N   &lt;   (</a:t>
            </a:r>
            <a:r>
              <a:rPr lang="en-US" sz="1400" b="1"/>
              <a:t>N+1)</a:t>
            </a:r>
            <a:r>
              <a:rPr lang="en-US" sz="1400" b="1" baseline="30000"/>
              <a:t>2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 baseline="30000">
                <a:solidFill>
                  <a:srgbClr val="006600"/>
                </a:solidFill>
              </a:rPr>
              <a:t>2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 </a:t>
            </a:r>
            <a:r>
              <a:rPr lang="en-US" sz="1400">
                <a:sym typeface="Symbol" pitchFamily="28" charset="2"/>
              </a:rPr>
              <a:t> </a:t>
            </a:r>
            <a:r>
              <a:rPr lang="en-US" sz="1400"/>
              <a:t> L</a:t>
            </a:r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endParaRPr lang="en-US" sz="1400"/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endParaRPr lang="en-US" sz="1400"/>
          </a:p>
          <a:p>
            <a:pPr lvl="2"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1400"/>
              <a:t>(Notice that the above should hold for all possible N values of N&gt;0. Therefore, this completes the proof.)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Char char="Ø"/>
            </a:pPr>
            <a:endParaRPr lang="en-US" sz="2200"/>
          </a:p>
          <a:p>
            <a:pPr eaLnBrk="1" hangingPunct="1">
              <a:lnSpc>
                <a:spcPct val="90000"/>
              </a:lnSpc>
            </a:pPr>
            <a:endParaRPr lang="en-US" sz="28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352800" y="4267200"/>
            <a:ext cx="304800" cy="381000"/>
            <a:chOff x="3072" y="3840"/>
            <a:chExt cx="192" cy="240"/>
          </a:xfrm>
        </p:grpSpPr>
        <p:grpSp>
          <p:nvGrpSpPr>
            <p:cNvPr id="21510" name="Group 5"/>
            <p:cNvGrpSpPr>
              <a:grpSpLocks/>
            </p:cNvGrpSpPr>
            <p:nvPr/>
          </p:nvGrpSpPr>
          <p:grpSpPr bwMode="auto">
            <a:xfrm>
              <a:off x="3120" y="3840"/>
              <a:ext cx="96" cy="240"/>
              <a:chOff x="3120" y="3840"/>
              <a:chExt cx="96" cy="240"/>
            </a:xfrm>
          </p:grpSpPr>
          <p:sp>
            <p:nvSpPr>
              <p:cNvPr id="21512" name="Line 6"/>
              <p:cNvSpPr>
                <a:spLocks noChangeShapeType="1"/>
              </p:cNvSpPr>
              <p:nvPr/>
            </p:nvSpPr>
            <p:spPr bwMode="auto">
              <a:xfrm flipH="1">
                <a:off x="3120" y="3840"/>
                <a:ext cx="48" cy="96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13" name="Line 7"/>
              <p:cNvSpPr>
                <a:spLocks noChangeShapeType="1"/>
              </p:cNvSpPr>
              <p:nvPr/>
            </p:nvSpPr>
            <p:spPr bwMode="auto">
              <a:xfrm>
                <a:off x="3120" y="3936"/>
                <a:ext cx="96" cy="48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14" name="Line 8"/>
              <p:cNvSpPr>
                <a:spLocks noChangeShapeType="1"/>
              </p:cNvSpPr>
              <p:nvPr/>
            </p:nvSpPr>
            <p:spPr bwMode="auto">
              <a:xfrm flipH="1">
                <a:off x="3120" y="3984"/>
                <a:ext cx="96" cy="96"/>
              </a:xfrm>
              <a:prstGeom prst="line">
                <a:avLst/>
              </a:prstGeom>
              <a:noFill/>
              <a:ln w="22225">
                <a:solidFill>
                  <a:schemeClr val="hlink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511" name="Line 9"/>
            <p:cNvSpPr>
              <a:spLocks noChangeShapeType="1"/>
            </p:cNvSpPr>
            <p:nvPr/>
          </p:nvSpPr>
          <p:spPr bwMode="auto">
            <a:xfrm>
              <a:off x="3072" y="3936"/>
              <a:ext cx="192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Closure properties of Regular Languages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49CEE5A-B276-4845-9CC1-740605BC11F8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7A93700-CEE7-4810-AD94-8995084F390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Closure properties for Regular Languages (RL)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i="1" u="sng"/>
              <a:t>Closure property:</a:t>
            </a:r>
            <a:endParaRPr lang="en-US" sz="28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If a set of regular languages are combined using an operator, then the resulting language is also regular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Regular languages are </a:t>
            </a:r>
            <a:r>
              <a:rPr lang="en-US" sz="2800" i="1" u="sng"/>
              <a:t>closed</a:t>
            </a:r>
            <a:r>
              <a:rPr lang="en-US" sz="2800"/>
              <a:t> under: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Union, intersection, complement, difference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Reversal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Kleene closure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Concatenation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Homomorphism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Inverse homomorphism</a:t>
            </a:r>
          </a:p>
          <a:p>
            <a:pPr eaLnBrk="1" hangingPunct="1">
              <a:lnSpc>
                <a:spcPct val="90000"/>
              </a:lnSpc>
            </a:pPr>
            <a:endParaRPr lang="en-US" sz="2800"/>
          </a:p>
        </p:txBody>
      </p:sp>
      <p:sp>
        <p:nvSpPr>
          <p:cNvPr id="204804" name="Comment 4"/>
          <p:cNvSpPr>
            <a:spLocks noChangeArrowheads="1"/>
          </p:cNvSpPr>
          <p:nvPr/>
        </p:nvSpPr>
        <p:spPr bwMode="auto">
          <a:xfrm>
            <a:off x="5486400" y="1371600"/>
            <a:ext cx="1828800" cy="925513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800">
                <a:solidFill>
                  <a:srgbClr val="000000"/>
                </a:solidFill>
                <a:latin typeface="Geneva" pitchFamily="28" charset="0"/>
              </a:rPr>
              <a:t>This is different from Kleene closure</a:t>
            </a:r>
          </a:p>
        </p:txBody>
      </p:sp>
      <p:sp>
        <p:nvSpPr>
          <p:cNvPr id="23558" name="Line 5"/>
          <p:cNvSpPr>
            <a:spLocks noChangeShapeType="1"/>
          </p:cNvSpPr>
          <p:nvPr/>
        </p:nvSpPr>
        <p:spPr bwMode="auto">
          <a:xfrm flipH="1">
            <a:off x="2819400" y="1524000"/>
            <a:ext cx="2667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806" name="Text Box 6"/>
          <p:cNvSpPr txBox="1">
            <a:spLocks noChangeArrowheads="1"/>
          </p:cNvSpPr>
          <p:nvPr/>
        </p:nvSpPr>
        <p:spPr bwMode="auto">
          <a:xfrm>
            <a:off x="5775325" y="5048250"/>
            <a:ext cx="3078163" cy="39687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Now, lets prove all of this!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7E863E7-138F-4177-997D-10EC7BE557B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RLs are closed under union 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IF L and M are two RLs THEN:</a:t>
            </a:r>
          </a:p>
          <a:p>
            <a:pPr eaLnBrk="1" hangingPunct="1"/>
            <a:endParaRPr lang="en-US" sz="2800"/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400"/>
              <a:t>they both have two corresponding regular expressions, R and S respectively</a:t>
            </a:r>
          </a:p>
          <a:p>
            <a:pPr lvl="1" eaLnBrk="1" hangingPunct="1">
              <a:buFont typeface="Wingdings" pitchFamily="28" charset="2"/>
              <a:buChar char="Ø"/>
            </a:pPr>
            <a:endParaRPr lang="en-US" sz="2400"/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400"/>
              <a:t>(L U M) can be represented using the regular expression R+S </a:t>
            </a:r>
          </a:p>
          <a:p>
            <a:pPr lvl="1" eaLnBrk="1" hangingPunct="1">
              <a:buFont typeface="Wingdings" pitchFamily="28" charset="2"/>
              <a:buChar char="Ø"/>
            </a:pPr>
            <a:endParaRPr lang="en-US" sz="2400"/>
          </a:p>
          <a:p>
            <a:pPr lvl="1" eaLnBrk="1" hangingPunct="1">
              <a:buFont typeface="Wingdings" pitchFamily="28" charset="2"/>
              <a:buChar char="Ø"/>
            </a:pPr>
            <a:r>
              <a:rPr lang="en-US" sz="2400"/>
              <a:t>Therefore, (L U M) is also regular</a:t>
            </a: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7772400" y="5791200"/>
            <a:ext cx="228600" cy="152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28600" y="6096000"/>
            <a:ext cx="4203700" cy="40005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How can this be proved using FAs?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build="p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4EB49A-76B3-4BEC-9703-35F81A7A814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RLs are closed under complementation</a:t>
            </a:r>
          </a:p>
        </p:txBody>
      </p:sp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517525" y="3581400"/>
            <a:ext cx="3749675" cy="2667000"/>
            <a:chOff x="326" y="2256"/>
            <a:chExt cx="2362" cy="1680"/>
          </a:xfrm>
        </p:grpSpPr>
        <p:sp>
          <p:nvSpPr>
            <p:cNvPr id="25631" name="Oval 3"/>
            <p:cNvSpPr>
              <a:spLocks noChangeArrowheads="1"/>
            </p:cNvSpPr>
            <p:nvPr/>
          </p:nvSpPr>
          <p:spPr bwMode="auto">
            <a:xfrm>
              <a:off x="528" y="288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US" sz="1400"/>
                <a:t>q</a:t>
              </a:r>
              <a:r>
                <a:rPr lang="en-US" sz="1400" baseline="-25000"/>
                <a:t>0</a:t>
              </a:r>
              <a:endParaRPr lang="en-US" sz="1400"/>
            </a:p>
          </p:txBody>
        </p:sp>
        <p:sp>
          <p:nvSpPr>
            <p:cNvPr id="25632" name="Oval 4"/>
            <p:cNvSpPr>
              <a:spLocks noChangeArrowheads="1"/>
            </p:cNvSpPr>
            <p:nvPr/>
          </p:nvSpPr>
          <p:spPr bwMode="auto">
            <a:xfrm>
              <a:off x="2304" y="240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US" sz="1400"/>
                <a:t>q</a:t>
              </a:r>
              <a:r>
                <a:rPr lang="en-US" sz="1400" baseline="-25000"/>
                <a:t>F1</a:t>
              </a:r>
              <a:endParaRPr lang="en-US" sz="1400"/>
            </a:p>
          </p:txBody>
        </p:sp>
        <p:sp>
          <p:nvSpPr>
            <p:cNvPr id="25633" name="Oval 5"/>
            <p:cNvSpPr>
              <a:spLocks noChangeArrowheads="1"/>
            </p:cNvSpPr>
            <p:nvPr/>
          </p:nvSpPr>
          <p:spPr bwMode="auto">
            <a:xfrm>
              <a:off x="2256" y="2352"/>
              <a:ext cx="336" cy="336"/>
            </a:xfrm>
            <a:prstGeom prst="ellipse">
              <a:avLst/>
            </a:prstGeom>
            <a:solidFill>
              <a:schemeClr val="accent1">
                <a:alpha val="1019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4" name="Oval 6"/>
            <p:cNvSpPr>
              <a:spLocks noChangeArrowheads="1"/>
            </p:cNvSpPr>
            <p:nvPr/>
          </p:nvSpPr>
          <p:spPr bwMode="auto">
            <a:xfrm>
              <a:off x="2304" y="288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US" sz="1400"/>
                <a:t>q</a:t>
              </a:r>
              <a:r>
                <a:rPr lang="en-US" sz="1400" baseline="-25000"/>
                <a:t>F2</a:t>
              </a:r>
              <a:endParaRPr lang="en-US" sz="1400"/>
            </a:p>
          </p:txBody>
        </p:sp>
        <p:sp>
          <p:nvSpPr>
            <p:cNvPr id="25635" name="Oval 7"/>
            <p:cNvSpPr>
              <a:spLocks noChangeArrowheads="1"/>
            </p:cNvSpPr>
            <p:nvPr/>
          </p:nvSpPr>
          <p:spPr bwMode="auto">
            <a:xfrm>
              <a:off x="2304" y="360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US" sz="1400"/>
                <a:t>q</a:t>
              </a:r>
              <a:r>
                <a:rPr lang="en-US" sz="1400" baseline="-25000"/>
                <a:t>Fk</a:t>
              </a:r>
              <a:endParaRPr lang="en-US" sz="1400"/>
            </a:p>
          </p:txBody>
        </p:sp>
        <p:sp>
          <p:nvSpPr>
            <p:cNvPr id="25636" name="Oval 8"/>
            <p:cNvSpPr>
              <a:spLocks noChangeArrowheads="1"/>
            </p:cNvSpPr>
            <p:nvPr/>
          </p:nvSpPr>
          <p:spPr bwMode="auto">
            <a:xfrm>
              <a:off x="2256" y="2832"/>
              <a:ext cx="336" cy="336"/>
            </a:xfrm>
            <a:prstGeom prst="ellipse">
              <a:avLst/>
            </a:prstGeom>
            <a:solidFill>
              <a:schemeClr val="accent1">
                <a:alpha val="1019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7" name="Oval 9"/>
            <p:cNvSpPr>
              <a:spLocks noChangeArrowheads="1"/>
            </p:cNvSpPr>
            <p:nvPr/>
          </p:nvSpPr>
          <p:spPr bwMode="auto">
            <a:xfrm>
              <a:off x="2256" y="3552"/>
              <a:ext cx="336" cy="336"/>
            </a:xfrm>
            <a:prstGeom prst="ellipse">
              <a:avLst/>
            </a:prstGeom>
            <a:solidFill>
              <a:schemeClr val="accent1">
                <a:alpha val="1019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8" name="Text Box 10"/>
            <p:cNvSpPr txBox="1">
              <a:spLocks noChangeArrowheads="1"/>
            </p:cNvSpPr>
            <p:nvPr/>
          </p:nvSpPr>
          <p:spPr bwMode="auto">
            <a:xfrm rot="5400000">
              <a:off x="2294" y="3206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/>
                <a:t>…</a:t>
              </a:r>
            </a:p>
          </p:txBody>
        </p:sp>
        <p:sp>
          <p:nvSpPr>
            <p:cNvPr id="25639" name="Freeform 11"/>
            <p:cNvSpPr>
              <a:spLocks/>
            </p:cNvSpPr>
            <p:nvPr/>
          </p:nvSpPr>
          <p:spPr bwMode="auto">
            <a:xfrm>
              <a:off x="764" y="2480"/>
              <a:ext cx="1470" cy="462"/>
            </a:xfrm>
            <a:custGeom>
              <a:avLst/>
              <a:gdLst>
                <a:gd name="T0" fmla="*/ 0 w 1470"/>
                <a:gd name="T1" fmla="*/ 462 h 462"/>
                <a:gd name="T2" fmla="*/ 20 w 1470"/>
                <a:gd name="T3" fmla="*/ 449 h 462"/>
                <a:gd name="T4" fmla="*/ 34 w 1470"/>
                <a:gd name="T5" fmla="*/ 408 h 462"/>
                <a:gd name="T6" fmla="*/ 129 w 1470"/>
                <a:gd name="T7" fmla="*/ 380 h 462"/>
                <a:gd name="T8" fmla="*/ 143 w 1470"/>
                <a:gd name="T9" fmla="*/ 360 h 462"/>
                <a:gd name="T10" fmla="*/ 198 w 1470"/>
                <a:gd name="T11" fmla="*/ 346 h 462"/>
                <a:gd name="T12" fmla="*/ 239 w 1470"/>
                <a:gd name="T13" fmla="*/ 305 h 462"/>
                <a:gd name="T14" fmla="*/ 259 w 1470"/>
                <a:gd name="T15" fmla="*/ 291 h 462"/>
                <a:gd name="T16" fmla="*/ 396 w 1470"/>
                <a:gd name="T17" fmla="*/ 298 h 462"/>
                <a:gd name="T18" fmla="*/ 444 w 1470"/>
                <a:gd name="T19" fmla="*/ 250 h 462"/>
                <a:gd name="T20" fmla="*/ 465 w 1470"/>
                <a:gd name="T21" fmla="*/ 244 h 462"/>
                <a:gd name="T22" fmla="*/ 560 w 1470"/>
                <a:gd name="T23" fmla="*/ 244 h 462"/>
                <a:gd name="T24" fmla="*/ 594 w 1470"/>
                <a:gd name="T25" fmla="*/ 216 h 462"/>
                <a:gd name="T26" fmla="*/ 704 w 1470"/>
                <a:gd name="T27" fmla="*/ 209 h 462"/>
                <a:gd name="T28" fmla="*/ 724 w 1470"/>
                <a:gd name="T29" fmla="*/ 189 h 462"/>
                <a:gd name="T30" fmla="*/ 745 w 1470"/>
                <a:gd name="T31" fmla="*/ 148 h 462"/>
                <a:gd name="T32" fmla="*/ 786 w 1470"/>
                <a:gd name="T33" fmla="*/ 134 h 462"/>
                <a:gd name="T34" fmla="*/ 820 w 1470"/>
                <a:gd name="T35" fmla="*/ 141 h 462"/>
                <a:gd name="T36" fmla="*/ 861 w 1470"/>
                <a:gd name="T37" fmla="*/ 155 h 462"/>
                <a:gd name="T38" fmla="*/ 929 w 1470"/>
                <a:gd name="T39" fmla="*/ 127 h 462"/>
                <a:gd name="T40" fmla="*/ 991 w 1470"/>
                <a:gd name="T41" fmla="*/ 107 h 462"/>
                <a:gd name="T42" fmla="*/ 1032 w 1470"/>
                <a:gd name="T43" fmla="*/ 93 h 462"/>
                <a:gd name="T44" fmla="*/ 1087 w 1470"/>
                <a:gd name="T45" fmla="*/ 73 h 462"/>
                <a:gd name="T46" fmla="*/ 1210 w 1470"/>
                <a:gd name="T47" fmla="*/ 52 h 462"/>
                <a:gd name="T48" fmla="*/ 1278 w 1470"/>
                <a:gd name="T49" fmla="*/ 38 h 462"/>
                <a:gd name="T50" fmla="*/ 1347 w 1470"/>
                <a:gd name="T51" fmla="*/ 45 h 462"/>
                <a:gd name="T52" fmla="*/ 1470 w 1470"/>
                <a:gd name="T53" fmla="*/ 38 h 4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470"/>
                <a:gd name="T82" fmla="*/ 0 h 462"/>
                <a:gd name="T83" fmla="*/ 1470 w 1470"/>
                <a:gd name="T84" fmla="*/ 462 h 46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470" h="462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0" name="Freeform 12"/>
            <p:cNvSpPr>
              <a:spLocks/>
            </p:cNvSpPr>
            <p:nvPr/>
          </p:nvSpPr>
          <p:spPr bwMode="auto">
            <a:xfrm>
              <a:off x="768" y="2928"/>
              <a:ext cx="1488" cy="96"/>
            </a:xfrm>
            <a:custGeom>
              <a:avLst/>
              <a:gdLst>
                <a:gd name="T0" fmla="*/ 0 w 1470"/>
                <a:gd name="T1" fmla="*/ 0 h 462"/>
                <a:gd name="T2" fmla="*/ 20 w 1470"/>
                <a:gd name="T3" fmla="*/ 0 h 462"/>
                <a:gd name="T4" fmla="*/ 34 w 1470"/>
                <a:gd name="T5" fmla="*/ 0 h 462"/>
                <a:gd name="T6" fmla="*/ 165 w 1470"/>
                <a:gd name="T7" fmla="*/ 0 h 462"/>
                <a:gd name="T8" fmla="*/ 179 w 1470"/>
                <a:gd name="T9" fmla="*/ 0 h 462"/>
                <a:gd name="T10" fmla="*/ 248 w 1470"/>
                <a:gd name="T11" fmla="*/ 0 h 462"/>
                <a:gd name="T12" fmla="*/ 295 w 1470"/>
                <a:gd name="T13" fmla="*/ 0 h 462"/>
                <a:gd name="T14" fmla="*/ 322 w 1470"/>
                <a:gd name="T15" fmla="*/ 0 h 462"/>
                <a:gd name="T16" fmla="*/ 493 w 1470"/>
                <a:gd name="T17" fmla="*/ 0 h 462"/>
                <a:gd name="T18" fmla="*/ 553 w 1470"/>
                <a:gd name="T19" fmla="*/ 0 h 462"/>
                <a:gd name="T20" fmla="*/ 580 w 1470"/>
                <a:gd name="T21" fmla="*/ 0 h 462"/>
                <a:gd name="T22" fmla="*/ 696 w 1470"/>
                <a:gd name="T23" fmla="*/ 0 h 462"/>
                <a:gd name="T24" fmla="*/ 740 w 1470"/>
                <a:gd name="T25" fmla="*/ 0 h 462"/>
                <a:gd name="T26" fmla="*/ 877 w 1470"/>
                <a:gd name="T27" fmla="*/ 0 h 462"/>
                <a:gd name="T28" fmla="*/ 902 w 1470"/>
                <a:gd name="T29" fmla="*/ 0 h 462"/>
                <a:gd name="T30" fmla="*/ 927 w 1470"/>
                <a:gd name="T31" fmla="*/ 0 h 462"/>
                <a:gd name="T32" fmla="*/ 979 w 1470"/>
                <a:gd name="T33" fmla="*/ 0 h 462"/>
                <a:gd name="T34" fmla="*/ 1020 w 1470"/>
                <a:gd name="T35" fmla="*/ 0 h 462"/>
                <a:gd name="T36" fmla="*/ 1073 w 1470"/>
                <a:gd name="T37" fmla="*/ 0 h 462"/>
                <a:gd name="T38" fmla="*/ 1157 w 1470"/>
                <a:gd name="T39" fmla="*/ 0 h 462"/>
                <a:gd name="T40" fmla="*/ 1234 w 1470"/>
                <a:gd name="T41" fmla="*/ 0 h 462"/>
                <a:gd name="T42" fmla="*/ 1285 w 1470"/>
                <a:gd name="T43" fmla="*/ 0 h 462"/>
                <a:gd name="T44" fmla="*/ 1352 w 1470"/>
                <a:gd name="T45" fmla="*/ 0 h 462"/>
                <a:gd name="T46" fmla="*/ 1507 w 1470"/>
                <a:gd name="T47" fmla="*/ 0 h 462"/>
                <a:gd name="T48" fmla="*/ 1591 w 1470"/>
                <a:gd name="T49" fmla="*/ 0 h 462"/>
                <a:gd name="T50" fmla="*/ 1677 w 1470"/>
                <a:gd name="T51" fmla="*/ 0 h 462"/>
                <a:gd name="T52" fmla="*/ 1830 w 1470"/>
                <a:gd name="T53" fmla="*/ 0 h 4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470"/>
                <a:gd name="T82" fmla="*/ 0 h 462"/>
                <a:gd name="T83" fmla="*/ 1470 w 1470"/>
                <a:gd name="T84" fmla="*/ 462 h 46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470" h="462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1" name="Freeform 13"/>
            <p:cNvSpPr>
              <a:spLocks/>
            </p:cNvSpPr>
            <p:nvPr/>
          </p:nvSpPr>
          <p:spPr bwMode="auto">
            <a:xfrm flipV="1">
              <a:off x="720" y="3120"/>
              <a:ext cx="1488" cy="576"/>
            </a:xfrm>
            <a:custGeom>
              <a:avLst/>
              <a:gdLst>
                <a:gd name="T0" fmla="*/ 0 w 1470"/>
                <a:gd name="T1" fmla="*/ 24456 h 462"/>
                <a:gd name="T2" fmla="*/ 20 w 1470"/>
                <a:gd name="T3" fmla="*/ 23794 h 462"/>
                <a:gd name="T4" fmla="*/ 34 w 1470"/>
                <a:gd name="T5" fmla="*/ 21652 h 462"/>
                <a:gd name="T6" fmla="*/ 165 w 1470"/>
                <a:gd name="T7" fmla="*/ 20164 h 462"/>
                <a:gd name="T8" fmla="*/ 179 w 1470"/>
                <a:gd name="T9" fmla="*/ 19085 h 462"/>
                <a:gd name="T10" fmla="*/ 248 w 1470"/>
                <a:gd name="T11" fmla="*/ 18310 h 462"/>
                <a:gd name="T12" fmla="*/ 295 w 1470"/>
                <a:gd name="T13" fmla="*/ 16173 h 462"/>
                <a:gd name="T14" fmla="*/ 322 w 1470"/>
                <a:gd name="T15" fmla="*/ 15446 h 462"/>
                <a:gd name="T16" fmla="*/ 493 w 1470"/>
                <a:gd name="T17" fmla="*/ 15811 h 462"/>
                <a:gd name="T18" fmla="*/ 553 w 1470"/>
                <a:gd name="T19" fmla="*/ 13267 h 462"/>
                <a:gd name="T20" fmla="*/ 580 w 1470"/>
                <a:gd name="T21" fmla="*/ 12956 h 462"/>
                <a:gd name="T22" fmla="*/ 696 w 1470"/>
                <a:gd name="T23" fmla="*/ 12956 h 462"/>
                <a:gd name="T24" fmla="*/ 740 w 1470"/>
                <a:gd name="T25" fmla="*/ 11426 h 462"/>
                <a:gd name="T26" fmla="*/ 877 w 1470"/>
                <a:gd name="T27" fmla="*/ 11081 h 462"/>
                <a:gd name="T28" fmla="*/ 902 w 1470"/>
                <a:gd name="T29" fmla="*/ 10048 h 462"/>
                <a:gd name="T30" fmla="*/ 927 w 1470"/>
                <a:gd name="T31" fmla="*/ 7882 h 462"/>
                <a:gd name="T32" fmla="*/ 979 w 1470"/>
                <a:gd name="T33" fmla="*/ 7077 h 462"/>
                <a:gd name="T34" fmla="*/ 1020 w 1470"/>
                <a:gd name="T35" fmla="*/ 7471 h 462"/>
                <a:gd name="T36" fmla="*/ 1073 w 1470"/>
                <a:gd name="T37" fmla="*/ 8194 h 462"/>
                <a:gd name="T38" fmla="*/ 1157 w 1470"/>
                <a:gd name="T39" fmla="*/ 6739 h 462"/>
                <a:gd name="T40" fmla="*/ 1234 w 1470"/>
                <a:gd name="T41" fmla="*/ 5657 h 462"/>
                <a:gd name="T42" fmla="*/ 1285 w 1470"/>
                <a:gd name="T43" fmla="*/ 4965 h 462"/>
                <a:gd name="T44" fmla="*/ 1352 w 1470"/>
                <a:gd name="T45" fmla="*/ 3855 h 462"/>
                <a:gd name="T46" fmla="*/ 1507 w 1470"/>
                <a:gd name="T47" fmla="*/ 2767 h 462"/>
                <a:gd name="T48" fmla="*/ 1591 w 1470"/>
                <a:gd name="T49" fmla="*/ 2014 h 462"/>
                <a:gd name="T50" fmla="*/ 1677 w 1470"/>
                <a:gd name="T51" fmla="*/ 2366 h 462"/>
                <a:gd name="T52" fmla="*/ 1830 w 1470"/>
                <a:gd name="T53" fmla="*/ 2014 h 4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470"/>
                <a:gd name="T82" fmla="*/ 0 h 462"/>
                <a:gd name="T83" fmla="*/ 1470 w 1470"/>
                <a:gd name="T84" fmla="*/ 462 h 46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470" h="462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2" name="Oval 14"/>
            <p:cNvSpPr>
              <a:spLocks noChangeArrowheads="1"/>
            </p:cNvSpPr>
            <p:nvPr/>
          </p:nvSpPr>
          <p:spPr bwMode="auto">
            <a:xfrm>
              <a:off x="1200" y="288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US" sz="1400"/>
                <a:t>q</a:t>
              </a:r>
              <a:r>
                <a:rPr lang="en-US" sz="1400" baseline="-25000"/>
                <a:t>i</a:t>
              </a:r>
              <a:endParaRPr lang="en-US" sz="1400"/>
            </a:p>
          </p:txBody>
        </p:sp>
        <p:grpSp>
          <p:nvGrpSpPr>
            <p:cNvPr id="25643" name="Group 18"/>
            <p:cNvGrpSpPr>
              <a:grpSpLocks/>
            </p:cNvGrpSpPr>
            <p:nvPr/>
          </p:nvGrpSpPr>
          <p:grpSpPr bwMode="auto">
            <a:xfrm>
              <a:off x="336" y="2256"/>
              <a:ext cx="2352" cy="1680"/>
              <a:chOff x="1152" y="1536"/>
              <a:chExt cx="2352" cy="1680"/>
            </a:xfrm>
          </p:grpSpPr>
          <p:sp>
            <p:nvSpPr>
              <p:cNvPr id="25646" name="Line 19"/>
              <p:cNvSpPr>
                <a:spLocks noChangeShapeType="1"/>
              </p:cNvSpPr>
              <p:nvPr/>
            </p:nvSpPr>
            <p:spPr bwMode="auto">
              <a:xfrm>
                <a:off x="1152" y="1536"/>
                <a:ext cx="0" cy="168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47" name="Line 20"/>
              <p:cNvSpPr>
                <a:spLocks noChangeShapeType="1"/>
              </p:cNvSpPr>
              <p:nvPr/>
            </p:nvSpPr>
            <p:spPr bwMode="auto">
              <a:xfrm>
                <a:off x="1152" y="1536"/>
                <a:ext cx="2352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48" name="Line 21"/>
              <p:cNvSpPr>
                <a:spLocks noChangeShapeType="1"/>
              </p:cNvSpPr>
              <p:nvPr/>
            </p:nvSpPr>
            <p:spPr bwMode="auto">
              <a:xfrm>
                <a:off x="3504" y="1536"/>
                <a:ext cx="0" cy="168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49" name="Line 22"/>
              <p:cNvSpPr>
                <a:spLocks noChangeShapeType="1"/>
              </p:cNvSpPr>
              <p:nvPr/>
            </p:nvSpPr>
            <p:spPr bwMode="auto">
              <a:xfrm>
                <a:off x="1152" y="3216"/>
                <a:ext cx="2352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644" name="Text Box 23"/>
            <p:cNvSpPr txBox="1">
              <a:spLocks noChangeArrowheads="1"/>
            </p:cNvSpPr>
            <p:nvPr/>
          </p:nvSpPr>
          <p:spPr bwMode="auto">
            <a:xfrm>
              <a:off x="326" y="2268"/>
              <a:ext cx="80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6600"/>
                  </a:solidFill>
                </a:rPr>
                <a:t>DFA for L</a:t>
              </a:r>
              <a:endParaRPr lang="en-US"/>
            </a:p>
          </p:txBody>
        </p:sp>
        <p:sp>
          <p:nvSpPr>
            <p:cNvPr id="25645" name="Line 24"/>
            <p:cNvSpPr>
              <a:spLocks noChangeShapeType="1"/>
            </p:cNvSpPr>
            <p:nvPr/>
          </p:nvSpPr>
          <p:spPr bwMode="auto">
            <a:xfrm>
              <a:off x="336" y="297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72"/>
          <p:cNvGrpSpPr>
            <a:grpSpLocks/>
          </p:cNvGrpSpPr>
          <p:nvPr/>
        </p:nvGrpSpPr>
        <p:grpSpPr bwMode="auto">
          <a:xfrm>
            <a:off x="4419600" y="3581400"/>
            <a:ext cx="4343400" cy="2667000"/>
            <a:chOff x="2784" y="2256"/>
            <a:chExt cx="2736" cy="1680"/>
          </a:xfrm>
        </p:grpSpPr>
        <p:sp>
          <p:nvSpPr>
            <p:cNvPr id="25611" name="Oval 49"/>
            <p:cNvSpPr>
              <a:spLocks noChangeArrowheads="1"/>
            </p:cNvSpPr>
            <p:nvPr/>
          </p:nvSpPr>
          <p:spPr bwMode="auto">
            <a:xfrm>
              <a:off x="3360" y="288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US" sz="1400"/>
                <a:t>q</a:t>
              </a:r>
              <a:r>
                <a:rPr lang="en-US" sz="1400" baseline="-25000"/>
                <a:t>0</a:t>
              </a:r>
              <a:endParaRPr lang="en-US" sz="1400"/>
            </a:p>
          </p:txBody>
        </p:sp>
        <p:sp>
          <p:nvSpPr>
            <p:cNvPr id="25612" name="Oval 50"/>
            <p:cNvSpPr>
              <a:spLocks noChangeArrowheads="1"/>
            </p:cNvSpPr>
            <p:nvPr/>
          </p:nvSpPr>
          <p:spPr bwMode="auto">
            <a:xfrm>
              <a:off x="5136" y="240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US" sz="1400"/>
                <a:t>q</a:t>
              </a:r>
              <a:r>
                <a:rPr lang="en-US" sz="1400" baseline="-25000"/>
                <a:t>F1</a:t>
              </a:r>
              <a:endParaRPr lang="en-US" sz="1400"/>
            </a:p>
          </p:txBody>
        </p:sp>
        <p:sp>
          <p:nvSpPr>
            <p:cNvPr id="25613" name="Oval 51"/>
            <p:cNvSpPr>
              <a:spLocks noChangeArrowheads="1"/>
            </p:cNvSpPr>
            <p:nvPr/>
          </p:nvSpPr>
          <p:spPr bwMode="auto">
            <a:xfrm>
              <a:off x="3312" y="2832"/>
              <a:ext cx="336" cy="336"/>
            </a:xfrm>
            <a:prstGeom prst="ellipse">
              <a:avLst/>
            </a:prstGeom>
            <a:solidFill>
              <a:schemeClr val="accent1">
                <a:alpha val="1019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4" name="Oval 52"/>
            <p:cNvSpPr>
              <a:spLocks noChangeArrowheads="1"/>
            </p:cNvSpPr>
            <p:nvPr/>
          </p:nvSpPr>
          <p:spPr bwMode="auto">
            <a:xfrm>
              <a:off x="5136" y="288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US" sz="1400"/>
                <a:t>q</a:t>
              </a:r>
              <a:r>
                <a:rPr lang="en-US" sz="1400" baseline="-25000"/>
                <a:t>F2</a:t>
              </a:r>
              <a:endParaRPr lang="en-US" sz="1400"/>
            </a:p>
          </p:txBody>
        </p:sp>
        <p:sp>
          <p:nvSpPr>
            <p:cNvPr id="25615" name="Oval 53"/>
            <p:cNvSpPr>
              <a:spLocks noChangeArrowheads="1"/>
            </p:cNvSpPr>
            <p:nvPr/>
          </p:nvSpPr>
          <p:spPr bwMode="auto">
            <a:xfrm>
              <a:off x="5136" y="360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US" sz="1400"/>
                <a:t>q</a:t>
              </a:r>
              <a:r>
                <a:rPr lang="en-US" sz="1400" baseline="-25000"/>
                <a:t>Fk</a:t>
              </a:r>
              <a:endParaRPr lang="en-US" sz="1400"/>
            </a:p>
          </p:txBody>
        </p:sp>
        <p:sp>
          <p:nvSpPr>
            <p:cNvPr id="25616" name="Oval 55"/>
            <p:cNvSpPr>
              <a:spLocks noChangeArrowheads="1"/>
            </p:cNvSpPr>
            <p:nvPr/>
          </p:nvSpPr>
          <p:spPr bwMode="auto">
            <a:xfrm>
              <a:off x="3984" y="2832"/>
              <a:ext cx="336" cy="336"/>
            </a:xfrm>
            <a:prstGeom prst="ellipse">
              <a:avLst/>
            </a:prstGeom>
            <a:solidFill>
              <a:schemeClr val="accent1">
                <a:alpha val="1019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7" name="Text Box 56"/>
            <p:cNvSpPr txBox="1">
              <a:spLocks noChangeArrowheads="1"/>
            </p:cNvSpPr>
            <p:nvPr/>
          </p:nvSpPr>
          <p:spPr bwMode="auto">
            <a:xfrm rot="5400000">
              <a:off x="5126" y="3206"/>
              <a:ext cx="3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/>
                <a:t>…</a:t>
              </a:r>
            </a:p>
          </p:txBody>
        </p:sp>
        <p:sp>
          <p:nvSpPr>
            <p:cNvPr id="25618" name="Freeform 57"/>
            <p:cNvSpPr>
              <a:spLocks/>
            </p:cNvSpPr>
            <p:nvPr/>
          </p:nvSpPr>
          <p:spPr bwMode="auto">
            <a:xfrm>
              <a:off x="3596" y="2480"/>
              <a:ext cx="1470" cy="462"/>
            </a:xfrm>
            <a:custGeom>
              <a:avLst/>
              <a:gdLst>
                <a:gd name="T0" fmla="*/ 0 w 1470"/>
                <a:gd name="T1" fmla="*/ 462 h 462"/>
                <a:gd name="T2" fmla="*/ 20 w 1470"/>
                <a:gd name="T3" fmla="*/ 449 h 462"/>
                <a:gd name="T4" fmla="*/ 34 w 1470"/>
                <a:gd name="T5" fmla="*/ 408 h 462"/>
                <a:gd name="T6" fmla="*/ 129 w 1470"/>
                <a:gd name="T7" fmla="*/ 380 h 462"/>
                <a:gd name="T8" fmla="*/ 143 w 1470"/>
                <a:gd name="T9" fmla="*/ 360 h 462"/>
                <a:gd name="T10" fmla="*/ 198 w 1470"/>
                <a:gd name="T11" fmla="*/ 346 h 462"/>
                <a:gd name="T12" fmla="*/ 239 w 1470"/>
                <a:gd name="T13" fmla="*/ 305 h 462"/>
                <a:gd name="T14" fmla="*/ 259 w 1470"/>
                <a:gd name="T15" fmla="*/ 291 h 462"/>
                <a:gd name="T16" fmla="*/ 396 w 1470"/>
                <a:gd name="T17" fmla="*/ 298 h 462"/>
                <a:gd name="T18" fmla="*/ 444 w 1470"/>
                <a:gd name="T19" fmla="*/ 250 h 462"/>
                <a:gd name="T20" fmla="*/ 465 w 1470"/>
                <a:gd name="T21" fmla="*/ 244 h 462"/>
                <a:gd name="T22" fmla="*/ 560 w 1470"/>
                <a:gd name="T23" fmla="*/ 244 h 462"/>
                <a:gd name="T24" fmla="*/ 594 w 1470"/>
                <a:gd name="T25" fmla="*/ 216 h 462"/>
                <a:gd name="T26" fmla="*/ 704 w 1470"/>
                <a:gd name="T27" fmla="*/ 209 h 462"/>
                <a:gd name="T28" fmla="*/ 724 w 1470"/>
                <a:gd name="T29" fmla="*/ 189 h 462"/>
                <a:gd name="T30" fmla="*/ 745 w 1470"/>
                <a:gd name="T31" fmla="*/ 148 h 462"/>
                <a:gd name="T32" fmla="*/ 786 w 1470"/>
                <a:gd name="T33" fmla="*/ 134 h 462"/>
                <a:gd name="T34" fmla="*/ 820 w 1470"/>
                <a:gd name="T35" fmla="*/ 141 h 462"/>
                <a:gd name="T36" fmla="*/ 861 w 1470"/>
                <a:gd name="T37" fmla="*/ 155 h 462"/>
                <a:gd name="T38" fmla="*/ 929 w 1470"/>
                <a:gd name="T39" fmla="*/ 127 h 462"/>
                <a:gd name="T40" fmla="*/ 991 w 1470"/>
                <a:gd name="T41" fmla="*/ 107 h 462"/>
                <a:gd name="T42" fmla="*/ 1032 w 1470"/>
                <a:gd name="T43" fmla="*/ 93 h 462"/>
                <a:gd name="T44" fmla="*/ 1087 w 1470"/>
                <a:gd name="T45" fmla="*/ 73 h 462"/>
                <a:gd name="T46" fmla="*/ 1210 w 1470"/>
                <a:gd name="T47" fmla="*/ 52 h 462"/>
                <a:gd name="T48" fmla="*/ 1278 w 1470"/>
                <a:gd name="T49" fmla="*/ 38 h 462"/>
                <a:gd name="T50" fmla="*/ 1347 w 1470"/>
                <a:gd name="T51" fmla="*/ 45 h 462"/>
                <a:gd name="T52" fmla="*/ 1470 w 1470"/>
                <a:gd name="T53" fmla="*/ 38 h 4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470"/>
                <a:gd name="T82" fmla="*/ 0 h 462"/>
                <a:gd name="T83" fmla="*/ 1470 w 1470"/>
                <a:gd name="T84" fmla="*/ 462 h 46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470" h="462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9" name="Freeform 58"/>
            <p:cNvSpPr>
              <a:spLocks/>
            </p:cNvSpPr>
            <p:nvPr/>
          </p:nvSpPr>
          <p:spPr bwMode="auto">
            <a:xfrm>
              <a:off x="3600" y="2928"/>
              <a:ext cx="1488" cy="96"/>
            </a:xfrm>
            <a:custGeom>
              <a:avLst/>
              <a:gdLst>
                <a:gd name="T0" fmla="*/ 0 w 1470"/>
                <a:gd name="T1" fmla="*/ 0 h 462"/>
                <a:gd name="T2" fmla="*/ 20 w 1470"/>
                <a:gd name="T3" fmla="*/ 0 h 462"/>
                <a:gd name="T4" fmla="*/ 34 w 1470"/>
                <a:gd name="T5" fmla="*/ 0 h 462"/>
                <a:gd name="T6" fmla="*/ 165 w 1470"/>
                <a:gd name="T7" fmla="*/ 0 h 462"/>
                <a:gd name="T8" fmla="*/ 179 w 1470"/>
                <a:gd name="T9" fmla="*/ 0 h 462"/>
                <a:gd name="T10" fmla="*/ 248 w 1470"/>
                <a:gd name="T11" fmla="*/ 0 h 462"/>
                <a:gd name="T12" fmla="*/ 295 w 1470"/>
                <a:gd name="T13" fmla="*/ 0 h 462"/>
                <a:gd name="T14" fmla="*/ 322 w 1470"/>
                <a:gd name="T15" fmla="*/ 0 h 462"/>
                <a:gd name="T16" fmla="*/ 493 w 1470"/>
                <a:gd name="T17" fmla="*/ 0 h 462"/>
                <a:gd name="T18" fmla="*/ 553 w 1470"/>
                <a:gd name="T19" fmla="*/ 0 h 462"/>
                <a:gd name="T20" fmla="*/ 580 w 1470"/>
                <a:gd name="T21" fmla="*/ 0 h 462"/>
                <a:gd name="T22" fmla="*/ 696 w 1470"/>
                <a:gd name="T23" fmla="*/ 0 h 462"/>
                <a:gd name="T24" fmla="*/ 740 w 1470"/>
                <a:gd name="T25" fmla="*/ 0 h 462"/>
                <a:gd name="T26" fmla="*/ 877 w 1470"/>
                <a:gd name="T27" fmla="*/ 0 h 462"/>
                <a:gd name="T28" fmla="*/ 902 w 1470"/>
                <a:gd name="T29" fmla="*/ 0 h 462"/>
                <a:gd name="T30" fmla="*/ 927 w 1470"/>
                <a:gd name="T31" fmla="*/ 0 h 462"/>
                <a:gd name="T32" fmla="*/ 979 w 1470"/>
                <a:gd name="T33" fmla="*/ 0 h 462"/>
                <a:gd name="T34" fmla="*/ 1020 w 1470"/>
                <a:gd name="T35" fmla="*/ 0 h 462"/>
                <a:gd name="T36" fmla="*/ 1073 w 1470"/>
                <a:gd name="T37" fmla="*/ 0 h 462"/>
                <a:gd name="T38" fmla="*/ 1157 w 1470"/>
                <a:gd name="T39" fmla="*/ 0 h 462"/>
                <a:gd name="T40" fmla="*/ 1234 w 1470"/>
                <a:gd name="T41" fmla="*/ 0 h 462"/>
                <a:gd name="T42" fmla="*/ 1285 w 1470"/>
                <a:gd name="T43" fmla="*/ 0 h 462"/>
                <a:gd name="T44" fmla="*/ 1352 w 1470"/>
                <a:gd name="T45" fmla="*/ 0 h 462"/>
                <a:gd name="T46" fmla="*/ 1507 w 1470"/>
                <a:gd name="T47" fmla="*/ 0 h 462"/>
                <a:gd name="T48" fmla="*/ 1591 w 1470"/>
                <a:gd name="T49" fmla="*/ 0 h 462"/>
                <a:gd name="T50" fmla="*/ 1677 w 1470"/>
                <a:gd name="T51" fmla="*/ 0 h 462"/>
                <a:gd name="T52" fmla="*/ 1830 w 1470"/>
                <a:gd name="T53" fmla="*/ 0 h 4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470"/>
                <a:gd name="T82" fmla="*/ 0 h 462"/>
                <a:gd name="T83" fmla="*/ 1470 w 1470"/>
                <a:gd name="T84" fmla="*/ 462 h 46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470" h="462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0" name="Freeform 59"/>
            <p:cNvSpPr>
              <a:spLocks/>
            </p:cNvSpPr>
            <p:nvPr/>
          </p:nvSpPr>
          <p:spPr bwMode="auto">
            <a:xfrm flipV="1">
              <a:off x="3552" y="3120"/>
              <a:ext cx="1488" cy="576"/>
            </a:xfrm>
            <a:custGeom>
              <a:avLst/>
              <a:gdLst>
                <a:gd name="T0" fmla="*/ 0 w 1470"/>
                <a:gd name="T1" fmla="*/ 24456 h 462"/>
                <a:gd name="T2" fmla="*/ 20 w 1470"/>
                <a:gd name="T3" fmla="*/ 23794 h 462"/>
                <a:gd name="T4" fmla="*/ 34 w 1470"/>
                <a:gd name="T5" fmla="*/ 21652 h 462"/>
                <a:gd name="T6" fmla="*/ 165 w 1470"/>
                <a:gd name="T7" fmla="*/ 20164 h 462"/>
                <a:gd name="T8" fmla="*/ 179 w 1470"/>
                <a:gd name="T9" fmla="*/ 19085 h 462"/>
                <a:gd name="T10" fmla="*/ 248 w 1470"/>
                <a:gd name="T11" fmla="*/ 18310 h 462"/>
                <a:gd name="T12" fmla="*/ 295 w 1470"/>
                <a:gd name="T13" fmla="*/ 16173 h 462"/>
                <a:gd name="T14" fmla="*/ 322 w 1470"/>
                <a:gd name="T15" fmla="*/ 15446 h 462"/>
                <a:gd name="T16" fmla="*/ 493 w 1470"/>
                <a:gd name="T17" fmla="*/ 15811 h 462"/>
                <a:gd name="T18" fmla="*/ 553 w 1470"/>
                <a:gd name="T19" fmla="*/ 13267 h 462"/>
                <a:gd name="T20" fmla="*/ 580 w 1470"/>
                <a:gd name="T21" fmla="*/ 12956 h 462"/>
                <a:gd name="T22" fmla="*/ 696 w 1470"/>
                <a:gd name="T23" fmla="*/ 12956 h 462"/>
                <a:gd name="T24" fmla="*/ 740 w 1470"/>
                <a:gd name="T25" fmla="*/ 11426 h 462"/>
                <a:gd name="T26" fmla="*/ 877 w 1470"/>
                <a:gd name="T27" fmla="*/ 11081 h 462"/>
                <a:gd name="T28" fmla="*/ 902 w 1470"/>
                <a:gd name="T29" fmla="*/ 10048 h 462"/>
                <a:gd name="T30" fmla="*/ 927 w 1470"/>
                <a:gd name="T31" fmla="*/ 7882 h 462"/>
                <a:gd name="T32" fmla="*/ 979 w 1470"/>
                <a:gd name="T33" fmla="*/ 7077 h 462"/>
                <a:gd name="T34" fmla="*/ 1020 w 1470"/>
                <a:gd name="T35" fmla="*/ 7471 h 462"/>
                <a:gd name="T36" fmla="*/ 1073 w 1470"/>
                <a:gd name="T37" fmla="*/ 8194 h 462"/>
                <a:gd name="T38" fmla="*/ 1157 w 1470"/>
                <a:gd name="T39" fmla="*/ 6739 h 462"/>
                <a:gd name="T40" fmla="*/ 1234 w 1470"/>
                <a:gd name="T41" fmla="*/ 5657 h 462"/>
                <a:gd name="T42" fmla="*/ 1285 w 1470"/>
                <a:gd name="T43" fmla="*/ 4965 h 462"/>
                <a:gd name="T44" fmla="*/ 1352 w 1470"/>
                <a:gd name="T45" fmla="*/ 3855 h 462"/>
                <a:gd name="T46" fmla="*/ 1507 w 1470"/>
                <a:gd name="T47" fmla="*/ 2767 h 462"/>
                <a:gd name="T48" fmla="*/ 1591 w 1470"/>
                <a:gd name="T49" fmla="*/ 2014 h 462"/>
                <a:gd name="T50" fmla="*/ 1677 w 1470"/>
                <a:gd name="T51" fmla="*/ 2366 h 462"/>
                <a:gd name="T52" fmla="*/ 1830 w 1470"/>
                <a:gd name="T53" fmla="*/ 2014 h 4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470"/>
                <a:gd name="T82" fmla="*/ 0 h 462"/>
                <a:gd name="T83" fmla="*/ 1470 w 1470"/>
                <a:gd name="T84" fmla="*/ 462 h 46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470" h="462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1" name="Oval 60"/>
            <p:cNvSpPr>
              <a:spLocks noChangeArrowheads="1"/>
            </p:cNvSpPr>
            <p:nvPr/>
          </p:nvSpPr>
          <p:spPr bwMode="auto">
            <a:xfrm>
              <a:off x="4032" y="288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US" sz="1400"/>
                <a:t>q</a:t>
              </a:r>
              <a:r>
                <a:rPr lang="en-US" sz="1400" baseline="-25000"/>
                <a:t>i</a:t>
              </a:r>
              <a:endParaRPr lang="en-US" sz="1400"/>
            </a:p>
          </p:txBody>
        </p:sp>
        <p:grpSp>
          <p:nvGrpSpPr>
            <p:cNvPr id="25622" name="Group 61"/>
            <p:cNvGrpSpPr>
              <a:grpSpLocks/>
            </p:cNvGrpSpPr>
            <p:nvPr/>
          </p:nvGrpSpPr>
          <p:grpSpPr bwMode="auto">
            <a:xfrm>
              <a:off x="3168" y="2256"/>
              <a:ext cx="2352" cy="1680"/>
              <a:chOff x="1152" y="1536"/>
              <a:chExt cx="2352" cy="1680"/>
            </a:xfrm>
          </p:grpSpPr>
          <p:sp>
            <p:nvSpPr>
              <p:cNvPr id="25627" name="Line 62"/>
              <p:cNvSpPr>
                <a:spLocks noChangeShapeType="1"/>
              </p:cNvSpPr>
              <p:nvPr/>
            </p:nvSpPr>
            <p:spPr bwMode="auto">
              <a:xfrm>
                <a:off x="1152" y="1536"/>
                <a:ext cx="0" cy="168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8" name="Line 63"/>
              <p:cNvSpPr>
                <a:spLocks noChangeShapeType="1"/>
              </p:cNvSpPr>
              <p:nvPr/>
            </p:nvSpPr>
            <p:spPr bwMode="auto">
              <a:xfrm>
                <a:off x="1152" y="1536"/>
                <a:ext cx="2352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9" name="Line 64"/>
              <p:cNvSpPr>
                <a:spLocks noChangeShapeType="1"/>
              </p:cNvSpPr>
              <p:nvPr/>
            </p:nvSpPr>
            <p:spPr bwMode="auto">
              <a:xfrm>
                <a:off x="3504" y="1536"/>
                <a:ext cx="0" cy="168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30" name="Line 65"/>
              <p:cNvSpPr>
                <a:spLocks noChangeShapeType="1"/>
              </p:cNvSpPr>
              <p:nvPr/>
            </p:nvSpPr>
            <p:spPr bwMode="auto">
              <a:xfrm>
                <a:off x="1152" y="3216"/>
                <a:ext cx="2352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623" name="Text Box 66"/>
            <p:cNvSpPr txBox="1">
              <a:spLocks noChangeArrowheads="1"/>
            </p:cNvSpPr>
            <p:nvPr/>
          </p:nvSpPr>
          <p:spPr bwMode="auto">
            <a:xfrm>
              <a:off x="3158" y="2268"/>
              <a:ext cx="80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DFA for L</a:t>
              </a:r>
            </a:p>
          </p:txBody>
        </p:sp>
        <p:sp>
          <p:nvSpPr>
            <p:cNvPr id="25624" name="Line 67"/>
            <p:cNvSpPr>
              <a:spLocks noChangeShapeType="1"/>
            </p:cNvSpPr>
            <p:nvPr/>
          </p:nvSpPr>
          <p:spPr bwMode="auto">
            <a:xfrm>
              <a:off x="3120" y="297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5" name="Line 68"/>
            <p:cNvSpPr>
              <a:spLocks noChangeShapeType="1"/>
            </p:cNvSpPr>
            <p:nvPr/>
          </p:nvSpPr>
          <p:spPr bwMode="auto">
            <a:xfrm>
              <a:off x="3792" y="2304"/>
              <a:ext cx="96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6" name="AutoShape 69"/>
            <p:cNvSpPr>
              <a:spLocks noChangeArrowheads="1"/>
            </p:cNvSpPr>
            <p:nvPr/>
          </p:nvSpPr>
          <p:spPr bwMode="auto">
            <a:xfrm>
              <a:off x="2784" y="2928"/>
              <a:ext cx="288" cy="144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0646" name="Rectangle 70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If L is an RL over ∑, then L=∑*-L</a:t>
            </a:r>
          </a:p>
          <a:p>
            <a:pPr eaLnBrk="1" hangingPunct="1">
              <a:lnSpc>
                <a:spcPct val="90000"/>
              </a:lnSpc>
              <a:buFont typeface="Wingdings" pitchFamily="28" charset="2"/>
              <a:buChar char="Ø"/>
            </a:pPr>
            <a:r>
              <a:rPr lang="en-US" sz="2800"/>
              <a:t>To show L is also regular, make the following construction</a:t>
            </a:r>
          </a:p>
        </p:txBody>
      </p:sp>
      <p:sp>
        <p:nvSpPr>
          <p:cNvPr id="25607" name="Line 73"/>
          <p:cNvSpPr>
            <a:spLocks noChangeShapeType="1"/>
          </p:cNvSpPr>
          <p:nvPr/>
        </p:nvSpPr>
        <p:spPr bwMode="auto">
          <a:xfrm>
            <a:off x="5562600" y="2057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8" name="Line 74"/>
          <p:cNvSpPr>
            <a:spLocks noChangeShapeType="1"/>
          </p:cNvSpPr>
          <p:nvPr/>
        </p:nvSpPr>
        <p:spPr bwMode="auto">
          <a:xfrm>
            <a:off x="3048000" y="2514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3657600" y="2971800"/>
            <a:ext cx="4451350" cy="5842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Convert every final state into non-final, and </a:t>
            </a:r>
          </a:p>
          <a:p>
            <a:r>
              <a:rPr lang="en-US" sz="1600"/>
              <a:t>	every non-final state into a final state</a:t>
            </a: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990600" y="6324600"/>
            <a:ext cx="5186363" cy="3381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Assumes q0 is a non-final state. If not, do the opposite.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646" grpId="0" build="p"/>
      <p:bldP spid="48" grpId="0" animBg="1"/>
      <p:bldP spid="4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E75EDF-8B3E-4FF6-9383-1F5D9935C9E7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RLs are closed under intersection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2017713"/>
            <a:ext cx="7772400" cy="4114800"/>
          </a:xfrm>
        </p:spPr>
        <p:txBody>
          <a:bodyPr/>
          <a:lstStyle/>
          <a:p>
            <a:pPr eaLnBrk="1" hangingPunct="1"/>
            <a:r>
              <a:rPr lang="en-US"/>
              <a:t>A quick, indirect way to prove:</a:t>
            </a:r>
          </a:p>
          <a:p>
            <a:pPr lvl="1" eaLnBrk="1" hangingPunct="1"/>
            <a:r>
              <a:rPr lang="en-US"/>
              <a:t>By DeMorgan’s law: </a:t>
            </a:r>
          </a:p>
          <a:p>
            <a:pPr lvl="1" eaLnBrk="1" hangingPunct="1"/>
            <a:r>
              <a:rPr lang="en-US">
                <a:cs typeface="Arial" charset="0"/>
              </a:rPr>
              <a:t>L ∩ M = (</a:t>
            </a:r>
            <a:r>
              <a:rPr lang="en-US"/>
              <a:t>L U M) </a:t>
            </a:r>
          </a:p>
          <a:p>
            <a:pPr lvl="1" eaLnBrk="1" hangingPunct="1"/>
            <a:r>
              <a:rPr lang="en-US"/>
              <a:t>Since we know RLs are closed under union and complementation, they are also closed under intersection</a:t>
            </a:r>
          </a:p>
          <a:p>
            <a:pPr eaLnBrk="1" hangingPunct="1"/>
            <a:r>
              <a:rPr lang="en-US"/>
              <a:t>A more direct way would be construct a finite automaton for </a:t>
            </a:r>
            <a:r>
              <a:rPr lang="en-US">
                <a:cs typeface="Arial" charset="0"/>
              </a:rPr>
              <a:t>L ∩ M</a:t>
            </a:r>
          </a:p>
        </p:txBody>
      </p:sp>
      <p:sp>
        <p:nvSpPr>
          <p:cNvPr id="26629" name="Line 4"/>
          <p:cNvSpPr>
            <a:spLocks noChangeShapeType="1"/>
          </p:cNvSpPr>
          <p:nvPr/>
        </p:nvSpPr>
        <p:spPr bwMode="auto">
          <a:xfrm>
            <a:off x="3505200" y="3200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0" name="Line 5"/>
          <p:cNvSpPr>
            <a:spLocks noChangeShapeType="1"/>
          </p:cNvSpPr>
          <p:nvPr/>
        </p:nvSpPr>
        <p:spPr bwMode="auto">
          <a:xfrm>
            <a:off x="4191000" y="3200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Line 6"/>
          <p:cNvSpPr>
            <a:spLocks noChangeShapeType="1"/>
          </p:cNvSpPr>
          <p:nvPr/>
        </p:nvSpPr>
        <p:spPr bwMode="auto">
          <a:xfrm>
            <a:off x="3505200" y="3124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5991B59-C51C-4A62-9B7A-DDA84DAA8654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DFA construction for </a:t>
            </a:r>
            <a:r>
              <a:rPr lang="en-US">
                <a:cs typeface="Arial" charset="0"/>
              </a:rPr>
              <a:t>L ∩ M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chemeClr val="hlink"/>
                </a:solidFill>
              </a:rPr>
              <a:t>A</a:t>
            </a:r>
            <a:r>
              <a:rPr lang="en-US" sz="2800" baseline="-25000" dirty="0">
                <a:solidFill>
                  <a:schemeClr val="hlink"/>
                </a:solidFill>
              </a:rPr>
              <a:t>L</a:t>
            </a:r>
            <a:r>
              <a:rPr lang="en-US" sz="2800" dirty="0">
                <a:solidFill>
                  <a:schemeClr val="hlink"/>
                </a:solidFill>
              </a:rPr>
              <a:t> = DFA for L = {Q</a:t>
            </a:r>
            <a:r>
              <a:rPr lang="en-US" sz="2800" baseline="-25000" dirty="0">
                <a:solidFill>
                  <a:schemeClr val="hlink"/>
                </a:solidFill>
              </a:rPr>
              <a:t>L</a:t>
            </a:r>
            <a:r>
              <a:rPr lang="en-US" sz="2800" dirty="0">
                <a:solidFill>
                  <a:schemeClr val="hlink"/>
                </a:solidFill>
              </a:rPr>
              <a:t>, ∑ , </a:t>
            </a:r>
            <a:r>
              <a:rPr lang="en-US" sz="2800" dirty="0" err="1">
                <a:solidFill>
                  <a:schemeClr val="hlink"/>
                </a:solidFill>
              </a:rPr>
              <a:t>q</a:t>
            </a:r>
            <a:r>
              <a:rPr lang="en-US" sz="2800" baseline="-25000" dirty="0" err="1">
                <a:solidFill>
                  <a:schemeClr val="hlink"/>
                </a:solidFill>
              </a:rPr>
              <a:t>L</a:t>
            </a:r>
            <a:r>
              <a:rPr lang="en-US" sz="2800" dirty="0" err="1">
                <a:solidFill>
                  <a:schemeClr val="hlink"/>
                </a:solidFill>
              </a:rPr>
              <a:t>,F</a:t>
            </a:r>
            <a:r>
              <a:rPr lang="en-US" sz="2800" baseline="-25000" dirty="0" err="1">
                <a:solidFill>
                  <a:schemeClr val="hlink"/>
                </a:solidFill>
              </a:rPr>
              <a:t>L</a:t>
            </a:r>
            <a:r>
              <a:rPr lang="en-US" sz="2800" dirty="0">
                <a:solidFill>
                  <a:schemeClr val="hlink"/>
                </a:solidFill>
              </a:rPr>
              <a:t>, </a:t>
            </a:r>
            <a:r>
              <a:rPr lang="el-GR" sz="2800" dirty="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n-US" sz="2800" baseline="-25000" dirty="0">
                <a:solidFill>
                  <a:schemeClr val="hlink"/>
                </a:solidFill>
              </a:rPr>
              <a:t>L</a:t>
            </a:r>
            <a:r>
              <a:rPr lang="en-US" sz="2800" dirty="0">
                <a:solidFill>
                  <a:schemeClr val="hlink"/>
                </a:solidFill>
              </a:rPr>
              <a:t> }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rgbClr val="006600"/>
                </a:solidFill>
              </a:rPr>
              <a:t>A</a:t>
            </a:r>
            <a:r>
              <a:rPr lang="en-US" sz="2800" baseline="-25000" dirty="0">
                <a:solidFill>
                  <a:srgbClr val="006600"/>
                </a:solidFill>
              </a:rPr>
              <a:t>M</a:t>
            </a:r>
            <a:r>
              <a:rPr lang="en-US" sz="2800" dirty="0">
                <a:solidFill>
                  <a:srgbClr val="006600"/>
                </a:solidFill>
              </a:rPr>
              <a:t> = DFA for M = {Q</a:t>
            </a:r>
            <a:r>
              <a:rPr lang="en-US" sz="2800" baseline="-25000" dirty="0">
                <a:solidFill>
                  <a:srgbClr val="006600"/>
                </a:solidFill>
              </a:rPr>
              <a:t>M</a:t>
            </a:r>
            <a:r>
              <a:rPr lang="en-US" sz="2800" dirty="0">
                <a:solidFill>
                  <a:srgbClr val="006600"/>
                </a:solidFill>
              </a:rPr>
              <a:t>, ∑ , </a:t>
            </a:r>
            <a:r>
              <a:rPr lang="en-US" sz="2800" dirty="0" err="1">
                <a:solidFill>
                  <a:srgbClr val="006600"/>
                </a:solidFill>
              </a:rPr>
              <a:t>q</a:t>
            </a:r>
            <a:r>
              <a:rPr lang="en-US" sz="2800" baseline="-25000" dirty="0" err="1">
                <a:solidFill>
                  <a:srgbClr val="006600"/>
                </a:solidFill>
              </a:rPr>
              <a:t>M</a:t>
            </a:r>
            <a:r>
              <a:rPr lang="en-US" sz="2800" dirty="0" err="1">
                <a:solidFill>
                  <a:srgbClr val="006600"/>
                </a:solidFill>
              </a:rPr>
              <a:t>,F</a:t>
            </a:r>
            <a:r>
              <a:rPr lang="en-US" sz="2800" baseline="-25000" dirty="0" err="1">
                <a:solidFill>
                  <a:srgbClr val="006600"/>
                </a:solidFill>
              </a:rPr>
              <a:t>M</a:t>
            </a:r>
            <a:r>
              <a:rPr lang="en-US" sz="2800" dirty="0">
                <a:solidFill>
                  <a:srgbClr val="006600"/>
                </a:solidFill>
              </a:rPr>
              <a:t>, </a:t>
            </a:r>
            <a:r>
              <a:rPr lang="el-GR" sz="2800" dirty="0">
                <a:solidFill>
                  <a:srgbClr val="00660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n-US" sz="2800" baseline="-25000" dirty="0">
                <a:solidFill>
                  <a:srgbClr val="006600"/>
                </a:solidFill>
              </a:rPr>
              <a:t>M</a:t>
            </a:r>
            <a:r>
              <a:rPr lang="en-US" sz="2800" dirty="0">
                <a:solidFill>
                  <a:srgbClr val="006600"/>
                </a:solidFill>
              </a:rPr>
              <a:t> }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Build </a:t>
            </a:r>
            <a:r>
              <a:rPr lang="en-US" sz="2800" dirty="0">
                <a:solidFill>
                  <a:srgbClr val="993300"/>
                </a:solidFill>
              </a:rPr>
              <a:t>A</a:t>
            </a:r>
            <a:r>
              <a:rPr lang="en-US" sz="2800" baseline="-25000" dirty="0">
                <a:solidFill>
                  <a:srgbClr val="993300"/>
                </a:solidFill>
                <a:cs typeface="Arial" charset="0"/>
              </a:rPr>
              <a:t>L ∩ M</a:t>
            </a:r>
            <a:r>
              <a:rPr lang="en-US" sz="2800" dirty="0">
                <a:solidFill>
                  <a:srgbClr val="993300"/>
                </a:solidFill>
              </a:rPr>
              <a:t> = {</a:t>
            </a:r>
            <a:r>
              <a:rPr lang="en-US" sz="2800" dirty="0" err="1">
                <a:solidFill>
                  <a:schemeClr val="hlink"/>
                </a:solidFill>
              </a:rPr>
              <a:t>Q</a:t>
            </a:r>
            <a:r>
              <a:rPr lang="en-US" sz="2800" baseline="-25000" dirty="0" err="1">
                <a:solidFill>
                  <a:schemeClr val="hlink"/>
                </a:solidFill>
              </a:rPr>
              <a:t>L</a:t>
            </a:r>
            <a:r>
              <a:rPr lang="en-US" sz="2800" dirty="0" err="1">
                <a:solidFill>
                  <a:srgbClr val="993300"/>
                </a:solidFill>
              </a:rPr>
              <a:t>x</a:t>
            </a:r>
            <a:r>
              <a:rPr lang="en-US" sz="2800" dirty="0">
                <a:solidFill>
                  <a:srgbClr val="993300"/>
                </a:solidFill>
              </a:rPr>
              <a:t> </a:t>
            </a:r>
            <a:r>
              <a:rPr lang="en-US" sz="2800" dirty="0">
                <a:solidFill>
                  <a:srgbClr val="006600"/>
                </a:solidFill>
              </a:rPr>
              <a:t>Q</a:t>
            </a:r>
            <a:r>
              <a:rPr lang="en-US" sz="2800" baseline="-25000" dirty="0">
                <a:solidFill>
                  <a:srgbClr val="006600"/>
                </a:solidFill>
              </a:rPr>
              <a:t>M</a:t>
            </a:r>
            <a:r>
              <a:rPr lang="en-US" sz="2800" dirty="0">
                <a:solidFill>
                  <a:srgbClr val="993300"/>
                </a:solidFill>
              </a:rPr>
              <a:t>,∑, (</a:t>
            </a:r>
            <a:r>
              <a:rPr lang="en-US" sz="2800" dirty="0" err="1">
                <a:solidFill>
                  <a:schemeClr val="hlink"/>
                </a:solidFill>
              </a:rPr>
              <a:t>q</a:t>
            </a:r>
            <a:r>
              <a:rPr lang="en-US" sz="2800" baseline="-25000" dirty="0" err="1">
                <a:solidFill>
                  <a:schemeClr val="hlink"/>
                </a:solidFill>
              </a:rPr>
              <a:t>L</a:t>
            </a:r>
            <a:r>
              <a:rPr lang="en-US" sz="2800" dirty="0" err="1">
                <a:solidFill>
                  <a:schemeClr val="hlink"/>
                </a:solidFill>
              </a:rPr>
              <a:t>,</a:t>
            </a:r>
            <a:r>
              <a:rPr lang="en-US" sz="2800" dirty="0" err="1">
                <a:solidFill>
                  <a:srgbClr val="006600"/>
                </a:solidFill>
              </a:rPr>
              <a:t>q</a:t>
            </a:r>
            <a:r>
              <a:rPr lang="en-US" sz="2800" baseline="-25000" dirty="0" err="1">
                <a:solidFill>
                  <a:srgbClr val="006600"/>
                </a:solidFill>
              </a:rPr>
              <a:t>M</a:t>
            </a:r>
            <a:r>
              <a:rPr lang="en-US" sz="2800" dirty="0">
                <a:solidFill>
                  <a:srgbClr val="993300"/>
                </a:solidFill>
              </a:rPr>
              <a:t>), </a:t>
            </a:r>
            <a:r>
              <a:rPr lang="en-US" sz="2800" dirty="0" err="1">
                <a:solidFill>
                  <a:schemeClr val="hlink"/>
                </a:solidFill>
              </a:rPr>
              <a:t>F</a:t>
            </a:r>
            <a:r>
              <a:rPr lang="en-US" sz="2800" baseline="-25000" dirty="0" err="1">
                <a:solidFill>
                  <a:schemeClr val="hlink"/>
                </a:solidFill>
              </a:rPr>
              <a:t>L</a:t>
            </a:r>
            <a:r>
              <a:rPr lang="en-US" sz="2800" dirty="0" err="1">
                <a:solidFill>
                  <a:srgbClr val="993300"/>
                </a:solidFill>
              </a:rPr>
              <a:t>x</a:t>
            </a:r>
            <a:r>
              <a:rPr lang="en-US" sz="2800" dirty="0">
                <a:solidFill>
                  <a:srgbClr val="993300"/>
                </a:solidFill>
              </a:rPr>
              <a:t> </a:t>
            </a:r>
            <a:r>
              <a:rPr lang="en-US" sz="2800" dirty="0">
                <a:solidFill>
                  <a:srgbClr val="006600"/>
                </a:solidFill>
              </a:rPr>
              <a:t>F</a:t>
            </a:r>
            <a:r>
              <a:rPr lang="en-US" sz="2800" baseline="-25000" dirty="0">
                <a:solidFill>
                  <a:srgbClr val="006600"/>
                </a:solidFill>
              </a:rPr>
              <a:t>M</a:t>
            </a:r>
            <a:r>
              <a:rPr lang="en-US" sz="2800" dirty="0">
                <a:solidFill>
                  <a:srgbClr val="993300"/>
                </a:solidFill>
              </a:rPr>
              <a:t>,</a:t>
            </a:r>
            <a:r>
              <a:rPr lang="el-GR" sz="2800" dirty="0">
                <a:solidFill>
                  <a:srgbClr val="99330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n-US" sz="2800" dirty="0">
                <a:solidFill>
                  <a:srgbClr val="993300"/>
                </a:solidFill>
              </a:rPr>
              <a:t>} such that: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l-GR" sz="2400" dirty="0">
                <a:solidFill>
                  <a:srgbClr val="993300"/>
                </a:solidFill>
                <a:latin typeface="Lucida Grande" pitchFamily="28" charset="0"/>
                <a:cs typeface="Tahoma" pitchFamily="28" charset="0"/>
              </a:rPr>
              <a:t>δ((</a:t>
            </a:r>
            <a:r>
              <a:rPr lang="el-GR" sz="2400" dirty="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p</a:t>
            </a:r>
            <a:r>
              <a:rPr lang="el-GR" sz="2400" dirty="0">
                <a:solidFill>
                  <a:srgbClr val="993300"/>
                </a:solidFill>
                <a:latin typeface="Lucida Grande" pitchFamily="28" charset="0"/>
                <a:cs typeface="Tahoma" pitchFamily="28" charset="0"/>
              </a:rPr>
              <a:t>,</a:t>
            </a:r>
            <a:r>
              <a:rPr lang="el-GR" sz="2400" dirty="0">
                <a:solidFill>
                  <a:srgbClr val="006600"/>
                </a:solidFill>
                <a:latin typeface="Lucida Grande" pitchFamily="28" charset="0"/>
                <a:cs typeface="Tahoma" pitchFamily="28" charset="0"/>
              </a:rPr>
              <a:t>q</a:t>
            </a:r>
            <a:r>
              <a:rPr lang="el-GR" sz="2400" dirty="0">
                <a:solidFill>
                  <a:srgbClr val="993300"/>
                </a:solidFill>
                <a:latin typeface="Lucida Grande" pitchFamily="28" charset="0"/>
                <a:cs typeface="Tahoma" pitchFamily="28" charset="0"/>
              </a:rPr>
              <a:t>),a) </a:t>
            </a:r>
            <a:r>
              <a:rPr lang="en-US" sz="2400" dirty="0">
                <a:solidFill>
                  <a:srgbClr val="993300"/>
                </a:solidFill>
              </a:rPr>
              <a:t>= (</a:t>
            </a:r>
            <a:r>
              <a:rPr lang="el-GR" sz="240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n-US" sz="2400" baseline="-2500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L</a:t>
            </a:r>
            <a:r>
              <a:rPr lang="el-GR" sz="2400" dirty="0">
                <a:solidFill>
                  <a:srgbClr val="FF0000"/>
                </a:solidFill>
                <a:latin typeface="Lucida Grande" pitchFamily="28" charset="0"/>
                <a:cs typeface="Tahoma" pitchFamily="28" charset="0"/>
              </a:rPr>
              <a:t>(p,a), </a:t>
            </a:r>
            <a:r>
              <a:rPr lang="el-GR" sz="2400" dirty="0">
                <a:solidFill>
                  <a:schemeClr val="accent1">
                    <a:lumMod val="50000"/>
                  </a:schemeClr>
                </a:solidFill>
                <a:latin typeface="Lucida Grande" pitchFamily="28" charset="0"/>
                <a:cs typeface="Tahoma" pitchFamily="28" charset="0"/>
              </a:rPr>
              <a:t>δ</a:t>
            </a:r>
            <a:r>
              <a:rPr lang="en-US" sz="2400" baseline="-25000" dirty="0">
                <a:solidFill>
                  <a:schemeClr val="accent1">
                    <a:lumMod val="50000"/>
                  </a:schemeClr>
                </a:solidFill>
                <a:latin typeface="Lucida Grande" pitchFamily="28" charset="0"/>
                <a:cs typeface="Tahoma" pitchFamily="28" charset="0"/>
              </a:rPr>
              <a:t>M</a:t>
            </a:r>
            <a:r>
              <a:rPr lang="el-GR" sz="2400" dirty="0">
                <a:solidFill>
                  <a:schemeClr val="accent1">
                    <a:lumMod val="50000"/>
                  </a:schemeClr>
                </a:solidFill>
                <a:latin typeface="Lucida Grande" pitchFamily="28" charset="0"/>
                <a:cs typeface="Tahoma" pitchFamily="28" charset="0"/>
              </a:rPr>
              <a:t>(q,a)), </a:t>
            </a:r>
            <a:r>
              <a:rPr lang="el-GR" sz="2400" dirty="0">
                <a:solidFill>
                  <a:srgbClr val="993300"/>
                </a:solidFill>
                <a:latin typeface="Lucida Grande" pitchFamily="28" charset="0"/>
                <a:cs typeface="Tahoma" pitchFamily="28" charset="0"/>
              </a:rPr>
              <a:t>where </a:t>
            </a:r>
            <a:r>
              <a:rPr lang="el-GR" sz="2400" dirty="0">
                <a:solidFill>
                  <a:schemeClr val="hlink"/>
                </a:solidFill>
                <a:latin typeface="Lucida Grande" pitchFamily="28" charset="0"/>
                <a:cs typeface="Tahoma" pitchFamily="28" charset="0"/>
              </a:rPr>
              <a:t>p in</a:t>
            </a:r>
            <a:r>
              <a:rPr lang="el-GR" sz="2400" dirty="0">
                <a:solidFill>
                  <a:srgbClr val="993300"/>
                </a:solidFill>
                <a:latin typeface="Lucida Grande" pitchFamily="28" charset="0"/>
                <a:cs typeface="Tahoma" pitchFamily="28" charset="0"/>
              </a:rPr>
              <a:t> </a:t>
            </a:r>
            <a:r>
              <a:rPr lang="en-US" sz="2400" dirty="0">
                <a:solidFill>
                  <a:schemeClr val="hlink"/>
                </a:solidFill>
              </a:rPr>
              <a:t>Q</a:t>
            </a:r>
            <a:r>
              <a:rPr lang="en-US" sz="2400" baseline="-25000" dirty="0">
                <a:solidFill>
                  <a:schemeClr val="hlink"/>
                </a:solidFill>
              </a:rPr>
              <a:t>L</a:t>
            </a:r>
            <a:r>
              <a:rPr lang="en-US" sz="2400" dirty="0">
                <a:solidFill>
                  <a:schemeClr val="hlink"/>
                </a:solidFill>
              </a:rPr>
              <a:t>,</a:t>
            </a:r>
            <a:r>
              <a:rPr lang="el-GR" sz="2400" dirty="0">
                <a:solidFill>
                  <a:srgbClr val="993300"/>
                </a:solidFill>
                <a:latin typeface="Lucida Grande" pitchFamily="28" charset="0"/>
                <a:cs typeface="Tahoma" pitchFamily="28" charset="0"/>
              </a:rPr>
              <a:t> and </a:t>
            </a:r>
            <a:r>
              <a:rPr lang="el-GR" sz="2400" dirty="0">
                <a:solidFill>
                  <a:srgbClr val="006600"/>
                </a:solidFill>
                <a:latin typeface="Lucida Grande" pitchFamily="28" charset="0"/>
                <a:cs typeface="Tahoma" pitchFamily="28" charset="0"/>
              </a:rPr>
              <a:t>q in</a:t>
            </a:r>
            <a:r>
              <a:rPr lang="el-GR" sz="2400" dirty="0">
                <a:solidFill>
                  <a:srgbClr val="993300"/>
                </a:solidFill>
                <a:latin typeface="Lucida Grande" pitchFamily="28" charset="0"/>
                <a:cs typeface="Tahoma" pitchFamily="28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Q</a:t>
            </a:r>
            <a:r>
              <a:rPr lang="en-US" sz="2400" baseline="-25000" dirty="0">
                <a:solidFill>
                  <a:srgbClr val="006600"/>
                </a:solidFill>
              </a:rPr>
              <a:t>M</a:t>
            </a:r>
            <a:endParaRPr lang="en-US" sz="2400" baseline="-25000" dirty="0">
              <a:solidFill>
                <a:schemeClr val="hlink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This construction ensures that a string w will be accepted if and only if w reaches an accepting state in </a:t>
            </a:r>
            <a:r>
              <a:rPr lang="en-US" sz="2800" u="sng" dirty="0"/>
              <a:t>both</a:t>
            </a:r>
            <a:r>
              <a:rPr lang="en-US" sz="2800" dirty="0"/>
              <a:t> input DFAs.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7F49C0-B2C9-4354-97B5-86836F4F6835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DFA construction for </a:t>
            </a:r>
            <a:r>
              <a:rPr lang="en-US">
                <a:cs typeface="Arial" charset="0"/>
              </a:rPr>
              <a:t>L ∩ M</a:t>
            </a: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854075" y="2971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0</a:t>
            </a:r>
            <a:endParaRPr lang="en-US" sz="1400"/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3673475" y="2209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F1</a:t>
            </a:r>
            <a:endParaRPr lang="en-US" sz="1400"/>
          </a:p>
        </p:txBody>
      </p:sp>
      <p:sp>
        <p:nvSpPr>
          <p:cNvPr id="28678" name="Oval 6"/>
          <p:cNvSpPr>
            <a:spLocks noChangeArrowheads="1"/>
          </p:cNvSpPr>
          <p:nvPr/>
        </p:nvSpPr>
        <p:spPr bwMode="auto">
          <a:xfrm>
            <a:off x="3597275" y="2133600"/>
            <a:ext cx="533400" cy="533400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79" name="Oval 7"/>
          <p:cNvSpPr>
            <a:spLocks noChangeArrowheads="1"/>
          </p:cNvSpPr>
          <p:nvPr/>
        </p:nvSpPr>
        <p:spPr bwMode="auto">
          <a:xfrm>
            <a:off x="3673475" y="2971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F2</a:t>
            </a:r>
            <a:endParaRPr lang="en-US" sz="1400"/>
          </a:p>
        </p:txBody>
      </p:sp>
      <p:sp>
        <p:nvSpPr>
          <p:cNvPr id="28680" name="Oval 9"/>
          <p:cNvSpPr>
            <a:spLocks noChangeArrowheads="1"/>
          </p:cNvSpPr>
          <p:nvPr/>
        </p:nvSpPr>
        <p:spPr bwMode="auto">
          <a:xfrm>
            <a:off x="3597275" y="2895600"/>
            <a:ext cx="533400" cy="533400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Text Box 11"/>
          <p:cNvSpPr txBox="1">
            <a:spLocks noChangeArrowheads="1"/>
          </p:cNvSpPr>
          <p:nvPr/>
        </p:nvSpPr>
        <p:spPr bwMode="auto">
          <a:xfrm rot="5400000">
            <a:off x="3657600" y="3489325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…</a:t>
            </a:r>
          </a:p>
        </p:txBody>
      </p:sp>
      <p:sp>
        <p:nvSpPr>
          <p:cNvPr id="28682" name="Freeform 12"/>
          <p:cNvSpPr>
            <a:spLocks/>
          </p:cNvSpPr>
          <p:nvPr/>
        </p:nvSpPr>
        <p:spPr bwMode="auto">
          <a:xfrm>
            <a:off x="1228725" y="2336800"/>
            <a:ext cx="2333625" cy="733425"/>
          </a:xfrm>
          <a:custGeom>
            <a:avLst/>
            <a:gdLst>
              <a:gd name="T0" fmla="*/ 0 w 1470"/>
              <a:gd name="T1" fmla="*/ 2147483647 h 462"/>
              <a:gd name="T2" fmla="*/ 2147483647 w 1470"/>
              <a:gd name="T3" fmla="*/ 2147483647 h 462"/>
              <a:gd name="T4" fmla="*/ 2147483647 w 1470"/>
              <a:gd name="T5" fmla="*/ 2147483647 h 462"/>
              <a:gd name="T6" fmla="*/ 2147483647 w 1470"/>
              <a:gd name="T7" fmla="*/ 2147483647 h 462"/>
              <a:gd name="T8" fmla="*/ 2147483647 w 1470"/>
              <a:gd name="T9" fmla="*/ 2147483647 h 462"/>
              <a:gd name="T10" fmla="*/ 2147483647 w 1470"/>
              <a:gd name="T11" fmla="*/ 2147483647 h 462"/>
              <a:gd name="T12" fmla="*/ 2147483647 w 1470"/>
              <a:gd name="T13" fmla="*/ 2147483647 h 462"/>
              <a:gd name="T14" fmla="*/ 2147483647 w 1470"/>
              <a:gd name="T15" fmla="*/ 2147483647 h 462"/>
              <a:gd name="T16" fmla="*/ 2147483647 w 1470"/>
              <a:gd name="T17" fmla="*/ 2147483647 h 462"/>
              <a:gd name="T18" fmla="*/ 2147483647 w 1470"/>
              <a:gd name="T19" fmla="*/ 2147483647 h 462"/>
              <a:gd name="T20" fmla="*/ 2147483647 w 1470"/>
              <a:gd name="T21" fmla="*/ 2147483647 h 462"/>
              <a:gd name="T22" fmla="*/ 2147483647 w 1470"/>
              <a:gd name="T23" fmla="*/ 2147483647 h 462"/>
              <a:gd name="T24" fmla="*/ 2147483647 w 1470"/>
              <a:gd name="T25" fmla="*/ 2147483647 h 462"/>
              <a:gd name="T26" fmla="*/ 2147483647 w 1470"/>
              <a:gd name="T27" fmla="*/ 2147483647 h 462"/>
              <a:gd name="T28" fmla="*/ 2147483647 w 1470"/>
              <a:gd name="T29" fmla="*/ 2147483647 h 462"/>
              <a:gd name="T30" fmla="*/ 2147483647 w 1470"/>
              <a:gd name="T31" fmla="*/ 2147483647 h 462"/>
              <a:gd name="T32" fmla="*/ 2147483647 w 1470"/>
              <a:gd name="T33" fmla="*/ 2147483647 h 462"/>
              <a:gd name="T34" fmla="*/ 2147483647 w 1470"/>
              <a:gd name="T35" fmla="*/ 2147483647 h 462"/>
              <a:gd name="T36" fmla="*/ 2147483647 w 1470"/>
              <a:gd name="T37" fmla="*/ 2147483647 h 462"/>
              <a:gd name="T38" fmla="*/ 2147483647 w 1470"/>
              <a:gd name="T39" fmla="*/ 2147483647 h 462"/>
              <a:gd name="T40" fmla="*/ 2147483647 w 1470"/>
              <a:gd name="T41" fmla="*/ 2147483647 h 462"/>
              <a:gd name="T42" fmla="*/ 2147483647 w 1470"/>
              <a:gd name="T43" fmla="*/ 2147483647 h 462"/>
              <a:gd name="T44" fmla="*/ 2147483647 w 1470"/>
              <a:gd name="T45" fmla="*/ 2147483647 h 462"/>
              <a:gd name="T46" fmla="*/ 2147483647 w 1470"/>
              <a:gd name="T47" fmla="*/ 2147483647 h 462"/>
              <a:gd name="T48" fmla="*/ 2147483647 w 1470"/>
              <a:gd name="T49" fmla="*/ 2147483647 h 462"/>
              <a:gd name="T50" fmla="*/ 2147483647 w 1470"/>
              <a:gd name="T51" fmla="*/ 2147483647 h 462"/>
              <a:gd name="T52" fmla="*/ 2147483647 w 1470"/>
              <a:gd name="T53" fmla="*/ 2147483647 h 46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470"/>
              <a:gd name="T82" fmla="*/ 0 h 462"/>
              <a:gd name="T83" fmla="*/ 1470 w 1470"/>
              <a:gd name="T84" fmla="*/ 462 h 462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470" h="462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Freeform 13"/>
          <p:cNvSpPr>
            <a:spLocks/>
          </p:cNvSpPr>
          <p:nvPr/>
        </p:nvSpPr>
        <p:spPr bwMode="auto">
          <a:xfrm>
            <a:off x="1235075" y="3125788"/>
            <a:ext cx="669925" cy="74612"/>
          </a:xfrm>
          <a:custGeom>
            <a:avLst/>
            <a:gdLst>
              <a:gd name="T0" fmla="*/ 0 w 1470"/>
              <a:gd name="T1" fmla="*/ 2147483647 h 462"/>
              <a:gd name="T2" fmla="*/ 2147483647 w 1470"/>
              <a:gd name="T3" fmla="*/ 2147483647 h 462"/>
              <a:gd name="T4" fmla="*/ 2147483647 w 1470"/>
              <a:gd name="T5" fmla="*/ 2147483647 h 462"/>
              <a:gd name="T6" fmla="*/ 2147483647 w 1470"/>
              <a:gd name="T7" fmla="*/ 2147483647 h 462"/>
              <a:gd name="T8" fmla="*/ 2147483647 w 1470"/>
              <a:gd name="T9" fmla="*/ 2147483647 h 462"/>
              <a:gd name="T10" fmla="*/ 2147483647 w 1470"/>
              <a:gd name="T11" fmla="*/ 2147483647 h 462"/>
              <a:gd name="T12" fmla="*/ 2147483647 w 1470"/>
              <a:gd name="T13" fmla="*/ 2147483647 h 462"/>
              <a:gd name="T14" fmla="*/ 2147483647 w 1470"/>
              <a:gd name="T15" fmla="*/ 2147483647 h 462"/>
              <a:gd name="T16" fmla="*/ 2147483647 w 1470"/>
              <a:gd name="T17" fmla="*/ 2147483647 h 462"/>
              <a:gd name="T18" fmla="*/ 2147483647 w 1470"/>
              <a:gd name="T19" fmla="*/ 2147483647 h 462"/>
              <a:gd name="T20" fmla="*/ 2147483647 w 1470"/>
              <a:gd name="T21" fmla="*/ 2147483647 h 462"/>
              <a:gd name="T22" fmla="*/ 2147483647 w 1470"/>
              <a:gd name="T23" fmla="*/ 2147483647 h 462"/>
              <a:gd name="T24" fmla="*/ 2147483647 w 1470"/>
              <a:gd name="T25" fmla="*/ 2147483647 h 462"/>
              <a:gd name="T26" fmla="*/ 2147483647 w 1470"/>
              <a:gd name="T27" fmla="*/ 2147483647 h 462"/>
              <a:gd name="T28" fmla="*/ 2147483647 w 1470"/>
              <a:gd name="T29" fmla="*/ 2147483647 h 462"/>
              <a:gd name="T30" fmla="*/ 2147483647 w 1470"/>
              <a:gd name="T31" fmla="*/ 2147483647 h 462"/>
              <a:gd name="T32" fmla="*/ 2147483647 w 1470"/>
              <a:gd name="T33" fmla="*/ 2147483647 h 462"/>
              <a:gd name="T34" fmla="*/ 2147483647 w 1470"/>
              <a:gd name="T35" fmla="*/ 2147483647 h 462"/>
              <a:gd name="T36" fmla="*/ 2147483647 w 1470"/>
              <a:gd name="T37" fmla="*/ 2147483647 h 462"/>
              <a:gd name="T38" fmla="*/ 2147483647 w 1470"/>
              <a:gd name="T39" fmla="*/ 2147483647 h 462"/>
              <a:gd name="T40" fmla="*/ 2147483647 w 1470"/>
              <a:gd name="T41" fmla="*/ 2147483647 h 462"/>
              <a:gd name="T42" fmla="*/ 2147483647 w 1470"/>
              <a:gd name="T43" fmla="*/ 2147483647 h 462"/>
              <a:gd name="T44" fmla="*/ 2147483647 w 1470"/>
              <a:gd name="T45" fmla="*/ 2147483647 h 462"/>
              <a:gd name="T46" fmla="*/ 2147483647 w 1470"/>
              <a:gd name="T47" fmla="*/ 2147483647 h 462"/>
              <a:gd name="T48" fmla="*/ 2147483647 w 1470"/>
              <a:gd name="T49" fmla="*/ 2147483647 h 462"/>
              <a:gd name="T50" fmla="*/ 2147483647 w 1470"/>
              <a:gd name="T51" fmla="*/ 2147483647 h 462"/>
              <a:gd name="T52" fmla="*/ 2147483647 w 1470"/>
              <a:gd name="T53" fmla="*/ 2147483647 h 46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470"/>
              <a:gd name="T82" fmla="*/ 0 h 462"/>
              <a:gd name="T83" fmla="*/ 1470 w 1470"/>
              <a:gd name="T84" fmla="*/ 462 h 462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470" h="462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Oval 15"/>
          <p:cNvSpPr>
            <a:spLocks noChangeArrowheads="1"/>
          </p:cNvSpPr>
          <p:nvPr/>
        </p:nvSpPr>
        <p:spPr bwMode="auto">
          <a:xfrm>
            <a:off x="1920875" y="2971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i</a:t>
            </a:r>
            <a:endParaRPr lang="en-US" sz="1400"/>
          </a:p>
        </p:txBody>
      </p:sp>
      <p:grpSp>
        <p:nvGrpSpPr>
          <p:cNvPr id="28685" name="Group 16"/>
          <p:cNvGrpSpPr>
            <a:grpSpLocks/>
          </p:cNvGrpSpPr>
          <p:nvPr/>
        </p:nvGrpSpPr>
        <p:grpSpPr bwMode="auto">
          <a:xfrm>
            <a:off x="549275" y="1981200"/>
            <a:ext cx="3733800" cy="2000250"/>
            <a:chOff x="1152" y="1536"/>
            <a:chExt cx="2352" cy="1680"/>
          </a:xfrm>
        </p:grpSpPr>
        <p:sp>
          <p:nvSpPr>
            <p:cNvPr id="28737" name="Line 17"/>
            <p:cNvSpPr>
              <a:spLocks noChangeShapeType="1"/>
            </p:cNvSpPr>
            <p:nvPr/>
          </p:nvSpPr>
          <p:spPr bwMode="auto">
            <a:xfrm>
              <a:off x="1152" y="1536"/>
              <a:ext cx="0" cy="16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38" name="Line 18"/>
            <p:cNvSpPr>
              <a:spLocks noChangeShapeType="1"/>
            </p:cNvSpPr>
            <p:nvPr/>
          </p:nvSpPr>
          <p:spPr bwMode="auto">
            <a:xfrm>
              <a:off x="1152" y="1536"/>
              <a:ext cx="235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39" name="Line 19"/>
            <p:cNvSpPr>
              <a:spLocks noChangeShapeType="1"/>
            </p:cNvSpPr>
            <p:nvPr/>
          </p:nvSpPr>
          <p:spPr bwMode="auto">
            <a:xfrm>
              <a:off x="3504" y="1536"/>
              <a:ext cx="0" cy="16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0" name="Line 20"/>
            <p:cNvSpPr>
              <a:spLocks noChangeShapeType="1"/>
            </p:cNvSpPr>
            <p:nvPr/>
          </p:nvSpPr>
          <p:spPr bwMode="auto">
            <a:xfrm>
              <a:off x="1152" y="3216"/>
              <a:ext cx="235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86" name="Text Box 21"/>
          <p:cNvSpPr txBox="1">
            <a:spLocks noChangeArrowheads="1"/>
          </p:cNvSpPr>
          <p:nvPr/>
        </p:nvSpPr>
        <p:spPr bwMode="auto">
          <a:xfrm>
            <a:off x="533400" y="2000250"/>
            <a:ext cx="12715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>
                <a:solidFill>
                  <a:srgbClr val="006600"/>
                </a:solidFill>
              </a:rPr>
              <a:t>DFA for L</a:t>
            </a:r>
            <a:endParaRPr lang="en-US" u="sng"/>
          </a:p>
        </p:txBody>
      </p:sp>
      <p:sp>
        <p:nvSpPr>
          <p:cNvPr id="28687" name="Line 22"/>
          <p:cNvSpPr>
            <a:spLocks noChangeShapeType="1"/>
          </p:cNvSpPr>
          <p:nvPr/>
        </p:nvSpPr>
        <p:spPr bwMode="auto">
          <a:xfrm>
            <a:off x="549275" y="3124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8" name="Oval 23"/>
          <p:cNvSpPr>
            <a:spLocks noChangeArrowheads="1"/>
          </p:cNvSpPr>
          <p:nvPr/>
        </p:nvSpPr>
        <p:spPr bwMode="auto">
          <a:xfrm>
            <a:off x="5349875" y="302895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p</a:t>
            </a:r>
            <a:r>
              <a:rPr lang="en-US" sz="1400" baseline="-25000"/>
              <a:t>0</a:t>
            </a:r>
            <a:endParaRPr lang="en-US" sz="1400"/>
          </a:p>
        </p:txBody>
      </p:sp>
      <p:sp>
        <p:nvSpPr>
          <p:cNvPr id="28689" name="Oval 24"/>
          <p:cNvSpPr>
            <a:spLocks noChangeArrowheads="1"/>
          </p:cNvSpPr>
          <p:nvPr/>
        </p:nvSpPr>
        <p:spPr bwMode="auto">
          <a:xfrm>
            <a:off x="8169275" y="226695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p</a:t>
            </a:r>
            <a:r>
              <a:rPr lang="en-US" sz="1400" baseline="-25000"/>
              <a:t>F1</a:t>
            </a:r>
            <a:endParaRPr lang="en-US" sz="1400"/>
          </a:p>
        </p:txBody>
      </p:sp>
      <p:sp>
        <p:nvSpPr>
          <p:cNvPr id="28690" name="Oval 26"/>
          <p:cNvSpPr>
            <a:spLocks noChangeArrowheads="1"/>
          </p:cNvSpPr>
          <p:nvPr/>
        </p:nvSpPr>
        <p:spPr bwMode="auto">
          <a:xfrm>
            <a:off x="8169275" y="302895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p</a:t>
            </a:r>
            <a:r>
              <a:rPr lang="en-US" sz="1400" baseline="-25000"/>
              <a:t>F2</a:t>
            </a:r>
            <a:endParaRPr lang="en-US" sz="1400"/>
          </a:p>
        </p:txBody>
      </p:sp>
      <p:sp>
        <p:nvSpPr>
          <p:cNvPr id="28691" name="Text Box 29"/>
          <p:cNvSpPr txBox="1">
            <a:spLocks noChangeArrowheads="1"/>
          </p:cNvSpPr>
          <p:nvPr/>
        </p:nvSpPr>
        <p:spPr bwMode="auto">
          <a:xfrm rot="5400000">
            <a:off x="8153400" y="3546475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…</a:t>
            </a:r>
          </a:p>
        </p:txBody>
      </p:sp>
      <p:sp>
        <p:nvSpPr>
          <p:cNvPr id="28692" name="Freeform 30"/>
          <p:cNvSpPr>
            <a:spLocks/>
          </p:cNvSpPr>
          <p:nvPr/>
        </p:nvSpPr>
        <p:spPr bwMode="auto">
          <a:xfrm>
            <a:off x="5724525" y="2393950"/>
            <a:ext cx="2333625" cy="733425"/>
          </a:xfrm>
          <a:custGeom>
            <a:avLst/>
            <a:gdLst>
              <a:gd name="T0" fmla="*/ 0 w 1470"/>
              <a:gd name="T1" fmla="*/ 2147483647 h 462"/>
              <a:gd name="T2" fmla="*/ 2147483647 w 1470"/>
              <a:gd name="T3" fmla="*/ 2147483647 h 462"/>
              <a:gd name="T4" fmla="*/ 2147483647 w 1470"/>
              <a:gd name="T5" fmla="*/ 2147483647 h 462"/>
              <a:gd name="T6" fmla="*/ 2147483647 w 1470"/>
              <a:gd name="T7" fmla="*/ 2147483647 h 462"/>
              <a:gd name="T8" fmla="*/ 2147483647 w 1470"/>
              <a:gd name="T9" fmla="*/ 2147483647 h 462"/>
              <a:gd name="T10" fmla="*/ 2147483647 w 1470"/>
              <a:gd name="T11" fmla="*/ 2147483647 h 462"/>
              <a:gd name="T12" fmla="*/ 2147483647 w 1470"/>
              <a:gd name="T13" fmla="*/ 2147483647 h 462"/>
              <a:gd name="T14" fmla="*/ 2147483647 w 1470"/>
              <a:gd name="T15" fmla="*/ 2147483647 h 462"/>
              <a:gd name="T16" fmla="*/ 2147483647 w 1470"/>
              <a:gd name="T17" fmla="*/ 2147483647 h 462"/>
              <a:gd name="T18" fmla="*/ 2147483647 w 1470"/>
              <a:gd name="T19" fmla="*/ 2147483647 h 462"/>
              <a:gd name="T20" fmla="*/ 2147483647 w 1470"/>
              <a:gd name="T21" fmla="*/ 2147483647 h 462"/>
              <a:gd name="T22" fmla="*/ 2147483647 w 1470"/>
              <a:gd name="T23" fmla="*/ 2147483647 h 462"/>
              <a:gd name="T24" fmla="*/ 2147483647 w 1470"/>
              <a:gd name="T25" fmla="*/ 2147483647 h 462"/>
              <a:gd name="T26" fmla="*/ 2147483647 w 1470"/>
              <a:gd name="T27" fmla="*/ 2147483647 h 462"/>
              <a:gd name="T28" fmla="*/ 2147483647 w 1470"/>
              <a:gd name="T29" fmla="*/ 2147483647 h 462"/>
              <a:gd name="T30" fmla="*/ 2147483647 w 1470"/>
              <a:gd name="T31" fmla="*/ 2147483647 h 462"/>
              <a:gd name="T32" fmla="*/ 2147483647 w 1470"/>
              <a:gd name="T33" fmla="*/ 2147483647 h 462"/>
              <a:gd name="T34" fmla="*/ 2147483647 w 1470"/>
              <a:gd name="T35" fmla="*/ 2147483647 h 462"/>
              <a:gd name="T36" fmla="*/ 2147483647 w 1470"/>
              <a:gd name="T37" fmla="*/ 2147483647 h 462"/>
              <a:gd name="T38" fmla="*/ 2147483647 w 1470"/>
              <a:gd name="T39" fmla="*/ 2147483647 h 462"/>
              <a:gd name="T40" fmla="*/ 2147483647 w 1470"/>
              <a:gd name="T41" fmla="*/ 2147483647 h 462"/>
              <a:gd name="T42" fmla="*/ 2147483647 w 1470"/>
              <a:gd name="T43" fmla="*/ 2147483647 h 462"/>
              <a:gd name="T44" fmla="*/ 2147483647 w 1470"/>
              <a:gd name="T45" fmla="*/ 2147483647 h 462"/>
              <a:gd name="T46" fmla="*/ 2147483647 w 1470"/>
              <a:gd name="T47" fmla="*/ 2147483647 h 462"/>
              <a:gd name="T48" fmla="*/ 2147483647 w 1470"/>
              <a:gd name="T49" fmla="*/ 2147483647 h 462"/>
              <a:gd name="T50" fmla="*/ 2147483647 w 1470"/>
              <a:gd name="T51" fmla="*/ 2147483647 h 462"/>
              <a:gd name="T52" fmla="*/ 2147483647 w 1470"/>
              <a:gd name="T53" fmla="*/ 2147483647 h 46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470"/>
              <a:gd name="T82" fmla="*/ 0 h 462"/>
              <a:gd name="T83" fmla="*/ 1470 w 1470"/>
              <a:gd name="T84" fmla="*/ 462 h 462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470" h="462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3" name="Freeform 31"/>
          <p:cNvSpPr>
            <a:spLocks/>
          </p:cNvSpPr>
          <p:nvPr/>
        </p:nvSpPr>
        <p:spPr bwMode="auto">
          <a:xfrm>
            <a:off x="5730875" y="3182938"/>
            <a:ext cx="669925" cy="74612"/>
          </a:xfrm>
          <a:custGeom>
            <a:avLst/>
            <a:gdLst>
              <a:gd name="T0" fmla="*/ 0 w 1470"/>
              <a:gd name="T1" fmla="*/ 2147483647 h 462"/>
              <a:gd name="T2" fmla="*/ 2147483647 w 1470"/>
              <a:gd name="T3" fmla="*/ 2147483647 h 462"/>
              <a:gd name="T4" fmla="*/ 2147483647 w 1470"/>
              <a:gd name="T5" fmla="*/ 2147483647 h 462"/>
              <a:gd name="T6" fmla="*/ 2147483647 w 1470"/>
              <a:gd name="T7" fmla="*/ 2147483647 h 462"/>
              <a:gd name="T8" fmla="*/ 2147483647 w 1470"/>
              <a:gd name="T9" fmla="*/ 2147483647 h 462"/>
              <a:gd name="T10" fmla="*/ 2147483647 w 1470"/>
              <a:gd name="T11" fmla="*/ 2147483647 h 462"/>
              <a:gd name="T12" fmla="*/ 2147483647 w 1470"/>
              <a:gd name="T13" fmla="*/ 2147483647 h 462"/>
              <a:gd name="T14" fmla="*/ 2147483647 w 1470"/>
              <a:gd name="T15" fmla="*/ 2147483647 h 462"/>
              <a:gd name="T16" fmla="*/ 2147483647 w 1470"/>
              <a:gd name="T17" fmla="*/ 2147483647 h 462"/>
              <a:gd name="T18" fmla="*/ 2147483647 w 1470"/>
              <a:gd name="T19" fmla="*/ 2147483647 h 462"/>
              <a:gd name="T20" fmla="*/ 2147483647 w 1470"/>
              <a:gd name="T21" fmla="*/ 2147483647 h 462"/>
              <a:gd name="T22" fmla="*/ 2147483647 w 1470"/>
              <a:gd name="T23" fmla="*/ 2147483647 h 462"/>
              <a:gd name="T24" fmla="*/ 2147483647 w 1470"/>
              <a:gd name="T25" fmla="*/ 2147483647 h 462"/>
              <a:gd name="T26" fmla="*/ 2147483647 w 1470"/>
              <a:gd name="T27" fmla="*/ 2147483647 h 462"/>
              <a:gd name="T28" fmla="*/ 2147483647 w 1470"/>
              <a:gd name="T29" fmla="*/ 2147483647 h 462"/>
              <a:gd name="T30" fmla="*/ 2147483647 w 1470"/>
              <a:gd name="T31" fmla="*/ 2147483647 h 462"/>
              <a:gd name="T32" fmla="*/ 2147483647 w 1470"/>
              <a:gd name="T33" fmla="*/ 2147483647 h 462"/>
              <a:gd name="T34" fmla="*/ 2147483647 w 1470"/>
              <a:gd name="T35" fmla="*/ 2147483647 h 462"/>
              <a:gd name="T36" fmla="*/ 2147483647 w 1470"/>
              <a:gd name="T37" fmla="*/ 2147483647 h 462"/>
              <a:gd name="T38" fmla="*/ 2147483647 w 1470"/>
              <a:gd name="T39" fmla="*/ 2147483647 h 462"/>
              <a:gd name="T40" fmla="*/ 2147483647 w 1470"/>
              <a:gd name="T41" fmla="*/ 2147483647 h 462"/>
              <a:gd name="T42" fmla="*/ 2147483647 w 1470"/>
              <a:gd name="T43" fmla="*/ 2147483647 h 462"/>
              <a:gd name="T44" fmla="*/ 2147483647 w 1470"/>
              <a:gd name="T45" fmla="*/ 2147483647 h 462"/>
              <a:gd name="T46" fmla="*/ 2147483647 w 1470"/>
              <a:gd name="T47" fmla="*/ 2147483647 h 462"/>
              <a:gd name="T48" fmla="*/ 2147483647 w 1470"/>
              <a:gd name="T49" fmla="*/ 2147483647 h 462"/>
              <a:gd name="T50" fmla="*/ 2147483647 w 1470"/>
              <a:gd name="T51" fmla="*/ 2147483647 h 462"/>
              <a:gd name="T52" fmla="*/ 2147483647 w 1470"/>
              <a:gd name="T53" fmla="*/ 2147483647 h 46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470"/>
              <a:gd name="T82" fmla="*/ 0 h 462"/>
              <a:gd name="T83" fmla="*/ 1470 w 1470"/>
              <a:gd name="T84" fmla="*/ 462 h 462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470" h="462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4" name="Oval 33"/>
          <p:cNvSpPr>
            <a:spLocks noChangeArrowheads="1"/>
          </p:cNvSpPr>
          <p:nvPr/>
        </p:nvSpPr>
        <p:spPr bwMode="auto">
          <a:xfrm>
            <a:off x="6416675" y="302895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p</a:t>
            </a:r>
            <a:r>
              <a:rPr lang="en-US" sz="1400" baseline="-25000"/>
              <a:t>i</a:t>
            </a:r>
            <a:endParaRPr lang="en-US" sz="1400"/>
          </a:p>
        </p:txBody>
      </p:sp>
      <p:grpSp>
        <p:nvGrpSpPr>
          <p:cNvPr id="28695" name="Group 34"/>
          <p:cNvGrpSpPr>
            <a:grpSpLocks/>
          </p:cNvGrpSpPr>
          <p:nvPr/>
        </p:nvGrpSpPr>
        <p:grpSpPr bwMode="auto">
          <a:xfrm>
            <a:off x="5029200" y="1905000"/>
            <a:ext cx="3733800" cy="2133600"/>
            <a:chOff x="1152" y="1536"/>
            <a:chExt cx="2352" cy="1680"/>
          </a:xfrm>
        </p:grpSpPr>
        <p:sp>
          <p:nvSpPr>
            <p:cNvPr id="28733" name="Line 35"/>
            <p:cNvSpPr>
              <a:spLocks noChangeShapeType="1"/>
            </p:cNvSpPr>
            <p:nvPr/>
          </p:nvSpPr>
          <p:spPr bwMode="auto">
            <a:xfrm>
              <a:off x="1152" y="1536"/>
              <a:ext cx="0" cy="16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34" name="Line 36"/>
            <p:cNvSpPr>
              <a:spLocks noChangeShapeType="1"/>
            </p:cNvSpPr>
            <p:nvPr/>
          </p:nvSpPr>
          <p:spPr bwMode="auto">
            <a:xfrm>
              <a:off x="1152" y="1536"/>
              <a:ext cx="235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35" name="Line 37"/>
            <p:cNvSpPr>
              <a:spLocks noChangeShapeType="1"/>
            </p:cNvSpPr>
            <p:nvPr/>
          </p:nvSpPr>
          <p:spPr bwMode="auto">
            <a:xfrm>
              <a:off x="3504" y="1536"/>
              <a:ext cx="0" cy="16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36" name="Line 38"/>
            <p:cNvSpPr>
              <a:spLocks noChangeShapeType="1"/>
            </p:cNvSpPr>
            <p:nvPr/>
          </p:nvSpPr>
          <p:spPr bwMode="auto">
            <a:xfrm>
              <a:off x="1152" y="3216"/>
              <a:ext cx="235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96" name="Text Box 39"/>
          <p:cNvSpPr txBox="1">
            <a:spLocks noChangeArrowheads="1"/>
          </p:cNvSpPr>
          <p:nvPr/>
        </p:nvSpPr>
        <p:spPr bwMode="auto">
          <a:xfrm>
            <a:off x="5029200" y="2057400"/>
            <a:ext cx="1341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>
                <a:solidFill>
                  <a:schemeClr val="hlink"/>
                </a:solidFill>
              </a:rPr>
              <a:t>DFA for M</a:t>
            </a:r>
          </a:p>
        </p:txBody>
      </p:sp>
      <p:sp>
        <p:nvSpPr>
          <p:cNvPr id="28697" name="Line 40"/>
          <p:cNvSpPr>
            <a:spLocks noChangeShapeType="1"/>
          </p:cNvSpPr>
          <p:nvPr/>
        </p:nvSpPr>
        <p:spPr bwMode="auto">
          <a:xfrm>
            <a:off x="4968875" y="31813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8" name="Oval 43"/>
          <p:cNvSpPr>
            <a:spLocks noChangeArrowheads="1"/>
          </p:cNvSpPr>
          <p:nvPr/>
        </p:nvSpPr>
        <p:spPr bwMode="auto">
          <a:xfrm>
            <a:off x="2819400" y="299085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j</a:t>
            </a:r>
            <a:endParaRPr lang="en-US" sz="1400"/>
          </a:p>
        </p:txBody>
      </p:sp>
      <p:sp>
        <p:nvSpPr>
          <p:cNvPr id="28699" name="Line 44"/>
          <p:cNvSpPr>
            <a:spLocks noChangeShapeType="1"/>
          </p:cNvSpPr>
          <p:nvPr/>
        </p:nvSpPr>
        <p:spPr bwMode="auto">
          <a:xfrm>
            <a:off x="2286000" y="314325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00" name="Text Box 45"/>
          <p:cNvSpPr txBox="1">
            <a:spLocks noChangeArrowheads="1"/>
          </p:cNvSpPr>
          <p:nvPr/>
        </p:nvSpPr>
        <p:spPr bwMode="auto">
          <a:xfrm>
            <a:off x="2422525" y="2827338"/>
            <a:ext cx="296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a</a:t>
            </a:r>
          </a:p>
        </p:txBody>
      </p:sp>
      <p:sp>
        <p:nvSpPr>
          <p:cNvPr id="28701" name="Oval 46"/>
          <p:cNvSpPr>
            <a:spLocks noChangeArrowheads="1"/>
          </p:cNvSpPr>
          <p:nvPr/>
        </p:nvSpPr>
        <p:spPr bwMode="auto">
          <a:xfrm>
            <a:off x="7315200" y="3059113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p</a:t>
            </a:r>
            <a:r>
              <a:rPr lang="en-US" sz="1400" baseline="-25000"/>
              <a:t>j</a:t>
            </a:r>
            <a:endParaRPr lang="en-US" sz="1400"/>
          </a:p>
        </p:txBody>
      </p:sp>
      <p:sp>
        <p:nvSpPr>
          <p:cNvPr id="28702" name="Line 47"/>
          <p:cNvSpPr>
            <a:spLocks noChangeShapeType="1"/>
          </p:cNvSpPr>
          <p:nvPr/>
        </p:nvSpPr>
        <p:spPr bwMode="auto">
          <a:xfrm>
            <a:off x="6781800" y="321151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03" name="Text Box 48"/>
          <p:cNvSpPr txBox="1">
            <a:spLocks noChangeArrowheads="1"/>
          </p:cNvSpPr>
          <p:nvPr/>
        </p:nvSpPr>
        <p:spPr bwMode="auto">
          <a:xfrm>
            <a:off x="6918325" y="2895600"/>
            <a:ext cx="296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a</a:t>
            </a:r>
          </a:p>
        </p:txBody>
      </p:sp>
      <p:sp>
        <p:nvSpPr>
          <p:cNvPr id="28704" name="Oval 68"/>
          <p:cNvSpPr>
            <a:spLocks noChangeArrowheads="1"/>
          </p:cNvSpPr>
          <p:nvPr/>
        </p:nvSpPr>
        <p:spPr bwMode="auto">
          <a:xfrm>
            <a:off x="8077200" y="2209800"/>
            <a:ext cx="533400" cy="533400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05" name="Oval 69"/>
          <p:cNvSpPr>
            <a:spLocks noChangeArrowheads="1"/>
          </p:cNvSpPr>
          <p:nvPr/>
        </p:nvSpPr>
        <p:spPr bwMode="auto">
          <a:xfrm>
            <a:off x="8077200" y="2971800"/>
            <a:ext cx="533400" cy="533400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81"/>
          <p:cNvGrpSpPr>
            <a:grpSpLocks/>
          </p:cNvGrpSpPr>
          <p:nvPr/>
        </p:nvGrpSpPr>
        <p:grpSpPr bwMode="auto">
          <a:xfrm>
            <a:off x="1981200" y="3733800"/>
            <a:ext cx="5715000" cy="2971800"/>
            <a:chOff x="1981200" y="3733800"/>
            <a:chExt cx="5715000" cy="2971800"/>
          </a:xfrm>
        </p:grpSpPr>
        <p:sp>
          <p:nvSpPr>
            <p:cNvPr id="28715" name="Oval 50"/>
            <p:cNvSpPr>
              <a:spLocks noChangeArrowheads="1"/>
            </p:cNvSpPr>
            <p:nvPr/>
          </p:nvSpPr>
          <p:spPr bwMode="auto">
            <a:xfrm>
              <a:off x="6477000" y="4781550"/>
              <a:ext cx="914400" cy="5524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/>
                <a:t>(q</a:t>
              </a:r>
              <a:r>
                <a:rPr lang="en-US" sz="1400" baseline="-25000"/>
                <a:t>F1</a:t>
              </a:r>
              <a:r>
                <a:rPr lang="en-US" sz="1400"/>
                <a:t> ,p</a:t>
              </a:r>
              <a:r>
                <a:rPr lang="en-US" sz="1400" baseline="-25000"/>
                <a:t>F1</a:t>
              </a:r>
              <a:r>
                <a:rPr lang="en-US" sz="1400"/>
                <a:t>)</a:t>
              </a:r>
              <a:endParaRPr lang="en-US" sz="1400" baseline="-25000"/>
            </a:p>
          </p:txBody>
        </p:sp>
        <p:sp>
          <p:nvSpPr>
            <p:cNvPr id="28716" name="Oval 51"/>
            <p:cNvSpPr>
              <a:spLocks noChangeArrowheads="1"/>
            </p:cNvSpPr>
            <p:nvPr/>
          </p:nvSpPr>
          <p:spPr bwMode="auto">
            <a:xfrm>
              <a:off x="6400800" y="4724400"/>
              <a:ext cx="1066800" cy="704850"/>
            </a:xfrm>
            <a:prstGeom prst="ellipse">
              <a:avLst/>
            </a:prstGeom>
            <a:solidFill>
              <a:schemeClr val="accent1">
                <a:alpha val="1019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7" name="Text Box 54"/>
            <p:cNvSpPr txBox="1">
              <a:spLocks noChangeArrowheads="1"/>
            </p:cNvSpPr>
            <p:nvPr/>
          </p:nvSpPr>
          <p:spPr bwMode="auto">
            <a:xfrm rot="5400000">
              <a:off x="6842125" y="5502275"/>
              <a:ext cx="4889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/>
                <a:t>…</a:t>
              </a:r>
            </a:p>
          </p:txBody>
        </p:sp>
        <p:sp>
          <p:nvSpPr>
            <p:cNvPr id="28718" name="Freeform 55"/>
            <p:cNvSpPr>
              <a:spLocks/>
            </p:cNvSpPr>
            <p:nvPr/>
          </p:nvSpPr>
          <p:spPr bwMode="auto">
            <a:xfrm>
              <a:off x="3194050" y="4908550"/>
              <a:ext cx="3130550" cy="733425"/>
            </a:xfrm>
            <a:custGeom>
              <a:avLst/>
              <a:gdLst>
                <a:gd name="T0" fmla="*/ 0 w 1470"/>
                <a:gd name="T1" fmla="*/ 2147483647 h 462"/>
                <a:gd name="T2" fmla="*/ 2147483647 w 1470"/>
                <a:gd name="T3" fmla="*/ 2147483647 h 462"/>
                <a:gd name="T4" fmla="*/ 2147483647 w 1470"/>
                <a:gd name="T5" fmla="*/ 2147483647 h 462"/>
                <a:gd name="T6" fmla="*/ 2147483647 w 1470"/>
                <a:gd name="T7" fmla="*/ 2147483647 h 462"/>
                <a:gd name="T8" fmla="*/ 2147483647 w 1470"/>
                <a:gd name="T9" fmla="*/ 2147483647 h 462"/>
                <a:gd name="T10" fmla="*/ 2147483647 w 1470"/>
                <a:gd name="T11" fmla="*/ 2147483647 h 462"/>
                <a:gd name="T12" fmla="*/ 2147483647 w 1470"/>
                <a:gd name="T13" fmla="*/ 2147483647 h 462"/>
                <a:gd name="T14" fmla="*/ 2147483647 w 1470"/>
                <a:gd name="T15" fmla="*/ 2147483647 h 462"/>
                <a:gd name="T16" fmla="*/ 2147483647 w 1470"/>
                <a:gd name="T17" fmla="*/ 2147483647 h 462"/>
                <a:gd name="T18" fmla="*/ 2147483647 w 1470"/>
                <a:gd name="T19" fmla="*/ 2147483647 h 462"/>
                <a:gd name="T20" fmla="*/ 2147483647 w 1470"/>
                <a:gd name="T21" fmla="*/ 2147483647 h 462"/>
                <a:gd name="T22" fmla="*/ 2147483647 w 1470"/>
                <a:gd name="T23" fmla="*/ 2147483647 h 462"/>
                <a:gd name="T24" fmla="*/ 2147483647 w 1470"/>
                <a:gd name="T25" fmla="*/ 2147483647 h 462"/>
                <a:gd name="T26" fmla="*/ 2147483647 w 1470"/>
                <a:gd name="T27" fmla="*/ 2147483647 h 462"/>
                <a:gd name="T28" fmla="*/ 2147483647 w 1470"/>
                <a:gd name="T29" fmla="*/ 2147483647 h 462"/>
                <a:gd name="T30" fmla="*/ 2147483647 w 1470"/>
                <a:gd name="T31" fmla="*/ 2147483647 h 462"/>
                <a:gd name="T32" fmla="*/ 2147483647 w 1470"/>
                <a:gd name="T33" fmla="*/ 2147483647 h 462"/>
                <a:gd name="T34" fmla="*/ 2147483647 w 1470"/>
                <a:gd name="T35" fmla="*/ 2147483647 h 462"/>
                <a:gd name="T36" fmla="*/ 2147483647 w 1470"/>
                <a:gd name="T37" fmla="*/ 2147483647 h 462"/>
                <a:gd name="T38" fmla="*/ 2147483647 w 1470"/>
                <a:gd name="T39" fmla="*/ 2147483647 h 462"/>
                <a:gd name="T40" fmla="*/ 2147483647 w 1470"/>
                <a:gd name="T41" fmla="*/ 2147483647 h 462"/>
                <a:gd name="T42" fmla="*/ 2147483647 w 1470"/>
                <a:gd name="T43" fmla="*/ 2147483647 h 462"/>
                <a:gd name="T44" fmla="*/ 2147483647 w 1470"/>
                <a:gd name="T45" fmla="*/ 2147483647 h 462"/>
                <a:gd name="T46" fmla="*/ 2147483647 w 1470"/>
                <a:gd name="T47" fmla="*/ 2147483647 h 462"/>
                <a:gd name="T48" fmla="*/ 2147483647 w 1470"/>
                <a:gd name="T49" fmla="*/ 2147483647 h 462"/>
                <a:gd name="T50" fmla="*/ 2147483647 w 1470"/>
                <a:gd name="T51" fmla="*/ 2147483647 h 462"/>
                <a:gd name="T52" fmla="*/ 2147483647 w 1470"/>
                <a:gd name="T53" fmla="*/ 2147483647 h 4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470"/>
                <a:gd name="T82" fmla="*/ 0 h 462"/>
                <a:gd name="T83" fmla="*/ 1470 w 1470"/>
                <a:gd name="T84" fmla="*/ 462 h 46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470" h="462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9" name="Freeform 56"/>
            <p:cNvSpPr>
              <a:spLocks/>
            </p:cNvSpPr>
            <p:nvPr/>
          </p:nvSpPr>
          <p:spPr bwMode="auto">
            <a:xfrm>
              <a:off x="3200400" y="5697538"/>
              <a:ext cx="669925" cy="74612"/>
            </a:xfrm>
            <a:custGeom>
              <a:avLst/>
              <a:gdLst>
                <a:gd name="T0" fmla="*/ 0 w 1470"/>
                <a:gd name="T1" fmla="*/ 2147483647 h 462"/>
                <a:gd name="T2" fmla="*/ 2147483647 w 1470"/>
                <a:gd name="T3" fmla="*/ 2147483647 h 462"/>
                <a:gd name="T4" fmla="*/ 2147483647 w 1470"/>
                <a:gd name="T5" fmla="*/ 2147483647 h 462"/>
                <a:gd name="T6" fmla="*/ 2147483647 w 1470"/>
                <a:gd name="T7" fmla="*/ 2147483647 h 462"/>
                <a:gd name="T8" fmla="*/ 2147483647 w 1470"/>
                <a:gd name="T9" fmla="*/ 2147483647 h 462"/>
                <a:gd name="T10" fmla="*/ 2147483647 w 1470"/>
                <a:gd name="T11" fmla="*/ 2147483647 h 462"/>
                <a:gd name="T12" fmla="*/ 2147483647 w 1470"/>
                <a:gd name="T13" fmla="*/ 2147483647 h 462"/>
                <a:gd name="T14" fmla="*/ 2147483647 w 1470"/>
                <a:gd name="T15" fmla="*/ 2147483647 h 462"/>
                <a:gd name="T16" fmla="*/ 2147483647 w 1470"/>
                <a:gd name="T17" fmla="*/ 2147483647 h 462"/>
                <a:gd name="T18" fmla="*/ 2147483647 w 1470"/>
                <a:gd name="T19" fmla="*/ 2147483647 h 462"/>
                <a:gd name="T20" fmla="*/ 2147483647 w 1470"/>
                <a:gd name="T21" fmla="*/ 2147483647 h 462"/>
                <a:gd name="T22" fmla="*/ 2147483647 w 1470"/>
                <a:gd name="T23" fmla="*/ 2147483647 h 462"/>
                <a:gd name="T24" fmla="*/ 2147483647 w 1470"/>
                <a:gd name="T25" fmla="*/ 2147483647 h 462"/>
                <a:gd name="T26" fmla="*/ 2147483647 w 1470"/>
                <a:gd name="T27" fmla="*/ 2147483647 h 462"/>
                <a:gd name="T28" fmla="*/ 2147483647 w 1470"/>
                <a:gd name="T29" fmla="*/ 2147483647 h 462"/>
                <a:gd name="T30" fmla="*/ 2147483647 w 1470"/>
                <a:gd name="T31" fmla="*/ 2147483647 h 462"/>
                <a:gd name="T32" fmla="*/ 2147483647 w 1470"/>
                <a:gd name="T33" fmla="*/ 2147483647 h 462"/>
                <a:gd name="T34" fmla="*/ 2147483647 w 1470"/>
                <a:gd name="T35" fmla="*/ 2147483647 h 462"/>
                <a:gd name="T36" fmla="*/ 2147483647 w 1470"/>
                <a:gd name="T37" fmla="*/ 2147483647 h 462"/>
                <a:gd name="T38" fmla="*/ 2147483647 w 1470"/>
                <a:gd name="T39" fmla="*/ 2147483647 h 462"/>
                <a:gd name="T40" fmla="*/ 2147483647 w 1470"/>
                <a:gd name="T41" fmla="*/ 2147483647 h 462"/>
                <a:gd name="T42" fmla="*/ 2147483647 w 1470"/>
                <a:gd name="T43" fmla="*/ 2147483647 h 462"/>
                <a:gd name="T44" fmla="*/ 2147483647 w 1470"/>
                <a:gd name="T45" fmla="*/ 2147483647 h 462"/>
                <a:gd name="T46" fmla="*/ 2147483647 w 1470"/>
                <a:gd name="T47" fmla="*/ 2147483647 h 462"/>
                <a:gd name="T48" fmla="*/ 2147483647 w 1470"/>
                <a:gd name="T49" fmla="*/ 2147483647 h 462"/>
                <a:gd name="T50" fmla="*/ 2147483647 w 1470"/>
                <a:gd name="T51" fmla="*/ 2147483647 h 462"/>
                <a:gd name="T52" fmla="*/ 2147483647 w 1470"/>
                <a:gd name="T53" fmla="*/ 2147483647 h 4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470"/>
                <a:gd name="T82" fmla="*/ 0 h 462"/>
                <a:gd name="T83" fmla="*/ 1470 w 1470"/>
                <a:gd name="T84" fmla="*/ 462 h 46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470" h="462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w="9525" cap="flat">
              <a:solidFill>
                <a:schemeClr val="tx1"/>
              </a:solidFill>
              <a:prstDash val="dash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720" name="Group 58"/>
            <p:cNvGrpSpPr>
              <a:grpSpLocks/>
            </p:cNvGrpSpPr>
            <p:nvPr/>
          </p:nvGrpSpPr>
          <p:grpSpPr bwMode="auto">
            <a:xfrm>
              <a:off x="2133600" y="4552950"/>
              <a:ext cx="5562600" cy="2152650"/>
              <a:chOff x="1152" y="1536"/>
              <a:chExt cx="2352" cy="1680"/>
            </a:xfrm>
          </p:grpSpPr>
          <p:sp>
            <p:nvSpPr>
              <p:cNvPr id="28729" name="Line 59"/>
              <p:cNvSpPr>
                <a:spLocks noChangeShapeType="1"/>
              </p:cNvSpPr>
              <p:nvPr/>
            </p:nvSpPr>
            <p:spPr bwMode="auto">
              <a:xfrm>
                <a:off x="1152" y="1536"/>
                <a:ext cx="0" cy="168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30" name="Line 60"/>
              <p:cNvSpPr>
                <a:spLocks noChangeShapeType="1"/>
              </p:cNvSpPr>
              <p:nvPr/>
            </p:nvSpPr>
            <p:spPr bwMode="auto">
              <a:xfrm>
                <a:off x="1152" y="1536"/>
                <a:ext cx="2352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31" name="Line 61"/>
              <p:cNvSpPr>
                <a:spLocks noChangeShapeType="1"/>
              </p:cNvSpPr>
              <p:nvPr/>
            </p:nvSpPr>
            <p:spPr bwMode="auto">
              <a:xfrm>
                <a:off x="3504" y="1536"/>
                <a:ext cx="0" cy="168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32" name="Line 62"/>
              <p:cNvSpPr>
                <a:spLocks noChangeShapeType="1"/>
              </p:cNvSpPr>
              <p:nvPr/>
            </p:nvSpPr>
            <p:spPr bwMode="auto">
              <a:xfrm>
                <a:off x="1152" y="3216"/>
                <a:ext cx="2352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721" name="Text Box 63"/>
            <p:cNvSpPr txBox="1">
              <a:spLocks noChangeArrowheads="1"/>
            </p:cNvSpPr>
            <p:nvPr/>
          </p:nvSpPr>
          <p:spPr bwMode="auto">
            <a:xfrm>
              <a:off x="2498725" y="4583113"/>
              <a:ext cx="173996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u="sng">
                  <a:solidFill>
                    <a:schemeClr val="tx2"/>
                  </a:solidFill>
                </a:rPr>
                <a:t>DFA for L</a:t>
              </a:r>
              <a:r>
                <a:rPr lang="en-US" b="1" u="sng">
                  <a:solidFill>
                    <a:schemeClr val="tx2"/>
                  </a:solidFill>
                  <a:sym typeface="Symbol" pitchFamily="28" charset="2"/>
                </a:rPr>
                <a:t>M</a:t>
              </a:r>
              <a:endParaRPr lang="en-US" b="1" u="sng">
                <a:solidFill>
                  <a:schemeClr val="tx2"/>
                </a:solidFill>
              </a:endParaRPr>
            </a:p>
          </p:txBody>
        </p:sp>
        <p:sp>
          <p:nvSpPr>
            <p:cNvPr id="28722" name="Line 64"/>
            <p:cNvSpPr>
              <a:spLocks noChangeShapeType="1"/>
            </p:cNvSpPr>
            <p:nvPr/>
          </p:nvSpPr>
          <p:spPr bwMode="auto">
            <a:xfrm>
              <a:off x="1981200" y="5695950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3" name="Line 66"/>
            <p:cNvSpPr>
              <a:spLocks noChangeShapeType="1"/>
            </p:cNvSpPr>
            <p:nvPr/>
          </p:nvSpPr>
          <p:spPr bwMode="auto">
            <a:xfrm>
              <a:off x="4800600" y="56499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24" name="Text Box 67"/>
            <p:cNvSpPr txBox="1">
              <a:spLocks noChangeArrowheads="1"/>
            </p:cNvSpPr>
            <p:nvPr/>
          </p:nvSpPr>
          <p:spPr bwMode="auto">
            <a:xfrm>
              <a:off x="4937125" y="5334000"/>
              <a:ext cx="296863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a</a:t>
              </a:r>
            </a:p>
          </p:txBody>
        </p:sp>
        <p:sp>
          <p:nvSpPr>
            <p:cNvPr id="28725" name="Oval 70"/>
            <p:cNvSpPr>
              <a:spLocks noChangeArrowheads="1"/>
            </p:cNvSpPr>
            <p:nvPr/>
          </p:nvSpPr>
          <p:spPr bwMode="auto">
            <a:xfrm>
              <a:off x="3962400" y="5391150"/>
              <a:ext cx="914400" cy="5524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/>
                <a:t>(q</a:t>
              </a:r>
              <a:r>
                <a:rPr lang="en-US" sz="1400" baseline="-25000"/>
                <a:t>i</a:t>
              </a:r>
              <a:r>
                <a:rPr lang="en-US" sz="1400"/>
                <a:t> ,p</a:t>
              </a:r>
              <a:r>
                <a:rPr lang="en-US" sz="1400" baseline="-25000"/>
                <a:t>i</a:t>
              </a:r>
              <a:r>
                <a:rPr lang="en-US" sz="1400"/>
                <a:t>)</a:t>
              </a:r>
              <a:endParaRPr lang="en-US" sz="1400" baseline="-25000"/>
            </a:p>
          </p:txBody>
        </p:sp>
        <p:sp>
          <p:nvSpPr>
            <p:cNvPr id="28726" name="Oval 71"/>
            <p:cNvSpPr>
              <a:spLocks noChangeArrowheads="1"/>
            </p:cNvSpPr>
            <p:nvPr/>
          </p:nvSpPr>
          <p:spPr bwMode="auto">
            <a:xfrm>
              <a:off x="5334000" y="5391150"/>
              <a:ext cx="914400" cy="5524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/>
                <a:t>(q</a:t>
              </a:r>
              <a:r>
                <a:rPr lang="en-US" sz="1400" baseline="-25000"/>
                <a:t>j</a:t>
              </a:r>
              <a:r>
                <a:rPr lang="en-US" sz="1400"/>
                <a:t> ,p</a:t>
              </a:r>
              <a:r>
                <a:rPr lang="en-US" sz="1400" baseline="-25000"/>
                <a:t>j</a:t>
              </a:r>
              <a:r>
                <a:rPr lang="en-US" sz="1400"/>
                <a:t>)</a:t>
              </a:r>
              <a:endParaRPr lang="en-US" sz="1400" baseline="-25000"/>
            </a:p>
          </p:txBody>
        </p:sp>
        <p:sp>
          <p:nvSpPr>
            <p:cNvPr id="28727" name="Oval 72"/>
            <p:cNvSpPr>
              <a:spLocks noChangeArrowheads="1"/>
            </p:cNvSpPr>
            <p:nvPr/>
          </p:nvSpPr>
          <p:spPr bwMode="auto">
            <a:xfrm>
              <a:off x="2286000" y="5410200"/>
              <a:ext cx="914400" cy="5524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400"/>
                <a:t>(q</a:t>
              </a:r>
              <a:r>
                <a:rPr lang="en-US" sz="1400" baseline="-25000"/>
                <a:t>0</a:t>
              </a:r>
              <a:r>
                <a:rPr lang="en-US" sz="1400"/>
                <a:t> ,p</a:t>
              </a:r>
              <a:r>
                <a:rPr lang="en-US" sz="1400" baseline="-25000"/>
                <a:t>0</a:t>
              </a:r>
              <a:r>
                <a:rPr lang="en-US" sz="1400"/>
                <a:t>)</a:t>
              </a:r>
              <a:endParaRPr lang="en-US" sz="1400" baseline="-25000"/>
            </a:p>
          </p:txBody>
        </p:sp>
        <p:sp>
          <p:nvSpPr>
            <p:cNvPr id="28728" name="AutoShape 73"/>
            <p:cNvSpPr>
              <a:spLocks noChangeArrowheads="1"/>
            </p:cNvSpPr>
            <p:nvPr/>
          </p:nvSpPr>
          <p:spPr bwMode="auto">
            <a:xfrm>
              <a:off x="4191000" y="3733800"/>
              <a:ext cx="914400" cy="68580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61" name="Straight Arrow Connector 60"/>
          <p:cNvCxnSpPr>
            <a:stCxn id="28676" idx="5"/>
          </p:cNvCxnSpPr>
          <p:nvPr/>
        </p:nvCxnSpPr>
        <p:spPr bwMode="auto">
          <a:xfrm rot="16200000" flipH="1">
            <a:off x="790576" y="3686175"/>
            <a:ext cx="2112962" cy="1335087"/>
          </a:xfrm>
          <a:prstGeom prst="straightConnector1">
            <a:avLst/>
          </a:prstGeom>
          <a:ln>
            <a:solidFill>
              <a:srgbClr val="00B0F0"/>
            </a:solidFill>
            <a:prstDash val="dash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28688" idx="4"/>
            <a:endCxn id="28727" idx="0"/>
          </p:cNvCxnSpPr>
          <p:nvPr/>
        </p:nvCxnSpPr>
        <p:spPr bwMode="auto">
          <a:xfrm rot="5400000">
            <a:off x="3141663" y="3011487"/>
            <a:ext cx="2000250" cy="2797175"/>
          </a:xfrm>
          <a:prstGeom prst="straightConnector1">
            <a:avLst/>
          </a:prstGeom>
          <a:ln>
            <a:solidFill>
              <a:srgbClr val="00B0F0"/>
            </a:solidFill>
            <a:prstDash val="dash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>
            <a:off x="2133600" y="3429000"/>
            <a:ext cx="1981200" cy="1981200"/>
          </a:xfrm>
          <a:prstGeom prst="straightConnector1">
            <a:avLst/>
          </a:prstGeom>
          <a:ln>
            <a:solidFill>
              <a:srgbClr val="00B0F0"/>
            </a:solidFill>
            <a:prstDash val="dash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endCxn id="28725" idx="0"/>
          </p:cNvCxnSpPr>
          <p:nvPr/>
        </p:nvCxnSpPr>
        <p:spPr bwMode="auto">
          <a:xfrm rot="10800000" flipV="1">
            <a:off x="4419600" y="3429000"/>
            <a:ext cx="2057400" cy="1962150"/>
          </a:xfrm>
          <a:prstGeom prst="straightConnector1">
            <a:avLst/>
          </a:prstGeom>
          <a:ln>
            <a:solidFill>
              <a:srgbClr val="00B0F0"/>
            </a:solidFill>
            <a:prstDash val="dash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 bwMode="auto">
          <a:xfrm>
            <a:off x="3352800" y="3429000"/>
            <a:ext cx="2286000" cy="1905000"/>
          </a:xfrm>
          <a:prstGeom prst="straightConnector1">
            <a:avLst/>
          </a:prstGeom>
          <a:ln>
            <a:solidFill>
              <a:srgbClr val="00B0F0"/>
            </a:solidFill>
            <a:prstDash val="dash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28701" idx="3"/>
          </p:cNvCxnSpPr>
          <p:nvPr/>
        </p:nvCxnSpPr>
        <p:spPr bwMode="auto">
          <a:xfrm rot="5400000">
            <a:off x="5606257" y="3569493"/>
            <a:ext cx="1949450" cy="1579563"/>
          </a:xfrm>
          <a:prstGeom prst="straightConnector1">
            <a:avLst/>
          </a:prstGeom>
          <a:ln>
            <a:solidFill>
              <a:srgbClr val="00B0F0"/>
            </a:solidFill>
            <a:prstDash val="dash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 bwMode="auto">
          <a:xfrm>
            <a:off x="4114800" y="2590800"/>
            <a:ext cx="2667000" cy="2057400"/>
          </a:xfrm>
          <a:prstGeom prst="straightConnector1">
            <a:avLst/>
          </a:prstGeom>
          <a:ln>
            <a:solidFill>
              <a:srgbClr val="00B0F0"/>
            </a:solidFill>
            <a:prstDash val="dash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28704" idx="3"/>
            <a:endCxn id="28716" idx="0"/>
          </p:cNvCxnSpPr>
          <p:nvPr/>
        </p:nvCxnSpPr>
        <p:spPr bwMode="auto">
          <a:xfrm rot="5400000">
            <a:off x="6515100" y="3084513"/>
            <a:ext cx="2058987" cy="1220788"/>
          </a:xfrm>
          <a:prstGeom prst="straightConnector1">
            <a:avLst/>
          </a:prstGeom>
          <a:ln>
            <a:solidFill>
              <a:srgbClr val="00B0F0"/>
            </a:solidFill>
            <a:prstDash val="dash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F444002-31C7-40A9-B1D4-DBD9ADEFB427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RLs are closed under set difference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We observe:</a:t>
            </a:r>
          </a:p>
          <a:p>
            <a:pPr lvl="1" eaLnBrk="1" hangingPunct="1"/>
            <a:r>
              <a:rPr lang="en-US"/>
              <a:t>L - M = L </a:t>
            </a:r>
            <a:r>
              <a:rPr lang="en-US">
                <a:cs typeface="Arial" charset="0"/>
              </a:rPr>
              <a:t>∩ M</a:t>
            </a:r>
            <a:r>
              <a:rPr lang="en-US"/>
              <a:t> 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Therefore, L - M is also regular</a:t>
            </a:r>
          </a:p>
        </p:txBody>
      </p:sp>
      <p:sp>
        <p:nvSpPr>
          <p:cNvPr id="29701" name="Line 4"/>
          <p:cNvSpPr>
            <a:spLocks noChangeShapeType="1"/>
          </p:cNvSpPr>
          <p:nvPr/>
        </p:nvSpPr>
        <p:spPr bwMode="auto">
          <a:xfrm>
            <a:off x="3886200" y="2667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Callout 2 5"/>
          <p:cNvSpPr>
            <a:spLocks/>
          </p:cNvSpPr>
          <p:nvPr/>
        </p:nvSpPr>
        <p:spPr bwMode="auto">
          <a:xfrm>
            <a:off x="4648200" y="1905000"/>
            <a:ext cx="3200400" cy="381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86787"/>
              <a:gd name="adj6" fmla="val -32250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/>
              <a:t>Closed under intersection</a:t>
            </a:r>
          </a:p>
        </p:txBody>
      </p:sp>
      <p:sp>
        <p:nvSpPr>
          <p:cNvPr id="7" name="Line Callout 2 6"/>
          <p:cNvSpPr>
            <a:spLocks/>
          </p:cNvSpPr>
          <p:nvPr/>
        </p:nvSpPr>
        <p:spPr bwMode="auto">
          <a:xfrm>
            <a:off x="5257800" y="2362200"/>
            <a:ext cx="2667000" cy="6096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0713"/>
              <a:gd name="adj6" fmla="val -38000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/>
              <a:t>Closed under complementation</a:t>
            </a:r>
          </a:p>
        </p:txBody>
      </p:sp>
      <p:cxnSp>
        <p:nvCxnSpPr>
          <p:cNvPr id="9" name="Straight Arrow Connector 8"/>
          <p:cNvCxnSpPr>
            <a:cxnSpLocks noChangeShapeType="1"/>
          </p:cNvCxnSpPr>
          <p:nvPr/>
        </p:nvCxnSpPr>
        <p:spPr bwMode="auto">
          <a:xfrm rot="5400000" flipH="1" flipV="1">
            <a:off x="1905000" y="3276600"/>
            <a:ext cx="685800" cy="228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build="p"/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A45A953-57AA-4E33-8FD7-C8A8F3AF4B9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RLs are closed under reversal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/>
              <a:t>Reversal of a string w is denoted by w</a:t>
            </a:r>
            <a:r>
              <a:rPr lang="en-US" baseline="30000"/>
              <a:t>R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E.g., w=00111, w</a:t>
            </a:r>
            <a:r>
              <a:rPr lang="en-US" baseline="30000"/>
              <a:t>R</a:t>
            </a:r>
            <a:r>
              <a:rPr lang="en-US"/>
              <a:t>=11100</a:t>
            </a:r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u="sng"/>
              <a:t>Reversal of a language: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L</a:t>
            </a:r>
            <a:r>
              <a:rPr lang="en-US" baseline="30000"/>
              <a:t>R</a:t>
            </a:r>
            <a:r>
              <a:rPr lang="en-US"/>
              <a:t> = The language generated by reversing </a:t>
            </a:r>
            <a:r>
              <a:rPr lang="en-US" u="sng"/>
              <a:t>all</a:t>
            </a:r>
            <a:r>
              <a:rPr lang="en-US"/>
              <a:t> strings in L</a:t>
            </a:r>
          </a:p>
          <a:p>
            <a:pPr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u="sng"/>
              <a:t>Theorem:</a:t>
            </a:r>
            <a:r>
              <a:rPr lang="en-US"/>
              <a:t> If L is regular then L</a:t>
            </a:r>
            <a:r>
              <a:rPr lang="en-US" baseline="30000"/>
              <a:t>R</a:t>
            </a:r>
            <a:r>
              <a:rPr lang="en-US"/>
              <a:t> is also regular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8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8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8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B56A417-2F16-472B-B2CE-5FE4F02E611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ea typeface="ＭＳ Ｐゴシック" pitchFamily="28" charset="-128"/>
                <a:sym typeface="Symbol" pitchFamily="28" charset="2"/>
              </a:rPr>
              <a:t></a:t>
            </a:r>
            <a:r>
              <a:rPr lang="en-US" sz="4000">
                <a:ea typeface="ＭＳ Ｐゴシック" pitchFamily="28" charset="-128"/>
              </a:rPr>
              <a:t> </a:t>
            </a:r>
            <a:r>
              <a:rPr lang="en-US"/>
              <a:t>-NFA Construction for L</a:t>
            </a:r>
            <a:r>
              <a:rPr lang="en-US" baseline="30000"/>
              <a:t>R</a:t>
            </a:r>
          </a:p>
        </p:txBody>
      </p:sp>
      <p:sp>
        <p:nvSpPr>
          <p:cNvPr id="31748" name="Oval 4"/>
          <p:cNvSpPr>
            <a:spLocks noChangeArrowheads="1"/>
          </p:cNvSpPr>
          <p:nvPr/>
        </p:nvSpPr>
        <p:spPr bwMode="auto">
          <a:xfrm>
            <a:off x="2590800" y="3733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0</a:t>
            </a:r>
            <a:endParaRPr lang="en-US" sz="1400"/>
          </a:p>
        </p:txBody>
      </p:sp>
      <p:sp>
        <p:nvSpPr>
          <p:cNvPr id="31749" name="Oval 6"/>
          <p:cNvSpPr>
            <a:spLocks noChangeArrowheads="1"/>
          </p:cNvSpPr>
          <p:nvPr/>
        </p:nvSpPr>
        <p:spPr bwMode="auto">
          <a:xfrm>
            <a:off x="5410200" y="2971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F1</a:t>
            </a:r>
            <a:endParaRPr lang="en-US" sz="1400"/>
          </a:p>
        </p:txBody>
      </p:sp>
      <p:sp>
        <p:nvSpPr>
          <p:cNvPr id="31750" name="Oval 7"/>
          <p:cNvSpPr>
            <a:spLocks noChangeArrowheads="1"/>
          </p:cNvSpPr>
          <p:nvPr/>
        </p:nvSpPr>
        <p:spPr bwMode="auto">
          <a:xfrm>
            <a:off x="5334000" y="2895600"/>
            <a:ext cx="533400" cy="533400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1" name="Oval 8"/>
          <p:cNvSpPr>
            <a:spLocks noChangeArrowheads="1"/>
          </p:cNvSpPr>
          <p:nvPr/>
        </p:nvSpPr>
        <p:spPr bwMode="auto">
          <a:xfrm>
            <a:off x="5410200" y="3733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F2</a:t>
            </a:r>
            <a:endParaRPr lang="en-US" sz="1400"/>
          </a:p>
        </p:txBody>
      </p:sp>
      <p:sp>
        <p:nvSpPr>
          <p:cNvPr id="31752" name="Oval 12"/>
          <p:cNvSpPr>
            <a:spLocks noChangeArrowheads="1"/>
          </p:cNvSpPr>
          <p:nvPr/>
        </p:nvSpPr>
        <p:spPr bwMode="auto">
          <a:xfrm>
            <a:off x="5410200" y="4876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Fk</a:t>
            </a:r>
            <a:endParaRPr lang="en-US" sz="1400"/>
          </a:p>
        </p:txBody>
      </p:sp>
      <p:sp>
        <p:nvSpPr>
          <p:cNvPr id="31753" name="Oval 13"/>
          <p:cNvSpPr>
            <a:spLocks noChangeArrowheads="1"/>
          </p:cNvSpPr>
          <p:nvPr/>
        </p:nvSpPr>
        <p:spPr bwMode="auto">
          <a:xfrm>
            <a:off x="5334000" y="3657600"/>
            <a:ext cx="533400" cy="533400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4" name="Oval 14"/>
          <p:cNvSpPr>
            <a:spLocks noChangeArrowheads="1"/>
          </p:cNvSpPr>
          <p:nvPr/>
        </p:nvSpPr>
        <p:spPr bwMode="auto">
          <a:xfrm>
            <a:off x="5334000" y="4800600"/>
            <a:ext cx="533400" cy="533400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5" name="Text Box 15"/>
          <p:cNvSpPr txBox="1">
            <a:spLocks noChangeArrowheads="1"/>
          </p:cNvSpPr>
          <p:nvPr/>
        </p:nvSpPr>
        <p:spPr bwMode="auto">
          <a:xfrm rot="5400000">
            <a:off x="5394325" y="4251325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…</a:t>
            </a:r>
          </a:p>
        </p:txBody>
      </p:sp>
      <p:sp>
        <p:nvSpPr>
          <p:cNvPr id="31756" name="Freeform 17"/>
          <p:cNvSpPr>
            <a:spLocks/>
          </p:cNvSpPr>
          <p:nvPr/>
        </p:nvSpPr>
        <p:spPr bwMode="auto">
          <a:xfrm>
            <a:off x="2965450" y="3098800"/>
            <a:ext cx="2333625" cy="733425"/>
          </a:xfrm>
          <a:custGeom>
            <a:avLst/>
            <a:gdLst>
              <a:gd name="T0" fmla="*/ 0 w 1470"/>
              <a:gd name="T1" fmla="*/ 2147483647 h 462"/>
              <a:gd name="T2" fmla="*/ 2147483647 w 1470"/>
              <a:gd name="T3" fmla="*/ 2147483647 h 462"/>
              <a:gd name="T4" fmla="*/ 2147483647 w 1470"/>
              <a:gd name="T5" fmla="*/ 2147483647 h 462"/>
              <a:gd name="T6" fmla="*/ 2147483647 w 1470"/>
              <a:gd name="T7" fmla="*/ 2147483647 h 462"/>
              <a:gd name="T8" fmla="*/ 2147483647 w 1470"/>
              <a:gd name="T9" fmla="*/ 2147483647 h 462"/>
              <a:gd name="T10" fmla="*/ 2147483647 w 1470"/>
              <a:gd name="T11" fmla="*/ 2147483647 h 462"/>
              <a:gd name="T12" fmla="*/ 2147483647 w 1470"/>
              <a:gd name="T13" fmla="*/ 2147483647 h 462"/>
              <a:gd name="T14" fmla="*/ 2147483647 w 1470"/>
              <a:gd name="T15" fmla="*/ 2147483647 h 462"/>
              <a:gd name="T16" fmla="*/ 2147483647 w 1470"/>
              <a:gd name="T17" fmla="*/ 2147483647 h 462"/>
              <a:gd name="T18" fmla="*/ 2147483647 w 1470"/>
              <a:gd name="T19" fmla="*/ 2147483647 h 462"/>
              <a:gd name="T20" fmla="*/ 2147483647 w 1470"/>
              <a:gd name="T21" fmla="*/ 2147483647 h 462"/>
              <a:gd name="T22" fmla="*/ 2147483647 w 1470"/>
              <a:gd name="T23" fmla="*/ 2147483647 h 462"/>
              <a:gd name="T24" fmla="*/ 2147483647 w 1470"/>
              <a:gd name="T25" fmla="*/ 2147483647 h 462"/>
              <a:gd name="T26" fmla="*/ 2147483647 w 1470"/>
              <a:gd name="T27" fmla="*/ 2147483647 h 462"/>
              <a:gd name="T28" fmla="*/ 2147483647 w 1470"/>
              <a:gd name="T29" fmla="*/ 2147483647 h 462"/>
              <a:gd name="T30" fmla="*/ 2147483647 w 1470"/>
              <a:gd name="T31" fmla="*/ 2147483647 h 462"/>
              <a:gd name="T32" fmla="*/ 2147483647 w 1470"/>
              <a:gd name="T33" fmla="*/ 2147483647 h 462"/>
              <a:gd name="T34" fmla="*/ 2147483647 w 1470"/>
              <a:gd name="T35" fmla="*/ 2147483647 h 462"/>
              <a:gd name="T36" fmla="*/ 2147483647 w 1470"/>
              <a:gd name="T37" fmla="*/ 2147483647 h 462"/>
              <a:gd name="T38" fmla="*/ 2147483647 w 1470"/>
              <a:gd name="T39" fmla="*/ 2147483647 h 462"/>
              <a:gd name="T40" fmla="*/ 2147483647 w 1470"/>
              <a:gd name="T41" fmla="*/ 2147483647 h 462"/>
              <a:gd name="T42" fmla="*/ 2147483647 w 1470"/>
              <a:gd name="T43" fmla="*/ 2147483647 h 462"/>
              <a:gd name="T44" fmla="*/ 2147483647 w 1470"/>
              <a:gd name="T45" fmla="*/ 2147483647 h 462"/>
              <a:gd name="T46" fmla="*/ 2147483647 w 1470"/>
              <a:gd name="T47" fmla="*/ 2147483647 h 462"/>
              <a:gd name="T48" fmla="*/ 2147483647 w 1470"/>
              <a:gd name="T49" fmla="*/ 2147483647 h 462"/>
              <a:gd name="T50" fmla="*/ 2147483647 w 1470"/>
              <a:gd name="T51" fmla="*/ 2147483647 h 462"/>
              <a:gd name="T52" fmla="*/ 2147483647 w 1470"/>
              <a:gd name="T53" fmla="*/ 2147483647 h 46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470"/>
              <a:gd name="T82" fmla="*/ 0 h 462"/>
              <a:gd name="T83" fmla="*/ 1470 w 1470"/>
              <a:gd name="T84" fmla="*/ 462 h 462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470" h="462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7" name="Freeform 19"/>
          <p:cNvSpPr>
            <a:spLocks/>
          </p:cNvSpPr>
          <p:nvPr/>
        </p:nvSpPr>
        <p:spPr bwMode="auto">
          <a:xfrm flipV="1">
            <a:off x="2895600" y="4114800"/>
            <a:ext cx="2362200" cy="914400"/>
          </a:xfrm>
          <a:custGeom>
            <a:avLst/>
            <a:gdLst>
              <a:gd name="T0" fmla="*/ 0 w 1470"/>
              <a:gd name="T1" fmla="*/ 2147483647 h 462"/>
              <a:gd name="T2" fmla="*/ 2147483647 w 1470"/>
              <a:gd name="T3" fmla="*/ 2147483647 h 462"/>
              <a:gd name="T4" fmla="*/ 2147483647 w 1470"/>
              <a:gd name="T5" fmla="*/ 2147483647 h 462"/>
              <a:gd name="T6" fmla="*/ 2147483647 w 1470"/>
              <a:gd name="T7" fmla="*/ 2147483647 h 462"/>
              <a:gd name="T8" fmla="*/ 2147483647 w 1470"/>
              <a:gd name="T9" fmla="*/ 2147483647 h 462"/>
              <a:gd name="T10" fmla="*/ 2147483647 w 1470"/>
              <a:gd name="T11" fmla="*/ 2147483647 h 462"/>
              <a:gd name="T12" fmla="*/ 2147483647 w 1470"/>
              <a:gd name="T13" fmla="*/ 2147483647 h 462"/>
              <a:gd name="T14" fmla="*/ 2147483647 w 1470"/>
              <a:gd name="T15" fmla="*/ 2147483647 h 462"/>
              <a:gd name="T16" fmla="*/ 2147483647 w 1470"/>
              <a:gd name="T17" fmla="*/ 2147483647 h 462"/>
              <a:gd name="T18" fmla="*/ 2147483647 w 1470"/>
              <a:gd name="T19" fmla="*/ 2147483647 h 462"/>
              <a:gd name="T20" fmla="*/ 2147483647 w 1470"/>
              <a:gd name="T21" fmla="*/ 2147483647 h 462"/>
              <a:gd name="T22" fmla="*/ 2147483647 w 1470"/>
              <a:gd name="T23" fmla="*/ 2147483647 h 462"/>
              <a:gd name="T24" fmla="*/ 2147483647 w 1470"/>
              <a:gd name="T25" fmla="*/ 2147483647 h 462"/>
              <a:gd name="T26" fmla="*/ 2147483647 w 1470"/>
              <a:gd name="T27" fmla="*/ 2147483647 h 462"/>
              <a:gd name="T28" fmla="*/ 2147483647 w 1470"/>
              <a:gd name="T29" fmla="*/ 2147483647 h 462"/>
              <a:gd name="T30" fmla="*/ 2147483647 w 1470"/>
              <a:gd name="T31" fmla="*/ 2147483647 h 462"/>
              <a:gd name="T32" fmla="*/ 2147483647 w 1470"/>
              <a:gd name="T33" fmla="*/ 2147483647 h 462"/>
              <a:gd name="T34" fmla="*/ 2147483647 w 1470"/>
              <a:gd name="T35" fmla="*/ 2147483647 h 462"/>
              <a:gd name="T36" fmla="*/ 2147483647 w 1470"/>
              <a:gd name="T37" fmla="*/ 2147483647 h 462"/>
              <a:gd name="T38" fmla="*/ 2147483647 w 1470"/>
              <a:gd name="T39" fmla="*/ 2147483647 h 462"/>
              <a:gd name="T40" fmla="*/ 2147483647 w 1470"/>
              <a:gd name="T41" fmla="*/ 2147483647 h 462"/>
              <a:gd name="T42" fmla="*/ 2147483647 w 1470"/>
              <a:gd name="T43" fmla="*/ 2147483647 h 462"/>
              <a:gd name="T44" fmla="*/ 2147483647 w 1470"/>
              <a:gd name="T45" fmla="*/ 2147483647 h 462"/>
              <a:gd name="T46" fmla="*/ 2147483647 w 1470"/>
              <a:gd name="T47" fmla="*/ 2147483647 h 462"/>
              <a:gd name="T48" fmla="*/ 2147483647 w 1470"/>
              <a:gd name="T49" fmla="*/ 2147483647 h 462"/>
              <a:gd name="T50" fmla="*/ 2147483647 w 1470"/>
              <a:gd name="T51" fmla="*/ 2147483647 h 462"/>
              <a:gd name="T52" fmla="*/ 2147483647 w 1470"/>
              <a:gd name="T53" fmla="*/ 2147483647 h 46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470"/>
              <a:gd name="T82" fmla="*/ 0 h 462"/>
              <a:gd name="T83" fmla="*/ 1470 w 1470"/>
              <a:gd name="T84" fmla="*/ 462 h 462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470" h="462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8" name="Oval 20"/>
          <p:cNvSpPr>
            <a:spLocks noChangeArrowheads="1"/>
          </p:cNvSpPr>
          <p:nvPr/>
        </p:nvSpPr>
        <p:spPr bwMode="auto">
          <a:xfrm>
            <a:off x="3657600" y="3733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i</a:t>
            </a:r>
            <a:endParaRPr lang="en-US" sz="1400"/>
          </a:p>
        </p:txBody>
      </p:sp>
      <p:sp>
        <p:nvSpPr>
          <p:cNvPr id="31759" name="Oval 21"/>
          <p:cNvSpPr>
            <a:spLocks noChangeArrowheads="1"/>
          </p:cNvSpPr>
          <p:nvPr/>
        </p:nvSpPr>
        <p:spPr bwMode="auto">
          <a:xfrm>
            <a:off x="4419600" y="3733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j</a:t>
            </a:r>
            <a:endParaRPr lang="en-US" sz="1400"/>
          </a:p>
        </p:txBody>
      </p:sp>
      <p:sp>
        <p:nvSpPr>
          <p:cNvPr id="31760" name="Line 22"/>
          <p:cNvSpPr>
            <a:spLocks noChangeShapeType="1"/>
          </p:cNvSpPr>
          <p:nvPr/>
        </p:nvSpPr>
        <p:spPr bwMode="auto">
          <a:xfrm>
            <a:off x="4038600" y="3886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1" name="Text Box 23"/>
          <p:cNvSpPr txBox="1">
            <a:spLocks noChangeArrowheads="1"/>
          </p:cNvSpPr>
          <p:nvPr/>
        </p:nvSpPr>
        <p:spPr bwMode="auto">
          <a:xfrm>
            <a:off x="4098925" y="3657600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a</a:t>
            </a:r>
            <a:endParaRPr lang="en-US"/>
          </a:p>
        </p:txBody>
      </p:sp>
      <p:grpSp>
        <p:nvGrpSpPr>
          <p:cNvPr id="31762" name="Group 28"/>
          <p:cNvGrpSpPr>
            <a:grpSpLocks/>
          </p:cNvGrpSpPr>
          <p:nvPr/>
        </p:nvGrpSpPr>
        <p:grpSpPr bwMode="auto">
          <a:xfrm>
            <a:off x="2286000" y="2743200"/>
            <a:ext cx="3733800" cy="2667000"/>
            <a:chOff x="1152" y="1536"/>
            <a:chExt cx="2352" cy="1680"/>
          </a:xfrm>
        </p:grpSpPr>
        <p:sp>
          <p:nvSpPr>
            <p:cNvPr id="31796" name="Line 24"/>
            <p:cNvSpPr>
              <a:spLocks noChangeShapeType="1"/>
            </p:cNvSpPr>
            <p:nvPr/>
          </p:nvSpPr>
          <p:spPr bwMode="auto">
            <a:xfrm>
              <a:off x="1152" y="1536"/>
              <a:ext cx="0" cy="16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7" name="Line 25"/>
            <p:cNvSpPr>
              <a:spLocks noChangeShapeType="1"/>
            </p:cNvSpPr>
            <p:nvPr/>
          </p:nvSpPr>
          <p:spPr bwMode="auto">
            <a:xfrm>
              <a:off x="1152" y="1536"/>
              <a:ext cx="235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8" name="Line 26"/>
            <p:cNvSpPr>
              <a:spLocks noChangeShapeType="1"/>
            </p:cNvSpPr>
            <p:nvPr/>
          </p:nvSpPr>
          <p:spPr bwMode="auto">
            <a:xfrm>
              <a:off x="3504" y="1536"/>
              <a:ext cx="0" cy="16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9" name="Line 27"/>
            <p:cNvSpPr>
              <a:spLocks noChangeShapeType="1"/>
            </p:cNvSpPr>
            <p:nvPr/>
          </p:nvSpPr>
          <p:spPr bwMode="auto">
            <a:xfrm>
              <a:off x="1152" y="3216"/>
              <a:ext cx="235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763" name="Text Box 30"/>
          <p:cNvSpPr txBox="1">
            <a:spLocks noChangeArrowheads="1"/>
          </p:cNvSpPr>
          <p:nvPr/>
        </p:nvSpPr>
        <p:spPr bwMode="auto">
          <a:xfrm>
            <a:off x="2270125" y="2762250"/>
            <a:ext cx="12715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6600"/>
                </a:solidFill>
              </a:rPr>
              <a:t>DFA for L</a:t>
            </a:r>
            <a:endParaRPr lang="en-US"/>
          </a:p>
        </p:txBody>
      </p:sp>
      <p:sp>
        <p:nvSpPr>
          <p:cNvPr id="31764" name="Line 31"/>
          <p:cNvSpPr>
            <a:spLocks noChangeShapeType="1"/>
          </p:cNvSpPr>
          <p:nvPr/>
        </p:nvSpPr>
        <p:spPr bwMode="auto">
          <a:xfrm>
            <a:off x="2286000" y="3886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2057400" y="2068513"/>
            <a:ext cx="5999163" cy="3494087"/>
            <a:chOff x="1296" y="1303"/>
            <a:chExt cx="3779" cy="2201"/>
          </a:xfrm>
        </p:grpSpPr>
        <p:grpSp>
          <p:nvGrpSpPr>
            <p:cNvPr id="31790" name="Group 44"/>
            <p:cNvGrpSpPr>
              <a:grpSpLocks/>
            </p:cNvGrpSpPr>
            <p:nvPr/>
          </p:nvGrpSpPr>
          <p:grpSpPr bwMode="auto">
            <a:xfrm>
              <a:off x="1296" y="1536"/>
              <a:ext cx="3216" cy="1968"/>
              <a:chOff x="1296" y="1536"/>
              <a:chExt cx="3216" cy="1968"/>
            </a:xfrm>
          </p:grpSpPr>
          <p:sp>
            <p:nvSpPr>
              <p:cNvPr id="31792" name="Line 40"/>
              <p:cNvSpPr>
                <a:spLocks noChangeShapeType="1"/>
              </p:cNvSpPr>
              <p:nvPr/>
            </p:nvSpPr>
            <p:spPr bwMode="auto">
              <a:xfrm>
                <a:off x="1296" y="1536"/>
                <a:ext cx="0" cy="196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3" name="Line 41"/>
              <p:cNvSpPr>
                <a:spLocks noChangeShapeType="1"/>
              </p:cNvSpPr>
              <p:nvPr/>
            </p:nvSpPr>
            <p:spPr bwMode="auto">
              <a:xfrm>
                <a:off x="1296" y="1536"/>
                <a:ext cx="321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4" name="Line 42"/>
              <p:cNvSpPr>
                <a:spLocks noChangeShapeType="1"/>
              </p:cNvSpPr>
              <p:nvPr/>
            </p:nvSpPr>
            <p:spPr bwMode="auto">
              <a:xfrm>
                <a:off x="4512" y="1536"/>
                <a:ext cx="0" cy="196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95" name="Line 43"/>
              <p:cNvSpPr>
                <a:spLocks noChangeShapeType="1"/>
              </p:cNvSpPr>
              <p:nvPr/>
            </p:nvSpPr>
            <p:spPr bwMode="auto">
              <a:xfrm>
                <a:off x="1296" y="3504"/>
                <a:ext cx="321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791" name="Text Box 45"/>
            <p:cNvSpPr txBox="1">
              <a:spLocks noChangeArrowheads="1"/>
            </p:cNvSpPr>
            <p:nvPr/>
          </p:nvSpPr>
          <p:spPr bwMode="auto">
            <a:xfrm>
              <a:off x="3711" y="1303"/>
              <a:ext cx="136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</a:rPr>
                <a:t>New </a:t>
              </a:r>
              <a:r>
                <a:rPr lang="en-US">
                  <a:solidFill>
                    <a:schemeClr val="hlink"/>
                  </a:solidFill>
                  <a:sym typeface="Symbol" pitchFamily="28" charset="2"/>
                </a:rPr>
                <a:t></a:t>
              </a:r>
              <a:r>
                <a:rPr lang="en-US">
                  <a:solidFill>
                    <a:schemeClr val="hlink"/>
                  </a:solidFill>
                </a:rPr>
                <a:t>-NFA for L</a:t>
              </a:r>
              <a:r>
                <a:rPr lang="en-US" baseline="30000">
                  <a:solidFill>
                    <a:schemeClr val="hlink"/>
                  </a:solidFill>
                </a:rPr>
                <a:t>R</a:t>
              </a:r>
              <a:endParaRPr lang="en-US"/>
            </a:p>
          </p:txBody>
        </p:sp>
      </p:grpSp>
      <p:sp>
        <p:nvSpPr>
          <p:cNvPr id="220206" name="Text Box 46"/>
          <p:cNvSpPr txBox="1">
            <a:spLocks noChangeArrowheads="1"/>
          </p:cNvSpPr>
          <p:nvPr/>
        </p:nvSpPr>
        <p:spPr bwMode="auto">
          <a:xfrm>
            <a:off x="7315200" y="3657600"/>
            <a:ext cx="12573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New start</a:t>
            </a:r>
          </a:p>
          <a:p>
            <a:r>
              <a:rPr lang="en-US"/>
              <a:t>state</a:t>
            </a:r>
          </a:p>
        </p:txBody>
      </p:sp>
      <p:sp>
        <p:nvSpPr>
          <p:cNvPr id="30758" name="Freeform 36"/>
          <p:cNvSpPr>
            <a:spLocks/>
          </p:cNvSpPr>
          <p:nvPr/>
        </p:nvSpPr>
        <p:spPr bwMode="auto">
          <a:xfrm>
            <a:off x="4038600" y="4038600"/>
            <a:ext cx="381000" cy="76200"/>
          </a:xfrm>
          <a:custGeom>
            <a:avLst/>
            <a:gdLst>
              <a:gd name="T0" fmla="*/ 2147483647 w 240"/>
              <a:gd name="T1" fmla="*/ 0 h 48"/>
              <a:gd name="T2" fmla="*/ 2147483647 w 240"/>
              <a:gd name="T3" fmla="*/ 2147483647 h 48"/>
              <a:gd name="T4" fmla="*/ 0 w 240"/>
              <a:gd name="T5" fmla="*/ 0 h 48"/>
              <a:gd name="T6" fmla="*/ 0 60000 65536"/>
              <a:gd name="T7" fmla="*/ 0 60000 65536"/>
              <a:gd name="T8" fmla="*/ 0 60000 65536"/>
              <a:gd name="T9" fmla="*/ 0 w 240"/>
              <a:gd name="T10" fmla="*/ 0 h 48"/>
              <a:gd name="T11" fmla="*/ 240 w 240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48">
                <a:moveTo>
                  <a:pt x="240" y="0"/>
                </a:moveTo>
                <a:cubicBezTo>
                  <a:pt x="188" y="24"/>
                  <a:pt x="136" y="48"/>
                  <a:pt x="96" y="48"/>
                </a:cubicBezTo>
                <a:cubicBezTo>
                  <a:pt x="56" y="48"/>
                  <a:pt x="28" y="24"/>
                  <a:pt x="0" y="0"/>
                </a:cubicBezTo>
              </a:path>
            </a:pathLst>
          </a:custGeom>
          <a:noFill/>
          <a:ln w="9525">
            <a:solidFill>
              <a:schemeClr val="hlink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59" name="Oval 37"/>
          <p:cNvSpPr>
            <a:spLocks noChangeArrowheads="1"/>
          </p:cNvSpPr>
          <p:nvPr/>
        </p:nvSpPr>
        <p:spPr bwMode="auto">
          <a:xfrm>
            <a:off x="2514600" y="3657600"/>
            <a:ext cx="533400" cy="533400"/>
          </a:xfrm>
          <a:prstGeom prst="ellipse">
            <a:avLst/>
          </a:prstGeom>
          <a:solidFill>
            <a:srgbClr val="FFCC99">
              <a:alpha val="10196"/>
            </a:srgbClr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54"/>
          <p:cNvGrpSpPr>
            <a:grpSpLocks/>
          </p:cNvGrpSpPr>
          <p:nvPr/>
        </p:nvGrpSpPr>
        <p:grpSpPr bwMode="auto">
          <a:xfrm>
            <a:off x="5867400" y="3151188"/>
            <a:ext cx="1524000" cy="1801812"/>
            <a:chOff x="5867400" y="3151188"/>
            <a:chExt cx="1524000" cy="1801812"/>
          </a:xfrm>
        </p:grpSpPr>
        <p:sp>
          <p:nvSpPr>
            <p:cNvPr id="31782" name="Oval 32"/>
            <p:cNvSpPr>
              <a:spLocks noChangeArrowheads="1"/>
            </p:cNvSpPr>
            <p:nvPr/>
          </p:nvSpPr>
          <p:spPr bwMode="auto">
            <a:xfrm>
              <a:off x="6553200" y="3733800"/>
              <a:ext cx="381000" cy="381000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US" sz="1400"/>
                <a:t>q’</a:t>
              </a:r>
              <a:r>
                <a:rPr lang="en-US" sz="1400" baseline="-25000"/>
                <a:t>0</a:t>
              </a:r>
              <a:endParaRPr lang="en-US" sz="1400"/>
            </a:p>
          </p:txBody>
        </p:sp>
        <p:sp>
          <p:nvSpPr>
            <p:cNvPr id="31783" name="Line 33"/>
            <p:cNvSpPr>
              <a:spLocks noChangeShapeType="1"/>
            </p:cNvSpPr>
            <p:nvPr/>
          </p:nvSpPr>
          <p:spPr bwMode="auto">
            <a:xfrm flipH="1" flipV="1">
              <a:off x="5867400" y="3200400"/>
              <a:ext cx="762000" cy="60960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4" name="Line 34"/>
            <p:cNvSpPr>
              <a:spLocks noChangeShapeType="1"/>
            </p:cNvSpPr>
            <p:nvPr/>
          </p:nvSpPr>
          <p:spPr bwMode="auto">
            <a:xfrm flipH="1" flipV="1">
              <a:off x="5867400" y="3886200"/>
              <a:ext cx="685800" cy="7620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5" name="Line 35"/>
            <p:cNvSpPr>
              <a:spLocks noChangeShapeType="1"/>
            </p:cNvSpPr>
            <p:nvPr/>
          </p:nvSpPr>
          <p:spPr bwMode="auto">
            <a:xfrm flipH="1">
              <a:off x="5867400" y="4038600"/>
              <a:ext cx="762000" cy="91440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6" name="Line 38"/>
            <p:cNvSpPr>
              <a:spLocks noChangeShapeType="1"/>
            </p:cNvSpPr>
            <p:nvPr/>
          </p:nvSpPr>
          <p:spPr bwMode="auto">
            <a:xfrm flipH="1">
              <a:off x="6934200" y="3886200"/>
              <a:ext cx="457200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7" name="Text Box 47"/>
            <p:cNvSpPr txBox="1">
              <a:spLocks noChangeArrowheads="1"/>
            </p:cNvSpPr>
            <p:nvPr/>
          </p:nvSpPr>
          <p:spPr bwMode="auto">
            <a:xfrm>
              <a:off x="6172200" y="3151188"/>
              <a:ext cx="2952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ym typeface="Symbol" pitchFamily="28" charset="2"/>
                </a:rPr>
                <a:t></a:t>
              </a:r>
              <a:endParaRPr lang="en-US"/>
            </a:p>
          </p:txBody>
        </p:sp>
        <p:sp>
          <p:nvSpPr>
            <p:cNvPr id="31788" name="Text Box 48"/>
            <p:cNvSpPr txBox="1">
              <a:spLocks noChangeArrowheads="1"/>
            </p:cNvSpPr>
            <p:nvPr/>
          </p:nvSpPr>
          <p:spPr bwMode="auto">
            <a:xfrm>
              <a:off x="6096000" y="3668713"/>
              <a:ext cx="2952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ym typeface="Symbol" pitchFamily="28" charset="2"/>
                </a:rPr>
                <a:t></a:t>
              </a:r>
            </a:p>
          </p:txBody>
        </p:sp>
        <p:sp>
          <p:nvSpPr>
            <p:cNvPr id="31789" name="Text Box 49"/>
            <p:cNvSpPr txBox="1">
              <a:spLocks noChangeArrowheads="1"/>
            </p:cNvSpPr>
            <p:nvPr/>
          </p:nvSpPr>
          <p:spPr bwMode="auto">
            <a:xfrm>
              <a:off x="6096000" y="4202113"/>
              <a:ext cx="29527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ym typeface="Symbol" pitchFamily="28" charset="2"/>
                </a:rPr>
                <a:t></a:t>
              </a:r>
            </a:p>
          </p:txBody>
        </p:sp>
      </p:grpSp>
      <p:sp>
        <p:nvSpPr>
          <p:cNvPr id="220210" name="Text Box 50"/>
          <p:cNvSpPr txBox="1">
            <a:spLocks noChangeArrowheads="1"/>
          </p:cNvSpPr>
          <p:nvPr/>
        </p:nvSpPr>
        <p:spPr bwMode="auto">
          <a:xfrm>
            <a:off x="304800" y="4267200"/>
            <a:ext cx="2036763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Make the</a:t>
            </a:r>
            <a:br>
              <a:rPr lang="en-US"/>
            </a:br>
            <a:r>
              <a:rPr lang="en-US"/>
              <a:t>old start state</a:t>
            </a:r>
            <a:br>
              <a:rPr lang="en-US"/>
            </a:br>
            <a:r>
              <a:rPr lang="en-US"/>
              <a:t>as the only new </a:t>
            </a:r>
            <a:br>
              <a:rPr lang="en-US"/>
            </a:br>
            <a:r>
              <a:rPr lang="en-US"/>
              <a:t>final state</a:t>
            </a:r>
          </a:p>
        </p:txBody>
      </p:sp>
      <p:sp>
        <p:nvSpPr>
          <p:cNvPr id="220211" name="Text Box 51"/>
          <p:cNvSpPr txBox="1">
            <a:spLocks noChangeArrowheads="1"/>
          </p:cNvSpPr>
          <p:nvPr/>
        </p:nvSpPr>
        <p:spPr bwMode="auto">
          <a:xfrm>
            <a:off x="3108325" y="5657850"/>
            <a:ext cx="2682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Reverse all transitions</a:t>
            </a:r>
          </a:p>
        </p:txBody>
      </p:sp>
      <p:sp>
        <p:nvSpPr>
          <p:cNvPr id="220212" name="Line 52"/>
          <p:cNvSpPr>
            <a:spLocks noChangeShapeType="1"/>
          </p:cNvSpPr>
          <p:nvPr/>
        </p:nvSpPr>
        <p:spPr bwMode="auto">
          <a:xfrm flipH="1">
            <a:off x="3962400" y="4114800"/>
            <a:ext cx="304800" cy="1600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59"/>
          <p:cNvGrpSpPr>
            <a:grpSpLocks/>
          </p:cNvGrpSpPr>
          <p:nvPr/>
        </p:nvGrpSpPr>
        <p:grpSpPr bwMode="auto">
          <a:xfrm>
            <a:off x="5013325" y="3352800"/>
            <a:ext cx="3913188" cy="3511550"/>
            <a:chOff x="3158" y="2112"/>
            <a:chExt cx="2465" cy="2212"/>
          </a:xfrm>
        </p:grpSpPr>
        <p:sp>
          <p:nvSpPr>
            <p:cNvPr id="31778" name="Text Box 55"/>
            <p:cNvSpPr txBox="1">
              <a:spLocks noChangeArrowheads="1"/>
            </p:cNvSpPr>
            <p:nvPr/>
          </p:nvSpPr>
          <p:spPr bwMode="auto">
            <a:xfrm>
              <a:off x="3158" y="3878"/>
              <a:ext cx="2465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Convert the old set of final states</a:t>
              </a:r>
              <a:br>
                <a:rPr lang="en-US"/>
              </a:br>
              <a:r>
                <a:rPr lang="en-US"/>
                <a:t>into </a:t>
              </a:r>
              <a:r>
                <a:rPr lang="en-US" u="sng"/>
                <a:t>non-final</a:t>
              </a:r>
              <a:r>
                <a:rPr lang="en-US"/>
                <a:t> states </a:t>
              </a:r>
            </a:p>
          </p:txBody>
        </p:sp>
        <p:sp>
          <p:nvSpPr>
            <p:cNvPr id="31779" name="Line 56"/>
            <p:cNvSpPr>
              <a:spLocks noChangeShapeType="1"/>
            </p:cNvSpPr>
            <p:nvPr/>
          </p:nvSpPr>
          <p:spPr bwMode="auto">
            <a:xfrm>
              <a:off x="3600" y="2640"/>
              <a:ext cx="528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0" name="Line 57"/>
            <p:cNvSpPr>
              <a:spLocks noChangeShapeType="1"/>
            </p:cNvSpPr>
            <p:nvPr/>
          </p:nvSpPr>
          <p:spPr bwMode="auto">
            <a:xfrm>
              <a:off x="3648" y="2112"/>
              <a:ext cx="576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1" name="Line 58"/>
            <p:cNvSpPr>
              <a:spLocks noChangeShapeType="1"/>
            </p:cNvSpPr>
            <p:nvPr/>
          </p:nvSpPr>
          <p:spPr bwMode="auto">
            <a:xfrm>
              <a:off x="3504" y="3360"/>
              <a:ext cx="48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774" name="Freeform 52"/>
          <p:cNvSpPr>
            <a:spLocks/>
          </p:cNvSpPr>
          <p:nvPr/>
        </p:nvSpPr>
        <p:spPr bwMode="auto">
          <a:xfrm>
            <a:off x="4800600" y="3916363"/>
            <a:ext cx="522288" cy="23812"/>
          </a:xfrm>
          <a:custGeom>
            <a:avLst/>
            <a:gdLst>
              <a:gd name="T0" fmla="*/ 0 w 522514"/>
              <a:gd name="T1" fmla="*/ 20753 h 24047"/>
              <a:gd name="T2" fmla="*/ 173046 w 522514"/>
              <a:gd name="T3" fmla="*/ 11359 h 24047"/>
              <a:gd name="T4" fmla="*/ 281199 w 522514"/>
              <a:gd name="T5" fmla="*/ 1963 h 24047"/>
              <a:gd name="T6" fmla="*/ 346091 w 522514"/>
              <a:gd name="T7" fmla="*/ 20753 h 24047"/>
              <a:gd name="T8" fmla="*/ 519133 w 522514"/>
              <a:gd name="T9" fmla="*/ 20753 h 240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2514"/>
              <a:gd name="T16" fmla="*/ 0 h 24047"/>
              <a:gd name="T17" fmla="*/ 522514 w 522514"/>
              <a:gd name="T18" fmla="*/ 24047 h 240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2514" h="24047">
                <a:moveTo>
                  <a:pt x="0" y="24047"/>
                </a:moveTo>
                <a:lnTo>
                  <a:pt x="174171" y="13161"/>
                </a:lnTo>
                <a:cubicBezTo>
                  <a:pt x="210531" y="10364"/>
                  <a:pt x="246633" y="0"/>
                  <a:pt x="283029" y="2275"/>
                </a:cubicBezTo>
                <a:cubicBezTo>
                  <a:pt x="305933" y="3707"/>
                  <a:pt x="325394" y="24047"/>
                  <a:pt x="348343" y="24047"/>
                </a:cubicBezTo>
                <a:lnTo>
                  <a:pt x="522514" y="24047"/>
                </a:lnTo>
              </a:path>
            </a:pathLst>
          </a:custGeom>
          <a:solidFill>
            <a:schemeClr val="bg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775" name="Freeform 53"/>
          <p:cNvSpPr>
            <a:spLocks/>
          </p:cNvSpPr>
          <p:nvPr/>
        </p:nvSpPr>
        <p:spPr bwMode="auto">
          <a:xfrm>
            <a:off x="3048000" y="3863975"/>
            <a:ext cx="598488" cy="46038"/>
          </a:xfrm>
          <a:custGeom>
            <a:avLst/>
            <a:gdLst>
              <a:gd name="T0" fmla="*/ 0 w 522514"/>
              <a:gd name="T1" fmla="*/ 777907542 h 24047"/>
              <a:gd name="T2" fmla="*/ 1529187 w 522514"/>
              <a:gd name="T3" fmla="*/ 425753343 h 24047"/>
              <a:gd name="T4" fmla="*/ 2484929 w 522514"/>
              <a:gd name="T5" fmla="*/ 73588148 h 24047"/>
              <a:gd name="T6" fmla="*/ 3058381 w 522514"/>
              <a:gd name="T7" fmla="*/ 777907542 h 24047"/>
              <a:gd name="T8" fmla="*/ 4587560 w 522514"/>
              <a:gd name="T9" fmla="*/ 777907542 h 240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2514"/>
              <a:gd name="T16" fmla="*/ 0 h 24047"/>
              <a:gd name="T17" fmla="*/ 522514 w 522514"/>
              <a:gd name="T18" fmla="*/ 24047 h 240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2514" h="24047">
                <a:moveTo>
                  <a:pt x="0" y="24047"/>
                </a:moveTo>
                <a:lnTo>
                  <a:pt x="174171" y="13161"/>
                </a:lnTo>
                <a:cubicBezTo>
                  <a:pt x="210531" y="10364"/>
                  <a:pt x="246633" y="0"/>
                  <a:pt x="283029" y="2275"/>
                </a:cubicBezTo>
                <a:cubicBezTo>
                  <a:pt x="305933" y="3707"/>
                  <a:pt x="325394" y="24047"/>
                  <a:pt x="348343" y="24047"/>
                </a:cubicBezTo>
                <a:lnTo>
                  <a:pt x="522514" y="24047"/>
                </a:lnTo>
              </a:path>
            </a:pathLst>
          </a:custGeom>
          <a:solidFill>
            <a:schemeClr val="bg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152400" y="5715000"/>
            <a:ext cx="2689225" cy="10160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What to do if q</a:t>
            </a:r>
            <a:r>
              <a:rPr lang="en-US" baseline="-25000"/>
              <a:t>0</a:t>
            </a:r>
            <a:r>
              <a:rPr lang="en-US"/>
              <a:t> was</a:t>
            </a:r>
            <a:br>
              <a:rPr lang="en-US"/>
            </a:br>
            <a:r>
              <a:rPr lang="en-US"/>
              <a:t> one of the final states</a:t>
            </a:r>
            <a:br>
              <a:rPr lang="en-US"/>
            </a:br>
            <a:r>
              <a:rPr lang="en-US"/>
              <a:t> in the input DFA? </a:t>
            </a:r>
          </a:p>
        </p:txBody>
      </p:sp>
      <p:sp>
        <p:nvSpPr>
          <p:cNvPr id="55" name="Line 52"/>
          <p:cNvSpPr>
            <a:spLocks noChangeShapeType="1"/>
          </p:cNvSpPr>
          <p:nvPr/>
        </p:nvSpPr>
        <p:spPr bwMode="auto">
          <a:xfrm flipH="1">
            <a:off x="1828800" y="40386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206" grpId="0"/>
      <p:bldP spid="30758" grpId="0" animBg="1"/>
      <p:bldP spid="30759" grpId="0" animBg="1"/>
      <p:bldP spid="220210" grpId="0"/>
      <p:bldP spid="220211" grpId="0"/>
      <p:bldP spid="220212" grpId="0" animBg="1"/>
      <p:bldP spid="54" grpId="0" animBg="1"/>
      <p:bldP spid="5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D53311-381E-4846-858C-EC6F6C11C81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If L is regular, L</a:t>
            </a:r>
            <a:r>
              <a:rPr lang="en-US" sz="3600" baseline="30000"/>
              <a:t>R</a:t>
            </a:r>
            <a:r>
              <a:rPr lang="en-US" sz="3600"/>
              <a:t> is regular (proof using regular expressions)</a:t>
            </a:r>
            <a:endParaRPr lang="en-US"/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sz="2400"/>
              <a:t>Let E be a regular expression for L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sz="2400"/>
              <a:t>Given E, how to build E</a:t>
            </a:r>
            <a:r>
              <a:rPr lang="en-US" sz="2400" baseline="30000"/>
              <a:t>R</a:t>
            </a:r>
            <a:r>
              <a:rPr lang="en-US" sz="2400"/>
              <a:t>? 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sz="2400" u="sng"/>
              <a:t>Basis:</a:t>
            </a:r>
            <a:r>
              <a:rPr lang="en-US" sz="2400"/>
              <a:t> If E= </a:t>
            </a:r>
            <a:r>
              <a:rPr lang="en-US" sz="2400">
                <a:ea typeface="ＭＳ Ｐゴシック" pitchFamily="28" charset="-128"/>
                <a:sym typeface="Symbol" pitchFamily="28" charset="2"/>
              </a:rPr>
              <a:t></a:t>
            </a:r>
            <a:r>
              <a:rPr lang="en-US" sz="2400">
                <a:ea typeface="ＭＳ Ｐゴシック" pitchFamily="28" charset="-128"/>
              </a:rPr>
              <a:t>, Ø, or a, then </a:t>
            </a:r>
            <a:r>
              <a:rPr lang="en-US" sz="2400"/>
              <a:t>E</a:t>
            </a:r>
            <a:r>
              <a:rPr lang="en-US" sz="2400" baseline="30000"/>
              <a:t>R</a:t>
            </a:r>
            <a:r>
              <a:rPr lang="en-US" sz="2400"/>
              <a:t>=E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sz="2400" u="sng"/>
              <a:t>Induction:</a:t>
            </a:r>
            <a:r>
              <a:rPr lang="en-US" sz="2400"/>
              <a:t> Every part of E (refer to the part as “F”) can be in only </a:t>
            </a:r>
            <a:r>
              <a:rPr lang="en-US" sz="2400" i="1"/>
              <a:t>one</a:t>
            </a:r>
            <a:r>
              <a:rPr lang="en-US" sz="2400"/>
              <a:t> of the three following forms: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200"/>
              <a:t>F = F</a:t>
            </a:r>
            <a:r>
              <a:rPr lang="en-US" sz="2200" baseline="-25000"/>
              <a:t>1</a:t>
            </a:r>
            <a:r>
              <a:rPr lang="en-US" sz="2200"/>
              <a:t>+F</a:t>
            </a:r>
            <a:r>
              <a:rPr lang="en-US" sz="2200" baseline="-25000"/>
              <a:t>2</a:t>
            </a:r>
            <a:r>
              <a:rPr lang="en-US" sz="2200"/>
              <a:t>	</a:t>
            </a:r>
          </a:p>
          <a:p>
            <a:pPr marL="1371600" lvl="2" indent="-457200" eaLnBrk="1" hangingPunct="1">
              <a:lnSpc>
                <a:spcPct val="90000"/>
              </a:lnSpc>
            </a:pPr>
            <a:r>
              <a:rPr lang="en-US" sz="2200"/>
              <a:t>F</a:t>
            </a:r>
            <a:r>
              <a:rPr lang="en-US" sz="2200" baseline="30000"/>
              <a:t>R</a:t>
            </a:r>
            <a:r>
              <a:rPr lang="en-US" sz="2200"/>
              <a:t> = F</a:t>
            </a:r>
            <a:r>
              <a:rPr lang="en-US" sz="2200" baseline="-25000"/>
              <a:t>1</a:t>
            </a:r>
            <a:r>
              <a:rPr lang="en-US" sz="2200" baseline="30000"/>
              <a:t>R</a:t>
            </a:r>
            <a:r>
              <a:rPr lang="en-US" sz="2200"/>
              <a:t>+F</a:t>
            </a:r>
            <a:r>
              <a:rPr lang="en-US" sz="2200" baseline="-25000"/>
              <a:t>2</a:t>
            </a:r>
            <a:r>
              <a:rPr lang="en-US" sz="2200" baseline="30000"/>
              <a:t>R</a:t>
            </a:r>
            <a:endParaRPr lang="en-US" sz="2200"/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200"/>
              <a:t>F = F</a:t>
            </a:r>
            <a:r>
              <a:rPr lang="en-US" sz="2200" baseline="-25000"/>
              <a:t>1</a:t>
            </a:r>
            <a:r>
              <a:rPr lang="en-US" sz="2200"/>
              <a:t>F</a:t>
            </a:r>
            <a:r>
              <a:rPr lang="en-US" sz="2200" baseline="-25000"/>
              <a:t>2</a:t>
            </a:r>
            <a:endParaRPr lang="en-US" sz="2200"/>
          </a:p>
          <a:p>
            <a:pPr marL="1371600" lvl="2" indent="-457200" eaLnBrk="1" hangingPunct="1">
              <a:lnSpc>
                <a:spcPct val="90000"/>
              </a:lnSpc>
            </a:pPr>
            <a:r>
              <a:rPr lang="en-US" sz="2200"/>
              <a:t>F</a:t>
            </a:r>
            <a:r>
              <a:rPr lang="en-US" sz="2200" baseline="30000"/>
              <a:t>R</a:t>
            </a:r>
            <a:r>
              <a:rPr lang="en-US" sz="2200"/>
              <a:t> = F</a:t>
            </a:r>
            <a:r>
              <a:rPr lang="en-US" sz="2200" baseline="-25000"/>
              <a:t>2</a:t>
            </a:r>
            <a:r>
              <a:rPr lang="en-US" sz="2200" baseline="30000"/>
              <a:t>R</a:t>
            </a:r>
            <a:r>
              <a:rPr lang="en-US" sz="2200"/>
              <a:t>F</a:t>
            </a:r>
            <a:r>
              <a:rPr lang="en-US" sz="2200" baseline="-25000"/>
              <a:t>1</a:t>
            </a:r>
            <a:r>
              <a:rPr lang="en-US" sz="2200" baseline="30000"/>
              <a:t>R</a:t>
            </a:r>
            <a:endParaRPr lang="en-US" sz="2200"/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200"/>
              <a:t>F = (F</a:t>
            </a:r>
            <a:r>
              <a:rPr lang="en-US" sz="2200" baseline="-25000"/>
              <a:t>1</a:t>
            </a:r>
            <a:r>
              <a:rPr lang="en-US" sz="2200"/>
              <a:t>)*</a:t>
            </a:r>
          </a:p>
          <a:p>
            <a:pPr marL="1371600" lvl="2" indent="-457200" eaLnBrk="1" hangingPunct="1">
              <a:lnSpc>
                <a:spcPct val="90000"/>
              </a:lnSpc>
            </a:pPr>
            <a:r>
              <a:rPr lang="en-US" sz="2200"/>
              <a:t>(F</a:t>
            </a:r>
            <a:r>
              <a:rPr lang="en-US" sz="2200" baseline="30000"/>
              <a:t>R</a:t>
            </a:r>
            <a:r>
              <a:rPr lang="en-US" sz="2200"/>
              <a:t>)* = (F</a:t>
            </a:r>
            <a:r>
              <a:rPr lang="en-US" sz="2200" baseline="-25000"/>
              <a:t>1</a:t>
            </a:r>
            <a:r>
              <a:rPr lang="en-US" sz="2200" baseline="30000"/>
              <a:t>R</a:t>
            </a:r>
            <a:r>
              <a:rPr lang="en-US" sz="2200"/>
              <a:t>)*</a:t>
            </a:r>
            <a:endParaRPr lang="en-US" sz="2200" baseline="30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9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9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9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9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19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19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19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D658E3A-3F7C-4D50-B011-23AB8E3F1072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Homomorphisms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Substitute each </a:t>
            </a:r>
            <a:r>
              <a:rPr lang="en-US" sz="2800" u="sng"/>
              <a:t>symbol</a:t>
            </a:r>
            <a:r>
              <a:rPr lang="en-US" sz="2800"/>
              <a:t> in ∑ (main alphabet) by a corresponding </a:t>
            </a:r>
            <a:r>
              <a:rPr lang="en-US" sz="2800" u="sng"/>
              <a:t>string</a:t>
            </a:r>
            <a:r>
              <a:rPr lang="en-US" sz="2800"/>
              <a:t> in T (another alphabet)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h: ∑---&gt;T*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u="sng"/>
              <a:t>Example</a:t>
            </a:r>
            <a:r>
              <a:rPr lang="en-US" sz="280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Let ∑={0,1} and T={a,b}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Let a homomorphic function h on ∑ be: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/>
              <a:t> h(0)=ab, h(1)=</a:t>
            </a:r>
            <a:r>
              <a:rPr lang="en-US" sz="1800">
                <a:ea typeface="ＭＳ Ｐゴシック" pitchFamily="28" charset="-128"/>
                <a:sym typeface="Symbol" pitchFamily="28" charset="2"/>
              </a:rPr>
              <a:t></a:t>
            </a:r>
            <a:endParaRPr lang="en-US" sz="2000"/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If w=10110, then h(w) =</a:t>
            </a:r>
            <a:r>
              <a:rPr lang="en-US" sz="2400">
                <a:ea typeface="ＭＳ Ｐゴシック" pitchFamily="28" charset="-128"/>
                <a:sym typeface="Symbol" pitchFamily="28" charset="2"/>
              </a:rPr>
              <a:t> abab </a:t>
            </a:r>
            <a:r>
              <a:rPr lang="en-US" sz="2400"/>
              <a:t>= abab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In general,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h(w) = h(a</a:t>
            </a:r>
            <a:r>
              <a:rPr lang="en-US" sz="2400" baseline="-25000"/>
              <a:t>1</a:t>
            </a:r>
            <a:r>
              <a:rPr lang="en-US" sz="2400"/>
              <a:t>) h(a</a:t>
            </a:r>
            <a:r>
              <a:rPr lang="en-US" sz="2400" baseline="-25000"/>
              <a:t>2</a:t>
            </a:r>
            <a:r>
              <a:rPr lang="en-US" sz="2400"/>
              <a:t>)… h(a</a:t>
            </a:r>
            <a:r>
              <a:rPr lang="en-US" sz="2400" baseline="-25000"/>
              <a:t>n</a:t>
            </a:r>
            <a:r>
              <a:rPr lang="en-US" sz="240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28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28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8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FFF6AF5-887A-44AD-8E85-358102029E6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RLs are closed under homomorphisms</a:t>
            </a: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57400"/>
            <a:ext cx="7772400" cy="41148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sz="2400" u="sng"/>
              <a:t>Theorem: </a:t>
            </a:r>
            <a:r>
              <a:rPr lang="en-US" sz="2400"/>
              <a:t>If L is regular, then so is h(L)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2400" u="sng"/>
              <a:t>Proof:</a:t>
            </a:r>
            <a:r>
              <a:rPr lang="en-US" sz="2400"/>
              <a:t> If E is a RE for L, then show L(h(E)) = h(L(E))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2400" u="sng"/>
              <a:t>Basis:</a:t>
            </a:r>
            <a:r>
              <a:rPr lang="en-US" sz="2400"/>
              <a:t> If E= </a:t>
            </a:r>
            <a:r>
              <a:rPr lang="en-US" sz="2400">
                <a:ea typeface="ＭＳ Ｐゴシック" pitchFamily="28" charset="-128"/>
                <a:sym typeface="Symbol" pitchFamily="28" charset="2"/>
              </a:rPr>
              <a:t></a:t>
            </a:r>
            <a:r>
              <a:rPr lang="en-US" sz="2400">
                <a:ea typeface="ＭＳ Ｐゴシック" pitchFamily="28" charset="-128"/>
              </a:rPr>
              <a:t>, Ø, or a, then the claim holds.</a:t>
            </a:r>
            <a:endParaRPr lang="en-US" sz="2400"/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2400" u="sng"/>
              <a:t>Induction:</a:t>
            </a:r>
            <a:r>
              <a:rPr lang="en-US" sz="2400"/>
              <a:t> There are three forms of E:</a:t>
            </a:r>
          </a:p>
          <a:p>
            <a:pPr marL="914400" lvl="1" indent="-4572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000"/>
              <a:t>E = E</a:t>
            </a:r>
            <a:r>
              <a:rPr lang="en-US" sz="2000" baseline="-25000"/>
              <a:t>1</a:t>
            </a:r>
            <a:r>
              <a:rPr lang="en-US" sz="2000"/>
              <a:t>+E</a:t>
            </a:r>
            <a:r>
              <a:rPr lang="en-US" sz="2000" baseline="-25000"/>
              <a:t>2</a:t>
            </a:r>
            <a:r>
              <a:rPr lang="en-US" sz="2000"/>
              <a:t>	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sz="1800"/>
              <a:t>L(h(E)) = L(h(E</a:t>
            </a:r>
            <a:r>
              <a:rPr lang="en-US" sz="1800" baseline="-25000"/>
              <a:t>1</a:t>
            </a:r>
            <a:r>
              <a:rPr lang="en-US" sz="1800"/>
              <a:t>) + h(E</a:t>
            </a:r>
            <a:r>
              <a:rPr lang="en-US" sz="1800" baseline="-25000"/>
              <a:t>2</a:t>
            </a:r>
            <a:r>
              <a:rPr lang="en-US" sz="1800"/>
              <a:t>)) = L(h(E</a:t>
            </a:r>
            <a:r>
              <a:rPr lang="en-US" sz="1800" baseline="-25000"/>
              <a:t>1</a:t>
            </a:r>
            <a:r>
              <a:rPr lang="en-US" sz="1800"/>
              <a:t>)) U L(h(E</a:t>
            </a:r>
            <a:r>
              <a:rPr lang="en-US" sz="1800" baseline="-25000"/>
              <a:t>2</a:t>
            </a:r>
            <a:r>
              <a:rPr lang="en-US" sz="1800"/>
              <a:t>)) ----- (1)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sz="1800"/>
              <a:t>h(L(E)) = h(L(E</a:t>
            </a:r>
            <a:r>
              <a:rPr lang="en-US" sz="1800" baseline="-25000"/>
              <a:t>1</a:t>
            </a:r>
            <a:r>
              <a:rPr lang="en-US" sz="1800"/>
              <a:t>) + L(E</a:t>
            </a:r>
            <a:r>
              <a:rPr lang="en-US" sz="1800" baseline="-25000"/>
              <a:t>2</a:t>
            </a:r>
            <a:r>
              <a:rPr lang="en-US" sz="1800"/>
              <a:t>)) = h(L(E</a:t>
            </a:r>
            <a:r>
              <a:rPr lang="en-US" sz="1800" baseline="-25000"/>
              <a:t>1</a:t>
            </a:r>
            <a:r>
              <a:rPr lang="en-US" sz="1800"/>
              <a:t>)) U h(L(E</a:t>
            </a:r>
            <a:r>
              <a:rPr lang="en-US" sz="1800" baseline="-25000"/>
              <a:t>2</a:t>
            </a:r>
            <a:r>
              <a:rPr lang="en-US" sz="1800"/>
              <a:t>)) ----- (2)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sz="1800"/>
              <a:t>By inductive hypothesis, L(h(E</a:t>
            </a:r>
            <a:r>
              <a:rPr lang="en-US" sz="1800" baseline="-25000"/>
              <a:t>1</a:t>
            </a:r>
            <a:r>
              <a:rPr lang="en-US" sz="1800"/>
              <a:t>))= h(L(E</a:t>
            </a:r>
            <a:r>
              <a:rPr lang="en-US" sz="1800" baseline="-25000"/>
              <a:t>1</a:t>
            </a:r>
            <a:r>
              <a:rPr lang="en-US" sz="1800"/>
              <a:t>)) and L(h(E</a:t>
            </a:r>
            <a:r>
              <a:rPr lang="en-US" sz="1800" baseline="-25000"/>
              <a:t>2</a:t>
            </a:r>
            <a:r>
              <a:rPr lang="en-US" sz="1800"/>
              <a:t>))= h(L(E</a:t>
            </a:r>
            <a:r>
              <a:rPr lang="en-US" sz="1800" baseline="-25000"/>
              <a:t>2</a:t>
            </a:r>
            <a:r>
              <a:rPr lang="en-US" sz="1800"/>
              <a:t>)) </a:t>
            </a:r>
          </a:p>
          <a:p>
            <a:pPr marL="1295400" lvl="2" indent="-381000" eaLnBrk="1" hangingPunct="1">
              <a:lnSpc>
                <a:spcPct val="90000"/>
              </a:lnSpc>
            </a:pPr>
            <a:r>
              <a:rPr lang="en-US" sz="1800"/>
              <a:t>Therefore, L(h(E)= h(L(E)</a:t>
            </a:r>
            <a:endParaRPr lang="en-US" sz="2000"/>
          </a:p>
          <a:p>
            <a:pPr marL="914400" lvl="1" indent="-4572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000"/>
              <a:t>E = E</a:t>
            </a:r>
            <a:r>
              <a:rPr lang="en-US" sz="2000" baseline="-25000"/>
              <a:t>1</a:t>
            </a:r>
            <a:r>
              <a:rPr lang="en-US" sz="2000"/>
              <a:t>E</a:t>
            </a:r>
            <a:r>
              <a:rPr lang="en-US" sz="2000" baseline="-25000"/>
              <a:t>2</a:t>
            </a:r>
            <a:endParaRPr lang="en-US" sz="2000"/>
          </a:p>
          <a:p>
            <a:pPr marL="914400" lvl="1" indent="-4572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000"/>
              <a:t>E = (E</a:t>
            </a:r>
            <a:r>
              <a:rPr lang="en-US" sz="2000" baseline="-25000"/>
              <a:t>1</a:t>
            </a:r>
            <a:r>
              <a:rPr lang="en-US" sz="2000"/>
              <a:t>)*</a:t>
            </a:r>
          </a:p>
        </p:txBody>
      </p:sp>
      <p:sp>
        <p:nvSpPr>
          <p:cNvPr id="229380" name="Text Box 4"/>
          <p:cNvSpPr txBox="1">
            <a:spLocks noChangeArrowheads="1"/>
          </p:cNvSpPr>
          <p:nvPr/>
        </p:nvSpPr>
        <p:spPr bwMode="auto">
          <a:xfrm>
            <a:off x="3733800" y="5562600"/>
            <a:ext cx="2103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Similar argument</a:t>
            </a:r>
          </a:p>
        </p:txBody>
      </p:sp>
      <p:sp>
        <p:nvSpPr>
          <p:cNvPr id="229382" name="AutoShape 6"/>
          <p:cNvSpPr>
            <a:spLocks/>
          </p:cNvSpPr>
          <p:nvPr/>
        </p:nvSpPr>
        <p:spPr bwMode="auto">
          <a:xfrm>
            <a:off x="3429000" y="5562600"/>
            <a:ext cx="228600" cy="533400"/>
          </a:xfrm>
          <a:prstGeom prst="rightBrace">
            <a:avLst>
              <a:gd name="adj1" fmla="val 19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9383" name="Text Box 7"/>
          <p:cNvSpPr txBox="1">
            <a:spLocks noChangeArrowheads="1"/>
          </p:cNvSpPr>
          <p:nvPr/>
        </p:nvSpPr>
        <p:spPr bwMode="auto">
          <a:xfrm>
            <a:off x="6232525" y="5276850"/>
            <a:ext cx="2640013" cy="7016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Think of a DFA based</a:t>
            </a:r>
            <a:br>
              <a:rPr lang="en-US">
                <a:solidFill>
                  <a:schemeClr val="tx2"/>
                </a:solidFill>
              </a:rPr>
            </a:br>
            <a:r>
              <a:rPr lang="en-US">
                <a:solidFill>
                  <a:schemeClr val="tx2"/>
                </a:solidFill>
              </a:rPr>
              <a:t>	construction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2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9" grpId="0" build="p"/>
      <p:bldP spid="229380" grpId="0"/>
      <p:bldP spid="229382" grpId="0" animBg="1"/>
      <p:bldP spid="22938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2861442-6AAE-4A8B-BCC2-766B6CFEB3D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FA Construction for h(L)</a:t>
            </a:r>
            <a:endParaRPr lang="en-US" baseline="30000"/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>
            <a:off x="2743200" y="3352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0</a:t>
            </a:r>
            <a:endParaRPr lang="en-US" sz="1400"/>
          </a:p>
        </p:txBody>
      </p:sp>
      <p:sp>
        <p:nvSpPr>
          <p:cNvPr id="36869" name="Oval 6"/>
          <p:cNvSpPr>
            <a:spLocks noChangeArrowheads="1"/>
          </p:cNvSpPr>
          <p:nvPr/>
        </p:nvSpPr>
        <p:spPr bwMode="auto">
          <a:xfrm>
            <a:off x="5562600" y="2590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F1</a:t>
            </a:r>
            <a:endParaRPr lang="en-US" sz="1400"/>
          </a:p>
        </p:txBody>
      </p:sp>
      <p:sp>
        <p:nvSpPr>
          <p:cNvPr id="36870" name="Oval 7"/>
          <p:cNvSpPr>
            <a:spLocks noChangeArrowheads="1"/>
          </p:cNvSpPr>
          <p:nvPr/>
        </p:nvSpPr>
        <p:spPr bwMode="auto">
          <a:xfrm>
            <a:off x="5486400" y="2514600"/>
            <a:ext cx="533400" cy="533400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1" name="Oval 8"/>
          <p:cNvSpPr>
            <a:spLocks noChangeArrowheads="1"/>
          </p:cNvSpPr>
          <p:nvPr/>
        </p:nvSpPr>
        <p:spPr bwMode="auto">
          <a:xfrm>
            <a:off x="5562600" y="3352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F2</a:t>
            </a:r>
            <a:endParaRPr lang="en-US" sz="1400"/>
          </a:p>
        </p:txBody>
      </p:sp>
      <p:sp>
        <p:nvSpPr>
          <p:cNvPr id="36872" name="Oval 12"/>
          <p:cNvSpPr>
            <a:spLocks noChangeArrowheads="1"/>
          </p:cNvSpPr>
          <p:nvPr/>
        </p:nvSpPr>
        <p:spPr bwMode="auto">
          <a:xfrm>
            <a:off x="5562600" y="4495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Fk</a:t>
            </a:r>
            <a:endParaRPr lang="en-US" sz="1400"/>
          </a:p>
        </p:txBody>
      </p:sp>
      <p:sp>
        <p:nvSpPr>
          <p:cNvPr id="36873" name="Oval 13"/>
          <p:cNvSpPr>
            <a:spLocks noChangeArrowheads="1"/>
          </p:cNvSpPr>
          <p:nvPr/>
        </p:nvSpPr>
        <p:spPr bwMode="auto">
          <a:xfrm>
            <a:off x="5486400" y="3276600"/>
            <a:ext cx="533400" cy="533400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Oval 14"/>
          <p:cNvSpPr>
            <a:spLocks noChangeArrowheads="1"/>
          </p:cNvSpPr>
          <p:nvPr/>
        </p:nvSpPr>
        <p:spPr bwMode="auto">
          <a:xfrm>
            <a:off x="5486400" y="4419600"/>
            <a:ext cx="533400" cy="533400"/>
          </a:xfrm>
          <a:prstGeom prst="ellipse">
            <a:avLst/>
          </a:prstGeom>
          <a:solidFill>
            <a:schemeClr val="accent1">
              <a:alpha val="1019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5" name="Text Box 15"/>
          <p:cNvSpPr txBox="1">
            <a:spLocks noChangeArrowheads="1"/>
          </p:cNvSpPr>
          <p:nvPr/>
        </p:nvSpPr>
        <p:spPr bwMode="auto">
          <a:xfrm rot="5400000">
            <a:off x="5546725" y="3870325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…</a:t>
            </a:r>
          </a:p>
        </p:txBody>
      </p:sp>
      <p:sp>
        <p:nvSpPr>
          <p:cNvPr id="36876" name="Freeform 17"/>
          <p:cNvSpPr>
            <a:spLocks/>
          </p:cNvSpPr>
          <p:nvPr/>
        </p:nvSpPr>
        <p:spPr bwMode="auto">
          <a:xfrm>
            <a:off x="3117850" y="2717800"/>
            <a:ext cx="2333625" cy="733425"/>
          </a:xfrm>
          <a:custGeom>
            <a:avLst/>
            <a:gdLst>
              <a:gd name="T0" fmla="*/ 0 w 1470"/>
              <a:gd name="T1" fmla="*/ 2147483647 h 462"/>
              <a:gd name="T2" fmla="*/ 2147483647 w 1470"/>
              <a:gd name="T3" fmla="*/ 2147483647 h 462"/>
              <a:gd name="T4" fmla="*/ 2147483647 w 1470"/>
              <a:gd name="T5" fmla="*/ 2147483647 h 462"/>
              <a:gd name="T6" fmla="*/ 2147483647 w 1470"/>
              <a:gd name="T7" fmla="*/ 2147483647 h 462"/>
              <a:gd name="T8" fmla="*/ 2147483647 w 1470"/>
              <a:gd name="T9" fmla="*/ 2147483647 h 462"/>
              <a:gd name="T10" fmla="*/ 2147483647 w 1470"/>
              <a:gd name="T11" fmla="*/ 2147483647 h 462"/>
              <a:gd name="T12" fmla="*/ 2147483647 w 1470"/>
              <a:gd name="T13" fmla="*/ 2147483647 h 462"/>
              <a:gd name="T14" fmla="*/ 2147483647 w 1470"/>
              <a:gd name="T15" fmla="*/ 2147483647 h 462"/>
              <a:gd name="T16" fmla="*/ 2147483647 w 1470"/>
              <a:gd name="T17" fmla="*/ 2147483647 h 462"/>
              <a:gd name="T18" fmla="*/ 2147483647 w 1470"/>
              <a:gd name="T19" fmla="*/ 2147483647 h 462"/>
              <a:gd name="T20" fmla="*/ 2147483647 w 1470"/>
              <a:gd name="T21" fmla="*/ 2147483647 h 462"/>
              <a:gd name="T22" fmla="*/ 2147483647 w 1470"/>
              <a:gd name="T23" fmla="*/ 2147483647 h 462"/>
              <a:gd name="T24" fmla="*/ 2147483647 w 1470"/>
              <a:gd name="T25" fmla="*/ 2147483647 h 462"/>
              <a:gd name="T26" fmla="*/ 2147483647 w 1470"/>
              <a:gd name="T27" fmla="*/ 2147483647 h 462"/>
              <a:gd name="T28" fmla="*/ 2147483647 w 1470"/>
              <a:gd name="T29" fmla="*/ 2147483647 h 462"/>
              <a:gd name="T30" fmla="*/ 2147483647 w 1470"/>
              <a:gd name="T31" fmla="*/ 2147483647 h 462"/>
              <a:gd name="T32" fmla="*/ 2147483647 w 1470"/>
              <a:gd name="T33" fmla="*/ 2147483647 h 462"/>
              <a:gd name="T34" fmla="*/ 2147483647 w 1470"/>
              <a:gd name="T35" fmla="*/ 2147483647 h 462"/>
              <a:gd name="T36" fmla="*/ 2147483647 w 1470"/>
              <a:gd name="T37" fmla="*/ 2147483647 h 462"/>
              <a:gd name="T38" fmla="*/ 2147483647 w 1470"/>
              <a:gd name="T39" fmla="*/ 2147483647 h 462"/>
              <a:gd name="T40" fmla="*/ 2147483647 w 1470"/>
              <a:gd name="T41" fmla="*/ 2147483647 h 462"/>
              <a:gd name="T42" fmla="*/ 2147483647 w 1470"/>
              <a:gd name="T43" fmla="*/ 2147483647 h 462"/>
              <a:gd name="T44" fmla="*/ 2147483647 w 1470"/>
              <a:gd name="T45" fmla="*/ 2147483647 h 462"/>
              <a:gd name="T46" fmla="*/ 2147483647 w 1470"/>
              <a:gd name="T47" fmla="*/ 2147483647 h 462"/>
              <a:gd name="T48" fmla="*/ 2147483647 w 1470"/>
              <a:gd name="T49" fmla="*/ 2147483647 h 462"/>
              <a:gd name="T50" fmla="*/ 2147483647 w 1470"/>
              <a:gd name="T51" fmla="*/ 2147483647 h 462"/>
              <a:gd name="T52" fmla="*/ 2147483647 w 1470"/>
              <a:gd name="T53" fmla="*/ 2147483647 h 46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470"/>
              <a:gd name="T82" fmla="*/ 0 h 462"/>
              <a:gd name="T83" fmla="*/ 1470 w 1470"/>
              <a:gd name="T84" fmla="*/ 462 h 462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470" h="462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7" name="Freeform 19"/>
          <p:cNvSpPr>
            <a:spLocks/>
          </p:cNvSpPr>
          <p:nvPr/>
        </p:nvSpPr>
        <p:spPr bwMode="auto">
          <a:xfrm flipV="1">
            <a:off x="3048000" y="3733800"/>
            <a:ext cx="2362200" cy="914400"/>
          </a:xfrm>
          <a:custGeom>
            <a:avLst/>
            <a:gdLst>
              <a:gd name="T0" fmla="*/ 0 w 1470"/>
              <a:gd name="T1" fmla="*/ 2147483647 h 462"/>
              <a:gd name="T2" fmla="*/ 2147483647 w 1470"/>
              <a:gd name="T3" fmla="*/ 2147483647 h 462"/>
              <a:gd name="T4" fmla="*/ 2147483647 w 1470"/>
              <a:gd name="T5" fmla="*/ 2147483647 h 462"/>
              <a:gd name="T6" fmla="*/ 2147483647 w 1470"/>
              <a:gd name="T7" fmla="*/ 2147483647 h 462"/>
              <a:gd name="T8" fmla="*/ 2147483647 w 1470"/>
              <a:gd name="T9" fmla="*/ 2147483647 h 462"/>
              <a:gd name="T10" fmla="*/ 2147483647 w 1470"/>
              <a:gd name="T11" fmla="*/ 2147483647 h 462"/>
              <a:gd name="T12" fmla="*/ 2147483647 w 1470"/>
              <a:gd name="T13" fmla="*/ 2147483647 h 462"/>
              <a:gd name="T14" fmla="*/ 2147483647 w 1470"/>
              <a:gd name="T15" fmla="*/ 2147483647 h 462"/>
              <a:gd name="T16" fmla="*/ 2147483647 w 1470"/>
              <a:gd name="T17" fmla="*/ 2147483647 h 462"/>
              <a:gd name="T18" fmla="*/ 2147483647 w 1470"/>
              <a:gd name="T19" fmla="*/ 2147483647 h 462"/>
              <a:gd name="T20" fmla="*/ 2147483647 w 1470"/>
              <a:gd name="T21" fmla="*/ 2147483647 h 462"/>
              <a:gd name="T22" fmla="*/ 2147483647 w 1470"/>
              <a:gd name="T23" fmla="*/ 2147483647 h 462"/>
              <a:gd name="T24" fmla="*/ 2147483647 w 1470"/>
              <a:gd name="T25" fmla="*/ 2147483647 h 462"/>
              <a:gd name="T26" fmla="*/ 2147483647 w 1470"/>
              <a:gd name="T27" fmla="*/ 2147483647 h 462"/>
              <a:gd name="T28" fmla="*/ 2147483647 w 1470"/>
              <a:gd name="T29" fmla="*/ 2147483647 h 462"/>
              <a:gd name="T30" fmla="*/ 2147483647 w 1470"/>
              <a:gd name="T31" fmla="*/ 2147483647 h 462"/>
              <a:gd name="T32" fmla="*/ 2147483647 w 1470"/>
              <a:gd name="T33" fmla="*/ 2147483647 h 462"/>
              <a:gd name="T34" fmla="*/ 2147483647 w 1470"/>
              <a:gd name="T35" fmla="*/ 2147483647 h 462"/>
              <a:gd name="T36" fmla="*/ 2147483647 w 1470"/>
              <a:gd name="T37" fmla="*/ 2147483647 h 462"/>
              <a:gd name="T38" fmla="*/ 2147483647 w 1470"/>
              <a:gd name="T39" fmla="*/ 2147483647 h 462"/>
              <a:gd name="T40" fmla="*/ 2147483647 w 1470"/>
              <a:gd name="T41" fmla="*/ 2147483647 h 462"/>
              <a:gd name="T42" fmla="*/ 2147483647 w 1470"/>
              <a:gd name="T43" fmla="*/ 2147483647 h 462"/>
              <a:gd name="T44" fmla="*/ 2147483647 w 1470"/>
              <a:gd name="T45" fmla="*/ 2147483647 h 462"/>
              <a:gd name="T46" fmla="*/ 2147483647 w 1470"/>
              <a:gd name="T47" fmla="*/ 2147483647 h 462"/>
              <a:gd name="T48" fmla="*/ 2147483647 w 1470"/>
              <a:gd name="T49" fmla="*/ 2147483647 h 462"/>
              <a:gd name="T50" fmla="*/ 2147483647 w 1470"/>
              <a:gd name="T51" fmla="*/ 2147483647 h 462"/>
              <a:gd name="T52" fmla="*/ 2147483647 w 1470"/>
              <a:gd name="T53" fmla="*/ 2147483647 h 462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1470"/>
              <a:gd name="T82" fmla="*/ 0 h 462"/>
              <a:gd name="T83" fmla="*/ 1470 w 1470"/>
              <a:gd name="T84" fmla="*/ 462 h 462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1470" h="462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8" name="Oval 20"/>
          <p:cNvSpPr>
            <a:spLocks noChangeArrowheads="1"/>
          </p:cNvSpPr>
          <p:nvPr/>
        </p:nvSpPr>
        <p:spPr bwMode="auto">
          <a:xfrm>
            <a:off x="3810000" y="3352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i</a:t>
            </a:r>
            <a:endParaRPr lang="en-US" sz="1400"/>
          </a:p>
        </p:txBody>
      </p:sp>
      <p:sp>
        <p:nvSpPr>
          <p:cNvPr id="36879" name="Oval 21"/>
          <p:cNvSpPr>
            <a:spLocks noChangeArrowheads="1"/>
          </p:cNvSpPr>
          <p:nvPr/>
        </p:nvSpPr>
        <p:spPr bwMode="auto">
          <a:xfrm>
            <a:off x="4572000" y="3352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/>
            <a:r>
              <a:rPr lang="en-US" sz="1400"/>
              <a:t>q</a:t>
            </a:r>
            <a:r>
              <a:rPr lang="en-US" sz="1400" baseline="-25000"/>
              <a:t>j</a:t>
            </a:r>
            <a:endParaRPr lang="en-US" sz="1400"/>
          </a:p>
        </p:txBody>
      </p:sp>
      <p:sp>
        <p:nvSpPr>
          <p:cNvPr id="36880" name="Line 22"/>
          <p:cNvSpPr>
            <a:spLocks noChangeShapeType="1"/>
          </p:cNvSpPr>
          <p:nvPr/>
        </p:nvSpPr>
        <p:spPr bwMode="auto">
          <a:xfrm>
            <a:off x="4191000" y="3505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1" name="Text Box 23"/>
          <p:cNvSpPr txBox="1">
            <a:spLocks noChangeArrowheads="1"/>
          </p:cNvSpPr>
          <p:nvPr/>
        </p:nvSpPr>
        <p:spPr bwMode="auto">
          <a:xfrm>
            <a:off x="4251325" y="3276600"/>
            <a:ext cx="2682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a</a:t>
            </a:r>
            <a:endParaRPr lang="en-US"/>
          </a:p>
        </p:txBody>
      </p:sp>
      <p:grpSp>
        <p:nvGrpSpPr>
          <p:cNvPr id="36882" name="Group 28"/>
          <p:cNvGrpSpPr>
            <a:grpSpLocks/>
          </p:cNvGrpSpPr>
          <p:nvPr/>
        </p:nvGrpSpPr>
        <p:grpSpPr bwMode="auto">
          <a:xfrm>
            <a:off x="2438400" y="2362200"/>
            <a:ext cx="3733800" cy="2667000"/>
            <a:chOff x="1152" y="1536"/>
            <a:chExt cx="2352" cy="1680"/>
          </a:xfrm>
        </p:grpSpPr>
        <p:sp>
          <p:nvSpPr>
            <p:cNvPr id="36893" name="Line 24"/>
            <p:cNvSpPr>
              <a:spLocks noChangeShapeType="1"/>
            </p:cNvSpPr>
            <p:nvPr/>
          </p:nvSpPr>
          <p:spPr bwMode="auto">
            <a:xfrm>
              <a:off x="1152" y="1536"/>
              <a:ext cx="0" cy="16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4" name="Line 25"/>
            <p:cNvSpPr>
              <a:spLocks noChangeShapeType="1"/>
            </p:cNvSpPr>
            <p:nvPr/>
          </p:nvSpPr>
          <p:spPr bwMode="auto">
            <a:xfrm>
              <a:off x="1152" y="1536"/>
              <a:ext cx="235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5" name="Line 26"/>
            <p:cNvSpPr>
              <a:spLocks noChangeShapeType="1"/>
            </p:cNvSpPr>
            <p:nvPr/>
          </p:nvSpPr>
          <p:spPr bwMode="auto">
            <a:xfrm>
              <a:off x="3504" y="1536"/>
              <a:ext cx="0" cy="16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6" name="Line 27"/>
            <p:cNvSpPr>
              <a:spLocks noChangeShapeType="1"/>
            </p:cNvSpPr>
            <p:nvPr/>
          </p:nvSpPr>
          <p:spPr bwMode="auto">
            <a:xfrm>
              <a:off x="1152" y="3216"/>
              <a:ext cx="235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883" name="Text Box 30"/>
          <p:cNvSpPr txBox="1">
            <a:spLocks noChangeArrowheads="1"/>
          </p:cNvSpPr>
          <p:nvPr/>
        </p:nvSpPr>
        <p:spPr bwMode="auto">
          <a:xfrm>
            <a:off x="2422525" y="2381250"/>
            <a:ext cx="12715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6600"/>
                </a:solidFill>
              </a:rPr>
              <a:t>DFA for L</a:t>
            </a:r>
            <a:endParaRPr lang="en-US"/>
          </a:p>
        </p:txBody>
      </p:sp>
      <p:sp>
        <p:nvSpPr>
          <p:cNvPr id="36884" name="Line 31"/>
          <p:cNvSpPr>
            <a:spLocks noChangeShapeType="1"/>
          </p:cNvSpPr>
          <p:nvPr/>
        </p:nvSpPr>
        <p:spPr bwMode="auto">
          <a:xfrm>
            <a:off x="2438400" y="3505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5" name="Freeform 52"/>
          <p:cNvSpPr>
            <a:spLocks/>
          </p:cNvSpPr>
          <p:nvPr/>
        </p:nvSpPr>
        <p:spPr bwMode="auto">
          <a:xfrm>
            <a:off x="4953000" y="3535363"/>
            <a:ext cx="522288" cy="23812"/>
          </a:xfrm>
          <a:custGeom>
            <a:avLst/>
            <a:gdLst>
              <a:gd name="T0" fmla="*/ 0 w 522514"/>
              <a:gd name="T1" fmla="*/ 20753 h 24047"/>
              <a:gd name="T2" fmla="*/ 173046 w 522514"/>
              <a:gd name="T3" fmla="*/ 11359 h 24047"/>
              <a:gd name="T4" fmla="*/ 281199 w 522514"/>
              <a:gd name="T5" fmla="*/ 1963 h 24047"/>
              <a:gd name="T6" fmla="*/ 346091 w 522514"/>
              <a:gd name="T7" fmla="*/ 20753 h 24047"/>
              <a:gd name="T8" fmla="*/ 519133 w 522514"/>
              <a:gd name="T9" fmla="*/ 20753 h 240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2514"/>
              <a:gd name="T16" fmla="*/ 0 h 24047"/>
              <a:gd name="T17" fmla="*/ 522514 w 522514"/>
              <a:gd name="T18" fmla="*/ 24047 h 240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2514" h="24047">
                <a:moveTo>
                  <a:pt x="0" y="24047"/>
                </a:moveTo>
                <a:lnTo>
                  <a:pt x="174171" y="13161"/>
                </a:lnTo>
                <a:cubicBezTo>
                  <a:pt x="210531" y="10364"/>
                  <a:pt x="246633" y="0"/>
                  <a:pt x="283029" y="2275"/>
                </a:cubicBezTo>
                <a:cubicBezTo>
                  <a:pt x="305933" y="3707"/>
                  <a:pt x="325394" y="24047"/>
                  <a:pt x="348343" y="24047"/>
                </a:cubicBezTo>
                <a:lnTo>
                  <a:pt x="522514" y="24047"/>
                </a:lnTo>
              </a:path>
            </a:pathLst>
          </a:custGeom>
          <a:solidFill>
            <a:schemeClr val="bg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886" name="Freeform 53"/>
          <p:cNvSpPr>
            <a:spLocks/>
          </p:cNvSpPr>
          <p:nvPr/>
        </p:nvSpPr>
        <p:spPr bwMode="auto">
          <a:xfrm>
            <a:off x="3200400" y="3482975"/>
            <a:ext cx="598488" cy="46038"/>
          </a:xfrm>
          <a:custGeom>
            <a:avLst/>
            <a:gdLst>
              <a:gd name="T0" fmla="*/ 0 w 522514"/>
              <a:gd name="T1" fmla="*/ 777907542 h 24047"/>
              <a:gd name="T2" fmla="*/ 1529187 w 522514"/>
              <a:gd name="T3" fmla="*/ 425753343 h 24047"/>
              <a:gd name="T4" fmla="*/ 2484929 w 522514"/>
              <a:gd name="T5" fmla="*/ 73588148 h 24047"/>
              <a:gd name="T6" fmla="*/ 3058381 w 522514"/>
              <a:gd name="T7" fmla="*/ 777907542 h 24047"/>
              <a:gd name="T8" fmla="*/ 4587560 w 522514"/>
              <a:gd name="T9" fmla="*/ 777907542 h 240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2514"/>
              <a:gd name="T16" fmla="*/ 0 h 24047"/>
              <a:gd name="T17" fmla="*/ 522514 w 522514"/>
              <a:gd name="T18" fmla="*/ 24047 h 240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2514" h="24047">
                <a:moveTo>
                  <a:pt x="0" y="24047"/>
                </a:moveTo>
                <a:lnTo>
                  <a:pt x="174171" y="13161"/>
                </a:lnTo>
                <a:cubicBezTo>
                  <a:pt x="210531" y="10364"/>
                  <a:pt x="246633" y="0"/>
                  <a:pt x="283029" y="2275"/>
                </a:cubicBezTo>
                <a:cubicBezTo>
                  <a:pt x="305933" y="3707"/>
                  <a:pt x="325394" y="24047"/>
                  <a:pt x="348343" y="24047"/>
                </a:cubicBezTo>
                <a:lnTo>
                  <a:pt x="522514" y="24047"/>
                </a:lnTo>
              </a:path>
            </a:pathLst>
          </a:custGeom>
          <a:solidFill>
            <a:schemeClr val="bg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914400" y="5638800"/>
            <a:ext cx="7923213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-"/>
            </a:pPr>
            <a:r>
              <a:rPr lang="en-US"/>
              <a:t> Build a new FA that simulates h(a) for every symbol a transition in </a:t>
            </a:r>
            <a:br>
              <a:rPr lang="en-US"/>
            </a:br>
            <a:r>
              <a:rPr lang="en-US"/>
              <a:t>		the above DFA</a:t>
            </a:r>
          </a:p>
          <a:p>
            <a:pPr>
              <a:buFontTx/>
              <a:buChar char="-"/>
            </a:pPr>
            <a:r>
              <a:rPr lang="en-US"/>
              <a:t> The resulting FA may or may not be a DFA, but will be a FA for h(L)</a:t>
            </a:r>
          </a:p>
        </p:txBody>
      </p:sp>
      <p:sp>
        <p:nvSpPr>
          <p:cNvPr id="56" name="Line Callout 2 55"/>
          <p:cNvSpPr>
            <a:spLocks/>
          </p:cNvSpPr>
          <p:nvPr/>
        </p:nvSpPr>
        <p:spPr bwMode="auto">
          <a:xfrm>
            <a:off x="6324600" y="1905000"/>
            <a:ext cx="2590800" cy="16764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82630"/>
              <a:gd name="adj6" fmla="val -76500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/>
              <a:t>Replace every </a:t>
            </a:r>
            <a:r>
              <a:rPr lang="en-US" u="sng"/>
              <a:t>edge</a:t>
            </a:r>
            <a:r>
              <a:rPr lang="en-US"/>
              <a:t> “a” by </a:t>
            </a:r>
            <a:br>
              <a:rPr lang="en-US"/>
            </a:br>
            <a:r>
              <a:rPr lang="en-US"/>
              <a:t>a </a:t>
            </a:r>
            <a:r>
              <a:rPr lang="en-US" u="sng"/>
              <a:t>path </a:t>
            </a:r>
            <a:r>
              <a:rPr lang="en-US"/>
              <a:t>labeled h(a) </a:t>
            </a:r>
            <a:br>
              <a:rPr lang="en-US"/>
            </a:br>
            <a:r>
              <a:rPr lang="en-US"/>
              <a:t>in the new DFA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152400"/>
            <a:ext cx="6645275" cy="4000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Given a DFA for L, how to convert it into an FA for h(L)?</a:t>
            </a:r>
          </a:p>
        </p:txBody>
      </p: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4202113" y="3592513"/>
            <a:ext cx="522287" cy="447675"/>
            <a:chOff x="4201886" y="3592286"/>
            <a:chExt cx="522490" cy="448675"/>
          </a:xfrm>
        </p:grpSpPr>
        <p:sp>
          <p:nvSpPr>
            <p:cNvPr id="36891" name="Freeform 29"/>
            <p:cNvSpPr>
              <a:spLocks/>
            </p:cNvSpPr>
            <p:nvPr/>
          </p:nvSpPr>
          <p:spPr bwMode="auto">
            <a:xfrm>
              <a:off x="4201886" y="3592286"/>
              <a:ext cx="402771" cy="184764"/>
            </a:xfrm>
            <a:custGeom>
              <a:avLst/>
              <a:gdLst>
                <a:gd name="T0" fmla="*/ 0 w 402771"/>
                <a:gd name="T1" fmla="*/ 0 h 184764"/>
                <a:gd name="T2" fmla="*/ 10885 w 402771"/>
                <a:gd name="T3" fmla="*/ 32657 h 184764"/>
                <a:gd name="T4" fmla="*/ 87085 w 402771"/>
                <a:gd name="T5" fmla="*/ 87085 h 184764"/>
                <a:gd name="T6" fmla="*/ 119743 w 402771"/>
                <a:gd name="T7" fmla="*/ 76200 h 184764"/>
                <a:gd name="T8" fmla="*/ 174171 w 402771"/>
                <a:gd name="T9" fmla="*/ 152400 h 184764"/>
                <a:gd name="T10" fmla="*/ 217714 w 402771"/>
                <a:gd name="T11" fmla="*/ 76200 h 184764"/>
                <a:gd name="T12" fmla="*/ 239485 w 402771"/>
                <a:gd name="T13" fmla="*/ 108857 h 184764"/>
                <a:gd name="T14" fmla="*/ 272143 w 402771"/>
                <a:gd name="T15" fmla="*/ 163285 h 184764"/>
                <a:gd name="T16" fmla="*/ 293914 w 402771"/>
                <a:gd name="T17" fmla="*/ 97971 h 184764"/>
                <a:gd name="T18" fmla="*/ 370114 w 402771"/>
                <a:gd name="T19" fmla="*/ 163285 h 184764"/>
                <a:gd name="T20" fmla="*/ 402771 w 402771"/>
                <a:gd name="T21" fmla="*/ 76200 h 18476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02771"/>
                <a:gd name="T34" fmla="*/ 0 h 184764"/>
                <a:gd name="T35" fmla="*/ 402771 w 402771"/>
                <a:gd name="T36" fmla="*/ 184764 h 18476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02771" h="184764">
                  <a:moveTo>
                    <a:pt x="0" y="0"/>
                  </a:moveTo>
                  <a:cubicBezTo>
                    <a:pt x="3628" y="10886"/>
                    <a:pt x="4216" y="23320"/>
                    <a:pt x="10885" y="32657"/>
                  </a:cubicBezTo>
                  <a:cubicBezTo>
                    <a:pt x="43170" y="77857"/>
                    <a:pt x="45784" y="73319"/>
                    <a:pt x="87085" y="87085"/>
                  </a:cubicBezTo>
                  <a:cubicBezTo>
                    <a:pt x="97971" y="83457"/>
                    <a:pt x="108710" y="79352"/>
                    <a:pt x="119743" y="76200"/>
                  </a:cubicBezTo>
                  <a:cubicBezTo>
                    <a:pt x="191356" y="55739"/>
                    <a:pt x="162035" y="55316"/>
                    <a:pt x="174171" y="152400"/>
                  </a:cubicBezTo>
                  <a:cubicBezTo>
                    <a:pt x="277567" y="117934"/>
                    <a:pt x="109150" y="184764"/>
                    <a:pt x="217714" y="76200"/>
                  </a:cubicBezTo>
                  <a:cubicBezTo>
                    <a:pt x="226965" y="66949"/>
                    <a:pt x="233634" y="97155"/>
                    <a:pt x="239485" y="108857"/>
                  </a:cubicBezTo>
                  <a:cubicBezTo>
                    <a:pt x="267746" y="165379"/>
                    <a:pt x="229619" y="120763"/>
                    <a:pt x="272143" y="163285"/>
                  </a:cubicBezTo>
                  <a:cubicBezTo>
                    <a:pt x="279400" y="141514"/>
                    <a:pt x="277687" y="81744"/>
                    <a:pt x="293914" y="97971"/>
                  </a:cubicBezTo>
                  <a:cubicBezTo>
                    <a:pt x="346708" y="150765"/>
                    <a:pt x="320378" y="130128"/>
                    <a:pt x="370114" y="163285"/>
                  </a:cubicBezTo>
                  <a:cubicBezTo>
                    <a:pt x="381900" y="68999"/>
                    <a:pt x="351746" y="76200"/>
                    <a:pt x="402771" y="76200"/>
                  </a:cubicBezTo>
                </a:path>
              </a:pathLst>
            </a:cu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2" name="Text Box 23"/>
            <p:cNvSpPr txBox="1">
              <a:spLocks noChangeArrowheads="1"/>
            </p:cNvSpPr>
            <p:nvPr/>
          </p:nvSpPr>
          <p:spPr bwMode="auto">
            <a:xfrm>
              <a:off x="4267200" y="3763962"/>
              <a:ext cx="45717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>
                  <a:solidFill>
                    <a:srgbClr val="C00000"/>
                  </a:solidFill>
                </a:rPr>
                <a:t>h(a)</a:t>
              </a:r>
              <a:endParaRPr lang="en-US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F998F54-2C8C-432D-90F3-1574F1D08451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Inverse homomorphism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Let h: ∑---&gt;T*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Let M be a language over alphabet T 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h</a:t>
            </a:r>
            <a:r>
              <a:rPr lang="en-US" sz="2800" baseline="30000"/>
              <a:t>-1</a:t>
            </a:r>
            <a:r>
              <a:rPr lang="en-US" sz="2800"/>
              <a:t>(M) = {w | w </a:t>
            </a:r>
            <a:r>
              <a:rPr lang="en-US" sz="2800">
                <a:sym typeface="Symbol" pitchFamily="28" charset="2"/>
              </a:rPr>
              <a:t> </a:t>
            </a:r>
            <a:r>
              <a:rPr lang="en-US" sz="2800"/>
              <a:t>∑* s.t., h(w) </a:t>
            </a:r>
            <a:r>
              <a:rPr lang="en-US" sz="2800">
                <a:sym typeface="Symbol" pitchFamily="28" charset="2"/>
              </a:rPr>
              <a:t> </a:t>
            </a:r>
            <a:r>
              <a:rPr lang="en-US" sz="2800"/>
              <a:t>M }</a:t>
            </a:r>
          </a:p>
          <a:p>
            <a:pPr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800" i="1" u="sng">
                <a:solidFill>
                  <a:srgbClr val="FF0000"/>
                </a:solidFill>
              </a:rPr>
              <a:t>Claim:</a:t>
            </a:r>
            <a:r>
              <a:rPr lang="en-US" sz="2800" i="1">
                <a:solidFill>
                  <a:srgbClr val="FF0000"/>
                </a:solidFill>
              </a:rPr>
              <a:t> If M is regular, then so is h</a:t>
            </a:r>
            <a:r>
              <a:rPr lang="en-US" sz="2800" i="1" baseline="30000">
                <a:solidFill>
                  <a:srgbClr val="FF0000"/>
                </a:solidFill>
              </a:rPr>
              <a:t>-1</a:t>
            </a:r>
            <a:r>
              <a:rPr lang="en-US" sz="2800" i="1">
                <a:solidFill>
                  <a:srgbClr val="FF0000"/>
                </a:solidFill>
              </a:rPr>
              <a:t>(M)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u="sng"/>
              <a:t>Proof: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Let A be a DFA for 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Construct another DFA A’ which encodes h</a:t>
            </a:r>
            <a:r>
              <a:rPr lang="en-US" sz="2400" baseline="30000"/>
              <a:t>-1</a:t>
            </a:r>
            <a:r>
              <a:rPr lang="en-US" sz="2400"/>
              <a:t>(M)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A’ is an exact replica of A, except that its transition functions are s.t. for any input symbol </a:t>
            </a:r>
            <a:r>
              <a:rPr lang="en-US" sz="2400" i="1"/>
              <a:t>a</a:t>
            </a:r>
            <a:r>
              <a:rPr lang="en-US" sz="2400"/>
              <a:t> in ∑, A’ will simulate </a:t>
            </a:r>
            <a:r>
              <a:rPr lang="en-US" sz="2400" i="1"/>
              <a:t>h(a) </a:t>
            </a:r>
            <a:r>
              <a:rPr lang="en-US" sz="2400"/>
              <a:t>in A. </a:t>
            </a:r>
          </a:p>
          <a:p>
            <a:pPr lvl="2" eaLnBrk="1" hangingPunct="1">
              <a:lnSpc>
                <a:spcPct val="90000"/>
              </a:lnSpc>
            </a:pPr>
            <a:r>
              <a:rPr lang="el-GR" sz="2000">
                <a:solidFill>
                  <a:srgbClr val="993300"/>
                </a:solidFill>
                <a:latin typeface="Lucida Grande" pitchFamily="28" charset="0"/>
                <a:cs typeface="Tahoma" pitchFamily="28" charset="0"/>
              </a:rPr>
              <a:t>δ(p,a) = δ(p,h(a))</a:t>
            </a:r>
            <a:r>
              <a:rPr lang="en-US" sz="2000"/>
              <a:t> </a:t>
            </a:r>
          </a:p>
        </p:txBody>
      </p:sp>
      <p:grpSp>
        <p:nvGrpSpPr>
          <p:cNvPr id="37893" name="Group 6"/>
          <p:cNvGrpSpPr>
            <a:grpSpLocks/>
          </p:cNvGrpSpPr>
          <p:nvPr/>
        </p:nvGrpSpPr>
        <p:grpSpPr bwMode="auto">
          <a:xfrm>
            <a:off x="3352800" y="6172200"/>
            <a:ext cx="152400" cy="76200"/>
            <a:chOff x="192" y="3744"/>
            <a:chExt cx="192" cy="48"/>
          </a:xfrm>
        </p:grpSpPr>
        <p:sp>
          <p:nvSpPr>
            <p:cNvPr id="37896" name="Line 4"/>
            <p:cNvSpPr>
              <a:spLocks noChangeShapeType="1"/>
            </p:cNvSpPr>
            <p:nvPr/>
          </p:nvSpPr>
          <p:spPr bwMode="auto">
            <a:xfrm flipV="1">
              <a:off x="192" y="3744"/>
              <a:ext cx="96" cy="48"/>
            </a:xfrm>
            <a:prstGeom prst="line">
              <a:avLst/>
            </a:prstGeom>
            <a:noFill/>
            <a:ln w="9525">
              <a:solidFill>
                <a:srgbClr val="99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7" name="Line 5"/>
            <p:cNvSpPr>
              <a:spLocks noChangeShapeType="1"/>
            </p:cNvSpPr>
            <p:nvPr/>
          </p:nvSpPr>
          <p:spPr bwMode="auto">
            <a:xfrm>
              <a:off x="288" y="3744"/>
              <a:ext cx="96" cy="48"/>
            </a:xfrm>
            <a:prstGeom prst="line">
              <a:avLst/>
            </a:prstGeom>
            <a:noFill/>
            <a:ln w="9525">
              <a:solidFill>
                <a:srgbClr val="99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184900" y="152400"/>
            <a:ext cx="2959100" cy="10160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500"/>
              <a:t>The set of strings in ∑* </a:t>
            </a:r>
            <a:br>
              <a:rPr lang="en-US" sz="1500"/>
            </a:br>
            <a:r>
              <a:rPr lang="en-US" sz="1500"/>
              <a:t>whose homomorphic translation </a:t>
            </a:r>
            <a:br>
              <a:rPr lang="en-US" sz="1500"/>
            </a:br>
            <a:r>
              <a:rPr lang="en-US" sz="1500"/>
              <a:t>results in the strings of M </a:t>
            </a:r>
          </a:p>
          <a:p>
            <a:endParaRPr lang="en-US" sz="1500"/>
          </a:p>
        </p:txBody>
      </p:sp>
      <p:sp>
        <p:nvSpPr>
          <p:cNvPr id="10" name="TextBox 9"/>
          <p:cNvSpPr txBox="1"/>
          <p:nvPr/>
        </p:nvSpPr>
        <p:spPr>
          <a:xfrm>
            <a:off x="0" y="152400"/>
            <a:ext cx="5519738" cy="3381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/>
              <a:t>Given a DFA for M, how to convert it into an FA for h</a:t>
            </a:r>
            <a:r>
              <a:rPr lang="en-US" sz="1600" baseline="30000" dirty="0"/>
              <a:t>-1</a:t>
            </a:r>
            <a:r>
              <a:rPr lang="en-US" sz="1600" dirty="0"/>
              <a:t>(M)?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3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37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37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build="p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23CE201-5FDD-438C-A21E-F54DBFDDB47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Decision properties of regular languages</a:t>
            </a:r>
          </a:p>
        </p:txBody>
      </p:sp>
      <p:sp>
        <p:nvSpPr>
          <p:cNvPr id="38916" name="Rounded Rectangle 4"/>
          <p:cNvSpPr>
            <a:spLocks noChangeArrowheads="1"/>
          </p:cNvSpPr>
          <p:nvPr/>
        </p:nvSpPr>
        <p:spPr bwMode="auto">
          <a:xfrm>
            <a:off x="3276600" y="4248150"/>
            <a:ext cx="1676400" cy="1371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en-US"/>
              <a:t>Decision problem solver</a:t>
            </a:r>
          </a:p>
        </p:txBody>
      </p:sp>
      <p:cxnSp>
        <p:nvCxnSpPr>
          <p:cNvPr id="38917" name="Straight Arrow Connector 6"/>
          <p:cNvCxnSpPr>
            <a:cxnSpLocks noChangeShapeType="1"/>
            <a:endCxn id="38916" idx="1"/>
          </p:cNvCxnSpPr>
          <p:nvPr/>
        </p:nvCxnSpPr>
        <p:spPr bwMode="auto">
          <a:xfrm>
            <a:off x="2514600" y="4933950"/>
            <a:ext cx="762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8918" name="TextBox 7"/>
          <p:cNvSpPr txBox="1">
            <a:spLocks noChangeArrowheads="1"/>
          </p:cNvSpPr>
          <p:nvPr/>
        </p:nvSpPr>
        <p:spPr bwMode="auto">
          <a:xfrm>
            <a:off x="1905000" y="4552950"/>
            <a:ext cx="1452563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Input</a:t>
            </a:r>
            <a:br>
              <a:rPr lang="en-US"/>
            </a:br>
            <a:r>
              <a:rPr lang="en-US"/>
              <a:t>(generally</a:t>
            </a:r>
            <a:br>
              <a:rPr lang="en-US"/>
            </a:br>
            <a:r>
              <a:rPr lang="en-US"/>
              <a:t>a question)</a:t>
            </a:r>
          </a:p>
        </p:txBody>
      </p:sp>
      <p:cxnSp>
        <p:nvCxnSpPr>
          <p:cNvPr id="38919" name="Straight Arrow Connector 9"/>
          <p:cNvCxnSpPr>
            <a:cxnSpLocks noChangeShapeType="1"/>
          </p:cNvCxnSpPr>
          <p:nvPr/>
        </p:nvCxnSpPr>
        <p:spPr bwMode="auto">
          <a:xfrm flipV="1">
            <a:off x="4953000" y="4324350"/>
            <a:ext cx="685800" cy="381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38920" name="Straight Arrow Connector 11"/>
          <p:cNvCxnSpPr>
            <a:cxnSpLocks noChangeShapeType="1"/>
          </p:cNvCxnSpPr>
          <p:nvPr/>
        </p:nvCxnSpPr>
        <p:spPr bwMode="auto">
          <a:xfrm>
            <a:off x="5029200" y="5162550"/>
            <a:ext cx="685800" cy="3810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8921" name="TextBox 12"/>
          <p:cNvSpPr txBox="1">
            <a:spLocks noChangeArrowheads="1"/>
          </p:cNvSpPr>
          <p:nvPr/>
        </p:nvSpPr>
        <p:spPr bwMode="auto">
          <a:xfrm>
            <a:off x="5867400" y="4095750"/>
            <a:ext cx="6032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Yes</a:t>
            </a:r>
          </a:p>
        </p:txBody>
      </p:sp>
      <p:sp>
        <p:nvSpPr>
          <p:cNvPr id="38922" name="TextBox 13"/>
          <p:cNvSpPr txBox="1">
            <a:spLocks noChangeArrowheads="1"/>
          </p:cNvSpPr>
          <p:nvPr/>
        </p:nvSpPr>
        <p:spPr bwMode="auto">
          <a:xfrm>
            <a:off x="5943600" y="5314950"/>
            <a:ext cx="5127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No</a:t>
            </a:r>
          </a:p>
        </p:txBody>
      </p:sp>
      <p:sp>
        <p:nvSpPr>
          <p:cNvPr id="38923" name="TextBox 14"/>
          <p:cNvSpPr txBox="1">
            <a:spLocks noChangeArrowheads="1"/>
          </p:cNvSpPr>
          <p:nvPr/>
        </p:nvSpPr>
        <p:spPr bwMode="auto">
          <a:xfrm>
            <a:off x="762000" y="3505200"/>
            <a:ext cx="44735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/>
              <a:t>Any “decision problem” looks like this: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78B7595-3EBC-40DF-9795-AC8AE8132218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Membership question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u="sng"/>
              <a:t>Decision Problem:</a:t>
            </a:r>
            <a:r>
              <a:rPr lang="en-US"/>
              <a:t> Given L, is w in L?</a:t>
            </a:r>
          </a:p>
          <a:p>
            <a:pPr eaLnBrk="1" hangingPunct="1"/>
            <a:r>
              <a:rPr lang="en-US" u="sng"/>
              <a:t>Possible answers:</a:t>
            </a:r>
            <a:r>
              <a:rPr lang="en-US"/>
              <a:t> Yes or No</a:t>
            </a:r>
          </a:p>
          <a:p>
            <a:pPr eaLnBrk="1" hangingPunct="1"/>
            <a:r>
              <a:rPr lang="en-US" u="sng"/>
              <a:t>Approach:</a:t>
            </a:r>
            <a:endParaRPr lang="en-US"/>
          </a:p>
          <a:p>
            <a:pPr marL="971550" lvl="1" indent="-514350" eaLnBrk="1" hangingPunct="1">
              <a:buFont typeface="Arial" charset="0"/>
              <a:buAutoNum type="arabicPeriod"/>
            </a:pPr>
            <a:r>
              <a:rPr lang="en-US"/>
              <a:t>Build a DFA for L</a:t>
            </a:r>
          </a:p>
          <a:p>
            <a:pPr marL="971550" lvl="1" indent="-514350" eaLnBrk="1" hangingPunct="1">
              <a:buFont typeface="Arial" charset="0"/>
              <a:buAutoNum type="arabicPeriod"/>
            </a:pPr>
            <a:r>
              <a:rPr lang="en-US"/>
              <a:t>Input w to the DFA</a:t>
            </a:r>
          </a:p>
          <a:p>
            <a:pPr marL="971550" lvl="1" indent="-514350" eaLnBrk="1" hangingPunct="1">
              <a:buFont typeface="Arial" charset="0"/>
              <a:buAutoNum type="arabicPeriod"/>
            </a:pPr>
            <a:r>
              <a:rPr lang="en-US"/>
              <a:t>If the DFA ends in an accepting state, then yes; otherwise no.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B1D0C79-B5D5-4915-8742-BB762AFD1137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Emptiness test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u="sng"/>
              <a:t>Decision Problem: </a:t>
            </a:r>
            <a:r>
              <a:rPr lang="en-US" sz="2800"/>
              <a:t>Is L=Ø ?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u="sng"/>
              <a:t>Approach:</a:t>
            </a:r>
            <a:endParaRPr lang="en-US" sz="2800"/>
          </a:p>
          <a:p>
            <a:pPr marL="914400" lvl="1" indent="-457200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sz="2400"/>
              <a:t>On a DFA for L:</a:t>
            </a:r>
          </a:p>
          <a:p>
            <a:pPr marL="914400" lvl="1" indent="-4572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400"/>
              <a:t>From the start state, run a </a:t>
            </a:r>
            <a:r>
              <a:rPr lang="en-US" sz="2400" i="1"/>
              <a:t>reachability </a:t>
            </a:r>
            <a:r>
              <a:rPr lang="en-US" sz="2400"/>
              <a:t>test, which returns:</a:t>
            </a:r>
          </a:p>
          <a:p>
            <a:pPr marL="1371600" lvl="2" indent="-4572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000" u="sng"/>
              <a:t>success:</a:t>
            </a:r>
            <a:r>
              <a:rPr lang="en-US" sz="2000"/>
              <a:t> if there is at least one final state that is reachable from the start state</a:t>
            </a:r>
          </a:p>
          <a:p>
            <a:pPr marL="1371600" lvl="2" indent="-4572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000" u="sng"/>
              <a:t>failure:</a:t>
            </a:r>
            <a:r>
              <a:rPr lang="en-US" sz="2000"/>
              <a:t>  otherwise</a:t>
            </a:r>
          </a:p>
          <a:p>
            <a:pPr marL="914400" lvl="1" indent="-4572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 sz="2400"/>
              <a:t>L=Ø if and only if the reachability test fails</a:t>
            </a:r>
          </a:p>
          <a:p>
            <a:pPr eaLnBrk="1" hangingPunct="1">
              <a:lnSpc>
                <a:spcPct val="90000"/>
              </a:lnSpc>
            </a:pPr>
            <a:endParaRPr lang="en-US" sz="280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09600" y="5943600"/>
            <a:ext cx="4657725" cy="4000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How to implement the reachability test?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build="p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BFC76A-BCD4-4BB8-ACEC-7ED34B0D1B3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Finiteness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2017713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u="sng" dirty="0"/>
              <a:t>Decision Problem:</a:t>
            </a:r>
            <a:r>
              <a:rPr lang="en-US" sz="2400" dirty="0"/>
              <a:t> Is L finite or infinite?</a:t>
            </a:r>
          </a:p>
          <a:p>
            <a:pPr eaLnBrk="1" hangingPunct="1">
              <a:defRPr/>
            </a:pPr>
            <a:r>
              <a:rPr lang="en-US" sz="2400" u="sng" dirty="0"/>
              <a:t>Approach:</a:t>
            </a:r>
          </a:p>
          <a:p>
            <a:pPr marL="914400" lvl="1" indent="-457200" eaLnBrk="1" hangingPunct="1">
              <a:buFont typeface="Wingdings" pitchFamily="28" charset="2"/>
              <a:buNone/>
              <a:defRPr/>
            </a:pPr>
            <a:r>
              <a:rPr lang="en-US" sz="2000" dirty="0"/>
              <a:t>On a DFA for L:</a:t>
            </a:r>
          </a:p>
          <a:p>
            <a:pPr marL="914400" lvl="1" indent="-457200" eaLnBrk="1" hangingPunct="1">
              <a:buFont typeface="+mj-lt"/>
              <a:buAutoNum type="arabicPeriod"/>
              <a:defRPr/>
            </a:pPr>
            <a:r>
              <a:rPr lang="en-US" sz="2000" dirty="0"/>
              <a:t>Remove all states unreachable from the start state</a:t>
            </a:r>
          </a:p>
          <a:p>
            <a:pPr marL="914400" lvl="1" indent="-457200" eaLnBrk="1" hangingPunct="1">
              <a:buFont typeface="+mj-lt"/>
              <a:buAutoNum type="arabicPeriod"/>
              <a:defRPr/>
            </a:pPr>
            <a:r>
              <a:rPr lang="en-US" sz="2000" dirty="0"/>
              <a:t>Remove all states that cannot lead to any accepting state.</a:t>
            </a:r>
          </a:p>
          <a:p>
            <a:pPr marL="914400" lvl="1" indent="-457200" eaLnBrk="1" hangingPunct="1">
              <a:buFont typeface="+mj-lt"/>
              <a:buAutoNum type="arabicPeriod"/>
              <a:defRPr/>
            </a:pPr>
            <a:r>
              <a:rPr lang="en-US" sz="2000" dirty="0"/>
              <a:t>After removal, check for cycles in the resulting FA</a:t>
            </a:r>
          </a:p>
          <a:p>
            <a:pPr marL="914400" lvl="1" indent="-457200" eaLnBrk="1" hangingPunct="1">
              <a:buFont typeface="+mj-lt"/>
              <a:buAutoNum type="arabicPeriod"/>
              <a:defRPr/>
            </a:pPr>
            <a:r>
              <a:rPr lang="en-US" sz="2000" dirty="0"/>
              <a:t>L is finite if there are no cycles; otherwise it is infinite</a:t>
            </a:r>
          </a:p>
          <a:p>
            <a:pPr eaLnBrk="1" hangingPunct="1">
              <a:defRPr/>
            </a:pPr>
            <a:r>
              <a:rPr lang="en-US" sz="2400" dirty="0"/>
              <a:t>Another approach</a:t>
            </a:r>
          </a:p>
          <a:p>
            <a:pPr lvl="1" eaLnBrk="1" hangingPunct="1">
              <a:defRPr/>
            </a:pPr>
            <a:r>
              <a:rPr lang="en-US" sz="2000" dirty="0"/>
              <a:t>Build a regular expression and look for </a:t>
            </a:r>
            <a:r>
              <a:rPr lang="en-US" sz="2000" dirty="0" err="1"/>
              <a:t>Kleene</a:t>
            </a:r>
            <a:r>
              <a:rPr lang="en-US" sz="2000" dirty="0"/>
              <a:t> closure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09600" y="5943600"/>
            <a:ext cx="3986213" cy="4000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How to implement steps 2 and 3?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3" grpId="0" build="p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Finiteness test - examples</a:t>
            </a:r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DE13ED-A22D-42D5-A392-C1E6BA744C06}" type="slidenum">
              <a:rPr lang="en-US" smtClean="0"/>
              <a:pPr/>
              <a:t>40</a:t>
            </a:fld>
            <a:endParaRPr lang="en-US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143000" y="4114800"/>
            <a:ext cx="5781675" cy="2471738"/>
            <a:chOff x="1143000" y="4324290"/>
            <a:chExt cx="5781263" cy="2472154"/>
          </a:xfrm>
        </p:grpSpPr>
        <p:grpSp>
          <p:nvGrpSpPr>
            <p:cNvPr id="43032" name="Group 12"/>
            <p:cNvGrpSpPr>
              <a:grpSpLocks/>
            </p:cNvGrpSpPr>
            <p:nvPr/>
          </p:nvGrpSpPr>
          <p:grpSpPr bwMode="auto">
            <a:xfrm>
              <a:off x="1143000" y="4324290"/>
              <a:ext cx="5781263" cy="2236736"/>
              <a:chOff x="1143000" y="4324290"/>
              <a:chExt cx="5781263" cy="2236736"/>
            </a:xfrm>
          </p:grpSpPr>
          <p:pic>
            <p:nvPicPr>
              <p:cNvPr id="43035" name="Picture 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1447801" y="4676775"/>
                <a:ext cx="5257800" cy="18842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3036" name="TextBox 7"/>
              <p:cNvSpPr txBox="1">
                <a:spLocks noChangeArrowheads="1"/>
              </p:cNvSpPr>
              <p:nvPr/>
            </p:nvSpPr>
            <p:spPr bwMode="auto">
              <a:xfrm>
                <a:off x="1143000" y="4324290"/>
                <a:ext cx="5781263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Ex 2) Is the language of this DFA finite or infinite?</a:t>
                </a:r>
              </a:p>
            </p:txBody>
          </p:sp>
        </p:grpSp>
        <p:sp>
          <p:nvSpPr>
            <p:cNvPr id="43033" name="Freeform 9"/>
            <p:cNvSpPr>
              <a:spLocks/>
            </p:cNvSpPr>
            <p:nvPr/>
          </p:nvSpPr>
          <p:spPr bwMode="auto">
            <a:xfrm>
              <a:off x="4332514" y="6379029"/>
              <a:ext cx="290286" cy="328385"/>
            </a:xfrm>
            <a:custGeom>
              <a:avLst/>
              <a:gdLst>
                <a:gd name="T0" fmla="*/ 174172 w 290286"/>
                <a:gd name="T1" fmla="*/ 0 h 328385"/>
                <a:gd name="T2" fmla="*/ 261257 w 290286"/>
                <a:gd name="T3" fmla="*/ 315685 h 328385"/>
                <a:gd name="T4" fmla="*/ 0 w 290286"/>
                <a:gd name="T5" fmla="*/ 76200 h 328385"/>
                <a:gd name="T6" fmla="*/ 0 60000 65536"/>
                <a:gd name="T7" fmla="*/ 0 60000 65536"/>
                <a:gd name="T8" fmla="*/ 0 60000 65536"/>
                <a:gd name="T9" fmla="*/ 0 w 290286"/>
                <a:gd name="T10" fmla="*/ 0 h 328385"/>
                <a:gd name="T11" fmla="*/ 290286 w 290286"/>
                <a:gd name="T12" fmla="*/ 328385 h 3283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0286" h="328385">
                  <a:moveTo>
                    <a:pt x="174172" y="0"/>
                  </a:moveTo>
                  <a:cubicBezTo>
                    <a:pt x="232229" y="151492"/>
                    <a:pt x="290286" y="302985"/>
                    <a:pt x="261257" y="315685"/>
                  </a:cubicBezTo>
                  <a:cubicBezTo>
                    <a:pt x="232228" y="328385"/>
                    <a:pt x="116114" y="202292"/>
                    <a:pt x="0" y="76200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34" name="TextBox 10"/>
            <p:cNvSpPr txBox="1">
              <a:spLocks noChangeArrowheads="1"/>
            </p:cNvSpPr>
            <p:nvPr/>
          </p:nvSpPr>
          <p:spPr bwMode="auto">
            <a:xfrm>
              <a:off x="4578320" y="6457890"/>
              <a:ext cx="29848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600"/>
                <a:t>1</a:t>
              </a:r>
            </a:p>
          </p:txBody>
        </p:sp>
      </p:grpSp>
      <p:sp>
        <p:nvSpPr>
          <p:cNvPr id="41989" name="TextBox 11"/>
          <p:cNvSpPr txBox="1">
            <a:spLocks noChangeArrowheads="1"/>
          </p:cNvSpPr>
          <p:nvPr/>
        </p:nvSpPr>
        <p:spPr bwMode="auto">
          <a:xfrm>
            <a:off x="4806950" y="5638800"/>
            <a:ext cx="298450" cy="3381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0</a:t>
            </a:r>
          </a:p>
        </p:txBody>
      </p:sp>
      <p:grpSp>
        <p:nvGrpSpPr>
          <p:cNvPr id="43014" name="Group 16"/>
          <p:cNvGrpSpPr>
            <a:grpSpLocks/>
          </p:cNvGrpSpPr>
          <p:nvPr/>
        </p:nvGrpSpPr>
        <p:grpSpPr bwMode="auto">
          <a:xfrm>
            <a:off x="-152400" y="1905000"/>
            <a:ext cx="9144000" cy="2312988"/>
            <a:chOff x="0" y="4419600"/>
            <a:chExt cx="9144000" cy="2312436"/>
          </a:xfrm>
        </p:grpSpPr>
        <p:pic>
          <p:nvPicPr>
            <p:cNvPr id="43029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47800" y="4876800"/>
              <a:ext cx="5176837" cy="1855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030" name="TextBox 5"/>
            <p:cNvSpPr txBox="1">
              <a:spLocks noChangeArrowheads="1"/>
            </p:cNvSpPr>
            <p:nvPr/>
          </p:nvSpPr>
          <p:spPr bwMode="auto">
            <a:xfrm>
              <a:off x="1143000" y="4552890"/>
              <a:ext cx="578126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Ex 1) Is the language of this DFA finite or infinite?</a:t>
              </a:r>
            </a:p>
          </p:txBody>
        </p:sp>
        <p:cxnSp>
          <p:nvCxnSpPr>
            <p:cNvPr id="43031" name="Straight Connector 15"/>
            <p:cNvCxnSpPr>
              <a:cxnSpLocks noChangeShapeType="1"/>
            </p:cNvCxnSpPr>
            <p:nvPr/>
          </p:nvCxnSpPr>
          <p:spPr bwMode="auto">
            <a:xfrm>
              <a:off x="0" y="4419600"/>
              <a:ext cx="9144000" cy="762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121400" y="2895600"/>
            <a:ext cx="508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6248400" y="5029200"/>
            <a:ext cx="7366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X</a:t>
            </a:r>
          </a:p>
        </p:txBody>
      </p:sp>
      <p:grpSp>
        <p:nvGrpSpPr>
          <p:cNvPr id="43017" name="Group 24"/>
          <p:cNvGrpSpPr>
            <a:grpSpLocks/>
          </p:cNvGrpSpPr>
          <p:nvPr/>
        </p:nvGrpSpPr>
        <p:grpSpPr bwMode="auto">
          <a:xfrm>
            <a:off x="2514600" y="3352800"/>
            <a:ext cx="1447800" cy="762000"/>
            <a:chOff x="2514600" y="3352800"/>
            <a:chExt cx="1447800" cy="762000"/>
          </a:xfrm>
        </p:grpSpPr>
        <p:sp>
          <p:nvSpPr>
            <p:cNvPr id="43024" name="Oval 16"/>
            <p:cNvSpPr>
              <a:spLocks noChangeArrowheads="1"/>
            </p:cNvSpPr>
            <p:nvPr/>
          </p:nvSpPr>
          <p:spPr bwMode="auto">
            <a:xfrm>
              <a:off x="2743200" y="3657600"/>
              <a:ext cx="457200" cy="457200"/>
            </a:xfrm>
            <a:prstGeom prst="ellipse">
              <a:avLst/>
            </a:prstGeom>
            <a:noFill/>
            <a:ln w="317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r>
                <a:rPr lang="en-US" sz="1000"/>
                <a:t>q</a:t>
              </a:r>
              <a:r>
                <a:rPr lang="en-US" sz="1000" baseline="-25000"/>
                <a:t>6</a:t>
              </a:r>
            </a:p>
          </p:txBody>
        </p:sp>
        <p:cxnSp>
          <p:nvCxnSpPr>
            <p:cNvPr id="43025" name="Straight Arrow Connector 18"/>
            <p:cNvCxnSpPr>
              <a:cxnSpLocks noChangeShapeType="1"/>
              <a:stCxn id="43024" idx="1"/>
            </p:cNvCxnSpPr>
            <p:nvPr/>
          </p:nvCxnSpPr>
          <p:spPr bwMode="auto">
            <a:xfrm flipH="1" flipV="1">
              <a:off x="2590800" y="3352800"/>
              <a:ext cx="219355" cy="37175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43026" name="Straight Arrow Connector 20"/>
            <p:cNvCxnSpPr>
              <a:cxnSpLocks noChangeShapeType="1"/>
              <a:stCxn id="43024" idx="6"/>
            </p:cNvCxnSpPr>
            <p:nvPr/>
          </p:nvCxnSpPr>
          <p:spPr bwMode="auto">
            <a:xfrm>
              <a:off x="3200400" y="3886200"/>
              <a:ext cx="762000" cy="762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43027" name="TextBox 22"/>
            <p:cNvSpPr txBox="1">
              <a:spLocks noChangeArrowheads="1"/>
            </p:cNvSpPr>
            <p:nvPr/>
          </p:nvSpPr>
          <p:spPr bwMode="auto">
            <a:xfrm>
              <a:off x="2514600" y="3505200"/>
              <a:ext cx="28405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0</a:t>
              </a:r>
            </a:p>
          </p:txBody>
        </p:sp>
        <p:sp>
          <p:nvSpPr>
            <p:cNvPr id="43028" name="TextBox 23"/>
            <p:cNvSpPr txBox="1">
              <a:spLocks noChangeArrowheads="1"/>
            </p:cNvSpPr>
            <p:nvPr/>
          </p:nvSpPr>
          <p:spPr bwMode="auto">
            <a:xfrm>
              <a:off x="3352800" y="3657600"/>
              <a:ext cx="28405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1</a:t>
              </a:r>
            </a:p>
          </p:txBody>
        </p:sp>
      </p:grp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209800" y="3581400"/>
            <a:ext cx="508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200400"/>
            <a:ext cx="996950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FINITE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0" y="5029200"/>
            <a:ext cx="1254125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INFINITE</a:t>
            </a:r>
          </a:p>
        </p:txBody>
      </p: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4724400" y="5410200"/>
            <a:ext cx="2819400" cy="798513"/>
            <a:chOff x="4724400" y="5410200"/>
            <a:chExt cx="2819400" cy="798982"/>
          </a:xfrm>
        </p:grpSpPr>
        <p:cxnSp>
          <p:nvCxnSpPr>
            <p:cNvPr id="43022" name="Straight Arrow Connector 29"/>
            <p:cNvCxnSpPr>
              <a:cxnSpLocks noChangeShapeType="1"/>
            </p:cNvCxnSpPr>
            <p:nvPr/>
          </p:nvCxnSpPr>
          <p:spPr bwMode="auto">
            <a:xfrm flipH="1">
              <a:off x="4724400" y="5410200"/>
              <a:ext cx="2819400" cy="762000"/>
            </a:xfrm>
            <a:prstGeom prst="straightConnector1">
              <a:avLst/>
            </a:prstGeom>
            <a:noFill/>
            <a:ln w="9525" algn="ctr">
              <a:solidFill>
                <a:srgbClr val="C00000"/>
              </a:solidFill>
              <a:round/>
              <a:headEnd/>
              <a:tailEnd type="arrow" w="med" len="med"/>
            </a:ln>
          </p:spPr>
        </p:cxnSp>
        <p:sp>
          <p:nvSpPr>
            <p:cNvPr id="43023" name="TextBox 30"/>
            <p:cNvSpPr txBox="1">
              <a:spLocks noChangeArrowheads="1"/>
            </p:cNvSpPr>
            <p:nvPr/>
          </p:nvSpPr>
          <p:spPr bwMode="auto">
            <a:xfrm rot="-1023801">
              <a:off x="5896036" y="5809072"/>
              <a:ext cx="136608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due to this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 animBg="1"/>
      <p:bldP spid="15" grpId="0"/>
      <p:bldP spid="16" grpId="0"/>
      <p:bldP spid="26" grpId="0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815A03E-F310-4D17-BBCA-843ECF4A28D1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Equivalence &amp; Minimization of DFAs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4BF77F4-BC3C-4E76-92C2-7E1DD57AF024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Applications of interest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Comparing two DFAs: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/>
              <a:t>L(DFA</a:t>
            </a:r>
            <a:r>
              <a:rPr lang="en-US" sz="2400" baseline="-25000" dirty="0"/>
              <a:t>1</a:t>
            </a:r>
            <a:r>
              <a:rPr lang="en-US" sz="2400" dirty="0"/>
              <a:t>) == L(DFA</a:t>
            </a:r>
            <a:r>
              <a:rPr lang="en-US" sz="2400" baseline="-25000" dirty="0"/>
              <a:t>2</a:t>
            </a:r>
            <a:r>
              <a:rPr lang="en-US" sz="2400" dirty="0"/>
              <a:t>)?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8" charset="2"/>
              <a:buNone/>
              <a:defRPr/>
            </a:pPr>
            <a:endParaRPr lang="en-US" sz="2000" dirty="0"/>
          </a:p>
          <a:p>
            <a:pPr eaLnBrk="1" hangingPunct="1">
              <a:lnSpc>
                <a:spcPct val="90000"/>
              </a:lnSpc>
              <a:defRPr/>
            </a:pPr>
            <a:endParaRPr lang="en-US" sz="2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/>
              <a:t>How to minimize a DFA?</a:t>
            </a:r>
          </a:p>
          <a:p>
            <a:pPr marL="914400" lvl="1" indent="-4572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400" dirty="0"/>
              <a:t>Remove unreachable states</a:t>
            </a:r>
          </a:p>
          <a:p>
            <a:pPr marL="914400" lvl="1" indent="-457200" eaLnBrk="1" hangingPunct="1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2400" dirty="0"/>
              <a:t>Identify &amp; condense equivalent states into one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1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E507E0-E639-4D1D-8692-4EAB95301A54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/>
              <a:t>When to call two states in a DFA “equivalent”?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8" charset="2"/>
              <a:buNone/>
            </a:pPr>
            <a:r>
              <a:rPr lang="en-US"/>
              <a:t>Two states p and q are said to be </a:t>
            </a:r>
            <a:r>
              <a:rPr lang="en-US" i="1">
                <a:solidFill>
                  <a:srgbClr val="FF0000"/>
                </a:solidFill>
              </a:rPr>
              <a:t>equivalent </a:t>
            </a:r>
            <a:r>
              <a:rPr lang="en-US"/>
              <a:t>iff: </a:t>
            </a:r>
          </a:p>
          <a:p>
            <a:pPr marL="1028700" lvl="1" indent="-571500" eaLnBrk="1" hangingPunct="1">
              <a:buFont typeface="Wingdings" pitchFamily="28" charset="2"/>
              <a:buAutoNum type="romanLcParenR"/>
            </a:pPr>
            <a:r>
              <a:rPr lang="en-US" sz="2000"/>
              <a:t>Any string w accepted by starting at p is also accepted by starting at q; </a:t>
            </a:r>
          </a:p>
          <a:p>
            <a:pPr marL="1028700" lvl="1" indent="-571500" eaLnBrk="1" hangingPunct="1">
              <a:buFont typeface="Wingdings" pitchFamily="28" charset="2"/>
              <a:buNone/>
            </a:pPr>
            <a:endParaRPr lang="en-US" sz="2000"/>
          </a:p>
          <a:p>
            <a:pPr marL="1028700" lvl="1" indent="-571500" eaLnBrk="1" hangingPunct="1">
              <a:buFont typeface="Wingdings" pitchFamily="28" charset="2"/>
              <a:buNone/>
            </a:pPr>
            <a:endParaRPr lang="en-US" sz="2000"/>
          </a:p>
          <a:p>
            <a:pPr marL="1028700" lvl="1" indent="-571500" eaLnBrk="1" hangingPunct="1">
              <a:buFont typeface="Wingdings" pitchFamily="28" charset="2"/>
              <a:buNone/>
            </a:pPr>
            <a:endParaRPr lang="en-US" sz="2000"/>
          </a:p>
          <a:p>
            <a:pPr marL="1028700" lvl="1" indent="-571500" eaLnBrk="1" hangingPunct="1">
              <a:buFont typeface="Wingdings" pitchFamily="28" charset="2"/>
              <a:buAutoNum type="romanLcParenR"/>
            </a:pPr>
            <a:r>
              <a:rPr lang="en-US" sz="2000"/>
              <a:t>Any string w rejected by starting at p is also rejected by starting at q.</a:t>
            </a:r>
          </a:p>
        </p:txBody>
      </p:sp>
      <p:sp>
        <p:nvSpPr>
          <p:cNvPr id="43013" name="Text Box 4"/>
          <p:cNvSpPr txBox="1">
            <a:spLocks noChangeArrowheads="1"/>
          </p:cNvSpPr>
          <p:nvPr/>
        </p:nvSpPr>
        <p:spPr bwMode="auto">
          <a:xfrm rot="-5400000">
            <a:off x="-1735137" y="4021137"/>
            <a:ext cx="4476750" cy="39687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Past doesn’t matter - only future does!</a:t>
            </a:r>
          </a:p>
        </p:txBody>
      </p:sp>
      <p:sp>
        <p:nvSpPr>
          <p:cNvPr id="46086" name="Oval 7"/>
          <p:cNvSpPr>
            <a:spLocks noChangeArrowheads="1"/>
          </p:cNvSpPr>
          <p:nvPr/>
        </p:nvSpPr>
        <p:spPr bwMode="auto">
          <a:xfrm>
            <a:off x="4419600" y="36576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sz="1600"/>
              <a:t>p</a:t>
            </a:r>
          </a:p>
        </p:txBody>
      </p:sp>
      <p:sp>
        <p:nvSpPr>
          <p:cNvPr id="46087" name="Oval 8"/>
          <p:cNvSpPr>
            <a:spLocks noChangeArrowheads="1"/>
          </p:cNvSpPr>
          <p:nvPr/>
        </p:nvSpPr>
        <p:spPr bwMode="auto">
          <a:xfrm>
            <a:off x="4419600" y="42672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sz="1600"/>
              <a:t>q</a:t>
            </a:r>
          </a:p>
        </p:txBody>
      </p:sp>
      <p:sp>
        <p:nvSpPr>
          <p:cNvPr id="46088" name="TextBox 9"/>
          <p:cNvSpPr txBox="1">
            <a:spLocks noChangeArrowheads="1"/>
          </p:cNvSpPr>
          <p:nvPr/>
        </p:nvSpPr>
        <p:spPr bwMode="auto">
          <a:xfrm>
            <a:off x="838200" y="4114800"/>
            <a:ext cx="7286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/>
              <a:t>AND</a:t>
            </a:r>
          </a:p>
        </p:txBody>
      </p:sp>
      <p:sp>
        <p:nvSpPr>
          <p:cNvPr id="46089" name="Freeform 11"/>
          <p:cNvSpPr>
            <a:spLocks/>
          </p:cNvSpPr>
          <p:nvPr/>
        </p:nvSpPr>
        <p:spPr bwMode="auto">
          <a:xfrm>
            <a:off x="4800600" y="3756025"/>
            <a:ext cx="1806575" cy="153988"/>
          </a:xfrm>
          <a:custGeom>
            <a:avLst/>
            <a:gdLst>
              <a:gd name="T0" fmla="*/ 0 w 1807029"/>
              <a:gd name="T1" fmla="*/ 76590 h 153928"/>
              <a:gd name="T2" fmla="*/ 32553 w 1807029"/>
              <a:gd name="T3" fmla="*/ 54702 h 153928"/>
              <a:gd name="T4" fmla="*/ 97646 w 1807029"/>
              <a:gd name="T5" fmla="*/ 32827 h 153928"/>
              <a:gd name="T6" fmla="*/ 249552 w 1807029"/>
              <a:gd name="T7" fmla="*/ 43764 h 153928"/>
              <a:gd name="T8" fmla="*/ 292952 w 1807029"/>
              <a:gd name="T9" fmla="*/ 76590 h 153928"/>
              <a:gd name="T10" fmla="*/ 390612 w 1807029"/>
              <a:gd name="T11" fmla="*/ 120354 h 153928"/>
              <a:gd name="T12" fmla="*/ 596764 w 1807029"/>
              <a:gd name="T13" fmla="*/ 109412 h 153928"/>
              <a:gd name="T14" fmla="*/ 629315 w 1807029"/>
              <a:gd name="T15" fmla="*/ 98466 h 153928"/>
              <a:gd name="T16" fmla="*/ 651011 w 1807029"/>
              <a:gd name="T17" fmla="*/ 76590 h 153928"/>
              <a:gd name="T18" fmla="*/ 705265 w 1807029"/>
              <a:gd name="T19" fmla="*/ 0 h 153928"/>
              <a:gd name="T20" fmla="*/ 911418 w 1807029"/>
              <a:gd name="T21" fmla="*/ 10938 h 153928"/>
              <a:gd name="T22" fmla="*/ 933116 w 1807029"/>
              <a:gd name="T23" fmla="*/ 32827 h 153928"/>
              <a:gd name="T24" fmla="*/ 965670 w 1807029"/>
              <a:gd name="T25" fmla="*/ 87528 h 153928"/>
              <a:gd name="T26" fmla="*/ 1063324 w 1807029"/>
              <a:gd name="T27" fmla="*/ 120354 h 153928"/>
              <a:gd name="T28" fmla="*/ 1367129 w 1807029"/>
              <a:gd name="T29" fmla="*/ 109412 h 153928"/>
              <a:gd name="T30" fmla="*/ 1475630 w 1807029"/>
              <a:gd name="T31" fmla="*/ 76590 h 153928"/>
              <a:gd name="T32" fmla="*/ 1508180 w 1807029"/>
              <a:gd name="T33" fmla="*/ 65647 h 153928"/>
              <a:gd name="T34" fmla="*/ 1562431 w 1807029"/>
              <a:gd name="T35" fmla="*/ 76590 h 153928"/>
              <a:gd name="T36" fmla="*/ 1605832 w 1807029"/>
              <a:gd name="T37" fmla="*/ 87528 h 153928"/>
              <a:gd name="T38" fmla="*/ 1801135 w 1807029"/>
              <a:gd name="T39" fmla="*/ 87528 h 15392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807029"/>
              <a:gd name="T61" fmla="*/ 0 h 153928"/>
              <a:gd name="T62" fmla="*/ 1807029 w 1807029"/>
              <a:gd name="T63" fmla="*/ 153928 h 15392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807029" h="153928">
                <a:moveTo>
                  <a:pt x="0" y="76200"/>
                </a:moveTo>
                <a:cubicBezTo>
                  <a:pt x="10886" y="68943"/>
                  <a:pt x="20702" y="59742"/>
                  <a:pt x="32657" y="54429"/>
                </a:cubicBezTo>
                <a:cubicBezTo>
                  <a:pt x="53628" y="45109"/>
                  <a:pt x="97971" y="32658"/>
                  <a:pt x="97971" y="32658"/>
                </a:cubicBezTo>
                <a:cubicBezTo>
                  <a:pt x="148771" y="36286"/>
                  <a:pt x="200654" y="32495"/>
                  <a:pt x="250371" y="43543"/>
                </a:cubicBezTo>
                <a:cubicBezTo>
                  <a:pt x="268082" y="47479"/>
                  <a:pt x="277687" y="68086"/>
                  <a:pt x="293914" y="76200"/>
                </a:cubicBezTo>
                <a:cubicBezTo>
                  <a:pt x="449369" y="153928"/>
                  <a:pt x="295823" y="55702"/>
                  <a:pt x="391886" y="119743"/>
                </a:cubicBezTo>
                <a:cubicBezTo>
                  <a:pt x="460829" y="116115"/>
                  <a:pt x="529959" y="115108"/>
                  <a:pt x="598714" y="108858"/>
                </a:cubicBezTo>
                <a:cubicBezTo>
                  <a:pt x="610141" y="107819"/>
                  <a:pt x="621532" y="103876"/>
                  <a:pt x="631371" y="97972"/>
                </a:cubicBezTo>
                <a:cubicBezTo>
                  <a:pt x="640172" y="92691"/>
                  <a:pt x="645886" y="83457"/>
                  <a:pt x="653143" y="76200"/>
                </a:cubicBezTo>
                <a:cubicBezTo>
                  <a:pt x="678543" y="0"/>
                  <a:pt x="653143" y="18143"/>
                  <a:pt x="707571" y="0"/>
                </a:cubicBezTo>
                <a:cubicBezTo>
                  <a:pt x="776514" y="3629"/>
                  <a:pt x="846055" y="1122"/>
                  <a:pt x="914400" y="10886"/>
                </a:cubicBezTo>
                <a:cubicBezTo>
                  <a:pt x="924560" y="12337"/>
                  <a:pt x="930891" y="23857"/>
                  <a:pt x="936171" y="32658"/>
                </a:cubicBezTo>
                <a:cubicBezTo>
                  <a:pt x="950811" y="57059"/>
                  <a:pt x="938488" y="73295"/>
                  <a:pt x="968829" y="87086"/>
                </a:cubicBezTo>
                <a:cubicBezTo>
                  <a:pt x="1000167" y="101330"/>
                  <a:pt x="1034143" y="108857"/>
                  <a:pt x="1066800" y="119743"/>
                </a:cubicBezTo>
                <a:cubicBezTo>
                  <a:pt x="1168400" y="116115"/>
                  <a:pt x="1270133" y="115200"/>
                  <a:pt x="1371600" y="108858"/>
                </a:cubicBezTo>
                <a:cubicBezTo>
                  <a:pt x="1391849" y="107592"/>
                  <a:pt x="1470832" y="79408"/>
                  <a:pt x="1480457" y="76200"/>
                </a:cubicBezTo>
                <a:lnTo>
                  <a:pt x="1513114" y="65315"/>
                </a:lnTo>
                <a:cubicBezTo>
                  <a:pt x="1531257" y="68943"/>
                  <a:pt x="1549481" y="72186"/>
                  <a:pt x="1567543" y="76200"/>
                </a:cubicBezTo>
                <a:cubicBezTo>
                  <a:pt x="1582148" y="79445"/>
                  <a:pt x="1596140" y="86407"/>
                  <a:pt x="1611086" y="87086"/>
                </a:cubicBezTo>
                <a:cubicBezTo>
                  <a:pt x="1676333" y="90052"/>
                  <a:pt x="1741715" y="87086"/>
                  <a:pt x="1807029" y="87086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090" name="Oval 12"/>
          <p:cNvSpPr>
            <a:spLocks noChangeArrowheads="1"/>
          </p:cNvSpPr>
          <p:nvPr/>
        </p:nvSpPr>
        <p:spPr bwMode="auto">
          <a:xfrm>
            <a:off x="6705600" y="36576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600"/>
          </a:p>
        </p:txBody>
      </p:sp>
      <p:sp>
        <p:nvSpPr>
          <p:cNvPr id="46091" name="Oval 13"/>
          <p:cNvSpPr>
            <a:spLocks noChangeArrowheads="1"/>
          </p:cNvSpPr>
          <p:nvPr/>
        </p:nvSpPr>
        <p:spPr bwMode="auto">
          <a:xfrm>
            <a:off x="6629400" y="3581400"/>
            <a:ext cx="533400" cy="533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2" name="Freeform 15"/>
          <p:cNvSpPr>
            <a:spLocks/>
          </p:cNvSpPr>
          <p:nvPr/>
        </p:nvSpPr>
        <p:spPr bwMode="auto">
          <a:xfrm>
            <a:off x="4837113" y="4329113"/>
            <a:ext cx="1806575" cy="153987"/>
          </a:xfrm>
          <a:custGeom>
            <a:avLst/>
            <a:gdLst>
              <a:gd name="T0" fmla="*/ 0 w 1807029"/>
              <a:gd name="T1" fmla="*/ 76577 h 153928"/>
              <a:gd name="T2" fmla="*/ 32553 w 1807029"/>
              <a:gd name="T3" fmla="*/ 54702 h 153928"/>
              <a:gd name="T4" fmla="*/ 97646 w 1807029"/>
              <a:gd name="T5" fmla="*/ 32827 h 153928"/>
              <a:gd name="T6" fmla="*/ 249552 w 1807029"/>
              <a:gd name="T7" fmla="*/ 43764 h 153928"/>
              <a:gd name="T8" fmla="*/ 292952 w 1807029"/>
              <a:gd name="T9" fmla="*/ 76577 h 153928"/>
              <a:gd name="T10" fmla="*/ 390612 w 1807029"/>
              <a:gd name="T11" fmla="*/ 120341 h 153928"/>
              <a:gd name="T12" fmla="*/ 596764 w 1807029"/>
              <a:gd name="T13" fmla="*/ 109404 h 153928"/>
              <a:gd name="T14" fmla="*/ 629315 w 1807029"/>
              <a:gd name="T15" fmla="*/ 98466 h 153928"/>
              <a:gd name="T16" fmla="*/ 651011 w 1807029"/>
              <a:gd name="T17" fmla="*/ 76577 h 153928"/>
              <a:gd name="T18" fmla="*/ 705265 w 1807029"/>
              <a:gd name="T19" fmla="*/ 0 h 153928"/>
              <a:gd name="T20" fmla="*/ 911418 w 1807029"/>
              <a:gd name="T21" fmla="*/ 10938 h 153928"/>
              <a:gd name="T22" fmla="*/ 933116 w 1807029"/>
              <a:gd name="T23" fmla="*/ 32827 h 153928"/>
              <a:gd name="T24" fmla="*/ 965670 w 1807029"/>
              <a:gd name="T25" fmla="*/ 87518 h 153928"/>
              <a:gd name="T26" fmla="*/ 1063324 w 1807029"/>
              <a:gd name="T27" fmla="*/ 120341 h 153928"/>
              <a:gd name="T28" fmla="*/ 1367129 w 1807029"/>
              <a:gd name="T29" fmla="*/ 109404 h 153928"/>
              <a:gd name="T30" fmla="*/ 1475630 w 1807029"/>
              <a:gd name="T31" fmla="*/ 76577 h 153928"/>
              <a:gd name="T32" fmla="*/ 1508180 w 1807029"/>
              <a:gd name="T33" fmla="*/ 65640 h 153928"/>
              <a:gd name="T34" fmla="*/ 1562431 w 1807029"/>
              <a:gd name="T35" fmla="*/ 76577 h 153928"/>
              <a:gd name="T36" fmla="*/ 1605832 w 1807029"/>
              <a:gd name="T37" fmla="*/ 87518 h 153928"/>
              <a:gd name="T38" fmla="*/ 1801135 w 1807029"/>
              <a:gd name="T39" fmla="*/ 87518 h 15392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807029"/>
              <a:gd name="T61" fmla="*/ 0 h 153928"/>
              <a:gd name="T62" fmla="*/ 1807029 w 1807029"/>
              <a:gd name="T63" fmla="*/ 153928 h 15392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807029" h="153928">
                <a:moveTo>
                  <a:pt x="0" y="76200"/>
                </a:moveTo>
                <a:cubicBezTo>
                  <a:pt x="10886" y="68943"/>
                  <a:pt x="20702" y="59742"/>
                  <a:pt x="32657" y="54429"/>
                </a:cubicBezTo>
                <a:cubicBezTo>
                  <a:pt x="53628" y="45109"/>
                  <a:pt x="97971" y="32658"/>
                  <a:pt x="97971" y="32658"/>
                </a:cubicBezTo>
                <a:cubicBezTo>
                  <a:pt x="148771" y="36286"/>
                  <a:pt x="200654" y="32495"/>
                  <a:pt x="250371" y="43543"/>
                </a:cubicBezTo>
                <a:cubicBezTo>
                  <a:pt x="268082" y="47479"/>
                  <a:pt x="277687" y="68086"/>
                  <a:pt x="293914" y="76200"/>
                </a:cubicBezTo>
                <a:cubicBezTo>
                  <a:pt x="449369" y="153928"/>
                  <a:pt x="295823" y="55702"/>
                  <a:pt x="391886" y="119743"/>
                </a:cubicBezTo>
                <a:cubicBezTo>
                  <a:pt x="460829" y="116115"/>
                  <a:pt x="529959" y="115108"/>
                  <a:pt x="598714" y="108858"/>
                </a:cubicBezTo>
                <a:cubicBezTo>
                  <a:pt x="610141" y="107819"/>
                  <a:pt x="621532" y="103876"/>
                  <a:pt x="631371" y="97972"/>
                </a:cubicBezTo>
                <a:cubicBezTo>
                  <a:pt x="640172" y="92691"/>
                  <a:pt x="645886" y="83457"/>
                  <a:pt x="653143" y="76200"/>
                </a:cubicBezTo>
                <a:cubicBezTo>
                  <a:pt x="678543" y="0"/>
                  <a:pt x="653143" y="18143"/>
                  <a:pt x="707571" y="0"/>
                </a:cubicBezTo>
                <a:cubicBezTo>
                  <a:pt x="776514" y="3629"/>
                  <a:pt x="846055" y="1122"/>
                  <a:pt x="914400" y="10886"/>
                </a:cubicBezTo>
                <a:cubicBezTo>
                  <a:pt x="924560" y="12337"/>
                  <a:pt x="930891" y="23857"/>
                  <a:pt x="936171" y="32658"/>
                </a:cubicBezTo>
                <a:cubicBezTo>
                  <a:pt x="950811" y="57059"/>
                  <a:pt x="938488" y="73295"/>
                  <a:pt x="968829" y="87086"/>
                </a:cubicBezTo>
                <a:cubicBezTo>
                  <a:pt x="1000167" y="101330"/>
                  <a:pt x="1034143" y="108857"/>
                  <a:pt x="1066800" y="119743"/>
                </a:cubicBezTo>
                <a:cubicBezTo>
                  <a:pt x="1168400" y="116115"/>
                  <a:pt x="1270133" y="115200"/>
                  <a:pt x="1371600" y="108858"/>
                </a:cubicBezTo>
                <a:cubicBezTo>
                  <a:pt x="1391849" y="107592"/>
                  <a:pt x="1470832" y="79408"/>
                  <a:pt x="1480457" y="76200"/>
                </a:cubicBezTo>
                <a:lnTo>
                  <a:pt x="1513114" y="65315"/>
                </a:lnTo>
                <a:cubicBezTo>
                  <a:pt x="1531257" y="68943"/>
                  <a:pt x="1549481" y="72186"/>
                  <a:pt x="1567543" y="76200"/>
                </a:cubicBezTo>
                <a:cubicBezTo>
                  <a:pt x="1582148" y="79445"/>
                  <a:pt x="1596140" y="86407"/>
                  <a:pt x="1611086" y="87086"/>
                </a:cubicBezTo>
                <a:cubicBezTo>
                  <a:pt x="1676333" y="90052"/>
                  <a:pt x="1741715" y="87086"/>
                  <a:pt x="1807029" y="87086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093" name="Oval 16"/>
          <p:cNvSpPr>
            <a:spLocks noChangeArrowheads="1"/>
          </p:cNvSpPr>
          <p:nvPr/>
        </p:nvSpPr>
        <p:spPr bwMode="auto">
          <a:xfrm>
            <a:off x="6742113" y="4230688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600"/>
          </a:p>
        </p:txBody>
      </p:sp>
      <p:sp>
        <p:nvSpPr>
          <p:cNvPr id="46094" name="Oval 17"/>
          <p:cNvSpPr>
            <a:spLocks noChangeArrowheads="1"/>
          </p:cNvSpPr>
          <p:nvPr/>
        </p:nvSpPr>
        <p:spPr bwMode="auto">
          <a:xfrm>
            <a:off x="6665913" y="4154488"/>
            <a:ext cx="533400" cy="533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5" name="TextBox 18"/>
          <p:cNvSpPr txBox="1">
            <a:spLocks noChangeArrowheads="1"/>
          </p:cNvSpPr>
          <p:nvPr/>
        </p:nvSpPr>
        <p:spPr bwMode="auto">
          <a:xfrm>
            <a:off x="5562600" y="3886200"/>
            <a:ext cx="3698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</a:t>
            </a:r>
          </a:p>
        </p:txBody>
      </p:sp>
      <p:sp>
        <p:nvSpPr>
          <p:cNvPr id="46096" name="Oval 19"/>
          <p:cNvSpPr>
            <a:spLocks noChangeArrowheads="1"/>
          </p:cNvSpPr>
          <p:nvPr/>
        </p:nvSpPr>
        <p:spPr bwMode="auto">
          <a:xfrm>
            <a:off x="4459288" y="54102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sz="1600"/>
              <a:t>p</a:t>
            </a:r>
          </a:p>
        </p:txBody>
      </p:sp>
      <p:sp>
        <p:nvSpPr>
          <p:cNvPr id="46097" name="Oval 20"/>
          <p:cNvSpPr>
            <a:spLocks noChangeArrowheads="1"/>
          </p:cNvSpPr>
          <p:nvPr/>
        </p:nvSpPr>
        <p:spPr bwMode="auto">
          <a:xfrm>
            <a:off x="4459288" y="60198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sz="1600"/>
              <a:t>q</a:t>
            </a:r>
          </a:p>
        </p:txBody>
      </p:sp>
      <p:sp>
        <p:nvSpPr>
          <p:cNvPr id="46098" name="Freeform 21"/>
          <p:cNvSpPr>
            <a:spLocks/>
          </p:cNvSpPr>
          <p:nvPr/>
        </p:nvSpPr>
        <p:spPr bwMode="auto">
          <a:xfrm>
            <a:off x="4840288" y="5508625"/>
            <a:ext cx="1806575" cy="153988"/>
          </a:xfrm>
          <a:custGeom>
            <a:avLst/>
            <a:gdLst>
              <a:gd name="T0" fmla="*/ 0 w 1807029"/>
              <a:gd name="T1" fmla="*/ 76590 h 153928"/>
              <a:gd name="T2" fmla="*/ 32553 w 1807029"/>
              <a:gd name="T3" fmla="*/ 54702 h 153928"/>
              <a:gd name="T4" fmla="*/ 97646 w 1807029"/>
              <a:gd name="T5" fmla="*/ 32827 h 153928"/>
              <a:gd name="T6" fmla="*/ 249552 w 1807029"/>
              <a:gd name="T7" fmla="*/ 43764 h 153928"/>
              <a:gd name="T8" fmla="*/ 292952 w 1807029"/>
              <a:gd name="T9" fmla="*/ 76590 h 153928"/>
              <a:gd name="T10" fmla="*/ 390612 w 1807029"/>
              <a:gd name="T11" fmla="*/ 120354 h 153928"/>
              <a:gd name="T12" fmla="*/ 596764 w 1807029"/>
              <a:gd name="T13" fmla="*/ 109412 h 153928"/>
              <a:gd name="T14" fmla="*/ 629315 w 1807029"/>
              <a:gd name="T15" fmla="*/ 98466 h 153928"/>
              <a:gd name="T16" fmla="*/ 651011 w 1807029"/>
              <a:gd name="T17" fmla="*/ 76590 h 153928"/>
              <a:gd name="T18" fmla="*/ 705265 w 1807029"/>
              <a:gd name="T19" fmla="*/ 0 h 153928"/>
              <a:gd name="T20" fmla="*/ 911418 w 1807029"/>
              <a:gd name="T21" fmla="*/ 10938 h 153928"/>
              <a:gd name="T22" fmla="*/ 933116 w 1807029"/>
              <a:gd name="T23" fmla="*/ 32827 h 153928"/>
              <a:gd name="T24" fmla="*/ 965670 w 1807029"/>
              <a:gd name="T25" fmla="*/ 87528 h 153928"/>
              <a:gd name="T26" fmla="*/ 1063324 w 1807029"/>
              <a:gd name="T27" fmla="*/ 120354 h 153928"/>
              <a:gd name="T28" fmla="*/ 1367129 w 1807029"/>
              <a:gd name="T29" fmla="*/ 109412 h 153928"/>
              <a:gd name="T30" fmla="*/ 1475630 w 1807029"/>
              <a:gd name="T31" fmla="*/ 76590 h 153928"/>
              <a:gd name="T32" fmla="*/ 1508180 w 1807029"/>
              <a:gd name="T33" fmla="*/ 65647 h 153928"/>
              <a:gd name="T34" fmla="*/ 1562431 w 1807029"/>
              <a:gd name="T35" fmla="*/ 76590 h 153928"/>
              <a:gd name="T36" fmla="*/ 1605832 w 1807029"/>
              <a:gd name="T37" fmla="*/ 87528 h 153928"/>
              <a:gd name="T38" fmla="*/ 1801135 w 1807029"/>
              <a:gd name="T39" fmla="*/ 87528 h 15392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807029"/>
              <a:gd name="T61" fmla="*/ 0 h 153928"/>
              <a:gd name="T62" fmla="*/ 1807029 w 1807029"/>
              <a:gd name="T63" fmla="*/ 153928 h 15392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807029" h="153928">
                <a:moveTo>
                  <a:pt x="0" y="76200"/>
                </a:moveTo>
                <a:cubicBezTo>
                  <a:pt x="10886" y="68943"/>
                  <a:pt x="20702" y="59742"/>
                  <a:pt x="32657" y="54429"/>
                </a:cubicBezTo>
                <a:cubicBezTo>
                  <a:pt x="53628" y="45109"/>
                  <a:pt x="97971" y="32658"/>
                  <a:pt x="97971" y="32658"/>
                </a:cubicBezTo>
                <a:cubicBezTo>
                  <a:pt x="148771" y="36286"/>
                  <a:pt x="200654" y="32495"/>
                  <a:pt x="250371" y="43543"/>
                </a:cubicBezTo>
                <a:cubicBezTo>
                  <a:pt x="268082" y="47479"/>
                  <a:pt x="277687" y="68086"/>
                  <a:pt x="293914" y="76200"/>
                </a:cubicBezTo>
                <a:cubicBezTo>
                  <a:pt x="449369" y="153928"/>
                  <a:pt x="295823" y="55702"/>
                  <a:pt x="391886" y="119743"/>
                </a:cubicBezTo>
                <a:cubicBezTo>
                  <a:pt x="460829" y="116115"/>
                  <a:pt x="529959" y="115108"/>
                  <a:pt x="598714" y="108858"/>
                </a:cubicBezTo>
                <a:cubicBezTo>
                  <a:pt x="610141" y="107819"/>
                  <a:pt x="621532" y="103876"/>
                  <a:pt x="631371" y="97972"/>
                </a:cubicBezTo>
                <a:cubicBezTo>
                  <a:pt x="640172" y="92691"/>
                  <a:pt x="645886" y="83457"/>
                  <a:pt x="653143" y="76200"/>
                </a:cubicBezTo>
                <a:cubicBezTo>
                  <a:pt x="678543" y="0"/>
                  <a:pt x="653143" y="18143"/>
                  <a:pt x="707571" y="0"/>
                </a:cubicBezTo>
                <a:cubicBezTo>
                  <a:pt x="776514" y="3629"/>
                  <a:pt x="846055" y="1122"/>
                  <a:pt x="914400" y="10886"/>
                </a:cubicBezTo>
                <a:cubicBezTo>
                  <a:pt x="924560" y="12337"/>
                  <a:pt x="930891" y="23857"/>
                  <a:pt x="936171" y="32658"/>
                </a:cubicBezTo>
                <a:cubicBezTo>
                  <a:pt x="950811" y="57059"/>
                  <a:pt x="938488" y="73295"/>
                  <a:pt x="968829" y="87086"/>
                </a:cubicBezTo>
                <a:cubicBezTo>
                  <a:pt x="1000167" y="101330"/>
                  <a:pt x="1034143" y="108857"/>
                  <a:pt x="1066800" y="119743"/>
                </a:cubicBezTo>
                <a:cubicBezTo>
                  <a:pt x="1168400" y="116115"/>
                  <a:pt x="1270133" y="115200"/>
                  <a:pt x="1371600" y="108858"/>
                </a:cubicBezTo>
                <a:cubicBezTo>
                  <a:pt x="1391849" y="107592"/>
                  <a:pt x="1470832" y="79408"/>
                  <a:pt x="1480457" y="76200"/>
                </a:cubicBezTo>
                <a:lnTo>
                  <a:pt x="1513114" y="65315"/>
                </a:lnTo>
                <a:cubicBezTo>
                  <a:pt x="1531257" y="68943"/>
                  <a:pt x="1549481" y="72186"/>
                  <a:pt x="1567543" y="76200"/>
                </a:cubicBezTo>
                <a:cubicBezTo>
                  <a:pt x="1582148" y="79445"/>
                  <a:pt x="1596140" y="86407"/>
                  <a:pt x="1611086" y="87086"/>
                </a:cubicBezTo>
                <a:cubicBezTo>
                  <a:pt x="1676333" y="90052"/>
                  <a:pt x="1741715" y="87086"/>
                  <a:pt x="1807029" y="87086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099" name="Oval 22"/>
          <p:cNvSpPr>
            <a:spLocks noChangeArrowheads="1"/>
          </p:cNvSpPr>
          <p:nvPr/>
        </p:nvSpPr>
        <p:spPr bwMode="auto">
          <a:xfrm>
            <a:off x="6705600" y="541020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600"/>
          </a:p>
        </p:txBody>
      </p:sp>
      <p:sp>
        <p:nvSpPr>
          <p:cNvPr id="46100" name="Freeform 24"/>
          <p:cNvSpPr>
            <a:spLocks/>
          </p:cNvSpPr>
          <p:nvPr/>
        </p:nvSpPr>
        <p:spPr bwMode="auto">
          <a:xfrm>
            <a:off x="4876800" y="6081713"/>
            <a:ext cx="1806575" cy="153987"/>
          </a:xfrm>
          <a:custGeom>
            <a:avLst/>
            <a:gdLst>
              <a:gd name="T0" fmla="*/ 0 w 1807029"/>
              <a:gd name="T1" fmla="*/ 76577 h 153928"/>
              <a:gd name="T2" fmla="*/ 32553 w 1807029"/>
              <a:gd name="T3" fmla="*/ 54702 h 153928"/>
              <a:gd name="T4" fmla="*/ 97646 w 1807029"/>
              <a:gd name="T5" fmla="*/ 32827 h 153928"/>
              <a:gd name="T6" fmla="*/ 249552 w 1807029"/>
              <a:gd name="T7" fmla="*/ 43764 h 153928"/>
              <a:gd name="T8" fmla="*/ 292952 w 1807029"/>
              <a:gd name="T9" fmla="*/ 76577 h 153928"/>
              <a:gd name="T10" fmla="*/ 390612 w 1807029"/>
              <a:gd name="T11" fmla="*/ 120341 h 153928"/>
              <a:gd name="T12" fmla="*/ 596764 w 1807029"/>
              <a:gd name="T13" fmla="*/ 109404 h 153928"/>
              <a:gd name="T14" fmla="*/ 629315 w 1807029"/>
              <a:gd name="T15" fmla="*/ 98466 h 153928"/>
              <a:gd name="T16" fmla="*/ 651011 w 1807029"/>
              <a:gd name="T17" fmla="*/ 76577 h 153928"/>
              <a:gd name="T18" fmla="*/ 705265 w 1807029"/>
              <a:gd name="T19" fmla="*/ 0 h 153928"/>
              <a:gd name="T20" fmla="*/ 911418 w 1807029"/>
              <a:gd name="T21" fmla="*/ 10938 h 153928"/>
              <a:gd name="T22" fmla="*/ 933116 w 1807029"/>
              <a:gd name="T23" fmla="*/ 32827 h 153928"/>
              <a:gd name="T24" fmla="*/ 965670 w 1807029"/>
              <a:gd name="T25" fmla="*/ 87518 h 153928"/>
              <a:gd name="T26" fmla="*/ 1063324 w 1807029"/>
              <a:gd name="T27" fmla="*/ 120341 h 153928"/>
              <a:gd name="T28" fmla="*/ 1367129 w 1807029"/>
              <a:gd name="T29" fmla="*/ 109404 h 153928"/>
              <a:gd name="T30" fmla="*/ 1475630 w 1807029"/>
              <a:gd name="T31" fmla="*/ 76577 h 153928"/>
              <a:gd name="T32" fmla="*/ 1508180 w 1807029"/>
              <a:gd name="T33" fmla="*/ 65640 h 153928"/>
              <a:gd name="T34" fmla="*/ 1562431 w 1807029"/>
              <a:gd name="T35" fmla="*/ 76577 h 153928"/>
              <a:gd name="T36" fmla="*/ 1605832 w 1807029"/>
              <a:gd name="T37" fmla="*/ 87518 h 153928"/>
              <a:gd name="T38" fmla="*/ 1801135 w 1807029"/>
              <a:gd name="T39" fmla="*/ 87518 h 15392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1807029"/>
              <a:gd name="T61" fmla="*/ 0 h 153928"/>
              <a:gd name="T62" fmla="*/ 1807029 w 1807029"/>
              <a:gd name="T63" fmla="*/ 153928 h 153928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1807029" h="153928">
                <a:moveTo>
                  <a:pt x="0" y="76200"/>
                </a:moveTo>
                <a:cubicBezTo>
                  <a:pt x="10886" y="68943"/>
                  <a:pt x="20702" y="59742"/>
                  <a:pt x="32657" y="54429"/>
                </a:cubicBezTo>
                <a:cubicBezTo>
                  <a:pt x="53628" y="45109"/>
                  <a:pt x="97971" y="32658"/>
                  <a:pt x="97971" y="32658"/>
                </a:cubicBezTo>
                <a:cubicBezTo>
                  <a:pt x="148771" y="36286"/>
                  <a:pt x="200654" y="32495"/>
                  <a:pt x="250371" y="43543"/>
                </a:cubicBezTo>
                <a:cubicBezTo>
                  <a:pt x="268082" y="47479"/>
                  <a:pt x="277687" y="68086"/>
                  <a:pt x="293914" y="76200"/>
                </a:cubicBezTo>
                <a:cubicBezTo>
                  <a:pt x="449369" y="153928"/>
                  <a:pt x="295823" y="55702"/>
                  <a:pt x="391886" y="119743"/>
                </a:cubicBezTo>
                <a:cubicBezTo>
                  <a:pt x="460829" y="116115"/>
                  <a:pt x="529959" y="115108"/>
                  <a:pt x="598714" y="108858"/>
                </a:cubicBezTo>
                <a:cubicBezTo>
                  <a:pt x="610141" y="107819"/>
                  <a:pt x="621532" y="103876"/>
                  <a:pt x="631371" y="97972"/>
                </a:cubicBezTo>
                <a:cubicBezTo>
                  <a:pt x="640172" y="92691"/>
                  <a:pt x="645886" y="83457"/>
                  <a:pt x="653143" y="76200"/>
                </a:cubicBezTo>
                <a:cubicBezTo>
                  <a:pt x="678543" y="0"/>
                  <a:pt x="653143" y="18143"/>
                  <a:pt x="707571" y="0"/>
                </a:cubicBezTo>
                <a:cubicBezTo>
                  <a:pt x="776514" y="3629"/>
                  <a:pt x="846055" y="1122"/>
                  <a:pt x="914400" y="10886"/>
                </a:cubicBezTo>
                <a:cubicBezTo>
                  <a:pt x="924560" y="12337"/>
                  <a:pt x="930891" y="23857"/>
                  <a:pt x="936171" y="32658"/>
                </a:cubicBezTo>
                <a:cubicBezTo>
                  <a:pt x="950811" y="57059"/>
                  <a:pt x="938488" y="73295"/>
                  <a:pt x="968829" y="87086"/>
                </a:cubicBezTo>
                <a:cubicBezTo>
                  <a:pt x="1000167" y="101330"/>
                  <a:pt x="1034143" y="108857"/>
                  <a:pt x="1066800" y="119743"/>
                </a:cubicBezTo>
                <a:cubicBezTo>
                  <a:pt x="1168400" y="116115"/>
                  <a:pt x="1270133" y="115200"/>
                  <a:pt x="1371600" y="108858"/>
                </a:cubicBezTo>
                <a:cubicBezTo>
                  <a:pt x="1391849" y="107592"/>
                  <a:pt x="1470832" y="79408"/>
                  <a:pt x="1480457" y="76200"/>
                </a:cubicBezTo>
                <a:lnTo>
                  <a:pt x="1513114" y="65315"/>
                </a:lnTo>
                <a:cubicBezTo>
                  <a:pt x="1531257" y="68943"/>
                  <a:pt x="1549481" y="72186"/>
                  <a:pt x="1567543" y="76200"/>
                </a:cubicBezTo>
                <a:cubicBezTo>
                  <a:pt x="1582148" y="79445"/>
                  <a:pt x="1596140" y="86407"/>
                  <a:pt x="1611086" y="87086"/>
                </a:cubicBezTo>
                <a:cubicBezTo>
                  <a:pt x="1676333" y="90052"/>
                  <a:pt x="1741715" y="87086"/>
                  <a:pt x="1807029" y="87086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6101" name="Oval 25"/>
          <p:cNvSpPr>
            <a:spLocks noChangeArrowheads="1"/>
          </p:cNvSpPr>
          <p:nvPr/>
        </p:nvSpPr>
        <p:spPr bwMode="auto">
          <a:xfrm>
            <a:off x="6705600" y="5983288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600"/>
          </a:p>
        </p:txBody>
      </p:sp>
      <p:sp>
        <p:nvSpPr>
          <p:cNvPr id="46102" name="TextBox 27"/>
          <p:cNvSpPr txBox="1">
            <a:spLocks noChangeArrowheads="1"/>
          </p:cNvSpPr>
          <p:nvPr/>
        </p:nvSpPr>
        <p:spPr bwMode="auto">
          <a:xfrm>
            <a:off x="5562600" y="5619750"/>
            <a:ext cx="3698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</a:t>
            </a:r>
          </a:p>
        </p:txBody>
      </p:sp>
      <p:sp>
        <p:nvSpPr>
          <p:cNvPr id="46103" name="TextBox 22"/>
          <p:cNvSpPr txBox="1">
            <a:spLocks noChangeArrowheads="1"/>
          </p:cNvSpPr>
          <p:nvPr/>
        </p:nvSpPr>
        <p:spPr bwMode="auto">
          <a:xfrm>
            <a:off x="2057400" y="6172200"/>
            <a:ext cx="9636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ym typeface="Wingdings" pitchFamily="28" charset="2"/>
              </a:rPr>
              <a:t> </a:t>
            </a:r>
            <a:r>
              <a:rPr lang="en-US"/>
              <a:t>p</a:t>
            </a:r>
            <a:r>
              <a:rPr lang="en-US">
                <a:cs typeface="Arial" charset="0"/>
              </a:rPr>
              <a:t>≡</a:t>
            </a:r>
            <a:r>
              <a:rPr lang="en-US"/>
              <a:t>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32A802B-44DF-49C5-9C6C-B38F536C84E8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Computing equivalent states in a DFA</a:t>
            </a:r>
          </a:p>
        </p:txBody>
      </p:sp>
      <p:sp>
        <p:nvSpPr>
          <p:cNvPr id="47108" name="Oval 4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47109" name="Line 6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0" name="Oval 7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47111" name="Line 8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2" name="Oval 9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47113" name="Line 10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4" name="Oval 11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5" name="Oval 12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47116" name="Line 13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17" name="Oval 14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47118" name="Oval 15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47119" name="Line 16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0" name="Oval 17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47121" name="Line 18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2" name="Oval 20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47123" name="Line 21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4" name="Line 22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5" name="Line 23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6" name="Line 24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7" name="Line 25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8" name="Freeform 26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29" name="Freeform 27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30" name="Freeform 28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31" name="Freeform 29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32" name="Freeform 31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33" name="Text Box 32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34" name="Text Box 33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35" name="Text Box 34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36" name="Text Box 35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37" name="Text Box 37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38" name="Text Box 38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39" name="Text Box 39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40" name="Line 40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141" name="Text Box 41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42" name="Text Box 42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43" name="Text Box 43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44" name="Text Box 44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45" name="Text Box 45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46" name="Text Box 46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47" name="Text Box 47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48" name="Text Box 48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7149" name="Text Box 49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7150" name="Text Box 50"/>
          <p:cNvSpPr txBox="1">
            <a:spLocks noChangeArrowheads="1"/>
          </p:cNvSpPr>
          <p:nvPr/>
        </p:nvSpPr>
        <p:spPr bwMode="auto">
          <a:xfrm>
            <a:off x="3856038" y="1219200"/>
            <a:ext cx="26971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u="sng"/>
              <a:t>Table Filling Algorithm</a:t>
            </a:r>
          </a:p>
        </p:txBody>
      </p:sp>
      <p:sp>
        <p:nvSpPr>
          <p:cNvPr id="47151" name="Rectangle 51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39123" name="Group 531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9126" name="Text Box 534"/>
          <p:cNvSpPr txBox="1">
            <a:spLocks noChangeArrowheads="1"/>
          </p:cNvSpPr>
          <p:nvPr/>
        </p:nvSpPr>
        <p:spPr bwMode="auto">
          <a:xfrm>
            <a:off x="228600" y="4419600"/>
            <a:ext cx="6923088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None/>
            </a:pPr>
            <a:r>
              <a:rPr lang="en-US" sz="1400" u="sng"/>
              <a:t>Pass #0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sz="1400"/>
              <a:t>Mark  accepting states ≠ non-accepting states  </a:t>
            </a:r>
          </a:p>
          <a:p>
            <a:pPr marL="457200" indent="-457200">
              <a:buFont typeface="Arial" charset="0"/>
              <a:buNone/>
            </a:pPr>
            <a:r>
              <a:rPr lang="en-US" sz="1400" u="sng"/>
              <a:t>Pass #1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sz="1400"/>
              <a:t>Compare every pair of states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sz="1400"/>
              <a:t>Distinguish by one symbol transition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sz="1400"/>
              <a:t>Mark = or ≠ or blank(tbd)</a:t>
            </a:r>
          </a:p>
          <a:p>
            <a:pPr marL="457200" indent="-457200">
              <a:buFont typeface="Arial" charset="0"/>
              <a:buNone/>
            </a:pPr>
            <a:r>
              <a:rPr lang="en-US" sz="1400" u="sng"/>
              <a:t>Pass #2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sz="1400"/>
              <a:t>Compare every pair of states</a:t>
            </a:r>
          </a:p>
          <a:p>
            <a:pPr marL="914400" lvl="1" indent="-457200">
              <a:buFont typeface="Arial" charset="0"/>
              <a:buAutoNum type="arabicPeriod"/>
            </a:pPr>
            <a:r>
              <a:rPr lang="en-US" sz="1400"/>
              <a:t>Distinguish by up to two symbol transitions (until different or same or tbd) </a:t>
            </a:r>
          </a:p>
          <a:p>
            <a:pPr marL="457200" indent="-457200">
              <a:buFont typeface="Arial" charset="0"/>
              <a:buNone/>
            </a:pPr>
            <a:r>
              <a:rPr lang="en-US" sz="1400"/>
              <a:t>…. </a:t>
            </a:r>
          </a:p>
          <a:p>
            <a:pPr marL="457200" indent="-457200">
              <a:buFont typeface="Arial" charset="0"/>
              <a:buNone/>
            </a:pPr>
            <a:r>
              <a:rPr lang="en-US" sz="1400"/>
              <a:t>(keep repeating until table complete)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1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9BCF54E-F649-4945-B35C-3BEC818CB3C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48132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48133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4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48135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6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48137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8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9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48140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1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48142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48143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4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48145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6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48147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8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9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0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1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2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3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4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5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6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57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58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59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60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61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62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63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64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65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66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67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68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69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70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71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72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8173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8174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85743" name="Group 4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CDFE76-23B1-4620-9256-46B01D981A0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49156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49157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58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49159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0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49161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2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3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49164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5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49166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49167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68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49169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0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49171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2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3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4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5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6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7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8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79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0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1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82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83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84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85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86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87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88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189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90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91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92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93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94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95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96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49197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9198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50025" name="Group 169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9299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4614863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endParaRPr lang="en-US" sz="1400"/>
          </a:p>
          <a:p>
            <a:pPr marL="457200" indent="-457200">
              <a:buFont typeface="Arial" charset="0"/>
              <a:buAutoNum type="arabicPeriod"/>
            </a:pPr>
            <a:endParaRPr lang="en-US" sz="1400"/>
          </a:p>
        </p:txBody>
      </p:sp>
      <p:sp>
        <p:nvSpPr>
          <p:cNvPr id="49300" name="Line 166"/>
          <p:cNvSpPr>
            <a:spLocks noChangeShapeType="1"/>
          </p:cNvSpPr>
          <p:nvPr/>
        </p:nvSpPr>
        <p:spPr bwMode="auto">
          <a:xfrm flipV="1">
            <a:off x="7162800" y="54102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9301" name="Line 167"/>
          <p:cNvSpPr>
            <a:spLocks noChangeShapeType="1"/>
          </p:cNvSpPr>
          <p:nvPr/>
        </p:nvSpPr>
        <p:spPr bwMode="auto">
          <a:xfrm flipV="1">
            <a:off x="4648200" y="3733800"/>
            <a:ext cx="457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4DFCE5-34E6-48C2-BB3C-E65D6ADC4A38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0180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0181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2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0183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4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0185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6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7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0188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9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0190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0191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2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0193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4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0195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6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7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8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9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0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1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2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3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4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05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06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07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08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09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10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11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12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213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14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15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16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17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18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19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20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0221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0222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52071" name="Group 16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0323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47323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Look 1- hop away for distinguishing states or strings</a:t>
            </a:r>
          </a:p>
        </p:txBody>
      </p:sp>
      <p:sp>
        <p:nvSpPr>
          <p:cNvPr id="50324" name="Line 168"/>
          <p:cNvSpPr>
            <a:spLocks noChangeShapeType="1"/>
          </p:cNvSpPr>
          <p:nvPr/>
        </p:nvSpPr>
        <p:spPr bwMode="auto">
          <a:xfrm flipV="1">
            <a:off x="5638800" y="54102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BAA579-CB74-403B-B270-BDDCD24C7B02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1204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1205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06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1207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08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1209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0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1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1212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3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1214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1215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6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1217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8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1219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0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1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2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3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4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5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6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7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8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9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30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31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32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33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34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35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36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37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38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39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40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41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42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43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44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1245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1246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53999" name="Group 4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1347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47323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Look 1- hop away for distinguishing states or strings</a:t>
            </a:r>
          </a:p>
        </p:txBody>
      </p:sp>
      <p:sp>
        <p:nvSpPr>
          <p:cNvPr id="51348" name="Line 166"/>
          <p:cNvSpPr>
            <a:spLocks noChangeShapeType="1"/>
          </p:cNvSpPr>
          <p:nvPr/>
        </p:nvSpPr>
        <p:spPr bwMode="auto">
          <a:xfrm flipV="1">
            <a:off x="6019800" y="54102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1415EAD-6290-4C2D-94AA-1B8DF47A74F0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2228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2229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2231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2233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5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2236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7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2238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2239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2241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2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2243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4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5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6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7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8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9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50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51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52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53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54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55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56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57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58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59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60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61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62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63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64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65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66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67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68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2269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2270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56047" name="Group 4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2371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47323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Look 1- hop away for distinguishing states or strings</a:t>
            </a:r>
          </a:p>
        </p:txBody>
      </p:sp>
      <p:sp>
        <p:nvSpPr>
          <p:cNvPr id="52372" name="Line 166"/>
          <p:cNvSpPr>
            <a:spLocks noChangeShapeType="1"/>
          </p:cNvSpPr>
          <p:nvPr/>
        </p:nvSpPr>
        <p:spPr bwMode="auto">
          <a:xfrm flipV="1">
            <a:off x="6400800" y="54102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D17BD7B-EE41-4AE2-831B-65E5A7351357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3252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3253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4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3255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6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3257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8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9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3260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1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3262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3263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4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3265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6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3267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8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69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0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1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2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3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4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5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6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77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78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79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80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81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82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83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84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85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86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87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88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89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90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91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92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3293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3294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58095" name="Group 4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3395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47323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Look 1- hop away for distinguishing states or strings</a:t>
            </a:r>
          </a:p>
        </p:txBody>
      </p:sp>
      <p:sp>
        <p:nvSpPr>
          <p:cNvPr id="53396" name="Line 166"/>
          <p:cNvSpPr>
            <a:spLocks noChangeShapeType="1"/>
          </p:cNvSpPr>
          <p:nvPr/>
        </p:nvSpPr>
        <p:spPr bwMode="auto">
          <a:xfrm flipV="1">
            <a:off x="6781800" y="54102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40D3CC5-9F64-48EB-AF5E-E5FAAB0EF8FD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4276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4277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78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4279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80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4281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82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83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4284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85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4286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4287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88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4289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0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4291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2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3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4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5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6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7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8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299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00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01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02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03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04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05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06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07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08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309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10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11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12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13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14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15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16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4317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4318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60143" name="Group 4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4419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47323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Look 1- hop away for distinguishing states or strings</a:t>
            </a:r>
          </a:p>
        </p:txBody>
      </p:sp>
      <p:sp>
        <p:nvSpPr>
          <p:cNvPr id="54420" name="Line 166"/>
          <p:cNvSpPr>
            <a:spLocks noChangeShapeType="1"/>
          </p:cNvSpPr>
          <p:nvPr/>
        </p:nvSpPr>
        <p:spPr bwMode="auto">
          <a:xfrm flipV="1">
            <a:off x="7543800" y="54102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7341B62-09EF-4CAB-B5BB-E6AC21E5442F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5300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5301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2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5303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4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5305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6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7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5308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09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5310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5311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12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5313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14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5315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16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17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18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19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0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1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2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3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4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25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26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27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28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29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30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31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32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5333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34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35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36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37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38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39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40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5341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5342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62191" name="Group 4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5443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4732338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Look 1- hop away for distinguishing states or strings</a:t>
            </a:r>
          </a:p>
        </p:txBody>
      </p:sp>
      <p:sp>
        <p:nvSpPr>
          <p:cNvPr id="55444" name="Line 166"/>
          <p:cNvSpPr>
            <a:spLocks noChangeShapeType="1"/>
          </p:cNvSpPr>
          <p:nvPr/>
        </p:nvSpPr>
        <p:spPr bwMode="auto">
          <a:xfrm flipV="1">
            <a:off x="7924800" y="5410200"/>
            <a:ext cx="0" cy="304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F0A7EB8-A1C1-449F-A754-ABCBABBE78DD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6324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6325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26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6327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28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6329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0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1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6332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3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6334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6335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6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6337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38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6339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0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1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2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3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4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5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6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7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8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49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50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51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52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53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54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55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56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357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58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59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60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61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62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63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64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6365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6366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64363" name="Group 171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6467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56642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Pass 1: </a:t>
            </a:r>
            <a:br>
              <a:rPr lang="en-US" sz="1400"/>
            </a:br>
            <a:r>
              <a:rPr lang="en-US" sz="1400"/>
              <a:t>	Look 1- hop away for distinguishing states or strings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Pass 2:</a:t>
            </a:r>
          </a:p>
          <a:p>
            <a:pPr marL="914400" lvl="1" indent="-457200"/>
            <a:r>
              <a:rPr lang="en-US" sz="1400"/>
              <a:t>	Look 1-hop away again for distinguishing states or strings</a:t>
            </a:r>
          </a:p>
          <a:p>
            <a:pPr marL="914400" lvl="1" indent="-457200"/>
            <a:r>
              <a:rPr lang="en-US" sz="1400"/>
              <a:t>continue….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2E69FDE-CD6C-4BA2-B7DB-199DAFAD7ADF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7348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7349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0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7351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2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7353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4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5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7356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57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7358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7359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0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7361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2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7363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4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5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6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7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8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69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70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71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72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73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74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75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76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77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78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79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80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381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82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83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84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85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86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87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88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7389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7390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64363" name="Group 171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4359" name="Text Box 167"/>
          <p:cNvSpPr txBox="1">
            <a:spLocks noChangeArrowheads="1"/>
          </p:cNvSpPr>
          <p:nvPr/>
        </p:nvSpPr>
        <p:spPr bwMode="auto">
          <a:xfrm>
            <a:off x="5715000" y="5592763"/>
            <a:ext cx="1506538" cy="10699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u="sng">
                <a:solidFill>
                  <a:schemeClr val="folHlink"/>
                </a:solidFill>
              </a:rPr>
              <a:t>Equivalences:</a:t>
            </a:r>
            <a:r>
              <a:rPr lang="en-US" sz="1600">
                <a:solidFill>
                  <a:schemeClr val="folHlink"/>
                </a:solidFill>
              </a:rPr>
              <a:t> </a:t>
            </a:r>
          </a:p>
          <a:p>
            <a:pPr>
              <a:buFontTx/>
              <a:buChar char="•"/>
            </a:pPr>
            <a:r>
              <a:rPr lang="en-US" sz="1600">
                <a:solidFill>
                  <a:schemeClr val="folHlink"/>
                </a:solidFill>
              </a:rPr>
              <a:t> A=B</a:t>
            </a:r>
          </a:p>
          <a:p>
            <a:pPr>
              <a:buFontTx/>
              <a:buChar char="•"/>
            </a:pPr>
            <a:r>
              <a:rPr lang="en-US" sz="1600">
                <a:solidFill>
                  <a:schemeClr val="folHlink"/>
                </a:solidFill>
              </a:rPr>
              <a:t> C=H</a:t>
            </a:r>
          </a:p>
          <a:p>
            <a:pPr>
              <a:buFontTx/>
              <a:buChar char="•"/>
            </a:pPr>
            <a:r>
              <a:rPr lang="en-US" sz="1600">
                <a:solidFill>
                  <a:schemeClr val="folHlink"/>
                </a:solidFill>
              </a:rPr>
              <a:t> D=G      </a:t>
            </a:r>
          </a:p>
        </p:txBody>
      </p:sp>
      <p:sp>
        <p:nvSpPr>
          <p:cNvPr id="50" name="Oval 4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rgbClr val="92D050">
              <a:alpha val="43137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/>
          <p:cNvSpPr>
            <a:spLocks noChangeArrowheads="1"/>
          </p:cNvSpPr>
          <p:nvPr/>
        </p:nvSpPr>
        <p:spPr bwMode="auto">
          <a:xfrm>
            <a:off x="6172200" y="4648200"/>
            <a:ext cx="457200" cy="457200"/>
          </a:xfrm>
          <a:prstGeom prst="ellipse">
            <a:avLst/>
          </a:prstGeom>
          <a:solidFill>
            <a:srgbClr val="92D050">
              <a:alpha val="43137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/>
          <p:cNvSpPr>
            <a:spLocks noChangeArrowheads="1"/>
          </p:cNvSpPr>
          <p:nvPr/>
        </p:nvSpPr>
        <p:spPr bwMode="auto">
          <a:xfrm>
            <a:off x="6553200" y="4267200"/>
            <a:ext cx="457200" cy="457200"/>
          </a:xfrm>
          <a:prstGeom prst="ellipse">
            <a:avLst/>
          </a:prstGeom>
          <a:solidFill>
            <a:srgbClr val="92D050">
              <a:alpha val="43137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7495" name="Text Box 165"/>
          <p:cNvSpPr txBox="1">
            <a:spLocks noChangeArrowheads="1"/>
          </p:cNvSpPr>
          <p:nvPr/>
        </p:nvSpPr>
        <p:spPr bwMode="auto">
          <a:xfrm>
            <a:off x="228600" y="4814888"/>
            <a:ext cx="56642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 sz="1400"/>
              <a:t>Mark 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/>
              <a:t> between accepting vs. non-accepting state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Pass 1: </a:t>
            </a:r>
            <a:br>
              <a:rPr lang="en-US" sz="1400"/>
            </a:br>
            <a:r>
              <a:rPr lang="en-US" sz="1400"/>
              <a:t>	Look 1- hop away for distinguishing states or strings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sz="1400"/>
              <a:t>Pass 2:</a:t>
            </a:r>
          </a:p>
          <a:p>
            <a:pPr marL="914400" lvl="1" indent="-457200"/>
            <a:r>
              <a:rPr lang="en-US" sz="1400"/>
              <a:t>	Look 1-hop away again for distinguishing states or strings</a:t>
            </a:r>
          </a:p>
          <a:p>
            <a:pPr marL="914400" lvl="1" indent="-457200"/>
            <a:r>
              <a:rPr lang="en-US" sz="1400"/>
              <a:t>continue….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359" grpId="0" animBg="1"/>
      <p:bldP spid="50" grpId="0" animBg="1"/>
      <p:bldP spid="51" grpId="0" animBg="1"/>
      <p:bldP spid="5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22B618-5165-4E97-B0C1-ED3928CBBD54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- step by step</a:t>
            </a:r>
          </a:p>
        </p:txBody>
      </p:sp>
      <p:sp>
        <p:nvSpPr>
          <p:cNvPr id="58372" name="Oval 3"/>
          <p:cNvSpPr>
            <a:spLocks noChangeArrowheads="1"/>
          </p:cNvSpPr>
          <p:nvPr/>
        </p:nvSpPr>
        <p:spPr bwMode="auto"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58373" name="Line 4"/>
          <p:cNvSpPr>
            <a:spLocks noChangeShapeType="1"/>
          </p:cNvSpPr>
          <p:nvPr/>
        </p:nvSpPr>
        <p:spPr bwMode="auto">
          <a:xfrm>
            <a:off x="914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4" name="Oval 5"/>
          <p:cNvSpPr>
            <a:spLocks noChangeArrowheads="1"/>
          </p:cNvSpPr>
          <p:nvPr/>
        </p:nvSpPr>
        <p:spPr bwMode="auto"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58375" name="Line 6"/>
          <p:cNvSpPr>
            <a:spLocks noChangeShapeType="1"/>
          </p:cNvSpPr>
          <p:nvPr/>
        </p:nvSpPr>
        <p:spPr bwMode="auto">
          <a:xfrm>
            <a:off x="1600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6" name="Oval 7"/>
          <p:cNvSpPr>
            <a:spLocks noChangeArrowheads="1"/>
          </p:cNvSpPr>
          <p:nvPr/>
        </p:nvSpPr>
        <p:spPr bwMode="auto"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58377" name="Line 8"/>
          <p:cNvSpPr>
            <a:spLocks noChangeShapeType="1"/>
          </p:cNvSpPr>
          <p:nvPr/>
        </p:nvSpPr>
        <p:spPr bwMode="auto">
          <a:xfrm>
            <a:off x="2362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8" name="Oval 9"/>
          <p:cNvSpPr>
            <a:spLocks noChangeArrowheads="1"/>
          </p:cNvSpPr>
          <p:nvPr/>
        </p:nvSpPr>
        <p:spPr bwMode="auto"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79" name="Oval 10"/>
          <p:cNvSpPr>
            <a:spLocks noChangeArrowheads="1"/>
          </p:cNvSpPr>
          <p:nvPr/>
        </p:nvSpPr>
        <p:spPr bwMode="auto"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G</a:t>
            </a:r>
          </a:p>
        </p:txBody>
      </p:sp>
      <p:sp>
        <p:nvSpPr>
          <p:cNvPr id="58380" name="Line 11"/>
          <p:cNvSpPr>
            <a:spLocks noChangeShapeType="1"/>
          </p:cNvSpPr>
          <p:nvPr/>
        </p:nvSpPr>
        <p:spPr bwMode="auto">
          <a:xfrm flipH="1">
            <a:off x="32766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1" name="Oval 12"/>
          <p:cNvSpPr>
            <a:spLocks noChangeArrowheads="1"/>
          </p:cNvSpPr>
          <p:nvPr/>
        </p:nvSpPr>
        <p:spPr bwMode="auto"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B</a:t>
            </a:r>
          </a:p>
        </p:txBody>
      </p:sp>
      <p:sp>
        <p:nvSpPr>
          <p:cNvPr id="58382" name="Oval 13"/>
          <p:cNvSpPr>
            <a:spLocks noChangeArrowheads="1"/>
          </p:cNvSpPr>
          <p:nvPr/>
        </p:nvSpPr>
        <p:spPr bwMode="auto"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58383" name="Line 14"/>
          <p:cNvSpPr>
            <a:spLocks noChangeShapeType="1"/>
          </p:cNvSpPr>
          <p:nvPr/>
        </p:nvSpPr>
        <p:spPr bwMode="auto">
          <a:xfrm>
            <a:off x="1600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4" name="Oval 15"/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58385" name="Line 16"/>
          <p:cNvSpPr>
            <a:spLocks noChangeShapeType="1"/>
          </p:cNvSpPr>
          <p:nvPr/>
        </p:nvSpPr>
        <p:spPr bwMode="auto">
          <a:xfrm>
            <a:off x="2362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6" name="Oval 17"/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H</a:t>
            </a:r>
          </a:p>
        </p:txBody>
      </p:sp>
      <p:sp>
        <p:nvSpPr>
          <p:cNvPr id="58387" name="Line 18"/>
          <p:cNvSpPr>
            <a:spLocks noChangeShapeType="1"/>
          </p:cNvSpPr>
          <p:nvPr/>
        </p:nvSpPr>
        <p:spPr bwMode="auto">
          <a:xfrm flipH="1"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8" name="Line 19"/>
          <p:cNvSpPr>
            <a:spLocks noChangeShapeType="1"/>
          </p:cNvSpPr>
          <p:nvPr/>
        </p:nvSpPr>
        <p:spPr bwMode="auto">
          <a:xfrm>
            <a:off x="1524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89" name="Line 20"/>
          <p:cNvSpPr>
            <a:spLocks noChangeShapeType="1"/>
          </p:cNvSpPr>
          <p:nvPr/>
        </p:nvSpPr>
        <p:spPr bwMode="auto">
          <a:xfrm flipV="1">
            <a:off x="2286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0" name="Line 21"/>
          <p:cNvSpPr>
            <a:spLocks noChangeShapeType="1"/>
          </p:cNvSpPr>
          <p:nvPr/>
        </p:nvSpPr>
        <p:spPr bwMode="auto">
          <a:xfrm>
            <a:off x="2286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1" name="Line 22"/>
          <p:cNvSpPr>
            <a:spLocks noChangeShapeType="1"/>
          </p:cNvSpPr>
          <p:nvPr/>
        </p:nvSpPr>
        <p:spPr bwMode="auto">
          <a:xfrm flipH="1">
            <a:off x="31242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2" name="Freeform 23"/>
          <p:cNvSpPr>
            <a:spLocks/>
          </p:cNvSpPr>
          <p:nvPr/>
        </p:nvSpPr>
        <p:spPr bwMode="auto">
          <a:xfrm>
            <a:off x="1524000" y="3962400"/>
            <a:ext cx="1447800" cy="304800"/>
          </a:xfrm>
          <a:custGeom>
            <a:avLst/>
            <a:gdLst>
              <a:gd name="T0" fmla="*/ 2147483647 w 912"/>
              <a:gd name="T1" fmla="*/ 0 h 192"/>
              <a:gd name="T2" fmla="*/ 2147483647 w 912"/>
              <a:gd name="T3" fmla="*/ 2147483647 h 192"/>
              <a:gd name="T4" fmla="*/ 0 w 912"/>
              <a:gd name="T5" fmla="*/ 0 h 192"/>
              <a:gd name="T6" fmla="*/ 0 60000 65536"/>
              <a:gd name="T7" fmla="*/ 0 60000 65536"/>
              <a:gd name="T8" fmla="*/ 0 60000 65536"/>
              <a:gd name="T9" fmla="*/ 0 w 912"/>
              <a:gd name="T10" fmla="*/ 0 h 192"/>
              <a:gd name="T11" fmla="*/ 912 w 912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9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3" name="Freeform 24"/>
          <p:cNvSpPr>
            <a:spLocks/>
          </p:cNvSpPr>
          <p:nvPr/>
        </p:nvSpPr>
        <p:spPr bwMode="auto">
          <a:xfrm>
            <a:off x="1447800" y="3962400"/>
            <a:ext cx="2286000" cy="533400"/>
          </a:xfrm>
          <a:custGeom>
            <a:avLst/>
            <a:gdLst>
              <a:gd name="T0" fmla="*/ 0 w 1440"/>
              <a:gd name="T1" fmla="*/ 0 h 336"/>
              <a:gd name="T2" fmla="*/ 2147483647 w 1440"/>
              <a:gd name="T3" fmla="*/ 2147483647 h 336"/>
              <a:gd name="T4" fmla="*/ 2147483647 w 1440"/>
              <a:gd name="T5" fmla="*/ 0 h 336"/>
              <a:gd name="T6" fmla="*/ 0 60000 65536"/>
              <a:gd name="T7" fmla="*/ 0 60000 65536"/>
              <a:gd name="T8" fmla="*/ 0 60000 65536"/>
              <a:gd name="T9" fmla="*/ 0 w 1440"/>
              <a:gd name="T10" fmla="*/ 0 h 336"/>
              <a:gd name="T11" fmla="*/ 1440 w 14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336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4" name="Freeform 25"/>
          <p:cNvSpPr>
            <a:spLocks/>
          </p:cNvSpPr>
          <p:nvPr/>
        </p:nvSpPr>
        <p:spPr bwMode="auto">
          <a:xfrm>
            <a:off x="3022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5" name="Freeform 26"/>
          <p:cNvSpPr>
            <a:spLocks/>
          </p:cNvSpPr>
          <p:nvPr/>
        </p:nvSpPr>
        <p:spPr bwMode="auto">
          <a:xfrm>
            <a:off x="2768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6" name="Freeform 27"/>
          <p:cNvSpPr>
            <a:spLocks/>
          </p:cNvSpPr>
          <p:nvPr/>
        </p:nvSpPr>
        <p:spPr bwMode="auto">
          <a:xfrm>
            <a:off x="1447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397" name="Text Box 28"/>
          <p:cNvSpPr txBox="1">
            <a:spLocks noChangeArrowheads="1"/>
          </p:cNvSpPr>
          <p:nvPr/>
        </p:nvSpPr>
        <p:spPr bwMode="auto">
          <a:xfrm>
            <a:off x="1622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398" name="Text Box 29"/>
          <p:cNvSpPr txBox="1">
            <a:spLocks noChangeArrowheads="1"/>
          </p:cNvSpPr>
          <p:nvPr/>
        </p:nvSpPr>
        <p:spPr bwMode="auto">
          <a:xfrm>
            <a:off x="1676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399" name="Text Box 30"/>
          <p:cNvSpPr txBox="1">
            <a:spLocks noChangeArrowheads="1"/>
          </p:cNvSpPr>
          <p:nvPr/>
        </p:nvSpPr>
        <p:spPr bwMode="auto">
          <a:xfrm>
            <a:off x="1600200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400" name="Text Box 31"/>
          <p:cNvSpPr txBox="1">
            <a:spLocks noChangeArrowheads="1"/>
          </p:cNvSpPr>
          <p:nvPr/>
        </p:nvSpPr>
        <p:spPr bwMode="auto">
          <a:xfrm>
            <a:off x="2155825" y="3962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401" name="Text Box 32"/>
          <p:cNvSpPr txBox="1">
            <a:spLocks noChangeArrowheads="1"/>
          </p:cNvSpPr>
          <p:nvPr/>
        </p:nvSpPr>
        <p:spPr bwMode="auto">
          <a:xfrm>
            <a:off x="2460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402" name="Text Box 33"/>
          <p:cNvSpPr txBox="1">
            <a:spLocks noChangeArrowheads="1"/>
          </p:cNvSpPr>
          <p:nvPr/>
        </p:nvSpPr>
        <p:spPr bwMode="auto">
          <a:xfrm>
            <a:off x="3581400" y="3200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403" name="Text Box 34"/>
          <p:cNvSpPr txBox="1">
            <a:spLocks noChangeArrowheads="1"/>
          </p:cNvSpPr>
          <p:nvPr/>
        </p:nvSpPr>
        <p:spPr bwMode="auto">
          <a:xfrm>
            <a:off x="3222625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404" name="Line 35"/>
          <p:cNvSpPr>
            <a:spLocks noChangeShapeType="1"/>
          </p:cNvSpPr>
          <p:nvPr/>
        </p:nvSpPr>
        <p:spPr bwMode="auto">
          <a:xfrm flipH="1" flipV="1">
            <a:off x="3124200" y="3124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8405" name="Text Box 36"/>
          <p:cNvSpPr txBox="1">
            <a:spLocks noChangeArrowheads="1"/>
          </p:cNvSpPr>
          <p:nvPr/>
        </p:nvSpPr>
        <p:spPr bwMode="auto">
          <a:xfrm>
            <a:off x="28416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406" name="Text Box 37"/>
          <p:cNvSpPr txBox="1">
            <a:spLocks noChangeArrowheads="1"/>
          </p:cNvSpPr>
          <p:nvPr/>
        </p:nvSpPr>
        <p:spPr bwMode="auto">
          <a:xfrm>
            <a:off x="19272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407" name="Text Box 38"/>
          <p:cNvSpPr txBox="1">
            <a:spLocks noChangeArrowheads="1"/>
          </p:cNvSpPr>
          <p:nvPr/>
        </p:nvSpPr>
        <p:spPr bwMode="auto">
          <a:xfrm>
            <a:off x="2384425" y="4267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408" name="Text Box 39"/>
          <p:cNvSpPr txBox="1">
            <a:spLocks noChangeArrowheads="1"/>
          </p:cNvSpPr>
          <p:nvPr/>
        </p:nvSpPr>
        <p:spPr bwMode="auto">
          <a:xfrm>
            <a:off x="32988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409" name="Text Box 40"/>
          <p:cNvSpPr txBox="1">
            <a:spLocks noChangeArrowheads="1"/>
          </p:cNvSpPr>
          <p:nvPr/>
        </p:nvSpPr>
        <p:spPr bwMode="auto">
          <a:xfrm>
            <a:off x="2917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410" name="Text Box 41"/>
          <p:cNvSpPr txBox="1">
            <a:spLocks noChangeArrowheads="1"/>
          </p:cNvSpPr>
          <p:nvPr/>
        </p:nvSpPr>
        <p:spPr bwMode="auto">
          <a:xfrm>
            <a:off x="33750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411" name="Text Box 42"/>
          <p:cNvSpPr txBox="1">
            <a:spLocks noChangeArrowheads="1"/>
          </p:cNvSpPr>
          <p:nvPr/>
        </p:nvSpPr>
        <p:spPr bwMode="auto">
          <a:xfrm>
            <a:off x="2384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412" name="Text Box 43"/>
          <p:cNvSpPr txBox="1">
            <a:spLocks noChangeArrowheads="1"/>
          </p:cNvSpPr>
          <p:nvPr/>
        </p:nvSpPr>
        <p:spPr bwMode="auto">
          <a:xfrm>
            <a:off x="2232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58413" name="Text Box 44"/>
          <p:cNvSpPr txBox="1">
            <a:spLocks noChangeArrowheads="1"/>
          </p:cNvSpPr>
          <p:nvPr/>
        </p:nvSpPr>
        <p:spPr bwMode="auto">
          <a:xfrm>
            <a:off x="2384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66286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66407" name="Oval 167"/>
          <p:cNvSpPr>
            <a:spLocks noChangeArrowheads="1"/>
          </p:cNvSpPr>
          <p:nvPr/>
        </p:nvSpPr>
        <p:spPr bwMode="auto">
          <a:xfrm>
            <a:off x="5486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A</a:t>
            </a:r>
          </a:p>
        </p:txBody>
      </p:sp>
      <p:sp>
        <p:nvSpPr>
          <p:cNvPr id="266408" name="Line 168"/>
          <p:cNvSpPr>
            <a:spLocks noChangeShapeType="1"/>
          </p:cNvSpPr>
          <p:nvPr/>
        </p:nvSpPr>
        <p:spPr bwMode="auto">
          <a:xfrm>
            <a:off x="51054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09" name="Oval 169"/>
          <p:cNvSpPr>
            <a:spLocks noChangeArrowheads="1"/>
          </p:cNvSpPr>
          <p:nvPr/>
        </p:nvSpPr>
        <p:spPr bwMode="auto">
          <a:xfrm>
            <a:off x="62484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C</a:t>
            </a:r>
          </a:p>
        </p:txBody>
      </p:sp>
      <p:sp>
        <p:nvSpPr>
          <p:cNvPr id="266410" name="Line 170"/>
          <p:cNvSpPr>
            <a:spLocks noChangeShapeType="1"/>
          </p:cNvSpPr>
          <p:nvPr/>
        </p:nvSpPr>
        <p:spPr bwMode="auto">
          <a:xfrm>
            <a:off x="5791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11" name="Oval 171"/>
          <p:cNvSpPr>
            <a:spLocks noChangeArrowheads="1"/>
          </p:cNvSpPr>
          <p:nvPr/>
        </p:nvSpPr>
        <p:spPr bwMode="auto">
          <a:xfrm>
            <a:off x="7086600" y="2819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E</a:t>
            </a:r>
          </a:p>
        </p:txBody>
      </p:sp>
      <p:sp>
        <p:nvSpPr>
          <p:cNvPr id="266412" name="Line 172"/>
          <p:cNvSpPr>
            <a:spLocks noChangeShapeType="1"/>
          </p:cNvSpPr>
          <p:nvPr/>
        </p:nvSpPr>
        <p:spPr bwMode="auto">
          <a:xfrm>
            <a:off x="65532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13" name="Oval 173"/>
          <p:cNvSpPr>
            <a:spLocks noChangeArrowheads="1"/>
          </p:cNvSpPr>
          <p:nvPr/>
        </p:nvSpPr>
        <p:spPr bwMode="auto">
          <a:xfrm>
            <a:off x="7010400" y="2743200"/>
            <a:ext cx="457200" cy="457200"/>
          </a:xfrm>
          <a:prstGeom prst="ellipse">
            <a:avLst/>
          </a:prstGeom>
          <a:solidFill>
            <a:schemeClr val="accent1">
              <a:alpha val="1176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17" name="Oval 177"/>
          <p:cNvSpPr>
            <a:spLocks noChangeArrowheads="1"/>
          </p:cNvSpPr>
          <p:nvPr/>
        </p:nvSpPr>
        <p:spPr bwMode="auto">
          <a:xfrm>
            <a:off x="62484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D</a:t>
            </a:r>
          </a:p>
        </p:txBody>
      </p:sp>
      <p:sp>
        <p:nvSpPr>
          <p:cNvPr id="266419" name="Oval 179"/>
          <p:cNvSpPr>
            <a:spLocks noChangeArrowheads="1"/>
          </p:cNvSpPr>
          <p:nvPr/>
        </p:nvSpPr>
        <p:spPr bwMode="auto">
          <a:xfrm>
            <a:off x="7086600" y="3657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266420" name="Line 180"/>
          <p:cNvSpPr>
            <a:spLocks noChangeShapeType="1"/>
          </p:cNvSpPr>
          <p:nvPr/>
        </p:nvSpPr>
        <p:spPr bwMode="auto">
          <a:xfrm>
            <a:off x="6553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23" name="Line 183"/>
          <p:cNvSpPr>
            <a:spLocks noChangeShapeType="1"/>
          </p:cNvSpPr>
          <p:nvPr/>
        </p:nvSpPr>
        <p:spPr bwMode="auto">
          <a:xfrm>
            <a:off x="5715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24" name="Line 184"/>
          <p:cNvSpPr>
            <a:spLocks noChangeShapeType="1"/>
          </p:cNvSpPr>
          <p:nvPr/>
        </p:nvSpPr>
        <p:spPr bwMode="auto">
          <a:xfrm flipV="1">
            <a:off x="6477000" y="31242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25" name="Line 185"/>
          <p:cNvSpPr>
            <a:spLocks noChangeShapeType="1"/>
          </p:cNvSpPr>
          <p:nvPr/>
        </p:nvSpPr>
        <p:spPr bwMode="auto">
          <a:xfrm>
            <a:off x="6477000" y="31242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29" name="Freeform 189"/>
          <p:cNvSpPr>
            <a:spLocks/>
          </p:cNvSpPr>
          <p:nvPr/>
        </p:nvSpPr>
        <p:spPr bwMode="auto">
          <a:xfrm>
            <a:off x="7213600" y="3886200"/>
            <a:ext cx="190500" cy="241300"/>
          </a:xfrm>
          <a:custGeom>
            <a:avLst/>
            <a:gdLst>
              <a:gd name="T0" fmla="*/ 2147483647 w 120"/>
              <a:gd name="T1" fmla="*/ 0 h 152"/>
              <a:gd name="T2" fmla="*/ 2147483647 w 120"/>
              <a:gd name="T3" fmla="*/ 2147483647 h 152"/>
              <a:gd name="T4" fmla="*/ 2147483647 w 120"/>
              <a:gd name="T5" fmla="*/ 2147483647 h 152"/>
              <a:gd name="T6" fmla="*/ 2147483647 w 120"/>
              <a:gd name="T7" fmla="*/ 2147483647 h 152"/>
              <a:gd name="T8" fmla="*/ 0 60000 65536"/>
              <a:gd name="T9" fmla="*/ 0 60000 65536"/>
              <a:gd name="T10" fmla="*/ 0 60000 65536"/>
              <a:gd name="T11" fmla="*/ 0 60000 65536"/>
              <a:gd name="T12" fmla="*/ 0 w 120"/>
              <a:gd name="T13" fmla="*/ 0 h 152"/>
              <a:gd name="T14" fmla="*/ 120 w 120"/>
              <a:gd name="T15" fmla="*/ 152 h 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" h="152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30" name="Freeform 190"/>
          <p:cNvSpPr>
            <a:spLocks/>
          </p:cNvSpPr>
          <p:nvPr/>
        </p:nvSpPr>
        <p:spPr bwMode="auto">
          <a:xfrm>
            <a:off x="6959600" y="2565400"/>
            <a:ext cx="482600" cy="177800"/>
          </a:xfrm>
          <a:custGeom>
            <a:avLst/>
            <a:gdLst>
              <a:gd name="T0" fmla="*/ 2147483647 w 304"/>
              <a:gd name="T1" fmla="*/ 2147483647 h 112"/>
              <a:gd name="T2" fmla="*/ 2147483647 w 304"/>
              <a:gd name="T3" fmla="*/ 2147483647 h 112"/>
              <a:gd name="T4" fmla="*/ 2147483647 w 304"/>
              <a:gd name="T5" fmla="*/ 2147483647 h 112"/>
              <a:gd name="T6" fmla="*/ 2147483647 w 304"/>
              <a:gd name="T7" fmla="*/ 2147483647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04"/>
              <a:gd name="T13" fmla="*/ 0 h 112"/>
              <a:gd name="T14" fmla="*/ 304 w 30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4" h="112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31" name="Freeform 191"/>
          <p:cNvSpPr>
            <a:spLocks/>
          </p:cNvSpPr>
          <p:nvPr/>
        </p:nvSpPr>
        <p:spPr bwMode="auto">
          <a:xfrm>
            <a:off x="5638800" y="2590800"/>
            <a:ext cx="1447800" cy="228600"/>
          </a:xfrm>
          <a:custGeom>
            <a:avLst/>
            <a:gdLst>
              <a:gd name="T0" fmla="*/ 2147483647 w 912"/>
              <a:gd name="T1" fmla="*/ 2147483647 h 144"/>
              <a:gd name="T2" fmla="*/ 2147483647 w 912"/>
              <a:gd name="T3" fmla="*/ 0 h 144"/>
              <a:gd name="T4" fmla="*/ 0 w 912"/>
              <a:gd name="T5" fmla="*/ 2147483647 h 144"/>
              <a:gd name="T6" fmla="*/ 0 60000 65536"/>
              <a:gd name="T7" fmla="*/ 0 60000 65536"/>
              <a:gd name="T8" fmla="*/ 0 60000 65536"/>
              <a:gd name="T9" fmla="*/ 0 w 912"/>
              <a:gd name="T10" fmla="*/ 0 h 144"/>
              <a:gd name="T11" fmla="*/ 912 w 912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2" h="144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32" name="Text Box 192"/>
          <p:cNvSpPr txBox="1">
            <a:spLocks noChangeArrowheads="1"/>
          </p:cNvSpPr>
          <p:nvPr/>
        </p:nvSpPr>
        <p:spPr bwMode="auto">
          <a:xfrm>
            <a:off x="5813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266433" name="Text Box 193"/>
          <p:cNvSpPr txBox="1">
            <a:spLocks noChangeArrowheads="1"/>
          </p:cNvSpPr>
          <p:nvPr/>
        </p:nvSpPr>
        <p:spPr bwMode="auto">
          <a:xfrm>
            <a:off x="5867400" y="3124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66436" name="Text Box 196"/>
          <p:cNvSpPr txBox="1">
            <a:spLocks noChangeArrowheads="1"/>
          </p:cNvSpPr>
          <p:nvPr/>
        </p:nvSpPr>
        <p:spPr bwMode="auto">
          <a:xfrm>
            <a:off x="6651625" y="35814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66442" name="Text Box 202"/>
          <p:cNvSpPr txBox="1">
            <a:spLocks noChangeArrowheads="1"/>
          </p:cNvSpPr>
          <p:nvPr/>
        </p:nvSpPr>
        <p:spPr bwMode="auto">
          <a:xfrm>
            <a:off x="7108825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266444" name="Text Box 204"/>
          <p:cNvSpPr txBox="1">
            <a:spLocks noChangeArrowheads="1"/>
          </p:cNvSpPr>
          <p:nvPr/>
        </p:nvSpPr>
        <p:spPr bwMode="auto">
          <a:xfrm>
            <a:off x="6575425" y="30480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266445" name="Text Box 205"/>
          <p:cNvSpPr txBox="1">
            <a:spLocks noChangeArrowheads="1"/>
          </p:cNvSpPr>
          <p:nvPr/>
        </p:nvSpPr>
        <p:spPr bwMode="auto">
          <a:xfrm>
            <a:off x="6423025" y="3276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266446" name="Text Box 206"/>
          <p:cNvSpPr txBox="1">
            <a:spLocks noChangeArrowheads="1"/>
          </p:cNvSpPr>
          <p:nvPr/>
        </p:nvSpPr>
        <p:spPr bwMode="auto">
          <a:xfrm>
            <a:off x="6575425" y="2743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66447" name="AutoShape 207"/>
          <p:cNvSpPr>
            <a:spLocks noChangeArrowheads="1"/>
          </p:cNvSpPr>
          <p:nvPr/>
        </p:nvSpPr>
        <p:spPr bwMode="auto">
          <a:xfrm>
            <a:off x="4267200" y="3200400"/>
            <a:ext cx="762000" cy="3048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11"/>
          <p:cNvGrpSpPr>
            <a:grpSpLocks/>
          </p:cNvGrpSpPr>
          <p:nvPr/>
        </p:nvGrpSpPr>
        <p:grpSpPr bwMode="auto">
          <a:xfrm>
            <a:off x="1295400" y="3657600"/>
            <a:ext cx="228600" cy="228600"/>
            <a:chOff x="1968" y="3216"/>
            <a:chExt cx="144" cy="144"/>
          </a:xfrm>
        </p:grpSpPr>
        <p:sp>
          <p:nvSpPr>
            <p:cNvPr id="58452" name="Line 212"/>
            <p:cNvSpPr>
              <a:spLocks noChangeShapeType="1"/>
            </p:cNvSpPr>
            <p:nvPr/>
          </p:nvSpPr>
          <p:spPr bwMode="auto">
            <a:xfrm>
              <a:off x="1968" y="3216"/>
              <a:ext cx="144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53" name="Line 213"/>
            <p:cNvSpPr>
              <a:spLocks noChangeShapeType="1"/>
            </p:cNvSpPr>
            <p:nvPr/>
          </p:nvSpPr>
          <p:spPr bwMode="auto">
            <a:xfrm flipV="1">
              <a:off x="1968" y="3216"/>
              <a:ext cx="144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14"/>
          <p:cNvGrpSpPr>
            <a:grpSpLocks/>
          </p:cNvGrpSpPr>
          <p:nvPr/>
        </p:nvGrpSpPr>
        <p:grpSpPr bwMode="auto">
          <a:xfrm>
            <a:off x="3733800" y="3657600"/>
            <a:ext cx="228600" cy="228600"/>
            <a:chOff x="1968" y="3216"/>
            <a:chExt cx="144" cy="144"/>
          </a:xfrm>
        </p:grpSpPr>
        <p:sp>
          <p:nvSpPr>
            <p:cNvPr id="58450" name="Line 215"/>
            <p:cNvSpPr>
              <a:spLocks noChangeShapeType="1"/>
            </p:cNvSpPr>
            <p:nvPr/>
          </p:nvSpPr>
          <p:spPr bwMode="auto">
            <a:xfrm>
              <a:off x="1968" y="3216"/>
              <a:ext cx="144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51" name="Line 216"/>
            <p:cNvSpPr>
              <a:spLocks noChangeShapeType="1"/>
            </p:cNvSpPr>
            <p:nvPr/>
          </p:nvSpPr>
          <p:spPr bwMode="auto">
            <a:xfrm flipV="1">
              <a:off x="1968" y="3216"/>
              <a:ext cx="144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217"/>
          <p:cNvGrpSpPr>
            <a:grpSpLocks/>
          </p:cNvGrpSpPr>
          <p:nvPr/>
        </p:nvGrpSpPr>
        <p:grpSpPr bwMode="auto">
          <a:xfrm>
            <a:off x="3733800" y="2819400"/>
            <a:ext cx="228600" cy="228600"/>
            <a:chOff x="1968" y="3216"/>
            <a:chExt cx="144" cy="144"/>
          </a:xfrm>
        </p:grpSpPr>
        <p:sp>
          <p:nvSpPr>
            <p:cNvPr id="58448" name="Line 218"/>
            <p:cNvSpPr>
              <a:spLocks noChangeShapeType="1"/>
            </p:cNvSpPr>
            <p:nvPr/>
          </p:nvSpPr>
          <p:spPr bwMode="auto">
            <a:xfrm>
              <a:off x="1968" y="3216"/>
              <a:ext cx="144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449" name="Line 219"/>
            <p:cNvSpPr>
              <a:spLocks noChangeShapeType="1"/>
            </p:cNvSpPr>
            <p:nvPr/>
          </p:nvSpPr>
          <p:spPr bwMode="auto">
            <a:xfrm flipV="1">
              <a:off x="1968" y="3216"/>
              <a:ext cx="144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460" name="Text Box 220"/>
          <p:cNvSpPr txBox="1">
            <a:spLocks noChangeArrowheads="1"/>
          </p:cNvSpPr>
          <p:nvPr/>
        </p:nvSpPr>
        <p:spPr bwMode="auto">
          <a:xfrm>
            <a:off x="7108825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66461" name="Text Box 221"/>
          <p:cNvSpPr txBox="1">
            <a:spLocks noChangeArrowheads="1"/>
          </p:cNvSpPr>
          <p:nvPr/>
        </p:nvSpPr>
        <p:spPr bwMode="auto">
          <a:xfrm>
            <a:off x="6096000" y="23622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folHlink"/>
                </a:solidFill>
              </a:rPr>
              <a:t>0</a:t>
            </a:r>
          </a:p>
        </p:txBody>
      </p:sp>
      <p:sp>
        <p:nvSpPr>
          <p:cNvPr id="266462" name="Freeform 222"/>
          <p:cNvSpPr>
            <a:spLocks/>
          </p:cNvSpPr>
          <p:nvPr/>
        </p:nvSpPr>
        <p:spPr bwMode="auto">
          <a:xfrm>
            <a:off x="5638800" y="3124200"/>
            <a:ext cx="1524000" cy="1130300"/>
          </a:xfrm>
          <a:custGeom>
            <a:avLst/>
            <a:gdLst>
              <a:gd name="T0" fmla="*/ 2147483647 w 960"/>
              <a:gd name="T1" fmla="*/ 2147483647 h 712"/>
              <a:gd name="T2" fmla="*/ 2147483647 w 960"/>
              <a:gd name="T3" fmla="*/ 2147483647 h 712"/>
              <a:gd name="T4" fmla="*/ 0 w 960"/>
              <a:gd name="T5" fmla="*/ 0 h 712"/>
              <a:gd name="T6" fmla="*/ 0 60000 65536"/>
              <a:gd name="T7" fmla="*/ 0 60000 65536"/>
              <a:gd name="T8" fmla="*/ 0 60000 65536"/>
              <a:gd name="T9" fmla="*/ 0 w 960"/>
              <a:gd name="T10" fmla="*/ 0 h 712"/>
              <a:gd name="T11" fmla="*/ 960 w 960"/>
              <a:gd name="T12" fmla="*/ 712 h 7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712">
                <a:moveTo>
                  <a:pt x="960" y="528"/>
                </a:moveTo>
                <a:cubicBezTo>
                  <a:pt x="752" y="620"/>
                  <a:pt x="544" y="712"/>
                  <a:pt x="384" y="624"/>
                </a:cubicBezTo>
                <a:cubicBezTo>
                  <a:pt x="224" y="536"/>
                  <a:pt x="112" y="268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63" name="Text Box 223"/>
          <p:cNvSpPr txBox="1">
            <a:spLocks noChangeArrowheads="1"/>
          </p:cNvSpPr>
          <p:nvPr/>
        </p:nvSpPr>
        <p:spPr bwMode="auto">
          <a:xfrm>
            <a:off x="6705600" y="40386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58446" name="Text Box 224"/>
          <p:cNvSpPr txBox="1">
            <a:spLocks noChangeArrowheads="1"/>
          </p:cNvSpPr>
          <p:nvPr/>
        </p:nvSpPr>
        <p:spPr bwMode="auto">
          <a:xfrm>
            <a:off x="5715000" y="5592763"/>
            <a:ext cx="1506538" cy="10699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u="sng">
                <a:solidFill>
                  <a:schemeClr val="folHlink"/>
                </a:solidFill>
              </a:rPr>
              <a:t>Equivalences:</a:t>
            </a:r>
            <a:r>
              <a:rPr lang="en-US" sz="1600">
                <a:solidFill>
                  <a:schemeClr val="folHlink"/>
                </a:solidFill>
              </a:rPr>
              <a:t> </a:t>
            </a:r>
          </a:p>
          <a:p>
            <a:pPr>
              <a:buFontTx/>
              <a:buChar char="•"/>
            </a:pPr>
            <a:r>
              <a:rPr lang="en-US" sz="1600">
                <a:solidFill>
                  <a:schemeClr val="folHlink"/>
                </a:solidFill>
              </a:rPr>
              <a:t> A=B</a:t>
            </a:r>
          </a:p>
          <a:p>
            <a:pPr>
              <a:buFontTx/>
              <a:buChar char="•"/>
            </a:pPr>
            <a:r>
              <a:rPr lang="en-US" sz="1600">
                <a:solidFill>
                  <a:schemeClr val="folHlink"/>
                </a:solidFill>
              </a:rPr>
              <a:t> C=H</a:t>
            </a:r>
          </a:p>
          <a:p>
            <a:pPr>
              <a:buFontTx/>
              <a:buChar char="•"/>
            </a:pPr>
            <a:r>
              <a:rPr lang="en-US" sz="1600">
                <a:solidFill>
                  <a:schemeClr val="folHlink"/>
                </a:solidFill>
              </a:rPr>
              <a:t> D=G      </a:t>
            </a:r>
          </a:p>
        </p:txBody>
      </p:sp>
      <p:sp>
        <p:nvSpPr>
          <p:cNvPr id="86" name="TextBox 85"/>
          <p:cNvSpPr txBox="1">
            <a:spLocks noChangeArrowheads="1"/>
          </p:cNvSpPr>
          <p:nvPr/>
        </p:nvSpPr>
        <p:spPr bwMode="auto">
          <a:xfrm>
            <a:off x="4419600" y="4724400"/>
            <a:ext cx="4554538" cy="7080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Retrain only one copy for </a:t>
            </a:r>
            <a:br>
              <a:rPr lang="en-US"/>
            </a:br>
            <a:r>
              <a:rPr lang="en-US"/>
              <a:t>	each equivalence set of states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6" grpId="0"/>
      <p:bldP spid="266407" grpId="0" animBg="1"/>
      <p:bldP spid="266408" grpId="0" animBg="1"/>
      <p:bldP spid="266409" grpId="0" animBg="1"/>
      <p:bldP spid="266410" grpId="0" animBg="1"/>
      <p:bldP spid="266411" grpId="0" animBg="1"/>
      <p:bldP spid="266412" grpId="0" animBg="1"/>
      <p:bldP spid="266413" grpId="0" animBg="1"/>
      <p:bldP spid="266417" grpId="0" animBg="1"/>
      <p:bldP spid="266419" grpId="0" animBg="1"/>
      <p:bldP spid="266420" grpId="0" animBg="1"/>
      <p:bldP spid="266423" grpId="0" animBg="1"/>
      <p:bldP spid="266424" grpId="0" animBg="1"/>
      <p:bldP spid="266425" grpId="0" animBg="1"/>
      <p:bldP spid="266429" grpId="0" animBg="1"/>
      <p:bldP spid="266430" grpId="0" animBg="1"/>
      <p:bldP spid="266431" grpId="0" animBg="1"/>
      <p:bldP spid="266432" grpId="0"/>
      <p:bldP spid="266433" grpId="0"/>
      <p:bldP spid="266436" grpId="0"/>
      <p:bldP spid="266442" grpId="0"/>
      <p:bldP spid="266444" grpId="0"/>
      <p:bldP spid="266445" grpId="0"/>
      <p:bldP spid="266446" grpId="0"/>
      <p:bldP spid="266447" grpId="0" animBg="1"/>
      <p:bldP spid="266460" grpId="0"/>
      <p:bldP spid="266461" grpId="0"/>
      <p:bldP spid="266462" grpId="0" animBg="1"/>
      <p:bldP spid="266463" grpId="0"/>
      <p:bldP spid="8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241EEAC-EA57-447B-9E49-6746C0782475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Filling Algorithm – special case</a:t>
            </a:r>
          </a:p>
        </p:txBody>
      </p:sp>
      <p:sp>
        <p:nvSpPr>
          <p:cNvPr id="59396" name="Rectangle 46"/>
          <p:cNvSpPr>
            <a:spLocks noChangeArrowheads="1"/>
          </p:cNvSpPr>
          <p:nvPr/>
        </p:nvSpPr>
        <p:spPr bwMode="auto">
          <a:xfrm>
            <a:off x="6767513" y="2493963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85743" name="Group 47"/>
          <p:cNvGraphicFramePr>
            <a:graphicFrameLocks noGrp="1"/>
          </p:cNvGraphicFramePr>
          <p:nvPr/>
        </p:nvGraphicFramePr>
        <p:xfrm>
          <a:off x="5105400" y="2133600"/>
          <a:ext cx="3429000" cy="329184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381000" y="5181600"/>
            <a:ext cx="4699000" cy="132397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Q) What happens if the input DFA</a:t>
            </a:r>
            <a:br>
              <a:rPr lang="en-US"/>
            </a:br>
            <a:r>
              <a:rPr lang="en-US"/>
              <a:t>	has more than one final state?</a:t>
            </a:r>
            <a:br>
              <a:rPr lang="en-US"/>
            </a:br>
            <a:r>
              <a:rPr lang="en-US"/>
              <a:t>     </a:t>
            </a:r>
            <a:r>
              <a:rPr lang="en-US">
                <a:solidFill>
                  <a:srgbClr val="FF0000"/>
                </a:solidFill>
              </a:rPr>
              <a:t>Can all final states initially be treated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	as equivalent to one another?</a:t>
            </a: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914400" y="2362200"/>
            <a:ext cx="3124200" cy="2209800"/>
            <a:chOff x="914400" y="2362200"/>
            <a:chExt cx="3124200" cy="2209800"/>
          </a:xfrm>
        </p:grpSpPr>
        <p:sp>
          <p:nvSpPr>
            <p:cNvPr id="59500" name="Oval 3"/>
            <p:cNvSpPr>
              <a:spLocks noChangeArrowheads="1"/>
            </p:cNvSpPr>
            <p:nvPr/>
          </p:nvSpPr>
          <p:spPr bwMode="auto">
            <a:xfrm>
              <a:off x="1295400" y="2819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A</a:t>
              </a:r>
            </a:p>
          </p:txBody>
        </p:sp>
        <p:sp>
          <p:nvSpPr>
            <p:cNvPr id="59501" name="Line 4"/>
            <p:cNvSpPr>
              <a:spLocks noChangeShapeType="1"/>
            </p:cNvSpPr>
            <p:nvPr/>
          </p:nvSpPr>
          <p:spPr bwMode="auto">
            <a:xfrm>
              <a:off x="914400" y="29718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02" name="Oval 5"/>
            <p:cNvSpPr>
              <a:spLocks noChangeArrowheads="1"/>
            </p:cNvSpPr>
            <p:nvPr/>
          </p:nvSpPr>
          <p:spPr bwMode="auto">
            <a:xfrm>
              <a:off x="2057400" y="2819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C</a:t>
              </a:r>
            </a:p>
          </p:txBody>
        </p:sp>
        <p:sp>
          <p:nvSpPr>
            <p:cNvPr id="59503" name="Line 6"/>
            <p:cNvSpPr>
              <a:spLocks noChangeShapeType="1"/>
            </p:cNvSpPr>
            <p:nvPr/>
          </p:nvSpPr>
          <p:spPr bwMode="auto">
            <a:xfrm>
              <a:off x="1600200" y="29718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04" name="Oval 7"/>
            <p:cNvSpPr>
              <a:spLocks noChangeArrowheads="1"/>
            </p:cNvSpPr>
            <p:nvPr/>
          </p:nvSpPr>
          <p:spPr bwMode="auto">
            <a:xfrm>
              <a:off x="2895600" y="2819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E</a:t>
              </a:r>
            </a:p>
          </p:txBody>
        </p:sp>
        <p:sp>
          <p:nvSpPr>
            <p:cNvPr id="59505" name="Line 8"/>
            <p:cNvSpPr>
              <a:spLocks noChangeShapeType="1"/>
            </p:cNvSpPr>
            <p:nvPr/>
          </p:nvSpPr>
          <p:spPr bwMode="auto">
            <a:xfrm>
              <a:off x="2362200" y="29718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06" name="Oval 9"/>
            <p:cNvSpPr>
              <a:spLocks noChangeArrowheads="1"/>
            </p:cNvSpPr>
            <p:nvPr/>
          </p:nvSpPr>
          <p:spPr bwMode="auto">
            <a:xfrm>
              <a:off x="2819400" y="2743200"/>
              <a:ext cx="457200" cy="457200"/>
            </a:xfrm>
            <a:prstGeom prst="ellipse">
              <a:avLst/>
            </a:prstGeom>
            <a:solidFill>
              <a:schemeClr val="accent1">
                <a:alpha val="117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07" name="Oval 10"/>
            <p:cNvSpPr>
              <a:spLocks noChangeArrowheads="1"/>
            </p:cNvSpPr>
            <p:nvPr/>
          </p:nvSpPr>
          <p:spPr bwMode="auto">
            <a:xfrm>
              <a:off x="3733800" y="2819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G</a:t>
              </a:r>
            </a:p>
          </p:txBody>
        </p:sp>
        <p:sp>
          <p:nvSpPr>
            <p:cNvPr id="59508" name="Line 11"/>
            <p:cNvSpPr>
              <a:spLocks noChangeShapeType="1"/>
            </p:cNvSpPr>
            <p:nvPr/>
          </p:nvSpPr>
          <p:spPr bwMode="auto">
            <a:xfrm flipH="1">
              <a:off x="3276600" y="29718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09" name="Oval 12"/>
            <p:cNvSpPr>
              <a:spLocks noChangeArrowheads="1"/>
            </p:cNvSpPr>
            <p:nvPr/>
          </p:nvSpPr>
          <p:spPr bwMode="auto">
            <a:xfrm>
              <a:off x="1295400" y="3657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B</a:t>
              </a:r>
            </a:p>
          </p:txBody>
        </p:sp>
        <p:sp>
          <p:nvSpPr>
            <p:cNvPr id="59510" name="Oval 13"/>
            <p:cNvSpPr>
              <a:spLocks noChangeArrowheads="1"/>
            </p:cNvSpPr>
            <p:nvPr/>
          </p:nvSpPr>
          <p:spPr bwMode="auto">
            <a:xfrm>
              <a:off x="2057400" y="3657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D</a:t>
              </a:r>
            </a:p>
          </p:txBody>
        </p:sp>
        <p:sp>
          <p:nvSpPr>
            <p:cNvPr id="59511" name="Line 14"/>
            <p:cNvSpPr>
              <a:spLocks noChangeShapeType="1"/>
            </p:cNvSpPr>
            <p:nvPr/>
          </p:nvSpPr>
          <p:spPr bwMode="auto">
            <a:xfrm>
              <a:off x="1600200" y="38100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12" name="Oval 15"/>
            <p:cNvSpPr>
              <a:spLocks noChangeArrowheads="1"/>
            </p:cNvSpPr>
            <p:nvPr/>
          </p:nvSpPr>
          <p:spPr bwMode="auto">
            <a:xfrm>
              <a:off x="2895600" y="3657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F</a:t>
              </a:r>
            </a:p>
          </p:txBody>
        </p:sp>
        <p:sp>
          <p:nvSpPr>
            <p:cNvPr id="59513" name="Line 16"/>
            <p:cNvSpPr>
              <a:spLocks noChangeShapeType="1"/>
            </p:cNvSpPr>
            <p:nvPr/>
          </p:nvSpPr>
          <p:spPr bwMode="auto">
            <a:xfrm>
              <a:off x="2362200" y="38100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14" name="Oval 17"/>
            <p:cNvSpPr>
              <a:spLocks noChangeArrowheads="1"/>
            </p:cNvSpPr>
            <p:nvPr/>
          </p:nvSpPr>
          <p:spPr bwMode="auto">
            <a:xfrm>
              <a:off x="3733800" y="3657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/>
                <a:t>H</a:t>
              </a:r>
            </a:p>
          </p:txBody>
        </p:sp>
        <p:sp>
          <p:nvSpPr>
            <p:cNvPr id="59515" name="Line 18"/>
            <p:cNvSpPr>
              <a:spLocks noChangeShapeType="1"/>
            </p:cNvSpPr>
            <p:nvPr/>
          </p:nvSpPr>
          <p:spPr bwMode="auto">
            <a:xfrm flipH="1">
              <a:off x="3200400" y="38100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16" name="Line 19"/>
            <p:cNvSpPr>
              <a:spLocks noChangeShapeType="1"/>
            </p:cNvSpPr>
            <p:nvPr/>
          </p:nvSpPr>
          <p:spPr bwMode="auto">
            <a:xfrm>
              <a:off x="1524000" y="3124200"/>
              <a:ext cx="609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17" name="Line 20"/>
            <p:cNvSpPr>
              <a:spLocks noChangeShapeType="1"/>
            </p:cNvSpPr>
            <p:nvPr/>
          </p:nvSpPr>
          <p:spPr bwMode="auto">
            <a:xfrm flipV="1">
              <a:off x="2286000" y="3124200"/>
              <a:ext cx="6096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18" name="Line 21"/>
            <p:cNvSpPr>
              <a:spLocks noChangeShapeType="1"/>
            </p:cNvSpPr>
            <p:nvPr/>
          </p:nvSpPr>
          <p:spPr bwMode="auto">
            <a:xfrm>
              <a:off x="2286000" y="3124200"/>
              <a:ext cx="685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19" name="Line 22"/>
            <p:cNvSpPr>
              <a:spLocks noChangeShapeType="1"/>
            </p:cNvSpPr>
            <p:nvPr/>
          </p:nvSpPr>
          <p:spPr bwMode="auto">
            <a:xfrm flipH="1">
              <a:off x="3124200" y="3124200"/>
              <a:ext cx="685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20" name="Freeform 23"/>
            <p:cNvSpPr>
              <a:spLocks/>
            </p:cNvSpPr>
            <p:nvPr/>
          </p:nvSpPr>
          <p:spPr bwMode="auto">
            <a:xfrm>
              <a:off x="1524000" y="3962400"/>
              <a:ext cx="1447800" cy="304800"/>
            </a:xfrm>
            <a:custGeom>
              <a:avLst/>
              <a:gdLst>
                <a:gd name="T0" fmla="*/ 2147483647 w 912"/>
                <a:gd name="T1" fmla="*/ 0 h 192"/>
                <a:gd name="T2" fmla="*/ 2147483647 w 912"/>
                <a:gd name="T3" fmla="*/ 2147483647 h 192"/>
                <a:gd name="T4" fmla="*/ 0 w 912"/>
                <a:gd name="T5" fmla="*/ 0 h 192"/>
                <a:gd name="T6" fmla="*/ 0 60000 65536"/>
                <a:gd name="T7" fmla="*/ 0 60000 65536"/>
                <a:gd name="T8" fmla="*/ 0 60000 65536"/>
                <a:gd name="T9" fmla="*/ 0 w 912"/>
                <a:gd name="T10" fmla="*/ 0 h 192"/>
                <a:gd name="T11" fmla="*/ 912 w 912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2" h="192">
                  <a:moveTo>
                    <a:pt x="912" y="0"/>
                  </a:moveTo>
                  <a:cubicBezTo>
                    <a:pt x="724" y="96"/>
                    <a:pt x="536" y="192"/>
                    <a:pt x="384" y="192"/>
                  </a:cubicBezTo>
                  <a:cubicBezTo>
                    <a:pt x="232" y="192"/>
                    <a:pt x="116" y="96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21" name="Freeform 24"/>
            <p:cNvSpPr>
              <a:spLocks/>
            </p:cNvSpPr>
            <p:nvPr/>
          </p:nvSpPr>
          <p:spPr bwMode="auto">
            <a:xfrm>
              <a:off x="1447800" y="3962400"/>
              <a:ext cx="2286000" cy="533400"/>
            </a:xfrm>
            <a:custGeom>
              <a:avLst/>
              <a:gdLst>
                <a:gd name="T0" fmla="*/ 0 w 1440"/>
                <a:gd name="T1" fmla="*/ 0 h 336"/>
                <a:gd name="T2" fmla="*/ 2147483647 w 1440"/>
                <a:gd name="T3" fmla="*/ 2147483647 h 336"/>
                <a:gd name="T4" fmla="*/ 2147483647 w 1440"/>
                <a:gd name="T5" fmla="*/ 0 h 336"/>
                <a:gd name="T6" fmla="*/ 0 60000 65536"/>
                <a:gd name="T7" fmla="*/ 0 60000 65536"/>
                <a:gd name="T8" fmla="*/ 0 60000 65536"/>
                <a:gd name="T9" fmla="*/ 0 w 1440"/>
                <a:gd name="T10" fmla="*/ 0 h 336"/>
                <a:gd name="T11" fmla="*/ 1440 w 1440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336">
                  <a:moveTo>
                    <a:pt x="0" y="0"/>
                  </a:moveTo>
                  <a:cubicBezTo>
                    <a:pt x="192" y="168"/>
                    <a:pt x="384" y="336"/>
                    <a:pt x="624" y="336"/>
                  </a:cubicBezTo>
                  <a:cubicBezTo>
                    <a:pt x="864" y="336"/>
                    <a:pt x="1152" y="168"/>
                    <a:pt x="144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22" name="Freeform 25"/>
            <p:cNvSpPr>
              <a:spLocks/>
            </p:cNvSpPr>
            <p:nvPr/>
          </p:nvSpPr>
          <p:spPr bwMode="auto">
            <a:xfrm>
              <a:off x="3022600" y="3886200"/>
              <a:ext cx="190500" cy="241300"/>
            </a:xfrm>
            <a:custGeom>
              <a:avLst/>
              <a:gdLst>
                <a:gd name="T0" fmla="*/ 2147483647 w 120"/>
                <a:gd name="T1" fmla="*/ 0 h 152"/>
                <a:gd name="T2" fmla="*/ 2147483647 w 120"/>
                <a:gd name="T3" fmla="*/ 2147483647 h 152"/>
                <a:gd name="T4" fmla="*/ 2147483647 w 120"/>
                <a:gd name="T5" fmla="*/ 2147483647 h 152"/>
                <a:gd name="T6" fmla="*/ 2147483647 w 120"/>
                <a:gd name="T7" fmla="*/ 2147483647 h 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0"/>
                <a:gd name="T13" fmla="*/ 0 h 152"/>
                <a:gd name="T14" fmla="*/ 120 w 120"/>
                <a:gd name="T15" fmla="*/ 152 h 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0" h="152">
                  <a:moveTo>
                    <a:pt x="64" y="0"/>
                  </a:moveTo>
                  <a:cubicBezTo>
                    <a:pt x="92" y="36"/>
                    <a:pt x="120" y="72"/>
                    <a:pt x="112" y="96"/>
                  </a:cubicBezTo>
                  <a:cubicBezTo>
                    <a:pt x="104" y="120"/>
                    <a:pt x="32" y="152"/>
                    <a:pt x="16" y="144"/>
                  </a:cubicBezTo>
                  <a:cubicBezTo>
                    <a:pt x="0" y="136"/>
                    <a:pt x="8" y="92"/>
                    <a:pt x="16" y="4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23" name="Freeform 26"/>
            <p:cNvSpPr>
              <a:spLocks/>
            </p:cNvSpPr>
            <p:nvPr/>
          </p:nvSpPr>
          <p:spPr bwMode="auto">
            <a:xfrm>
              <a:off x="2768600" y="2565400"/>
              <a:ext cx="482600" cy="177800"/>
            </a:xfrm>
            <a:custGeom>
              <a:avLst/>
              <a:gdLst>
                <a:gd name="T0" fmla="*/ 2147483647 w 304"/>
                <a:gd name="T1" fmla="*/ 2147483647 h 112"/>
                <a:gd name="T2" fmla="*/ 2147483647 w 304"/>
                <a:gd name="T3" fmla="*/ 2147483647 h 112"/>
                <a:gd name="T4" fmla="*/ 2147483647 w 304"/>
                <a:gd name="T5" fmla="*/ 2147483647 h 112"/>
                <a:gd name="T6" fmla="*/ 2147483647 w 304"/>
                <a:gd name="T7" fmla="*/ 2147483647 h 1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4"/>
                <a:gd name="T13" fmla="*/ 0 h 112"/>
                <a:gd name="T14" fmla="*/ 304 w 304"/>
                <a:gd name="T15" fmla="*/ 112 h 1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4" h="112">
                  <a:moveTo>
                    <a:pt x="80" y="112"/>
                  </a:moveTo>
                  <a:cubicBezTo>
                    <a:pt x="40" y="72"/>
                    <a:pt x="0" y="32"/>
                    <a:pt x="32" y="16"/>
                  </a:cubicBezTo>
                  <a:cubicBezTo>
                    <a:pt x="64" y="0"/>
                    <a:pt x="240" y="0"/>
                    <a:pt x="272" y="16"/>
                  </a:cubicBezTo>
                  <a:cubicBezTo>
                    <a:pt x="304" y="32"/>
                    <a:pt x="264" y="72"/>
                    <a:pt x="224" y="11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24" name="Freeform 27"/>
            <p:cNvSpPr>
              <a:spLocks/>
            </p:cNvSpPr>
            <p:nvPr/>
          </p:nvSpPr>
          <p:spPr bwMode="auto">
            <a:xfrm>
              <a:off x="1447800" y="2590800"/>
              <a:ext cx="1447800" cy="228600"/>
            </a:xfrm>
            <a:custGeom>
              <a:avLst/>
              <a:gdLst>
                <a:gd name="T0" fmla="*/ 2147483647 w 912"/>
                <a:gd name="T1" fmla="*/ 2147483647 h 144"/>
                <a:gd name="T2" fmla="*/ 2147483647 w 912"/>
                <a:gd name="T3" fmla="*/ 0 h 144"/>
                <a:gd name="T4" fmla="*/ 0 w 912"/>
                <a:gd name="T5" fmla="*/ 2147483647 h 144"/>
                <a:gd name="T6" fmla="*/ 0 60000 65536"/>
                <a:gd name="T7" fmla="*/ 0 60000 65536"/>
                <a:gd name="T8" fmla="*/ 0 60000 65536"/>
                <a:gd name="T9" fmla="*/ 0 w 912"/>
                <a:gd name="T10" fmla="*/ 0 h 144"/>
                <a:gd name="T11" fmla="*/ 912 w 912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2" h="144">
                  <a:moveTo>
                    <a:pt x="912" y="144"/>
                  </a:moveTo>
                  <a:cubicBezTo>
                    <a:pt x="748" y="72"/>
                    <a:pt x="584" y="0"/>
                    <a:pt x="432" y="0"/>
                  </a:cubicBezTo>
                  <a:cubicBezTo>
                    <a:pt x="280" y="0"/>
                    <a:pt x="140" y="72"/>
                    <a:pt x="0" y="14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25" name="Text Box 28"/>
            <p:cNvSpPr txBox="1">
              <a:spLocks noChangeArrowheads="1"/>
            </p:cNvSpPr>
            <p:nvPr/>
          </p:nvSpPr>
          <p:spPr bwMode="auto">
            <a:xfrm>
              <a:off x="1622425" y="2743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26" name="Text Box 29"/>
            <p:cNvSpPr txBox="1">
              <a:spLocks noChangeArrowheads="1"/>
            </p:cNvSpPr>
            <p:nvPr/>
          </p:nvSpPr>
          <p:spPr bwMode="auto">
            <a:xfrm>
              <a:off x="1676400" y="3124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27" name="Text Box 30"/>
            <p:cNvSpPr txBox="1">
              <a:spLocks noChangeArrowheads="1"/>
            </p:cNvSpPr>
            <p:nvPr/>
          </p:nvSpPr>
          <p:spPr bwMode="auto">
            <a:xfrm>
              <a:off x="1600200" y="35814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28" name="Text Box 31"/>
            <p:cNvSpPr txBox="1">
              <a:spLocks noChangeArrowheads="1"/>
            </p:cNvSpPr>
            <p:nvPr/>
          </p:nvSpPr>
          <p:spPr bwMode="auto">
            <a:xfrm>
              <a:off x="2155825" y="39624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29" name="Text Box 32"/>
            <p:cNvSpPr txBox="1">
              <a:spLocks noChangeArrowheads="1"/>
            </p:cNvSpPr>
            <p:nvPr/>
          </p:nvSpPr>
          <p:spPr bwMode="auto">
            <a:xfrm>
              <a:off x="2460625" y="35814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30" name="Text Box 33"/>
            <p:cNvSpPr txBox="1">
              <a:spLocks noChangeArrowheads="1"/>
            </p:cNvSpPr>
            <p:nvPr/>
          </p:nvSpPr>
          <p:spPr bwMode="auto">
            <a:xfrm>
              <a:off x="3581400" y="32004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31" name="Text Box 34"/>
            <p:cNvSpPr txBox="1">
              <a:spLocks noChangeArrowheads="1"/>
            </p:cNvSpPr>
            <p:nvPr/>
          </p:nvSpPr>
          <p:spPr bwMode="auto">
            <a:xfrm>
              <a:off x="3222625" y="3124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32" name="Line 35"/>
            <p:cNvSpPr>
              <a:spLocks noChangeShapeType="1"/>
            </p:cNvSpPr>
            <p:nvPr/>
          </p:nvSpPr>
          <p:spPr bwMode="auto">
            <a:xfrm flipH="1" flipV="1">
              <a:off x="3124200" y="3124200"/>
              <a:ext cx="609600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33" name="Text Box 36"/>
            <p:cNvSpPr txBox="1">
              <a:spLocks noChangeArrowheads="1"/>
            </p:cNvSpPr>
            <p:nvPr/>
          </p:nvSpPr>
          <p:spPr bwMode="auto">
            <a:xfrm>
              <a:off x="2841625" y="2362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34" name="Text Box 37"/>
            <p:cNvSpPr txBox="1">
              <a:spLocks noChangeArrowheads="1"/>
            </p:cNvSpPr>
            <p:nvPr/>
          </p:nvSpPr>
          <p:spPr bwMode="auto">
            <a:xfrm>
              <a:off x="1927225" y="2362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35" name="Text Box 38"/>
            <p:cNvSpPr txBox="1">
              <a:spLocks noChangeArrowheads="1"/>
            </p:cNvSpPr>
            <p:nvPr/>
          </p:nvSpPr>
          <p:spPr bwMode="auto">
            <a:xfrm>
              <a:off x="2384425" y="4267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36" name="Text Box 39"/>
            <p:cNvSpPr txBox="1">
              <a:spLocks noChangeArrowheads="1"/>
            </p:cNvSpPr>
            <p:nvPr/>
          </p:nvSpPr>
          <p:spPr bwMode="auto">
            <a:xfrm>
              <a:off x="3298825" y="35814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37" name="Text Box 40"/>
            <p:cNvSpPr txBox="1">
              <a:spLocks noChangeArrowheads="1"/>
            </p:cNvSpPr>
            <p:nvPr/>
          </p:nvSpPr>
          <p:spPr bwMode="auto">
            <a:xfrm>
              <a:off x="2917825" y="40386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38" name="Text Box 41"/>
            <p:cNvSpPr txBox="1">
              <a:spLocks noChangeArrowheads="1"/>
            </p:cNvSpPr>
            <p:nvPr/>
          </p:nvSpPr>
          <p:spPr bwMode="auto">
            <a:xfrm>
              <a:off x="3375025" y="2743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39" name="Text Box 42"/>
            <p:cNvSpPr txBox="1">
              <a:spLocks noChangeArrowheads="1"/>
            </p:cNvSpPr>
            <p:nvPr/>
          </p:nvSpPr>
          <p:spPr bwMode="auto">
            <a:xfrm>
              <a:off x="2384425" y="30480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40" name="Text Box 43"/>
            <p:cNvSpPr txBox="1">
              <a:spLocks noChangeArrowheads="1"/>
            </p:cNvSpPr>
            <p:nvPr/>
          </p:nvSpPr>
          <p:spPr bwMode="auto">
            <a:xfrm>
              <a:off x="2232025" y="32766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folHlink"/>
                  </a:solidFill>
                </a:rPr>
                <a:t>0</a:t>
              </a:r>
            </a:p>
          </p:txBody>
        </p:sp>
        <p:sp>
          <p:nvSpPr>
            <p:cNvPr id="59541" name="Text Box 44"/>
            <p:cNvSpPr txBox="1">
              <a:spLocks noChangeArrowheads="1"/>
            </p:cNvSpPr>
            <p:nvPr/>
          </p:nvSpPr>
          <p:spPr bwMode="auto">
            <a:xfrm>
              <a:off x="2384425" y="2743200"/>
              <a:ext cx="2825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9542" name="Oval 9"/>
            <p:cNvSpPr>
              <a:spLocks noChangeArrowheads="1"/>
            </p:cNvSpPr>
            <p:nvPr/>
          </p:nvSpPr>
          <p:spPr bwMode="auto">
            <a:xfrm>
              <a:off x="1981200" y="3581400"/>
              <a:ext cx="457200" cy="457200"/>
            </a:xfrm>
            <a:prstGeom prst="ellipse">
              <a:avLst/>
            </a:prstGeom>
            <a:solidFill>
              <a:schemeClr val="accent1">
                <a:alpha val="1176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6705600" y="3581400"/>
            <a:ext cx="3413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A5E01A-A94E-4C4D-A831-9947F393C80B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to minimize a DFA?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u="sng"/>
              <a:t>Goal:</a:t>
            </a:r>
            <a:r>
              <a:rPr lang="en-US"/>
              <a:t> Minimize the number of states in a DFA</a:t>
            </a:r>
          </a:p>
          <a:p>
            <a:pPr marL="609600" indent="-609600" eaLnBrk="1" hangingPunct="1">
              <a:lnSpc>
                <a:spcPct val="90000"/>
              </a:lnSpc>
            </a:pPr>
            <a:r>
              <a:rPr lang="en-US" u="sng"/>
              <a:t>Algorithm:</a:t>
            </a:r>
            <a:endParaRPr lang="en-US"/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/>
              <a:t>Eliminate states unreachable from the start state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/>
              <a:t>Identify and remove equivalent states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</a:pPr>
            <a:r>
              <a:rPr lang="en-US"/>
              <a:t>Output the resultant DFA 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581400" y="2819400"/>
            <a:ext cx="5121275" cy="1676400"/>
            <a:chOff x="2256" y="1776"/>
            <a:chExt cx="3226" cy="1056"/>
          </a:xfrm>
        </p:grpSpPr>
        <p:sp>
          <p:nvSpPr>
            <p:cNvPr id="60423" name="Text Box 4"/>
            <p:cNvSpPr txBox="1">
              <a:spLocks noChangeArrowheads="1"/>
            </p:cNvSpPr>
            <p:nvPr/>
          </p:nvSpPr>
          <p:spPr bwMode="auto">
            <a:xfrm>
              <a:off x="2592" y="1776"/>
              <a:ext cx="2890" cy="25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folHlink"/>
                  </a:solidFill>
                </a:rPr>
                <a:t>Depth-first traversal from the start state</a:t>
              </a:r>
            </a:p>
          </p:txBody>
        </p:sp>
        <p:sp>
          <p:nvSpPr>
            <p:cNvPr id="60424" name="Text Box 5"/>
            <p:cNvSpPr txBox="1">
              <a:spLocks noChangeArrowheads="1"/>
            </p:cNvSpPr>
            <p:nvPr/>
          </p:nvSpPr>
          <p:spPr bwMode="auto">
            <a:xfrm>
              <a:off x="2726" y="2544"/>
              <a:ext cx="1628" cy="25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folHlink"/>
                  </a:solidFill>
                </a:rPr>
                <a:t>Table filling algorithm</a:t>
              </a:r>
            </a:p>
          </p:txBody>
        </p:sp>
        <p:sp>
          <p:nvSpPr>
            <p:cNvPr id="60425" name="Line 6"/>
            <p:cNvSpPr>
              <a:spLocks noChangeShapeType="1"/>
            </p:cNvSpPr>
            <p:nvPr/>
          </p:nvSpPr>
          <p:spPr bwMode="auto">
            <a:xfrm flipH="1">
              <a:off x="3216" y="2016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6" name="Line 7"/>
            <p:cNvSpPr>
              <a:spLocks noChangeShapeType="1"/>
            </p:cNvSpPr>
            <p:nvPr/>
          </p:nvSpPr>
          <p:spPr bwMode="auto">
            <a:xfrm flipH="1">
              <a:off x="2256" y="2736"/>
              <a:ext cx="48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0422" name="TextBox 9"/>
          <p:cNvSpPr txBox="1">
            <a:spLocks noChangeArrowheads="1"/>
          </p:cNvSpPr>
          <p:nvPr/>
        </p:nvSpPr>
        <p:spPr bwMode="auto">
          <a:xfrm>
            <a:off x="228600" y="228600"/>
            <a:ext cx="3921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Putting it all together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8479D66-7778-4E0B-9949-BCBA685EF0EC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Are Two DFAs Equivalent?</a:t>
            </a:r>
          </a:p>
        </p:txBody>
      </p:sp>
      <p:sp>
        <p:nvSpPr>
          <p:cNvPr id="61444" name="Line 3"/>
          <p:cNvSpPr>
            <a:spLocks noChangeShapeType="1"/>
          </p:cNvSpPr>
          <p:nvPr/>
        </p:nvSpPr>
        <p:spPr bwMode="auto">
          <a:xfrm>
            <a:off x="3276600" y="2895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45" name="Oval 4"/>
          <p:cNvSpPr>
            <a:spLocks noChangeArrowheads="1"/>
          </p:cNvSpPr>
          <p:nvPr/>
        </p:nvSpPr>
        <p:spPr bwMode="auto">
          <a:xfrm>
            <a:off x="3657600" y="2743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q</a:t>
            </a:r>
            <a:r>
              <a:rPr lang="en-US" sz="1600" baseline="-25000"/>
              <a:t>0</a:t>
            </a:r>
            <a:endParaRPr lang="en-US" sz="1600"/>
          </a:p>
        </p:txBody>
      </p:sp>
      <p:sp>
        <p:nvSpPr>
          <p:cNvPr id="61446" name="Line 7"/>
          <p:cNvSpPr>
            <a:spLocks noChangeShapeType="1"/>
          </p:cNvSpPr>
          <p:nvPr/>
        </p:nvSpPr>
        <p:spPr bwMode="auto">
          <a:xfrm flipV="1">
            <a:off x="4038600" y="2743200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47" name="Line 21"/>
          <p:cNvSpPr>
            <a:spLocks noChangeShapeType="1"/>
          </p:cNvSpPr>
          <p:nvPr/>
        </p:nvSpPr>
        <p:spPr bwMode="auto">
          <a:xfrm>
            <a:off x="4038600" y="2971800"/>
            <a:ext cx="533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48" name="Text Box 22"/>
          <p:cNvSpPr txBox="1">
            <a:spLocks noChangeArrowheads="1"/>
          </p:cNvSpPr>
          <p:nvPr/>
        </p:nvSpPr>
        <p:spPr bwMode="auto">
          <a:xfrm>
            <a:off x="4632325" y="2762250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61449" name="AutoShape 23"/>
          <p:cNvSpPr>
            <a:spLocks noChangeArrowheads="1"/>
          </p:cNvSpPr>
          <p:nvPr/>
        </p:nvSpPr>
        <p:spPr bwMode="auto">
          <a:xfrm>
            <a:off x="3505200" y="2362200"/>
            <a:ext cx="3048000" cy="1066800"/>
          </a:xfrm>
          <a:prstGeom prst="roundRect">
            <a:avLst>
              <a:gd name="adj" fmla="val 16667"/>
            </a:avLst>
          </a:prstGeom>
          <a:solidFill>
            <a:schemeClr val="accent1">
              <a:alpha val="5882"/>
            </a:schemeClr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61450" name="Line 24"/>
          <p:cNvSpPr>
            <a:spLocks noChangeShapeType="1"/>
          </p:cNvSpPr>
          <p:nvPr/>
        </p:nvSpPr>
        <p:spPr bwMode="auto">
          <a:xfrm>
            <a:off x="3311525" y="438467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51" name="Oval 25"/>
          <p:cNvSpPr>
            <a:spLocks noChangeArrowheads="1"/>
          </p:cNvSpPr>
          <p:nvPr/>
        </p:nvSpPr>
        <p:spPr bwMode="auto">
          <a:xfrm>
            <a:off x="3692525" y="4232275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q</a:t>
            </a:r>
            <a:r>
              <a:rPr lang="en-US" sz="1600" baseline="-25000"/>
              <a:t>0</a:t>
            </a:r>
            <a:r>
              <a:rPr lang="en-US" sz="1600"/>
              <a:t>’</a:t>
            </a:r>
          </a:p>
        </p:txBody>
      </p:sp>
      <p:sp>
        <p:nvSpPr>
          <p:cNvPr id="61452" name="Line 26"/>
          <p:cNvSpPr>
            <a:spLocks noChangeShapeType="1"/>
          </p:cNvSpPr>
          <p:nvPr/>
        </p:nvSpPr>
        <p:spPr bwMode="auto">
          <a:xfrm flipV="1">
            <a:off x="4073525" y="4232275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53" name="Line 27"/>
          <p:cNvSpPr>
            <a:spLocks noChangeShapeType="1"/>
          </p:cNvSpPr>
          <p:nvPr/>
        </p:nvSpPr>
        <p:spPr bwMode="auto">
          <a:xfrm>
            <a:off x="4073525" y="4460875"/>
            <a:ext cx="533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54" name="Text Box 28"/>
          <p:cNvSpPr txBox="1">
            <a:spLocks noChangeArrowheads="1"/>
          </p:cNvSpPr>
          <p:nvPr/>
        </p:nvSpPr>
        <p:spPr bwMode="auto">
          <a:xfrm>
            <a:off x="4667250" y="4251325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61455" name="AutoShape 30"/>
          <p:cNvSpPr>
            <a:spLocks noChangeArrowheads="1"/>
          </p:cNvSpPr>
          <p:nvPr/>
        </p:nvSpPr>
        <p:spPr bwMode="auto">
          <a:xfrm>
            <a:off x="3505200" y="3886200"/>
            <a:ext cx="3048000" cy="1066800"/>
          </a:xfrm>
          <a:prstGeom prst="roundRect">
            <a:avLst>
              <a:gd name="adj" fmla="val 16667"/>
            </a:avLst>
          </a:prstGeom>
          <a:solidFill>
            <a:schemeClr val="accent1">
              <a:alpha val="5882"/>
            </a:schemeClr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56" name="Text Box 32"/>
          <p:cNvSpPr txBox="1">
            <a:spLocks noChangeArrowheads="1"/>
          </p:cNvSpPr>
          <p:nvPr/>
        </p:nvSpPr>
        <p:spPr bwMode="auto">
          <a:xfrm>
            <a:off x="3559175" y="2041525"/>
            <a:ext cx="784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DFA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61457" name="Text Box 33"/>
          <p:cNvSpPr txBox="1">
            <a:spLocks noChangeArrowheads="1"/>
          </p:cNvSpPr>
          <p:nvPr/>
        </p:nvSpPr>
        <p:spPr bwMode="auto">
          <a:xfrm>
            <a:off x="3505200" y="3505200"/>
            <a:ext cx="784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DFA</a:t>
            </a:r>
            <a:r>
              <a:rPr lang="en-US" baseline="-25000"/>
              <a:t>2</a:t>
            </a:r>
            <a:endParaRPr lang="en-US"/>
          </a:p>
        </p:txBody>
      </p:sp>
      <p:sp>
        <p:nvSpPr>
          <p:cNvPr id="268322" name="Freeform 34"/>
          <p:cNvSpPr>
            <a:spLocks/>
          </p:cNvSpPr>
          <p:nvPr/>
        </p:nvSpPr>
        <p:spPr bwMode="auto">
          <a:xfrm>
            <a:off x="1752600" y="2857500"/>
            <a:ext cx="1524000" cy="825500"/>
          </a:xfrm>
          <a:custGeom>
            <a:avLst/>
            <a:gdLst>
              <a:gd name="T0" fmla="*/ 0 w 960"/>
              <a:gd name="T1" fmla="*/ 2147483647 h 520"/>
              <a:gd name="T2" fmla="*/ 2147483647 w 960"/>
              <a:gd name="T3" fmla="*/ 2147483647 h 520"/>
              <a:gd name="T4" fmla="*/ 2147483647 w 960"/>
              <a:gd name="T5" fmla="*/ 2147483647 h 520"/>
              <a:gd name="T6" fmla="*/ 2147483647 w 960"/>
              <a:gd name="T7" fmla="*/ 2147483647 h 520"/>
              <a:gd name="T8" fmla="*/ 0 60000 65536"/>
              <a:gd name="T9" fmla="*/ 0 60000 65536"/>
              <a:gd name="T10" fmla="*/ 0 60000 65536"/>
              <a:gd name="T11" fmla="*/ 0 60000 65536"/>
              <a:gd name="T12" fmla="*/ 0 w 960"/>
              <a:gd name="T13" fmla="*/ 0 h 520"/>
              <a:gd name="T14" fmla="*/ 960 w 960"/>
              <a:gd name="T15" fmla="*/ 520 h 5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0" h="520">
                <a:moveTo>
                  <a:pt x="0" y="456"/>
                </a:moveTo>
                <a:cubicBezTo>
                  <a:pt x="116" y="488"/>
                  <a:pt x="232" y="520"/>
                  <a:pt x="288" y="456"/>
                </a:cubicBezTo>
                <a:cubicBezTo>
                  <a:pt x="344" y="392"/>
                  <a:pt x="224" y="144"/>
                  <a:pt x="336" y="72"/>
                </a:cubicBezTo>
                <a:cubicBezTo>
                  <a:pt x="448" y="0"/>
                  <a:pt x="704" y="12"/>
                  <a:pt x="960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23" name="AutoShape 35"/>
          <p:cNvSpPr>
            <a:spLocks noChangeArrowheads="1"/>
          </p:cNvSpPr>
          <p:nvPr/>
        </p:nvSpPr>
        <p:spPr bwMode="auto">
          <a:xfrm>
            <a:off x="2743200" y="1981200"/>
            <a:ext cx="4572000" cy="3124200"/>
          </a:xfrm>
          <a:prstGeom prst="roundRect">
            <a:avLst>
              <a:gd name="adj" fmla="val 16667"/>
            </a:avLst>
          </a:prstGeom>
          <a:solidFill>
            <a:srgbClr val="FFCC99">
              <a:alpha val="12941"/>
            </a:srgbClr>
          </a:solidFill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8324" name="Text Box 36"/>
          <p:cNvSpPr txBox="1">
            <a:spLocks noChangeArrowheads="1"/>
          </p:cNvSpPr>
          <p:nvPr/>
        </p:nvSpPr>
        <p:spPr bwMode="auto">
          <a:xfrm>
            <a:off x="1508125" y="2076450"/>
            <a:ext cx="15541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Unified DFA</a:t>
            </a:r>
          </a:p>
        </p:txBody>
      </p:sp>
      <p:sp>
        <p:nvSpPr>
          <p:cNvPr id="55317" name="Text Box 37"/>
          <p:cNvSpPr txBox="1">
            <a:spLocks noChangeArrowheads="1"/>
          </p:cNvSpPr>
          <p:nvPr/>
        </p:nvSpPr>
        <p:spPr bwMode="auto">
          <a:xfrm>
            <a:off x="457200" y="5105400"/>
            <a:ext cx="7851775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Arial" charset="0"/>
              <a:buAutoNum type="arabicPeriod"/>
            </a:pPr>
            <a:r>
              <a:rPr lang="en-US"/>
              <a:t>Make a new dummy DFA by just putting together both DFAs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/>
              <a:t>Run table-filling algorithm on the unified DFA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i="1"/>
              <a:t>IF</a:t>
            </a:r>
            <a:r>
              <a:rPr lang="en-US"/>
              <a:t> the start states of both DFAs are found to be equivalent, </a:t>
            </a:r>
            <a:br>
              <a:rPr lang="en-US"/>
            </a:br>
            <a:r>
              <a:rPr lang="en-US"/>
              <a:t>		</a:t>
            </a:r>
            <a:r>
              <a:rPr lang="en-US" i="1"/>
              <a:t>THEN:</a:t>
            </a:r>
            <a:r>
              <a:rPr lang="en-US"/>
              <a:t>	DFA</a:t>
            </a:r>
            <a:r>
              <a:rPr lang="en-US" baseline="-25000"/>
              <a:t>1</a:t>
            </a:r>
            <a:r>
              <a:rPr lang="en-US"/>
              <a:t>≡ DFA</a:t>
            </a:r>
            <a:r>
              <a:rPr lang="en-US" baseline="-25000"/>
              <a:t>2	</a:t>
            </a:r>
            <a:br>
              <a:rPr lang="en-US"/>
            </a:br>
            <a:r>
              <a:rPr lang="en-US"/>
              <a:t>		</a:t>
            </a:r>
            <a:r>
              <a:rPr lang="en-US" i="1"/>
              <a:t>ELSE:</a:t>
            </a:r>
            <a:r>
              <a:rPr lang="en-US"/>
              <a:t>	different</a:t>
            </a:r>
            <a:endParaRPr lang="en-US" baseline="-25000"/>
          </a:p>
          <a:p>
            <a:pPr marL="457200" indent="-457200">
              <a:buFont typeface="Arial" charset="0"/>
              <a:buAutoNum type="arabicPeriod"/>
            </a:pPr>
            <a:endParaRPr lang="en-US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6629400" y="3124200"/>
            <a:ext cx="2474913" cy="830263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Is q</a:t>
            </a:r>
            <a:r>
              <a:rPr lang="en-US" sz="1600" baseline="-25000"/>
              <a:t>0</a:t>
            </a:r>
            <a:r>
              <a:rPr lang="en-US" sz="1600"/>
              <a:t> ≡ q</a:t>
            </a:r>
            <a:r>
              <a:rPr lang="en-US" sz="1600" baseline="-25000"/>
              <a:t>0</a:t>
            </a:r>
            <a:r>
              <a:rPr lang="en-US" sz="1600"/>
              <a:t>’?</a:t>
            </a:r>
            <a:br>
              <a:rPr lang="en-US" sz="1600"/>
            </a:br>
            <a:r>
              <a:rPr lang="en-US" sz="1600"/>
              <a:t> : if yes, then DFA</a:t>
            </a:r>
            <a:r>
              <a:rPr lang="en-US" sz="1600" baseline="-25000"/>
              <a:t>1</a:t>
            </a:r>
            <a:r>
              <a:rPr lang="en-US" sz="1600">
                <a:cs typeface="Arial" charset="0"/>
              </a:rPr>
              <a:t>≡DFA</a:t>
            </a:r>
            <a:r>
              <a:rPr lang="en-US" sz="1600" baseline="-25000">
                <a:cs typeface="Arial" charset="0"/>
              </a:rPr>
              <a:t>2</a:t>
            </a:r>
          </a:p>
          <a:p>
            <a:r>
              <a:rPr lang="en-US" sz="1600"/>
              <a:t> : else, not equiv.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322" grpId="0" animBg="1"/>
      <p:bldP spid="268323" grpId="0" animBg="1"/>
      <p:bldP spid="268324" grpId="0"/>
      <p:bldP spid="55317" grpId="0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D6D0259-1826-4F0D-9F61-CD9C3F803B5C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000"/>
              <a:t>How to prove languages are not regular?</a:t>
            </a:r>
          </a:p>
          <a:p>
            <a:pPr lvl="1" eaLnBrk="1" hangingPunct="1"/>
            <a:r>
              <a:rPr lang="en-US" sz="2000"/>
              <a:t>Pumping lemma &amp; its applications</a:t>
            </a:r>
          </a:p>
          <a:p>
            <a:pPr eaLnBrk="1" hangingPunct="1"/>
            <a:endParaRPr lang="en-US" sz="2000"/>
          </a:p>
          <a:p>
            <a:pPr eaLnBrk="1" hangingPunct="1"/>
            <a:r>
              <a:rPr lang="en-US" sz="2000"/>
              <a:t>Closure properties of regular languages</a:t>
            </a:r>
          </a:p>
          <a:p>
            <a:pPr eaLnBrk="1" hangingPunct="1"/>
            <a:endParaRPr lang="en-US" sz="2000"/>
          </a:p>
          <a:p>
            <a:pPr eaLnBrk="1" hangingPunct="1"/>
            <a:r>
              <a:rPr lang="en-US" sz="2000"/>
              <a:t>Simplification of DFAs</a:t>
            </a:r>
          </a:p>
          <a:p>
            <a:pPr lvl="1" eaLnBrk="1" hangingPunct="1"/>
            <a:r>
              <a:rPr lang="en-US" sz="2000"/>
              <a:t>How to remove unreachable states?</a:t>
            </a:r>
          </a:p>
          <a:p>
            <a:pPr lvl="1" eaLnBrk="1" hangingPunct="1"/>
            <a:r>
              <a:rPr lang="en-US" sz="2000"/>
              <a:t>How to identify and collapse equivalent states?</a:t>
            </a:r>
          </a:p>
          <a:p>
            <a:pPr lvl="1" eaLnBrk="1" hangingPunct="1"/>
            <a:r>
              <a:rPr lang="en-US" sz="2000"/>
              <a:t>How to minimize a DFA?</a:t>
            </a:r>
          </a:p>
          <a:p>
            <a:pPr lvl="1" eaLnBrk="1" hangingPunct="1"/>
            <a:r>
              <a:rPr lang="en-US" sz="2000"/>
              <a:t>How to tell whether two DFAs are equivalent?</a:t>
            </a:r>
            <a:endParaRPr lang="en-US" sz="2000">
              <a:ea typeface="ＭＳ Ｐゴシック" pitchFamily="28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2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28" charset="-128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2004:Templates:Presentations:Designs:Blends</Template>
  <TotalTime>2957</TotalTime>
  <Words>5744</Words>
  <Application>Microsoft Office PowerPoint</Application>
  <PresentationFormat>On-screen Show (4:3)</PresentationFormat>
  <Paragraphs>1576</Paragraphs>
  <Slides>59</Slides>
  <Notes>55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ＭＳ Ｐゴシック</vt:lpstr>
      <vt:lpstr>Arial</vt:lpstr>
      <vt:lpstr>Arial MT</vt:lpstr>
      <vt:lpstr>Geneva</vt:lpstr>
      <vt:lpstr>Lucida Grande</vt:lpstr>
      <vt:lpstr>Symbol</vt:lpstr>
      <vt:lpstr>Wingdings</vt:lpstr>
      <vt:lpstr>Blends</vt:lpstr>
      <vt:lpstr>Properties of Regular Languages</vt:lpstr>
      <vt:lpstr>Topics</vt:lpstr>
      <vt:lpstr>Some languages are not regular</vt:lpstr>
      <vt:lpstr>How to prove languages are not regular?</vt:lpstr>
      <vt:lpstr>Example of a non-regular language </vt:lpstr>
      <vt:lpstr>Rationale… </vt:lpstr>
      <vt:lpstr>The Pumping Lemma for Regular Languages</vt:lpstr>
      <vt:lpstr>Pumping Lemma for Regular Languages</vt:lpstr>
      <vt:lpstr>Pumping Lemma: Proof</vt:lpstr>
      <vt:lpstr>Pumping Lemma: Proof…</vt:lpstr>
      <vt:lpstr>Pumping Lemma: Proof…</vt:lpstr>
      <vt:lpstr>The Purpose of the Pumping Lemma for RL</vt:lpstr>
      <vt:lpstr>How to use the pumping lemma? </vt:lpstr>
      <vt:lpstr>How to use the pumping lemma? (The Steps)</vt:lpstr>
      <vt:lpstr>Using the Pumping Lemma </vt:lpstr>
      <vt:lpstr>Example of using the Pumping Lemma to prove that a language is not regular</vt:lpstr>
      <vt:lpstr>Proof…  </vt:lpstr>
      <vt:lpstr>Exercise 2</vt:lpstr>
      <vt:lpstr>Example 3: Pumping Lemma</vt:lpstr>
      <vt:lpstr>Example 3: Pumping Lemma</vt:lpstr>
      <vt:lpstr>Closure properties of Regular Languages</vt:lpstr>
      <vt:lpstr>Closure properties for Regular Languages (RL)</vt:lpstr>
      <vt:lpstr>RLs are closed under union </vt:lpstr>
      <vt:lpstr>RLs are closed under complementation</vt:lpstr>
      <vt:lpstr>RLs are closed under intersection</vt:lpstr>
      <vt:lpstr>DFA construction for L ∩ M</vt:lpstr>
      <vt:lpstr>DFA construction for L ∩ M</vt:lpstr>
      <vt:lpstr>RLs are closed under set difference</vt:lpstr>
      <vt:lpstr>RLs are closed under reversal</vt:lpstr>
      <vt:lpstr> -NFA Construction for LR</vt:lpstr>
      <vt:lpstr>If L is regular, LR is regular (proof using regular expressions)</vt:lpstr>
      <vt:lpstr>Homomorphisms</vt:lpstr>
      <vt:lpstr>RLs are closed under homomorphisms</vt:lpstr>
      <vt:lpstr>FA Construction for h(L)</vt:lpstr>
      <vt:lpstr>Inverse homomorphism</vt:lpstr>
      <vt:lpstr>Decision properties of regular languages</vt:lpstr>
      <vt:lpstr>Membership question</vt:lpstr>
      <vt:lpstr>Emptiness test</vt:lpstr>
      <vt:lpstr>Finiteness</vt:lpstr>
      <vt:lpstr>Finiteness test - examples</vt:lpstr>
      <vt:lpstr>Equivalence &amp; Minimization of DFAs</vt:lpstr>
      <vt:lpstr>Applications of interest</vt:lpstr>
      <vt:lpstr>When to call two states in a DFA “equivalent”?</vt:lpstr>
      <vt:lpstr>Computing equivalent states in a DFA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- step by step</vt:lpstr>
      <vt:lpstr>Table Filling Algorithm – special case</vt:lpstr>
      <vt:lpstr>How to minimize a DFA?</vt:lpstr>
      <vt:lpstr>Are Two DFAs Equivalent?</vt:lpstr>
      <vt:lpstr>Summary</vt:lpstr>
    </vt:vector>
  </TitlesOfParts>
  <Company>Office 2004 ananth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CPT S 223: Advanced Data Structures</dc:title>
  <dc:creator>Office 2004 ananth</dc:creator>
  <cp:lastModifiedBy>Shinnu [MU - Jaipur]</cp:lastModifiedBy>
  <cp:revision>673</cp:revision>
  <cp:lastPrinted>2007-08-15T03:01:31Z</cp:lastPrinted>
  <dcterms:created xsi:type="dcterms:W3CDTF">2007-08-14T22:08:29Z</dcterms:created>
  <dcterms:modified xsi:type="dcterms:W3CDTF">2026-08-10T10:38:38Z</dcterms:modified>
</cp:coreProperties>
</file>