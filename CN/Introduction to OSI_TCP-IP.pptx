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816"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524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1097280" y="2103120"/>
            <a:ext cx="9994392" cy="1280160"/>
          </a:xfrm>
          <a:prstGeom prst="rect">
            <a:avLst/>
          </a:prstGeom>
          <a:noFill/>
          <a:ln/>
        </p:spPr>
        <p:txBody>
          <a:bodyPr wrap="square" rtlCol="0" anchor="b"/>
          <a:lstStyle/>
          <a:p>
            <a:pPr marL="0" indent="0" algn="ctr">
              <a:buNone/>
            </a:pPr>
            <a:r>
              <a:rPr lang="en-US" sz="4800" b="1" dirty="0">
                <a:solidFill>
                  <a:srgbClr val="0E2841"/>
                </a:solidFill>
                <a:latin typeface="Aptos Display" pitchFamily="34" charset="0"/>
                <a:ea typeface="Aptos Display" pitchFamily="34" charset="-122"/>
                <a:cs typeface="Aptos Display" pitchFamily="34" charset="-120"/>
              </a:rPr>
              <a:t>Network Models</a:t>
            </a:r>
            <a:endParaRPr lang="en-US" sz="4800" dirty="0"/>
          </a:p>
        </p:txBody>
      </p:sp>
      <p:sp>
        <p:nvSpPr>
          <p:cNvPr id="6" name="Text 2"/>
          <p:cNvSpPr/>
          <p:nvPr/>
        </p:nvSpPr>
        <p:spPr>
          <a:xfrm>
            <a:off x="1097280" y="3474720"/>
            <a:ext cx="9994392" cy="640080"/>
          </a:xfrm>
          <a:prstGeom prst="rect">
            <a:avLst/>
          </a:prstGeom>
          <a:noFill/>
          <a:ln/>
        </p:spPr>
        <p:txBody>
          <a:bodyPr wrap="square" rtlCol="0" anchor="ctr"/>
          <a:lstStyle/>
          <a:p>
            <a:pPr marL="0" indent="0" algn="ctr">
              <a:buNone/>
            </a:pPr>
            <a:r>
              <a:rPr lang="en-US" sz="2200" dirty="0">
                <a:solidFill>
                  <a:srgbClr val="156082"/>
                </a:solidFill>
                <a:latin typeface="Aptos" pitchFamily="34" charset="0"/>
                <a:ea typeface="Aptos" pitchFamily="34" charset="-122"/>
                <a:cs typeface="Aptos" pitchFamily="34" charset="-120"/>
              </a:rPr>
              <a:t>Data Communications and Networking  –  Chapter 2</a:t>
            </a:r>
            <a:endParaRPr lang="en-US" sz="2200" dirty="0"/>
          </a:p>
        </p:txBody>
      </p:sp>
      <p:sp>
        <p:nvSpPr>
          <p:cNvPr id="7" name="Text 3"/>
          <p:cNvSpPr/>
          <p:nvPr/>
        </p:nvSpPr>
        <p:spPr>
          <a:xfrm>
            <a:off x="1097280" y="6309360"/>
            <a:ext cx="9994392" cy="365760"/>
          </a:xfrm>
          <a:prstGeom prst="rect">
            <a:avLst/>
          </a:prstGeom>
          <a:noFill/>
          <a:ln/>
        </p:spPr>
        <p:txBody>
          <a:bodyPr wrap="square" rtlCol="0" anchor="ctr"/>
          <a:lstStyle/>
          <a:p>
            <a:pPr marL="0" indent="0" algn="ctr">
              <a:buNone/>
            </a:pPr>
            <a:r>
              <a:rPr lang="en-US" sz="1000" i="1" dirty="0">
                <a:solidFill>
                  <a:srgbClr val="888888"/>
                </a:solidFill>
                <a:latin typeface="Aptos" pitchFamily="34" charset="0"/>
                <a:ea typeface="Aptos" pitchFamily="34" charset="-122"/>
                <a:cs typeface="Aptos" pitchFamily="34" charset="-120"/>
              </a:rPr>
              <a:t>Adapted from Behrouz A. Forouzan, Data Communications and Networking, McGraw-Hill.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48640"/>
          </a:xfrm>
          <a:prstGeom prst="rect">
            <a:avLst/>
          </a:prstGeom>
          <a:noFill/>
          <a:ln/>
        </p:spPr>
        <p:txBody>
          <a:bodyPr wrap="square" rtlCol="0" anchor="ctr"/>
          <a:lstStyle/>
          <a:p>
            <a:pPr marL="0" indent="0">
              <a:buNone/>
            </a:pPr>
            <a:r>
              <a:rPr lang="en-US" sz="2600" b="1" dirty="0">
                <a:solidFill>
                  <a:srgbClr val="0E2841"/>
                </a:solidFill>
                <a:latin typeface="Aptos Display" pitchFamily="34" charset="0"/>
                <a:ea typeface="Aptos Display" pitchFamily="34" charset="-122"/>
                <a:cs typeface="Aptos Display" pitchFamily="34" charset="-120"/>
              </a:rPr>
              <a:t>2-1   LAYERED TASKS</a:t>
            </a:r>
            <a:endParaRPr lang="en-US" sz="2600" dirty="0"/>
          </a:p>
        </p:txBody>
      </p:sp>
      <p:sp>
        <p:nvSpPr>
          <p:cNvPr id="6" name="Text 2"/>
          <p:cNvSpPr/>
          <p:nvPr/>
        </p:nvSpPr>
        <p:spPr>
          <a:xfrm>
            <a:off x="502920" y="160020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We use the concept of layers in our daily life. As an example, let us consider two friends who communicate through postal mail. The process of sending a letter to a friend would be complex if there were no services available from the post office.</a:t>
            </a:r>
            <a:endParaRPr lang="en-US" sz="1600" dirty="0"/>
          </a:p>
        </p:txBody>
      </p:sp>
      <p:sp>
        <p:nvSpPr>
          <p:cNvPr id="7" name="Text 3"/>
          <p:cNvSpPr/>
          <p:nvPr/>
        </p:nvSpPr>
        <p:spPr>
          <a:xfrm>
            <a:off x="502920" y="3520440"/>
            <a:ext cx="7315200" cy="365760"/>
          </a:xfrm>
          <a:prstGeom prst="rect">
            <a:avLst/>
          </a:prstGeom>
          <a:noFill/>
          <a:ln/>
        </p:spPr>
        <p:txBody>
          <a:bodyPr wrap="square" rtlCol="0" anchor="ctr"/>
          <a:lstStyle/>
          <a:p>
            <a:pPr marL="0" indent="0">
              <a:buNone/>
            </a:pPr>
            <a:r>
              <a:rPr lang="en-US" sz="1400" b="1" i="1" dirty="0">
                <a:solidFill>
                  <a:srgbClr val="156082"/>
                </a:solidFill>
                <a:latin typeface="Aptos" pitchFamily="34" charset="0"/>
                <a:ea typeface="Aptos" pitchFamily="34" charset="-122"/>
                <a:cs typeface="Aptos" pitchFamily="34" charset="-120"/>
              </a:rPr>
              <a:t>Topics discussed in this section:</a:t>
            </a:r>
            <a:endParaRPr lang="en-US" sz="1400" dirty="0"/>
          </a:p>
        </p:txBody>
      </p:sp>
      <p:sp>
        <p:nvSpPr>
          <p:cNvPr id="8" name="Text 4"/>
          <p:cNvSpPr/>
          <p:nvPr/>
        </p:nvSpPr>
        <p:spPr>
          <a:xfrm>
            <a:off x="777240" y="3931920"/>
            <a:ext cx="10515600" cy="2103120"/>
          </a:xfrm>
          <a:prstGeom prst="rect">
            <a:avLst/>
          </a:prstGeom>
          <a:noFill/>
          <a:ln/>
        </p:spPr>
        <p:txBody>
          <a:bodyPr wrap="square" rtlCol="0" anchor="t"/>
          <a:lstStyle/>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Sender, Receiver, and Carrier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Hierarchy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  Tasks involved in sending a letter</a:t>
            </a:r>
            <a:endParaRPr lang="en-US" sz="2100" dirty="0"/>
          </a:p>
        </p:txBody>
      </p:sp>
      <p:pic>
        <p:nvPicPr>
          <p:cNvPr id="6" name="Image 2" descr="extracted_images/slide03_img2.png"/>
          <p:cNvPicPr>
            <a:picLocks noChangeAspect="1"/>
          </p:cNvPicPr>
          <p:nvPr/>
        </p:nvPicPr>
        <p:blipFill>
          <a:blip r:embed="rId5"/>
          <a:stretch>
            <a:fillRect/>
          </a:stretch>
        </p:blipFill>
        <p:spPr>
          <a:xfrm>
            <a:off x="3364211" y="1338826"/>
            <a:ext cx="6439008" cy="5496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48640"/>
          </a:xfrm>
          <a:prstGeom prst="rect">
            <a:avLst/>
          </a:prstGeom>
          <a:noFill/>
          <a:ln/>
        </p:spPr>
        <p:txBody>
          <a:bodyPr wrap="square" rtlCol="0" anchor="ctr"/>
          <a:lstStyle/>
          <a:p>
            <a:pPr marL="0" indent="0">
              <a:buNone/>
            </a:pPr>
            <a:r>
              <a:rPr lang="en-US" sz="2600" b="1" dirty="0">
                <a:solidFill>
                  <a:srgbClr val="0E2841"/>
                </a:solidFill>
                <a:latin typeface="Aptos Display" pitchFamily="34" charset="0"/>
                <a:ea typeface="Aptos Display" pitchFamily="34" charset="-122"/>
                <a:cs typeface="Aptos Display" pitchFamily="34" charset="-120"/>
              </a:rPr>
              <a:t>2-2   THE OSI MODEL</a:t>
            </a:r>
            <a:endParaRPr lang="en-US" sz="2600" dirty="0"/>
          </a:p>
        </p:txBody>
      </p:sp>
      <p:sp>
        <p:nvSpPr>
          <p:cNvPr id="6" name="Text 2"/>
          <p:cNvSpPr/>
          <p:nvPr/>
        </p:nvSpPr>
        <p:spPr>
          <a:xfrm>
            <a:off x="502920" y="160020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Established in 1947, the International Standards Organization (ISO) is a multinational body dedicated to worldwide agreement on international standards. An ISO standard that covers all aspects of network communications is the Open Systems Interconnection (OSI) model. It was first introduced in the late 1970s.</a:t>
            </a:r>
            <a:endParaRPr lang="en-US" sz="1600" dirty="0"/>
          </a:p>
        </p:txBody>
      </p:sp>
      <p:sp>
        <p:nvSpPr>
          <p:cNvPr id="7" name="Text 3"/>
          <p:cNvSpPr/>
          <p:nvPr/>
        </p:nvSpPr>
        <p:spPr>
          <a:xfrm>
            <a:off x="502920" y="3520440"/>
            <a:ext cx="7315200" cy="365760"/>
          </a:xfrm>
          <a:prstGeom prst="rect">
            <a:avLst/>
          </a:prstGeom>
          <a:noFill/>
          <a:ln/>
        </p:spPr>
        <p:txBody>
          <a:bodyPr wrap="square" rtlCol="0" anchor="ctr"/>
          <a:lstStyle/>
          <a:p>
            <a:pPr marL="0" indent="0">
              <a:buNone/>
            </a:pPr>
            <a:r>
              <a:rPr lang="en-US" sz="1400" b="1" i="1" dirty="0">
                <a:solidFill>
                  <a:srgbClr val="156082"/>
                </a:solidFill>
                <a:latin typeface="Aptos" pitchFamily="34" charset="0"/>
                <a:ea typeface="Aptos" pitchFamily="34" charset="-122"/>
                <a:cs typeface="Aptos" pitchFamily="34" charset="-120"/>
              </a:rPr>
              <a:t>Topics discussed in this section:</a:t>
            </a:r>
            <a:endParaRPr lang="en-US" sz="1400" dirty="0"/>
          </a:p>
        </p:txBody>
      </p:sp>
      <p:sp>
        <p:nvSpPr>
          <p:cNvPr id="8" name="Text 4"/>
          <p:cNvSpPr/>
          <p:nvPr/>
        </p:nvSpPr>
        <p:spPr>
          <a:xfrm>
            <a:off x="777240" y="3931920"/>
            <a:ext cx="10515600" cy="2103120"/>
          </a:xfrm>
          <a:prstGeom prst="rect">
            <a:avLst/>
          </a:prstGeom>
          <a:noFill/>
          <a:ln/>
        </p:spPr>
        <p:txBody>
          <a:bodyPr wrap="square" rtlCol="0" anchor="t"/>
          <a:lstStyle/>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Layered Architecture</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Peer-to-Peer Processes</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Encapsulation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ISO is the organization. OSI is the model.</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2.2  Seven layers of the OSI model</a:t>
            </a:r>
            <a:endParaRPr lang="en-US" sz="2100" dirty="0"/>
          </a:p>
        </p:txBody>
      </p:sp>
      <p:pic>
        <p:nvPicPr>
          <p:cNvPr id="6" name="Image 2" descr="extracted_images/slide06_img3.png"/>
          <p:cNvPicPr>
            <a:picLocks noChangeAspect="1"/>
          </p:cNvPicPr>
          <p:nvPr/>
        </p:nvPicPr>
        <p:blipFill>
          <a:blip r:embed="rId5"/>
          <a:stretch>
            <a:fillRect/>
          </a:stretch>
        </p:blipFill>
        <p:spPr>
          <a:xfrm>
            <a:off x="3805872" y="1714500"/>
            <a:ext cx="4579951"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2.3  The interaction between layers in the OSI model</a:t>
            </a:r>
            <a:endParaRPr lang="en-US" sz="2100" dirty="0"/>
          </a:p>
        </p:txBody>
      </p:sp>
      <p:pic>
        <p:nvPicPr>
          <p:cNvPr id="6" name="Image 2" descr="extracted_images/slide07_img4.png"/>
          <p:cNvPicPr>
            <a:picLocks noChangeAspect="1"/>
          </p:cNvPicPr>
          <p:nvPr/>
        </p:nvPicPr>
        <p:blipFill>
          <a:blip r:embed="rId5"/>
          <a:stretch>
            <a:fillRect/>
          </a:stretch>
        </p:blipFill>
        <p:spPr>
          <a:xfrm>
            <a:off x="2923014" y="1714500"/>
            <a:ext cx="6345667" cy="4663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2.4  An exchange using the OSI model</a:t>
            </a:r>
            <a:endParaRPr lang="en-US" sz="2100" dirty="0"/>
          </a:p>
        </p:txBody>
      </p:sp>
      <p:pic>
        <p:nvPicPr>
          <p:cNvPr id="6" name="Image 2" descr="extracted_images/slide08_img5.png"/>
          <p:cNvPicPr>
            <a:picLocks noChangeAspect="1"/>
          </p:cNvPicPr>
          <p:nvPr/>
        </p:nvPicPr>
        <p:blipFill>
          <a:blip r:embed="rId5"/>
          <a:stretch>
            <a:fillRect/>
          </a:stretch>
        </p:blipFill>
        <p:spPr>
          <a:xfrm>
            <a:off x="2425923" y="1714500"/>
            <a:ext cx="7339849" cy="46634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48640"/>
          </a:xfrm>
          <a:prstGeom prst="rect">
            <a:avLst/>
          </a:prstGeom>
          <a:noFill/>
          <a:ln/>
        </p:spPr>
        <p:txBody>
          <a:bodyPr wrap="square" rtlCol="0" anchor="ctr"/>
          <a:lstStyle/>
          <a:p>
            <a:pPr marL="0" indent="0">
              <a:buNone/>
            </a:pPr>
            <a:r>
              <a:rPr lang="en-US" sz="2600" b="1" dirty="0">
                <a:solidFill>
                  <a:srgbClr val="0E2841"/>
                </a:solidFill>
                <a:latin typeface="Aptos Display" pitchFamily="34" charset="0"/>
                <a:ea typeface="Aptos Display" pitchFamily="34" charset="-122"/>
                <a:cs typeface="Aptos Display" pitchFamily="34" charset="-120"/>
              </a:rPr>
              <a:t>2-3   LAYERS IN THE OSI MODEL</a:t>
            </a:r>
            <a:endParaRPr lang="en-US" sz="2600" dirty="0"/>
          </a:p>
        </p:txBody>
      </p:sp>
      <p:sp>
        <p:nvSpPr>
          <p:cNvPr id="6" name="Text 2"/>
          <p:cNvSpPr/>
          <p:nvPr/>
        </p:nvSpPr>
        <p:spPr>
          <a:xfrm>
            <a:off x="502920" y="160020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In this section we briefly describe the functions of each layer in the OSI model.</a:t>
            </a:r>
            <a:endParaRPr lang="en-US" sz="1600" dirty="0"/>
          </a:p>
        </p:txBody>
      </p:sp>
      <p:sp>
        <p:nvSpPr>
          <p:cNvPr id="7" name="Text 3"/>
          <p:cNvSpPr/>
          <p:nvPr/>
        </p:nvSpPr>
        <p:spPr>
          <a:xfrm>
            <a:off x="502920" y="3520440"/>
            <a:ext cx="7315200" cy="365760"/>
          </a:xfrm>
          <a:prstGeom prst="rect">
            <a:avLst/>
          </a:prstGeom>
          <a:noFill/>
          <a:ln/>
        </p:spPr>
        <p:txBody>
          <a:bodyPr wrap="square" rtlCol="0" anchor="ctr"/>
          <a:lstStyle/>
          <a:p>
            <a:pPr marL="0" indent="0">
              <a:buNone/>
            </a:pPr>
            <a:r>
              <a:rPr lang="en-US" sz="1400" b="1" i="1" dirty="0">
                <a:solidFill>
                  <a:srgbClr val="156082"/>
                </a:solidFill>
                <a:latin typeface="Aptos" pitchFamily="34" charset="0"/>
                <a:ea typeface="Aptos" pitchFamily="34" charset="-122"/>
                <a:cs typeface="Aptos" pitchFamily="34" charset="-120"/>
              </a:rPr>
              <a:t>Topics discussed in this section:</a:t>
            </a:r>
            <a:endParaRPr lang="en-US" sz="1400" dirty="0"/>
          </a:p>
        </p:txBody>
      </p:sp>
      <p:sp>
        <p:nvSpPr>
          <p:cNvPr id="8" name="Text 4"/>
          <p:cNvSpPr/>
          <p:nvPr/>
        </p:nvSpPr>
        <p:spPr>
          <a:xfrm>
            <a:off x="777240" y="3931920"/>
            <a:ext cx="10515600" cy="2103120"/>
          </a:xfrm>
          <a:prstGeom prst="rect">
            <a:avLst/>
          </a:prstGeom>
          <a:noFill/>
          <a:ln/>
        </p:spPr>
        <p:txBody>
          <a:bodyPr wrap="square" rtlCol="0" anchor="t"/>
          <a:lstStyle/>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Physical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Data Link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Network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Transport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Session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Presentation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Application Layer</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2.5  Physical layer</a:t>
            </a:r>
            <a:endParaRPr lang="en-US" sz="2100" dirty="0"/>
          </a:p>
        </p:txBody>
      </p:sp>
      <p:pic>
        <p:nvPicPr>
          <p:cNvPr id="6" name="Image 2" descr="extracted_images/slide10_img6.png"/>
          <p:cNvPicPr>
            <a:picLocks noChangeAspect="1"/>
          </p:cNvPicPr>
          <p:nvPr/>
        </p:nvPicPr>
        <p:blipFill>
          <a:blip r:embed="rId5"/>
          <a:stretch>
            <a:fillRect/>
          </a:stretch>
        </p:blipFill>
        <p:spPr>
          <a:xfrm>
            <a:off x="1158088" y="2481593"/>
            <a:ext cx="9875520" cy="31292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physical layer is responsible for movements of individual bits from one hop (node) to the next.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2.6  Data link layer</a:t>
            </a:r>
            <a:endParaRPr lang="en-US" sz="2100" dirty="0"/>
          </a:p>
        </p:txBody>
      </p:sp>
      <p:pic>
        <p:nvPicPr>
          <p:cNvPr id="6" name="Image 2" descr="extracted_images/slide12_img7.png"/>
          <p:cNvPicPr>
            <a:picLocks noChangeAspect="1"/>
          </p:cNvPicPr>
          <p:nvPr/>
        </p:nvPicPr>
        <p:blipFill>
          <a:blip r:embed="rId5"/>
          <a:stretch>
            <a:fillRect/>
          </a:stretch>
        </p:blipFill>
        <p:spPr>
          <a:xfrm>
            <a:off x="1158088" y="2419778"/>
            <a:ext cx="9875520" cy="32528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data link layer is responsible for moving frames from one hop (node) to the next.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2.7  Hop-to-hop delivery</a:t>
            </a:r>
            <a:endParaRPr lang="en-US" sz="2100" dirty="0"/>
          </a:p>
        </p:txBody>
      </p:sp>
      <p:pic>
        <p:nvPicPr>
          <p:cNvPr id="6" name="Image 2" descr="extracted_images/slide14_img8.png"/>
          <p:cNvPicPr>
            <a:picLocks noChangeAspect="1"/>
          </p:cNvPicPr>
          <p:nvPr/>
        </p:nvPicPr>
        <p:blipFill>
          <a:blip r:embed="rId5"/>
          <a:stretch>
            <a:fillRect/>
          </a:stretch>
        </p:blipFill>
        <p:spPr>
          <a:xfrm>
            <a:off x="2904387" y="1714500"/>
            <a:ext cx="6382921" cy="46634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2.8  Network layer</a:t>
            </a:r>
            <a:endParaRPr lang="en-US" sz="2100" dirty="0"/>
          </a:p>
        </p:txBody>
      </p:sp>
      <p:pic>
        <p:nvPicPr>
          <p:cNvPr id="6" name="Image 2" descr="extracted_images/slide15_img9.png"/>
          <p:cNvPicPr>
            <a:picLocks noChangeAspect="1"/>
          </p:cNvPicPr>
          <p:nvPr/>
        </p:nvPicPr>
        <p:blipFill>
          <a:blip r:embed="rId5"/>
          <a:stretch>
            <a:fillRect/>
          </a:stretch>
        </p:blipFill>
        <p:spPr>
          <a:xfrm>
            <a:off x="1158088" y="2401350"/>
            <a:ext cx="9875520" cy="328973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network layer is responsible for the delivery of individual packets from the source host to the destination host.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2.9  Source-to-destination delivery</a:t>
            </a:r>
            <a:endParaRPr lang="en-US" sz="2100" dirty="0"/>
          </a:p>
        </p:txBody>
      </p:sp>
      <p:pic>
        <p:nvPicPr>
          <p:cNvPr id="6" name="Image 2" descr="extracted_images/slide17_img10.png"/>
          <p:cNvPicPr>
            <a:picLocks noChangeAspect="1"/>
          </p:cNvPicPr>
          <p:nvPr/>
        </p:nvPicPr>
        <p:blipFill>
          <a:blip r:embed="rId5"/>
          <a:stretch>
            <a:fillRect/>
          </a:stretch>
        </p:blipFill>
        <p:spPr>
          <a:xfrm>
            <a:off x="3618521" y="1714500"/>
            <a:ext cx="4954652" cy="46634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2.10  Transport layer</a:t>
            </a:r>
            <a:endParaRPr lang="en-US" sz="2100" dirty="0"/>
          </a:p>
        </p:txBody>
      </p:sp>
      <p:pic>
        <p:nvPicPr>
          <p:cNvPr id="6" name="Image 2" descr="extracted_images/slide18_img11.png"/>
          <p:cNvPicPr>
            <a:picLocks noChangeAspect="1"/>
          </p:cNvPicPr>
          <p:nvPr/>
        </p:nvPicPr>
        <p:blipFill>
          <a:blip r:embed="rId5"/>
          <a:stretch>
            <a:fillRect/>
          </a:stretch>
        </p:blipFill>
        <p:spPr>
          <a:xfrm>
            <a:off x="1158088" y="2341592"/>
            <a:ext cx="9875520" cy="340925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transport layer is responsible for the delivery of a message from one process to another.</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2.11  Reliable process-to-process delivery of a message</a:t>
            </a:r>
            <a:endParaRPr lang="en-US" sz="2100" dirty="0"/>
          </a:p>
        </p:txBody>
      </p:sp>
      <p:pic>
        <p:nvPicPr>
          <p:cNvPr id="6" name="Image 2" descr="extracted_images/slide20_img12.png"/>
          <p:cNvPicPr>
            <a:picLocks noChangeAspect="1"/>
          </p:cNvPicPr>
          <p:nvPr/>
        </p:nvPicPr>
        <p:blipFill>
          <a:blip r:embed="rId5"/>
          <a:stretch>
            <a:fillRect/>
          </a:stretch>
        </p:blipFill>
        <p:spPr>
          <a:xfrm>
            <a:off x="1158088" y="2031112"/>
            <a:ext cx="9875520" cy="403021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2.12  Session layer</a:t>
            </a:r>
            <a:endParaRPr lang="en-US" sz="2100" dirty="0"/>
          </a:p>
        </p:txBody>
      </p:sp>
      <p:pic>
        <p:nvPicPr>
          <p:cNvPr id="6" name="Image 2" descr="extracted_images/slide21_img13.png"/>
          <p:cNvPicPr>
            <a:picLocks noChangeAspect="1"/>
          </p:cNvPicPr>
          <p:nvPr/>
        </p:nvPicPr>
        <p:blipFill>
          <a:blip r:embed="rId5"/>
          <a:stretch>
            <a:fillRect/>
          </a:stretch>
        </p:blipFill>
        <p:spPr>
          <a:xfrm>
            <a:off x="1158088" y="1771692"/>
            <a:ext cx="9875520" cy="454905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session layer is responsible for dialog control and synchronization.</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2.13  Presentation layer</a:t>
            </a:r>
            <a:endParaRPr lang="en-US" sz="2100" dirty="0"/>
          </a:p>
        </p:txBody>
      </p:sp>
      <p:pic>
        <p:nvPicPr>
          <p:cNvPr id="6" name="Image 2" descr="extracted_images/slide23_img14.png"/>
          <p:cNvPicPr>
            <a:picLocks noChangeAspect="1"/>
          </p:cNvPicPr>
          <p:nvPr/>
        </p:nvPicPr>
        <p:blipFill>
          <a:blip r:embed="rId5"/>
          <a:stretch>
            <a:fillRect/>
          </a:stretch>
        </p:blipFill>
        <p:spPr>
          <a:xfrm>
            <a:off x="1158088" y="2380822"/>
            <a:ext cx="9875520" cy="333079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presentation layer is responsible for translation, compression, and encryption.</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2.14  Application layer</a:t>
            </a:r>
            <a:endParaRPr lang="en-US" sz="2100" dirty="0"/>
          </a:p>
        </p:txBody>
      </p:sp>
      <p:pic>
        <p:nvPicPr>
          <p:cNvPr id="6" name="Image 2" descr="extracted_images/slide25_img15.png"/>
          <p:cNvPicPr>
            <a:picLocks noChangeAspect="1"/>
          </p:cNvPicPr>
          <p:nvPr/>
        </p:nvPicPr>
        <p:blipFill>
          <a:blip r:embed="rId5"/>
          <a:stretch>
            <a:fillRect/>
          </a:stretch>
        </p:blipFill>
        <p:spPr>
          <a:xfrm>
            <a:off x="1447628" y="1714500"/>
            <a:ext cx="9296440" cy="4663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application layer is responsible for providing services to the user.</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2.15  Summary of layers</a:t>
            </a:r>
            <a:endParaRPr lang="en-US" sz="2100" dirty="0"/>
          </a:p>
        </p:txBody>
      </p:sp>
      <p:pic>
        <p:nvPicPr>
          <p:cNvPr id="6" name="Image 2" descr="extracted_images/slide27_img16.png"/>
          <p:cNvPicPr>
            <a:picLocks noChangeAspect="1"/>
          </p:cNvPicPr>
          <p:nvPr/>
        </p:nvPicPr>
        <p:blipFill>
          <a:blip r:embed="rId5"/>
          <a:stretch>
            <a:fillRect/>
          </a:stretch>
        </p:blipFill>
        <p:spPr>
          <a:xfrm>
            <a:off x="1158088" y="1794201"/>
            <a:ext cx="9875520" cy="45040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48640"/>
          </a:xfrm>
          <a:prstGeom prst="rect">
            <a:avLst/>
          </a:prstGeom>
          <a:noFill/>
          <a:ln/>
        </p:spPr>
        <p:txBody>
          <a:bodyPr wrap="square" rtlCol="0" anchor="ctr"/>
          <a:lstStyle/>
          <a:p>
            <a:pPr marL="0" indent="0">
              <a:buNone/>
            </a:pPr>
            <a:r>
              <a:rPr lang="en-US" sz="2600" b="1" dirty="0">
                <a:solidFill>
                  <a:srgbClr val="0E2841"/>
                </a:solidFill>
                <a:latin typeface="Aptos Display" pitchFamily="34" charset="0"/>
                <a:ea typeface="Aptos Display" pitchFamily="34" charset="-122"/>
                <a:cs typeface="Aptos Display" pitchFamily="34" charset="-120"/>
              </a:rPr>
              <a:t>2-4   TCP/IP PROTOCOL SUITE</a:t>
            </a:r>
            <a:endParaRPr lang="en-US" sz="2600" dirty="0"/>
          </a:p>
        </p:txBody>
      </p:sp>
      <p:sp>
        <p:nvSpPr>
          <p:cNvPr id="6" name="Text 2"/>
          <p:cNvSpPr/>
          <p:nvPr/>
        </p:nvSpPr>
        <p:spPr>
          <a:xfrm>
            <a:off x="502920" y="160020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The layers in the TCP/IP protocol suite do not exactly match those in the OSI model. The original TCP/IP protocol suite was defined as having four layers: host-to-network, internet, transport, and application. However, when TCP/IP is compared to OSI, we can say that the TCP/IP protocol suite is made of five layers: physical, data link, network, transport, and application.</a:t>
            </a:r>
            <a:endParaRPr lang="en-US" sz="1600" dirty="0"/>
          </a:p>
        </p:txBody>
      </p:sp>
      <p:sp>
        <p:nvSpPr>
          <p:cNvPr id="7" name="Text 3"/>
          <p:cNvSpPr/>
          <p:nvPr/>
        </p:nvSpPr>
        <p:spPr>
          <a:xfrm>
            <a:off x="502920" y="3520440"/>
            <a:ext cx="7315200" cy="365760"/>
          </a:xfrm>
          <a:prstGeom prst="rect">
            <a:avLst/>
          </a:prstGeom>
          <a:noFill/>
          <a:ln/>
        </p:spPr>
        <p:txBody>
          <a:bodyPr wrap="square" rtlCol="0" anchor="ctr"/>
          <a:lstStyle/>
          <a:p>
            <a:pPr marL="0" indent="0">
              <a:buNone/>
            </a:pPr>
            <a:r>
              <a:rPr lang="en-US" sz="1400" b="1" i="1" dirty="0">
                <a:solidFill>
                  <a:srgbClr val="156082"/>
                </a:solidFill>
                <a:latin typeface="Aptos" pitchFamily="34" charset="0"/>
                <a:ea typeface="Aptos" pitchFamily="34" charset="-122"/>
                <a:cs typeface="Aptos" pitchFamily="34" charset="-120"/>
              </a:rPr>
              <a:t>Topics discussed in this section:</a:t>
            </a:r>
            <a:endParaRPr lang="en-US" sz="1400" dirty="0"/>
          </a:p>
        </p:txBody>
      </p:sp>
      <p:sp>
        <p:nvSpPr>
          <p:cNvPr id="8" name="Text 4"/>
          <p:cNvSpPr/>
          <p:nvPr/>
        </p:nvSpPr>
        <p:spPr>
          <a:xfrm>
            <a:off x="777240" y="3931920"/>
            <a:ext cx="10515600" cy="2103120"/>
          </a:xfrm>
          <a:prstGeom prst="rect">
            <a:avLst/>
          </a:prstGeom>
          <a:noFill/>
          <a:ln/>
        </p:spPr>
        <p:txBody>
          <a:bodyPr wrap="square" rtlCol="0" anchor="t"/>
          <a:lstStyle/>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Physical and Data Link Layers</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Network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Transport Layer</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Application Layer</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2.16  TCP/IP and OSI model</a:t>
            </a:r>
            <a:endParaRPr lang="en-US" sz="2100" dirty="0"/>
          </a:p>
        </p:txBody>
      </p:sp>
      <p:pic>
        <p:nvPicPr>
          <p:cNvPr id="6" name="Image 2" descr="extracted_images/slide29_img17.png"/>
          <p:cNvPicPr>
            <a:picLocks noChangeAspect="1"/>
          </p:cNvPicPr>
          <p:nvPr/>
        </p:nvPicPr>
        <p:blipFill>
          <a:blip r:embed="rId5"/>
          <a:stretch>
            <a:fillRect/>
          </a:stretch>
        </p:blipFill>
        <p:spPr>
          <a:xfrm>
            <a:off x="2555971" y="1714500"/>
            <a:ext cx="7079753" cy="46634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48640"/>
          </a:xfrm>
          <a:prstGeom prst="rect">
            <a:avLst/>
          </a:prstGeom>
          <a:noFill/>
          <a:ln/>
        </p:spPr>
        <p:txBody>
          <a:bodyPr wrap="square" rtlCol="0" anchor="ctr"/>
          <a:lstStyle/>
          <a:p>
            <a:pPr marL="0" indent="0">
              <a:buNone/>
            </a:pPr>
            <a:r>
              <a:rPr lang="en-US" sz="2600" b="1" dirty="0">
                <a:solidFill>
                  <a:srgbClr val="0E2841"/>
                </a:solidFill>
                <a:latin typeface="Aptos Display" pitchFamily="34" charset="0"/>
                <a:ea typeface="Aptos Display" pitchFamily="34" charset="-122"/>
                <a:cs typeface="Aptos Display" pitchFamily="34" charset="-120"/>
              </a:rPr>
              <a:t>2-5   ADDRESSING</a:t>
            </a:r>
            <a:endParaRPr lang="en-US" sz="2600" dirty="0"/>
          </a:p>
        </p:txBody>
      </p:sp>
      <p:sp>
        <p:nvSpPr>
          <p:cNvPr id="6" name="Text 2"/>
          <p:cNvSpPr/>
          <p:nvPr/>
        </p:nvSpPr>
        <p:spPr>
          <a:xfrm>
            <a:off x="502920" y="160020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Four levels of addresses are used in an internet employing the TCP/IP protocols: physical, logical, port, and specific.</a:t>
            </a:r>
            <a:endParaRPr lang="en-US" sz="1600" dirty="0"/>
          </a:p>
        </p:txBody>
      </p:sp>
      <p:sp>
        <p:nvSpPr>
          <p:cNvPr id="7" name="Text 3"/>
          <p:cNvSpPr/>
          <p:nvPr/>
        </p:nvSpPr>
        <p:spPr>
          <a:xfrm>
            <a:off x="502920" y="3520440"/>
            <a:ext cx="7315200" cy="365760"/>
          </a:xfrm>
          <a:prstGeom prst="rect">
            <a:avLst/>
          </a:prstGeom>
          <a:noFill/>
          <a:ln/>
        </p:spPr>
        <p:txBody>
          <a:bodyPr wrap="square" rtlCol="0" anchor="ctr"/>
          <a:lstStyle/>
          <a:p>
            <a:pPr marL="0" indent="0">
              <a:buNone/>
            </a:pPr>
            <a:r>
              <a:rPr lang="en-US" sz="1400" b="1" i="1" dirty="0">
                <a:solidFill>
                  <a:srgbClr val="156082"/>
                </a:solidFill>
                <a:latin typeface="Aptos" pitchFamily="34" charset="0"/>
                <a:ea typeface="Aptos" pitchFamily="34" charset="-122"/>
                <a:cs typeface="Aptos" pitchFamily="34" charset="-120"/>
              </a:rPr>
              <a:t>Topics discussed in this section:</a:t>
            </a:r>
            <a:endParaRPr lang="en-US" sz="1400" dirty="0"/>
          </a:p>
        </p:txBody>
      </p:sp>
      <p:sp>
        <p:nvSpPr>
          <p:cNvPr id="8" name="Text 4"/>
          <p:cNvSpPr/>
          <p:nvPr/>
        </p:nvSpPr>
        <p:spPr>
          <a:xfrm>
            <a:off x="777240" y="3931920"/>
            <a:ext cx="10515600" cy="2103120"/>
          </a:xfrm>
          <a:prstGeom prst="rect">
            <a:avLst/>
          </a:prstGeom>
          <a:noFill/>
          <a:ln/>
        </p:spPr>
        <p:txBody>
          <a:bodyPr wrap="square" rtlCol="0" anchor="t"/>
          <a:lstStyle/>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Physical Addresses</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Logical Addresses</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Port Addresses</a:t>
            </a:r>
            <a:endParaRPr lang="en-US" sz="1700" dirty="0"/>
          </a:p>
          <a:p>
            <a:pPr marL="342900" indent="-342900">
              <a:spcAft>
                <a:spcPts val="800"/>
              </a:spcAft>
              <a:buSzPct val="100000"/>
              <a:buChar char="•"/>
            </a:pPr>
            <a:r>
              <a:rPr lang="en-US" sz="1700" dirty="0">
                <a:solidFill>
                  <a:srgbClr val="333333"/>
                </a:solidFill>
                <a:latin typeface="Aptos" pitchFamily="34" charset="0"/>
                <a:ea typeface="Aptos" pitchFamily="34" charset="-122"/>
                <a:cs typeface="Aptos" pitchFamily="34" charset="-120"/>
              </a:rPr>
              <a:t>Specific Addresses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2.17  Addresses in TCP/IP</a:t>
            </a:r>
            <a:endParaRPr lang="en-US" sz="2100" dirty="0"/>
          </a:p>
        </p:txBody>
      </p:sp>
      <p:pic>
        <p:nvPicPr>
          <p:cNvPr id="6" name="Image 2" descr="extracted_images/slide31_img18.png"/>
          <p:cNvPicPr>
            <a:picLocks noChangeAspect="1"/>
          </p:cNvPicPr>
          <p:nvPr/>
        </p:nvPicPr>
        <p:blipFill>
          <a:blip r:embed="rId5"/>
          <a:stretch>
            <a:fillRect/>
          </a:stretch>
        </p:blipFill>
        <p:spPr>
          <a:xfrm>
            <a:off x="1158088" y="2796515"/>
            <a:ext cx="9875520" cy="249941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2.18  Relationship of layers and addresses in TCP/IP</a:t>
            </a:r>
            <a:endParaRPr lang="en-US" sz="2100" dirty="0"/>
          </a:p>
        </p:txBody>
      </p:sp>
      <p:pic>
        <p:nvPicPr>
          <p:cNvPr id="6" name="Image 2" descr="extracted_images/slide32_img19.png"/>
          <p:cNvPicPr>
            <a:picLocks noChangeAspect="1"/>
          </p:cNvPicPr>
          <p:nvPr/>
        </p:nvPicPr>
        <p:blipFill>
          <a:blip r:embed="rId5"/>
          <a:stretch>
            <a:fillRect/>
          </a:stretch>
        </p:blipFill>
        <p:spPr>
          <a:xfrm>
            <a:off x="2460949" y="1714500"/>
            <a:ext cx="7269797" cy="46634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502920" y="914400"/>
            <a:ext cx="2103120" cy="502920"/>
          </a:xfrm>
          <a:prstGeom prst="roundRect">
            <a:avLst>
              <a:gd name="adj" fmla="val 14545"/>
            </a:avLst>
          </a:prstGeom>
          <a:solidFill>
            <a:srgbClr val="156082"/>
          </a:solidFill>
          <a:ln/>
        </p:spPr>
        <p:txBody>
          <a:bodyPr/>
          <a:lstStyle/>
          <a:p>
            <a:endParaRPr lang="en-US"/>
          </a:p>
        </p:txBody>
      </p:sp>
      <p:sp>
        <p:nvSpPr>
          <p:cNvPr id="6" name="Text 2"/>
          <p:cNvSpPr/>
          <p:nvPr/>
        </p:nvSpPr>
        <p:spPr>
          <a:xfrm>
            <a:off x="502920" y="914400"/>
            <a:ext cx="2103120" cy="502920"/>
          </a:xfrm>
          <a:prstGeom prst="rect">
            <a:avLst/>
          </a:prstGeom>
          <a:noFill/>
          <a:ln/>
        </p:spPr>
        <p:txBody>
          <a:bodyPr wrap="square"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Example 2.1</a:t>
            </a:r>
            <a:endParaRPr lang="en-US" sz="1600" dirty="0"/>
          </a:p>
        </p:txBody>
      </p:sp>
      <p:sp>
        <p:nvSpPr>
          <p:cNvPr id="7" name="Text 3"/>
          <p:cNvSpPr/>
          <p:nvPr/>
        </p:nvSpPr>
        <p:spPr>
          <a:xfrm>
            <a:off x="502920" y="169164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In Figure 2.19 a node with physical address 10 sends a frame to a node with physical address 87. The two nodes are connected by a link (bus topology LAN). As the figure shows, the computer with physical address 10 is the sender, and the computer with physical address 87 is the receiver.</a:t>
            </a:r>
            <a:endParaRPr lang="en-US" sz="1600" dirty="0"/>
          </a:p>
        </p:txBody>
      </p:sp>
      <p:pic>
        <p:nvPicPr>
          <p:cNvPr id="8" name="Image 2" descr="extracted_images/slide33_img20.png"/>
          <p:cNvPicPr>
            <a:picLocks noChangeAspect="1"/>
          </p:cNvPicPr>
          <p:nvPr/>
        </p:nvPicPr>
        <p:blipFill>
          <a:blip r:embed="rId5"/>
          <a:stretch>
            <a:fillRect/>
          </a:stretch>
        </p:blipFill>
        <p:spPr>
          <a:xfrm>
            <a:off x="1752448" y="3749040"/>
            <a:ext cx="8686800" cy="198626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2.19  Physical addresses</a:t>
            </a:r>
            <a:endParaRPr lang="en-US" sz="2100" dirty="0"/>
          </a:p>
        </p:txBody>
      </p:sp>
      <p:pic>
        <p:nvPicPr>
          <p:cNvPr id="6" name="Image 2" descr="extracted_images/slide34_img21.png"/>
          <p:cNvPicPr>
            <a:picLocks noChangeAspect="1"/>
          </p:cNvPicPr>
          <p:nvPr/>
        </p:nvPicPr>
        <p:blipFill>
          <a:blip r:embed="rId5"/>
          <a:stretch>
            <a:fillRect/>
          </a:stretch>
        </p:blipFill>
        <p:spPr>
          <a:xfrm>
            <a:off x="1158088" y="2917185"/>
            <a:ext cx="9875520" cy="225807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502920" y="914400"/>
            <a:ext cx="2103120" cy="502920"/>
          </a:xfrm>
          <a:prstGeom prst="roundRect">
            <a:avLst>
              <a:gd name="adj" fmla="val 14545"/>
            </a:avLst>
          </a:prstGeom>
          <a:solidFill>
            <a:srgbClr val="156082"/>
          </a:solidFill>
          <a:ln/>
        </p:spPr>
        <p:txBody>
          <a:bodyPr/>
          <a:lstStyle/>
          <a:p>
            <a:endParaRPr lang="en-US"/>
          </a:p>
        </p:txBody>
      </p:sp>
      <p:sp>
        <p:nvSpPr>
          <p:cNvPr id="6" name="Text 2"/>
          <p:cNvSpPr/>
          <p:nvPr/>
        </p:nvSpPr>
        <p:spPr>
          <a:xfrm>
            <a:off x="502920" y="914400"/>
            <a:ext cx="2103120" cy="502920"/>
          </a:xfrm>
          <a:prstGeom prst="rect">
            <a:avLst/>
          </a:prstGeom>
          <a:noFill/>
          <a:ln/>
        </p:spPr>
        <p:txBody>
          <a:bodyPr wrap="square"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Example 2.2</a:t>
            </a:r>
            <a:endParaRPr lang="en-US" sz="1600" dirty="0"/>
          </a:p>
        </p:txBody>
      </p:sp>
      <p:sp>
        <p:nvSpPr>
          <p:cNvPr id="7" name="Text 3"/>
          <p:cNvSpPr/>
          <p:nvPr/>
        </p:nvSpPr>
        <p:spPr>
          <a:xfrm>
            <a:off x="502920" y="169164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Most local-area networks use a 48-bit (6-byte) physical address written as 12 hexadecimal digits; every byte (2 hexadecimal digits) is separated by a colon, as shown below:</a:t>
            </a:r>
            <a:endParaRPr lang="en-US" sz="1600" dirty="0"/>
          </a:p>
        </p:txBody>
      </p:sp>
      <p:sp>
        <p:nvSpPr>
          <p:cNvPr id="8" name="Shape 4"/>
          <p:cNvSpPr/>
          <p:nvPr/>
        </p:nvSpPr>
        <p:spPr>
          <a:xfrm>
            <a:off x="3124048" y="3794760"/>
            <a:ext cx="5943600" cy="1417320"/>
          </a:xfrm>
          <a:prstGeom prst="roundRect">
            <a:avLst>
              <a:gd name="adj" fmla="val 6452"/>
            </a:avLst>
          </a:prstGeom>
          <a:solidFill>
            <a:srgbClr val="F5F5F5"/>
          </a:solidFill>
          <a:ln w="12700">
            <a:solidFill>
              <a:srgbClr val="CCCCCC"/>
            </a:solidFill>
            <a:prstDash val="solid"/>
          </a:ln>
        </p:spPr>
        <p:txBody>
          <a:bodyPr/>
          <a:lstStyle/>
          <a:p>
            <a:endParaRPr lang="en-US"/>
          </a:p>
        </p:txBody>
      </p:sp>
      <p:sp>
        <p:nvSpPr>
          <p:cNvPr id="9" name="Text 5"/>
          <p:cNvSpPr/>
          <p:nvPr/>
        </p:nvSpPr>
        <p:spPr>
          <a:xfrm>
            <a:off x="3124048" y="3931920"/>
            <a:ext cx="5943600" cy="640080"/>
          </a:xfrm>
          <a:prstGeom prst="rect">
            <a:avLst/>
          </a:prstGeom>
          <a:noFill/>
          <a:ln/>
        </p:spPr>
        <p:txBody>
          <a:bodyPr wrap="square" rtlCol="0" anchor="ctr"/>
          <a:lstStyle/>
          <a:p>
            <a:pPr marL="0" indent="0" algn="ctr">
              <a:buNone/>
            </a:pPr>
            <a:r>
              <a:rPr lang="en-US" sz="2400" b="1" dirty="0">
                <a:solidFill>
                  <a:srgbClr val="0E2841"/>
                </a:solidFill>
                <a:latin typeface="Consolas" pitchFamily="34" charset="0"/>
                <a:ea typeface="Consolas" pitchFamily="34" charset="-122"/>
                <a:cs typeface="Consolas" pitchFamily="34" charset="-120"/>
              </a:rPr>
              <a:t>07:01:02:01:2C:4B</a:t>
            </a:r>
            <a:endParaRPr lang="en-US" sz="2400" dirty="0"/>
          </a:p>
        </p:txBody>
      </p:sp>
      <p:sp>
        <p:nvSpPr>
          <p:cNvPr id="10" name="Text 6"/>
          <p:cNvSpPr/>
          <p:nvPr/>
        </p:nvSpPr>
        <p:spPr>
          <a:xfrm>
            <a:off x="3124048" y="4617720"/>
            <a:ext cx="5943600" cy="502920"/>
          </a:xfrm>
          <a:prstGeom prst="rect">
            <a:avLst/>
          </a:prstGeom>
          <a:noFill/>
          <a:ln/>
        </p:spPr>
        <p:txBody>
          <a:bodyPr wrap="square" rtlCol="0" anchor="ctr"/>
          <a:lstStyle/>
          <a:p>
            <a:pPr marL="0" indent="0" algn="ctr">
              <a:buNone/>
            </a:pPr>
            <a:r>
              <a:rPr lang="en-US" sz="1300" i="1" dirty="0">
                <a:solidFill>
                  <a:srgbClr val="333333"/>
                </a:solidFill>
                <a:latin typeface="Aptos" pitchFamily="34" charset="0"/>
                <a:ea typeface="Aptos" pitchFamily="34" charset="-122"/>
                <a:cs typeface="Aptos" pitchFamily="34" charset="-120"/>
              </a:rPr>
              <a:t>A 6-byte (12 hexadecimal digits) physical address.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502920" y="914400"/>
            <a:ext cx="2103120" cy="502920"/>
          </a:xfrm>
          <a:prstGeom prst="roundRect">
            <a:avLst>
              <a:gd name="adj" fmla="val 14545"/>
            </a:avLst>
          </a:prstGeom>
          <a:solidFill>
            <a:srgbClr val="156082"/>
          </a:solidFill>
          <a:ln/>
        </p:spPr>
        <p:txBody>
          <a:bodyPr/>
          <a:lstStyle/>
          <a:p>
            <a:endParaRPr lang="en-US"/>
          </a:p>
        </p:txBody>
      </p:sp>
      <p:sp>
        <p:nvSpPr>
          <p:cNvPr id="6" name="Text 2"/>
          <p:cNvSpPr/>
          <p:nvPr/>
        </p:nvSpPr>
        <p:spPr>
          <a:xfrm>
            <a:off x="502920" y="914400"/>
            <a:ext cx="2103120" cy="502920"/>
          </a:xfrm>
          <a:prstGeom prst="rect">
            <a:avLst/>
          </a:prstGeom>
          <a:noFill/>
          <a:ln/>
        </p:spPr>
        <p:txBody>
          <a:bodyPr wrap="square"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Example 2.3</a:t>
            </a:r>
            <a:endParaRPr lang="en-US" sz="1600" dirty="0"/>
          </a:p>
        </p:txBody>
      </p:sp>
      <p:sp>
        <p:nvSpPr>
          <p:cNvPr id="7" name="Text 3"/>
          <p:cNvSpPr/>
          <p:nvPr/>
        </p:nvSpPr>
        <p:spPr>
          <a:xfrm>
            <a:off x="502920" y="169164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2.20  IP addresses</a:t>
            </a:r>
            <a:endParaRPr lang="en-US" sz="2100" dirty="0"/>
          </a:p>
        </p:txBody>
      </p:sp>
      <p:pic>
        <p:nvPicPr>
          <p:cNvPr id="6" name="Image 2" descr="extracted_images/slide37_img22.png"/>
          <p:cNvPicPr>
            <a:picLocks noChangeAspect="1"/>
          </p:cNvPicPr>
          <p:nvPr/>
        </p:nvPicPr>
        <p:blipFill>
          <a:blip r:embed="rId5"/>
          <a:stretch>
            <a:fillRect/>
          </a:stretch>
        </p:blipFill>
        <p:spPr>
          <a:xfrm>
            <a:off x="3289590" y="1714500"/>
            <a:ext cx="5612515" cy="46634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502920" y="914400"/>
            <a:ext cx="2103120" cy="502920"/>
          </a:xfrm>
          <a:prstGeom prst="roundRect">
            <a:avLst>
              <a:gd name="adj" fmla="val 14545"/>
            </a:avLst>
          </a:prstGeom>
          <a:solidFill>
            <a:srgbClr val="156082"/>
          </a:solidFill>
          <a:ln/>
        </p:spPr>
        <p:txBody>
          <a:bodyPr/>
          <a:lstStyle/>
          <a:p>
            <a:endParaRPr lang="en-US"/>
          </a:p>
        </p:txBody>
      </p:sp>
      <p:sp>
        <p:nvSpPr>
          <p:cNvPr id="6" name="Text 2"/>
          <p:cNvSpPr/>
          <p:nvPr/>
        </p:nvSpPr>
        <p:spPr>
          <a:xfrm>
            <a:off x="502920" y="914400"/>
            <a:ext cx="2103120" cy="502920"/>
          </a:xfrm>
          <a:prstGeom prst="rect">
            <a:avLst/>
          </a:prstGeom>
          <a:noFill/>
          <a:ln/>
        </p:spPr>
        <p:txBody>
          <a:bodyPr wrap="square"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Example 2.4</a:t>
            </a:r>
            <a:endParaRPr lang="en-US" sz="1600" dirty="0"/>
          </a:p>
        </p:txBody>
      </p:sp>
      <p:sp>
        <p:nvSpPr>
          <p:cNvPr id="7" name="Text 3"/>
          <p:cNvSpPr/>
          <p:nvPr/>
        </p:nvSpPr>
        <p:spPr>
          <a:xfrm>
            <a:off x="502920" y="169164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Figure 2.21 shows two computers communicating via the Internet. The sending computer is running three processes at this time with port addresses a, b, and c. The receiving computer is running two processes at this time with port addresses j and k. Process a in the sending computer needs to communicate with process j in the receiving computer. Note that although physical addresses change from hop to hop, logical and port addresses remain the same from the source to destination.</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100" b="1" dirty="0">
                <a:solidFill>
                  <a:srgbClr val="0E2841"/>
                </a:solidFill>
                <a:latin typeface="Aptos Display" pitchFamily="34" charset="0"/>
                <a:ea typeface="Aptos Display" pitchFamily="34" charset="-122"/>
                <a:cs typeface="Aptos Display" pitchFamily="34" charset="-120"/>
              </a:rPr>
              <a:t>Figure 2.21  Port addresses</a:t>
            </a:r>
            <a:endParaRPr lang="en-US" sz="2100" dirty="0"/>
          </a:p>
        </p:txBody>
      </p:sp>
      <p:pic>
        <p:nvPicPr>
          <p:cNvPr id="6" name="Image 2" descr="extracted_images/slide39_img23.png"/>
          <p:cNvPicPr>
            <a:picLocks noChangeAspect="1"/>
          </p:cNvPicPr>
          <p:nvPr/>
        </p:nvPicPr>
        <p:blipFill>
          <a:blip r:embed="rId5"/>
          <a:stretch>
            <a:fillRect/>
          </a:stretch>
        </p:blipFill>
        <p:spPr>
          <a:xfrm>
            <a:off x="2961256" y="1714500"/>
            <a:ext cx="6269183" cy="46634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1706728" y="2148840"/>
            <a:ext cx="8778240" cy="2286000"/>
          </a:xfrm>
          <a:prstGeom prst="roundRect">
            <a:avLst>
              <a:gd name="adj" fmla="val 4800"/>
            </a:avLst>
          </a:prstGeom>
          <a:solidFill>
            <a:srgbClr val="FFF6DF"/>
          </a:solidFill>
          <a:ln w="15875">
            <a:solidFill>
              <a:srgbClr val="F0C24B"/>
            </a:solidFill>
            <a:prstDash val="solid"/>
          </a:ln>
        </p:spPr>
        <p:txBody>
          <a:bodyPr/>
          <a:lstStyle/>
          <a:p>
            <a:endParaRPr lang="en-US"/>
          </a:p>
        </p:txBody>
      </p:sp>
      <p:pic>
        <p:nvPicPr>
          <p:cNvPr id="6" name="Image 2" descr="/home/claude/note_icon.png"/>
          <p:cNvPicPr>
            <a:picLocks noChangeAspect="1"/>
          </p:cNvPicPr>
          <p:nvPr/>
        </p:nvPicPr>
        <p:blipFill>
          <a:blip r:embed="rId5"/>
          <a:stretch>
            <a:fillRect/>
          </a:stretch>
        </p:blipFill>
        <p:spPr>
          <a:xfrm>
            <a:off x="2163928" y="2468880"/>
            <a:ext cx="457200" cy="457200"/>
          </a:xfrm>
          <a:prstGeom prst="rect">
            <a:avLst/>
          </a:prstGeom>
        </p:spPr>
      </p:pic>
      <p:sp>
        <p:nvSpPr>
          <p:cNvPr id="7" name="Text 2"/>
          <p:cNvSpPr/>
          <p:nvPr/>
        </p:nvSpPr>
        <p:spPr>
          <a:xfrm>
            <a:off x="2758288" y="2468880"/>
            <a:ext cx="2743200" cy="457200"/>
          </a:xfrm>
          <a:prstGeom prst="rect">
            <a:avLst/>
          </a:prstGeom>
          <a:noFill/>
          <a:ln/>
        </p:spPr>
        <p:txBody>
          <a:bodyPr wrap="square" rtlCol="0" anchor="ctr"/>
          <a:lstStyle/>
          <a:p>
            <a:pPr marL="0" indent="0">
              <a:buNone/>
            </a:pPr>
            <a:r>
              <a:rPr lang="en-US" sz="1600" b="1" dirty="0">
                <a:solidFill>
                  <a:srgbClr val="9C6B0B"/>
                </a:solidFill>
                <a:latin typeface="Aptos" pitchFamily="34" charset="0"/>
                <a:ea typeface="Aptos" pitchFamily="34" charset="-122"/>
                <a:cs typeface="Aptos" pitchFamily="34" charset="-120"/>
              </a:rPr>
              <a:t>NOTE</a:t>
            </a:r>
            <a:endParaRPr lang="en-US" sz="1600" dirty="0"/>
          </a:p>
        </p:txBody>
      </p:sp>
      <p:sp>
        <p:nvSpPr>
          <p:cNvPr id="8" name="Text 3"/>
          <p:cNvSpPr/>
          <p:nvPr/>
        </p:nvSpPr>
        <p:spPr>
          <a:xfrm>
            <a:off x="2255368" y="3063240"/>
            <a:ext cx="7680960" cy="1097280"/>
          </a:xfrm>
          <a:prstGeom prst="rect">
            <a:avLst/>
          </a:prstGeom>
          <a:noFill/>
          <a:ln/>
        </p:spPr>
        <p:txBody>
          <a:bodyPr wrap="square" rtlCol="0" anchor="t"/>
          <a:lstStyle/>
          <a:p>
            <a:pPr marL="0" indent="0" algn="ctr">
              <a:lnSpc>
                <a:spcPct val="120000"/>
              </a:lnSpc>
              <a:buNone/>
            </a:pPr>
            <a:r>
              <a:rPr lang="en-US" sz="2000" b="1" i="1" dirty="0">
                <a:solidFill>
                  <a:srgbClr val="0E2841"/>
                </a:solidFill>
                <a:latin typeface="Aptos Display" pitchFamily="34" charset="0"/>
                <a:ea typeface="Aptos Display" pitchFamily="34" charset="-122"/>
                <a:cs typeface="Aptos Display" pitchFamily="34" charset="-120"/>
              </a:rPr>
              <a:t>The physical addresses will change from hop to hop, but the logical addresses usually remain the same.</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Shape 1"/>
          <p:cNvSpPr/>
          <p:nvPr/>
        </p:nvSpPr>
        <p:spPr>
          <a:xfrm>
            <a:off x="502920" y="914400"/>
            <a:ext cx="2103120" cy="502920"/>
          </a:xfrm>
          <a:prstGeom prst="roundRect">
            <a:avLst>
              <a:gd name="adj" fmla="val 14545"/>
            </a:avLst>
          </a:prstGeom>
          <a:solidFill>
            <a:srgbClr val="156082"/>
          </a:solidFill>
          <a:ln/>
        </p:spPr>
        <p:txBody>
          <a:bodyPr/>
          <a:lstStyle/>
          <a:p>
            <a:endParaRPr lang="en-US"/>
          </a:p>
        </p:txBody>
      </p:sp>
      <p:sp>
        <p:nvSpPr>
          <p:cNvPr id="6" name="Text 2"/>
          <p:cNvSpPr/>
          <p:nvPr/>
        </p:nvSpPr>
        <p:spPr>
          <a:xfrm>
            <a:off x="502920" y="914400"/>
            <a:ext cx="2103120" cy="502920"/>
          </a:xfrm>
          <a:prstGeom prst="rect">
            <a:avLst/>
          </a:prstGeom>
          <a:noFill/>
          <a:ln/>
        </p:spPr>
        <p:txBody>
          <a:bodyPr wrap="square"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Example 2.5</a:t>
            </a:r>
            <a:endParaRPr lang="en-US" sz="1600" dirty="0"/>
          </a:p>
        </p:txBody>
      </p:sp>
      <p:sp>
        <p:nvSpPr>
          <p:cNvPr id="7" name="Text 3"/>
          <p:cNvSpPr/>
          <p:nvPr/>
        </p:nvSpPr>
        <p:spPr>
          <a:xfrm>
            <a:off x="502920" y="1691640"/>
            <a:ext cx="11183112" cy="1737360"/>
          </a:xfrm>
          <a:prstGeom prst="rect">
            <a:avLst/>
          </a:prstGeom>
          <a:noFill/>
          <a:ln/>
        </p:spPr>
        <p:txBody>
          <a:bodyPr wrap="square" rtlCol="0" anchor="t"/>
          <a:lstStyle/>
          <a:p>
            <a:pPr marL="0" indent="0">
              <a:lnSpc>
                <a:spcPct val="115000"/>
              </a:lnSpc>
              <a:buNone/>
            </a:pPr>
            <a:r>
              <a:rPr lang="en-US" sz="1600" dirty="0">
                <a:solidFill>
                  <a:srgbClr val="333333"/>
                </a:solidFill>
                <a:latin typeface="Aptos" pitchFamily="34" charset="0"/>
                <a:ea typeface="Aptos" pitchFamily="34" charset="-122"/>
                <a:cs typeface="Aptos" pitchFamily="34" charset="-120"/>
              </a:rPr>
              <a:t>A port address is a 16-bit address represented by one decimal number as shown.</a:t>
            </a:r>
            <a:endParaRPr lang="en-US" sz="1600" dirty="0"/>
          </a:p>
        </p:txBody>
      </p:sp>
      <p:sp>
        <p:nvSpPr>
          <p:cNvPr id="8" name="Shape 4"/>
          <p:cNvSpPr/>
          <p:nvPr/>
        </p:nvSpPr>
        <p:spPr>
          <a:xfrm>
            <a:off x="3124048" y="3794760"/>
            <a:ext cx="5943600" cy="1417320"/>
          </a:xfrm>
          <a:prstGeom prst="roundRect">
            <a:avLst>
              <a:gd name="adj" fmla="val 6452"/>
            </a:avLst>
          </a:prstGeom>
          <a:solidFill>
            <a:srgbClr val="F5F5F5"/>
          </a:solidFill>
          <a:ln w="12700">
            <a:solidFill>
              <a:srgbClr val="CCCCCC"/>
            </a:solidFill>
            <a:prstDash val="solid"/>
          </a:ln>
        </p:spPr>
        <p:txBody>
          <a:bodyPr/>
          <a:lstStyle/>
          <a:p>
            <a:endParaRPr lang="en-US"/>
          </a:p>
        </p:txBody>
      </p:sp>
      <p:sp>
        <p:nvSpPr>
          <p:cNvPr id="9" name="Text 5"/>
          <p:cNvSpPr/>
          <p:nvPr/>
        </p:nvSpPr>
        <p:spPr>
          <a:xfrm>
            <a:off x="3124048" y="3931920"/>
            <a:ext cx="5943600" cy="640080"/>
          </a:xfrm>
          <a:prstGeom prst="rect">
            <a:avLst/>
          </a:prstGeom>
          <a:noFill/>
          <a:ln/>
        </p:spPr>
        <p:txBody>
          <a:bodyPr wrap="square" rtlCol="0" anchor="ctr"/>
          <a:lstStyle/>
          <a:p>
            <a:pPr marL="0" indent="0" algn="ctr">
              <a:buNone/>
            </a:pPr>
            <a:r>
              <a:rPr lang="en-US" sz="2400" b="1" dirty="0">
                <a:solidFill>
                  <a:srgbClr val="0E2841"/>
                </a:solidFill>
                <a:latin typeface="Consolas" pitchFamily="34" charset="0"/>
                <a:ea typeface="Consolas" pitchFamily="34" charset="-122"/>
                <a:cs typeface="Consolas" pitchFamily="34" charset="-120"/>
              </a:rPr>
              <a:t>753</a:t>
            </a:r>
            <a:endParaRPr lang="en-US" sz="2400" dirty="0"/>
          </a:p>
        </p:txBody>
      </p:sp>
      <p:sp>
        <p:nvSpPr>
          <p:cNvPr id="10" name="Text 6"/>
          <p:cNvSpPr/>
          <p:nvPr/>
        </p:nvSpPr>
        <p:spPr>
          <a:xfrm>
            <a:off x="3124048" y="4617720"/>
            <a:ext cx="5943600" cy="502920"/>
          </a:xfrm>
          <a:prstGeom prst="rect">
            <a:avLst/>
          </a:prstGeom>
          <a:noFill/>
          <a:ln/>
        </p:spPr>
        <p:txBody>
          <a:bodyPr wrap="square" rtlCol="0" anchor="ctr"/>
          <a:lstStyle/>
          <a:p>
            <a:pPr marL="0" indent="0" algn="ctr">
              <a:buNone/>
            </a:pPr>
            <a:r>
              <a:rPr lang="en-US" sz="1300" i="1" dirty="0">
                <a:solidFill>
                  <a:srgbClr val="333333"/>
                </a:solidFill>
                <a:latin typeface="Aptos" pitchFamily="34" charset="0"/>
                <a:ea typeface="Aptos" pitchFamily="34" charset="-122"/>
                <a:cs typeface="Aptos" pitchFamily="34" charset="-120"/>
              </a:rPr>
              <a:t>A 16-bit port address represented as one single number.</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sp>
        <p:nvSpPr>
          <p:cNvPr id="5" name="Text 1"/>
          <p:cNvSpPr/>
          <p:nvPr/>
        </p:nvSpPr>
        <p:spPr>
          <a:xfrm>
            <a:off x="502920" y="914400"/>
            <a:ext cx="11183112" cy="502920"/>
          </a:xfrm>
          <a:prstGeom prst="rect">
            <a:avLst/>
          </a:prstGeom>
          <a:noFill/>
          <a:ln/>
        </p:spPr>
        <p:txBody>
          <a:bodyPr wrap="square" rtlCol="0" anchor="ctr"/>
          <a:lstStyle/>
          <a:p>
            <a:pPr marL="0" indent="0">
              <a:buNone/>
            </a:pPr>
            <a:r>
              <a:rPr lang="en-US" sz="2300" b="1" dirty="0">
                <a:solidFill>
                  <a:srgbClr val="0E2841"/>
                </a:solidFill>
                <a:latin typeface="Aptos Display" pitchFamily="34" charset="0"/>
                <a:ea typeface="Aptos Display" pitchFamily="34" charset="-122"/>
                <a:cs typeface="Aptos Display" pitchFamily="34" charset="-120"/>
              </a:rPr>
              <a:t>Unicast, Multicast, and Broadcast Addresses</a:t>
            </a:r>
            <a:endParaRPr lang="en-US" sz="2300" dirty="0"/>
          </a:p>
        </p:txBody>
      </p:sp>
      <p:sp>
        <p:nvSpPr>
          <p:cNvPr id="6" name="Text 2"/>
          <p:cNvSpPr/>
          <p:nvPr/>
        </p:nvSpPr>
        <p:spPr>
          <a:xfrm>
            <a:off x="502920" y="1554480"/>
            <a:ext cx="11183112" cy="1234440"/>
          </a:xfrm>
          <a:prstGeom prst="rect">
            <a:avLst/>
          </a:prstGeom>
          <a:noFill/>
          <a:ln/>
        </p:spPr>
        <p:txBody>
          <a:bodyPr wrap="square" rtlCol="0" anchor="t"/>
          <a:lstStyle/>
          <a:p>
            <a:pPr marL="0" indent="0">
              <a:lnSpc>
                <a:spcPct val="115000"/>
              </a:lnSpc>
              <a:buNone/>
            </a:pPr>
            <a:r>
              <a:rPr lang="en-US" sz="1500" dirty="0">
                <a:solidFill>
                  <a:srgbClr val="333333"/>
                </a:solidFill>
                <a:latin typeface="Aptos" pitchFamily="34" charset="0"/>
                <a:ea typeface="Aptos" pitchFamily="34" charset="-122"/>
                <a:cs typeface="Aptos" pitchFamily="34" charset="-120"/>
              </a:rPr>
              <a:t>A source address is always a unicast address—the frame comes from only one station. The destination address, however, can be unicast, multicast, or broadcast.</a:t>
            </a:r>
            <a:endParaRPr lang="en-US" sz="1500" dirty="0"/>
          </a:p>
        </p:txBody>
      </p:sp>
      <p:sp>
        <p:nvSpPr>
          <p:cNvPr id="7" name="Text 3"/>
          <p:cNvSpPr/>
          <p:nvPr/>
        </p:nvSpPr>
        <p:spPr>
          <a:xfrm>
            <a:off x="502920" y="2788920"/>
            <a:ext cx="11183112" cy="1691640"/>
          </a:xfrm>
          <a:prstGeom prst="rect">
            <a:avLst/>
          </a:prstGeom>
          <a:noFill/>
          <a:ln/>
        </p:spPr>
        <p:txBody>
          <a:bodyPr wrap="square" rtlCol="0" anchor="t"/>
          <a:lstStyle/>
          <a:p>
            <a:pPr marL="0" indent="0">
              <a:lnSpc>
                <a:spcPct val="115000"/>
              </a:lnSpc>
              <a:buNone/>
            </a:pPr>
            <a:r>
              <a:rPr lang="en-US" sz="1500" dirty="0">
                <a:solidFill>
                  <a:srgbClr val="333333"/>
                </a:solidFill>
                <a:latin typeface="Aptos" pitchFamily="34" charset="0"/>
                <a:ea typeface="Aptos" pitchFamily="34" charset="-122"/>
                <a:cs typeface="Aptos" pitchFamily="34" charset="-120"/>
              </a:rPr>
              <a:t>A unicast destination address defines only one recipient; the relationship between the sender and the receiver is one-to-one. A multicast destination address defines a group of addresses; the relationship between the sender and the receivers is one-to-many. The broadcast address is a special case of the multicast address; the recipients are all the stations on the LAN. A broadcast destination address is forty-eight 1s</a:t>
            </a:r>
            <a:endParaRPr lang="en-US" sz="1500" dirty="0"/>
          </a:p>
        </p:txBody>
      </p:sp>
      <p:pic>
        <p:nvPicPr>
          <p:cNvPr id="8" name="Image 2" descr="extracted_images/slide42_img24.png"/>
          <p:cNvPicPr>
            <a:picLocks noChangeAspect="1"/>
          </p:cNvPicPr>
          <p:nvPr/>
        </p:nvPicPr>
        <p:blipFill>
          <a:blip r:embed="rId5"/>
          <a:stretch>
            <a:fillRect/>
          </a:stretch>
        </p:blipFill>
        <p:spPr>
          <a:xfrm>
            <a:off x="3455692" y="5029200"/>
            <a:ext cx="5280312" cy="14630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home/claude/logo_left.png"/>
          <p:cNvPicPr>
            <a:picLocks noChangeAspect="1"/>
          </p:cNvPicPr>
          <p:nvPr/>
        </p:nvPicPr>
        <p:blipFill>
          <a:blip r:embed="rId3"/>
          <a:stretch>
            <a:fillRect/>
          </a:stretch>
        </p:blipFill>
        <p:spPr>
          <a:xfrm>
            <a:off x="237744" y="45720"/>
            <a:ext cx="2566721" cy="607162"/>
          </a:xfrm>
          <a:prstGeom prst="rect">
            <a:avLst/>
          </a:prstGeom>
        </p:spPr>
      </p:pic>
      <p:sp>
        <p:nvSpPr>
          <p:cNvPr id="3" name="Shape 0"/>
          <p:cNvSpPr/>
          <p:nvPr/>
        </p:nvSpPr>
        <p:spPr>
          <a:xfrm>
            <a:off x="0" y="694030"/>
            <a:ext cx="12191695" cy="92080"/>
          </a:xfrm>
          <a:prstGeom prst="rect">
            <a:avLst/>
          </a:prstGeom>
          <a:solidFill>
            <a:srgbClr val="FFC000"/>
          </a:solidFill>
          <a:ln/>
        </p:spPr>
        <p:txBody>
          <a:bodyPr/>
          <a:lstStyle/>
          <a:p>
            <a:endParaRPr lang="en-US"/>
          </a:p>
        </p:txBody>
      </p:sp>
      <p:pic>
        <p:nvPicPr>
          <p:cNvPr id="4" name="Image 1" descr="/home/claude/logo_right.png"/>
          <p:cNvPicPr>
            <a:picLocks noChangeAspect="1"/>
          </p:cNvPicPr>
          <p:nvPr/>
        </p:nvPicPr>
        <p:blipFill>
          <a:blip r:embed="rId4"/>
          <a:stretch>
            <a:fillRect/>
          </a:stretch>
        </p:blipFill>
        <p:spPr>
          <a:xfrm>
            <a:off x="10457078" y="10973"/>
            <a:ext cx="1166774" cy="694030"/>
          </a:xfrm>
          <a:prstGeom prst="rect">
            <a:avLst/>
          </a:prstGeom>
        </p:spPr>
      </p:pic>
      <p:pic>
        <p:nvPicPr>
          <p:cNvPr id="5" name="Image 2" descr="extracted_images/slide43_img25.png"/>
          <p:cNvPicPr>
            <a:picLocks noChangeAspect="1"/>
          </p:cNvPicPr>
          <p:nvPr/>
        </p:nvPicPr>
        <p:blipFill>
          <a:blip r:embed="rId5"/>
          <a:stretch>
            <a:fillRect/>
          </a:stretch>
        </p:blipFill>
        <p:spPr>
          <a:xfrm>
            <a:off x="1981048" y="2205966"/>
            <a:ext cx="8229600" cy="27203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1087</Words>
  <Application>Microsoft Office PowerPoint</Application>
  <PresentationFormat>Widescreen</PresentationFormat>
  <Paragraphs>137</Paragraphs>
  <Slides>43</Slides>
  <Notes>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Ridhi Arora [MU - Jaipur]</cp:lastModifiedBy>
  <cp:revision>2</cp:revision>
  <dcterms:created xsi:type="dcterms:W3CDTF">2026-07-21T06:30:14Z</dcterms:created>
  <dcterms:modified xsi:type="dcterms:W3CDTF">2026-07-24T09:11:02Z</dcterms:modified>
</cp:coreProperties>
</file>