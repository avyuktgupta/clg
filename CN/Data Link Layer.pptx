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8" r:id="rId2"/>
    <p:sldId id="25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Data Preparation and Exploration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E6586-99FC-472A-99D6-89BE5F94D3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16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6B2DBD-781F-C6BE-60C3-AD1DB0559E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1400" y="176213"/>
            <a:ext cx="6644148" cy="333987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FF0000"/>
                </a:solidFill>
              </a:defRPr>
            </a:lvl1pPr>
          </a:lstStyle>
          <a:p>
            <a:pPr lvl="0"/>
            <a:r>
              <a:rPr lang="en-US" dirty="0"/>
              <a:t>Object 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37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99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F34B1A3-A278-A3DF-7F22-E77836F36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3131" y="2834781"/>
            <a:ext cx="9385738" cy="2809273"/>
          </a:xfrm>
        </p:spPr>
        <p:txBody>
          <a:bodyPr/>
          <a:lstStyle/>
          <a:p>
            <a:r>
              <a:rPr lang="en-IN" sz="3600" dirty="0"/>
              <a:t>DATA LINK LAYER </a:t>
            </a:r>
          </a:p>
          <a:p>
            <a:r>
              <a:rPr lang="en-IN" sz="3600" dirty="0"/>
              <a:t>Module 2</a:t>
            </a:r>
          </a:p>
        </p:txBody>
      </p:sp>
    </p:spTree>
    <p:extLst>
      <p:ext uri="{BB962C8B-B14F-4D97-AF65-F5344CB8AC3E}">
        <p14:creationId xmlns:p14="http://schemas.microsoft.com/office/powerpoint/2010/main" val="149267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>
            <a:extLst>
              <a:ext uri="{FF2B5EF4-FFF2-40B4-BE49-F238E27FC236}">
                <a16:creationId xmlns:a16="http://schemas.microsoft.com/office/drawing/2014/main" id="{1301F284-60F8-2783-91A8-9C0277D0BF7C}"/>
              </a:ext>
            </a:extLst>
          </p:cNvPr>
          <p:cNvSpPr txBox="1"/>
          <p:nvPr/>
        </p:nvSpPr>
        <p:spPr>
          <a:xfrm>
            <a:off x="0" y="546368"/>
            <a:ext cx="11797951" cy="2644955"/>
          </a:xfrm>
          <a:prstGeom prst="rect">
            <a:avLst/>
          </a:prstGeom>
        </p:spPr>
        <p:txBody>
          <a:bodyPr vert="horz" wrap="square" lIns="0" tIns="3333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625"/>
              </a:spcBef>
              <a:tabLst>
                <a:tab pos="698500" algn="l"/>
              </a:tabLst>
            </a:pPr>
            <a:r>
              <a:rPr sz="5400" spc="-145" dirty="0">
                <a:solidFill>
                  <a:srgbClr val="FF0000"/>
                </a:solidFill>
                <a:cs typeface="Verdana"/>
              </a:rPr>
              <a:t>DAT</a:t>
            </a:r>
            <a:r>
              <a:rPr sz="5400" spc="-140" dirty="0">
                <a:solidFill>
                  <a:srgbClr val="FF0000"/>
                </a:solidFill>
                <a:cs typeface="Verdana"/>
              </a:rPr>
              <a:t>A</a:t>
            </a:r>
            <a:r>
              <a:rPr sz="5400" spc="-405" dirty="0">
                <a:solidFill>
                  <a:srgbClr val="FF0000"/>
                </a:solidFill>
                <a:cs typeface="Verdana"/>
              </a:rPr>
              <a:t> </a:t>
            </a:r>
            <a:r>
              <a:rPr sz="5400" spc="-890" dirty="0">
                <a:solidFill>
                  <a:srgbClr val="FF0000"/>
                </a:solidFill>
                <a:cs typeface="Verdana"/>
              </a:rPr>
              <a:t>L</a:t>
            </a:r>
            <a:r>
              <a:rPr sz="5400" spc="-665" dirty="0">
                <a:solidFill>
                  <a:srgbClr val="FF0000"/>
                </a:solidFill>
                <a:cs typeface="Verdana"/>
              </a:rPr>
              <a:t>I</a:t>
            </a:r>
            <a:r>
              <a:rPr sz="5400" spc="-300" dirty="0">
                <a:solidFill>
                  <a:srgbClr val="FF0000"/>
                </a:solidFill>
                <a:cs typeface="Verdana"/>
              </a:rPr>
              <a:t>NK</a:t>
            </a:r>
            <a:r>
              <a:rPr sz="5400" spc="-400" dirty="0">
                <a:solidFill>
                  <a:srgbClr val="FF0000"/>
                </a:solidFill>
                <a:cs typeface="Verdana"/>
              </a:rPr>
              <a:t> </a:t>
            </a:r>
            <a:r>
              <a:rPr sz="5400" spc="-265" dirty="0">
                <a:solidFill>
                  <a:srgbClr val="FF0000"/>
                </a:solidFill>
                <a:cs typeface="Verdana"/>
              </a:rPr>
              <a:t>LAYER</a:t>
            </a:r>
            <a:endParaRPr sz="5400" dirty="0">
              <a:cs typeface="Verdana"/>
            </a:endParaRPr>
          </a:p>
          <a:p>
            <a:pPr marL="457200" indent="-4572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Trebuchet MS"/>
              </a:rPr>
              <a:t>Manages the Flow of Data over physical medium</a:t>
            </a:r>
          </a:p>
          <a:p>
            <a:pPr marL="457200" indent="-4572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3200" spc="-75" dirty="0">
                <a:solidFill>
                  <a:srgbClr val="0D0D0D"/>
                </a:solidFill>
                <a:cs typeface="Verdana"/>
              </a:rPr>
              <a:t>Responsible</a:t>
            </a:r>
            <a:r>
              <a:rPr sz="3200" spc="-135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110" dirty="0">
                <a:solidFill>
                  <a:srgbClr val="0D0D0D"/>
                </a:solidFill>
                <a:cs typeface="Verdana"/>
              </a:rPr>
              <a:t>for</a:t>
            </a:r>
            <a:r>
              <a:rPr sz="3200" spc="-195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135" dirty="0">
                <a:solidFill>
                  <a:srgbClr val="0D0D0D"/>
                </a:solidFill>
                <a:cs typeface="Verdana"/>
              </a:rPr>
              <a:t>error-free</a:t>
            </a:r>
            <a:r>
              <a:rPr sz="3200" spc="-165" dirty="0">
                <a:solidFill>
                  <a:srgbClr val="0D0D0D"/>
                </a:solidFill>
                <a:cs typeface="Verdana"/>
              </a:rPr>
              <a:t> transmission </a:t>
            </a:r>
            <a:r>
              <a:rPr sz="3200" spc="-969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50" dirty="0">
                <a:solidFill>
                  <a:srgbClr val="0D0D0D"/>
                </a:solidFill>
                <a:cs typeface="Verdana"/>
              </a:rPr>
              <a:t>over</a:t>
            </a:r>
            <a:r>
              <a:rPr lang="en-IN" sz="3200" spc="-50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25" dirty="0">
                <a:solidFill>
                  <a:srgbClr val="0D0D0D"/>
                </a:solidFill>
                <a:cs typeface="Verdana"/>
              </a:rPr>
              <a:t>the</a:t>
            </a:r>
            <a:r>
              <a:rPr sz="3200" spc="-195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40" dirty="0">
                <a:solidFill>
                  <a:srgbClr val="0D0D0D"/>
                </a:solidFill>
                <a:cs typeface="Verdana"/>
              </a:rPr>
              <a:t>physical</a:t>
            </a:r>
            <a:r>
              <a:rPr sz="3200" spc="-195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75" dirty="0">
                <a:solidFill>
                  <a:srgbClr val="0D0D0D"/>
                </a:solidFill>
                <a:cs typeface="Verdana"/>
              </a:rPr>
              <a:t>layer</a:t>
            </a:r>
            <a:endParaRPr lang="en-IN" sz="3200" dirty="0">
              <a:cs typeface="Verdana"/>
            </a:endParaRPr>
          </a:p>
          <a:p>
            <a:pPr marL="457200" indent="-4572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3200" spc="-125" dirty="0">
                <a:solidFill>
                  <a:srgbClr val="0D0D0D"/>
                </a:solidFill>
                <a:cs typeface="Verdana"/>
              </a:rPr>
              <a:t>A</a:t>
            </a:r>
            <a:r>
              <a:rPr sz="3200" spc="-110" dirty="0">
                <a:solidFill>
                  <a:srgbClr val="0D0D0D"/>
                </a:solidFill>
                <a:cs typeface="Verdana"/>
              </a:rPr>
              <a:t>s</a:t>
            </a:r>
            <a:r>
              <a:rPr sz="3200" spc="-165" dirty="0">
                <a:solidFill>
                  <a:srgbClr val="0D0D0D"/>
                </a:solidFill>
                <a:cs typeface="Verdana"/>
              </a:rPr>
              <a:t>sur</a:t>
            </a:r>
            <a:r>
              <a:rPr sz="3200" spc="-195" dirty="0">
                <a:solidFill>
                  <a:srgbClr val="0D0D0D"/>
                </a:solidFill>
                <a:cs typeface="Verdana"/>
              </a:rPr>
              <a:t>e</a:t>
            </a:r>
            <a:r>
              <a:rPr sz="3200" spc="-375" dirty="0">
                <a:solidFill>
                  <a:srgbClr val="0D0D0D"/>
                </a:solidFill>
                <a:cs typeface="Verdana"/>
              </a:rPr>
              <a:t>s</a:t>
            </a:r>
            <a:r>
              <a:rPr sz="3200" spc="-175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120" dirty="0">
                <a:solidFill>
                  <a:srgbClr val="0D0D0D"/>
                </a:solidFill>
                <a:cs typeface="Verdana"/>
              </a:rPr>
              <a:t>e</a:t>
            </a:r>
            <a:r>
              <a:rPr sz="3200" spc="-95" dirty="0">
                <a:solidFill>
                  <a:srgbClr val="0D0D0D"/>
                </a:solidFill>
                <a:cs typeface="Verdana"/>
              </a:rPr>
              <a:t>r</a:t>
            </a:r>
            <a:r>
              <a:rPr sz="3200" spc="-204" dirty="0">
                <a:solidFill>
                  <a:srgbClr val="0D0D0D"/>
                </a:solidFill>
                <a:cs typeface="Verdana"/>
              </a:rPr>
              <a:t>ro</a:t>
            </a:r>
            <a:r>
              <a:rPr sz="3200" spc="-175" dirty="0">
                <a:solidFill>
                  <a:srgbClr val="0D0D0D"/>
                </a:solidFill>
                <a:cs typeface="Verdana"/>
              </a:rPr>
              <a:t>r</a:t>
            </a:r>
            <a:r>
              <a:rPr sz="3200" spc="-355" dirty="0">
                <a:solidFill>
                  <a:srgbClr val="0D0D0D"/>
                </a:solidFill>
                <a:cs typeface="Verdana"/>
              </a:rPr>
              <a:t>-</a:t>
            </a:r>
            <a:r>
              <a:rPr sz="3200" spc="-90" dirty="0">
                <a:solidFill>
                  <a:srgbClr val="0D0D0D"/>
                </a:solidFill>
                <a:cs typeface="Verdana"/>
              </a:rPr>
              <a:t>fr</a:t>
            </a:r>
            <a:r>
              <a:rPr sz="3200" spc="-150" dirty="0">
                <a:solidFill>
                  <a:srgbClr val="0D0D0D"/>
                </a:solidFill>
                <a:cs typeface="Verdana"/>
              </a:rPr>
              <a:t>e</a:t>
            </a:r>
            <a:r>
              <a:rPr sz="3200" spc="150" dirty="0">
                <a:solidFill>
                  <a:srgbClr val="0D0D0D"/>
                </a:solidFill>
                <a:cs typeface="Verdana"/>
              </a:rPr>
              <a:t>e</a:t>
            </a:r>
            <a:r>
              <a:rPr sz="3200" spc="-190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110" dirty="0">
                <a:solidFill>
                  <a:srgbClr val="0D0D0D"/>
                </a:solidFill>
                <a:cs typeface="Verdana"/>
              </a:rPr>
              <a:t>dat</a:t>
            </a:r>
            <a:r>
              <a:rPr sz="3200" spc="125" dirty="0">
                <a:solidFill>
                  <a:srgbClr val="0D0D0D"/>
                </a:solidFill>
                <a:cs typeface="Verdana"/>
              </a:rPr>
              <a:t>a</a:t>
            </a:r>
            <a:r>
              <a:rPr sz="3200" spc="-210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140" dirty="0">
                <a:solidFill>
                  <a:srgbClr val="0D0D0D"/>
                </a:solidFill>
                <a:cs typeface="Verdana"/>
              </a:rPr>
              <a:t>subm</a:t>
            </a:r>
            <a:r>
              <a:rPr sz="3200" spc="-45" dirty="0">
                <a:solidFill>
                  <a:srgbClr val="0D0D0D"/>
                </a:solidFill>
                <a:cs typeface="Verdana"/>
              </a:rPr>
              <a:t>i</a:t>
            </a:r>
            <a:r>
              <a:rPr sz="3200" spc="-380" dirty="0">
                <a:solidFill>
                  <a:srgbClr val="0D0D0D"/>
                </a:solidFill>
                <a:cs typeface="Verdana"/>
              </a:rPr>
              <a:t>s</a:t>
            </a:r>
            <a:r>
              <a:rPr sz="3200" spc="-390" dirty="0">
                <a:solidFill>
                  <a:srgbClr val="0D0D0D"/>
                </a:solidFill>
                <a:cs typeface="Verdana"/>
              </a:rPr>
              <a:t>s</a:t>
            </a:r>
            <a:r>
              <a:rPr sz="3200" spc="-200" dirty="0">
                <a:solidFill>
                  <a:srgbClr val="0D0D0D"/>
                </a:solidFill>
                <a:cs typeface="Verdana"/>
              </a:rPr>
              <a:t>i</a:t>
            </a:r>
            <a:r>
              <a:rPr sz="3200" spc="30" dirty="0">
                <a:solidFill>
                  <a:srgbClr val="0D0D0D"/>
                </a:solidFill>
                <a:cs typeface="Verdana"/>
              </a:rPr>
              <a:t>on</a:t>
            </a:r>
            <a:r>
              <a:rPr sz="3200" spc="-210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10" dirty="0">
                <a:solidFill>
                  <a:srgbClr val="0D0D0D"/>
                </a:solidFill>
                <a:cs typeface="Verdana"/>
              </a:rPr>
              <a:t>to  </a:t>
            </a:r>
            <a:r>
              <a:rPr sz="3200" spc="-25" dirty="0">
                <a:solidFill>
                  <a:srgbClr val="0D0D0D"/>
                </a:solidFill>
                <a:cs typeface="Verdana"/>
              </a:rPr>
              <a:t>the</a:t>
            </a:r>
            <a:r>
              <a:rPr sz="3200" dirty="0">
                <a:solidFill>
                  <a:srgbClr val="0D0D0D"/>
                </a:solidFill>
                <a:cs typeface="Verdana"/>
              </a:rPr>
              <a:t>	</a:t>
            </a:r>
            <a:r>
              <a:rPr sz="3200" spc="65" dirty="0">
                <a:solidFill>
                  <a:srgbClr val="0D0D0D"/>
                </a:solidFill>
                <a:cs typeface="Verdana"/>
              </a:rPr>
              <a:t>N</a:t>
            </a:r>
            <a:r>
              <a:rPr sz="3200" spc="35" dirty="0">
                <a:solidFill>
                  <a:srgbClr val="0D0D0D"/>
                </a:solidFill>
                <a:cs typeface="Verdana"/>
              </a:rPr>
              <a:t>e</a:t>
            </a:r>
            <a:r>
              <a:rPr sz="3200" dirty="0">
                <a:solidFill>
                  <a:srgbClr val="0D0D0D"/>
                </a:solidFill>
                <a:cs typeface="Verdana"/>
              </a:rPr>
              <a:t>tw</a:t>
            </a:r>
            <a:r>
              <a:rPr sz="3200" spc="5" dirty="0">
                <a:solidFill>
                  <a:srgbClr val="0D0D0D"/>
                </a:solidFill>
                <a:cs typeface="Verdana"/>
              </a:rPr>
              <a:t>o</a:t>
            </a:r>
            <a:r>
              <a:rPr sz="3200" spc="-305" dirty="0">
                <a:solidFill>
                  <a:srgbClr val="0D0D0D"/>
                </a:solidFill>
                <a:cs typeface="Verdana"/>
              </a:rPr>
              <a:t>rk</a:t>
            </a:r>
            <a:r>
              <a:rPr sz="3200" spc="-195" dirty="0">
                <a:solidFill>
                  <a:srgbClr val="0D0D0D"/>
                </a:solidFill>
                <a:cs typeface="Verdana"/>
              </a:rPr>
              <a:t> </a:t>
            </a:r>
            <a:r>
              <a:rPr sz="3200" spc="-85" dirty="0">
                <a:solidFill>
                  <a:srgbClr val="0D0D0D"/>
                </a:solidFill>
                <a:cs typeface="Verdana"/>
              </a:rPr>
              <a:t>Layer</a:t>
            </a:r>
            <a:endParaRPr sz="3200" dirty="0">
              <a:cs typeface="Verdana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5A9F8F77-728A-5AFB-6860-62D89E6809B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9974" y="3093194"/>
            <a:ext cx="6512052" cy="36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9E509A3-F419-1E40-93A1-39BD7BC02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620" y="1005575"/>
            <a:ext cx="7584867" cy="557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4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852B30EC-434F-934D-B74A-766C1AD08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262" y="1103586"/>
            <a:ext cx="9406759" cy="537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8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64E89B1F-107F-0A43-9396-1472AD52D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832" y="1282262"/>
            <a:ext cx="7152335" cy="522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7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54049FE-B27F-4E4F-B08C-290C6B5EF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899" y="903890"/>
            <a:ext cx="8930201" cy="595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9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94ECB45B-0C3E-D642-A121-449DA6E57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1019502"/>
            <a:ext cx="9182100" cy="573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7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CE352C3A-5ED9-3542-AEA5-5DC3C19F0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350" y="861848"/>
            <a:ext cx="9131300" cy="557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99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F85E479-8482-AC4F-A86D-B956C72E1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036" y="872358"/>
            <a:ext cx="8539927" cy="598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9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Description automatically generated">
            <a:extLst>
              <a:ext uri="{FF2B5EF4-FFF2-40B4-BE49-F238E27FC236}">
                <a16:creationId xmlns:a16="http://schemas.microsoft.com/office/drawing/2014/main" id="{BE1475D3-5648-C843-8FD2-4FFACBC6C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710" y="1061544"/>
            <a:ext cx="7356579" cy="57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70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7852163F-6208-B144-A06F-6714701A5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250" y="1019502"/>
            <a:ext cx="9207500" cy="508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46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48055" y="2508504"/>
            <a:ext cx="11757025" cy="3667760"/>
            <a:chOff x="448055" y="2508504"/>
            <a:chExt cx="11757025" cy="3667760"/>
          </a:xfrm>
        </p:grpSpPr>
        <p:sp>
          <p:nvSpPr>
            <p:cNvPr id="4" name="object 4"/>
            <p:cNvSpPr/>
            <p:nvPr/>
          </p:nvSpPr>
          <p:spPr>
            <a:xfrm>
              <a:off x="9206484" y="2962656"/>
              <a:ext cx="2982595" cy="3209290"/>
            </a:xfrm>
            <a:custGeom>
              <a:avLst/>
              <a:gdLst/>
              <a:ahLst/>
              <a:cxnLst/>
              <a:rect l="l" t="t" r="r" b="b"/>
              <a:pathLst>
                <a:path w="2982595" h="3209290">
                  <a:moveTo>
                    <a:pt x="2982468" y="0"/>
                  </a:moveTo>
                  <a:lnTo>
                    <a:pt x="2069592" y="912749"/>
                  </a:lnTo>
                </a:path>
                <a:path w="2982595" h="3209290">
                  <a:moveTo>
                    <a:pt x="2981833" y="227076"/>
                  </a:moveTo>
                  <a:lnTo>
                    <a:pt x="0" y="320893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91572" y="3285744"/>
              <a:ext cx="1896745" cy="1896745"/>
            </a:xfrm>
            <a:custGeom>
              <a:avLst/>
              <a:gdLst/>
              <a:ahLst/>
              <a:cxnLst/>
              <a:rect l="l" t="t" r="r" b="b"/>
              <a:pathLst>
                <a:path w="1896745" h="1896745">
                  <a:moveTo>
                    <a:pt x="1896491" y="0"/>
                  </a:moveTo>
                  <a:lnTo>
                    <a:pt x="0" y="1896490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43210" y="3132582"/>
              <a:ext cx="1747520" cy="1821814"/>
            </a:xfrm>
            <a:custGeom>
              <a:avLst/>
              <a:gdLst/>
              <a:ahLst/>
              <a:cxnLst/>
              <a:rect l="l" t="t" r="r" b="b"/>
              <a:pathLst>
                <a:path w="1747520" h="1821814">
                  <a:moveTo>
                    <a:pt x="1745742" y="0"/>
                  </a:moveTo>
                  <a:lnTo>
                    <a:pt x="0" y="1745741"/>
                  </a:lnTo>
                </a:path>
                <a:path w="1747520" h="1821814">
                  <a:moveTo>
                    <a:pt x="1747012" y="551687"/>
                  </a:moveTo>
                  <a:lnTo>
                    <a:pt x="477012" y="1821687"/>
                  </a:lnTo>
                </a:path>
              </a:pathLst>
            </a:custGeom>
            <a:ln w="289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055" y="2508504"/>
              <a:ext cx="9660636" cy="36454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-334518" y="714600"/>
            <a:ext cx="876381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584200" algn="l"/>
              </a:tabLst>
            </a:pPr>
            <a:r>
              <a:rPr sz="4800" b="1" spc="-325" dirty="0">
                <a:solidFill>
                  <a:srgbClr val="FF0000"/>
                </a:solidFill>
                <a:latin typeface="Arial"/>
                <a:cs typeface="Arial"/>
              </a:rPr>
              <a:t>SU</a:t>
            </a:r>
            <a:r>
              <a:rPr sz="4800" b="1" spc="-330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4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800" b="1" spc="-445" dirty="0">
                <a:solidFill>
                  <a:srgbClr val="FF0000"/>
                </a:solidFill>
                <a:latin typeface="Arial"/>
                <a:cs typeface="Arial"/>
              </a:rPr>
              <a:t>LAYER</a:t>
            </a:r>
            <a:r>
              <a:rPr sz="4800" b="1" spc="-43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4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800" b="1" spc="-21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4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800" b="1" spc="-229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4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800" b="1" spc="-55" dirty="0">
                <a:solidFill>
                  <a:srgbClr val="FF0000"/>
                </a:solidFill>
                <a:latin typeface="Arial"/>
                <a:cs typeface="Arial"/>
              </a:rPr>
              <a:t>LIN</a:t>
            </a:r>
            <a:r>
              <a:rPr sz="4800" b="1" spc="-70" dirty="0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sz="48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800" b="1" spc="-440" dirty="0">
                <a:solidFill>
                  <a:srgbClr val="FF0000"/>
                </a:solidFill>
                <a:latin typeface="Arial"/>
                <a:cs typeface="Arial"/>
              </a:rPr>
              <a:t>LAYER</a:t>
            </a:r>
            <a:endParaRPr sz="48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12252" y="877824"/>
            <a:ext cx="4079875" cy="2727960"/>
            <a:chOff x="8112252" y="877824"/>
            <a:chExt cx="4079875" cy="27279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2252" y="877824"/>
              <a:ext cx="4079748" cy="27279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4276" y="1069848"/>
              <a:ext cx="3741420" cy="23439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201911" y="2958083"/>
            <a:ext cx="3002915" cy="3218180"/>
            <a:chOff x="9201911" y="2958083"/>
            <a:chExt cx="3002915" cy="3218180"/>
          </a:xfrm>
        </p:grpSpPr>
        <p:sp>
          <p:nvSpPr>
            <p:cNvPr id="4" name="object 4"/>
            <p:cNvSpPr/>
            <p:nvPr/>
          </p:nvSpPr>
          <p:spPr>
            <a:xfrm>
              <a:off x="9206483" y="2962655"/>
              <a:ext cx="2982595" cy="3209290"/>
            </a:xfrm>
            <a:custGeom>
              <a:avLst/>
              <a:gdLst/>
              <a:ahLst/>
              <a:cxnLst/>
              <a:rect l="l" t="t" r="r" b="b"/>
              <a:pathLst>
                <a:path w="2982595" h="3209290">
                  <a:moveTo>
                    <a:pt x="2982468" y="0"/>
                  </a:moveTo>
                  <a:lnTo>
                    <a:pt x="2069592" y="912749"/>
                  </a:lnTo>
                </a:path>
                <a:path w="2982595" h="3209290">
                  <a:moveTo>
                    <a:pt x="2981833" y="227076"/>
                  </a:moveTo>
                  <a:lnTo>
                    <a:pt x="0" y="3208934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91572" y="3285743"/>
              <a:ext cx="1896745" cy="1896745"/>
            </a:xfrm>
            <a:custGeom>
              <a:avLst/>
              <a:gdLst/>
              <a:ahLst/>
              <a:cxnLst/>
              <a:rect l="l" t="t" r="r" b="b"/>
              <a:pathLst>
                <a:path w="1896745" h="1896745">
                  <a:moveTo>
                    <a:pt x="1896491" y="0"/>
                  </a:moveTo>
                  <a:lnTo>
                    <a:pt x="0" y="1896490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43209" y="3132581"/>
              <a:ext cx="1747520" cy="1821814"/>
            </a:xfrm>
            <a:custGeom>
              <a:avLst/>
              <a:gdLst/>
              <a:ahLst/>
              <a:cxnLst/>
              <a:rect l="l" t="t" r="r" b="b"/>
              <a:pathLst>
                <a:path w="1747520" h="1821814">
                  <a:moveTo>
                    <a:pt x="1745742" y="0"/>
                  </a:moveTo>
                  <a:lnTo>
                    <a:pt x="0" y="1745741"/>
                  </a:lnTo>
                </a:path>
                <a:path w="1747520" h="1821814">
                  <a:moveTo>
                    <a:pt x="1747012" y="551687"/>
                  </a:moveTo>
                  <a:lnTo>
                    <a:pt x="477012" y="1821687"/>
                  </a:lnTo>
                </a:path>
              </a:pathLst>
            </a:custGeom>
            <a:ln w="289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0793" y="1607325"/>
            <a:ext cx="9296399" cy="1513876"/>
          </a:xfrm>
          <a:prstGeom prst="rect">
            <a:avLst/>
          </a:prstGeom>
        </p:spPr>
        <p:txBody>
          <a:bodyPr vert="horz" wrap="square" lIns="0" tIns="1987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5"/>
              </a:spcBef>
              <a:buClr>
                <a:srgbClr val="FFFFFF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lang="en-IN" sz="3600" dirty="0">
                <a:latin typeface="Trebuchet MS"/>
                <a:cs typeface="Trebuchet MS"/>
              </a:rPr>
              <a:t>Address the Frame</a:t>
            </a:r>
          </a:p>
          <a:p>
            <a:pPr marL="355600" indent="-342900">
              <a:lnSpc>
                <a:spcPct val="100000"/>
              </a:lnSpc>
              <a:spcBef>
                <a:spcPts val="1565"/>
              </a:spcBef>
              <a:buClr>
                <a:srgbClr val="FFFFFF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lang="en-IN" sz="3600" dirty="0">
                <a:latin typeface="Trebuchet MS"/>
                <a:cs typeface="Trebuchet MS"/>
              </a:rPr>
              <a:t>Its Lower Layer</a:t>
            </a: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77319DAA-8B59-0A18-FC59-E46C4B273494}"/>
              </a:ext>
            </a:extLst>
          </p:cNvPr>
          <p:cNvSpPr txBox="1"/>
          <p:nvPr/>
        </p:nvSpPr>
        <p:spPr>
          <a:xfrm>
            <a:off x="-156104" y="3121201"/>
            <a:ext cx="5670550" cy="2802049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817244" indent="-805180">
              <a:lnSpc>
                <a:spcPct val="100000"/>
              </a:lnSpc>
              <a:spcBef>
                <a:spcPts val="1465"/>
              </a:spcBef>
              <a:buClr>
                <a:srgbClr val="FFFFFF"/>
              </a:buClr>
              <a:buSzPct val="79166"/>
              <a:buFont typeface="Wingdings"/>
              <a:buChar char=""/>
              <a:tabLst>
                <a:tab pos="817244" algn="l"/>
                <a:tab pos="817880" algn="l"/>
              </a:tabLst>
            </a:pPr>
            <a:r>
              <a:rPr lang="en-US" sz="3600" dirty="0">
                <a:latin typeface="Trebuchet MS"/>
                <a:cs typeface="Trebuchet MS"/>
              </a:rPr>
              <a:t>Logic Link Control</a:t>
            </a:r>
          </a:p>
          <a:p>
            <a:pPr marL="817244" indent="-805180">
              <a:lnSpc>
                <a:spcPct val="100000"/>
              </a:lnSpc>
              <a:spcBef>
                <a:spcPts val="1465"/>
              </a:spcBef>
              <a:buClr>
                <a:srgbClr val="FFFFFF"/>
              </a:buClr>
              <a:buSzPct val="79166"/>
              <a:buFont typeface="Wingdings"/>
              <a:buChar char=""/>
              <a:tabLst>
                <a:tab pos="817244" algn="l"/>
                <a:tab pos="817880" algn="l"/>
              </a:tabLst>
            </a:pPr>
            <a:r>
              <a:rPr lang="en-US" sz="3600" dirty="0">
                <a:latin typeface="Trebuchet MS"/>
                <a:cs typeface="Trebuchet MS"/>
              </a:rPr>
              <a:t>Prepares the data for transfer</a:t>
            </a:r>
          </a:p>
          <a:p>
            <a:pPr marL="817244" indent="-805180">
              <a:lnSpc>
                <a:spcPct val="100000"/>
              </a:lnSpc>
              <a:spcBef>
                <a:spcPts val="1465"/>
              </a:spcBef>
              <a:buClr>
                <a:srgbClr val="FFFFFF"/>
              </a:buClr>
              <a:buSzPct val="79166"/>
              <a:buFont typeface="Wingdings"/>
              <a:buChar char=""/>
              <a:tabLst>
                <a:tab pos="817244" algn="l"/>
                <a:tab pos="817880" algn="l"/>
              </a:tabLst>
            </a:pPr>
            <a:r>
              <a:rPr lang="en-US" sz="3600" dirty="0">
                <a:latin typeface="Trebuchet MS"/>
                <a:cs typeface="Trebuchet MS"/>
              </a:rPr>
              <a:t>Its Upper Layer 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7211</TotalTime>
  <Words>61</Words>
  <Application>Microsoft Office PowerPoint</Application>
  <PresentationFormat>Widescreen</PresentationFormat>
  <Paragraphs>14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Trebuchet MS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 Shashvat Sharma</cp:lastModifiedBy>
  <cp:revision>118</cp:revision>
  <dcterms:created xsi:type="dcterms:W3CDTF">2025-10-01T15:47:58Z</dcterms:created>
  <dcterms:modified xsi:type="dcterms:W3CDTF">2026-08-05T08:48:28Z</dcterms:modified>
</cp:coreProperties>
</file>