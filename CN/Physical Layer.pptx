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179-AFAE-55D7-9C5D-3D067DE1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05989"/>
            <a:ext cx="9144000" cy="1303973"/>
          </a:xfrm>
        </p:spPr>
        <p:txBody>
          <a:bodyPr/>
          <a:lstStyle/>
          <a:p>
            <a:r>
              <a:t>The Physical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C72A2-0F97-A244-EE58-6754ED64D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Communications  ·  Data Rate Limits, Media, Digital Transmission &amp; Line Coding</a:t>
            </a:r>
          </a:p>
        </p:txBody>
      </p:sp>
    </p:spTree>
    <p:extLst>
      <p:ext uri="{BB962C8B-B14F-4D97-AF65-F5344CB8AC3E}">
        <p14:creationId xmlns:p14="http://schemas.microsoft.com/office/powerpoint/2010/main" val="104067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Data Rate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Data Rate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A key question in data communications: how fast can we send data (in bits per second) over a channel?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Data rate depends on three factors: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>
                <a:solidFill>
                  <a:srgbClr val="333333"/>
                </a:solidFill>
              </a:rPr>
              <a:t>1. The bandwidth available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>
                <a:solidFill>
                  <a:srgbClr val="333333"/>
                </a:solidFill>
              </a:rPr>
              <a:t>2. The number of signal levels we use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>
                <a:solidFill>
                  <a:srgbClr val="333333"/>
                </a:solidFill>
              </a:rPr>
              <a:t>3. The quality of the channel (the level of noise)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Two governing limits: the Nyquist Bit Rate (noiseless channel) and the Shannon Capacity (noisy channel).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Capacity of a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The bit rate of a system increases as we increase the number of signal levels used to represent a symbol.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A symbol can consist of a single bit, or of n bits — giving 2ⁿ possible signal levels.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As the number of levels increases, the spacing between levels shrinks — increasing the probability of error.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Increasing signal levels boosts data rate, but reduces reliability. There's always a trade-off.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Nyquist Theorem — Noiseless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Nyquist gives the upper bound on bit rate for a noiseless channel, based on bandwidth and the number of signal levels.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Assumes 2 symbols per cycle and the first harmonic.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solidFill>
            <a:srgbClr val="F4F6F8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E2841"/>
                </a:solidFill>
                <a:latin typeface="Consolas"/>
              </a:rPr>
              <a:t>Bit Rate = 2 × Bandwidth × log₂(L)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L = number of signal levels used to represent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Example 1 &amp; 2: Applying Nyquist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 noiseless channel has a bandwidth of 3000 Hz.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With 2 signal levels: Bit Rate = 2 × 3000 × log₂(2) = 6000 bps.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With 4 signal levels (2 bits/level): Bit Rate = 2 × 3000 × log₂(4) = 12,000 bps.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337559"/>
            <a:ext cx="9418320" cy="914400"/>
          </a:xfrm>
          <a:prstGeom prst="rect">
            <a:avLst/>
          </a:prstGeom>
          <a:solidFill>
            <a:srgbClr val="F4F6F8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E2841"/>
                </a:solidFill>
                <a:latin typeface="Consolas"/>
              </a:rPr>
              <a:t>More signal levels → higher bit rate, for the same bandwidth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Example 4: Solving for Signal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Problem: send 265 kbps over a noiseless channel with 20 kHz bandwidth. How many signal levels are needed?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Using the Nyquist formula: 265,000 = 2 × 20,000 × log₂(L)  →  L ≈ 6.4 → L = 2⁶·⁴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1">
                <a:solidFill>
                  <a:srgbClr val="333333"/>
                </a:solidFill>
              </a:rPr>
              <a:t>Since this isn't a power of 2, we must adjust: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128 levels → bit rate becomes 280 kbps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500" b="0">
                <a:solidFill>
                  <a:srgbClr val="333333"/>
                </a:solidFill>
              </a:rPr>
              <a:t>64 levels → bit rate becomes 240 kbps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Shannon's Theorem — Noisy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Shannon's theorem gives the channel capacity in the presence of noise, based on the signal-to-noise ratio (SNR).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697479"/>
            <a:ext cx="9418320" cy="914400"/>
          </a:xfrm>
          <a:prstGeom prst="rect">
            <a:avLst/>
          </a:prstGeom>
          <a:solidFill>
            <a:srgbClr val="F4F6F8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E2841"/>
                </a:solidFill>
                <a:latin typeface="Consolas"/>
              </a:rPr>
              <a:t>C = B × log₂(1 + SNR)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0332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B = bandwidth in Hz.  A higher SNR allows a higher theoretical capacity.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Examples 5–8: Applying Shannon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Extremely noisy channel (SNR ≈ 0): capacity C = 0, regardless of bandwidth — no data can get through.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Telephone line (B = 3000 Hz, SNR = 3162): theoretical highest bit rate ≈ 34.86 kbps.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When SNR is very high, SNR + 1 ≈ SNR, simplifying to C ≈ B × log₂(SNR).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In practice: Shannon gives the theoretical upper limit; Nyquist then tells us how many signal levels are needed to achieve a chosen rate below that limit.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Network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Network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Performance is a key measure of how good a network really is — closely tied to Quality of Service (QoS).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Four key terms: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>
                <a:solidFill>
                  <a:srgbClr val="333333"/>
                </a:solidFill>
              </a:rPr>
              <a:t>Bandwidth — the capacity of the system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>
                <a:solidFill>
                  <a:srgbClr val="333333"/>
                </a:solidFill>
              </a:rPr>
              <a:t>Throughput — the actual rate of successful data delivery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>
                <a:solidFill>
                  <a:srgbClr val="333333"/>
                </a:solidFill>
              </a:rPr>
              <a:t>Latency (Delay) — the delay a bit experiences from start to finish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>
                <a:solidFill>
                  <a:srgbClr val="333333"/>
                </a:solidFill>
              </a:rPr>
              <a:t>Bandwidth-Delay Product — how much data can "fill" the link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Bandwidth: Two Meanings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In networking, "bandwidth" is used in two different contexts: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Bandwidth in hertz: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>
                <a:solidFill>
                  <a:srgbClr val="333333"/>
                </a:solidFill>
              </a:rPr>
              <a:t>The range of frequencies in a composite signal, or that a channel can pass.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1">
                <a:solidFill>
                  <a:srgbClr val="333333"/>
                </a:solidFill>
              </a:rPr>
              <a:t>Bandwidth in bits per second: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>
                <a:solidFill>
                  <a:srgbClr val="333333"/>
                </a:solidFill>
              </a:rPr>
              <a:t>The speed of bit transmission in a channel — how fast data actually moves.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Example 9: Throughput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A 10 Mbps network passes an average of 12,000 frames/minute, each carrying 10,000 bits. What's the throughput?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Throughput = (12,000 × 10,000) / 60 = 2,000,000 bps = 2 Mbps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solidFill>
            <a:srgbClr val="F4F6F8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E2841"/>
                </a:solidFill>
                <a:latin typeface="Consolas"/>
              </a:rPr>
              <a:t>Throughput = 2 Mbps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The throughput here is only about one-fifth of the available bandwidth.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Propagation vs. Transmission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Propagation speed: how fast a signal physically travels through the medium, from source to destination.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Transmission speed: how long it takes for all the bits in a message to be pushed onto the link.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113532"/>
            <a:ext cx="10268712" cy="2903220"/>
          </a:xfrm>
          <a:prstGeom prst="rect">
            <a:avLst/>
          </a:prstGeom>
          <a:solidFill>
            <a:srgbClr val="F4F6F8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0E2841"/>
                </a:solidFill>
                <a:latin typeface="Consolas"/>
              </a:rPr>
              <a:t>Propagation Delay = Distance / Propagation Speed</a:t>
            </a:r>
          </a:p>
          <a:p>
            <a:pPr algn="ctr"/>
            <a:endParaRPr lang="en-US" sz="2400" b="1" dirty="0">
              <a:solidFill>
                <a:srgbClr val="0E2841"/>
              </a:solidFill>
              <a:latin typeface="Consolas"/>
            </a:endParaRPr>
          </a:p>
          <a:p>
            <a:pPr algn="ctr"/>
            <a:r>
              <a:rPr sz="2400" b="1" dirty="0">
                <a:solidFill>
                  <a:srgbClr val="0E2841"/>
                </a:solidFill>
                <a:latin typeface="Consolas"/>
              </a:rPr>
              <a:t>Transmission Delay = Message Size / Bandwidth</a:t>
            </a:r>
          </a:p>
          <a:p>
            <a:pPr algn="ctr"/>
            <a:endParaRPr lang="en-US" sz="2400" b="1" dirty="0">
              <a:solidFill>
                <a:srgbClr val="0E2841"/>
              </a:solidFill>
              <a:latin typeface="Consolas"/>
            </a:endParaRPr>
          </a:p>
          <a:p>
            <a:pPr algn="ctr"/>
            <a:r>
              <a:rPr sz="2400" b="1" dirty="0">
                <a:solidFill>
                  <a:srgbClr val="0E2841"/>
                </a:solidFill>
                <a:latin typeface="Consolas"/>
              </a:rPr>
              <a:t>Latency = Propagation Delay + Transmission Delay + Queueing Time + Processing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Examples 10–12: Delay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Distance of 12,000 km, propagation speed 2.4×10⁸ m/s → propagation time ≈ 50 </a:t>
            </a:r>
            <a:r>
              <a:rPr sz="2000" b="0" dirty="0" err="1">
                <a:solidFill>
                  <a:srgbClr val="333333"/>
                </a:solidFill>
              </a:rPr>
              <a:t>ms.</a:t>
            </a:r>
            <a:endParaRPr sz="2000" b="0" dirty="0">
              <a:solidFill>
                <a:srgbClr val="333333"/>
              </a:solidFill>
            </a:endParaRP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A bit can cross the Atlantic in just 50 ms over a direct cable.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2.5 KB email, 1 Gbps link, same distance: propagation time dominates — transmission time is negligible.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5 MB image, 1 Mbps link, same distance: transmission time dominates — propagation time is negligible.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Rule of thumb: short messages on fast links → propagation-dominated. Large messages on slow links → transmission-dominated.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Bandwidth-Delay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224260" cy="278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1" dirty="0">
                <a:solidFill>
                  <a:srgbClr val="333333"/>
                </a:solidFill>
              </a:rPr>
              <a:t>Think of the link between two points as a pipe: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2000" b="0" dirty="0">
                <a:solidFill>
                  <a:srgbClr val="333333"/>
                </a:solidFill>
              </a:rPr>
              <a:t>The cross-section of the pipe represents the bandwidth.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2000" b="0" dirty="0">
                <a:solidFill>
                  <a:srgbClr val="333333"/>
                </a:solidFill>
              </a:rPr>
              <a:t>The length of the pipe represents the delay.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2000" b="0" dirty="0">
                <a:solidFill>
                  <a:srgbClr val="333333"/>
                </a:solidFill>
              </a:rPr>
              <a:t>The volume of the pipe is the bandwidth-delay product.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endParaRPr lang="en-US" sz="2400" b="0" dirty="0">
              <a:solidFill>
                <a:srgbClr val="333333"/>
              </a:solidFill>
            </a:endParaRP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The bandwidth-delay product defines the number of bits that can fill the link at any one time — a key factor in network buffering and flow control.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Transmission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Transmission Media &amp; the Physical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 dirty="0">
                <a:solidFill>
                  <a:srgbClr val="333333"/>
                </a:solidFill>
              </a:rPr>
              <a:t>A transmission medium is loosely defined as anything that can carry information from a source to a destination.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 dirty="0">
                <a:solidFill>
                  <a:srgbClr val="333333"/>
                </a:solidFill>
              </a:rPr>
              <a:t>Transmission media sit below the physical layer and are directly controlled by it.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1" dirty="0">
                <a:solidFill>
                  <a:srgbClr val="333333"/>
                </a:solidFill>
              </a:rPr>
              <a:t>Two broad classes: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 dirty="0">
                <a:solidFill>
                  <a:srgbClr val="333333"/>
                </a:solidFill>
              </a:rPr>
              <a:t>Guided media — twisted-pair, coaxial, and fiber-optic cable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600" b="0" dirty="0">
                <a:solidFill>
                  <a:srgbClr val="333333"/>
                </a:solidFill>
              </a:rPr>
              <a:t>Unguided media — wireless transmission through air/space (radio, microwave, infrared)</a:t>
            </a:r>
          </a:p>
        </p:txBody>
      </p:sp>
      <p:pic>
        <p:nvPicPr>
          <p:cNvPr id="4" name="Picture 3" descr="trans_media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931" y="4055829"/>
            <a:ext cx="5635378" cy="25392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Guided Media: Twisted-Pair 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773" y="1519795"/>
            <a:ext cx="6309360" cy="343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Two insulated copper wires, twisted together to reduce electromagnetic interference.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UTP (Unshielded) — cheaper, more common. STP (Shielded) — adds a metal foil for extra noise immunity.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UTP is graded into categories (e.g. Cat 3 through Cat 6+) — higher categories support higher data rates.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Terminated with RJ-45 connectors. Performance depends heavily on cable category, length, and installation.</a:t>
            </a:r>
          </a:p>
        </p:txBody>
      </p:sp>
      <p:pic>
        <p:nvPicPr>
          <p:cNvPr id="4" name="Picture 3" descr="utp_s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618" y="5433456"/>
            <a:ext cx="8403777" cy="1166591"/>
          </a:xfrm>
          <a:prstGeom prst="rect">
            <a:avLst/>
          </a:prstGeom>
        </p:spPr>
      </p:pic>
      <p:pic>
        <p:nvPicPr>
          <p:cNvPr id="5" name="Picture 4" descr="utp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1161288"/>
            <a:ext cx="4434839" cy="34718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Guided Media: Coaxial 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309360" cy="313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A single copper core conductor, surrounded by insulation, a metallic shield, and an outer jacket.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The shielding gives coaxial cable much better noise immunity than twisted pair.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Categorized by RG rating (e.g. RG-59, RG-6) for different applications (cable TV, baseband networking).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Terminated using BNC connectors — supports higher bandwidth over longer distances than UTP.</a:t>
            </a:r>
          </a:p>
        </p:txBody>
      </p:sp>
      <p:pic>
        <p:nvPicPr>
          <p:cNvPr id="4" name="Picture 3" descr="coa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917448"/>
            <a:ext cx="4480560" cy="1925823"/>
          </a:xfrm>
          <a:prstGeom prst="rect">
            <a:avLst/>
          </a:prstGeom>
        </p:spPr>
      </p:pic>
      <p:pic>
        <p:nvPicPr>
          <p:cNvPr id="5" name="Picture 4" descr="bn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130" y="5000625"/>
            <a:ext cx="6894893" cy="17259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Guided Media: Fiber-Optic 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04800"/>
            <a:ext cx="6309360" cy="2944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b="0" dirty="0">
                <a:solidFill>
                  <a:srgbClr val="333333"/>
                </a:solidFill>
              </a:rPr>
              <a:t>Transmits data as pulses of light through thin glass or plastic fiber.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b="0" dirty="0">
                <a:solidFill>
                  <a:srgbClr val="333333"/>
                </a:solidFill>
              </a:rPr>
              <a:t>Light is kept within the core through total internal reflection, bending along the length of the fiber.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b="0" dirty="0">
                <a:solidFill>
                  <a:srgbClr val="333333"/>
                </a:solidFill>
              </a:rPr>
              <a:t>Construction: a core, surrounded by cladding, a buffer, and an outer jacket.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b="0" dirty="0">
                <a:solidFill>
                  <a:srgbClr val="333333"/>
                </a:solidFill>
              </a:rPr>
              <a:t>Offers very high bandwidth and long distance, with strong immunity to electromagnetic interference.</a:t>
            </a:r>
          </a:p>
          <a:p>
            <a:pPr marL="228600" indent="-228600" algn="just">
              <a:spcAft>
                <a:spcPts val="700"/>
              </a:spcAft>
              <a:buFont typeface="Arial"/>
              <a:buChar char="•"/>
            </a:pPr>
            <a:r>
              <a:rPr b="0" dirty="0">
                <a:solidFill>
                  <a:srgbClr val="333333"/>
                </a:solidFill>
              </a:rPr>
              <a:t>Terminated with connectors such as SC and ST</a:t>
            </a:r>
            <a:r>
              <a:rPr sz="1500" b="0" dirty="0">
                <a:solidFill>
                  <a:srgbClr val="333333"/>
                </a:solidFill>
              </a:rPr>
              <a:t>.</a:t>
            </a:r>
          </a:p>
        </p:txBody>
      </p:sp>
      <p:pic>
        <p:nvPicPr>
          <p:cNvPr id="4" name="Picture 3" descr="fiber_b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80" y="4681756"/>
            <a:ext cx="7400220" cy="2069423"/>
          </a:xfrm>
          <a:prstGeom prst="rect">
            <a:avLst/>
          </a:prstGeom>
        </p:spPr>
      </p:pic>
      <p:pic>
        <p:nvPicPr>
          <p:cNvPr id="5" name="Picture 4" descr="fiber_const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1379456"/>
            <a:ext cx="4640580" cy="21192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Unguided Media: Wireless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6464"/>
            <a:ext cx="1139571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dirty="0">
                <a:solidFill>
                  <a:srgbClr val="333333"/>
                </a:solidFill>
              </a:rPr>
              <a:t>Unguided media transport electromagnetic waves without a physical conductor — wireless communication.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dirty="0">
                <a:solidFill>
                  <a:srgbClr val="333333"/>
                </a:solidFill>
              </a:rPr>
              <a:t>Three main frequency bands: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dirty="0">
                <a:solidFill>
                  <a:srgbClr val="333333"/>
                </a:solidFill>
              </a:rPr>
              <a:t>Radio Waves — omnidirectional, penetrate walls, used for broadcast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dirty="0">
                <a:solidFill>
                  <a:srgbClr val="333333"/>
                </a:solidFill>
              </a:rPr>
              <a:t>Microwaves — directional, line-of-sight, used for point-to-point links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dirty="0">
                <a:solidFill>
                  <a:srgbClr val="333333"/>
                </a:solidFill>
              </a:rPr>
              <a:t>Infrared — very short range, blocked by walls, line-of-sight only</a:t>
            </a:r>
          </a:p>
        </p:txBody>
      </p:sp>
      <p:pic>
        <p:nvPicPr>
          <p:cNvPr id="4" name="Picture 3" descr="em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25" y="4686301"/>
            <a:ext cx="6127770" cy="1543050"/>
          </a:xfrm>
          <a:prstGeom prst="rect">
            <a:avLst/>
          </a:prstGeom>
        </p:spPr>
      </p:pic>
      <p:pic>
        <p:nvPicPr>
          <p:cNvPr id="5" name="Picture 4" descr="propagation_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4398094"/>
            <a:ext cx="5688330" cy="23684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Radio Waves &amp; Microwaves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Radio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Used for multicast communication: radio, TV, paging systems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Can penetrate through walls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Highly regulated by spectrum authorities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Use omnidirectional antennas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737360"/>
            <a:ext cx="53035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Microwaves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3172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Used for unicast communication: cellular, satellite, wireless LANs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Higher frequencies cannot penetrate walls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Use directional antennas for point-to-point, line-of-sight links</a:t>
            </a:r>
          </a:p>
        </p:txBody>
      </p:sp>
      <p:pic>
        <p:nvPicPr>
          <p:cNvPr id="7" name="Picture 6" descr="omn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11" y="4754880"/>
            <a:ext cx="1555936" cy="1737360"/>
          </a:xfrm>
          <a:prstGeom prst="rect">
            <a:avLst/>
          </a:prstGeom>
        </p:spPr>
      </p:pic>
      <p:pic>
        <p:nvPicPr>
          <p:cNvPr id="8" name="Picture 7" descr="uni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869608"/>
            <a:ext cx="3200400" cy="150790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Infrared &amp; Wireless Channel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03070"/>
            <a:ext cx="11091672" cy="2233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1" dirty="0">
                <a:solidFill>
                  <a:srgbClr val="333333"/>
                </a:solidFill>
              </a:rPr>
              <a:t>Infrared: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Used for short-range communication in a closed area, using line-of-sight propagation.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1" dirty="0">
                <a:solidFill>
                  <a:srgbClr val="333333"/>
                </a:solidFill>
              </a:rPr>
              <a:t>Wireless channels are subject to far more errors than guided media: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Interference is a major cause of errors — mitigated with a higher SNR.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But a higher SNR means less capacity is available, due to the broadcast nature of the channel.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Channels are also subject to fading and coverage holes.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Digital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Digital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5547360" cy="359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Besides analog signals, information can also be represented by a digital signal.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Example: a binary 1 encoded as a positive voltage, a binary 0 as zero voltage.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A digital signal can have more than two levels — in which case each level represents more than 1 bit.</a:t>
            </a:r>
          </a:p>
        </p:txBody>
      </p:sp>
      <p:pic>
        <p:nvPicPr>
          <p:cNvPr id="4" name="Picture 3" descr="digital_signal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045" y="1479042"/>
            <a:ext cx="5126267" cy="45377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Example 14: Bits per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 dirty="0">
                <a:solidFill>
                  <a:srgbClr val="333333"/>
                </a:solidFill>
              </a:rPr>
              <a:t>A digital signal has eight levels. How many bits are needed per level?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 dirty="0">
                <a:solidFill>
                  <a:srgbClr val="333333"/>
                </a:solidFill>
              </a:rPr>
              <a:t>We use: number of bits = log₂(number of levels) = log₂(8) = 3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 dirty="0">
                <a:solidFill>
                  <a:srgbClr val="333333"/>
                </a:solidFill>
              </a:rPr>
              <a:t>Each signal level is represented by 3 bits.</a:t>
            </a:r>
          </a:p>
        </p:txBody>
      </p:sp>
      <p:pic>
        <p:nvPicPr>
          <p:cNvPr id="4" name="Picture 3" descr="time_freq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450" y="3063779"/>
            <a:ext cx="6757160" cy="36456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Digital Signal Bandwidth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16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A digital signal is, mathematically, a composite analog signal made up of an infinite number of frequencies — so it has infinite bandwidth.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In practice, the effective bandwidth of a digital signal is finite: most of the signal's energy is concentrated in a limited frequency range.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This is why we can still transmit digital signals over real (band-limited) channels.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Digital-to-Digital Conversion: Line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Line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72768"/>
            <a:ext cx="1148715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Line coding converts a string of 1s and 0s (digital data) into a sequence of signals.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Example: a high voltage (+V) could represent "1", a low voltage (0 or -V) could represent "0".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1" dirty="0">
                <a:solidFill>
                  <a:srgbClr val="333333"/>
                </a:solidFill>
              </a:rPr>
              <a:t>Digital-to-digital conversion involves three techniques: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Line coding — always needed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Block coding — may or may not be needed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Scrambling — may or may not be needed</a:t>
            </a:r>
          </a:p>
        </p:txBody>
      </p:sp>
      <p:pic>
        <p:nvPicPr>
          <p:cNvPr id="4" name="Picture 3" descr="line_code_de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667" y="4141743"/>
            <a:ext cx="7793273" cy="236844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Data Rate vs. Signal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5337810" cy="442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Data rate (bit rate): the number of bits sent per second (bps).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Signal rate (baud rate / modulation rate): the number of signal elements sent per second.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A data symbol can be coded into a single signal element, or multiple signal elements.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The goal of good line coding: increase the data rate while keeping the baud (signal) rate as low as possible.</a:t>
            </a:r>
          </a:p>
        </p:txBody>
      </p:sp>
      <p:pic>
        <p:nvPicPr>
          <p:cNvPr id="4" name="Picture 3" descr="data_signal_e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572768"/>
            <a:ext cx="5887558" cy="46748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Example 15: Baud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One data element per signal element (r = 1). Bit rate = 100 kbps. What's the average baud rate?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S = c × N × (1/r), assuming average case factor c =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solidFill>
            <a:srgbClr val="F4F6F8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E2841"/>
                </a:solidFill>
                <a:latin typeface="Consolas"/>
              </a:rPr>
              <a:t>S = 1/2 × 100,000 × 1 = 50,000 baud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What Makes a Good Line Encoding?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368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Baseline wandering — the receiver tracks average signal power (the baseline) to interpret incoming bits; a signal with too little variation causes the baseline to drift, leading to errors.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DC components — a constant voltage over long periods raises low-frequency energy, which bandpass channels may not support.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Self-synchronization — sender and receiver clocks must stay aligned to the same bit interval, or the bit stream gets misread.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Error detection, noise immunity, and implementation complexity are also important design considerations.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Example 17: Effect of Clock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5224982" cy="442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The receiver clock is 0.1% faster than the sender clock. How many extra bits/sec at 1 kbps? At 1 Mbps?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At 1 kbps: the receiver receives 1001 bps instead of 1000 bps.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At 1 Mbps: the receiver receives 1,001,000 bps instead of 1,000,000 bps.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This shows why self-synchronization matters — small clock differences compound at higher data rates.</a:t>
            </a:r>
          </a:p>
        </p:txBody>
      </p:sp>
      <p:pic>
        <p:nvPicPr>
          <p:cNvPr id="4" name="Picture 3" descr="sync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2149279"/>
            <a:ext cx="563099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Line Coding Schemes: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Unipolar — all signal levels on one side of the time axis (e.g. NRZ).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Polar — voltages on both sides of the time axis (NRZ-L, NRZ-I, RZ, Manchester, Differential Manchester).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Bipolar (Multilevel) — uses three or more voltage levels (AMI, Pseudoternary, 2B1Q, 8B6T).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>
                <a:solidFill>
                  <a:srgbClr val="333333"/>
                </a:solidFill>
              </a:rPr>
              <a:t>We'll walk through each family and its trade-offs next.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Unipolar Scheme: NRZ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40714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All signal levels are on one side of the time axis — either above or below.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NRZ (Non-Return-to-Zero): the signal level does not return to zero during a symbol transmission.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Prone to baseline wandering and DC components.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Has no self-synchronization and no error-detection capability.</a:t>
            </a:r>
          </a:p>
        </p:txBody>
      </p:sp>
      <p:pic>
        <p:nvPicPr>
          <p:cNvPr id="4" name="Picture 3" descr="unipolar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44" y="4226854"/>
            <a:ext cx="8544896" cy="218537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Polar Schemes: NRZ-L and NRZ-I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532870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b="0" dirty="0">
                <a:solidFill>
                  <a:srgbClr val="333333"/>
                </a:solidFill>
              </a:rPr>
              <a:t>Voltages appear on both sides of the time axis — typically +V for 1, -V for 0.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b="0" dirty="0">
                <a:solidFill>
                  <a:srgbClr val="333333"/>
                </a:solidFill>
              </a:rPr>
              <a:t>NRZ-L (Level): the polarity of the voltage directly determines the bit value.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b="0" dirty="0">
                <a:solidFill>
                  <a:srgbClr val="333333"/>
                </a:solidFill>
              </a:rPr>
              <a:t>NRZ-I (Inversion): a transition (or lack of one) at the start of the bit determines the value — a "1" inverts the polarity, a "0" does not. This is differential encoding.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b="0" dirty="0">
                <a:solidFill>
                  <a:srgbClr val="333333"/>
                </a:solidFill>
              </a:rPr>
              <a:t>Both schemes have an average signal rate of N/2 baud, no self-synchronization, and no error detection.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b="0" dirty="0">
                <a:solidFill>
                  <a:srgbClr val="333333"/>
                </a:solidFill>
              </a:rPr>
              <a:t>NRZ-L has a worse DC-component / baseline-wandering problem than NRZ-I.</a:t>
            </a:r>
          </a:p>
        </p:txBody>
      </p:sp>
      <p:pic>
        <p:nvPicPr>
          <p:cNvPr id="4" name="Picture 3" descr="polar_nr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94" y="4015351"/>
            <a:ext cx="8509635" cy="263469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Polar Scheme: RZ (Return-to-Zero)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48715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Uses three voltage values: +, 0, and −.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Every symbol has a transition in the middle — either high-to-zero or low-to-zero.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Two transitions per symbol means RZ needs a wider bandwidth than NRZ.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400" b="0" dirty="0">
                <a:solidFill>
                  <a:srgbClr val="333333"/>
                </a:solidFill>
              </a:rPr>
              <a:t>Benefit: no DC component and no baseline wandering, since the signal always returns to zero.</a:t>
            </a:r>
          </a:p>
        </p:txBody>
      </p:sp>
      <p:pic>
        <p:nvPicPr>
          <p:cNvPr id="4" name="Picture 3" descr="polar_r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010" y="4313593"/>
            <a:ext cx="7820636" cy="235009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Polar Biphase: Manchester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03504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Manchester = combines NRZ-L and RZ. Every bit has a transition in the middle (high-to-low or low-to-high).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Used by IEEE 802.3 (classic Ethernet).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Differential Manchester = combines NRZ-I and RZ. The mid-bit transition is for clocking only; a transition at the start of the bit period represents 0, no transition represents 1.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In both schemes, the mid-bit transition also provides synchronization — no separate DC problem.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Minimum bandwidth required is double that of NRZ.</a:t>
            </a:r>
          </a:p>
        </p:txBody>
      </p:sp>
      <p:pic>
        <p:nvPicPr>
          <p:cNvPr id="4" name="Picture 3" descr="manchester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49" y="2008048"/>
            <a:ext cx="4786313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Bipolar Schemes: AMI &amp; Pseudoternary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39571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Bipolar schemes use three voltage levels: +, 0, and − (but unlike RZ, not as returns-to-zero).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1" dirty="0">
                <a:solidFill>
                  <a:srgbClr val="333333"/>
                </a:solidFill>
              </a:rPr>
              <a:t>AMI (Alternate Mark Inversion):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Binary 0 is a neutral zero voltage.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b="0" dirty="0">
                <a:solidFill>
                  <a:srgbClr val="333333"/>
                </a:solidFill>
              </a:rPr>
              <a:t>Binary 1s alternate between positive and negative voltages.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2000" b="0" dirty="0">
                <a:solidFill>
                  <a:srgbClr val="333333"/>
                </a:solidFill>
              </a:rPr>
              <a:t>Pseudoternary is a variation that reverses this rule (1 = zero, 0 alternates).</a:t>
            </a:r>
          </a:p>
        </p:txBody>
      </p:sp>
      <p:pic>
        <p:nvPicPr>
          <p:cNvPr id="4" name="Picture 3" descr="bipolar_a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710" y="4064890"/>
            <a:ext cx="9212580" cy="254083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Multilevel Schemes: 2B1Q &amp; 8B6T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The goal: increase data rate (or reduce required bandwidth) by encoding m data bits into n signal elements.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2B1Q (Two Binary, One Quaternary):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200" b="0">
                <a:solidFill>
                  <a:srgbClr val="333333"/>
                </a:solidFill>
              </a:rPr>
              <a:t>Encodes 2-bit patterns as one 4-level (quaternary) signal element — m=2, n=1, L=4.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8B6T (Eight Binary, Six Ternary):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200" b="0">
                <a:solidFill>
                  <a:srgbClr val="333333"/>
                </a:solidFill>
              </a:rPr>
              <a:t>Encodes 8-bit patterns as six 3-level (ternary) signal elements — used with 100BASE-T4 cable.</a:t>
            </a:r>
          </a:p>
        </p:txBody>
      </p:sp>
      <p:pic>
        <p:nvPicPr>
          <p:cNvPr id="4" name="Picture 3" descr="scheme_2b1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514" y="1920240"/>
            <a:ext cx="3709851" cy="1463040"/>
          </a:xfrm>
          <a:prstGeom prst="rect">
            <a:avLst/>
          </a:prstGeom>
        </p:spPr>
      </p:pic>
      <p:pic>
        <p:nvPicPr>
          <p:cNvPr id="5" name="Picture 4" descr="scheme_8b6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21307"/>
            <a:ext cx="4754880" cy="95274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E2841"/>
                </a:solidFill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88600"/>
                </a:solidFill>
              </a:rPr>
              <a:t>Block Coding &amp; Scrambling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520440"/>
            <a:ext cx="2286000" cy="27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Block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For a code to support error detection, we need redundancy — extra bits added to the data.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Synchronization also requires redundancy — signal transitions must occur frequently.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Block coding happens in three steps: division, substitution, and combination.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Normally referred to as mB/nB coding — it replaces each m-bit group with an n-bit group (n &gt; m).</a:t>
            </a:r>
          </a:p>
        </p:txBody>
      </p:sp>
      <p:pic>
        <p:nvPicPr>
          <p:cNvPr id="4" name="Picture 3" descr="block_coding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716" y="2103120"/>
            <a:ext cx="412544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4B/5B Block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4B/5B was designed to be used together with NRZ-I line coding.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Problem: a long run of 0s in NRZ-I can make the receiver's clock lose synchronization.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Solution: before NRZ-I encoding, replace every 4-bit group with a 5-bit group chosen to avoid long runs of zeros.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This is the most widely used example of block coding.</a:t>
            </a:r>
          </a:p>
        </p:txBody>
      </p:sp>
      <p:pic>
        <p:nvPicPr>
          <p:cNvPr id="4" name="Picture 3" descr="nrzi_4b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97819"/>
            <a:ext cx="4754880" cy="13709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Scrambling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Biphase schemes (like Manchester) need too much bandwidth for long-distance links.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Block coding + NRZ isn't suitable either, due to DC-component issues over long distances.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Scrambling is the alternative: it substitutes long runs of zero-level pulses with a recognizable pattern of other levels — without increasing the number of bits.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800" b="0">
                <a:solidFill>
                  <a:srgbClr val="333333"/>
                </a:solidFill>
              </a:rPr>
              <a:t>It's applied on the fly, as part of encoding — replacing "unfriendly" bit runs with a violation code the receiver can recognize and remove.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B8ZS — Bipolar with 8-Zero Substitution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Commonly used in North America.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Eight consecutive zero-level voltages are replaced by the sequence: 000VB0VB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400" b="0">
                <a:solidFill>
                  <a:srgbClr val="333333"/>
                </a:solidFill>
              </a:rPr>
              <a:t>V = Violation — a nonzero voltage that breaks the normal AMI encoding rule.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400" b="0">
                <a:solidFill>
                  <a:srgbClr val="333333"/>
                </a:solidFill>
              </a:rPr>
              <a:t>B = Bipolar — follows the standard bipolar (AMI) encoding rule.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700" b="0">
                <a:solidFill>
                  <a:srgbClr val="333333"/>
                </a:solidFill>
              </a:rPr>
              <a:t>This substitution both maintains synchronization and lets the receiver detect and reverse the substitution.</a:t>
            </a:r>
          </a:p>
        </p:txBody>
      </p:sp>
      <p:pic>
        <p:nvPicPr>
          <p:cNvPr id="4" name="Picture 3" descr="b8z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867015"/>
            <a:ext cx="4754880" cy="139828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HDB3 — High-Density Bipolar 3-Zero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A more conservative alternative to B8ZS.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600" b="0">
                <a:solidFill>
                  <a:srgbClr val="333333"/>
                </a:solidFill>
              </a:rPr>
              <a:t>Four consecutive zero-level voltages are replaced with either 000V or B00V.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600" b="1">
                <a:solidFill>
                  <a:srgbClr val="333333"/>
                </a:solidFill>
              </a:rPr>
              <a:t>The choice depends on maintaining an even number of nonzero pulses after each substitution: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300" b="0">
                <a:solidFill>
                  <a:srgbClr val="333333"/>
                </a:solidFill>
              </a:rPr>
              <a:t>If the count of nonzero pulses so far is even → substitute B00V</a:t>
            </a:r>
          </a:p>
          <a:p>
            <a:pPr marL="457200" lvl="1" indent="-228600">
              <a:spcAft>
                <a:spcPts val="300"/>
              </a:spcAft>
              <a:buFont typeface="Arial"/>
              <a:buChar char="–"/>
            </a:pPr>
            <a:r>
              <a:rPr sz="1300" b="0">
                <a:solidFill>
                  <a:srgbClr val="333333"/>
                </a:solidFill>
              </a:rPr>
              <a:t>If the count of nonzero pulses so far is odd → substitute 000V</a:t>
            </a:r>
          </a:p>
        </p:txBody>
      </p:sp>
      <p:pic>
        <p:nvPicPr>
          <p:cNvPr id="4" name="Picture 3" descr="hd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65700"/>
            <a:ext cx="4754880" cy="260091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4124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841"/>
                </a:solidFill>
                <a:latin typeface="Calibri"/>
              </a:rPr>
              <a:t>Physical Layer: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Data rate is bounded by bandwidth and signal levels (Nyquist), and further limited by noise (Shannon).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Real network performance is shaped by bandwidth, throughput, latency, and the bandwidth-delay product.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Guided media (twisted-pair, coax, fiber) and unguided media (radio, microwave, infrared) each trade off cost, bandwidth, and range differently.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900" b="0">
                <a:solidFill>
                  <a:srgbClr val="333333"/>
                </a:solidFill>
              </a:rPr>
              <a:t>Digital data is converted to digital signals via line coding — with block coding and scrambling added to improve synchronization and reduce DC/bandwidth issues.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3062</Words>
  <Application>Microsoft Office PowerPoint</Application>
  <PresentationFormat>Widescreen</PresentationFormat>
  <Paragraphs>244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The Physical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Ashish Kumar [MU - Jaipur]</dc:creator>
  <cp:lastModifiedBy>Dr. Ridhi Arora [MU - Jaipur]</cp:lastModifiedBy>
  <cp:revision>35</cp:revision>
  <dcterms:created xsi:type="dcterms:W3CDTF">2025-10-01T15:47:58Z</dcterms:created>
  <dcterms:modified xsi:type="dcterms:W3CDTF">2026-07-21T12:01:55Z</dcterms:modified>
</cp:coreProperties>
</file>