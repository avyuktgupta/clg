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5989"/>
            <a:ext cx="9144000" cy="1303973"/>
          </a:xfrm>
        </p:spPr>
        <p:txBody>
          <a:bodyPr/>
          <a:lstStyle/>
          <a:p>
            <a:r>
              <a:t>Computer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CSE3101  ·  Lecture 1 — Introduction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Course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Introduction, history, and development of computer networks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Layered architecture — the OSI Model and TCP/IP Model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Application Layer: basic communication applications and protocols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Transport Layer: services, protocols, and reliable protocol design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Network Layer: services, routing algorithms, addressing, sub-networks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Link Layer: channel access, addressing, interconnection devices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Physical Layer: physical media, data communication basics, line encoding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Wireless LAN, IEEE 802.11, 3G/4G, and Wireless Sensor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333333"/>
                </a:solidFill>
              </a:rPr>
              <a:t>Reference: Kurose &amp; Ross — Computer Networking: A Top-Down Approach (6e)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333333"/>
                </a:solidFill>
              </a:rPr>
              <a:t>Reference: Tanenbaum — Computer Networks (4e)  ·  Forouzan &amp; Mosharraf — Computer Networks: A Top-Down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What Is a Computer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network is a set of devices (often called nodes) connected by communication links.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node can be a computer, printer, or any other device capable of sending and/or receiving data.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link can be a cable, air, optical fiber, or any medium that can carry a signal carrying information.</a:t>
            </a:r>
          </a:p>
        </p:txBody>
      </p:sp>
      <p:pic>
        <p:nvPicPr>
          <p:cNvPr id="4" name="Picture 3" descr="img_networ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99416"/>
            <a:ext cx="4480560" cy="2990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Layers of Identification on a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Network — identified using the Network ID (NetId)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Host — identified using the Host ID (HostId)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Process — identified using the Port Number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Together, NetId + HostId form the device's IP address (e.g. 192.68.42.42)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Application-layer protocols such as DNS, HTTP, and SMTP operate on top of this addressing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DNS converts a human-readable name into an IP address — this adds a small overhead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Network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Performance: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Depends on the network elements involved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Measured in terms of delay and throughput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Reliability: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Failure rate of network components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Measured in terms of availability and robustness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Security: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Protecting data from corruption or loss due to errors or malicious users</a:t>
            </a:r>
          </a:p>
        </p:txBody>
      </p:sp>
      <p:pic>
        <p:nvPicPr>
          <p:cNvPr id="4" name="Picture 3" descr="img_criteri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99416"/>
            <a:ext cx="4480560" cy="2990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Type of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Point-to-Point: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A single transmitter and a single receiver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Multipoint: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Multiple recipients share a single transmission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Physical Topology: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How devices are physically connected to one another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Type of Transmission: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Unicast — web browsing, email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Multicast — online gaming, live webinars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Broadcast — Wi-Fi setup, telecast</a:t>
            </a:r>
          </a:p>
        </p:txBody>
      </p:sp>
      <p:pic>
        <p:nvPicPr>
          <p:cNvPr id="4" name="Picture 3" descr="img_conn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34602"/>
            <a:ext cx="448056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protocol is synonymous with a rule.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It consists of a set of rules that govern data communication.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It determines what is communicated, how it is communicated, and when it is communicated.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The key elements of a protocol are syntax, semantics, and timing.</a:t>
            </a:r>
          </a:p>
        </p:txBody>
      </p:sp>
      <p:pic>
        <p:nvPicPr>
          <p:cNvPr id="4" name="Picture 3" descr="img_protoco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34602"/>
            <a:ext cx="448056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Elements of a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156082"/>
                </a:solidFill>
              </a:rPr>
              <a:t>Syntax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Structure or format of the data.
Indicates how to read the bits — field delineation.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E97132"/>
                </a:solidFill>
              </a:rPr>
              <a:t>Semantics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Interprets the meaning of the bits.
Knows which fields define what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196B24"/>
                </a:solidFill>
              </a:rPr>
              <a:t>Timing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When data should be sent, and at what speed —
and when it is expected to be received.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Motivation: The Information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Today's economy is built not just on creating, distributing, and retailing goods —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— but increasingly on creating, distributing, and retailing information itself.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The future economy is likely to be dominated by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What Is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Everyday information takes many forms: books, bills, CDs, and more.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It can exist in analog form (atoms) or digital form (bits).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Converting information from atoms to bits lets us use networks to move it — instead of moving physical atoms.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This conversion is the foundation of modern data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The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Represent all types of information as bits.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Move those bits: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In large quantities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Everywhere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Cheaply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Securely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With guaranteed quality of 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Today's Networks Are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Modern networks already involve many interconnected systems, protocols, and devices.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Tomorrow's networks will be even more complex.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This course's challenge: build a solid foundation for understanding how it all fits together — layer by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The OSI Model &amp; TCP/IP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The OSI Model — Seven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91640"/>
            <a:ext cx="4572000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 ·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95144"/>
            <a:ext cx="4572000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 ·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98648"/>
            <a:ext cx="4572000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 ·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02152"/>
            <a:ext cx="4572000" cy="548640"/>
          </a:xfrm>
          <a:prstGeom prst="rect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 · Transport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05656"/>
            <a:ext cx="4572000" cy="548640"/>
          </a:xfrm>
          <a:prstGeom prst="rect">
            <a:avLst/>
          </a:prstGeom>
          <a:solidFill>
            <a:srgbClr val="C9A6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 ·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709160"/>
            <a:ext cx="4572000" cy="548640"/>
          </a:xfrm>
          <a:prstGeom prst="rect">
            <a:avLst/>
          </a:prstGeom>
          <a:solidFill>
            <a:srgbClr val="8A8A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 · Data Link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12664"/>
            <a:ext cx="4572000" cy="548640"/>
          </a:xfrm>
          <a:prstGeom prst="rect">
            <a:avLst/>
          </a:prstGeom>
          <a:solidFill>
            <a:srgbClr val="0E28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 · Physical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The OSI (Open Systems Interconnection) model organizes network communication into 7 layers.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Each layer has a specific job, and hands data to the layer above or below it.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Lower layers (1-3) handle physical transmission and routing.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Upper layers (5-7) handle sessions, formatting, and applications.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Layer 4 (Transport) bridges the two — ensuring reliable end-to-end delivery.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Data Flow From Source to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As data moves down the sender's stack, each layer adds its own header (encapsulation).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The data travels across the physical medium to the destination.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As it moves up the receiver's stack, each layer reads and removes its corresponding header (decapsulation).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Peer layers on the sender and receiver logically communicate as if directly connected — this is the layered communication model.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Layer-to-layer headers are added at every hop: 7th, 6th, 5th... down to 1st header, then physical transmission of bits.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TCP/IP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The layers in the TCP/IP protocol suite do not exactly match those of the OSI model.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The original TCP/IP suite defined four layers: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Host-to-Network, Internet, Transport, and Application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Compared against OSI, TCP/IP is often described using five layers: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Physical, Data Link, Network, Transport, and Application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In practice, TCP/IP merges OSI's top three layers (Session, Presentation, Application) into a single Application layer.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Overview: OSI vs. TCP/IP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OSI Model (7 layers)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Application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Presentation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Session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Transport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Network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Data Link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Physical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37360"/>
            <a:ext cx="53035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TCP/IP Model (4-5 layers)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Application  (merges App/Presentation/Session)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Transport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Network (Internet)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Data Link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Physical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Addressing in TCP/IP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Four levels of addresses are used across the TCP/IP protocol stack: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0E2841"/>
                </a:solidFill>
              </a:rPr>
              <a:t>Physical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Hardware/MAC address at the Data Link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286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156082"/>
                </a:solidFill>
              </a:rPr>
              <a:t>Logical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IP address identifying the host on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286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E97132"/>
                </a:solidFill>
              </a:rPr>
              <a:t>Port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Identifies the specific process/application.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2860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800" b="1">
                <a:solidFill>
                  <a:srgbClr val="196B24"/>
                </a:solidFill>
              </a:rPr>
              <a:t>Specific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Application-level identifier (e.g. email address).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Lecture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Networking Fundamentals &amp;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Early Communication Systems &amp; Data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 data network is a set of interconnected nodes that exchange information.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Sharing of transmission circuits among many users is called switching.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Multiple links between nodes allow more than one path between any two nodes.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The network must select an appropriate path for each required connection.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Networking Issues: Telephone vs. Internet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Telephone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Addressing: phone number = country code + city code + exchange + number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Routing: circuit switching, based on the phone number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Information units: fixed-rate samples — not self-descriptive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37360"/>
            <a:ext cx="53035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Addressing: IP address = network number + host number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Routing: packet switching — chunks routed independently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Information units: self-descriptive packets (data + header)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Categories of Networks: LAN, MAN &amp; WAN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LAN (Local Area Network):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A network within a small geographical area — a room, building, or campus.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MAN (Metropolitan Area Network):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A network spanning a city.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WAN (Wide Area Network):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A network spread across a country or the globe — e.g. the World Wide Web.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Applications of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Resource Sharing: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Hardware (computing resources, disks, printers)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Software (application software)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Information Sharing: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Easy accessibility from anywhere (files, databases)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Search capability (WWW)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Communication: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Email, message broadcast, remote and distributed computing (e.g. GRID computing)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Network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Network topology defines the way computers, printers, and other devices are connected.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It describes the physical layout of wiring and devices, as well as the paths data can take.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Common topologies: Bus, Star, Tree, Ring, and Mesh — each covered next.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Bus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Commonly referred to as a linear bus.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All devices on a bus topology are connected by a single shared cable.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Simple and cheap, but a single cable fault can disrupt the whole network.</a:t>
            </a:r>
          </a:p>
        </p:txBody>
      </p:sp>
      <p:pic>
        <p:nvPicPr>
          <p:cNvPr id="4" name="Picture 3" descr="bus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415689"/>
            <a:ext cx="4572000" cy="230094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Star &amp; Tree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Star: the most common architecture in Ethernet LANs — resembles spokes on a bicycle wheel.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Tree (extended star): larger networks link multiple stars together via bridges, switches, or routers.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This significantly reduces traffic by filtering frames/packets at each intermediate device.</a:t>
            </a:r>
          </a:p>
        </p:txBody>
      </p:sp>
      <p:pic>
        <p:nvPicPr>
          <p:cNvPr id="4" name="Picture 3" descr="tree_topolog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88" y="1737360"/>
            <a:ext cx="1970863" cy="2011680"/>
          </a:xfrm>
          <a:prstGeom prst="rect">
            <a:avLst/>
          </a:prstGeom>
        </p:spPr>
      </p:pic>
      <p:pic>
        <p:nvPicPr>
          <p:cNvPr id="5" name="Picture 4" descr="tree_topolog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787512"/>
            <a:ext cx="2011680" cy="19113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Ring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A frame travels around the ring, stopping at each node.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A transmitting node adds its data plus the destination address to the frame.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The frame circulates until it reaches the destination node, which extracts the data.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Single ring: all devices share one cable.  Dual ring: allows data to travel in both directions for redundancy.</a:t>
            </a:r>
          </a:p>
        </p:txBody>
      </p:sp>
      <p:pic>
        <p:nvPicPr>
          <p:cNvPr id="4" name="Picture 3" descr="ring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20240"/>
            <a:ext cx="42062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Mesh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Connects every device (node) to every other device — for redundancy and fault tolerance.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Used in WANs to interconnect LANs, and for mission-critical networks (e.g. banks, financial institutions).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Implementing a full mesh is expensive and difficult to scale.</a:t>
            </a:r>
          </a:p>
        </p:txBody>
      </p:sp>
      <p:pic>
        <p:nvPicPr>
          <p:cNvPr id="4" name="Picture 3" descr="mesh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86948"/>
            <a:ext cx="4389120" cy="31584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Lecture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Transmission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Transmission Media &amp; the Physical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Transmission media are the physical pathways that carry signals between devices.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They sit below and are directed by the physical layer of the network stack.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Two broad classes of transmission media: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Guided media — twisted-pair, coaxial, and fiber-optic cable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Unguided media (wireless) — radio waves, microwaves, and infrared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Guided Media: Twisted-Pair 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Two insulated copper wires twisted together to reduce electromagnetic interference.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UTP (Unshielded) vs. STP (Shielded Twisted Pair) — STP adds a metal foil for extra noise protection.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UTP cables are graded into categories (e.g. Cat 5e, Cat 6) — higher categories support higher data rates.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Terminated using RJ-45 connectors; performance depends on category, length, and installation quality.</a:t>
            </a:r>
          </a:p>
        </p:txBody>
      </p:sp>
      <p:pic>
        <p:nvPicPr>
          <p:cNvPr id="4" name="Picture 3" descr="twisted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39835"/>
            <a:ext cx="5486400" cy="761608"/>
          </a:xfrm>
          <a:prstGeom prst="rect">
            <a:avLst/>
          </a:prstGeom>
        </p:spPr>
      </p:pic>
      <p:pic>
        <p:nvPicPr>
          <p:cNvPr id="5" name="Picture 4" descr="utp_conn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820796"/>
            <a:ext cx="4480560" cy="185648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Guided Media: Coaxial 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A single copper core conductor, surrounded by insulation, a metallic shield, and an outer jacket.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The shielding gives coaxial cable much better noise immunity than twisted pair.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Categorized (e.g. RG-59, RG-6) by impedance and application (cable TV, baseband networking).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Terminated using BNC connectors — supports higher bandwidth over longer distances than UTP.</a:t>
            </a:r>
          </a:p>
        </p:txBody>
      </p:sp>
      <p:pic>
        <p:nvPicPr>
          <p:cNvPr id="4" name="Picture 3" descr="coax_c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08888"/>
            <a:ext cx="4480560" cy="1925823"/>
          </a:xfrm>
          <a:prstGeom prst="rect">
            <a:avLst/>
          </a:prstGeom>
        </p:spPr>
      </p:pic>
      <p:pic>
        <p:nvPicPr>
          <p:cNvPr id="5" name="Picture 4" descr="bnc_conn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468412"/>
            <a:ext cx="4480560" cy="112157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Guided Media: Fiber-Optic 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Transmits data as pulses of light through a thin glass or plastic fiber.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Light stays within the core through total internal reflection — the light ray bends and travels along the fiber.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Construction: a core, surrounded by cladding, a buffer, and an outer jacket.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Offers very high bandwidth, long distance, and strong immunity to electromagnetic interference.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Uses connectors such as SC and ST for termination.</a:t>
            </a:r>
          </a:p>
        </p:txBody>
      </p:sp>
      <p:pic>
        <p:nvPicPr>
          <p:cNvPr id="4" name="Picture 3" descr="fiber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46" y="1828800"/>
            <a:ext cx="3946707" cy="2377440"/>
          </a:xfrm>
          <a:prstGeom prst="rect">
            <a:avLst/>
          </a:prstGeom>
        </p:spPr>
      </p:pic>
      <p:pic>
        <p:nvPicPr>
          <p:cNvPr id="5" name="Picture 4" descr="fiber_conn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954" y="4343400"/>
            <a:ext cx="304729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Unguided Media: Wireless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Unguided media transport electromagnetic waves without a physical conductor.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This is generally referred to as wireless communication.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Three main types, based on frequency band: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Radio Waves — omnidirectional, penetrate walls, used for broadcast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Microwaves — directional, line-of-sight, used for point-to-point links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Infrared — very short range, line-of-sight only, blocked by walls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Radio Waves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Used for multicast communication, such as radio, television, and paging systems.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Can penetrate through walls.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Highly regulated by governments/spectrum authorities.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Typically use omnidirectional antennas — signal radiates equally in all directions.</a:t>
            </a:r>
          </a:p>
        </p:txBody>
      </p:sp>
      <p:pic>
        <p:nvPicPr>
          <p:cNvPr id="4" name="Picture 3" descr="omni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549" y="1737360"/>
            <a:ext cx="360322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Microwaves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Used for unicast communication — cellular telephones, satellite networks, and wireless LANs.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Higher frequency ranges cannot penetrate walls.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Use directional (unidirectional) antennas for focused, point-to-point line-of-sight communication.</a:t>
            </a:r>
          </a:p>
        </p:txBody>
      </p:sp>
      <p:pic>
        <p:nvPicPr>
          <p:cNvPr id="4" name="Picture 3" descr="directional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96793"/>
            <a:ext cx="4114800" cy="193873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Infrared &amp; Wireless Channel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Infrared: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Used for short-range communication within a closed area, using line-of-sight propagation.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Wireless channels in general: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Subject to far more errors than guided media.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Interference is a major cause of errors — mitigated with a higher signal-to-noise ratio (SNR).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Higher SNR reduces available capacity, due to the broadcast nature of the channel.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Channels are also subject to fading and coverage holes.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Lecture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Wireless Networks &amp; Mobile Ad Hoc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Wireless Networks: Three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The need: access to computing and communication services while on the move.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Infrastructure-based Networks: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Traditional cellular systems, relying on base-station infrastructure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Wireless LANs: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Infrared (IrDA) or radio links (e.g. WaveLAN); flexible within a reception area, ad-hoc capable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Lower bandwidth than wired networks (roughly 1-10 Mbit/s)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Ad Hoc Networks: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Useful when fixed infrastructure is unavailable, impractical, or too costly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Cellular Wireless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Provides single-hop wireless connectivity to the wired network.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Coverage space is divided into cells.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 base station communicates with all hosts within its cell.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Mobile hosts can change cells while communicating.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"Hand-off" occurs when a mobile host starts communicating via a new base station.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Multi-Hop Wireless &amp; MANETs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Multi-Hop Wireless: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A packet may need to traverse multiple links to reach its destination.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Mobility causes routes to change over time.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Mobile Ad Hoc Networks (MANET):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Host movement and topology changes are frequent.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No cellular infrastructure — purely multi-hop wireless links.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Data must be routed via intermediate nodes.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Why Ad Hoc Networks?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Setting up fixed access points and backbone infrastructure is not always viable: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May not be present in a disaster area or war zone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May be impractical for very short-range radios, e.g. Bluetooth (~10 m range)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Advantages of ad hoc networks: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Do not need backbone infrastructure support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Easy to deploy quickly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Useful when infrastructure is absent, destroyed, or impractical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Dynamic Source Routing (DSR): Route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When node S wants to reach node D but has no known route, it initiates route discovery.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1. Source node S floods a Route Request (RREQ) to its neighbors.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2. Each node appends its own identifier and re-broadcasts the RREQ.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3. A node that has already forwarded an RREQ once will not forward it again — this prevents loops.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4. When the RREQ reaches destination D, D does not forward it further.</a:t>
            </a:r>
          </a:p>
        </p:txBody>
      </p:sp>
      <p:pic>
        <p:nvPicPr>
          <p:cNvPr id="4" name="Picture 3" descr="ds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04345"/>
            <a:ext cx="4754880" cy="30722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DSR: Route Reply &amp; Data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On receiving the first RREQ, destination D sends a Route Reply (RREP).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The RREP is sent back along the reverse of the route recorded in the RREQ.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It carries the full source-to-destination route discovered during the search.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Node S caches this route on receiving the RREP.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Data packets from S to D now carry the entire route in their header — hence "source routing".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Note: packet header size grows with route length.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Applications &amp; Challenges of Ad Hoc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Many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Personal area networking (phone, laptop, earphone, watch)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Military environments (soldiers, tanks, planes)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Civilian use (taxi networks, meeting rooms, stadiums)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Emergency operations (search-and-rescue, firefighting)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37360"/>
            <a:ext cx="53035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Key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Wireless limits: packet loss, variable capacity, disconnections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Mobility: dynamically changing topologies and routes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Device limits: short battery life, limited processing power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Lack of mobility awareness in system/applications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Lecture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Switching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Switching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Long-distance transmission is typically carried over a network of switched nodes.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Nodes are not concerned with the content of the data — they simply forward it.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End devices (computers, terminals, phones) are called stations.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Data is routed by being switched from node to node across the network.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Two fundamental switching technologies: Circuit Switching and Packet Switching.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Circuit Switching: Concept &amp;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A circuit-switched network is a set of switches connected by physical links.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A connection between two stations is a dedicated path of one or more links.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Each link is typically divided into n channels, using FDM or TDM.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333333"/>
                </a:solidFill>
              </a:rPr>
              <a:t>Three phases of a circuit-switched call: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1. Establish — set up the dedicated path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2. Transfer — data flows along the reserved path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3. Disconnect — the circuit is torn down</a:t>
            </a:r>
          </a:p>
        </p:txBody>
      </p:sp>
      <p:pic>
        <p:nvPicPr>
          <p:cNvPr id="4" name="Picture 3" descr="circuit_switch_triv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06024"/>
            <a:ext cx="4480560" cy="268603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Circuit Switching: Applications &amp;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Resources are reserved for the whole call — if there's no data, capacity is wasted (inefficient).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Setting up the connection takes time; once connected, transfer is fully transparent.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Originally developed for voice traffic (telephone networks).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333333"/>
                </a:solidFill>
              </a:rPr>
              <a:t>Key telecom components: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Subscriber — device attached to the network, via a local loop (few km to tens of km)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Exchange — switching center; the "end office" supports subscribers directly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Trunks — multiplexed links between exchanges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Circuit Switching: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Resources are reserved during setup and remain dedicated through the entire data transfer, until teardown.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Total delay includes: connection setup time, data transfer time, and disconnect time.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Because the path is fixed, once established, delay is very predictable — ideal for real-time voice traffic.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The traditional telephone network uses circuit switching at the physical layer.</a:t>
            </a:r>
          </a:p>
        </p:txBody>
      </p:sp>
      <p:pic>
        <p:nvPicPr>
          <p:cNvPr id="4" name="Picture 3" descr="circuit_switch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41874"/>
            <a:ext cx="4480560" cy="224857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Packet Switching: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Circuit switching was designed for voice — resources are dedicated to a call, even when idle.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Packet switching addresses this inefficiency: there is no resource reservation.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Resources are instead allocated on demand.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333333"/>
                </a:solidFill>
              </a:rPr>
              <a:t>Basic operation: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Data is transmitted in small packets (typically ~1000 octets).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Longer messages are split into a series of packets.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Each packet carries user data plus control/routing information.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Packets are received, briefly buffered, and forwarded — "store and forward".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Packet Switching: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Line efficiency: a single node-to-node link can be shared by many packets over time.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Data rate conversion: each station connects to its local node at its own speed; nodes buffer as needed.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Packets are accepted even when the network is busy (delivery may simply slow down).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Priorities can be assigned to different packets.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Two ways packets can be handled: Datagram or Virtual Circuit — covered next.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Datagram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Each packet (datagram) is treated completely independently.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Packets can take any practical route to the destination.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As a result, packets may arrive out of order, or go missing entirely.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It's up to the receiver to re-order packets and recover from any losses.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 switch (router) uses a routing table based on the destination address in each packet's header — this address stays the same for the packet's entire journey.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The Internet uses the datagram approach for switching.</a:t>
            </a:r>
          </a:p>
        </p:txBody>
      </p:sp>
      <p:pic>
        <p:nvPicPr>
          <p:cNvPr id="4" name="Picture 3" descr="datagram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70659"/>
            <a:ext cx="4480560" cy="159100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Virtual-Circuit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 hybrid — combines characteristics of circuit switching and datagram networks.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 route is pre-planned and established before any packets are sent.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Call-request / call-accept packets perform a handshake to establish the connection.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Each packet carries a virtual-circuit identifier, instead of a full destination address.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No per-packet routing decisions are required once the circuit is set up.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All packets travel the same path, but may still arrive with different delays if resources are allocated on demand.</a:t>
            </a:r>
          </a:p>
        </p:txBody>
      </p:sp>
      <p:pic>
        <p:nvPicPr>
          <p:cNvPr id="4" name="Picture 3" descr="vc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24779"/>
            <a:ext cx="4480560" cy="20827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Virtual Circuits vs. Datagram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Virtual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Network can provide sequencing and error control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Packets are forwarded more quickly (no per-packet routing)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Less reliable — losing a node loses every circuit through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37360"/>
            <a:ext cx="53035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No call-setup phase — better for short bursts of traffic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More flexible: routing can avoid congested parts of the network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Each packet routed independently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Circuit vs. Packet Switching: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Total delay in a switched network is made up of three components: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Propagation delay: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Time for a signal to physically travel across the link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Transmission time: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Time needed to push all of a message's bits onto the link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333333"/>
                </a:solidFill>
              </a:rPr>
              <a:t>Node delay:</a:t>
            </a:r>
          </a:p>
          <a:p>
            <a:pPr lvl="1" marL="457200" indent="-228600">
              <a:spcAft>
                <a:spcPts val="4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Processing/queuing time at each intermediate switch or router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Circuit switching front-loads delay at setup; packet switching distributes delay across each hop.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Message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A connectionless technique where the entire message is routed from source to destination, one hop at a time.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It was a precursor to packet switching.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The sender adds the destination address to the whole message before sending.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Each intermediate node stores the full message, checks for transmission errors, inspects the destination address, and forwards it — "store and forward" at the message level.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If the required outgoing circuit is busy, the message is queued rather than discarded.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Crossbar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The simplest type of switching fabric.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A crossbar switch connects n inputs to n outputs in a grid.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Electronic microswitches sit at each crosspoint of the grid, connecting a given input to a given output on demand.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E2841"/>
                </a:solidFill>
                <a:latin typeface="Calibri"/>
              </a:rPr>
              <a:t>Lecture 1–6: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Networks are built on layered architectures — the OSI and TCP/IP models — so each layer can evolve independently.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Data is organized by topology (bus, star, ring, mesh) and carried over guided media (copper, fiber) or unguided media (radio, microwave, infrared).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Wireless and ad hoc networks extend connectivity where fixed infrastructure isn't available, using protocols like DSR for route discovery.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Switching — circuit, packet (datagram/virtual-circuit), and message switching — determines how data actually moves node to node across the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Physical Layer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Ridhi Arora [MU - Jaipur]</cp:lastModifiedBy>
  <cp:revision>10</cp:revision>
  <dcterms:created xsi:type="dcterms:W3CDTF">2025-10-01T15:47:58Z</dcterms:created>
  <dcterms:modified xsi:type="dcterms:W3CDTF">2026-07-21T05:20:36Z</dcterms:modified>
</cp:coreProperties>
</file>