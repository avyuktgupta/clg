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2.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3.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heme/themeOverride4.xml" ContentType="application/vnd.openxmlformats-officedocument.themeOverride+xml"/>
  <Override PartName="/ppt/notesSlides/notesSlide22.xml" ContentType="application/vnd.openxmlformats-officedocument.presentationml.notesSlide+xml"/>
  <Override PartName="/ppt/theme/themeOverride5.xml" ContentType="application/vnd.openxmlformats-officedocument.themeOverride+xml"/>
  <Override PartName="/ppt/theme/themeOverride6.xml" ContentType="application/vnd.openxmlformats-officedocument.themeOverr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9" r:id="rId2"/>
    <p:sldMasterId id="2147483683" r:id="rId3"/>
  </p:sldMasterIdLst>
  <p:notesMasterIdLst>
    <p:notesMasterId r:id="rId97"/>
  </p:notesMasterIdLst>
  <p:sldIdLst>
    <p:sldId id="535" r:id="rId4"/>
    <p:sldId id="752" r:id="rId5"/>
    <p:sldId id="753" r:id="rId6"/>
    <p:sldId id="754" r:id="rId7"/>
    <p:sldId id="755" r:id="rId8"/>
    <p:sldId id="756" r:id="rId9"/>
    <p:sldId id="757" r:id="rId10"/>
    <p:sldId id="758" r:id="rId11"/>
    <p:sldId id="759" r:id="rId12"/>
    <p:sldId id="760" r:id="rId13"/>
    <p:sldId id="761" r:id="rId14"/>
    <p:sldId id="764" r:id="rId15"/>
    <p:sldId id="765" r:id="rId16"/>
    <p:sldId id="766" r:id="rId17"/>
    <p:sldId id="767" r:id="rId18"/>
    <p:sldId id="768" r:id="rId19"/>
    <p:sldId id="769" r:id="rId20"/>
    <p:sldId id="770" r:id="rId21"/>
    <p:sldId id="771" r:id="rId22"/>
    <p:sldId id="762" r:id="rId23"/>
    <p:sldId id="763" r:id="rId24"/>
    <p:sldId id="728" r:id="rId25"/>
    <p:sldId id="621" r:id="rId26"/>
    <p:sldId id="622" r:id="rId27"/>
    <p:sldId id="623" r:id="rId28"/>
    <p:sldId id="724" r:id="rId29"/>
    <p:sldId id="725" r:id="rId30"/>
    <p:sldId id="726" r:id="rId31"/>
    <p:sldId id="675" r:id="rId32"/>
    <p:sldId id="727" r:id="rId33"/>
    <p:sldId id="624" r:id="rId34"/>
    <p:sldId id="729" r:id="rId35"/>
    <p:sldId id="730" r:id="rId36"/>
    <p:sldId id="625" r:id="rId37"/>
    <p:sldId id="676" r:id="rId38"/>
    <p:sldId id="677" r:id="rId39"/>
    <p:sldId id="678" r:id="rId40"/>
    <p:sldId id="732" r:id="rId41"/>
    <p:sldId id="679" r:id="rId42"/>
    <p:sldId id="680" r:id="rId43"/>
    <p:sldId id="733" r:id="rId44"/>
    <p:sldId id="681" r:id="rId45"/>
    <p:sldId id="682" r:id="rId46"/>
    <p:sldId id="736" r:id="rId47"/>
    <p:sldId id="737" r:id="rId48"/>
    <p:sldId id="683" r:id="rId49"/>
    <p:sldId id="685" r:id="rId50"/>
    <p:sldId id="738" r:id="rId51"/>
    <p:sldId id="684" r:id="rId52"/>
    <p:sldId id="686" r:id="rId53"/>
    <p:sldId id="687" r:id="rId54"/>
    <p:sldId id="741" r:id="rId55"/>
    <p:sldId id="742" r:id="rId56"/>
    <p:sldId id="688" r:id="rId57"/>
    <p:sldId id="689" r:id="rId58"/>
    <p:sldId id="690" r:id="rId59"/>
    <p:sldId id="744" r:id="rId60"/>
    <p:sldId id="745" r:id="rId61"/>
    <p:sldId id="691" r:id="rId62"/>
    <p:sldId id="746" r:id="rId63"/>
    <p:sldId id="747" r:id="rId64"/>
    <p:sldId id="748" r:id="rId65"/>
    <p:sldId id="692" r:id="rId66"/>
    <p:sldId id="693" r:id="rId67"/>
    <p:sldId id="694" r:id="rId68"/>
    <p:sldId id="695" r:id="rId69"/>
    <p:sldId id="696" r:id="rId70"/>
    <p:sldId id="697" r:id="rId71"/>
    <p:sldId id="698" r:id="rId72"/>
    <p:sldId id="699" r:id="rId73"/>
    <p:sldId id="700" r:id="rId74"/>
    <p:sldId id="701" r:id="rId75"/>
    <p:sldId id="702" r:id="rId76"/>
    <p:sldId id="703" r:id="rId77"/>
    <p:sldId id="704" r:id="rId78"/>
    <p:sldId id="705" r:id="rId79"/>
    <p:sldId id="707" r:id="rId80"/>
    <p:sldId id="708" r:id="rId81"/>
    <p:sldId id="709" r:id="rId82"/>
    <p:sldId id="710" r:id="rId83"/>
    <p:sldId id="711" r:id="rId84"/>
    <p:sldId id="712" r:id="rId85"/>
    <p:sldId id="713" r:id="rId86"/>
    <p:sldId id="714" r:id="rId87"/>
    <p:sldId id="715" r:id="rId88"/>
    <p:sldId id="716" r:id="rId89"/>
    <p:sldId id="717" r:id="rId90"/>
    <p:sldId id="718" r:id="rId91"/>
    <p:sldId id="719" r:id="rId92"/>
    <p:sldId id="720" r:id="rId93"/>
    <p:sldId id="721" r:id="rId94"/>
    <p:sldId id="722" r:id="rId95"/>
    <p:sldId id="723" r:id="rId9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3557" autoAdjust="0"/>
  </p:normalViewPr>
  <p:slideViewPr>
    <p:cSldViewPr>
      <p:cViewPr varScale="1">
        <p:scale>
          <a:sx n="89" d="100"/>
          <a:sy n="89" d="100"/>
        </p:scale>
        <p:origin x="1088"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presProps" Target="presProps.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7DE49763-08B8-4293-902F-A8D7D9A5643F}" type="datetimeFigureOut">
              <a:rPr lang="en-US" smtClean="0"/>
              <a:pPr/>
              <a:t>8/17/2026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61230244-B027-4BC3-957C-5DD60814CDCC}" type="slidenum">
              <a:rPr lang="en-US" smtClean="0"/>
              <a:pPr/>
              <a:t>‹#›</a:t>
            </a:fld>
            <a:endParaRPr lang="en-US"/>
          </a:p>
        </p:txBody>
      </p:sp>
    </p:spTree>
    <p:extLst>
      <p:ext uri="{BB962C8B-B14F-4D97-AF65-F5344CB8AC3E}">
        <p14:creationId xmlns:p14="http://schemas.microsoft.com/office/powerpoint/2010/main" val="1012544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Multiplexing is the process of </a:t>
            </a:r>
            <a:r>
              <a:rPr lang="en-US" b="1" dirty="0"/>
              <a:t>combining multiple data streams or applications</a:t>
            </a:r>
            <a:r>
              <a:rPr lang="en-US" dirty="0"/>
              <a:t> into a single stream for transmission over the network.</a:t>
            </a:r>
          </a:p>
          <a:p>
            <a:endParaRPr lang="en-US" dirty="0"/>
          </a:p>
          <a:p>
            <a:r>
              <a:rPr lang="en-US" dirty="0"/>
              <a:t>Demultiplexing is the process of </a:t>
            </a:r>
            <a:r>
              <a:rPr lang="en-US" b="1" dirty="0"/>
              <a:t>separating the received combined stream</a:t>
            </a:r>
            <a:r>
              <a:rPr lang="en-US" dirty="0"/>
              <a:t> back into individual application data streams.</a:t>
            </a:r>
          </a:p>
        </p:txBody>
      </p:sp>
      <p:sp>
        <p:nvSpPr>
          <p:cNvPr id="4" name="Slide Number Placeholder 3"/>
          <p:cNvSpPr>
            <a:spLocks noGrp="1"/>
          </p:cNvSpPr>
          <p:nvPr>
            <p:ph type="sldNum" sz="quarter" idx="5"/>
          </p:nvPr>
        </p:nvSpPr>
        <p:spPr/>
        <p:txBody>
          <a:bodyPr/>
          <a:lstStyle/>
          <a:p>
            <a:fld id="{61230244-B027-4BC3-957C-5DD60814CDCC}" type="slidenum">
              <a:rPr lang="en-US" smtClean="0"/>
              <a:pPr/>
              <a:t>4</a:t>
            </a:fld>
            <a:endParaRPr lang="en-US"/>
          </a:p>
        </p:txBody>
      </p:sp>
    </p:spTree>
    <p:extLst>
      <p:ext uri="{BB962C8B-B14F-4D97-AF65-F5344CB8AC3E}">
        <p14:creationId xmlns:p14="http://schemas.microsoft.com/office/powerpoint/2010/main" val="1737558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E5A015-D5F6-4B69-B9D2-BFA6BA2FEA08}" type="slidenum">
              <a:rPr lang="en-US"/>
              <a:pPr/>
              <a:t>23</a:t>
            </a:fld>
            <a:endParaRPr lang="en-US"/>
          </a:p>
        </p:txBody>
      </p:sp>
      <p:sp>
        <p:nvSpPr>
          <p:cNvPr id="1077250" name="Rectangle 2"/>
          <p:cNvSpPr>
            <a:spLocks noGrp="1" noRot="1" noChangeAspect="1" noChangeArrowheads="1" noTextEdit="1"/>
          </p:cNvSpPr>
          <p:nvPr>
            <p:ph type="sldImg"/>
          </p:nvPr>
        </p:nvSpPr>
        <p:spPr>
          <a:ln/>
        </p:spPr>
      </p:sp>
      <p:sp>
        <p:nvSpPr>
          <p:cNvPr id="10772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F796DF-21ED-4C96-B04A-038A517CB52B}" type="slidenum">
              <a:rPr lang="en-US"/>
              <a:pPr/>
              <a:t>24</a:t>
            </a:fld>
            <a:endParaRPr lang="en-US"/>
          </a:p>
        </p:txBody>
      </p:sp>
      <p:sp>
        <p:nvSpPr>
          <p:cNvPr id="1079298" name="Rectangle 2"/>
          <p:cNvSpPr>
            <a:spLocks noGrp="1" noRot="1" noChangeAspect="1" noChangeArrowheads="1" noTextEdit="1"/>
          </p:cNvSpPr>
          <p:nvPr>
            <p:ph type="sldImg"/>
          </p:nvPr>
        </p:nvSpPr>
        <p:spPr>
          <a:ln/>
        </p:spPr>
      </p:sp>
      <p:sp>
        <p:nvSpPr>
          <p:cNvPr id="10792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D4C0A8-9308-430B-8011-94872A753D25}" type="slidenum">
              <a:rPr lang="en-US"/>
              <a:pPr/>
              <a:t>25</a:t>
            </a:fld>
            <a:endParaRPr lang="en-US"/>
          </a:p>
        </p:txBody>
      </p:sp>
      <p:sp>
        <p:nvSpPr>
          <p:cNvPr id="964610" name="Rectangle 2"/>
          <p:cNvSpPr>
            <a:spLocks noGrp="1" noRot="1" noChangeAspect="1" noChangeArrowheads="1" noTextEdit="1"/>
          </p:cNvSpPr>
          <p:nvPr>
            <p:ph type="sldImg"/>
          </p:nvPr>
        </p:nvSpPr>
        <p:spPr>
          <a:ln/>
        </p:spPr>
      </p:sp>
      <p:sp>
        <p:nvSpPr>
          <p:cNvPr id="964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496205-1571-4799-894D-001F998AE2D3}" type="slidenum">
              <a:rPr lang="en-US"/>
              <a:pPr/>
              <a:t>31</a:t>
            </a:fld>
            <a:endParaRPr lang="en-US"/>
          </a:p>
        </p:txBody>
      </p:sp>
      <p:sp>
        <p:nvSpPr>
          <p:cNvPr id="1085442" name="Rectangle 2"/>
          <p:cNvSpPr>
            <a:spLocks noGrp="1" noRot="1" noChangeAspect="1" noChangeArrowheads="1" noTextEdit="1"/>
          </p:cNvSpPr>
          <p:nvPr>
            <p:ph type="sldImg"/>
          </p:nvPr>
        </p:nvSpPr>
        <p:spPr>
          <a:ln/>
        </p:spPr>
      </p:sp>
      <p:sp>
        <p:nvSpPr>
          <p:cNvPr id="1085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DA34B3-F3EB-4D2C-A6AC-8225BA62A8E2}" type="slidenum">
              <a:rPr lang="en-US"/>
              <a:pPr/>
              <a:t>34</a:t>
            </a:fld>
            <a:endParaRPr lang="en-US"/>
          </a:p>
        </p:txBody>
      </p:sp>
      <p:sp>
        <p:nvSpPr>
          <p:cNvPr id="1087490" name="Rectangle 2"/>
          <p:cNvSpPr>
            <a:spLocks noGrp="1" noRot="1" noChangeAspect="1" noChangeArrowheads="1" noTextEdit="1"/>
          </p:cNvSpPr>
          <p:nvPr>
            <p:ph type="sldImg"/>
          </p:nvPr>
        </p:nvSpPr>
        <p:spPr>
          <a:ln/>
        </p:spPr>
      </p:sp>
      <p:sp>
        <p:nvSpPr>
          <p:cNvPr id="1087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682C4E-0D78-4889-9172-57371CC54360}" type="slidenum">
              <a:rPr lang="en-US">
                <a:solidFill>
                  <a:prstClr val="black"/>
                </a:solidFill>
              </a:rPr>
              <a:pPr/>
              <a:t>35</a:t>
            </a:fld>
            <a:endParaRPr lang="en-US">
              <a:solidFill>
                <a:prstClr val="black"/>
              </a:solidFill>
            </a:endParaRPr>
          </a:p>
        </p:txBody>
      </p:sp>
      <p:sp>
        <p:nvSpPr>
          <p:cNvPr id="1163266" name="Rectangle 2"/>
          <p:cNvSpPr>
            <a:spLocks noGrp="1" noRot="1" noChangeAspect="1" noChangeArrowheads="1" noTextEdit="1"/>
          </p:cNvSpPr>
          <p:nvPr>
            <p:ph type="sldImg"/>
          </p:nvPr>
        </p:nvSpPr>
        <p:spPr>
          <a:ln/>
        </p:spPr>
      </p:sp>
      <p:sp>
        <p:nvSpPr>
          <p:cNvPr id="1163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5040AE-432E-44C0-93F2-8BA3E7F15B5C}" type="slidenum">
              <a:rPr lang="en-US">
                <a:solidFill>
                  <a:prstClr val="black"/>
                </a:solidFill>
              </a:rPr>
              <a:pPr/>
              <a:t>36</a:t>
            </a:fld>
            <a:endParaRPr lang="en-US">
              <a:solidFill>
                <a:prstClr val="black"/>
              </a:solidFill>
            </a:endParaRPr>
          </a:p>
        </p:txBody>
      </p:sp>
      <p:sp>
        <p:nvSpPr>
          <p:cNvPr id="1175554" name="Rectangle 2"/>
          <p:cNvSpPr>
            <a:spLocks noGrp="1" noRot="1" noChangeAspect="1" noChangeArrowheads="1" noTextEdit="1"/>
          </p:cNvSpPr>
          <p:nvPr>
            <p:ph type="sldImg"/>
          </p:nvPr>
        </p:nvSpPr>
        <p:spPr>
          <a:ln/>
        </p:spPr>
      </p:sp>
      <p:sp>
        <p:nvSpPr>
          <p:cNvPr id="117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A46D8E-817E-4D9B-99E3-91356A0F75A7}" type="slidenum">
              <a:rPr lang="en-US">
                <a:solidFill>
                  <a:prstClr val="black"/>
                </a:solidFill>
              </a:rPr>
              <a:pPr/>
              <a:t>37</a:t>
            </a:fld>
            <a:endParaRPr lang="en-US">
              <a:solidFill>
                <a:prstClr val="black"/>
              </a:solidFill>
            </a:endParaRPr>
          </a:p>
        </p:txBody>
      </p:sp>
      <p:sp>
        <p:nvSpPr>
          <p:cNvPr id="1089538" name="Rectangle 2"/>
          <p:cNvSpPr>
            <a:spLocks noGrp="1" noRot="1" noChangeAspect="1" noChangeArrowheads="1" noTextEdit="1"/>
          </p:cNvSpPr>
          <p:nvPr>
            <p:ph type="sldImg"/>
          </p:nvPr>
        </p:nvSpPr>
        <p:spPr>
          <a:ln/>
        </p:spPr>
      </p:sp>
      <p:sp>
        <p:nvSpPr>
          <p:cNvPr id="1089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C59EBD-8424-4569-8FB9-FA259E7D13E8}" type="slidenum">
              <a:rPr lang="en-US">
                <a:solidFill>
                  <a:prstClr val="black"/>
                </a:solidFill>
              </a:rPr>
              <a:pPr/>
              <a:t>39</a:t>
            </a:fld>
            <a:endParaRPr lang="en-US">
              <a:solidFill>
                <a:prstClr val="black"/>
              </a:solidFill>
            </a:endParaRPr>
          </a:p>
        </p:txBody>
      </p:sp>
      <p:sp>
        <p:nvSpPr>
          <p:cNvPr id="1165314" name="Rectangle 2"/>
          <p:cNvSpPr>
            <a:spLocks noGrp="1" noRot="1" noChangeAspect="1" noChangeArrowheads="1" noTextEdit="1"/>
          </p:cNvSpPr>
          <p:nvPr>
            <p:ph type="sldImg"/>
          </p:nvPr>
        </p:nvSpPr>
        <p:spPr>
          <a:ln/>
        </p:spPr>
      </p:sp>
      <p:sp>
        <p:nvSpPr>
          <p:cNvPr id="11653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F093EF-B8A7-4670-9EAD-806C2971A52F}" type="slidenum">
              <a:rPr lang="en-US">
                <a:solidFill>
                  <a:prstClr val="black"/>
                </a:solidFill>
              </a:rPr>
              <a:pPr/>
              <a:t>40</a:t>
            </a:fld>
            <a:endParaRPr lang="en-US">
              <a:solidFill>
                <a:prstClr val="black"/>
              </a:solidFill>
            </a:endParaRPr>
          </a:p>
        </p:txBody>
      </p:sp>
      <p:sp>
        <p:nvSpPr>
          <p:cNvPr id="1140738" name="Rectangle 2"/>
          <p:cNvSpPr>
            <a:spLocks noGrp="1" noRot="1" noChangeAspect="1" noChangeArrowheads="1" noTextEdit="1"/>
          </p:cNvSpPr>
          <p:nvPr>
            <p:ph type="sldImg"/>
          </p:nvPr>
        </p:nvSpPr>
        <p:spPr>
          <a:ln/>
        </p:spPr>
      </p:sp>
      <p:sp>
        <p:nvSpPr>
          <p:cNvPr id="1140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208507-50EB-43A2-8684-43FEC779235D}" type="slidenum">
              <a:rPr lang="en-US">
                <a:solidFill>
                  <a:prstClr val="black"/>
                </a:solidFill>
              </a:rPr>
              <a:pPr/>
              <a:t>42</a:t>
            </a:fld>
            <a:endParaRPr lang="en-US">
              <a:solidFill>
                <a:prstClr val="black"/>
              </a:solidFill>
            </a:endParaRPr>
          </a:p>
        </p:txBody>
      </p:sp>
      <p:sp>
        <p:nvSpPr>
          <p:cNvPr id="1167362" name="Rectangle 2"/>
          <p:cNvSpPr>
            <a:spLocks noGrp="1" noRot="1" noChangeAspect="1" noChangeArrowheads="1" noTextEdit="1"/>
          </p:cNvSpPr>
          <p:nvPr>
            <p:ph type="sldImg"/>
          </p:nvPr>
        </p:nvSpPr>
        <p:spPr>
          <a:ln/>
        </p:spPr>
      </p:sp>
      <p:sp>
        <p:nvSpPr>
          <p:cNvPr id="11673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0D386A-B977-4A55-A348-ECC0B23381D0}" type="slidenum">
              <a:rPr lang="en-US">
                <a:solidFill>
                  <a:prstClr val="black"/>
                </a:solidFill>
              </a:rPr>
              <a:pPr/>
              <a:t>43</a:t>
            </a:fld>
            <a:endParaRPr lang="en-US">
              <a:solidFill>
                <a:prstClr val="black"/>
              </a:solidFill>
            </a:endParaRPr>
          </a:p>
        </p:txBody>
      </p:sp>
      <p:sp>
        <p:nvSpPr>
          <p:cNvPr id="1177602" name="Rectangle 2"/>
          <p:cNvSpPr>
            <a:spLocks noGrp="1" noRot="1" noChangeAspect="1" noChangeArrowheads="1" noTextEdit="1"/>
          </p:cNvSpPr>
          <p:nvPr>
            <p:ph type="sldImg"/>
          </p:nvPr>
        </p:nvSpPr>
        <p:spPr>
          <a:ln/>
        </p:spPr>
      </p:sp>
      <p:sp>
        <p:nvSpPr>
          <p:cNvPr id="11776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ECE8E1-7F5D-4558-989C-90BCBDC0CB5F}" type="slidenum">
              <a:rPr lang="en-US">
                <a:solidFill>
                  <a:prstClr val="black"/>
                </a:solidFill>
              </a:rPr>
              <a:pPr/>
              <a:t>46</a:t>
            </a:fld>
            <a:endParaRPr lang="en-US">
              <a:solidFill>
                <a:prstClr val="black"/>
              </a:solidFill>
            </a:endParaRPr>
          </a:p>
        </p:txBody>
      </p:sp>
      <p:sp>
        <p:nvSpPr>
          <p:cNvPr id="1091586" name="Rectangle 2"/>
          <p:cNvSpPr>
            <a:spLocks noGrp="1" noRot="1" noChangeAspect="1" noChangeArrowheads="1" noTextEdit="1"/>
          </p:cNvSpPr>
          <p:nvPr>
            <p:ph type="sldImg"/>
          </p:nvPr>
        </p:nvSpPr>
        <p:spPr>
          <a:ln/>
        </p:spPr>
      </p:sp>
      <p:sp>
        <p:nvSpPr>
          <p:cNvPr id="1091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73FB16-8644-4838-ABB7-0AE5DB34244E}" type="slidenum">
              <a:rPr lang="en-US">
                <a:solidFill>
                  <a:prstClr val="black"/>
                </a:solidFill>
              </a:rPr>
              <a:pPr/>
              <a:t>47</a:t>
            </a:fld>
            <a:endParaRPr lang="en-US">
              <a:solidFill>
                <a:prstClr val="black"/>
              </a:solidFill>
            </a:endParaRPr>
          </a:p>
        </p:txBody>
      </p:sp>
      <p:sp>
        <p:nvSpPr>
          <p:cNvPr id="1093634" name="Rectangle 2"/>
          <p:cNvSpPr>
            <a:spLocks noGrp="1" noRot="1" noChangeAspect="1" noChangeArrowheads="1" noTextEdit="1"/>
          </p:cNvSpPr>
          <p:nvPr>
            <p:ph type="sldImg"/>
          </p:nvPr>
        </p:nvSpPr>
        <p:spPr>
          <a:ln/>
        </p:spPr>
      </p:sp>
      <p:sp>
        <p:nvSpPr>
          <p:cNvPr id="1093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79B504-D76F-4BB9-AF4E-15ACDFA1D456}" type="slidenum">
              <a:rPr lang="en-US">
                <a:solidFill>
                  <a:prstClr val="black"/>
                </a:solidFill>
              </a:rPr>
              <a:pPr/>
              <a:t>49</a:t>
            </a:fld>
            <a:endParaRPr lang="en-US">
              <a:solidFill>
                <a:prstClr val="black"/>
              </a:solidFill>
            </a:endParaRPr>
          </a:p>
        </p:txBody>
      </p:sp>
      <p:sp>
        <p:nvSpPr>
          <p:cNvPr id="1142786" name="Rectangle 2"/>
          <p:cNvSpPr>
            <a:spLocks noGrp="1" noRot="1" noChangeAspect="1" noChangeArrowheads="1" noTextEdit="1"/>
          </p:cNvSpPr>
          <p:nvPr>
            <p:ph type="sldImg"/>
          </p:nvPr>
        </p:nvSpPr>
        <p:spPr>
          <a:ln/>
        </p:spPr>
      </p:sp>
      <p:sp>
        <p:nvSpPr>
          <p:cNvPr id="11427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D2B36C-4248-4621-B443-B88E2B3BE56F}" type="slidenum">
              <a:rPr lang="en-US">
                <a:solidFill>
                  <a:prstClr val="black"/>
                </a:solidFill>
              </a:rPr>
              <a:pPr/>
              <a:t>50</a:t>
            </a:fld>
            <a:endParaRPr lang="en-US">
              <a:solidFill>
                <a:prstClr val="black"/>
              </a:solidFill>
            </a:endParaRPr>
          </a:p>
        </p:txBody>
      </p:sp>
      <p:sp>
        <p:nvSpPr>
          <p:cNvPr id="1179650" name="Rectangle 2"/>
          <p:cNvSpPr>
            <a:spLocks noGrp="1" noRot="1" noChangeAspect="1" noChangeArrowheads="1" noTextEdit="1"/>
          </p:cNvSpPr>
          <p:nvPr>
            <p:ph type="sldImg"/>
          </p:nvPr>
        </p:nvSpPr>
        <p:spPr>
          <a:ln/>
        </p:spPr>
      </p:sp>
      <p:sp>
        <p:nvSpPr>
          <p:cNvPr id="11796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BC47B9-0514-4F55-B77D-D06237C6D895}" type="slidenum">
              <a:rPr lang="en-US">
                <a:solidFill>
                  <a:prstClr val="black"/>
                </a:solidFill>
              </a:rPr>
              <a:pPr/>
              <a:t>51</a:t>
            </a:fld>
            <a:endParaRPr lang="en-US">
              <a:solidFill>
                <a:prstClr val="black"/>
              </a:solidFill>
            </a:endParaRPr>
          </a:p>
        </p:txBody>
      </p:sp>
      <p:sp>
        <p:nvSpPr>
          <p:cNvPr id="1181698" name="Rectangle 2"/>
          <p:cNvSpPr>
            <a:spLocks noGrp="1" noRot="1" noChangeAspect="1" noChangeArrowheads="1" noTextEdit="1"/>
          </p:cNvSpPr>
          <p:nvPr>
            <p:ph type="sldImg"/>
          </p:nvPr>
        </p:nvSpPr>
        <p:spPr>
          <a:ln/>
        </p:spPr>
      </p:sp>
      <p:sp>
        <p:nvSpPr>
          <p:cNvPr id="1181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B1D504-6A86-441E-9CFD-05BE86290594}" type="slidenum">
              <a:rPr lang="en-US">
                <a:solidFill>
                  <a:prstClr val="black"/>
                </a:solidFill>
              </a:rPr>
              <a:pPr/>
              <a:t>54</a:t>
            </a:fld>
            <a:endParaRPr lang="en-US">
              <a:solidFill>
                <a:prstClr val="black"/>
              </a:solidFill>
            </a:endParaRPr>
          </a:p>
        </p:txBody>
      </p:sp>
      <p:sp>
        <p:nvSpPr>
          <p:cNvPr id="1095682" name="Rectangle 2"/>
          <p:cNvSpPr>
            <a:spLocks noGrp="1" noRot="1" noChangeAspect="1" noChangeArrowheads="1" noTextEdit="1"/>
          </p:cNvSpPr>
          <p:nvPr>
            <p:ph type="sldImg"/>
          </p:nvPr>
        </p:nvSpPr>
        <p:spPr>
          <a:ln/>
        </p:spPr>
      </p:sp>
      <p:sp>
        <p:nvSpPr>
          <p:cNvPr id="1095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9302D6-96E1-46DD-AD91-3A5AE7DC42F1}" type="slidenum">
              <a:rPr lang="en-US">
                <a:solidFill>
                  <a:prstClr val="black"/>
                </a:solidFill>
              </a:rPr>
              <a:pPr/>
              <a:t>55</a:t>
            </a:fld>
            <a:endParaRPr lang="en-US">
              <a:solidFill>
                <a:prstClr val="black"/>
              </a:solidFill>
            </a:endParaRPr>
          </a:p>
        </p:txBody>
      </p:sp>
      <p:sp>
        <p:nvSpPr>
          <p:cNvPr id="1097730" name="Rectangle 2"/>
          <p:cNvSpPr>
            <a:spLocks noGrp="1" noRot="1" noChangeAspect="1" noChangeArrowheads="1" noTextEdit="1"/>
          </p:cNvSpPr>
          <p:nvPr>
            <p:ph type="sldImg"/>
          </p:nvPr>
        </p:nvSpPr>
        <p:spPr>
          <a:ln/>
        </p:spPr>
      </p:sp>
      <p:sp>
        <p:nvSpPr>
          <p:cNvPr id="1097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9909E0-2887-428B-91A0-F2B7A0848291}" type="slidenum">
              <a:rPr lang="en-US">
                <a:solidFill>
                  <a:prstClr val="black"/>
                </a:solidFill>
              </a:rPr>
              <a:pPr/>
              <a:t>56</a:t>
            </a:fld>
            <a:endParaRPr lang="en-US">
              <a:solidFill>
                <a:prstClr val="black"/>
              </a:solidFill>
            </a:endParaRPr>
          </a:p>
        </p:txBody>
      </p:sp>
      <p:sp>
        <p:nvSpPr>
          <p:cNvPr id="1099778" name="Rectangle 2"/>
          <p:cNvSpPr>
            <a:spLocks noGrp="1" noRot="1" noChangeAspect="1" noChangeArrowheads="1" noTextEdit="1"/>
          </p:cNvSpPr>
          <p:nvPr>
            <p:ph type="sldImg"/>
          </p:nvPr>
        </p:nvSpPr>
        <p:spPr>
          <a:ln/>
        </p:spPr>
      </p:sp>
      <p:sp>
        <p:nvSpPr>
          <p:cNvPr id="1099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1E430E-28B0-41F9-A4BE-3E29ADCC437D}" type="slidenum">
              <a:rPr lang="en-US">
                <a:solidFill>
                  <a:prstClr val="black"/>
                </a:solidFill>
              </a:rPr>
              <a:pPr/>
              <a:t>59</a:t>
            </a:fld>
            <a:endParaRPr lang="en-US">
              <a:solidFill>
                <a:prstClr val="black"/>
              </a:solidFill>
            </a:endParaRPr>
          </a:p>
        </p:txBody>
      </p:sp>
      <p:sp>
        <p:nvSpPr>
          <p:cNvPr id="1101826" name="Rectangle 2"/>
          <p:cNvSpPr>
            <a:spLocks noGrp="1" noRot="1" noChangeAspect="1" noChangeArrowheads="1" noTextEdit="1"/>
          </p:cNvSpPr>
          <p:nvPr>
            <p:ph type="sldImg"/>
          </p:nvPr>
        </p:nvSpPr>
        <p:spPr>
          <a:ln/>
        </p:spPr>
      </p:sp>
      <p:sp>
        <p:nvSpPr>
          <p:cNvPr id="1101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CB7BD4-BB65-4C66-9943-37B56DF6DDA1}" type="slidenum">
              <a:rPr lang="en-US">
                <a:solidFill>
                  <a:prstClr val="black"/>
                </a:solidFill>
              </a:rPr>
              <a:pPr/>
              <a:t>63</a:t>
            </a:fld>
            <a:endParaRPr lang="en-US">
              <a:solidFill>
                <a:prstClr val="black"/>
              </a:solidFill>
            </a:endParaRPr>
          </a:p>
        </p:txBody>
      </p:sp>
      <p:sp>
        <p:nvSpPr>
          <p:cNvPr id="1103874" name="Rectangle 2"/>
          <p:cNvSpPr>
            <a:spLocks noGrp="1" noRot="1" noChangeAspect="1" noChangeArrowheads="1" noTextEdit="1"/>
          </p:cNvSpPr>
          <p:nvPr>
            <p:ph type="sldImg"/>
          </p:nvPr>
        </p:nvSpPr>
        <p:spPr>
          <a:ln/>
        </p:spPr>
      </p:sp>
      <p:sp>
        <p:nvSpPr>
          <p:cNvPr id="1103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ED0EB2-C165-470E-891A-1F2DB14E98FF}" type="slidenum">
              <a:rPr lang="en-US">
                <a:solidFill>
                  <a:prstClr val="black"/>
                </a:solidFill>
              </a:rPr>
              <a:pPr/>
              <a:t>64</a:t>
            </a:fld>
            <a:endParaRPr lang="en-US">
              <a:solidFill>
                <a:prstClr val="black"/>
              </a:solidFill>
            </a:endParaRPr>
          </a:p>
        </p:txBody>
      </p:sp>
      <p:sp>
        <p:nvSpPr>
          <p:cNvPr id="1105922" name="Rectangle 2"/>
          <p:cNvSpPr>
            <a:spLocks noGrp="1" noRot="1" noChangeAspect="1" noChangeArrowheads="1" noTextEdit="1"/>
          </p:cNvSpPr>
          <p:nvPr>
            <p:ph type="sldImg"/>
          </p:nvPr>
        </p:nvSpPr>
        <p:spPr>
          <a:ln/>
        </p:spPr>
      </p:sp>
      <p:sp>
        <p:nvSpPr>
          <p:cNvPr id="1105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3BC030-2355-4D1B-8081-BD076FFBD501}" type="slidenum">
              <a:rPr lang="en-US">
                <a:solidFill>
                  <a:prstClr val="black"/>
                </a:solidFill>
              </a:rPr>
              <a:pPr/>
              <a:t>65</a:t>
            </a:fld>
            <a:endParaRPr lang="en-US">
              <a:solidFill>
                <a:prstClr val="black"/>
              </a:solidFill>
            </a:endParaRPr>
          </a:p>
        </p:txBody>
      </p:sp>
      <p:sp>
        <p:nvSpPr>
          <p:cNvPr id="1171458" name="Rectangle 2"/>
          <p:cNvSpPr>
            <a:spLocks noGrp="1" noRot="1" noChangeAspect="1" noChangeArrowheads="1" noTextEdit="1"/>
          </p:cNvSpPr>
          <p:nvPr>
            <p:ph type="sldImg"/>
          </p:nvPr>
        </p:nvSpPr>
        <p:spPr>
          <a:ln/>
        </p:spPr>
      </p:sp>
      <p:sp>
        <p:nvSpPr>
          <p:cNvPr id="1171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CFBCBA-50FE-4F8E-912E-D5360D654E7F}" type="slidenum">
              <a:rPr lang="en-US">
                <a:solidFill>
                  <a:prstClr val="black"/>
                </a:solidFill>
              </a:rPr>
              <a:pPr/>
              <a:t>66</a:t>
            </a:fld>
            <a:endParaRPr lang="en-US">
              <a:solidFill>
                <a:prstClr val="black"/>
              </a:solidFill>
            </a:endParaRPr>
          </a:p>
        </p:txBody>
      </p:sp>
      <p:sp>
        <p:nvSpPr>
          <p:cNvPr id="1107970" name="Rectangle 2"/>
          <p:cNvSpPr>
            <a:spLocks noGrp="1" noRot="1" noChangeAspect="1" noChangeArrowheads="1" noTextEdit="1"/>
          </p:cNvSpPr>
          <p:nvPr>
            <p:ph type="sldImg"/>
          </p:nvPr>
        </p:nvSpPr>
        <p:spPr>
          <a:ln/>
        </p:spPr>
      </p:sp>
      <p:sp>
        <p:nvSpPr>
          <p:cNvPr id="1107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CEA48B-765C-4987-A2FC-F97D8F2CDFAE}" type="slidenum">
              <a:rPr lang="en-US">
                <a:solidFill>
                  <a:prstClr val="black"/>
                </a:solidFill>
              </a:rPr>
              <a:pPr/>
              <a:t>67</a:t>
            </a:fld>
            <a:endParaRPr lang="en-US">
              <a:solidFill>
                <a:prstClr val="black"/>
              </a:solidFill>
            </a:endParaRPr>
          </a:p>
        </p:txBody>
      </p:sp>
      <p:sp>
        <p:nvSpPr>
          <p:cNvPr id="1110018" name="Rectangle 2"/>
          <p:cNvSpPr>
            <a:spLocks noGrp="1" noRot="1" noChangeAspect="1" noChangeArrowheads="1" noTextEdit="1"/>
          </p:cNvSpPr>
          <p:nvPr>
            <p:ph type="sldImg"/>
          </p:nvPr>
        </p:nvSpPr>
        <p:spPr>
          <a:ln/>
        </p:spPr>
      </p:sp>
      <p:sp>
        <p:nvSpPr>
          <p:cNvPr id="1110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97B556-6892-4309-B459-44E96790BC14}" type="slidenum">
              <a:rPr lang="en-US">
                <a:solidFill>
                  <a:prstClr val="black"/>
                </a:solidFill>
              </a:rPr>
              <a:pPr/>
              <a:t>68</a:t>
            </a:fld>
            <a:endParaRPr lang="en-US">
              <a:solidFill>
                <a:prstClr val="black"/>
              </a:solidFill>
            </a:endParaRPr>
          </a:p>
        </p:txBody>
      </p:sp>
      <p:sp>
        <p:nvSpPr>
          <p:cNvPr id="1112066" name="Rectangle 2"/>
          <p:cNvSpPr>
            <a:spLocks noGrp="1" noRot="1" noChangeAspect="1" noChangeArrowheads="1" noTextEdit="1"/>
          </p:cNvSpPr>
          <p:nvPr>
            <p:ph type="sldImg"/>
          </p:nvPr>
        </p:nvSpPr>
        <p:spPr>
          <a:ln/>
        </p:spPr>
      </p:sp>
      <p:sp>
        <p:nvSpPr>
          <p:cNvPr id="1112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AB5C91-6D20-47C7-8089-79DCC0F9F774}" type="slidenum">
              <a:rPr lang="en-US">
                <a:solidFill>
                  <a:prstClr val="black"/>
                </a:solidFill>
              </a:rPr>
              <a:pPr/>
              <a:t>69</a:t>
            </a:fld>
            <a:endParaRPr lang="en-US">
              <a:solidFill>
                <a:prstClr val="black"/>
              </a:solidFill>
            </a:endParaRPr>
          </a:p>
        </p:txBody>
      </p:sp>
      <p:sp>
        <p:nvSpPr>
          <p:cNvPr id="1144834" name="Rectangle 2"/>
          <p:cNvSpPr>
            <a:spLocks noGrp="1" noRot="1" noChangeAspect="1" noChangeArrowheads="1" noTextEdit="1"/>
          </p:cNvSpPr>
          <p:nvPr>
            <p:ph type="sldImg"/>
          </p:nvPr>
        </p:nvSpPr>
        <p:spPr>
          <a:ln/>
        </p:spPr>
      </p:sp>
      <p:sp>
        <p:nvSpPr>
          <p:cNvPr id="1144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BC69DC-C3BD-4DD6-ACDC-E143988C01BF}" type="slidenum">
              <a:rPr lang="en-US">
                <a:solidFill>
                  <a:prstClr val="black"/>
                </a:solidFill>
              </a:rPr>
              <a:pPr/>
              <a:t>70</a:t>
            </a:fld>
            <a:endParaRPr lang="en-US">
              <a:solidFill>
                <a:prstClr val="black"/>
              </a:solidFill>
            </a:endParaRPr>
          </a:p>
        </p:txBody>
      </p:sp>
      <p:sp>
        <p:nvSpPr>
          <p:cNvPr id="1146882" name="Rectangle 2"/>
          <p:cNvSpPr>
            <a:spLocks noGrp="1" noRot="1" noChangeAspect="1" noChangeArrowheads="1" noTextEdit="1"/>
          </p:cNvSpPr>
          <p:nvPr>
            <p:ph type="sldImg"/>
          </p:nvPr>
        </p:nvSpPr>
        <p:spPr>
          <a:ln/>
        </p:spPr>
      </p:sp>
      <p:sp>
        <p:nvSpPr>
          <p:cNvPr id="11468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B3E1F1-5584-44A9-BA59-481294376092}" type="slidenum">
              <a:rPr lang="en-US">
                <a:solidFill>
                  <a:prstClr val="black"/>
                </a:solidFill>
              </a:rPr>
              <a:pPr/>
              <a:t>71</a:t>
            </a:fld>
            <a:endParaRPr lang="en-US">
              <a:solidFill>
                <a:prstClr val="black"/>
              </a:solidFill>
            </a:endParaRPr>
          </a:p>
        </p:txBody>
      </p:sp>
      <p:sp>
        <p:nvSpPr>
          <p:cNvPr id="1114114" name="Rectangle 2"/>
          <p:cNvSpPr>
            <a:spLocks noGrp="1" noRot="1" noChangeAspect="1" noChangeArrowheads="1" noTextEdit="1"/>
          </p:cNvSpPr>
          <p:nvPr>
            <p:ph type="sldImg"/>
          </p:nvPr>
        </p:nvSpPr>
        <p:spPr>
          <a:ln/>
        </p:spPr>
      </p:sp>
      <p:sp>
        <p:nvSpPr>
          <p:cNvPr id="1114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B7076B-1389-420C-862D-4B61F41108C2}" type="slidenum">
              <a:rPr lang="en-US">
                <a:solidFill>
                  <a:prstClr val="black"/>
                </a:solidFill>
              </a:rPr>
              <a:pPr/>
              <a:t>72</a:t>
            </a:fld>
            <a:endParaRPr lang="en-US">
              <a:solidFill>
                <a:prstClr val="black"/>
              </a:solidFill>
            </a:endParaRPr>
          </a:p>
        </p:txBody>
      </p:sp>
      <p:sp>
        <p:nvSpPr>
          <p:cNvPr id="1081346" name="Rectangle 2"/>
          <p:cNvSpPr>
            <a:spLocks noGrp="1" noRot="1" noChangeAspect="1" noChangeArrowheads="1" noTextEdit="1"/>
          </p:cNvSpPr>
          <p:nvPr>
            <p:ph type="sldImg"/>
          </p:nvPr>
        </p:nvSpPr>
        <p:spPr>
          <a:ln/>
        </p:spPr>
      </p:sp>
      <p:sp>
        <p:nvSpPr>
          <p:cNvPr id="1081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E61BB2-AC7C-4BE9-89CE-4699C2A74AA1}" type="slidenum">
              <a:rPr lang="en-US">
                <a:solidFill>
                  <a:prstClr val="black"/>
                </a:solidFill>
              </a:rPr>
              <a:pPr/>
              <a:t>73</a:t>
            </a:fld>
            <a:endParaRPr lang="en-US">
              <a:solidFill>
                <a:prstClr val="black"/>
              </a:solidFill>
            </a:endParaRPr>
          </a:p>
        </p:txBody>
      </p:sp>
      <p:sp>
        <p:nvSpPr>
          <p:cNvPr id="1116162" name="Rectangle 2"/>
          <p:cNvSpPr>
            <a:spLocks noGrp="1" noRot="1" noChangeAspect="1" noChangeArrowheads="1" noTextEdit="1"/>
          </p:cNvSpPr>
          <p:nvPr>
            <p:ph type="sldImg"/>
          </p:nvPr>
        </p:nvSpPr>
        <p:spPr>
          <a:ln/>
        </p:spPr>
      </p:sp>
      <p:sp>
        <p:nvSpPr>
          <p:cNvPr id="1116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13C595-74FA-4DDE-A83F-C9DF558E7907}" type="slidenum">
              <a:rPr lang="en-US">
                <a:solidFill>
                  <a:prstClr val="black"/>
                </a:solidFill>
              </a:rPr>
              <a:pPr/>
              <a:t>74</a:t>
            </a:fld>
            <a:endParaRPr lang="en-US">
              <a:solidFill>
                <a:prstClr val="black"/>
              </a:solidFill>
            </a:endParaRPr>
          </a:p>
        </p:txBody>
      </p:sp>
      <p:sp>
        <p:nvSpPr>
          <p:cNvPr id="1118210" name="Rectangle 2"/>
          <p:cNvSpPr>
            <a:spLocks noGrp="1" noRot="1" noChangeAspect="1" noChangeArrowheads="1" noTextEdit="1"/>
          </p:cNvSpPr>
          <p:nvPr>
            <p:ph type="sldImg"/>
          </p:nvPr>
        </p:nvSpPr>
        <p:spPr>
          <a:ln/>
        </p:spPr>
      </p:sp>
      <p:sp>
        <p:nvSpPr>
          <p:cNvPr id="11182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89B353-0579-450F-8551-0AD5E698AC5D}" type="slidenum">
              <a:rPr lang="en-US">
                <a:solidFill>
                  <a:prstClr val="black"/>
                </a:solidFill>
              </a:rPr>
              <a:pPr/>
              <a:t>75</a:t>
            </a:fld>
            <a:endParaRPr lang="en-US">
              <a:solidFill>
                <a:prstClr val="black"/>
              </a:solidFill>
            </a:endParaRPr>
          </a:p>
        </p:txBody>
      </p:sp>
      <p:sp>
        <p:nvSpPr>
          <p:cNvPr id="1120258" name="Rectangle 2"/>
          <p:cNvSpPr>
            <a:spLocks noGrp="1" noRot="1" noChangeAspect="1" noChangeArrowheads="1" noTextEdit="1"/>
          </p:cNvSpPr>
          <p:nvPr>
            <p:ph type="sldImg"/>
          </p:nvPr>
        </p:nvSpPr>
        <p:spPr>
          <a:ln/>
        </p:spPr>
      </p:sp>
      <p:sp>
        <p:nvSpPr>
          <p:cNvPr id="1120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34F96A-81E7-4E03-8401-BDEC1F300A50}" type="slidenum">
              <a:rPr lang="en-US">
                <a:solidFill>
                  <a:prstClr val="black"/>
                </a:solidFill>
              </a:rPr>
              <a:pPr/>
              <a:t>76</a:t>
            </a:fld>
            <a:endParaRPr lang="en-US">
              <a:solidFill>
                <a:prstClr val="black"/>
              </a:solidFill>
            </a:endParaRPr>
          </a:p>
        </p:txBody>
      </p:sp>
      <p:sp>
        <p:nvSpPr>
          <p:cNvPr id="1083394" name="Rectangle 2"/>
          <p:cNvSpPr>
            <a:spLocks noGrp="1" noRot="1" noChangeAspect="1" noChangeArrowheads="1" noTextEdit="1"/>
          </p:cNvSpPr>
          <p:nvPr>
            <p:ph type="sldImg"/>
          </p:nvPr>
        </p:nvSpPr>
        <p:spPr>
          <a:ln/>
        </p:spPr>
      </p:sp>
      <p:sp>
        <p:nvSpPr>
          <p:cNvPr id="1083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2994FC-76A1-4BAB-909B-CF03FBF4EED1}" type="slidenum">
              <a:rPr lang="en-US">
                <a:solidFill>
                  <a:prstClr val="black"/>
                </a:solidFill>
              </a:rPr>
              <a:pPr/>
              <a:t>77</a:t>
            </a:fld>
            <a:endParaRPr lang="en-US">
              <a:solidFill>
                <a:prstClr val="black"/>
              </a:solidFill>
            </a:endParaRPr>
          </a:p>
        </p:txBody>
      </p:sp>
      <p:sp>
        <p:nvSpPr>
          <p:cNvPr id="1122306" name="Rectangle 2"/>
          <p:cNvSpPr>
            <a:spLocks noGrp="1" noRot="1" noChangeAspect="1" noChangeArrowheads="1" noTextEdit="1"/>
          </p:cNvSpPr>
          <p:nvPr>
            <p:ph type="sldImg"/>
          </p:nvPr>
        </p:nvSpPr>
        <p:spPr>
          <a:ln/>
        </p:spPr>
      </p:sp>
      <p:sp>
        <p:nvSpPr>
          <p:cNvPr id="11223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14CA4B-15A8-47D6-8779-23C8E85C5B43}" type="slidenum">
              <a:rPr lang="en-US">
                <a:solidFill>
                  <a:prstClr val="black"/>
                </a:solidFill>
              </a:rPr>
              <a:pPr/>
              <a:t>78</a:t>
            </a:fld>
            <a:endParaRPr lang="en-US">
              <a:solidFill>
                <a:prstClr val="black"/>
              </a:solidFill>
            </a:endParaRPr>
          </a:p>
        </p:txBody>
      </p:sp>
      <p:sp>
        <p:nvSpPr>
          <p:cNvPr id="1150978" name="Rectangle 2"/>
          <p:cNvSpPr>
            <a:spLocks noGrp="1" noRot="1" noChangeAspect="1" noChangeArrowheads="1" noTextEdit="1"/>
          </p:cNvSpPr>
          <p:nvPr>
            <p:ph type="sldImg"/>
          </p:nvPr>
        </p:nvSpPr>
        <p:spPr>
          <a:ln/>
        </p:spPr>
      </p:sp>
      <p:sp>
        <p:nvSpPr>
          <p:cNvPr id="11509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7A9DE4-7479-4766-909C-A65887ECD00A}" type="slidenum">
              <a:rPr lang="en-US">
                <a:solidFill>
                  <a:prstClr val="black"/>
                </a:solidFill>
              </a:rPr>
              <a:pPr/>
              <a:t>79</a:t>
            </a:fld>
            <a:endParaRPr lang="en-US">
              <a:solidFill>
                <a:prstClr val="black"/>
              </a:solidFill>
            </a:endParaRPr>
          </a:p>
        </p:txBody>
      </p:sp>
      <p:sp>
        <p:nvSpPr>
          <p:cNvPr id="1124354" name="Rectangle 2"/>
          <p:cNvSpPr>
            <a:spLocks noGrp="1" noRot="1" noChangeAspect="1" noChangeArrowheads="1" noTextEdit="1"/>
          </p:cNvSpPr>
          <p:nvPr>
            <p:ph type="sldImg"/>
          </p:nvPr>
        </p:nvSpPr>
        <p:spPr>
          <a:ln/>
        </p:spPr>
      </p:sp>
      <p:sp>
        <p:nvSpPr>
          <p:cNvPr id="1124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C87568-C7FA-4020-95D8-21DDA5E28027}" type="slidenum">
              <a:rPr lang="en-US">
                <a:solidFill>
                  <a:prstClr val="black"/>
                </a:solidFill>
              </a:rPr>
              <a:pPr/>
              <a:t>80</a:t>
            </a:fld>
            <a:endParaRPr lang="en-US">
              <a:solidFill>
                <a:prstClr val="black"/>
              </a:solidFill>
            </a:endParaRPr>
          </a:p>
        </p:txBody>
      </p:sp>
      <p:sp>
        <p:nvSpPr>
          <p:cNvPr id="1153026" name="Rectangle 2"/>
          <p:cNvSpPr>
            <a:spLocks noGrp="1" noRot="1" noChangeAspect="1" noChangeArrowheads="1" noTextEdit="1"/>
          </p:cNvSpPr>
          <p:nvPr>
            <p:ph type="sldImg"/>
          </p:nvPr>
        </p:nvSpPr>
        <p:spPr>
          <a:ln/>
        </p:spPr>
      </p:sp>
      <p:sp>
        <p:nvSpPr>
          <p:cNvPr id="11530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39E71E-B6CD-445B-A3A3-C5680BC1C994}" type="slidenum">
              <a:rPr lang="en-US">
                <a:solidFill>
                  <a:prstClr val="black"/>
                </a:solidFill>
              </a:rPr>
              <a:pPr/>
              <a:t>81</a:t>
            </a:fld>
            <a:endParaRPr lang="en-US">
              <a:solidFill>
                <a:prstClr val="black"/>
              </a:solidFill>
            </a:endParaRPr>
          </a:p>
        </p:txBody>
      </p:sp>
      <p:sp>
        <p:nvSpPr>
          <p:cNvPr id="1155074" name="Rectangle 2"/>
          <p:cNvSpPr>
            <a:spLocks noGrp="1" noRot="1" noChangeAspect="1" noChangeArrowheads="1" noTextEdit="1"/>
          </p:cNvSpPr>
          <p:nvPr>
            <p:ph type="sldImg"/>
          </p:nvPr>
        </p:nvSpPr>
        <p:spPr>
          <a:ln/>
        </p:spPr>
      </p:sp>
      <p:sp>
        <p:nvSpPr>
          <p:cNvPr id="1155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A83DDE-7F9B-4C38-BCFD-14BB49552820}" type="slidenum">
              <a:rPr lang="en-US">
                <a:solidFill>
                  <a:prstClr val="black"/>
                </a:solidFill>
              </a:rPr>
              <a:pPr/>
              <a:t>82</a:t>
            </a:fld>
            <a:endParaRPr lang="en-US">
              <a:solidFill>
                <a:prstClr val="black"/>
              </a:solidFill>
            </a:endParaRPr>
          </a:p>
        </p:txBody>
      </p:sp>
      <p:sp>
        <p:nvSpPr>
          <p:cNvPr id="1126402" name="Rectangle 2"/>
          <p:cNvSpPr>
            <a:spLocks noGrp="1" noRot="1" noChangeAspect="1" noChangeArrowheads="1" noTextEdit="1"/>
          </p:cNvSpPr>
          <p:nvPr>
            <p:ph type="sldImg"/>
          </p:nvPr>
        </p:nvSpPr>
        <p:spPr>
          <a:ln/>
        </p:spPr>
      </p:sp>
      <p:sp>
        <p:nvSpPr>
          <p:cNvPr id="11264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4BB5DB-AC5A-45A3-B11F-E93162DF7350}" type="slidenum">
              <a:rPr lang="en-US">
                <a:solidFill>
                  <a:prstClr val="black"/>
                </a:solidFill>
              </a:rPr>
              <a:pPr/>
              <a:t>83</a:t>
            </a:fld>
            <a:endParaRPr lang="en-US">
              <a:solidFill>
                <a:prstClr val="black"/>
              </a:solidFill>
            </a:endParaRPr>
          </a:p>
        </p:txBody>
      </p:sp>
      <p:sp>
        <p:nvSpPr>
          <p:cNvPr id="1128450" name="Rectangle 2"/>
          <p:cNvSpPr>
            <a:spLocks noGrp="1" noRot="1" noChangeAspect="1" noChangeArrowheads="1" noTextEdit="1"/>
          </p:cNvSpPr>
          <p:nvPr>
            <p:ph type="sldImg"/>
          </p:nvPr>
        </p:nvSpPr>
        <p:spPr>
          <a:ln/>
        </p:spPr>
      </p:sp>
      <p:sp>
        <p:nvSpPr>
          <p:cNvPr id="1128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CD3250-E8AB-4A51-894E-4E2C127F22B4}" type="slidenum">
              <a:rPr lang="en-US">
                <a:solidFill>
                  <a:prstClr val="black"/>
                </a:solidFill>
              </a:rPr>
              <a:pPr/>
              <a:t>84</a:t>
            </a:fld>
            <a:endParaRPr lang="en-US">
              <a:solidFill>
                <a:prstClr val="black"/>
              </a:solidFill>
            </a:endParaRPr>
          </a:p>
        </p:txBody>
      </p:sp>
      <p:sp>
        <p:nvSpPr>
          <p:cNvPr id="1130498" name="Rectangle 2"/>
          <p:cNvSpPr>
            <a:spLocks noGrp="1" noRot="1" noChangeAspect="1" noChangeArrowheads="1" noTextEdit="1"/>
          </p:cNvSpPr>
          <p:nvPr>
            <p:ph type="sldImg"/>
          </p:nvPr>
        </p:nvSpPr>
        <p:spPr>
          <a:ln/>
        </p:spPr>
      </p:sp>
      <p:sp>
        <p:nvSpPr>
          <p:cNvPr id="1130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EB0A08-81EA-4436-93F4-FE39420AA21A}" type="slidenum">
              <a:rPr lang="en-US">
                <a:solidFill>
                  <a:prstClr val="black"/>
                </a:solidFill>
              </a:rPr>
              <a:pPr/>
              <a:t>85</a:t>
            </a:fld>
            <a:endParaRPr lang="en-US">
              <a:solidFill>
                <a:prstClr val="black"/>
              </a:solidFill>
            </a:endParaRPr>
          </a:p>
        </p:txBody>
      </p:sp>
      <p:sp>
        <p:nvSpPr>
          <p:cNvPr id="1132546" name="Rectangle 2"/>
          <p:cNvSpPr>
            <a:spLocks noGrp="1" noRot="1" noChangeAspect="1" noChangeArrowheads="1" noTextEdit="1"/>
          </p:cNvSpPr>
          <p:nvPr>
            <p:ph type="sldImg"/>
          </p:nvPr>
        </p:nvSpPr>
        <p:spPr>
          <a:ln/>
        </p:spPr>
      </p:sp>
      <p:sp>
        <p:nvSpPr>
          <p:cNvPr id="11325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507A28-D71D-4E9E-8558-A1D852399D26}" type="slidenum">
              <a:rPr lang="en-US">
                <a:solidFill>
                  <a:prstClr val="black"/>
                </a:solidFill>
              </a:rPr>
              <a:pPr/>
              <a:t>86</a:t>
            </a:fld>
            <a:endParaRPr lang="en-US">
              <a:solidFill>
                <a:prstClr val="black"/>
              </a:solidFill>
            </a:endParaRPr>
          </a:p>
        </p:txBody>
      </p:sp>
      <p:sp>
        <p:nvSpPr>
          <p:cNvPr id="1134594" name="Rectangle 2"/>
          <p:cNvSpPr>
            <a:spLocks noGrp="1" noRot="1" noChangeAspect="1" noChangeArrowheads="1" noTextEdit="1"/>
          </p:cNvSpPr>
          <p:nvPr>
            <p:ph type="sldImg"/>
          </p:nvPr>
        </p:nvSpPr>
        <p:spPr>
          <a:ln/>
        </p:spPr>
      </p:sp>
      <p:sp>
        <p:nvSpPr>
          <p:cNvPr id="11345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3A0531-2748-44D2-A7C1-BD89FCDC69E9}" type="slidenum">
              <a:rPr lang="en-US">
                <a:solidFill>
                  <a:prstClr val="black"/>
                </a:solidFill>
              </a:rPr>
              <a:pPr/>
              <a:t>87</a:t>
            </a:fld>
            <a:endParaRPr lang="en-US">
              <a:solidFill>
                <a:prstClr val="black"/>
              </a:solidFill>
            </a:endParaRPr>
          </a:p>
        </p:txBody>
      </p:sp>
      <p:sp>
        <p:nvSpPr>
          <p:cNvPr id="1136642" name="Rectangle 2"/>
          <p:cNvSpPr>
            <a:spLocks noGrp="1" noRot="1" noChangeAspect="1" noChangeArrowheads="1" noTextEdit="1"/>
          </p:cNvSpPr>
          <p:nvPr>
            <p:ph type="sldImg"/>
          </p:nvPr>
        </p:nvSpPr>
        <p:spPr>
          <a:ln/>
        </p:spPr>
      </p:sp>
      <p:sp>
        <p:nvSpPr>
          <p:cNvPr id="11366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B80712-75A3-40E9-B4C9-A67A6AC0D8A7}" type="slidenum">
              <a:rPr lang="en-US">
                <a:solidFill>
                  <a:prstClr val="black"/>
                </a:solidFill>
              </a:rPr>
              <a:pPr/>
              <a:t>88</a:t>
            </a:fld>
            <a:endParaRPr lang="en-US">
              <a:solidFill>
                <a:prstClr val="black"/>
              </a:solidFill>
            </a:endParaRPr>
          </a:p>
        </p:txBody>
      </p:sp>
      <p:sp>
        <p:nvSpPr>
          <p:cNvPr id="1138690" name="Rectangle 2"/>
          <p:cNvSpPr>
            <a:spLocks noGrp="1" noRot="1" noChangeAspect="1" noChangeArrowheads="1" noTextEdit="1"/>
          </p:cNvSpPr>
          <p:nvPr>
            <p:ph type="sldImg"/>
          </p:nvPr>
        </p:nvSpPr>
        <p:spPr>
          <a:ln/>
        </p:spPr>
      </p:sp>
      <p:sp>
        <p:nvSpPr>
          <p:cNvPr id="11386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C242DE-A74D-4998-A1CA-AD5D8EFC7F10}" type="slidenum">
              <a:rPr lang="en-US">
                <a:solidFill>
                  <a:prstClr val="black"/>
                </a:solidFill>
              </a:rPr>
              <a:pPr/>
              <a:t>89</a:t>
            </a:fld>
            <a:endParaRPr lang="en-US">
              <a:solidFill>
                <a:prstClr val="black"/>
              </a:solidFill>
            </a:endParaRPr>
          </a:p>
        </p:txBody>
      </p:sp>
      <p:sp>
        <p:nvSpPr>
          <p:cNvPr id="1157122" name="Rectangle 2"/>
          <p:cNvSpPr>
            <a:spLocks noGrp="1" noRot="1" noChangeAspect="1" noChangeArrowheads="1" noTextEdit="1"/>
          </p:cNvSpPr>
          <p:nvPr>
            <p:ph type="sldImg"/>
          </p:nvPr>
        </p:nvSpPr>
        <p:spPr>
          <a:ln/>
        </p:spPr>
      </p:sp>
      <p:sp>
        <p:nvSpPr>
          <p:cNvPr id="1157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C70A68-4A14-4802-A375-B5F325C42AB9}" type="slidenum">
              <a:rPr lang="en-US">
                <a:solidFill>
                  <a:prstClr val="black"/>
                </a:solidFill>
              </a:rPr>
              <a:pPr/>
              <a:t>90</a:t>
            </a:fld>
            <a:endParaRPr lang="en-US">
              <a:solidFill>
                <a:prstClr val="black"/>
              </a:solidFill>
            </a:endParaRPr>
          </a:p>
        </p:txBody>
      </p:sp>
      <p:sp>
        <p:nvSpPr>
          <p:cNvPr id="1058818" name="Rectangle 2"/>
          <p:cNvSpPr>
            <a:spLocks noGrp="1" noRot="1" noChangeAspect="1" noChangeArrowheads="1" noTextEdit="1"/>
          </p:cNvSpPr>
          <p:nvPr>
            <p:ph type="sldImg"/>
          </p:nvPr>
        </p:nvSpPr>
        <p:spPr>
          <a:ln/>
        </p:spPr>
      </p:sp>
      <p:sp>
        <p:nvSpPr>
          <p:cNvPr id="1058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068029-D520-4266-B09D-E5090A1C06B6}" type="slidenum">
              <a:rPr lang="en-US">
                <a:solidFill>
                  <a:prstClr val="black"/>
                </a:solidFill>
              </a:rPr>
              <a:pPr/>
              <a:t>91</a:t>
            </a:fld>
            <a:endParaRPr lang="en-US">
              <a:solidFill>
                <a:prstClr val="black"/>
              </a:solidFill>
            </a:endParaRPr>
          </a:p>
        </p:txBody>
      </p:sp>
      <p:sp>
        <p:nvSpPr>
          <p:cNvPr id="1159170" name="Rectangle 2"/>
          <p:cNvSpPr>
            <a:spLocks noGrp="1" noRot="1" noChangeAspect="1" noChangeArrowheads="1" noTextEdit="1"/>
          </p:cNvSpPr>
          <p:nvPr>
            <p:ph type="sldImg"/>
          </p:nvPr>
        </p:nvSpPr>
        <p:spPr>
          <a:ln/>
        </p:spPr>
      </p:sp>
      <p:sp>
        <p:nvSpPr>
          <p:cNvPr id="11591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863554-F66F-456B-ABC3-8DF695370BEF}" type="slidenum">
              <a:rPr lang="en-US">
                <a:solidFill>
                  <a:prstClr val="black"/>
                </a:solidFill>
              </a:rPr>
              <a:pPr/>
              <a:t>92</a:t>
            </a:fld>
            <a:endParaRPr lang="en-US">
              <a:solidFill>
                <a:prstClr val="black"/>
              </a:solidFill>
            </a:endParaRPr>
          </a:p>
        </p:txBody>
      </p:sp>
      <p:sp>
        <p:nvSpPr>
          <p:cNvPr id="1161218" name="Rectangle 2"/>
          <p:cNvSpPr>
            <a:spLocks noGrp="1" noRot="1" noChangeAspect="1" noChangeArrowheads="1" noTextEdit="1"/>
          </p:cNvSpPr>
          <p:nvPr>
            <p:ph type="sldImg"/>
          </p:nvPr>
        </p:nvSpPr>
        <p:spPr>
          <a:ln/>
        </p:spPr>
      </p:sp>
      <p:sp>
        <p:nvSpPr>
          <p:cNvPr id="116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9BC83C-F185-4082-9991-B576010CB8AA}" type="slidenum">
              <a:rPr lang="en-US">
                <a:solidFill>
                  <a:prstClr val="black"/>
                </a:solidFill>
              </a:rPr>
              <a:pPr/>
              <a:t>93</a:t>
            </a:fld>
            <a:endParaRPr lang="en-US">
              <a:solidFill>
                <a:prstClr val="black"/>
              </a:solidFill>
            </a:endParaRPr>
          </a:p>
        </p:txBody>
      </p:sp>
      <p:sp>
        <p:nvSpPr>
          <p:cNvPr id="1173506" name="Rectangle 2"/>
          <p:cNvSpPr>
            <a:spLocks noGrp="1" noRot="1" noChangeAspect="1" noChangeArrowheads="1" noTextEdit="1"/>
          </p:cNvSpPr>
          <p:nvPr>
            <p:ph type="sldImg"/>
          </p:nvPr>
        </p:nvSpPr>
        <p:spPr>
          <a:ln/>
        </p:spPr>
      </p:sp>
      <p:sp>
        <p:nvSpPr>
          <p:cNvPr id="117350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696363"/>
                </a:solidFill>
                <a:latin typeface="Franklin Gothic Book"/>
                <a:cs typeface="Franklin Gothic Book"/>
              </a:defRPr>
            </a:lvl1pPr>
          </a:lstStyle>
          <a:p>
            <a:endParaRPr/>
          </a:p>
        </p:txBody>
      </p:sp>
      <p:sp>
        <p:nvSpPr>
          <p:cNvPr id="3" name="Holder 3"/>
          <p:cNvSpPr>
            <a:spLocks noGrp="1"/>
          </p:cNvSpPr>
          <p:nvPr>
            <p:ph type="body" idx="1"/>
          </p:nvPr>
        </p:nvSpPr>
        <p:spPr/>
        <p:txBody>
          <a:bodyPr lIns="0" tIns="0" rIns="0" bIns="0"/>
          <a:lstStyle>
            <a:lvl1pPr>
              <a:defRPr sz="2600" b="0" i="0">
                <a:solidFill>
                  <a:srgbClr val="990000"/>
                </a:solidFill>
                <a:latin typeface="Perpetua"/>
                <a:cs typeface="Perpetu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696363"/>
                </a:solidFill>
                <a:latin typeface="Franklin Gothic Book"/>
                <a:cs typeface="Franklin Gothic Book"/>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6858000"/>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0" y="0"/>
            <a:ext cx="9144000" cy="6858000"/>
          </a:xfrm>
          <a:custGeom>
            <a:avLst/>
            <a:gdLst/>
            <a:ahLst/>
            <a:cxnLst/>
            <a:rect l="l" t="t" r="r" b="b"/>
            <a:pathLst>
              <a:path w="9144000" h="6858000">
                <a:moveTo>
                  <a:pt x="0" y="6858000"/>
                </a:moveTo>
                <a:lnTo>
                  <a:pt x="9144000" y="6858000"/>
                </a:lnTo>
                <a:lnTo>
                  <a:pt x="9144000" y="0"/>
                </a:lnTo>
                <a:lnTo>
                  <a:pt x="0" y="0"/>
                </a:lnTo>
                <a:lnTo>
                  <a:pt x="0" y="6858000"/>
                </a:lnTo>
                <a:close/>
              </a:path>
            </a:pathLst>
          </a:custGeom>
          <a:solidFill>
            <a:srgbClr val="FFFFFF"/>
          </a:solidFill>
        </p:spPr>
        <p:txBody>
          <a:bodyPr wrap="square" lIns="0" tIns="0" rIns="0" bIns="0" rtlCol="0"/>
          <a:lstStyle/>
          <a:p>
            <a:endParaRPr/>
          </a:p>
        </p:txBody>
      </p:sp>
      <p:sp>
        <p:nvSpPr>
          <p:cNvPr id="18" name="bk object 18"/>
          <p:cNvSpPr/>
          <p:nvPr/>
        </p:nvSpPr>
        <p:spPr>
          <a:xfrm>
            <a:off x="65313" y="69722"/>
            <a:ext cx="9013408" cy="6692231"/>
          </a:xfrm>
          <a:prstGeom prst="rect">
            <a:avLst/>
          </a:prstGeom>
          <a:blipFill>
            <a:blip r:embed="rId3" cstate="print"/>
            <a:stretch>
              <a:fillRect/>
            </a:stretch>
          </a:blipFill>
        </p:spPr>
        <p:txBody>
          <a:bodyPr wrap="square" lIns="0" tIns="0" rIns="0" bIns="0" rtlCol="0"/>
          <a:lstStyle/>
          <a:p>
            <a:endParaRPr/>
          </a:p>
        </p:txBody>
      </p:sp>
      <p:sp>
        <p:nvSpPr>
          <p:cNvPr id="19" name="bk object 19"/>
          <p:cNvSpPr/>
          <p:nvPr/>
        </p:nvSpPr>
        <p:spPr>
          <a:xfrm>
            <a:off x="65313" y="69722"/>
            <a:ext cx="9013825" cy="6692265"/>
          </a:xfrm>
          <a:custGeom>
            <a:avLst/>
            <a:gdLst/>
            <a:ahLst/>
            <a:cxnLst/>
            <a:rect l="l" t="t" r="r" b="b"/>
            <a:pathLst>
              <a:path w="9013825" h="6692265">
                <a:moveTo>
                  <a:pt x="0" y="329946"/>
                </a:moveTo>
                <a:lnTo>
                  <a:pt x="3576" y="281184"/>
                </a:lnTo>
                <a:lnTo>
                  <a:pt x="13965" y="234645"/>
                </a:lnTo>
                <a:lnTo>
                  <a:pt x="30657" y="190840"/>
                </a:lnTo>
                <a:lnTo>
                  <a:pt x="53141" y="150277"/>
                </a:lnTo>
                <a:lnTo>
                  <a:pt x="80907" y="113468"/>
                </a:lnTo>
                <a:lnTo>
                  <a:pt x="113445" y="80923"/>
                </a:lnTo>
                <a:lnTo>
                  <a:pt x="150245" y="53151"/>
                </a:lnTo>
                <a:lnTo>
                  <a:pt x="190796" y="30662"/>
                </a:lnTo>
                <a:lnTo>
                  <a:pt x="234589" y="13967"/>
                </a:lnTo>
                <a:lnTo>
                  <a:pt x="281114" y="3576"/>
                </a:lnTo>
                <a:lnTo>
                  <a:pt x="329859" y="0"/>
                </a:lnTo>
                <a:lnTo>
                  <a:pt x="8683462" y="0"/>
                </a:lnTo>
                <a:lnTo>
                  <a:pt x="8732224" y="3576"/>
                </a:lnTo>
                <a:lnTo>
                  <a:pt x="8778762" y="13967"/>
                </a:lnTo>
                <a:lnTo>
                  <a:pt x="8822568" y="30662"/>
                </a:lnTo>
                <a:lnTo>
                  <a:pt x="8863130" y="53151"/>
                </a:lnTo>
                <a:lnTo>
                  <a:pt x="8899939" y="80923"/>
                </a:lnTo>
                <a:lnTo>
                  <a:pt x="8932485" y="113468"/>
                </a:lnTo>
                <a:lnTo>
                  <a:pt x="8960257" y="150277"/>
                </a:lnTo>
                <a:lnTo>
                  <a:pt x="8982745" y="190840"/>
                </a:lnTo>
                <a:lnTo>
                  <a:pt x="8999440" y="234645"/>
                </a:lnTo>
                <a:lnTo>
                  <a:pt x="9009831" y="281184"/>
                </a:lnTo>
                <a:lnTo>
                  <a:pt x="9013408" y="329946"/>
                </a:lnTo>
                <a:lnTo>
                  <a:pt x="9013408" y="6362369"/>
                </a:lnTo>
                <a:lnTo>
                  <a:pt x="9009831" y="6411115"/>
                </a:lnTo>
                <a:lnTo>
                  <a:pt x="8999440" y="6457639"/>
                </a:lnTo>
                <a:lnTo>
                  <a:pt x="8982745" y="6501432"/>
                </a:lnTo>
                <a:lnTo>
                  <a:pt x="8960257" y="6541984"/>
                </a:lnTo>
                <a:lnTo>
                  <a:pt x="8932485" y="6578785"/>
                </a:lnTo>
                <a:lnTo>
                  <a:pt x="8899939" y="6611323"/>
                </a:lnTo>
                <a:lnTo>
                  <a:pt x="8863130" y="6639090"/>
                </a:lnTo>
                <a:lnTo>
                  <a:pt x="8822568" y="6661574"/>
                </a:lnTo>
                <a:lnTo>
                  <a:pt x="8778762" y="6678266"/>
                </a:lnTo>
                <a:lnTo>
                  <a:pt x="8732224" y="6688655"/>
                </a:lnTo>
                <a:lnTo>
                  <a:pt x="8683462" y="6692231"/>
                </a:lnTo>
                <a:lnTo>
                  <a:pt x="329859" y="6692231"/>
                </a:lnTo>
                <a:lnTo>
                  <a:pt x="281114" y="6688655"/>
                </a:lnTo>
                <a:lnTo>
                  <a:pt x="234589" y="6678266"/>
                </a:lnTo>
                <a:lnTo>
                  <a:pt x="190796" y="6661574"/>
                </a:lnTo>
                <a:lnTo>
                  <a:pt x="150245" y="6639090"/>
                </a:lnTo>
                <a:lnTo>
                  <a:pt x="113445" y="6611323"/>
                </a:lnTo>
                <a:lnTo>
                  <a:pt x="80907" y="6578785"/>
                </a:lnTo>
                <a:lnTo>
                  <a:pt x="53141" y="6541984"/>
                </a:lnTo>
                <a:lnTo>
                  <a:pt x="30657" y="6501432"/>
                </a:lnTo>
                <a:lnTo>
                  <a:pt x="13965" y="6457639"/>
                </a:lnTo>
                <a:lnTo>
                  <a:pt x="3576" y="6411115"/>
                </a:lnTo>
                <a:lnTo>
                  <a:pt x="0" y="6362369"/>
                </a:lnTo>
                <a:lnTo>
                  <a:pt x="0" y="329946"/>
                </a:lnTo>
                <a:close/>
              </a:path>
            </a:pathLst>
          </a:custGeom>
          <a:ln w="12700">
            <a:solidFill>
              <a:srgbClr val="000000"/>
            </a:solidFill>
          </a:ln>
        </p:spPr>
        <p:txBody>
          <a:bodyPr wrap="square" lIns="0" tIns="0" rIns="0" bIns="0" rtlCol="0"/>
          <a:lstStyle/>
          <a:p>
            <a:endParaRPr/>
          </a:p>
        </p:txBody>
      </p:sp>
      <p:sp>
        <p:nvSpPr>
          <p:cNvPr id="20" name="bk object 20"/>
          <p:cNvSpPr/>
          <p:nvPr/>
        </p:nvSpPr>
        <p:spPr>
          <a:xfrm>
            <a:off x="62931" y="1396688"/>
            <a:ext cx="9022080" cy="120650"/>
          </a:xfrm>
          <a:custGeom>
            <a:avLst/>
            <a:gdLst/>
            <a:ahLst/>
            <a:cxnLst/>
            <a:rect l="l" t="t" r="r" b="b"/>
            <a:pathLst>
              <a:path w="9022080" h="120650">
                <a:moveTo>
                  <a:pt x="0" y="120580"/>
                </a:moveTo>
                <a:lnTo>
                  <a:pt x="9021572" y="120580"/>
                </a:lnTo>
                <a:lnTo>
                  <a:pt x="9021572" y="0"/>
                </a:lnTo>
                <a:lnTo>
                  <a:pt x="0" y="0"/>
                </a:lnTo>
                <a:lnTo>
                  <a:pt x="0" y="120580"/>
                </a:lnTo>
                <a:close/>
              </a:path>
            </a:pathLst>
          </a:custGeom>
          <a:solidFill>
            <a:srgbClr val="E6B0AB"/>
          </a:solidFill>
        </p:spPr>
        <p:txBody>
          <a:bodyPr wrap="square" lIns="0" tIns="0" rIns="0" bIns="0" rtlCol="0"/>
          <a:lstStyle/>
          <a:p>
            <a:endParaRPr/>
          </a:p>
        </p:txBody>
      </p:sp>
      <p:sp>
        <p:nvSpPr>
          <p:cNvPr id="21" name="bk object 21"/>
          <p:cNvSpPr/>
          <p:nvPr/>
        </p:nvSpPr>
        <p:spPr>
          <a:xfrm>
            <a:off x="62931" y="2976711"/>
            <a:ext cx="9022080" cy="111125"/>
          </a:xfrm>
          <a:custGeom>
            <a:avLst/>
            <a:gdLst/>
            <a:ahLst/>
            <a:cxnLst/>
            <a:rect l="l" t="t" r="r" b="b"/>
            <a:pathLst>
              <a:path w="9022080" h="111125">
                <a:moveTo>
                  <a:pt x="0" y="110531"/>
                </a:moveTo>
                <a:lnTo>
                  <a:pt x="9021572" y="110531"/>
                </a:lnTo>
                <a:lnTo>
                  <a:pt x="9021572" y="0"/>
                </a:lnTo>
                <a:lnTo>
                  <a:pt x="0" y="0"/>
                </a:lnTo>
                <a:lnTo>
                  <a:pt x="0" y="110531"/>
                </a:lnTo>
                <a:close/>
              </a:path>
            </a:pathLst>
          </a:custGeom>
          <a:solidFill>
            <a:srgbClr val="918485"/>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0" i="0">
                <a:solidFill>
                  <a:srgbClr val="696363"/>
                </a:solidFill>
                <a:latin typeface="Franklin Gothic Book"/>
                <a:cs typeface="Franklin Gothic Boo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0946" name="Group 2"/>
          <p:cNvGrpSpPr>
            <a:grpSpLocks/>
          </p:cNvGrpSpPr>
          <p:nvPr/>
        </p:nvGrpSpPr>
        <p:grpSpPr bwMode="auto">
          <a:xfrm>
            <a:off x="0" y="2438400"/>
            <a:ext cx="9009063" cy="1052513"/>
            <a:chOff x="0" y="1536"/>
            <a:chExt cx="5675" cy="663"/>
          </a:xfrm>
        </p:grpSpPr>
        <p:grpSp>
          <p:nvGrpSpPr>
            <p:cNvPr id="210947" name="Group 3"/>
            <p:cNvGrpSpPr>
              <a:grpSpLocks/>
            </p:cNvGrpSpPr>
            <p:nvPr/>
          </p:nvGrpSpPr>
          <p:grpSpPr bwMode="auto">
            <a:xfrm>
              <a:off x="183" y="1604"/>
              <a:ext cx="448" cy="299"/>
              <a:chOff x="720" y="336"/>
              <a:chExt cx="624" cy="432"/>
            </a:xfrm>
          </p:grpSpPr>
          <p:sp>
            <p:nvSpPr>
              <p:cNvPr id="210948"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210949"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grpSp>
        <p:grpSp>
          <p:nvGrpSpPr>
            <p:cNvPr id="210950" name="Group 6"/>
            <p:cNvGrpSpPr>
              <a:grpSpLocks/>
            </p:cNvGrpSpPr>
            <p:nvPr/>
          </p:nvGrpSpPr>
          <p:grpSpPr bwMode="auto">
            <a:xfrm>
              <a:off x="261" y="1870"/>
              <a:ext cx="465" cy="299"/>
              <a:chOff x="912" y="2640"/>
              <a:chExt cx="672" cy="432"/>
            </a:xfrm>
          </p:grpSpPr>
          <p:sp>
            <p:nvSpPr>
              <p:cNvPr id="210951"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210952"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grpSp>
        <p:sp>
          <p:nvSpPr>
            <p:cNvPr id="210953"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210954"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210955"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grpSp>
      <p:sp>
        <p:nvSpPr>
          <p:cNvPr id="210956" name="Rectangle 12"/>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noProof="0"/>
              <a:t>Click to edit Master subtitle style</a:t>
            </a:r>
          </a:p>
        </p:txBody>
      </p:sp>
      <p:sp>
        <p:nvSpPr>
          <p:cNvPr id="210958" name="Rectangle 14"/>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i="0" baseline="0">
                <a:solidFill>
                  <a:schemeClr val="bg2"/>
                </a:solidFill>
                <a:latin typeface="+mn-lt"/>
              </a:defRPr>
            </a:lvl1pPr>
          </a:lstStyle>
          <a:p>
            <a:pPr fontAlgn="base">
              <a:spcBef>
                <a:spcPct val="0"/>
              </a:spcBef>
              <a:spcAft>
                <a:spcPct val="0"/>
              </a:spcAft>
            </a:pPr>
            <a:endParaRPr lang="en-US">
              <a:solidFill>
                <a:srgbClr val="1C1C1C"/>
              </a:solidFill>
            </a:endParaRPr>
          </a:p>
        </p:txBody>
      </p:sp>
      <p:sp>
        <p:nvSpPr>
          <p:cNvPr id="210959" name="Rectangle 15"/>
          <p:cNvSpPr>
            <a:spLocks noGrp="1" noChangeArrowheads="1"/>
          </p:cNvSpPr>
          <p:nvPr>
            <p:ph type="ftr" sz="quarter" idx="3"/>
          </p:nvPr>
        </p:nvSpPr>
        <p:spPr bwMode="auto">
          <a:xfrm>
            <a:off x="34290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i="0" baseline="0">
                <a:solidFill>
                  <a:schemeClr val="bg2"/>
                </a:solidFill>
                <a:latin typeface="+mn-lt"/>
              </a:defRPr>
            </a:lvl1pPr>
          </a:lstStyle>
          <a:p>
            <a:pPr fontAlgn="base">
              <a:spcBef>
                <a:spcPct val="0"/>
              </a:spcBef>
              <a:spcAft>
                <a:spcPct val="0"/>
              </a:spcAft>
            </a:pPr>
            <a:endParaRPr lang="en-US">
              <a:solidFill>
                <a:srgbClr val="1C1C1C"/>
              </a:solidFill>
            </a:endParaRPr>
          </a:p>
        </p:txBody>
      </p:sp>
      <p:sp>
        <p:nvSpPr>
          <p:cNvPr id="210960" name="Rectangle 16"/>
          <p:cNvSpPr>
            <a:spLocks noGrp="1" noChangeArrowheads="1"/>
          </p:cNvSpPr>
          <p:nvPr>
            <p:ph type="sldNum" sz="quarter" idx="4"/>
          </p:nvPr>
        </p:nvSpPr>
        <p:spPr>
          <a:xfrm>
            <a:off x="6858000" y="6248400"/>
            <a:ext cx="1905000" cy="457200"/>
          </a:xfrm>
        </p:spPr>
        <p:txBody>
          <a:bodyPr/>
          <a:lstStyle>
            <a:lvl1pPr algn="r">
              <a:defRPr sz="1400" b="0">
                <a:latin typeface="+mn-lt"/>
              </a:defRPr>
            </a:lvl1pPr>
          </a:lstStyle>
          <a:p>
            <a:fld id="{45EAAD57-3D65-42AC-8F49-7CAF1AF927A2}" type="slidenum">
              <a:rPr lang="en-US">
                <a:solidFill>
                  <a:srgbClr val="1C1C1C"/>
                </a:solidFill>
              </a:rPr>
              <a:pPr/>
              <a:t>‹#›</a:t>
            </a:fld>
            <a:endParaRPr lang="en-US">
              <a:solidFill>
                <a:srgbClr val="1C1C1C"/>
              </a:solidFill>
            </a:endParaRPr>
          </a:p>
        </p:txBody>
      </p:sp>
      <p:sp>
        <p:nvSpPr>
          <p:cNvPr id="210961" name="Text Box 17"/>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1400">
                <a:solidFill>
                  <a:srgbClr val="000000"/>
                </a:solidFill>
                <a:latin typeface="McGrawHill-Italic" pitchFamily="2" charset="0"/>
              </a:rPr>
              <a:t>McGraw-Hill</a:t>
            </a:r>
            <a:endParaRPr lang="en-US" altLang="en-US" sz="2400">
              <a:solidFill>
                <a:srgbClr val="000000"/>
              </a:solidFill>
              <a:latin typeface="Times New Roman" pitchFamily="18" charset="0"/>
            </a:endParaRPr>
          </a:p>
        </p:txBody>
      </p:sp>
      <p:sp>
        <p:nvSpPr>
          <p:cNvPr id="210962" name="Text Box 18"/>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buFontTx/>
              <a:buChar char="©"/>
            </a:pPr>
            <a:r>
              <a:rPr lang="en-US" altLang="en-US" sz="1400">
                <a:solidFill>
                  <a:srgbClr val="000000"/>
                </a:solidFill>
                <a:latin typeface="McGrawHill-Italic" pitchFamily="2" charset="0"/>
              </a:rPr>
              <a:t>The McGraw-Hill Companies, Inc., 2000</a:t>
            </a:r>
            <a:endParaRPr lang="en-US" altLang="en-US" sz="2400">
              <a:solidFill>
                <a:srgbClr val="000000"/>
              </a:solidFill>
              <a:latin typeface="Times New Roman" pitchFamily="18" charset="0"/>
            </a:endParaRPr>
          </a:p>
        </p:txBody>
      </p:sp>
    </p:spTree>
    <p:extLst>
      <p:ext uri="{BB962C8B-B14F-4D97-AF65-F5344CB8AC3E}">
        <p14:creationId xmlns:p14="http://schemas.microsoft.com/office/powerpoint/2010/main" val="3855409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solidFill>
                  <a:srgbClr val="1C1C1C"/>
                </a:solidFill>
              </a:rPr>
              <a:t>12.</a:t>
            </a:r>
            <a:fld id="{AA13D0F7-CF23-4504-8B88-B771FD3B5E35}"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51647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r>
              <a:rPr lang="en-US">
                <a:solidFill>
                  <a:srgbClr val="1C1C1C"/>
                </a:solidFill>
              </a:rPr>
              <a:t>12.</a:t>
            </a:r>
            <a:fld id="{F3407E35-7545-49AF-8B38-870DEBDB7228}"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648498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r>
              <a:rPr lang="en-US">
                <a:solidFill>
                  <a:srgbClr val="1C1C1C"/>
                </a:solidFill>
              </a:rPr>
              <a:t>12.</a:t>
            </a:r>
            <a:fld id="{5404AD18-0C46-46C5-9625-F67B6E74BDC0}"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24150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r>
              <a:rPr lang="en-US">
                <a:solidFill>
                  <a:srgbClr val="1C1C1C"/>
                </a:solidFill>
              </a:rPr>
              <a:t>12.</a:t>
            </a:r>
            <a:fld id="{DB5DC309-0ACA-4AE4-B3D1-9382A4B284BA}"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497682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r>
              <a:rPr lang="en-US">
                <a:solidFill>
                  <a:srgbClr val="1C1C1C"/>
                </a:solidFill>
              </a:rPr>
              <a:t>12.</a:t>
            </a:r>
            <a:fld id="{BBAD34ED-8210-4C48-9ABB-FE32B9B9016D}"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165065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r>
              <a:rPr lang="en-US">
                <a:solidFill>
                  <a:srgbClr val="1C1C1C"/>
                </a:solidFill>
              </a:rPr>
              <a:t>12.</a:t>
            </a:r>
            <a:fld id="{C249E97C-3C37-40D3-AFB6-BF3856E12F3C}"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1589684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solidFill>
                  <a:srgbClr val="1C1C1C"/>
                </a:solidFill>
              </a:rPr>
              <a:t>12.</a:t>
            </a:r>
            <a:fld id="{721E15E5-12C1-4B0D-B95C-9BE91906C130}"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7823464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solidFill>
                  <a:srgbClr val="1C1C1C"/>
                </a:solidFill>
              </a:rPr>
              <a:t>12.</a:t>
            </a:r>
            <a:fld id="{044729B1-874E-453F-8306-417989D72ECE}"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3801318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solidFill>
                  <a:srgbClr val="1C1C1C"/>
                </a:solidFill>
              </a:rPr>
              <a:t>12.</a:t>
            </a:r>
            <a:fld id="{477C97B5-E719-4064-9ED5-E66D795F9713}"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23668650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solidFill>
                  <a:srgbClr val="1C1C1C"/>
                </a:solidFill>
              </a:rPr>
              <a:t>12.</a:t>
            </a:r>
            <a:fld id="{FF776C50-106D-4040-960F-482A31CBED18}"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230551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p:cNvSpPr>
            <a:spLocks noGrp="1"/>
          </p:cNvSpPr>
          <p:nvPr>
            <p:ph type="sldNum" sz="quarter" idx="10"/>
          </p:nvPr>
        </p:nvSpPr>
        <p:spPr>
          <a:xfrm>
            <a:off x="0" y="6400800"/>
            <a:ext cx="1905000" cy="457200"/>
          </a:xfrm>
        </p:spPr>
        <p:txBody>
          <a:bodyPr/>
          <a:lstStyle>
            <a:lvl1pPr>
              <a:defRPr/>
            </a:lvl1pPr>
          </a:lstStyle>
          <a:p>
            <a:r>
              <a:rPr lang="en-US">
                <a:solidFill>
                  <a:srgbClr val="1C1C1C"/>
                </a:solidFill>
              </a:rPr>
              <a:t>12.</a:t>
            </a:r>
            <a:fld id="{750D66A4-94BE-49D3-8BBE-81A8DCA9CE83}" type="slidenum">
              <a:rPr lang="en-US">
                <a:solidFill>
                  <a:srgbClr val="1C1C1C"/>
                </a:solidFill>
              </a:rPr>
              <a:pPr/>
              <a:t>‹#›</a:t>
            </a:fld>
            <a:endParaRPr lang="en-US">
              <a:solidFill>
                <a:srgbClr val="1C1C1C"/>
              </a:solidFill>
            </a:endParaRPr>
          </a:p>
        </p:txBody>
      </p:sp>
    </p:spTree>
    <p:extLst>
      <p:ext uri="{BB962C8B-B14F-4D97-AF65-F5344CB8AC3E}">
        <p14:creationId xmlns:p14="http://schemas.microsoft.com/office/powerpoint/2010/main" val="33055372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8/17/2026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7730677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696363"/>
                </a:solidFill>
                <a:latin typeface="Franklin Gothic Book"/>
                <a:cs typeface="Franklin Gothic Book"/>
              </a:defRPr>
            </a:lvl1pPr>
          </a:lstStyle>
          <a:p>
            <a:endParaRPr/>
          </a:p>
        </p:txBody>
      </p:sp>
      <p:sp>
        <p:nvSpPr>
          <p:cNvPr id="3" name="Holder 3"/>
          <p:cNvSpPr>
            <a:spLocks noGrp="1"/>
          </p:cNvSpPr>
          <p:nvPr>
            <p:ph type="body" idx="1"/>
          </p:nvPr>
        </p:nvSpPr>
        <p:spPr/>
        <p:txBody>
          <a:bodyPr lIns="0" tIns="0" rIns="0" bIns="0"/>
          <a:lstStyle>
            <a:lvl1pPr>
              <a:defRPr sz="2600" b="0" i="0">
                <a:solidFill>
                  <a:srgbClr val="990000"/>
                </a:solidFill>
                <a:latin typeface="Perpetua"/>
                <a:cs typeface="Perpetu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8/17/2026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704051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696363"/>
                </a:solidFill>
                <a:latin typeface="Franklin Gothic Book"/>
                <a:cs typeface="Franklin Gothic Book"/>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8/17/2026</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6990083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6858000"/>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17" name="bk object 17"/>
          <p:cNvSpPr/>
          <p:nvPr/>
        </p:nvSpPr>
        <p:spPr>
          <a:xfrm>
            <a:off x="0" y="0"/>
            <a:ext cx="9144000" cy="6858000"/>
          </a:xfrm>
          <a:custGeom>
            <a:avLst/>
            <a:gdLst/>
            <a:ahLst/>
            <a:cxnLst/>
            <a:rect l="l" t="t" r="r" b="b"/>
            <a:pathLst>
              <a:path w="9144000" h="6858000">
                <a:moveTo>
                  <a:pt x="0" y="6858000"/>
                </a:moveTo>
                <a:lnTo>
                  <a:pt x="9144000" y="6858000"/>
                </a:lnTo>
                <a:lnTo>
                  <a:pt x="9144000" y="0"/>
                </a:lnTo>
                <a:lnTo>
                  <a:pt x="0" y="0"/>
                </a:lnTo>
                <a:lnTo>
                  <a:pt x="0" y="6858000"/>
                </a:lnTo>
                <a:close/>
              </a:path>
            </a:pathLst>
          </a:custGeom>
          <a:solidFill>
            <a:srgbClr val="FFFFFF"/>
          </a:solidFill>
        </p:spPr>
        <p:txBody>
          <a:bodyPr wrap="square" lIns="0" tIns="0" rIns="0" bIns="0" rtlCol="0"/>
          <a:lstStyle/>
          <a:p>
            <a:endParaRPr>
              <a:solidFill>
                <a:prstClr val="black"/>
              </a:solidFill>
            </a:endParaRPr>
          </a:p>
        </p:txBody>
      </p:sp>
      <p:sp>
        <p:nvSpPr>
          <p:cNvPr id="18" name="bk object 18"/>
          <p:cNvSpPr/>
          <p:nvPr/>
        </p:nvSpPr>
        <p:spPr>
          <a:xfrm>
            <a:off x="65313" y="69722"/>
            <a:ext cx="9013408" cy="6692231"/>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19" name="bk object 19"/>
          <p:cNvSpPr/>
          <p:nvPr/>
        </p:nvSpPr>
        <p:spPr>
          <a:xfrm>
            <a:off x="65313" y="69722"/>
            <a:ext cx="9013825" cy="6692265"/>
          </a:xfrm>
          <a:custGeom>
            <a:avLst/>
            <a:gdLst/>
            <a:ahLst/>
            <a:cxnLst/>
            <a:rect l="l" t="t" r="r" b="b"/>
            <a:pathLst>
              <a:path w="9013825" h="6692265">
                <a:moveTo>
                  <a:pt x="0" y="329946"/>
                </a:moveTo>
                <a:lnTo>
                  <a:pt x="3576" y="281184"/>
                </a:lnTo>
                <a:lnTo>
                  <a:pt x="13965" y="234645"/>
                </a:lnTo>
                <a:lnTo>
                  <a:pt x="30657" y="190840"/>
                </a:lnTo>
                <a:lnTo>
                  <a:pt x="53141" y="150277"/>
                </a:lnTo>
                <a:lnTo>
                  <a:pt x="80907" y="113468"/>
                </a:lnTo>
                <a:lnTo>
                  <a:pt x="113445" y="80923"/>
                </a:lnTo>
                <a:lnTo>
                  <a:pt x="150245" y="53151"/>
                </a:lnTo>
                <a:lnTo>
                  <a:pt x="190796" y="30662"/>
                </a:lnTo>
                <a:lnTo>
                  <a:pt x="234589" y="13967"/>
                </a:lnTo>
                <a:lnTo>
                  <a:pt x="281114" y="3576"/>
                </a:lnTo>
                <a:lnTo>
                  <a:pt x="329859" y="0"/>
                </a:lnTo>
                <a:lnTo>
                  <a:pt x="8683462" y="0"/>
                </a:lnTo>
                <a:lnTo>
                  <a:pt x="8732224" y="3576"/>
                </a:lnTo>
                <a:lnTo>
                  <a:pt x="8778762" y="13967"/>
                </a:lnTo>
                <a:lnTo>
                  <a:pt x="8822568" y="30662"/>
                </a:lnTo>
                <a:lnTo>
                  <a:pt x="8863130" y="53151"/>
                </a:lnTo>
                <a:lnTo>
                  <a:pt x="8899939" y="80923"/>
                </a:lnTo>
                <a:lnTo>
                  <a:pt x="8932485" y="113468"/>
                </a:lnTo>
                <a:lnTo>
                  <a:pt x="8960257" y="150277"/>
                </a:lnTo>
                <a:lnTo>
                  <a:pt x="8982745" y="190840"/>
                </a:lnTo>
                <a:lnTo>
                  <a:pt x="8999440" y="234645"/>
                </a:lnTo>
                <a:lnTo>
                  <a:pt x="9009831" y="281184"/>
                </a:lnTo>
                <a:lnTo>
                  <a:pt x="9013408" y="329946"/>
                </a:lnTo>
                <a:lnTo>
                  <a:pt x="9013408" y="6362369"/>
                </a:lnTo>
                <a:lnTo>
                  <a:pt x="9009831" y="6411115"/>
                </a:lnTo>
                <a:lnTo>
                  <a:pt x="8999440" y="6457639"/>
                </a:lnTo>
                <a:lnTo>
                  <a:pt x="8982745" y="6501432"/>
                </a:lnTo>
                <a:lnTo>
                  <a:pt x="8960257" y="6541984"/>
                </a:lnTo>
                <a:lnTo>
                  <a:pt x="8932485" y="6578785"/>
                </a:lnTo>
                <a:lnTo>
                  <a:pt x="8899939" y="6611323"/>
                </a:lnTo>
                <a:lnTo>
                  <a:pt x="8863130" y="6639090"/>
                </a:lnTo>
                <a:lnTo>
                  <a:pt x="8822568" y="6661574"/>
                </a:lnTo>
                <a:lnTo>
                  <a:pt x="8778762" y="6678266"/>
                </a:lnTo>
                <a:lnTo>
                  <a:pt x="8732224" y="6688655"/>
                </a:lnTo>
                <a:lnTo>
                  <a:pt x="8683462" y="6692231"/>
                </a:lnTo>
                <a:lnTo>
                  <a:pt x="329859" y="6692231"/>
                </a:lnTo>
                <a:lnTo>
                  <a:pt x="281114" y="6688655"/>
                </a:lnTo>
                <a:lnTo>
                  <a:pt x="234589" y="6678266"/>
                </a:lnTo>
                <a:lnTo>
                  <a:pt x="190796" y="6661574"/>
                </a:lnTo>
                <a:lnTo>
                  <a:pt x="150245" y="6639090"/>
                </a:lnTo>
                <a:lnTo>
                  <a:pt x="113445" y="6611323"/>
                </a:lnTo>
                <a:lnTo>
                  <a:pt x="80907" y="6578785"/>
                </a:lnTo>
                <a:lnTo>
                  <a:pt x="53141" y="6541984"/>
                </a:lnTo>
                <a:lnTo>
                  <a:pt x="30657" y="6501432"/>
                </a:lnTo>
                <a:lnTo>
                  <a:pt x="13965" y="6457639"/>
                </a:lnTo>
                <a:lnTo>
                  <a:pt x="3576" y="6411115"/>
                </a:lnTo>
                <a:lnTo>
                  <a:pt x="0" y="6362369"/>
                </a:lnTo>
                <a:lnTo>
                  <a:pt x="0" y="329946"/>
                </a:lnTo>
                <a:close/>
              </a:path>
            </a:pathLst>
          </a:custGeom>
          <a:ln w="12700">
            <a:solidFill>
              <a:srgbClr val="000000"/>
            </a:solidFill>
          </a:ln>
        </p:spPr>
        <p:txBody>
          <a:bodyPr wrap="square" lIns="0" tIns="0" rIns="0" bIns="0" rtlCol="0"/>
          <a:lstStyle/>
          <a:p>
            <a:endParaRPr>
              <a:solidFill>
                <a:prstClr val="black"/>
              </a:solidFill>
            </a:endParaRPr>
          </a:p>
        </p:txBody>
      </p:sp>
      <p:sp>
        <p:nvSpPr>
          <p:cNvPr id="20" name="bk object 20"/>
          <p:cNvSpPr/>
          <p:nvPr/>
        </p:nvSpPr>
        <p:spPr>
          <a:xfrm>
            <a:off x="62931" y="1396688"/>
            <a:ext cx="9022080" cy="120650"/>
          </a:xfrm>
          <a:custGeom>
            <a:avLst/>
            <a:gdLst/>
            <a:ahLst/>
            <a:cxnLst/>
            <a:rect l="l" t="t" r="r" b="b"/>
            <a:pathLst>
              <a:path w="9022080" h="120650">
                <a:moveTo>
                  <a:pt x="0" y="120580"/>
                </a:moveTo>
                <a:lnTo>
                  <a:pt x="9021572" y="120580"/>
                </a:lnTo>
                <a:lnTo>
                  <a:pt x="9021572" y="0"/>
                </a:lnTo>
                <a:lnTo>
                  <a:pt x="0" y="0"/>
                </a:lnTo>
                <a:lnTo>
                  <a:pt x="0" y="120580"/>
                </a:lnTo>
                <a:close/>
              </a:path>
            </a:pathLst>
          </a:custGeom>
          <a:solidFill>
            <a:srgbClr val="E6B0AB"/>
          </a:solidFill>
        </p:spPr>
        <p:txBody>
          <a:bodyPr wrap="square" lIns="0" tIns="0" rIns="0" bIns="0" rtlCol="0"/>
          <a:lstStyle/>
          <a:p>
            <a:endParaRPr>
              <a:solidFill>
                <a:prstClr val="black"/>
              </a:solidFill>
            </a:endParaRPr>
          </a:p>
        </p:txBody>
      </p:sp>
      <p:sp>
        <p:nvSpPr>
          <p:cNvPr id="21" name="bk object 21"/>
          <p:cNvSpPr/>
          <p:nvPr/>
        </p:nvSpPr>
        <p:spPr>
          <a:xfrm>
            <a:off x="62931" y="2976711"/>
            <a:ext cx="9022080" cy="111125"/>
          </a:xfrm>
          <a:custGeom>
            <a:avLst/>
            <a:gdLst/>
            <a:ahLst/>
            <a:cxnLst/>
            <a:rect l="l" t="t" r="r" b="b"/>
            <a:pathLst>
              <a:path w="9022080" h="111125">
                <a:moveTo>
                  <a:pt x="0" y="110531"/>
                </a:moveTo>
                <a:lnTo>
                  <a:pt x="9021572" y="110531"/>
                </a:lnTo>
                <a:lnTo>
                  <a:pt x="9021572" y="0"/>
                </a:lnTo>
                <a:lnTo>
                  <a:pt x="0" y="0"/>
                </a:lnTo>
                <a:lnTo>
                  <a:pt x="0" y="110531"/>
                </a:lnTo>
                <a:close/>
              </a:path>
            </a:pathLst>
          </a:custGeom>
          <a:solidFill>
            <a:srgbClr val="918485"/>
          </a:solidFill>
        </p:spPr>
        <p:txBody>
          <a:bodyPr wrap="square" lIns="0" tIns="0" rIns="0" bIns="0" rtlCol="0"/>
          <a:lstStyle/>
          <a:p>
            <a:endParaRPr>
              <a:solidFill>
                <a:prstClr val="black"/>
              </a:solidFill>
            </a:endParaRPr>
          </a:p>
        </p:txBody>
      </p:sp>
      <p:sp>
        <p:nvSpPr>
          <p:cNvPr id="2" name="Holder 2"/>
          <p:cNvSpPr>
            <a:spLocks noGrp="1"/>
          </p:cNvSpPr>
          <p:nvPr>
            <p:ph type="title"/>
          </p:nvPr>
        </p:nvSpPr>
        <p:spPr/>
        <p:txBody>
          <a:bodyPr lIns="0" tIns="0" rIns="0" bIns="0"/>
          <a:lstStyle>
            <a:lvl1pPr>
              <a:defRPr sz="4000" b="0" i="0">
                <a:solidFill>
                  <a:srgbClr val="696363"/>
                </a:solidFill>
                <a:latin typeface="Franklin Gothic Book"/>
                <a:cs typeface="Franklin Gothic Boo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8/17/2026</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6799488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8/17/2026</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6657505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F1E0B796-C4D1-4821-ADFD-6B0BD6A1B110}" type="datetime1">
              <a:rPr lang="en-US" smtClean="0">
                <a:solidFill>
                  <a:prstClr val="black">
                    <a:tint val="75000"/>
                  </a:prstClr>
                </a:solidFill>
              </a:rPr>
              <a:pPr/>
              <a:t>8/17/2026</a:t>
            </a:fld>
            <a:endParaRPr lang="en-US">
              <a:solidFill>
                <a:prstClr val="black">
                  <a:tint val="75000"/>
                </a:prstClr>
              </a:solidFill>
            </a:endParaRPr>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D184D550-BED7-4391-9931-334732E3950D}"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26097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4007" y="69722"/>
            <a:ext cx="9013825" cy="6693534"/>
          </a:xfrm>
          <a:custGeom>
            <a:avLst/>
            <a:gdLst/>
            <a:ahLst/>
            <a:cxnLst/>
            <a:rect l="l" t="t" r="r" b="b"/>
            <a:pathLst>
              <a:path w="9013825"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3498" y="0"/>
                </a:lnTo>
                <a:lnTo>
                  <a:pt x="8732228" y="3576"/>
                </a:lnTo>
                <a:lnTo>
                  <a:pt x="8778740" y="13967"/>
                </a:lnTo>
                <a:lnTo>
                  <a:pt x="8822525" y="30662"/>
                </a:lnTo>
                <a:lnTo>
                  <a:pt x="8863071" y="53151"/>
                </a:lnTo>
                <a:lnTo>
                  <a:pt x="8899868" y="80923"/>
                </a:lnTo>
                <a:lnTo>
                  <a:pt x="8932405" y="113468"/>
                </a:lnTo>
                <a:lnTo>
                  <a:pt x="8960172" y="150277"/>
                </a:lnTo>
                <a:lnTo>
                  <a:pt x="8982656" y="190840"/>
                </a:lnTo>
                <a:lnTo>
                  <a:pt x="8999349" y="234645"/>
                </a:lnTo>
                <a:lnTo>
                  <a:pt x="9009740" y="281184"/>
                </a:lnTo>
                <a:lnTo>
                  <a:pt x="9013317" y="329946"/>
                </a:lnTo>
                <a:lnTo>
                  <a:pt x="9013317" y="6363525"/>
                </a:lnTo>
                <a:lnTo>
                  <a:pt x="9009740" y="6412277"/>
                </a:lnTo>
                <a:lnTo>
                  <a:pt x="8999349" y="6458809"/>
                </a:lnTo>
                <a:lnTo>
                  <a:pt x="8982656" y="6502608"/>
                </a:lnTo>
                <a:lnTo>
                  <a:pt x="8960172" y="6543167"/>
                </a:lnTo>
                <a:lnTo>
                  <a:pt x="8932405" y="6579973"/>
                </a:lnTo>
                <a:lnTo>
                  <a:pt x="8899868" y="6612516"/>
                </a:lnTo>
                <a:lnTo>
                  <a:pt x="8863071" y="6640287"/>
                </a:lnTo>
                <a:lnTo>
                  <a:pt x="8822525" y="6662775"/>
                </a:lnTo>
                <a:lnTo>
                  <a:pt x="8778740" y="6679470"/>
                </a:lnTo>
                <a:lnTo>
                  <a:pt x="8732228" y="6689861"/>
                </a:lnTo>
                <a:lnTo>
                  <a:pt x="8683498" y="6693438"/>
                </a:lnTo>
                <a:lnTo>
                  <a:pt x="329920" y="6693439"/>
                </a:lnTo>
                <a:lnTo>
                  <a:pt x="281168" y="6689861"/>
                </a:lnTo>
                <a:lnTo>
                  <a:pt x="234636" y="6679470"/>
                </a:lnTo>
                <a:lnTo>
                  <a:pt x="190835" y="6662775"/>
                </a:lnTo>
                <a:lnTo>
                  <a:pt x="150276" y="6640287"/>
                </a:lnTo>
                <a:lnTo>
                  <a:pt x="113469" y="6612516"/>
                </a:lnTo>
                <a:lnTo>
                  <a:pt x="80925" y="6579973"/>
                </a:lnTo>
                <a:lnTo>
                  <a:pt x="53153" y="6543167"/>
                </a:lnTo>
                <a:lnTo>
                  <a:pt x="30664" y="6502608"/>
                </a:lnTo>
                <a:lnTo>
                  <a:pt x="13968" y="6458809"/>
                </a:lnTo>
                <a:lnTo>
                  <a:pt x="3577" y="6412277"/>
                </a:lnTo>
                <a:lnTo>
                  <a:pt x="0" y="6363525"/>
                </a:lnTo>
                <a:lnTo>
                  <a:pt x="0" y="329946"/>
                </a:lnTo>
                <a:close/>
              </a:path>
            </a:pathLst>
          </a:custGeom>
          <a:ln w="12700">
            <a:solidFill>
              <a:srgbClr val="000000"/>
            </a:solidFill>
          </a:ln>
        </p:spPr>
        <p:txBody>
          <a:bodyPr wrap="square" lIns="0" tIns="0" rIns="0" bIns="0" rtlCol="0"/>
          <a:lstStyle/>
          <a:p>
            <a:endParaRPr/>
          </a:p>
        </p:txBody>
      </p:sp>
      <p:sp>
        <p:nvSpPr>
          <p:cNvPr id="2" name="Holder 2"/>
          <p:cNvSpPr>
            <a:spLocks noGrp="1"/>
          </p:cNvSpPr>
          <p:nvPr>
            <p:ph type="title"/>
          </p:nvPr>
        </p:nvSpPr>
        <p:spPr>
          <a:xfrm>
            <a:off x="565480" y="79070"/>
            <a:ext cx="8013039" cy="1246505"/>
          </a:xfrm>
          <a:prstGeom prst="rect">
            <a:avLst/>
          </a:prstGeom>
        </p:spPr>
        <p:txBody>
          <a:bodyPr wrap="square" lIns="0" tIns="0" rIns="0" bIns="0">
            <a:spAutoFit/>
          </a:bodyPr>
          <a:lstStyle>
            <a:lvl1pPr>
              <a:defRPr sz="4000" b="0" i="0">
                <a:solidFill>
                  <a:srgbClr val="696363"/>
                </a:solidFill>
                <a:latin typeface="Franklin Gothic Book"/>
                <a:cs typeface="Franklin Gothic Book"/>
              </a:defRPr>
            </a:lvl1pPr>
          </a:lstStyle>
          <a:p>
            <a:endParaRPr/>
          </a:p>
        </p:txBody>
      </p:sp>
      <p:sp>
        <p:nvSpPr>
          <p:cNvPr id="3" name="Holder 3"/>
          <p:cNvSpPr>
            <a:spLocks noGrp="1"/>
          </p:cNvSpPr>
          <p:nvPr>
            <p:ph type="body" idx="1"/>
          </p:nvPr>
        </p:nvSpPr>
        <p:spPr>
          <a:xfrm>
            <a:off x="654380" y="1375123"/>
            <a:ext cx="7835239" cy="4641850"/>
          </a:xfrm>
          <a:prstGeom prst="rect">
            <a:avLst/>
          </a:prstGeom>
        </p:spPr>
        <p:txBody>
          <a:bodyPr wrap="square" lIns="0" tIns="0" rIns="0" bIns="0">
            <a:spAutoFit/>
          </a:bodyPr>
          <a:lstStyle>
            <a:lvl1pPr>
              <a:defRPr sz="2600" b="0" i="0">
                <a:solidFill>
                  <a:srgbClr val="990000"/>
                </a:solidFill>
                <a:latin typeface="Perpetua"/>
                <a:cs typeface="Perpetua"/>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pic>
        <p:nvPicPr>
          <p:cNvPr id="7" name="Picture 6" descr="Academics rules &amp; regulation - Manipal University Jaipur">
            <a:extLst>
              <a:ext uri="{FF2B5EF4-FFF2-40B4-BE49-F238E27FC236}">
                <a16:creationId xmlns:a16="http://schemas.microsoft.com/office/drawing/2014/main" id="{B46BB106-41FC-CE13-568C-1C77A030516A}"/>
              </a:ext>
            </a:extLst>
          </p:cNvPr>
          <p:cNvPicPr>
            <a:picLocks noChangeAspect="1"/>
          </p:cNvPicPr>
          <p:nvPr userDrawn="1"/>
        </p:nvPicPr>
        <p:blipFill>
          <a:blip r:embed="rId7"/>
          <a:stretch>
            <a:fillRect/>
          </a:stretch>
        </p:blipFill>
        <p:spPr>
          <a:xfrm>
            <a:off x="5473038" y="410840"/>
            <a:ext cx="3016581" cy="603316"/>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2000" i="0" baseline="0">
                <a:solidFill>
                  <a:schemeClr val="bg2"/>
                </a:solidFill>
                <a:latin typeface="Arial" charset="0"/>
              </a:defRPr>
            </a:lvl1pPr>
          </a:lstStyle>
          <a:p>
            <a:pPr fontAlgn="base">
              <a:spcBef>
                <a:spcPct val="0"/>
              </a:spcBef>
              <a:spcAft>
                <a:spcPct val="0"/>
              </a:spcAft>
            </a:pPr>
            <a:r>
              <a:rPr lang="en-US" b="1">
                <a:solidFill>
                  <a:srgbClr val="1C1C1C"/>
                </a:solidFill>
              </a:rPr>
              <a:t>12.</a:t>
            </a:r>
            <a:fld id="{DD525E0F-BDD6-4966-B5F8-64E2A3A2BB8C}" type="slidenum">
              <a:rPr lang="en-US" b="1" smtClean="0">
                <a:solidFill>
                  <a:srgbClr val="1C1C1C"/>
                </a:solidFill>
              </a:rPr>
              <a:pPr fontAlgn="base">
                <a:spcBef>
                  <a:spcPct val="0"/>
                </a:spcBef>
                <a:spcAft>
                  <a:spcPct val="0"/>
                </a:spcAft>
              </a:pPr>
              <a:t>‹#›</a:t>
            </a:fld>
            <a:endParaRPr lang="en-US" b="1">
              <a:solidFill>
                <a:srgbClr val="1C1C1C"/>
              </a:solidFill>
            </a:endParaRPr>
          </a:p>
        </p:txBody>
      </p:sp>
    </p:spTree>
    <p:extLst>
      <p:ext uri="{BB962C8B-B14F-4D97-AF65-F5344CB8AC3E}">
        <p14:creationId xmlns:p14="http://schemas.microsoft.com/office/powerpoint/2010/main" val="1088424417"/>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hdr="0" ftr="0" dt="0"/>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itchFamily="34" charset="0"/>
        </a:defRPr>
      </a:lvl2pPr>
      <a:lvl3pPr algn="l" rtl="0" fontAlgn="base">
        <a:spcBef>
          <a:spcPct val="0"/>
        </a:spcBef>
        <a:spcAft>
          <a:spcPct val="0"/>
        </a:spcAft>
        <a:defRPr sz="4400">
          <a:solidFill>
            <a:schemeClr val="tx2"/>
          </a:solidFill>
          <a:latin typeface="Tahoma" pitchFamily="34" charset="0"/>
        </a:defRPr>
      </a:lvl3pPr>
      <a:lvl4pPr algn="l" rtl="0" fontAlgn="base">
        <a:spcBef>
          <a:spcPct val="0"/>
        </a:spcBef>
        <a:spcAft>
          <a:spcPct val="0"/>
        </a:spcAft>
        <a:defRPr sz="4400">
          <a:solidFill>
            <a:schemeClr val="tx2"/>
          </a:solidFill>
          <a:latin typeface="Tahoma" pitchFamily="34" charset="0"/>
        </a:defRPr>
      </a:lvl4pPr>
      <a:lvl5pPr algn="l" rtl="0" fontAlgn="base">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4007" y="69722"/>
            <a:ext cx="9013825" cy="6693534"/>
          </a:xfrm>
          <a:custGeom>
            <a:avLst/>
            <a:gdLst/>
            <a:ahLst/>
            <a:cxnLst/>
            <a:rect l="l" t="t" r="r" b="b"/>
            <a:pathLst>
              <a:path w="9013825"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3498" y="0"/>
                </a:lnTo>
                <a:lnTo>
                  <a:pt x="8732228" y="3576"/>
                </a:lnTo>
                <a:lnTo>
                  <a:pt x="8778740" y="13967"/>
                </a:lnTo>
                <a:lnTo>
                  <a:pt x="8822525" y="30662"/>
                </a:lnTo>
                <a:lnTo>
                  <a:pt x="8863071" y="53151"/>
                </a:lnTo>
                <a:lnTo>
                  <a:pt x="8899868" y="80923"/>
                </a:lnTo>
                <a:lnTo>
                  <a:pt x="8932405" y="113468"/>
                </a:lnTo>
                <a:lnTo>
                  <a:pt x="8960172" y="150277"/>
                </a:lnTo>
                <a:lnTo>
                  <a:pt x="8982656" y="190840"/>
                </a:lnTo>
                <a:lnTo>
                  <a:pt x="8999349" y="234645"/>
                </a:lnTo>
                <a:lnTo>
                  <a:pt x="9009740" y="281184"/>
                </a:lnTo>
                <a:lnTo>
                  <a:pt x="9013317" y="329946"/>
                </a:lnTo>
                <a:lnTo>
                  <a:pt x="9013317" y="6363525"/>
                </a:lnTo>
                <a:lnTo>
                  <a:pt x="9009740" y="6412277"/>
                </a:lnTo>
                <a:lnTo>
                  <a:pt x="8999349" y="6458809"/>
                </a:lnTo>
                <a:lnTo>
                  <a:pt x="8982656" y="6502608"/>
                </a:lnTo>
                <a:lnTo>
                  <a:pt x="8960172" y="6543167"/>
                </a:lnTo>
                <a:lnTo>
                  <a:pt x="8932405" y="6579973"/>
                </a:lnTo>
                <a:lnTo>
                  <a:pt x="8899868" y="6612516"/>
                </a:lnTo>
                <a:lnTo>
                  <a:pt x="8863071" y="6640287"/>
                </a:lnTo>
                <a:lnTo>
                  <a:pt x="8822525" y="6662775"/>
                </a:lnTo>
                <a:lnTo>
                  <a:pt x="8778740" y="6679470"/>
                </a:lnTo>
                <a:lnTo>
                  <a:pt x="8732228" y="6689861"/>
                </a:lnTo>
                <a:lnTo>
                  <a:pt x="8683498" y="6693438"/>
                </a:lnTo>
                <a:lnTo>
                  <a:pt x="329920" y="6693439"/>
                </a:lnTo>
                <a:lnTo>
                  <a:pt x="281168" y="6689861"/>
                </a:lnTo>
                <a:lnTo>
                  <a:pt x="234636" y="6679470"/>
                </a:lnTo>
                <a:lnTo>
                  <a:pt x="190835" y="6662775"/>
                </a:lnTo>
                <a:lnTo>
                  <a:pt x="150276" y="6640287"/>
                </a:lnTo>
                <a:lnTo>
                  <a:pt x="113469" y="6612516"/>
                </a:lnTo>
                <a:lnTo>
                  <a:pt x="80925" y="6579973"/>
                </a:lnTo>
                <a:lnTo>
                  <a:pt x="53153" y="6543167"/>
                </a:lnTo>
                <a:lnTo>
                  <a:pt x="30664" y="6502608"/>
                </a:lnTo>
                <a:lnTo>
                  <a:pt x="13968" y="6458809"/>
                </a:lnTo>
                <a:lnTo>
                  <a:pt x="3577" y="6412277"/>
                </a:lnTo>
                <a:lnTo>
                  <a:pt x="0" y="6363525"/>
                </a:lnTo>
                <a:lnTo>
                  <a:pt x="0" y="329946"/>
                </a:lnTo>
                <a:close/>
              </a:path>
            </a:pathLst>
          </a:custGeom>
          <a:ln w="12700">
            <a:solidFill>
              <a:srgbClr val="000000"/>
            </a:solidFill>
          </a:ln>
        </p:spPr>
        <p:txBody>
          <a:bodyPr wrap="square" lIns="0" tIns="0" rIns="0" bIns="0" rtlCol="0"/>
          <a:lstStyle/>
          <a:p>
            <a:endParaRPr>
              <a:solidFill>
                <a:prstClr val="black"/>
              </a:solidFill>
            </a:endParaRPr>
          </a:p>
        </p:txBody>
      </p:sp>
      <p:sp>
        <p:nvSpPr>
          <p:cNvPr id="2" name="Holder 2"/>
          <p:cNvSpPr>
            <a:spLocks noGrp="1"/>
          </p:cNvSpPr>
          <p:nvPr>
            <p:ph type="title"/>
          </p:nvPr>
        </p:nvSpPr>
        <p:spPr>
          <a:xfrm>
            <a:off x="565480" y="79070"/>
            <a:ext cx="8013039" cy="1246505"/>
          </a:xfrm>
          <a:prstGeom prst="rect">
            <a:avLst/>
          </a:prstGeom>
        </p:spPr>
        <p:txBody>
          <a:bodyPr wrap="square" lIns="0" tIns="0" rIns="0" bIns="0">
            <a:spAutoFit/>
          </a:bodyPr>
          <a:lstStyle>
            <a:lvl1pPr>
              <a:defRPr sz="4000" b="0" i="0">
                <a:solidFill>
                  <a:srgbClr val="696363"/>
                </a:solidFill>
                <a:latin typeface="Franklin Gothic Book"/>
                <a:cs typeface="Franklin Gothic Book"/>
              </a:defRPr>
            </a:lvl1pPr>
          </a:lstStyle>
          <a:p>
            <a:endParaRPr/>
          </a:p>
        </p:txBody>
      </p:sp>
      <p:sp>
        <p:nvSpPr>
          <p:cNvPr id="3" name="Holder 3"/>
          <p:cNvSpPr>
            <a:spLocks noGrp="1"/>
          </p:cNvSpPr>
          <p:nvPr>
            <p:ph type="body" idx="1"/>
          </p:nvPr>
        </p:nvSpPr>
        <p:spPr>
          <a:xfrm>
            <a:off x="654380" y="1375123"/>
            <a:ext cx="7835239" cy="4641850"/>
          </a:xfrm>
          <a:prstGeom prst="rect">
            <a:avLst/>
          </a:prstGeom>
        </p:spPr>
        <p:txBody>
          <a:bodyPr wrap="square" lIns="0" tIns="0" rIns="0" bIns="0">
            <a:spAutoFit/>
          </a:bodyPr>
          <a:lstStyle>
            <a:lvl1pPr>
              <a:defRPr sz="2600" b="0" i="0">
                <a:solidFill>
                  <a:srgbClr val="990000"/>
                </a:solidFill>
                <a:latin typeface="Perpetua"/>
                <a:cs typeface="Perpetua"/>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8/17/2026</a:t>
            </a:fld>
            <a:endParaRPr lang="en-US">
              <a:solidFill>
                <a:prstClr val="black">
                  <a:tint val="75000"/>
                </a:prstClr>
              </a:solidFill>
            </a:endParaRPr>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710256579"/>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 y="1524000"/>
            <a:ext cx="9022080" cy="623889"/>
          </a:xfrm>
          <a:prstGeom prst="rect">
            <a:avLst/>
          </a:prstGeom>
          <a:solidFill>
            <a:srgbClr val="D24717"/>
          </a:solidFill>
        </p:spPr>
        <p:txBody>
          <a:bodyPr vert="horz" wrap="square" lIns="0" tIns="8255" rIns="0" bIns="0" rtlCol="0">
            <a:spAutoFit/>
          </a:bodyPr>
          <a:lstStyle/>
          <a:p>
            <a:pPr marL="2696845" marR="1432560" indent="-1256030" algn="l">
              <a:lnSpc>
                <a:spcPct val="100000"/>
              </a:lnSpc>
              <a:spcBef>
                <a:spcPts val="65"/>
              </a:spcBef>
            </a:pPr>
            <a:r>
              <a:rPr lang="en-US" spc="-5" dirty="0">
                <a:solidFill>
                  <a:srgbClr val="FFFFFF"/>
                </a:solidFill>
              </a:rPr>
              <a:t>		  Data Link layer</a:t>
            </a:r>
            <a:endParaRPr spc="-10" dirty="0">
              <a:solidFill>
                <a:srgbClr val="FFFFFF"/>
              </a:solidFill>
            </a:endParaRPr>
          </a:p>
        </p:txBody>
      </p:sp>
      <p:pic>
        <p:nvPicPr>
          <p:cNvPr id="3" name="Picture 2">
            <a:extLst>
              <a:ext uri="{FF2B5EF4-FFF2-40B4-BE49-F238E27FC236}">
                <a16:creationId xmlns:a16="http://schemas.microsoft.com/office/drawing/2014/main" id="{FA9C919C-E571-B112-DB27-9F4F307BD81D}"/>
              </a:ext>
            </a:extLst>
          </p:cNvPr>
          <p:cNvPicPr>
            <a:picLocks noChangeAspect="1"/>
          </p:cNvPicPr>
          <p:nvPr/>
        </p:nvPicPr>
        <p:blipFill>
          <a:blip r:embed="rId2"/>
          <a:stretch>
            <a:fillRect/>
          </a:stretch>
        </p:blipFill>
        <p:spPr>
          <a:xfrm>
            <a:off x="152400" y="228600"/>
            <a:ext cx="1927647" cy="607782"/>
          </a:xfrm>
          <a:prstGeom prst="rect">
            <a:avLst/>
          </a:prstGeom>
        </p:spPr>
      </p:pic>
      <p:pic>
        <p:nvPicPr>
          <p:cNvPr id="4" name="Picture 3">
            <a:extLst>
              <a:ext uri="{FF2B5EF4-FFF2-40B4-BE49-F238E27FC236}">
                <a16:creationId xmlns:a16="http://schemas.microsoft.com/office/drawing/2014/main" id="{C71412B6-222A-0F77-5357-6EBA325F7C4C}"/>
              </a:ext>
            </a:extLst>
          </p:cNvPr>
          <p:cNvPicPr>
            <a:picLocks noChangeAspect="1"/>
          </p:cNvPicPr>
          <p:nvPr/>
        </p:nvPicPr>
        <p:blipFill>
          <a:blip r:embed="rId3"/>
          <a:stretch>
            <a:fillRect/>
          </a:stretch>
        </p:blipFill>
        <p:spPr>
          <a:xfrm>
            <a:off x="7818903" y="190934"/>
            <a:ext cx="875259" cy="694350"/>
          </a:xfrm>
          <a:prstGeom prst="rect">
            <a:avLst/>
          </a:prstGeom>
        </p:spPr>
      </p:pic>
    </p:spTree>
    <p:extLst>
      <p:ext uri="{BB962C8B-B14F-4D97-AF65-F5344CB8AC3E}">
        <p14:creationId xmlns:p14="http://schemas.microsoft.com/office/powerpoint/2010/main" val="3811299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631C8-EE87-F6F6-07A0-F44B71020FEA}"/>
              </a:ext>
            </a:extLst>
          </p:cNvPr>
          <p:cNvSpPr>
            <a:spLocks noGrp="1"/>
          </p:cNvSpPr>
          <p:nvPr>
            <p:ph type="title"/>
          </p:nvPr>
        </p:nvSpPr>
        <p:spPr>
          <a:xfrm>
            <a:off x="654380" y="533250"/>
            <a:ext cx="801303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0696A841-C40D-3DAF-B0BA-B43519EAA2A0}"/>
              </a:ext>
            </a:extLst>
          </p:cNvPr>
          <p:cNvSpPr>
            <a:spLocks noGrp="1"/>
          </p:cNvSpPr>
          <p:nvPr>
            <p:ph type="body" idx="1"/>
          </p:nvPr>
        </p:nvSpPr>
        <p:spPr>
          <a:xfrm>
            <a:off x="654380" y="1375123"/>
            <a:ext cx="8261020" cy="4949627"/>
          </a:xfrm>
        </p:spPr>
        <p:txBody>
          <a:bodyPr/>
          <a:lstStyle/>
          <a:p>
            <a:r>
              <a:rPr lang="en-US" dirty="0">
                <a:solidFill>
                  <a:schemeClr val="tx1"/>
                </a:solidFill>
              </a:rPr>
              <a:t>Understanding the Bridge Between Physical and Network Layers</a:t>
            </a:r>
            <a:endParaRPr lang="en-IN" dirty="0">
              <a:solidFill>
                <a:schemeClr val="tx1"/>
              </a:solidFill>
            </a:endParaRPr>
          </a:p>
          <a:p>
            <a:endParaRPr lang="en-US" dirty="0">
              <a:solidFill>
                <a:schemeClr val="tx1"/>
              </a:solidFill>
            </a:endParaRPr>
          </a:p>
          <a:p>
            <a:r>
              <a:rPr lang="en-IN" dirty="0">
                <a:solidFill>
                  <a:schemeClr val="tx1"/>
                </a:solidFill>
              </a:rPr>
              <a:t>"Acts as the neighbourhood traffic cop of network communication“</a:t>
            </a:r>
          </a:p>
          <a:p>
            <a:endParaRPr lang="en-US" dirty="0">
              <a:solidFill>
                <a:schemeClr val="tx1"/>
              </a:solidFill>
            </a:endParaRPr>
          </a:p>
          <a:p>
            <a:endParaRPr lang="en-US" dirty="0">
              <a:solidFill>
                <a:schemeClr val="tx1"/>
              </a:solidFill>
            </a:endParaRPr>
          </a:p>
          <a:p>
            <a:r>
              <a:rPr lang="en-US" dirty="0">
                <a:solidFill>
                  <a:schemeClr val="tx1"/>
                </a:solidFill>
              </a:rPr>
              <a:t> </a:t>
            </a:r>
            <a:r>
              <a:rPr lang="en-US" b="1" dirty="0">
                <a:solidFill>
                  <a:schemeClr val="tx1"/>
                </a:solidFill>
              </a:rPr>
              <a:t>Position</a:t>
            </a:r>
            <a:r>
              <a:rPr lang="en-US" dirty="0">
                <a:solidFill>
                  <a:schemeClr val="tx1"/>
                </a:solidFill>
              </a:rPr>
              <a:t>: Between Physical Layer (Layer 1) and Network Layer (Layer 3)</a:t>
            </a:r>
            <a:br>
              <a:rPr lang="en-US" dirty="0">
                <a:solidFill>
                  <a:schemeClr val="tx1"/>
                </a:solidFill>
              </a:rPr>
            </a:br>
            <a:r>
              <a:rPr lang="en-US" dirty="0">
                <a:solidFill>
                  <a:schemeClr val="tx1"/>
                </a:solidFill>
              </a:rPr>
              <a:t> </a:t>
            </a:r>
            <a:r>
              <a:rPr lang="en-US" b="1" dirty="0">
                <a:solidFill>
                  <a:schemeClr val="tx1"/>
                </a:solidFill>
              </a:rPr>
              <a:t>Primary Purpose</a:t>
            </a:r>
            <a:r>
              <a:rPr lang="en-US" dirty="0">
                <a:solidFill>
                  <a:schemeClr val="tx1"/>
                </a:solidFill>
              </a:rPr>
              <a:t>: Ensure reliable data transfer between directly connected nodes</a:t>
            </a:r>
            <a:br>
              <a:rPr lang="en-US" dirty="0">
                <a:solidFill>
                  <a:schemeClr val="tx1"/>
                </a:solidFill>
              </a:rPr>
            </a:br>
            <a:r>
              <a:rPr lang="en-US" dirty="0">
                <a:solidFill>
                  <a:schemeClr val="tx1"/>
                </a:solidFill>
              </a:rPr>
              <a:t> </a:t>
            </a:r>
            <a:r>
              <a:rPr lang="en-US" b="1" dirty="0">
                <a:solidFill>
                  <a:schemeClr val="tx1"/>
                </a:solidFill>
              </a:rPr>
              <a:t>Scope</a:t>
            </a:r>
            <a:r>
              <a:rPr lang="en-US" dirty="0">
                <a:solidFill>
                  <a:schemeClr val="tx1"/>
                </a:solidFill>
              </a:rPr>
              <a:t>: Local delivery within the same network segment</a:t>
            </a:r>
            <a:br>
              <a:rPr lang="en-US" dirty="0">
                <a:solidFill>
                  <a:schemeClr val="tx1"/>
                </a:solidFill>
              </a:rPr>
            </a:br>
            <a:r>
              <a:rPr lang="en-US" dirty="0">
                <a:solidFill>
                  <a:schemeClr val="tx1"/>
                </a:solidFill>
              </a:rPr>
              <a:t> </a:t>
            </a:r>
            <a:r>
              <a:rPr lang="en-US" b="1" dirty="0">
                <a:solidFill>
                  <a:schemeClr val="tx1"/>
                </a:solidFill>
              </a:rPr>
              <a:t>Key Responsibility</a:t>
            </a:r>
            <a:r>
              <a:rPr lang="en-US" dirty="0">
                <a:solidFill>
                  <a:schemeClr val="tx1"/>
                </a:solidFill>
              </a:rPr>
              <a:t>: Node-to-node delivery with error detection and flow control</a:t>
            </a:r>
            <a:endParaRPr lang="en-IN" dirty="0">
              <a:solidFill>
                <a:schemeClr val="tx1"/>
              </a:solidFill>
            </a:endParaRPr>
          </a:p>
        </p:txBody>
      </p:sp>
      <p:pic>
        <p:nvPicPr>
          <p:cNvPr id="7" name="Picture 6">
            <a:extLst>
              <a:ext uri="{FF2B5EF4-FFF2-40B4-BE49-F238E27FC236}">
                <a16:creationId xmlns:a16="http://schemas.microsoft.com/office/drawing/2014/main" id="{456180FA-6852-468E-EFEA-23DAD5F4862E}"/>
              </a:ext>
            </a:extLst>
          </p:cNvPr>
          <p:cNvPicPr>
            <a:picLocks noChangeAspect="1"/>
          </p:cNvPicPr>
          <p:nvPr/>
        </p:nvPicPr>
        <p:blipFill>
          <a:blip r:embed="rId2"/>
          <a:stretch>
            <a:fillRect/>
          </a:stretch>
        </p:blipFill>
        <p:spPr>
          <a:xfrm>
            <a:off x="8153400" y="695993"/>
            <a:ext cx="875259" cy="694350"/>
          </a:xfrm>
          <a:prstGeom prst="rect">
            <a:avLst/>
          </a:prstGeom>
        </p:spPr>
      </p:pic>
    </p:spTree>
    <p:extLst>
      <p:ext uri="{BB962C8B-B14F-4D97-AF65-F5344CB8AC3E}">
        <p14:creationId xmlns:p14="http://schemas.microsoft.com/office/powerpoint/2010/main" val="1268362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9619A-E349-7473-6D4D-E99B30B19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205CD-B788-E46F-50B6-A7433F6335A2}"/>
              </a:ext>
            </a:extLst>
          </p:cNvPr>
          <p:cNvSpPr>
            <a:spLocks noGrp="1"/>
          </p:cNvSpPr>
          <p:nvPr>
            <p:ph type="title"/>
          </p:nvPr>
        </p:nvSpPr>
        <p:spPr>
          <a:xfrm>
            <a:off x="654380" y="533250"/>
            <a:ext cx="801303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4C28A193-8A4C-B3BC-BD13-414E96E21A34}"/>
              </a:ext>
            </a:extLst>
          </p:cNvPr>
          <p:cNvSpPr>
            <a:spLocks noGrp="1"/>
          </p:cNvSpPr>
          <p:nvPr>
            <p:ph type="body" idx="1"/>
          </p:nvPr>
        </p:nvSpPr>
        <p:spPr>
          <a:xfrm>
            <a:off x="654380" y="1375123"/>
            <a:ext cx="7835239" cy="4801314"/>
          </a:xfrm>
        </p:spPr>
        <p:txBody>
          <a:bodyPr/>
          <a:lstStyle/>
          <a:p>
            <a:endParaRPr lang="en-US" b="1" dirty="0">
              <a:solidFill>
                <a:schemeClr val="tx1"/>
              </a:solidFill>
            </a:endParaRPr>
          </a:p>
          <a:p>
            <a:r>
              <a:rPr lang="en-US" b="1" dirty="0">
                <a:solidFill>
                  <a:schemeClr val="tx1"/>
                </a:solidFill>
              </a:rPr>
              <a:t>Core Responsibilities of Data Link Layer</a:t>
            </a:r>
          </a:p>
          <a:p>
            <a:endParaRPr lang="en-IN" dirty="0">
              <a:solidFill>
                <a:schemeClr val="tx1"/>
              </a:solidFill>
            </a:endParaRPr>
          </a:p>
          <a:p>
            <a:pPr marL="457200" lvl="0" indent="-457200">
              <a:buFont typeface="Arial" panose="020B0604020202020204" pitchFamily="34" charset="0"/>
              <a:buChar char="•"/>
            </a:pPr>
            <a:r>
              <a:rPr lang="en-US" b="1" dirty="0">
                <a:solidFill>
                  <a:schemeClr val="tx1"/>
                </a:solidFill>
              </a:rPr>
              <a:t>Framing</a:t>
            </a:r>
            <a:r>
              <a:rPr lang="en-US" dirty="0">
                <a:solidFill>
                  <a:schemeClr val="tx1"/>
                </a:solidFill>
              </a:rPr>
              <a:t> - Organizing bits into manageable frames</a:t>
            </a:r>
            <a:endParaRPr lang="en-IN" dirty="0">
              <a:solidFill>
                <a:schemeClr val="tx1"/>
              </a:solidFill>
            </a:endParaRPr>
          </a:p>
          <a:p>
            <a:pPr marL="457200" lvl="0" indent="-457200">
              <a:buFont typeface="Arial" panose="020B0604020202020204" pitchFamily="34" charset="0"/>
              <a:buChar char="•"/>
            </a:pPr>
            <a:r>
              <a:rPr lang="en-US" b="1" dirty="0">
                <a:solidFill>
                  <a:schemeClr val="tx1"/>
                </a:solidFill>
              </a:rPr>
              <a:t>Addressing</a:t>
            </a:r>
            <a:r>
              <a:rPr lang="en-US" dirty="0">
                <a:solidFill>
                  <a:schemeClr val="tx1"/>
                </a:solidFill>
              </a:rPr>
              <a:t> - Physical addressing using MAC addresses</a:t>
            </a:r>
            <a:endParaRPr lang="en-IN" dirty="0">
              <a:solidFill>
                <a:schemeClr val="tx1"/>
              </a:solidFill>
            </a:endParaRPr>
          </a:p>
          <a:p>
            <a:pPr marL="457200" lvl="0" indent="-457200">
              <a:buFont typeface="Arial" panose="020B0604020202020204" pitchFamily="34" charset="0"/>
              <a:buChar char="•"/>
            </a:pPr>
            <a:r>
              <a:rPr lang="en-US" b="1" dirty="0">
                <a:solidFill>
                  <a:schemeClr val="tx1"/>
                </a:solidFill>
              </a:rPr>
              <a:t>Error Detection &amp; Correction</a:t>
            </a:r>
            <a:r>
              <a:rPr lang="en-US" dirty="0">
                <a:solidFill>
                  <a:schemeClr val="tx1"/>
                </a:solidFill>
              </a:rPr>
              <a:t> - Ensuring data integrity</a:t>
            </a:r>
            <a:endParaRPr lang="en-IN" dirty="0">
              <a:solidFill>
                <a:schemeClr val="tx1"/>
              </a:solidFill>
            </a:endParaRPr>
          </a:p>
          <a:p>
            <a:pPr marL="457200" lvl="0" indent="-457200">
              <a:buFont typeface="Arial" panose="020B0604020202020204" pitchFamily="34" charset="0"/>
              <a:buChar char="•"/>
            </a:pPr>
            <a:r>
              <a:rPr lang="en-US" b="1" dirty="0">
                <a:solidFill>
                  <a:schemeClr val="tx1"/>
                </a:solidFill>
              </a:rPr>
              <a:t>Flow Control</a:t>
            </a:r>
            <a:r>
              <a:rPr lang="en-US" dirty="0">
                <a:solidFill>
                  <a:schemeClr val="tx1"/>
                </a:solidFill>
              </a:rPr>
              <a:t> - Managing data transmission rate</a:t>
            </a:r>
            <a:endParaRPr lang="en-IN" dirty="0">
              <a:solidFill>
                <a:schemeClr val="tx1"/>
              </a:solidFill>
            </a:endParaRPr>
          </a:p>
          <a:p>
            <a:pPr marL="457200" lvl="0" indent="-457200">
              <a:buFont typeface="Arial" panose="020B0604020202020204" pitchFamily="34" charset="0"/>
              <a:buChar char="•"/>
            </a:pPr>
            <a:r>
              <a:rPr lang="en-US" b="1" dirty="0">
                <a:solidFill>
                  <a:schemeClr val="tx1"/>
                </a:solidFill>
              </a:rPr>
              <a:t>Access Control</a:t>
            </a:r>
            <a:r>
              <a:rPr lang="en-US" dirty="0">
                <a:solidFill>
                  <a:schemeClr val="tx1"/>
                </a:solidFill>
              </a:rPr>
              <a:t> - Managing shared medium access</a:t>
            </a:r>
            <a:endParaRPr lang="en-IN" dirty="0">
              <a:solidFill>
                <a:schemeClr val="tx1"/>
              </a:solidFill>
            </a:endParaRPr>
          </a:p>
          <a:p>
            <a:pPr marL="457200" lvl="0" indent="-457200">
              <a:buFont typeface="Arial" panose="020B0604020202020204" pitchFamily="34" charset="0"/>
              <a:buChar char="•"/>
            </a:pPr>
            <a:r>
              <a:rPr lang="en-US" b="1" dirty="0">
                <a:solidFill>
                  <a:schemeClr val="tx1"/>
                </a:solidFill>
              </a:rPr>
              <a:t>Synchronization</a:t>
            </a:r>
            <a:r>
              <a:rPr lang="en-US" dirty="0">
                <a:solidFill>
                  <a:schemeClr val="tx1"/>
                </a:solidFill>
              </a:rPr>
              <a:t> - Coordinating sender and receiver</a:t>
            </a:r>
            <a:endParaRPr lang="en-IN" dirty="0">
              <a:solidFill>
                <a:schemeClr val="tx1"/>
              </a:solidFill>
            </a:endParaRPr>
          </a:p>
          <a:p>
            <a:endParaRPr lang="en-US" dirty="0"/>
          </a:p>
          <a:p>
            <a:endParaRPr lang="en-IN" dirty="0"/>
          </a:p>
          <a:p>
            <a:endParaRPr lang="en-IN" dirty="0"/>
          </a:p>
        </p:txBody>
      </p:sp>
    </p:spTree>
    <p:extLst>
      <p:ext uri="{BB962C8B-B14F-4D97-AF65-F5344CB8AC3E}">
        <p14:creationId xmlns:p14="http://schemas.microsoft.com/office/powerpoint/2010/main" val="4201535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6851-695F-C5B0-302D-575F006C4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07CEA-11C8-C0EB-4653-74E33073D56C}"/>
              </a:ext>
            </a:extLst>
          </p:cNvPr>
          <p:cNvSpPr>
            <a:spLocks noGrp="1"/>
          </p:cNvSpPr>
          <p:nvPr>
            <p:ph type="title"/>
          </p:nvPr>
        </p:nvSpPr>
        <p:spPr>
          <a:xfrm>
            <a:off x="531341" y="533400"/>
            <a:ext cx="801303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DEBC656D-0876-2FC8-0BCE-3AA008D56BA6}"/>
              </a:ext>
            </a:extLst>
          </p:cNvPr>
          <p:cNvSpPr>
            <a:spLocks noGrp="1"/>
          </p:cNvSpPr>
          <p:nvPr>
            <p:ph type="body" idx="1"/>
          </p:nvPr>
        </p:nvSpPr>
        <p:spPr>
          <a:xfrm>
            <a:off x="533400" y="1375122"/>
            <a:ext cx="8382000" cy="5201424"/>
          </a:xfrm>
        </p:spPr>
        <p:txBody>
          <a:bodyPr/>
          <a:lstStyle/>
          <a:p>
            <a:r>
              <a:rPr lang="en-US" b="1" dirty="0">
                <a:solidFill>
                  <a:schemeClr val="tx1"/>
                </a:solidFill>
              </a:rPr>
              <a:t>Data Link Layer Sub-layers</a:t>
            </a:r>
          </a:p>
          <a:p>
            <a:endParaRPr lang="en-IN" dirty="0">
              <a:solidFill>
                <a:schemeClr val="tx1"/>
              </a:solidFill>
            </a:endParaRPr>
          </a:p>
          <a:p>
            <a:r>
              <a:rPr lang="en-US" b="1" dirty="0">
                <a:solidFill>
                  <a:schemeClr val="tx1"/>
                </a:solidFill>
              </a:rPr>
              <a:t>Logical Link Control (LLC)</a:t>
            </a:r>
            <a:endParaRPr lang="en-IN" dirty="0">
              <a:solidFill>
                <a:schemeClr val="tx1"/>
              </a:solidFill>
            </a:endParaRPr>
          </a:p>
          <a:p>
            <a:r>
              <a:rPr lang="en-US" dirty="0">
                <a:solidFill>
                  <a:schemeClr val="tx1"/>
                </a:solidFill>
              </a:rPr>
              <a:t>• Upper sub-layer</a:t>
            </a:r>
            <a:br>
              <a:rPr lang="en-US" dirty="0">
                <a:solidFill>
                  <a:schemeClr val="tx1"/>
                </a:solidFill>
              </a:rPr>
            </a:br>
            <a:r>
              <a:rPr lang="en-US" dirty="0">
                <a:solidFill>
                  <a:schemeClr val="tx1"/>
                </a:solidFill>
              </a:rPr>
              <a:t>• Protocol multiplexing and demultiplexing</a:t>
            </a:r>
            <a:br>
              <a:rPr lang="en-US" dirty="0">
                <a:solidFill>
                  <a:schemeClr val="tx1"/>
                </a:solidFill>
              </a:rPr>
            </a:br>
            <a:r>
              <a:rPr lang="en-US" dirty="0">
                <a:solidFill>
                  <a:schemeClr val="tx1"/>
                </a:solidFill>
              </a:rPr>
              <a:t>• Flow control and error checking</a:t>
            </a:r>
            <a:br>
              <a:rPr lang="en-US" dirty="0">
                <a:solidFill>
                  <a:schemeClr val="tx1"/>
                </a:solidFill>
              </a:rPr>
            </a:br>
            <a:r>
              <a:rPr lang="en-US" dirty="0">
                <a:solidFill>
                  <a:schemeClr val="tx1"/>
                </a:solidFill>
              </a:rPr>
              <a:t>• Interface between MAC and Network Layer</a:t>
            </a:r>
            <a:endParaRPr lang="en-IN" dirty="0">
              <a:solidFill>
                <a:schemeClr val="tx1"/>
              </a:solidFill>
            </a:endParaRPr>
          </a:p>
          <a:p>
            <a:endParaRPr lang="en-US" b="1" dirty="0">
              <a:solidFill>
                <a:schemeClr val="tx1"/>
              </a:solidFill>
            </a:endParaRPr>
          </a:p>
          <a:p>
            <a:r>
              <a:rPr lang="en-US" b="1" dirty="0">
                <a:solidFill>
                  <a:schemeClr val="tx1"/>
                </a:solidFill>
              </a:rPr>
              <a:t>Media Access Control (MAC)</a:t>
            </a:r>
            <a:endParaRPr lang="en-IN" dirty="0">
              <a:solidFill>
                <a:schemeClr val="tx1"/>
              </a:solidFill>
            </a:endParaRPr>
          </a:p>
          <a:p>
            <a:r>
              <a:rPr lang="en-US" dirty="0">
                <a:solidFill>
                  <a:schemeClr val="tx1"/>
                </a:solidFill>
              </a:rPr>
              <a:t>• Lower sub-layer</a:t>
            </a:r>
            <a:br>
              <a:rPr lang="en-US" dirty="0">
                <a:solidFill>
                  <a:schemeClr val="tx1"/>
                </a:solidFill>
              </a:rPr>
            </a:br>
            <a:r>
              <a:rPr lang="en-US" dirty="0">
                <a:solidFill>
                  <a:schemeClr val="tx1"/>
                </a:solidFill>
              </a:rPr>
              <a:t>• Physical addressing (MAC addresses)</a:t>
            </a:r>
            <a:br>
              <a:rPr lang="en-US" dirty="0">
                <a:solidFill>
                  <a:schemeClr val="tx1"/>
                </a:solidFill>
              </a:rPr>
            </a:br>
            <a:r>
              <a:rPr lang="en-US" dirty="0">
                <a:solidFill>
                  <a:schemeClr val="tx1"/>
                </a:solidFill>
              </a:rPr>
              <a:t>• Media access management</a:t>
            </a:r>
            <a:br>
              <a:rPr lang="en-US" dirty="0">
                <a:solidFill>
                  <a:schemeClr val="tx1"/>
                </a:solidFill>
              </a:rPr>
            </a:br>
            <a:r>
              <a:rPr lang="en-US" dirty="0">
                <a:solidFill>
                  <a:schemeClr val="tx1"/>
                </a:solidFill>
              </a:rPr>
              <a:t>• Frame encapsulation and validation</a:t>
            </a:r>
            <a:endParaRPr lang="en-IN" dirty="0">
              <a:solidFill>
                <a:schemeClr val="tx1"/>
              </a:solidFill>
            </a:endParaRPr>
          </a:p>
        </p:txBody>
      </p:sp>
    </p:spTree>
    <p:extLst>
      <p:ext uri="{BB962C8B-B14F-4D97-AF65-F5344CB8AC3E}">
        <p14:creationId xmlns:p14="http://schemas.microsoft.com/office/powerpoint/2010/main" val="2050773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EAA49-A9A1-EA99-9926-3F55FD64E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2439F-C52D-E575-AD4E-496223907B79}"/>
              </a:ext>
            </a:extLst>
          </p:cNvPr>
          <p:cNvSpPr>
            <a:spLocks noGrp="1"/>
          </p:cNvSpPr>
          <p:nvPr>
            <p:ph type="title"/>
          </p:nvPr>
        </p:nvSpPr>
        <p:spPr>
          <a:xfrm>
            <a:off x="504990" y="609600"/>
            <a:ext cx="813401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1555E688-0B91-3FE8-C14B-762F56E4E352}"/>
              </a:ext>
            </a:extLst>
          </p:cNvPr>
          <p:cNvSpPr>
            <a:spLocks noGrp="1"/>
          </p:cNvSpPr>
          <p:nvPr>
            <p:ph type="body" idx="1"/>
          </p:nvPr>
        </p:nvSpPr>
        <p:spPr>
          <a:xfrm>
            <a:off x="533400" y="1375122"/>
            <a:ext cx="8229600" cy="4708981"/>
          </a:xfrm>
        </p:spPr>
        <p:txBody>
          <a:bodyPr/>
          <a:lstStyle/>
          <a:p>
            <a:r>
              <a:rPr lang="en-IN" sz="2800" dirty="0"/>
              <a:t>LLC Sub-layer Functions</a:t>
            </a:r>
          </a:p>
          <a:p>
            <a:endParaRPr lang="en-IN" sz="2800" dirty="0"/>
          </a:p>
          <a:p>
            <a:r>
              <a:rPr lang="en-IN" sz="2800" dirty="0">
                <a:solidFill>
                  <a:schemeClr val="tx1"/>
                </a:solidFill>
              </a:rPr>
              <a:t>• Multiplexing: Multiple protocols over MAC layer</a:t>
            </a:r>
          </a:p>
          <a:p>
            <a:r>
              <a:rPr lang="en-IN" sz="2800" dirty="0">
                <a:solidFill>
                  <a:schemeClr val="tx1"/>
                </a:solidFill>
              </a:rPr>
              <a:t>• Flow Control: Coordinates data transmission rate</a:t>
            </a:r>
          </a:p>
          <a:p>
            <a:r>
              <a:rPr lang="en-IN" sz="2800" dirty="0">
                <a:solidFill>
                  <a:schemeClr val="tx1"/>
                </a:solidFill>
              </a:rPr>
              <a:t>• Error Control: Detects frame loss and requests retransmission</a:t>
            </a:r>
          </a:p>
          <a:p>
            <a:endParaRPr lang="en-IN" sz="2800" dirty="0">
              <a:solidFill>
                <a:schemeClr val="tx1"/>
              </a:solidFill>
            </a:endParaRPr>
          </a:p>
          <a:p>
            <a:pPr marL="457200" indent="-457200">
              <a:buFont typeface="Arial" panose="020B0604020202020204" pitchFamily="34" charset="0"/>
              <a:buChar char="•"/>
            </a:pPr>
            <a:r>
              <a:rPr lang="en-IN" sz="2800" dirty="0">
                <a:solidFill>
                  <a:schemeClr val="tx1"/>
                </a:solidFill>
              </a:rPr>
              <a:t>Acknowledgment Tracking: Monitors successful frame delivery</a:t>
            </a:r>
          </a:p>
          <a:p>
            <a:pPr marL="457200" indent="-457200">
              <a:buFont typeface="Arial" panose="020B0604020202020204" pitchFamily="34" charset="0"/>
              <a:buChar char="•"/>
            </a:pPr>
            <a:r>
              <a:rPr lang="en-IN" sz="2800" dirty="0">
                <a:solidFill>
                  <a:schemeClr val="tx1"/>
                </a:solidFill>
              </a:rPr>
              <a:t>Interface Role: Acts as bridge between upper layers and MAC sub-layer</a:t>
            </a:r>
          </a:p>
          <a:p>
            <a:endParaRPr lang="en-IN" dirty="0"/>
          </a:p>
        </p:txBody>
      </p:sp>
    </p:spTree>
    <p:extLst>
      <p:ext uri="{BB962C8B-B14F-4D97-AF65-F5344CB8AC3E}">
        <p14:creationId xmlns:p14="http://schemas.microsoft.com/office/powerpoint/2010/main" val="3525452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C12F5-51FF-3E89-5FB8-831F67068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278EF-8EB7-F1FC-01AB-86A6BA6CB0EF}"/>
              </a:ext>
            </a:extLst>
          </p:cNvPr>
          <p:cNvSpPr>
            <a:spLocks noGrp="1"/>
          </p:cNvSpPr>
          <p:nvPr>
            <p:ph type="title"/>
          </p:nvPr>
        </p:nvSpPr>
        <p:spPr>
          <a:xfrm>
            <a:off x="628980" y="533250"/>
            <a:ext cx="803843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83EB8A09-9872-65C1-D874-BB6F21B778BB}"/>
              </a:ext>
            </a:extLst>
          </p:cNvPr>
          <p:cNvSpPr>
            <a:spLocks noGrp="1"/>
          </p:cNvSpPr>
          <p:nvPr>
            <p:ph type="body" idx="1"/>
          </p:nvPr>
        </p:nvSpPr>
        <p:spPr>
          <a:xfrm>
            <a:off x="628981" y="1375122"/>
            <a:ext cx="7981620" cy="5139869"/>
          </a:xfrm>
        </p:spPr>
        <p:txBody>
          <a:bodyPr/>
          <a:lstStyle/>
          <a:p>
            <a:r>
              <a:rPr lang="en-IN" sz="2800" dirty="0"/>
              <a:t>MAC Sub-layer Functions</a:t>
            </a:r>
          </a:p>
          <a:p>
            <a:endParaRPr lang="en-IN" sz="2800" dirty="0">
              <a:solidFill>
                <a:schemeClr val="tx1"/>
              </a:solidFill>
            </a:endParaRPr>
          </a:p>
          <a:p>
            <a:r>
              <a:rPr lang="en-IN" sz="2800" dirty="0">
                <a:solidFill>
                  <a:schemeClr val="tx1"/>
                </a:solidFill>
              </a:rPr>
              <a:t>Media Access Control Details</a:t>
            </a:r>
          </a:p>
          <a:p>
            <a:endParaRPr lang="en-IN" sz="2800" dirty="0">
              <a:solidFill>
                <a:schemeClr val="tx1"/>
              </a:solidFill>
            </a:endParaRPr>
          </a:p>
          <a:p>
            <a:r>
              <a:rPr lang="en-IN" sz="2800" dirty="0">
                <a:solidFill>
                  <a:schemeClr val="tx1"/>
                </a:solidFill>
              </a:rPr>
              <a:t>Core Functions:</a:t>
            </a:r>
          </a:p>
          <a:p>
            <a:r>
              <a:rPr lang="en-IN" sz="2800" dirty="0">
                <a:solidFill>
                  <a:schemeClr val="tx1"/>
                </a:solidFill>
              </a:rPr>
              <a:t>• Physical Addressing: Unique MAC address identification</a:t>
            </a:r>
          </a:p>
          <a:p>
            <a:r>
              <a:rPr lang="en-IN" sz="2800" dirty="0">
                <a:solidFill>
                  <a:schemeClr val="tx1"/>
                </a:solidFill>
              </a:rPr>
              <a:t>• Frame Encapsulation: Adds headers and trailers</a:t>
            </a:r>
          </a:p>
          <a:p>
            <a:r>
              <a:rPr lang="en-IN" sz="2800" dirty="0">
                <a:solidFill>
                  <a:schemeClr val="tx1"/>
                </a:solidFill>
              </a:rPr>
              <a:t>• Medium Access: Coordinates shared channel usage</a:t>
            </a:r>
          </a:p>
          <a:p>
            <a:r>
              <a:rPr lang="en-IN" sz="2800" dirty="0">
                <a:solidFill>
                  <a:schemeClr val="tx1"/>
                </a:solidFill>
              </a:rPr>
              <a:t>• Collision Management: Handles multiple access scenarios</a:t>
            </a:r>
          </a:p>
          <a:p>
            <a:r>
              <a:rPr lang="en-IN" sz="2800" dirty="0">
                <a:solidFill>
                  <a:schemeClr val="tx1"/>
                </a:solidFill>
              </a:rPr>
              <a:t>MAC Address: 48-bit unique identifier assigned at manufacturing</a:t>
            </a:r>
          </a:p>
          <a:p>
            <a:endParaRPr lang="en-IN" dirty="0">
              <a:solidFill>
                <a:schemeClr val="tx1"/>
              </a:solidFill>
            </a:endParaRPr>
          </a:p>
        </p:txBody>
      </p:sp>
    </p:spTree>
    <p:extLst>
      <p:ext uri="{BB962C8B-B14F-4D97-AF65-F5344CB8AC3E}">
        <p14:creationId xmlns:p14="http://schemas.microsoft.com/office/powerpoint/2010/main" val="3869616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F80D0-7162-B5E2-26A4-458151D75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005C9-05BB-67F9-0904-BAB73F0042C8}"/>
              </a:ext>
            </a:extLst>
          </p:cNvPr>
          <p:cNvSpPr>
            <a:spLocks noGrp="1"/>
          </p:cNvSpPr>
          <p:nvPr>
            <p:ph type="title"/>
          </p:nvPr>
        </p:nvSpPr>
        <p:spPr>
          <a:xfrm>
            <a:off x="628980" y="533250"/>
            <a:ext cx="803843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50D87964-6CFA-5254-26F2-2A35E678B443}"/>
              </a:ext>
            </a:extLst>
          </p:cNvPr>
          <p:cNvSpPr>
            <a:spLocks noGrp="1"/>
          </p:cNvSpPr>
          <p:nvPr>
            <p:ph type="body" idx="1"/>
          </p:nvPr>
        </p:nvSpPr>
        <p:spPr>
          <a:xfrm>
            <a:off x="628980" y="1375122"/>
            <a:ext cx="8286420" cy="5201424"/>
          </a:xfrm>
        </p:spPr>
        <p:txBody>
          <a:bodyPr/>
          <a:lstStyle/>
          <a:p>
            <a:r>
              <a:rPr lang="en-US" b="1" dirty="0"/>
              <a:t>Framing Process</a:t>
            </a:r>
          </a:p>
          <a:p>
            <a:r>
              <a:rPr lang="en-US" b="1" dirty="0">
                <a:solidFill>
                  <a:schemeClr val="tx1"/>
                </a:solidFill>
              </a:rPr>
              <a:t>Converting Packets to Frames</a:t>
            </a:r>
          </a:p>
          <a:p>
            <a:endParaRPr lang="en-IN" dirty="0">
              <a:solidFill>
                <a:schemeClr val="tx1"/>
              </a:solidFill>
            </a:endParaRPr>
          </a:p>
          <a:p>
            <a:r>
              <a:rPr lang="en-US" b="1" dirty="0">
                <a:solidFill>
                  <a:schemeClr val="tx1"/>
                </a:solidFill>
              </a:rPr>
              <a:t>What is Framing?</a:t>
            </a:r>
            <a:br>
              <a:rPr lang="en-US" dirty="0">
                <a:solidFill>
                  <a:schemeClr val="tx1"/>
                </a:solidFill>
              </a:rPr>
            </a:br>
            <a:r>
              <a:rPr lang="en-US" dirty="0">
                <a:solidFill>
                  <a:schemeClr val="tx1"/>
                </a:solidFill>
              </a:rPr>
              <a:t>• Dividing data into manageable units called frames</a:t>
            </a:r>
            <a:br>
              <a:rPr lang="en-US" dirty="0">
                <a:solidFill>
                  <a:schemeClr val="tx1"/>
                </a:solidFill>
              </a:rPr>
            </a:br>
            <a:r>
              <a:rPr lang="en-US" dirty="0">
                <a:solidFill>
                  <a:schemeClr val="tx1"/>
                </a:solidFill>
              </a:rPr>
              <a:t>• Adding headers and trailers for identification and control</a:t>
            </a:r>
            <a:br>
              <a:rPr lang="en-US" dirty="0">
                <a:solidFill>
                  <a:schemeClr val="tx1"/>
                </a:solidFill>
              </a:rPr>
            </a:br>
            <a:r>
              <a:rPr lang="en-US" dirty="0">
                <a:solidFill>
                  <a:schemeClr val="tx1"/>
                </a:solidFill>
              </a:rPr>
              <a:t>• Enabling frame boundary recognition</a:t>
            </a:r>
            <a:endParaRPr lang="en-IN" dirty="0">
              <a:solidFill>
                <a:schemeClr val="tx1"/>
              </a:solidFill>
            </a:endParaRPr>
          </a:p>
          <a:p>
            <a:endParaRPr lang="en-US" b="1" dirty="0">
              <a:solidFill>
                <a:schemeClr val="tx1"/>
              </a:solidFill>
            </a:endParaRPr>
          </a:p>
          <a:p>
            <a:r>
              <a:rPr lang="en-US" b="1" dirty="0">
                <a:solidFill>
                  <a:schemeClr val="tx1"/>
                </a:solidFill>
              </a:rPr>
              <a:t>Frame Structure:</a:t>
            </a:r>
            <a:br>
              <a:rPr lang="en-US" dirty="0">
                <a:solidFill>
                  <a:schemeClr val="tx1"/>
                </a:solidFill>
              </a:rPr>
            </a:br>
            <a:r>
              <a:rPr lang="en-US" dirty="0">
                <a:solidFill>
                  <a:schemeClr val="tx1"/>
                </a:solidFill>
              </a:rPr>
              <a:t>• </a:t>
            </a:r>
            <a:r>
              <a:rPr lang="en-US" b="1" dirty="0">
                <a:solidFill>
                  <a:schemeClr val="tx1"/>
                </a:solidFill>
              </a:rPr>
              <a:t>Header</a:t>
            </a:r>
            <a:r>
              <a:rPr lang="en-US" dirty="0">
                <a:solidFill>
                  <a:schemeClr val="tx1"/>
                </a:solidFill>
              </a:rPr>
              <a:t>: Source/destination addresses, control information</a:t>
            </a:r>
            <a:br>
              <a:rPr lang="en-US" dirty="0">
                <a:solidFill>
                  <a:schemeClr val="tx1"/>
                </a:solidFill>
              </a:rPr>
            </a:br>
            <a:r>
              <a:rPr lang="en-US" dirty="0">
                <a:solidFill>
                  <a:schemeClr val="tx1"/>
                </a:solidFill>
              </a:rPr>
              <a:t>• </a:t>
            </a:r>
            <a:r>
              <a:rPr lang="en-US" b="1" dirty="0">
                <a:solidFill>
                  <a:schemeClr val="tx1"/>
                </a:solidFill>
              </a:rPr>
              <a:t>Payload</a:t>
            </a:r>
            <a:r>
              <a:rPr lang="en-US" dirty="0">
                <a:solidFill>
                  <a:schemeClr val="tx1"/>
                </a:solidFill>
              </a:rPr>
              <a:t>: Actual data from upper layers</a:t>
            </a:r>
            <a:br>
              <a:rPr lang="en-US" dirty="0">
                <a:solidFill>
                  <a:schemeClr val="tx1"/>
                </a:solidFill>
              </a:rPr>
            </a:br>
            <a:r>
              <a:rPr lang="en-US" dirty="0">
                <a:solidFill>
                  <a:schemeClr val="tx1"/>
                </a:solidFill>
              </a:rPr>
              <a:t>• </a:t>
            </a:r>
            <a:r>
              <a:rPr lang="en-US" b="1" dirty="0">
                <a:solidFill>
                  <a:schemeClr val="tx1"/>
                </a:solidFill>
              </a:rPr>
              <a:t>Trailer</a:t>
            </a:r>
            <a:r>
              <a:rPr lang="en-US" dirty="0">
                <a:solidFill>
                  <a:schemeClr val="tx1"/>
                </a:solidFill>
              </a:rPr>
              <a:t>: Error detection bits, end markers</a:t>
            </a:r>
            <a:endParaRPr lang="en-IN" dirty="0">
              <a:solidFill>
                <a:schemeClr val="tx1"/>
              </a:solidFill>
            </a:endParaRPr>
          </a:p>
          <a:p>
            <a:endParaRPr lang="en-IN" dirty="0">
              <a:solidFill>
                <a:schemeClr val="tx1"/>
              </a:solidFill>
            </a:endParaRPr>
          </a:p>
        </p:txBody>
      </p:sp>
    </p:spTree>
    <p:extLst>
      <p:ext uri="{BB962C8B-B14F-4D97-AF65-F5344CB8AC3E}">
        <p14:creationId xmlns:p14="http://schemas.microsoft.com/office/powerpoint/2010/main" val="1905256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F9A53-73A4-9538-2B03-F04663504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19C3D-8CBA-D340-4231-99877AA9CD6C}"/>
              </a:ext>
            </a:extLst>
          </p:cNvPr>
          <p:cNvSpPr>
            <a:spLocks noGrp="1"/>
          </p:cNvSpPr>
          <p:nvPr>
            <p:ph type="title"/>
          </p:nvPr>
        </p:nvSpPr>
        <p:spPr>
          <a:xfrm>
            <a:off x="364524" y="228600"/>
            <a:ext cx="828641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0CC554E7-A2FD-41E9-3280-A2D54F7E2BED}"/>
              </a:ext>
            </a:extLst>
          </p:cNvPr>
          <p:cNvSpPr>
            <a:spLocks noGrp="1"/>
          </p:cNvSpPr>
          <p:nvPr>
            <p:ph type="body" idx="1"/>
          </p:nvPr>
        </p:nvSpPr>
        <p:spPr>
          <a:xfrm>
            <a:off x="457200" y="1066800"/>
            <a:ext cx="8286420" cy="5601533"/>
          </a:xfrm>
        </p:spPr>
        <p:txBody>
          <a:bodyPr/>
          <a:lstStyle/>
          <a:p>
            <a:r>
              <a:rPr lang="en-US" b="1" dirty="0">
                <a:solidFill>
                  <a:schemeClr val="tx1"/>
                </a:solidFill>
              </a:rPr>
              <a:t>Types of Framing</a:t>
            </a:r>
          </a:p>
          <a:p>
            <a:r>
              <a:rPr lang="en-US" b="1" dirty="0">
                <a:solidFill>
                  <a:schemeClr val="tx1"/>
                </a:solidFill>
              </a:rPr>
              <a:t>Fixed vs Variable Size Framing</a:t>
            </a:r>
          </a:p>
          <a:p>
            <a:endParaRPr lang="en-US" b="1" dirty="0">
              <a:solidFill>
                <a:schemeClr val="tx1"/>
              </a:solidFill>
            </a:endParaRPr>
          </a:p>
          <a:p>
            <a:r>
              <a:rPr lang="en-US" b="1" dirty="0">
                <a:solidFill>
                  <a:schemeClr val="tx1"/>
                </a:solidFill>
              </a:rPr>
              <a:t>Fixed-Size Framing</a:t>
            </a:r>
          </a:p>
          <a:p>
            <a:r>
              <a:rPr lang="en-US" dirty="0">
                <a:solidFill>
                  <a:schemeClr val="tx1"/>
                </a:solidFill>
              </a:rPr>
              <a:t>• </a:t>
            </a:r>
            <a:r>
              <a:rPr lang="en-US" b="1" dirty="0">
                <a:solidFill>
                  <a:schemeClr val="tx1"/>
                </a:solidFill>
              </a:rPr>
              <a:t>Characteristics</a:t>
            </a:r>
            <a:r>
              <a:rPr lang="en-US" dirty="0">
                <a:solidFill>
                  <a:schemeClr val="tx1"/>
                </a:solidFill>
              </a:rPr>
              <a:t>: Constant frame size</a:t>
            </a:r>
            <a:br>
              <a:rPr lang="en-US" dirty="0">
                <a:solidFill>
                  <a:schemeClr val="tx1"/>
                </a:solidFill>
              </a:rPr>
            </a:br>
            <a:r>
              <a:rPr lang="en-US" dirty="0">
                <a:solidFill>
                  <a:schemeClr val="tx1"/>
                </a:solidFill>
              </a:rPr>
              <a:t>• </a:t>
            </a:r>
            <a:r>
              <a:rPr lang="en-US" b="1" dirty="0">
                <a:solidFill>
                  <a:schemeClr val="tx1"/>
                </a:solidFill>
              </a:rPr>
              <a:t>Advantages</a:t>
            </a:r>
            <a:r>
              <a:rPr lang="en-US" dirty="0">
                <a:solidFill>
                  <a:schemeClr val="tx1"/>
                </a:solidFill>
              </a:rPr>
              <a:t>: Simple boundary detection</a:t>
            </a:r>
            <a:br>
              <a:rPr lang="en-US" dirty="0">
                <a:solidFill>
                  <a:schemeClr val="tx1"/>
                </a:solidFill>
              </a:rPr>
            </a:br>
            <a:r>
              <a:rPr lang="en-US" dirty="0">
                <a:solidFill>
                  <a:schemeClr val="tx1"/>
                </a:solidFill>
              </a:rPr>
              <a:t>• </a:t>
            </a:r>
            <a:r>
              <a:rPr lang="en-US" b="1" dirty="0">
                <a:solidFill>
                  <a:schemeClr val="tx1"/>
                </a:solidFill>
              </a:rPr>
              <a:t>Examples</a:t>
            </a:r>
            <a:r>
              <a:rPr lang="en-US" dirty="0">
                <a:solidFill>
                  <a:schemeClr val="tx1"/>
                </a:solidFill>
              </a:rPr>
              <a:t>: ATM cells (53 bytes)</a:t>
            </a:r>
            <a:br>
              <a:rPr lang="en-US" dirty="0">
                <a:solidFill>
                  <a:schemeClr val="tx1"/>
                </a:solidFill>
              </a:rPr>
            </a:br>
            <a:r>
              <a:rPr lang="en-US" dirty="0">
                <a:solidFill>
                  <a:schemeClr val="tx1"/>
                </a:solidFill>
              </a:rPr>
              <a:t>• </a:t>
            </a:r>
            <a:r>
              <a:rPr lang="en-US" b="1" dirty="0">
                <a:solidFill>
                  <a:schemeClr val="tx1"/>
                </a:solidFill>
              </a:rPr>
              <a:t>Use Cases</a:t>
            </a:r>
            <a:r>
              <a:rPr lang="en-US" dirty="0">
                <a:solidFill>
                  <a:schemeClr val="tx1"/>
                </a:solidFill>
              </a:rPr>
              <a:t>: Wide Area Networks (WAN)</a:t>
            </a:r>
            <a:endParaRPr lang="en-IN" dirty="0">
              <a:solidFill>
                <a:schemeClr val="tx1"/>
              </a:solidFill>
            </a:endParaRPr>
          </a:p>
          <a:p>
            <a:endParaRPr lang="en-US" b="1" dirty="0">
              <a:solidFill>
                <a:schemeClr val="tx1"/>
              </a:solidFill>
            </a:endParaRPr>
          </a:p>
          <a:p>
            <a:r>
              <a:rPr lang="en-US" b="1" dirty="0">
                <a:solidFill>
                  <a:schemeClr val="tx1"/>
                </a:solidFill>
              </a:rPr>
              <a:t>Variable-Size Framing</a:t>
            </a:r>
            <a:endParaRPr lang="en-IN" dirty="0">
              <a:solidFill>
                <a:schemeClr val="tx1"/>
              </a:solidFill>
            </a:endParaRPr>
          </a:p>
          <a:p>
            <a:r>
              <a:rPr lang="en-US" dirty="0">
                <a:solidFill>
                  <a:schemeClr val="tx1"/>
                </a:solidFill>
              </a:rPr>
              <a:t>• </a:t>
            </a:r>
            <a:r>
              <a:rPr lang="en-US" b="1" dirty="0">
                <a:solidFill>
                  <a:schemeClr val="tx1"/>
                </a:solidFill>
              </a:rPr>
              <a:t>Characteristics</a:t>
            </a:r>
            <a:r>
              <a:rPr lang="en-US" dirty="0">
                <a:solidFill>
                  <a:schemeClr val="tx1"/>
                </a:solidFill>
              </a:rPr>
              <a:t>: Flexible frame sizes</a:t>
            </a:r>
            <a:br>
              <a:rPr lang="en-US" dirty="0">
                <a:solidFill>
                  <a:schemeClr val="tx1"/>
                </a:solidFill>
              </a:rPr>
            </a:br>
            <a:r>
              <a:rPr lang="en-US" dirty="0">
                <a:solidFill>
                  <a:schemeClr val="tx1"/>
                </a:solidFill>
              </a:rPr>
              <a:t>• </a:t>
            </a:r>
            <a:r>
              <a:rPr lang="en-US" b="1" dirty="0">
                <a:solidFill>
                  <a:schemeClr val="tx1"/>
                </a:solidFill>
              </a:rPr>
              <a:t>Boundary Methods</a:t>
            </a:r>
            <a:r>
              <a:rPr lang="en-US" dirty="0">
                <a:solidFill>
                  <a:schemeClr val="tx1"/>
                </a:solidFill>
              </a:rPr>
              <a:t>: Length fields or delimiters</a:t>
            </a:r>
            <a:br>
              <a:rPr lang="en-US" dirty="0">
                <a:solidFill>
                  <a:schemeClr val="tx1"/>
                </a:solidFill>
              </a:rPr>
            </a:br>
            <a:r>
              <a:rPr lang="en-US" dirty="0">
                <a:solidFill>
                  <a:schemeClr val="tx1"/>
                </a:solidFill>
              </a:rPr>
              <a:t>• </a:t>
            </a:r>
            <a:r>
              <a:rPr lang="en-US" b="1" dirty="0">
                <a:solidFill>
                  <a:schemeClr val="tx1"/>
                </a:solidFill>
              </a:rPr>
              <a:t>Examples</a:t>
            </a:r>
            <a:r>
              <a:rPr lang="en-US" dirty="0">
                <a:solidFill>
                  <a:schemeClr val="tx1"/>
                </a:solidFill>
              </a:rPr>
              <a:t>: Ethernet frames</a:t>
            </a:r>
            <a:br>
              <a:rPr lang="en-US" dirty="0">
                <a:solidFill>
                  <a:schemeClr val="tx1"/>
                </a:solidFill>
              </a:rPr>
            </a:br>
            <a:r>
              <a:rPr lang="en-US" dirty="0">
                <a:solidFill>
                  <a:schemeClr val="tx1"/>
                </a:solidFill>
              </a:rPr>
              <a:t>• </a:t>
            </a:r>
            <a:r>
              <a:rPr lang="en-US" b="1" dirty="0">
                <a:solidFill>
                  <a:schemeClr val="tx1"/>
                </a:solidFill>
              </a:rPr>
              <a:t>Use Cases</a:t>
            </a:r>
            <a:r>
              <a:rPr lang="en-US" dirty="0">
                <a:solidFill>
                  <a:schemeClr val="tx1"/>
                </a:solidFill>
              </a:rPr>
              <a:t>: Local Area Networks (LAN)</a:t>
            </a:r>
            <a:endParaRPr lang="en-IN" dirty="0">
              <a:solidFill>
                <a:schemeClr val="tx1"/>
              </a:solidFill>
            </a:endParaRPr>
          </a:p>
        </p:txBody>
      </p:sp>
    </p:spTree>
    <p:extLst>
      <p:ext uri="{BB962C8B-B14F-4D97-AF65-F5344CB8AC3E}">
        <p14:creationId xmlns:p14="http://schemas.microsoft.com/office/powerpoint/2010/main" val="300181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C2233-2D63-C7B7-0D01-EB1E6D853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87E4F-73F9-60BE-3606-ADB750C2E1F5}"/>
              </a:ext>
            </a:extLst>
          </p:cNvPr>
          <p:cNvSpPr>
            <a:spLocks noGrp="1"/>
          </p:cNvSpPr>
          <p:nvPr>
            <p:ph type="title"/>
          </p:nvPr>
        </p:nvSpPr>
        <p:spPr>
          <a:xfrm>
            <a:off x="364524" y="228600"/>
            <a:ext cx="828641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10246A46-AB5D-BBA9-E2A0-00D6EC2F93D8}"/>
              </a:ext>
            </a:extLst>
          </p:cNvPr>
          <p:cNvSpPr>
            <a:spLocks noGrp="1"/>
          </p:cNvSpPr>
          <p:nvPr>
            <p:ph type="body" idx="1"/>
          </p:nvPr>
        </p:nvSpPr>
        <p:spPr>
          <a:xfrm>
            <a:off x="457199" y="1066800"/>
            <a:ext cx="8690919" cy="4801314"/>
          </a:xfrm>
        </p:spPr>
        <p:txBody>
          <a:bodyPr/>
          <a:lstStyle/>
          <a:p>
            <a:r>
              <a:rPr lang="en-US" b="1" dirty="0">
                <a:solidFill>
                  <a:schemeClr val="tx1"/>
                </a:solidFill>
              </a:rPr>
              <a:t>Error Types</a:t>
            </a:r>
            <a:endParaRPr lang="en-IN" dirty="0">
              <a:solidFill>
                <a:schemeClr val="tx1"/>
              </a:solidFill>
            </a:endParaRPr>
          </a:p>
          <a:p>
            <a:endParaRPr lang="en-US" b="1" dirty="0">
              <a:solidFill>
                <a:schemeClr val="tx1"/>
              </a:solidFill>
            </a:endParaRPr>
          </a:p>
          <a:p>
            <a:r>
              <a:rPr lang="en-US" b="1" dirty="0">
                <a:solidFill>
                  <a:schemeClr val="tx1"/>
                </a:solidFill>
              </a:rPr>
              <a:t>Single-Bit Errors</a:t>
            </a:r>
            <a:endParaRPr lang="en-IN" dirty="0">
              <a:solidFill>
                <a:schemeClr val="tx1"/>
              </a:solidFill>
            </a:endParaRPr>
          </a:p>
          <a:p>
            <a:r>
              <a:rPr lang="en-US" dirty="0">
                <a:solidFill>
                  <a:schemeClr val="tx1"/>
                </a:solidFill>
              </a:rPr>
              <a:t>• Only one bit changed during transmission</a:t>
            </a:r>
            <a:br>
              <a:rPr lang="en-US" dirty="0">
                <a:solidFill>
                  <a:schemeClr val="tx1"/>
                </a:solidFill>
              </a:rPr>
            </a:br>
            <a:r>
              <a:rPr lang="en-US" dirty="0">
                <a:solidFill>
                  <a:schemeClr val="tx1"/>
                </a:solidFill>
              </a:rPr>
              <a:t>• Example: 1010 becomes 1000</a:t>
            </a:r>
            <a:br>
              <a:rPr lang="en-US" dirty="0">
                <a:solidFill>
                  <a:schemeClr val="tx1"/>
                </a:solidFill>
              </a:rPr>
            </a:br>
            <a:r>
              <a:rPr lang="en-US" dirty="0">
                <a:solidFill>
                  <a:schemeClr val="tx1"/>
                </a:solidFill>
              </a:rPr>
              <a:t>• Common in high-quality channels</a:t>
            </a:r>
            <a:endParaRPr lang="en-IN" dirty="0">
              <a:solidFill>
                <a:schemeClr val="tx1"/>
              </a:solidFill>
            </a:endParaRPr>
          </a:p>
          <a:p>
            <a:endParaRPr lang="en-US" b="1" dirty="0">
              <a:solidFill>
                <a:schemeClr val="tx1"/>
              </a:solidFill>
            </a:endParaRPr>
          </a:p>
          <a:p>
            <a:r>
              <a:rPr lang="en-US" b="1" dirty="0">
                <a:solidFill>
                  <a:schemeClr val="tx1"/>
                </a:solidFill>
              </a:rPr>
              <a:t>Burst Errors</a:t>
            </a:r>
            <a:endParaRPr lang="en-IN" dirty="0">
              <a:solidFill>
                <a:schemeClr val="tx1"/>
              </a:solidFill>
            </a:endParaRPr>
          </a:p>
          <a:p>
            <a:r>
              <a:rPr lang="en-US" dirty="0">
                <a:solidFill>
                  <a:schemeClr val="tx1"/>
                </a:solidFill>
              </a:rPr>
              <a:t>• Multiple consecutive bits corrupted</a:t>
            </a:r>
            <a:br>
              <a:rPr lang="en-US" dirty="0">
                <a:solidFill>
                  <a:schemeClr val="tx1"/>
                </a:solidFill>
              </a:rPr>
            </a:br>
            <a:r>
              <a:rPr lang="en-US" dirty="0">
                <a:solidFill>
                  <a:schemeClr val="tx1"/>
                </a:solidFill>
              </a:rPr>
              <a:t>• Example: 1011101 becomes 1000001</a:t>
            </a:r>
            <a:br>
              <a:rPr lang="en-US" dirty="0">
                <a:solidFill>
                  <a:schemeClr val="tx1"/>
                </a:solidFill>
              </a:rPr>
            </a:br>
            <a:r>
              <a:rPr lang="en-US" dirty="0">
                <a:solidFill>
                  <a:schemeClr val="tx1"/>
                </a:solidFill>
              </a:rPr>
              <a:t>• Common in wireless environments</a:t>
            </a:r>
            <a:br>
              <a:rPr lang="en-US" dirty="0">
                <a:solidFill>
                  <a:schemeClr val="tx1"/>
                </a:solidFill>
              </a:rPr>
            </a:br>
            <a:r>
              <a:rPr lang="en-US" dirty="0">
                <a:solidFill>
                  <a:schemeClr val="tx1"/>
                </a:solidFill>
              </a:rPr>
              <a:t>• More challenging to detect and correct</a:t>
            </a:r>
            <a:endParaRPr lang="en-IN" dirty="0">
              <a:solidFill>
                <a:schemeClr val="tx1"/>
              </a:solidFill>
            </a:endParaRPr>
          </a:p>
        </p:txBody>
      </p:sp>
    </p:spTree>
    <p:extLst>
      <p:ext uri="{BB962C8B-B14F-4D97-AF65-F5344CB8AC3E}">
        <p14:creationId xmlns:p14="http://schemas.microsoft.com/office/powerpoint/2010/main" val="4187043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7FFD4-DF77-C53C-2ACB-CF3AF8CBB8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B898A-3B22-6DD9-87C4-01552E071928}"/>
              </a:ext>
            </a:extLst>
          </p:cNvPr>
          <p:cNvSpPr>
            <a:spLocks noGrp="1"/>
          </p:cNvSpPr>
          <p:nvPr>
            <p:ph type="title"/>
          </p:nvPr>
        </p:nvSpPr>
        <p:spPr>
          <a:xfrm>
            <a:off x="364524" y="228600"/>
            <a:ext cx="828641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F155DA98-A6CD-CED8-CFE9-D1B7B36A7122}"/>
              </a:ext>
            </a:extLst>
          </p:cNvPr>
          <p:cNvSpPr>
            <a:spLocks noGrp="1"/>
          </p:cNvSpPr>
          <p:nvPr>
            <p:ph type="body" idx="1"/>
          </p:nvPr>
        </p:nvSpPr>
        <p:spPr>
          <a:xfrm>
            <a:off x="228600" y="1027867"/>
            <a:ext cx="8763000" cy="5601533"/>
          </a:xfrm>
        </p:spPr>
        <p:txBody>
          <a:bodyPr/>
          <a:lstStyle/>
          <a:p>
            <a:r>
              <a:rPr lang="en-US" b="1" dirty="0">
                <a:solidFill>
                  <a:schemeClr val="tx1"/>
                </a:solidFill>
              </a:rPr>
              <a:t>Error Detection Techniques: Ensuring Data Integrity</a:t>
            </a:r>
          </a:p>
          <a:p>
            <a:endParaRPr lang="en-IN" b="1" dirty="0">
              <a:solidFill>
                <a:schemeClr val="tx1"/>
              </a:solidFill>
            </a:endParaRPr>
          </a:p>
          <a:p>
            <a:r>
              <a:rPr lang="en-IN" b="1" dirty="0">
                <a:solidFill>
                  <a:schemeClr val="tx1"/>
                </a:solidFill>
              </a:rPr>
              <a:t>Hamming Distance</a:t>
            </a:r>
          </a:p>
          <a:p>
            <a:pPr marL="457200" indent="-457200">
              <a:buFont typeface="Arial" panose="020B0604020202020204" pitchFamily="34" charset="0"/>
              <a:buChar char="•"/>
            </a:pPr>
            <a:r>
              <a:rPr lang="en-US" dirty="0">
                <a:solidFill>
                  <a:schemeClr val="tx1"/>
                </a:solidFill>
              </a:rPr>
              <a:t>Count the number of dissimilar bits of the given 2 numbers</a:t>
            </a:r>
          </a:p>
          <a:p>
            <a:endParaRPr lang="en-US" b="1" dirty="0">
              <a:solidFill>
                <a:schemeClr val="tx1"/>
              </a:solidFill>
            </a:endParaRPr>
          </a:p>
          <a:p>
            <a:r>
              <a:rPr lang="en-US" b="1" dirty="0">
                <a:solidFill>
                  <a:schemeClr val="tx1"/>
                </a:solidFill>
              </a:rPr>
              <a:t>Simple/Single Parity Check</a:t>
            </a:r>
            <a:endParaRPr lang="en-IN" dirty="0">
              <a:solidFill>
                <a:schemeClr val="tx1"/>
              </a:solidFill>
            </a:endParaRPr>
          </a:p>
          <a:p>
            <a:pPr marL="457200" indent="-457200">
              <a:buFont typeface="Arial" panose="020B0604020202020204" pitchFamily="34" charset="0"/>
              <a:buChar char="•"/>
            </a:pPr>
            <a:r>
              <a:rPr lang="en-US" dirty="0">
                <a:solidFill>
                  <a:schemeClr val="tx1"/>
                </a:solidFill>
              </a:rPr>
              <a:t>Adds a single parity bit</a:t>
            </a:r>
          </a:p>
          <a:p>
            <a:pPr marL="457200" indent="-457200">
              <a:buFont typeface="Arial" panose="020B0604020202020204" pitchFamily="34" charset="0"/>
              <a:buChar char="•"/>
            </a:pPr>
            <a:r>
              <a:rPr lang="en-US" dirty="0">
                <a:solidFill>
                  <a:schemeClr val="tx1"/>
                </a:solidFill>
              </a:rPr>
              <a:t>Detects single-bit errors only</a:t>
            </a:r>
          </a:p>
          <a:p>
            <a:pPr marL="457200" indent="-457200">
              <a:buFont typeface="Arial" panose="020B0604020202020204" pitchFamily="34" charset="0"/>
              <a:buChar char="•"/>
            </a:pPr>
            <a:r>
              <a:rPr lang="en-US" dirty="0">
                <a:solidFill>
                  <a:schemeClr val="tx1"/>
                </a:solidFill>
              </a:rPr>
              <a:t>Even or odd parity systems</a:t>
            </a:r>
          </a:p>
          <a:p>
            <a:pPr marL="457200" indent="-457200">
              <a:buFont typeface="Arial" panose="020B0604020202020204" pitchFamily="34" charset="0"/>
              <a:buChar char="•"/>
            </a:pPr>
            <a:endParaRPr lang="en-IN" dirty="0">
              <a:solidFill>
                <a:schemeClr val="tx1"/>
              </a:solidFill>
            </a:endParaRPr>
          </a:p>
          <a:p>
            <a:r>
              <a:rPr lang="en-US" b="1" dirty="0">
                <a:solidFill>
                  <a:schemeClr val="tx1"/>
                </a:solidFill>
              </a:rPr>
              <a:t>Checksum</a:t>
            </a:r>
            <a:endParaRPr lang="en-IN" dirty="0">
              <a:solidFill>
                <a:schemeClr val="tx1"/>
              </a:solidFill>
            </a:endParaRPr>
          </a:p>
          <a:p>
            <a:pPr marL="457200" indent="-457200">
              <a:buFont typeface="Arial" panose="020B0604020202020204" pitchFamily="34" charset="0"/>
              <a:buChar char="•"/>
            </a:pPr>
            <a:r>
              <a:rPr lang="en-US" dirty="0">
                <a:solidFill>
                  <a:schemeClr val="tx1"/>
                </a:solidFill>
              </a:rPr>
              <a:t>Mathematical sum of data segments</a:t>
            </a:r>
          </a:p>
          <a:p>
            <a:pPr marL="457200" indent="-457200">
              <a:buFont typeface="Arial" panose="020B0604020202020204" pitchFamily="34" charset="0"/>
              <a:buChar char="•"/>
            </a:pPr>
            <a:r>
              <a:rPr lang="en-US" dirty="0">
                <a:solidFill>
                  <a:schemeClr val="tx1"/>
                </a:solidFill>
              </a:rPr>
              <a:t>Detects multiple-bit errors</a:t>
            </a:r>
          </a:p>
          <a:p>
            <a:pPr marL="457200" indent="-457200">
              <a:buFont typeface="Arial" panose="020B0604020202020204" pitchFamily="34" charset="0"/>
              <a:buChar char="•"/>
            </a:pPr>
            <a:r>
              <a:rPr lang="en-US" dirty="0">
                <a:solidFill>
                  <a:schemeClr val="tx1"/>
                </a:solidFill>
              </a:rPr>
              <a:t>1's complement arithmetic</a:t>
            </a:r>
            <a:endParaRPr lang="en-IN" dirty="0">
              <a:solidFill>
                <a:schemeClr val="tx1"/>
              </a:solidFill>
            </a:endParaRPr>
          </a:p>
        </p:txBody>
      </p:sp>
    </p:spTree>
    <p:extLst>
      <p:ext uri="{BB962C8B-B14F-4D97-AF65-F5344CB8AC3E}">
        <p14:creationId xmlns:p14="http://schemas.microsoft.com/office/powerpoint/2010/main" val="132929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7CCB9-48E4-4D22-19EF-2CD35ACA9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EADE6-EE9E-B16A-DD41-B37630226D02}"/>
              </a:ext>
            </a:extLst>
          </p:cNvPr>
          <p:cNvSpPr>
            <a:spLocks noGrp="1"/>
          </p:cNvSpPr>
          <p:nvPr>
            <p:ph type="title"/>
          </p:nvPr>
        </p:nvSpPr>
        <p:spPr>
          <a:xfrm>
            <a:off x="364524" y="228600"/>
            <a:ext cx="8286419" cy="615553"/>
          </a:xfrm>
        </p:spPr>
        <p:txBody>
          <a:bodyPr/>
          <a:lstStyle/>
          <a:p>
            <a:r>
              <a:rPr lang="en-US" dirty="0"/>
              <a:t>Data Link Layer</a:t>
            </a:r>
            <a:endParaRPr lang="en-IN" dirty="0"/>
          </a:p>
        </p:txBody>
      </p:sp>
      <p:sp>
        <p:nvSpPr>
          <p:cNvPr id="5" name="Text Placeholder 4">
            <a:extLst>
              <a:ext uri="{FF2B5EF4-FFF2-40B4-BE49-F238E27FC236}">
                <a16:creationId xmlns:a16="http://schemas.microsoft.com/office/drawing/2014/main" id="{8EC61396-5A6D-A244-7F13-E4439E7DBA94}"/>
              </a:ext>
            </a:extLst>
          </p:cNvPr>
          <p:cNvSpPr>
            <a:spLocks noGrp="1"/>
          </p:cNvSpPr>
          <p:nvPr>
            <p:ph type="body" idx="1"/>
          </p:nvPr>
        </p:nvSpPr>
        <p:spPr>
          <a:xfrm>
            <a:off x="654380" y="1375123"/>
            <a:ext cx="7835239" cy="2000548"/>
          </a:xfrm>
        </p:spPr>
        <p:txBody>
          <a:bodyPr/>
          <a:lstStyle/>
          <a:p>
            <a:r>
              <a:rPr lang="en-US" b="1" dirty="0">
                <a:solidFill>
                  <a:schemeClr val="tx1"/>
                </a:solidFill>
              </a:rPr>
              <a:t>Cyclic Redundancy Check (CRC)</a:t>
            </a:r>
            <a:endParaRPr lang="en-IN" dirty="0">
              <a:solidFill>
                <a:schemeClr val="tx1"/>
              </a:solidFill>
            </a:endParaRPr>
          </a:p>
          <a:p>
            <a:r>
              <a:rPr lang="en-US" dirty="0">
                <a:solidFill>
                  <a:schemeClr val="tx1"/>
                </a:solidFill>
              </a:rPr>
              <a:t>• Polynomial-based error detection</a:t>
            </a:r>
            <a:br>
              <a:rPr lang="en-US" dirty="0">
                <a:solidFill>
                  <a:schemeClr val="tx1"/>
                </a:solidFill>
              </a:rPr>
            </a:br>
            <a:r>
              <a:rPr lang="en-US" dirty="0">
                <a:solidFill>
                  <a:schemeClr val="tx1"/>
                </a:solidFill>
              </a:rPr>
              <a:t>• Highly effective for burst errors</a:t>
            </a:r>
            <a:br>
              <a:rPr lang="en-US" dirty="0">
                <a:solidFill>
                  <a:schemeClr val="tx1"/>
                </a:solidFill>
              </a:rPr>
            </a:br>
            <a:r>
              <a:rPr lang="en-US" dirty="0">
                <a:solidFill>
                  <a:schemeClr val="tx1"/>
                </a:solidFill>
              </a:rPr>
              <a:t>• Widely used in modern networks</a:t>
            </a:r>
            <a:endParaRPr lang="en-IN" dirty="0">
              <a:solidFill>
                <a:schemeClr val="tx1"/>
              </a:solidFill>
            </a:endParaRPr>
          </a:p>
          <a:p>
            <a:endParaRPr lang="en-US" dirty="0"/>
          </a:p>
        </p:txBody>
      </p:sp>
    </p:spTree>
    <p:extLst>
      <p:ext uri="{BB962C8B-B14F-4D97-AF65-F5344CB8AC3E}">
        <p14:creationId xmlns:p14="http://schemas.microsoft.com/office/powerpoint/2010/main" val="2481659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F5896-E87C-6835-96B9-62D5A80EDF22}"/>
              </a:ext>
            </a:extLst>
          </p:cNvPr>
          <p:cNvSpPr>
            <a:spLocks noGrp="1"/>
          </p:cNvSpPr>
          <p:nvPr>
            <p:ph type="title"/>
          </p:nvPr>
        </p:nvSpPr>
        <p:spPr>
          <a:xfrm>
            <a:off x="565480" y="228600"/>
            <a:ext cx="8013039" cy="615553"/>
          </a:xfrm>
        </p:spPr>
        <p:txBody>
          <a:bodyPr/>
          <a:lstStyle/>
          <a:p>
            <a:r>
              <a:rPr lang="en-US" dirty="0"/>
              <a:t>SIMPLE/ SINGLE PARITY CHECK</a:t>
            </a:r>
          </a:p>
        </p:txBody>
      </p:sp>
      <p:sp>
        <p:nvSpPr>
          <p:cNvPr id="4" name="Rectangle 1">
            <a:extLst>
              <a:ext uri="{FF2B5EF4-FFF2-40B4-BE49-F238E27FC236}">
                <a16:creationId xmlns:a16="http://schemas.microsoft.com/office/drawing/2014/main" id="{66649566-F9AC-5515-003B-8F6720F81222}"/>
              </a:ext>
            </a:extLst>
          </p:cNvPr>
          <p:cNvSpPr>
            <a:spLocks noGrp="1" noChangeArrowheads="1"/>
          </p:cNvSpPr>
          <p:nvPr>
            <p:ph type="body" idx="1"/>
          </p:nvPr>
        </p:nvSpPr>
        <p:spPr bwMode="auto">
          <a:xfrm>
            <a:off x="152400" y="775157"/>
            <a:ext cx="86106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1" dirty="0">
                <a:solidFill>
                  <a:schemeClr val="tx1"/>
                </a:solidFill>
              </a:rPr>
              <a:t>Parity </a:t>
            </a:r>
            <a:r>
              <a:rPr lang="en-US" altLang="en-US" dirty="0">
                <a:solidFill>
                  <a:schemeClr val="tx1"/>
                </a:solidFill>
              </a:rPr>
              <a:t>means in terms of the count of 1’s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tx1"/>
                </a:solidFill>
              </a:rPr>
              <a:t>Two types: </a:t>
            </a:r>
            <a:r>
              <a:rPr lang="en-US" altLang="en-US" b="1" dirty="0">
                <a:solidFill>
                  <a:schemeClr val="tx1"/>
                </a:solidFill>
              </a:rPr>
              <a:t>Odd</a:t>
            </a:r>
            <a:r>
              <a:rPr lang="en-US" altLang="en-US" dirty="0">
                <a:solidFill>
                  <a:schemeClr val="tx1"/>
                </a:solidFill>
              </a:rPr>
              <a:t> and </a:t>
            </a:r>
            <a:r>
              <a:rPr lang="en-US" altLang="en-US" b="1" dirty="0">
                <a:solidFill>
                  <a:schemeClr val="tx1"/>
                </a:solidFill>
              </a:rPr>
              <a:t>Even</a:t>
            </a:r>
          </a:p>
          <a:p>
            <a:pPr lvl="1" algn="just" rtl="0" eaLnBrk="0" fontAlgn="base" hangingPunct="0">
              <a:spcBef>
                <a:spcPct val="0"/>
              </a:spcBef>
              <a:spcAft>
                <a:spcPct val="0"/>
              </a:spcAft>
            </a:pPr>
            <a:endParaRPr lang="en-US" altLang="en-US" dirty="0">
              <a:solidFill>
                <a:schemeClr val="tx1"/>
              </a:solidFill>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tx1"/>
                </a:solidFill>
              </a:rPr>
              <a:t>In this technique, a redundant bit called </a:t>
            </a:r>
            <a:r>
              <a:rPr lang="en-US" altLang="en-US" b="1" dirty="0">
                <a:solidFill>
                  <a:schemeClr val="tx1"/>
                </a:solidFill>
              </a:rPr>
              <a:t>a parity bit</a:t>
            </a:r>
            <a:r>
              <a:rPr lang="en-US" altLang="en-US" dirty="0">
                <a:solidFill>
                  <a:schemeClr val="tx1"/>
                </a:solidFill>
              </a:rPr>
              <a:t> is appended to every data unit so that the number of 1’s in the unit, including the parity, becomes even.</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chemeClr val="tx1"/>
              </a:solidFill>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tx1"/>
                </a:solidFill>
              </a:rPr>
              <a:t>Blocks of data from the source are subjected to a check bit or parity bit generator form, where a parity of:</a:t>
            </a:r>
          </a:p>
          <a:p>
            <a:pPr lvl="2" indent="-457200" algn="just" rtl="0" eaLnBrk="0" fontAlgn="base" hangingPunct="0">
              <a:spcBef>
                <a:spcPct val="0"/>
              </a:spcBef>
              <a:spcAft>
                <a:spcPct val="0"/>
              </a:spcAft>
              <a:buFont typeface="Arial" panose="020B0604020202020204" pitchFamily="34" charset="0"/>
              <a:buChar char="•"/>
            </a:pPr>
            <a:r>
              <a:rPr lang="en-US" altLang="en-US" sz="2600" dirty="0">
                <a:solidFill>
                  <a:schemeClr val="tx1"/>
                </a:solidFill>
                <a:latin typeface="Perpetua"/>
              </a:rPr>
              <a:t>1 is added to the block if it contains an odd number of 1’s, and</a:t>
            </a:r>
          </a:p>
          <a:p>
            <a:pPr lvl="2" indent="-457200" algn="just" rtl="0" eaLnBrk="0" fontAlgn="base" hangingPunct="0">
              <a:spcBef>
                <a:spcPct val="0"/>
              </a:spcBef>
              <a:spcAft>
                <a:spcPct val="0"/>
              </a:spcAft>
              <a:buFont typeface="Arial" panose="020B0604020202020204" pitchFamily="34" charset="0"/>
              <a:buChar char="•"/>
            </a:pPr>
            <a:r>
              <a:rPr lang="en-US" altLang="en-US" sz="2600" dirty="0">
                <a:solidFill>
                  <a:schemeClr val="tx1"/>
                </a:solidFill>
                <a:latin typeface="Perpetua"/>
              </a:rPr>
              <a:t>0 is added if it contains an even number of 1’s.</a:t>
            </a:r>
          </a:p>
          <a:p>
            <a:pPr lvl="1" indent="-457200" algn="just" rtl="0" eaLnBrk="0" fontAlgn="base" hangingPunct="0">
              <a:spcBef>
                <a:spcPct val="0"/>
              </a:spcBef>
              <a:spcAft>
                <a:spcPct val="0"/>
              </a:spcAft>
              <a:buFont typeface="Arial" panose="020B0604020202020204" pitchFamily="34" charset="0"/>
              <a:buChar char="•"/>
            </a:pPr>
            <a:endParaRPr lang="en-US" altLang="en-US" sz="2600" dirty="0">
              <a:solidFill>
                <a:schemeClr val="tx1"/>
              </a:solidFill>
              <a:latin typeface="Perpetua"/>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tx1"/>
                </a:solidFill>
              </a:rPr>
              <a:t>This scheme makes the total number of 1’s even, which is why it is called even parity checking.</a:t>
            </a:r>
          </a:p>
        </p:txBody>
      </p:sp>
    </p:spTree>
    <p:extLst>
      <p:ext uri="{BB962C8B-B14F-4D97-AF65-F5344CB8AC3E}">
        <p14:creationId xmlns:p14="http://schemas.microsoft.com/office/powerpoint/2010/main" val="921517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D4381F-460C-55E2-B020-6277AFD6C470}"/>
              </a:ext>
            </a:extLst>
          </p:cNvPr>
          <p:cNvPicPr>
            <a:picLocks noChangeAspect="1"/>
          </p:cNvPicPr>
          <p:nvPr/>
        </p:nvPicPr>
        <p:blipFill>
          <a:blip r:embed="rId2"/>
          <a:stretch>
            <a:fillRect/>
          </a:stretch>
        </p:blipFill>
        <p:spPr>
          <a:xfrm>
            <a:off x="119780" y="838200"/>
            <a:ext cx="8904440" cy="5029200"/>
          </a:xfrm>
          <a:prstGeom prst="rect">
            <a:avLst/>
          </a:prstGeom>
        </p:spPr>
      </p:pic>
    </p:spTree>
    <p:extLst>
      <p:ext uri="{BB962C8B-B14F-4D97-AF65-F5344CB8AC3E}">
        <p14:creationId xmlns:p14="http://schemas.microsoft.com/office/powerpoint/2010/main" val="4037473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87984-7766-1F18-58B3-7114D7F766A4}"/>
              </a:ext>
            </a:extLst>
          </p:cNvPr>
          <p:cNvSpPr>
            <a:spLocks noGrp="1"/>
          </p:cNvSpPr>
          <p:nvPr>
            <p:ph type="title"/>
          </p:nvPr>
        </p:nvSpPr>
        <p:spPr>
          <a:xfrm>
            <a:off x="239110" y="809923"/>
            <a:ext cx="6782840" cy="553998"/>
          </a:xfrm>
        </p:spPr>
        <p:txBody>
          <a:bodyPr/>
          <a:lstStyle/>
          <a:p>
            <a:r>
              <a:rPr lang="en-US" sz="3600" b="1" dirty="0">
                <a:solidFill>
                  <a:schemeClr val="tx1"/>
                </a:solidFill>
              </a:rPr>
              <a:t>Checksum (CHECK THE SUM)</a:t>
            </a:r>
            <a:endParaRPr lang="en-US" sz="3600" dirty="0"/>
          </a:p>
        </p:txBody>
      </p:sp>
      <p:sp>
        <p:nvSpPr>
          <p:cNvPr id="4" name="Rectangle 1">
            <a:extLst>
              <a:ext uri="{FF2B5EF4-FFF2-40B4-BE49-F238E27FC236}">
                <a16:creationId xmlns:a16="http://schemas.microsoft.com/office/drawing/2014/main" id="{F07C3CD3-ED5D-0EDB-BF31-D2FF9A34E290}"/>
              </a:ext>
            </a:extLst>
          </p:cNvPr>
          <p:cNvSpPr>
            <a:spLocks noGrp="1" noChangeArrowheads="1"/>
          </p:cNvSpPr>
          <p:nvPr>
            <p:ph type="body" idx="1"/>
          </p:nvPr>
        </p:nvSpPr>
        <p:spPr bwMode="auto">
          <a:xfrm>
            <a:off x="190499" y="1577876"/>
            <a:ext cx="8763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Sender’s End: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400" dirty="0">
                <a:solidFill>
                  <a:schemeClr val="tx1"/>
                </a:solidFill>
                <a:latin typeface="Times" panose="02020603050405020304" pitchFamily="18" charset="0"/>
                <a:cs typeface="Times" panose="02020603050405020304" pitchFamily="18" charset="0"/>
              </a:rPr>
              <a:t>T</a:t>
            </a:r>
            <a:r>
              <a:rPr kumimoji="0" lang="en-US" altLang="en-US" sz="24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he data is divided into </a:t>
            </a:r>
            <a:r>
              <a:rPr kumimoji="0" lang="en-US" altLang="en-US" sz="2400" b="1" i="1" u="none" strike="noStrike" cap="none" normalizeH="0" baseline="0" dirty="0">
                <a:ln>
                  <a:noFill/>
                </a:ln>
                <a:solidFill>
                  <a:schemeClr val="tx1"/>
                </a:solidFill>
                <a:effectLst/>
                <a:latin typeface="Times" panose="02020603050405020304" pitchFamily="18" charset="0"/>
                <a:cs typeface="Times" panose="02020603050405020304" pitchFamily="18" charset="0"/>
              </a:rPr>
              <a:t>k</a:t>
            </a:r>
            <a:r>
              <a:rPr kumimoji="0" lang="en-US" altLang="en-US" sz="24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segments, each of </a:t>
            </a:r>
            <a:r>
              <a:rPr kumimoji="0" lang="en-US" altLang="en-US" sz="2400" b="1" i="1" u="none" strike="noStrike" cap="none" normalizeH="0" baseline="0" dirty="0">
                <a:ln>
                  <a:noFill/>
                </a:ln>
                <a:solidFill>
                  <a:schemeClr val="tx1"/>
                </a:solidFill>
                <a:effectLst/>
                <a:latin typeface="Times" panose="02020603050405020304" pitchFamily="18" charset="0"/>
                <a:cs typeface="Times" panose="02020603050405020304" pitchFamily="18" charset="0"/>
              </a:rPr>
              <a:t>m</a:t>
            </a:r>
            <a:r>
              <a:rPr kumimoji="0" lang="en-US" altLang="en-US" sz="24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bits.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On the sender’s end, the segments are added using 1’s complement arithmetic to get the sum.</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The sum is complemented to get the checksum.</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The checksum segment is sent along with the data segments.</a:t>
            </a:r>
          </a:p>
        </p:txBody>
      </p:sp>
      <p:sp>
        <p:nvSpPr>
          <p:cNvPr id="6" name="TextBox 5">
            <a:extLst>
              <a:ext uri="{FF2B5EF4-FFF2-40B4-BE49-F238E27FC236}">
                <a16:creationId xmlns:a16="http://schemas.microsoft.com/office/drawing/2014/main" id="{DD8DEF39-9F19-104D-ADA5-0FD8AF4F6B97}"/>
              </a:ext>
            </a:extLst>
          </p:cNvPr>
          <p:cNvSpPr txBox="1"/>
          <p:nvPr/>
        </p:nvSpPr>
        <p:spPr>
          <a:xfrm>
            <a:off x="239110" y="4038600"/>
            <a:ext cx="8447141" cy="2308324"/>
          </a:xfrm>
          <a:prstGeom prst="rect">
            <a:avLst/>
          </a:prstGeom>
          <a:noFill/>
        </p:spPr>
        <p:txBody>
          <a:bodyPr wrap="square">
            <a:spAutoFit/>
          </a:bodyPr>
          <a:lstStyle/>
          <a:p>
            <a:pPr algn="just" eaLnBrk="0" fontAlgn="base" hangingPunct="0">
              <a:spcBef>
                <a:spcPct val="0"/>
              </a:spcBef>
              <a:spcAft>
                <a:spcPct val="0"/>
              </a:spcAft>
            </a:pPr>
            <a:r>
              <a:rPr lang="en-US" sz="2400" b="1" dirty="0">
                <a:latin typeface="Times" panose="02020603050405020304" pitchFamily="18" charset="0"/>
                <a:cs typeface="Times" panose="02020603050405020304" pitchFamily="18" charset="0"/>
              </a:rPr>
              <a:t>Receiver’s End: </a:t>
            </a:r>
          </a:p>
          <a:p>
            <a:pPr marL="285750" indent="-285750" algn="just" eaLnBrk="0" fontAlgn="base" hangingPunct="0">
              <a:spcBef>
                <a:spcPct val="0"/>
              </a:spcBef>
              <a:spcAft>
                <a:spcPct val="0"/>
              </a:spcAft>
              <a:buFont typeface="Arial" panose="020B0604020202020204" pitchFamily="34" charset="0"/>
              <a:buChar char="•"/>
            </a:pPr>
            <a:r>
              <a:rPr lang="en-US" sz="2400" dirty="0">
                <a:latin typeface="Times" panose="02020603050405020304" pitchFamily="18" charset="0"/>
                <a:cs typeface="Times" panose="02020603050405020304" pitchFamily="18" charset="0"/>
              </a:rPr>
              <a:t>At the receiver’s end, all received segments are added using 1’s complement arithmetic to get the sum. The sum is complemented.</a:t>
            </a:r>
          </a:p>
          <a:p>
            <a:pPr marL="285750" indent="-285750" algn="just" eaLnBrk="0" fontAlgn="base" hangingPunct="0">
              <a:spcBef>
                <a:spcPct val="0"/>
              </a:spcBef>
              <a:spcAft>
                <a:spcPct val="0"/>
              </a:spcAft>
              <a:buFont typeface="Arial" panose="020B0604020202020204" pitchFamily="34" charset="0"/>
              <a:buChar char="•"/>
            </a:pPr>
            <a:r>
              <a:rPr lang="en-US" sz="2400" dirty="0">
                <a:latin typeface="Times" panose="02020603050405020304" pitchFamily="18" charset="0"/>
                <a:cs typeface="Times" panose="02020603050405020304" pitchFamily="18" charset="0"/>
              </a:rPr>
              <a:t>If the result is zero, the received data is accepted; otherwise, it is discarded.</a:t>
            </a:r>
          </a:p>
        </p:txBody>
      </p:sp>
    </p:spTree>
    <p:extLst>
      <p:ext uri="{BB962C8B-B14F-4D97-AF65-F5344CB8AC3E}">
        <p14:creationId xmlns:p14="http://schemas.microsoft.com/office/powerpoint/2010/main" val="4150123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E45C870-851A-96AE-5505-D8B4041345CB}"/>
              </a:ext>
            </a:extLst>
          </p:cNvPr>
          <p:cNvSpPr>
            <a:spLocks noGrp="1"/>
          </p:cNvSpPr>
          <p:nvPr>
            <p:ph type="body" idx="1"/>
          </p:nvPr>
        </p:nvSpPr>
        <p:spPr>
          <a:xfrm>
            <a:off x="228600" y="1179255"/>
            <a:ext cx="8686800" cy="2554545"/>
          </a:xfrm>
        </p:spPr>
        <p:txBody>
          <a:bodyPr/>
          <a:lstStyle/>
          <a:p>
            <a:pPr algn="just" rtl="0" eaLnBrk="0" fontAlgn="base" hangingPunct="0">
              <a:spcBef>
                <a:spcPct val="0"/>
              </a:spcBef>
              <a:spcAft>
                <a:spcPct val="0"/>
              </a:spcAft>
            </a:pPr>
            <a:r>
              <a:rPr lang="en-US" sz="2800" b="1" kern="1200" dirty="0">
                <a:solidFill>
                  <a:schemeClr val="tx1"/>
                </a:solidFill>
                <a:latin typeface="Times" panose="02020603050405020304" pitchFamily="18" charset="0"/>
                <a:cs typeface="Times" panose="02020603050405020304" pitchFamily="18" charset="0"/>
              </a:rPr>
              <a:t>Performance</a:t>
            </a:r>
          </a:p>
          <a:p>
            <a:pPr marL="285750" indent="-285750" algn="just" rtl="0" eaLnBrk="0" fontAlgn="base" hangingPunct="0">
              <a:spcBef>
                <a:spcPct val="0"/>
              </a:spcBef>
              <a:spcAft>
                <a:spcPct val="0"/>
              </a:spcAft>
              <a:buFont typeface="Arial" panose="020B0604020202020204" pitchFamily="34" charset="0"/>
              <a:buChar char="•"/>
            </a:pPr>
            <a:r>
              <a:rPr lang="en-US" sz="2800" kern="1200" dirty="0">
                <a:solidFill>
                  <a:schemeClr val="tx1"/>
                </a:solidFill>
                <a:latin typeface="Times" panose="02020603050405020304" pitchFamily="18" charset="0"/>
                <a:cs typeface="Times" panose="02020603050405020304" pitchFamily="18" charset="0"/>
              </a:rPr>
              <a:t>The checksum detects all errors involving an odd number of bits.</a:t>
            </a:r>
          </a:p>
          <a:p>
            <a:pPr marL="285750" indent="-285750" algn="just" rtl="0" eaLnBrk="0" fontAlgn="base" hangingPunct="0">
              <a:spcBef>
                <a:spcPct val="0"/>
              </a:spcBef>
              <a:spcAft>
                <a:spcPct val="0"/>
              </a:spcAft>
              <a:buFont typeface="Arial" panose="020B0604020202020204" pitchFamily="34" charset="0"/>
              <a:buChar char="•"/>
            </a:pPr>
            <a:r>
              <a:rPr lang="en-US" sz="2800" kern="1200" dirty="0">
                <a:solidFill>
                  <a:schemeClr val="tx1"/>
                </a:solidFill>
                <a:latin typeface="Times" panose="02020603050405020304" pitchFamily="18" charset="0"/>
                <a:cs typeface="Times" panose="02020603050405020304" pitchFamily="18" charset="0"/>
              </a:rPr>
              <a:t>It also detects most errors involving an even number of bits.</a:t>
            </a:r>
          </a:p>
          <a:p>
            <a:endParaRPr lang="en-US" dirty="0"/>
          </a:p>
        </p:txBody>
      </p:sp>
    </p:spTree>
    <p:extLst>
      <p:ext uri="{BB962C8B-B14F-4D97-AF65-F5344CB8AC3E}">
        <p14:creationId xmlns:p14="http://schemas.microsoft.com/office/powerpoint/2010/main" val="615157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124C6E-23B3-4338-2069-E5E5529F764A}"/>
              </a:ext>
            </a:extLst>
          </p:cNvPr>
          <p:cNvPicPr>
            <a:picLocks noChangeAspect="1"/>
          </p:cNvPicPr>
          <p:nvPr/>
        </p:nvPicPr>
        <p:blipFill>
          <a:blip r:embed="rId2"/>
          <a:stretch>
            <a:fillRect/>
          </a:stretch>
        </p:blipFill>
        <p:spPr>
          <a:xfrm>
            <a:off x="762000" y="193047"/>
            <a:ext cx="7467600" cy="6471905"/>
          </a:xfrm>
          <a:prstGeom prst="rect">
            <a:avLst/>
          </a:prstGeom>
        </p:spPr>
      </p:pic>
      <p:pic>
        <p:nvPicPr>
          <p:cNvPr id="3" name="Picture 2">
            <a:extLst>
              <a:ext uri="{FF2B5EF4-FFF2-40B4-BE49-F238E27FC236}">
                <a16:creationId xmlns:a16="http://schemas.microsoft.com/office/drawing/2014/main" id="{B107DBE1-2181-4017-A4C8-E1058E23E551}"/>
              </a:ext>
            </a:extLst>
          </p:cNvPr>
          <p:cNvPicPr>
            <a:picLocks noChangeAspect="1"/>
          </p:cNvPicPr>
          <p:nvPr/>
        </p:nvPicPr>
        <p:blipFill>
          <a:blip r:embed="rId3"/>
          <a:stretch>
            <a:fillRect/>
          </a:stretch>
        </p:blipFill>
        <p:spPr>
          <a:xfrm>
            <a:off x="228600" y="304800"/>
            <a:ext cx="1927647" cy="607782"/>
          </a:xfrm>
          <a:prstGeom prst="rect">
            <a:avLst/>
          </a:prstGeom>
        </p:spPr>
      </p:pic>
      <p:pic>
        <p:nvPicPr>
          <p:cNvPr id="6" name="Picture 5">
            <a:extLst>
              <a:ext uri="{FF2B5EF4-FFF2-40B4-BE49-F238E27FC236}">
                <a16:creationId xmlns:a16="http://schemas.microsoft.com/office/drawing/2014/main" id="{FFE7828C-23BA-2DEB-31A0-EB7EC18A013E}"/>
              </a:ext>
            </a:extLst>
          </p:cNvPr>
          <p:cNvPicPr>
            <a:picLocks noChangeAspect="1"/>
          </p:cNvPicPr>
          <p:nvPr/>
        </p:nvPicPr>
        <p:blipFill>
          <a:blip r:embed="rId4"/>
          <a:stretch>
            <a:fillRect/>
          </a:stretch>
        </p:blipFill>
        <p:spPr>
          <a:xfrm>
            <a:off x="7895103" y="267134"/>
            <a:ext cx="875259" cy="694350"/>
          </a:xfrm>
          <a:prstGeom prst="rect">
            <a:avLst/>
          </a:prstGeom>
        </p:spPr>
      </p:pic>
    </p:spTree>
    <p:extLst>
      <p:ext uri="{BB962C8B-B14F-4D97-AF65-F5344CB8AC3E}">
        <p14:creationId xmlns:p14="http://schemas.microsoft.com/office/powerpoint/2010/main" val="2800827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ADCC6-301B-FCC7-E8A9-7EFCF08367D6}"/>
              </a:ext>
            </a:extLst>
          </p:cNvPr>
          <p:cNvSpPr>
            <a:spLocks noGrp="1"/>
          </p:cNvSpPr>
          <p:nvPr>
            <p:ph type="title"/>
          </p:nvPr>
        </p:nvSpPr>
        <p:spPr>
          <a:xfrm>
            <a:off x="197066" y="1600200"/>
            <a:ext cx="8013039" cy="615553"/>
          </a:xfrm>
        </p:spPr>
        <p:txBody>
          <a:bodyPr/>
          <a:lstStyle/>
          <a:p>
            <a:r>
              <a:rPr lang="en-US" dirty="0"/>
              <a:t>Cyclic Redundancy Check (CRC)</a:t>
            </a:r>
          </a:p>
        </p:txBody>
      </p:sp>
      <p:sp>
        <p:nvSpPr>
          <p:cNvPr id="10" name="TextBox 9">
            <a:extLst>
              <a:ext uri="{FF2B5EF4-FFF2-40B4-BE49-F238E27FC236}">
                <a16:creationId xmlns:a16="http://schemas.microsoft.com/office/drawing/2014/main" id="{B6B1E90E-25F5-A9B8-AAC1-6CEE8BB83B2C}"/>
              </a:ext>
            </a:extLst>
          </p:cNvPr>
          <p:cNvSpPr txBox="1"/>
          <p:nvPr/>
        </p:nvSpPr>
        <p:spPr>
          <a:xfrm>
            <a:off x="197066" y="2514600"/>
            <a:ext cx="8349921" cy="3323987"/>
          </a:xfrm>
          <a:prstGeom prst="rect">
            <a:avLst/>
          </a:prstGeom>
          <a:noFill/>
        </p:spPr>
        <p:txBody>
          <a:bodyPr wrap="square" rtlCol="0">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sz="2400" dirty="0">
                <a:latin typeface="Perpetua" panose="02020502060401020303" pitchFamily="18" charset="0"/>
                <a:cs typeface="Times" panose="02020603050405020304" pitchFamily="18" charset="0"/>
              </a:rPr>
              <a:t>CRC is the most powerful and easiest to implement technique</a:t>
            </a:r>
          </a:p>
          <a:p>
            <a:pPr marL="285750" lvl="0" indent="-285750" algn="just" eaLnBrk="0" fontAlgn="base" hangingPunct="0">
              <a:spcBef>
                <a:spcPct val="0"/>
              </a:spcBef>
              <a:spcAft>
                <a:spcPct val="0"/>
              </a:spcAft>
              <a:buFont typeface="Arial" panose="020B0604020202020204" pitchFamily="34" charset="0"/>
              <a:buChar char="•"/>
            </a:pPr>
            <a:endParaRPr lang="en-US" altLang="en-US" sz="2400" dirty="0">
              <a:latin typeface="Perpetua" panose="02020502060401020303" pitchFamily="18" charset="0"/>
              <a:cs typeface="Times"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altLang="en-US" sz="2400" dirty="0">
                <a:latin typeface="Perpetua" panose="02020502060401020303" pitchFamily="18" charset="0"/>
                <a:cs typeface="Times" panose="02020603050405020304" pitchFamily="18" charset="0"/>
              </a:rPr>
              <a:t>CRC is based on binary division.</a:t>
            </a:r>
          </a:p>
          <a:p>
            <a:pPr marL="285750" lvl="0" indent="-285750" algn="just" eaLnBrk="0" fontAlgn="base" hangingPunct="0">
              <a:spcBef>
                <a:spcPct val="0"/>
              </a:spcBef>
              <a:spcAft>
                <a:spcPct val="0"/>
              </a:spcAft>
              <a:buFont typeface="Arial" panose="020B0604020202020204" pitchFamily="34" charset="0"/>
              <a:buChar char="•"/>
            </a:pPr>
            <a:endParaRPr lang="en-US" altLang="en-US" sz="2400" dirty="0">
              <a:latin typeface="Perpetua" panose="02020502060401020303" pitchFamily="18" charset="0"/>
              <a:cs typeface="Times"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altLang="en-US" sz="2400" dirty="0">
                <a:latin typeface="Perpetua" panose="02020502060401020303" pitchFamily="18" charset="0"/>
                <a:cs typeface="Times" panose="02020603050405020304" pitchFamily="18" charset="0"/>
              </a:rPr>
              <a:t>The divisor is generated using polynomials.</a:t>
            </a:r>
          </a:p>
          <a:p>
            <a:pPr marL="285750" lvl="0" indent="-285750" algn="just" eaLnBrk="0" fontAlgn="base" hangingPunct="0">
              <a:spcBef>
                <a:spcPct val="0"/>
              </a:spcBef>
              <a:spcAft>
                <a:spcPct val="0"/>
              </a:spcAft>
              <a:buFont typeface="Arial" panose="020B0604020202020204" pitchFamily="34" charset="0"/>
              <a:buChar char="•"/>
            </a:pPr>
            <a:endParaRPr lang="en-US" altLang="en-US" sz="2400" dirty="0">
              <a:latin typeface="Perpetua" panose="02020502060401020303" pitchFamily="18" charset="0"/>
              <a:cs typeface="Times"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altLang="en-US" sz="2400" dirty="0">
                <a:latin typeface="Perpetua" panose="02020502060401020303" pitchFamily="18" charset="0"/>
                <a:cs typeface="Times" panose="02020603050405020304" pitchFamily="18" charset="0"/>
              </a:rPr>
              <a:t>It is commonly used to detect accidental changes to data transmitted via telecommunications networks and storage devices.</a:t>
            </a:r>
          </a:p>
          <a:p>
            <a:endParaRPr lang="en-US" dirty="0"/>
          </a:p>
        </p:txBody>
      </p:sp>
    </p:spTree>
    <p:extLst>
      <p:ext uri="{BB962C8B-B14F-4D97-AF65-F5344CB8AC3E}">
        <p14:creationId xmlns:p14="http://schemas.microsoft.com/office/powerpoint/2010/main" val="4138173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FD97BB5-8B4E-C160-E712-41DBB6053655}"/>
              </a:ext>
            </a:extLst>
          </p:cNvPr>
          <p:cNvSpPr>
            <a:spLocks noGrp="1" noChangeArrowheads="1"/>
          </p:cNvSpPr>
          <p:nvPr>
            <p:ph type="body" idx="1"/>
          </p:nvPr>
        </p:nvSpPr>
        <p:spPr bwMode="auto">
          <a:xfrm>
            <a:off x="152400" y="1295400"/>
            <a:ext cx="8534401"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400" kern="1200" dirty="0">
                <a:solidFill>
                  <a:schemeClr val="tx1"/>
                </a:solidFill>
                <a:latin typeface="Perpetua" panose="02020502060401020303" pitchFamily="18" charset="0"/>
                <a:cs typeface="Times" panose="02020603050405020304" pitchFamily="18" charset="0"/>
              </a:rPr>
              <a:t>The sender performs a division operation on the bits being sent and calculates the remainder.</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kern="1200" dirty="0">
              <a:solidFill>
                <a:schemeClr val="tx1"/>
              </a:solidFill>
              <a:latin typeface="Perpetua" panose="02020502060401020303" pitchFamily="18" charset="0"/>
              <a:cs typeface="Times"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400" kern="1200" dirty="0">
                <a:solidFill>
                  <a:schemeClr val="tx1"/>
                </a:solidFill>
                <a:latin typeface="Perpetua" panose="02020502060401020303" pitchFamily="18" charset="0"/>
                <a:cs typeface="Times" panose="02020603050405020304" pitchFamily="18" charset="0"/>
              </a:rPr>
              <a:t>Before sending the actual bits, the sender adds the remainder at the end of the actual bits.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kern="1200" dirty="0">
              <a:solidFill>
                <a:schemeClr val="tx1"/>
              </a:solidFill>
              <a:latin typeface="Perpetua" panose="02020502060401020303" pitchFamily="18" charset="0"/>
              <a:cs typeface="Times"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400" u="sng" kern="1200" dirty="0">
                <a:solidFill>
                  <a:schemeClr val="tx1"/>
                </a:solidFill>
                <a:latin typeface="Perpetua" panose="02020502060401020303" pitchFamily="18" charset="0"/>
                <a:cs typeface="Times" panose="02020603050405020304" pitchFamily="18" charset="0"/>
              </a:rPr>
              <a:t>Actual data bits plus the remainder </a:t>
            </a:r>
            <a:r>
              <a:rPr lang="en-US" altLang="en-US" sz="2400" kern="1200" dirty="0">
                <a:solidFill>
                  <a:schemeClr val="tx1"/>
                </a:solidFill>
                <a:latin typeface="Perpetua" panose="02020502060401020303" pitchFamily="18" charset="0"/>
                <a:cs typeface="Times" panose="02020603050405020304" pitchFamily="18" charset="0"/>
              </a:rPr>
              <a:t>are called a </a:t>
            </a:r>
            <a:r>
              <a:rPr lang="en-US" altLang="en-US" sz="2400" b="1" kern="1200" dirty="0">
                <a:solidFill>
                  <a:schemeClr val="tx1"/>
                </a:solidFill>
                <a:latin typeface="Perpetua" panose="02020502060401020303" pitchFamily="18" charset="0"/>
                <a:cs typeface="Times" panose="02020603050405020304" pitchFamily="18" charset="0"/>
              </a:rPr>
              <a:t>codeword</a:t>
            </a:r>
            <a:r>
              <a:rPr lang="en-US" altLang="en-US" sz="2400" kern="1200" dirty="0">
                <a:solidFill>
                  <a:schemeClr val="tx1"/>
                </a:solidFill>
                <a:latin typeface="Perpetua" panose="02020502060401020303" pitchFamily="18" charset="0"/>
                <a:cs typeface="Times" panose="02020603050405020304" pitchFamily="18" charset="0"/>
              </a:rPr>
              <a:t>. The sender transmits data bits as codewords.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kern="1200" dirty="0">
              <a:solidFill>
                <a:schemeClr val="tx1"/>
              </a:solidFill>
              <a:latin typeface="Perpetua" panose="02020502060401020303" pitchFamily="18" charset="0"/>
              <a:cs typeface="Times"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400" kern="1200" dirty="0">
                <a:solidFill>
                  <a:schemeClr val="tx1"/>
                </a:solidFill>
                <a:latin typeface="Perpetua" panose="02020502060401020303" pitchFamily="18" charset="0"/>
                <a:cs typeface="Times" panose="02020603050405020304" pitchFamily="18" charset="0"/>
              </a:rPr>
              <a:t>At the other end, the receiver performs a division operation on codewords using the same CRC divisor.</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kern="1200" dirty="0">
              <a:solidFill>
                <a:schemeClr val="tx1"/>
              </a:solidFill>
              <a:latin typeface="Perpetua" panose="02020502060401020303" pitchFamily="18" charset="0"/>
              <a:cs typeface="Times"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400" kern="1200" dirty="0">
                <a:solidFill>
                  <a:schemeClr val="tx1"/>
                </a:solidFill>
                <a:latin typeface="Perpetua" panose="02020502060401020303" pitchFamily="18" charset="0"/>
                <a:cs typeface="Times" panose="02020603050405020304" pitchFamily="18" charset="0"/>
              </a:rPr>
              <a:t>If the remainder contains all zeros, the data bits are accepted; otherwise, it is considered that some data corruption occurred in transit.</a:t>
            </a:r>
          </a:p>
        </p:txBody>
      </p:sp>
    </p:spTree>
    <p:extLst>
      <p:ext uri="{BB962C8B-B14F-4D97-AF65-F5344CB8AC3E}">
        <p14:creationId xmlns:p14="http://schemas.microsoft.com/office/powerpoint/2010/main" val="3366372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3E6714-65C5-5E44-C0E8-FC08A97EEA15}"/>
              </a:ext>
            </a:extLst>
          </p:cNvPr>
          <p:cNvPicPr>
            <a:picLocks noChangeAspect="1"/>
          </p:cNvPicPr>
          <p:nvPr/>
        </p:nvPicPr>
        <p:blipFill>
          <a:blip r:embed="rId2"/>
          <a:stretch>
            <a:fillRect/>
          </a:stretch>
        </p:blipFill>
        <p:spPr>
          <a:xfrm>
            <a:off x="0" y="385960"/>
            <a:ext cx="9144000" cy="6086080"/>
          </a:xfrm>
          <a:prstGeom prst="rect">
            <a:avLst/>
          </a:prstGeom>
        </p:spPr>
      </p:pic>
    </p:spTree>
    <p:extLst>
      <p:ext uri="{BB962C8B-B14F-4D97-AF65-F5344CB8AC3E}">
        <p14:creationId xmlns:p14="http://schemas.microsoft.com/office/powerpoint/2010/main" val="1950059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13FD9-C2BF-A599-7527-D54FBACCC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D6F31-3ACA-6579-ACC5-9F2BF07FC631}"/>
              </a:ext>
            </a:extLst>
          </p:cNvPr>
          <p:cNvSpPr>
            <a:spLocks noGrp="1"/>
          </p:cNvSpPr>
          <p:nvPr>
            <p:ph type="title"/>
          </p:nvPr>
        </p:nvSpPr>
        <p:spPr>
          <a:xfrm>
            <a:off x="364524" y="228600"/>
            <a:ext cx="828641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27306BA7-2F72-2ACD-1FD3-5B5841888AAA}"/>
              </a:ext>
            </a:extLst>
          </p:cNvPr>
          <p:cNvSpPr>
            <a:spLocks noGrp="1"/>
          </p:cNvSpPr>
          <p:nvPr>
            <p:ph type="body" idx="1"/>
          </p:nvPr>
        </p:nvSpPr>
        <p:spPr>
          <a:xfrm>
            <a:off x="385119" y="1066800"/>
            <a:ext cx="8763000" cy="4801314"/>
          </a:xfrm>
        </p:spPr>
        <p:txBody>
          <a:bodyPr/>
          <a:lstStyle/>
          <a:p>
            <a:r>
              <a:rPr lang="en-US" b="1" dirty="0">
                <a:solidFill>
                  <a:schemeClr val="tx1"/>
                </a:solidFill>
              </a:rPr>
              <a:t>Access Control Methods: Managing Shared Medium Access</a:t>
            </a:r>
          </a:p>
          <a:p>
            <a:endParaRPr lang="en-IN" dirty="0">
              <a:solidFill>
                <a:schemeClr val="tx1"/>
              </a:solidFill>
            </a:endParaRPr>
          </a:p>
          <a:p>
            <a:r>
              <a:rPr lang="en-US" b="1" dirty="0">
                <a:solidFill>
                  <a:schemeClr val="tx1"/>
                </a:solidFill>
              </a:rPr>
              <a:t>CSMA/CD (Collision Detection)</a:t>
            </a:r>
            <a:endParaRPr lang="en-IN" dirty="0">
              <a:solidFill>
                <a:schemeClr val="tx1"/>
              </a:solidFill>
            </a:endParaRPr>
          </a:p>
          <a:p>
            <a:r>
              <a:rPr lang="en-US" dirty="0">
                <a:solidFill>
                  <a:schemeClr val="tx1"/>
                </a:solidFill>
              </a:rPr>
              <a:t>• Used in wired Ethernet networks</a:t>
            </a:r>
            <a:br>
              <a:rPr lang="en-US" dirty="0">
                <a:solidFill>
                  <a:schemeClr val="tx1"/>
                </a:solidFill>
              </a:rPr>
            </a:br>
            <a:r>
              <a:rPr lang="en-US" dirty="0">
                <a:solidFill>
                  <a:schemeClr val="tx1"/>
                </a:solidFill>
              </a:rPr>
              <a:t>• Listen before transmitting</a:t>
            </a:r>
            <a:br>
              <a:rPr lang="en-US" dirty="0">
                <a:solidFill>
                  <a:schemeClr val="tx1"/>
                </a:solidFill>
              </a:rPr>
            </a:br>
            <a:r>
              <a:rPr lang="en-US" dirty="0">
                <a:solidFill>
                  <a:schemeClr val="tx1"/>
                </a:solidFill>
              </a:rPr>
              <a:t>• Detect collisions and retransmit</a:t>
            </a:r>
            <a:br>
              <a:rPr lang="en-US" dirty="0">
                <a:solidFill>
                  <a:schemeClr val="tx1"/>
                </a:solidFill>
              </a:rPr>
            </a:br>
            <a:r>
              <a:rPr lang="en-US" dirty="0">
                <a:solidFill>
                  <a:schemeClr val="tx1"/>
                </a:solidFill>
              </a:rPr>
              <a:t>• </a:t>
            </a:r>
            <a:r>
              <a:rPr lang="en-US" b="1" dirty="0">
                <a:solidFill>
                  <a:schemeClr val="tx1"/>
                </a:solidFill>
              </a:rPr>
              <a:t>Process</a:t>
            </a:r>
            <a:r>
              <a:rPr lang="en-US" dirty="0">
                <a:solidFill>
                  <a:schemeClr val="tx1"/>
                </a:solidFill>
              </a:rPr>
              <a:t>: Sense → Transmit → Detect → Backoff → Retry</a:t>
            </a:r>
            <a:endParaRPr lang="en-IN" dirty="0">
              <a:solidFill>
                <a:schemeClr val="tx1"/>
              </a:solidFill>
            </a:endParaRPr>
          </a:p>
          <a:p>
            <a:endParaRPr lang="en-US" b="1" dirty="0">
              <a:solidFill>
                <a:schemeClr val="tx1"/>
              </a:solidFill>
            </a:endParaRPr>
          </a:p>
          <a:p>
            <a:r>
              <a:rPr lang="en-US" b="1" dirty="0">
                <a:solidFill>
                  <a:schemeClr val="tx1"/>
                </a:solidFill>
              </a:rPr>
              <a:t>CSMA/CA (Collision Avoidance)</a:t>
            </a:r>
            <a:endParaRPr lang="en-IN" dirty="0">
              <a:solidFill>
                <a:schemeClr val="tx1"/>
              </a:solidFill>
            </a:endParaRPr>
          </a:p>
          <a:p>
            <a:r>
              <a:rPr lang="en-US" dirty="0">
                <a:solidFill>
                  <a:schemeClr val="tx1"/>
                </a:solidFill>
              </a:rPr>
              <a:t>• Used in wireless networks (</a:t>
            </a:r>
            <a:r>
              <a:rPr lang="en-US" dirty="0" err="1">
                <a:solidFill>
                  <a:schemeClr val="tx1"/>
                </a:solidFill>
              </a:rPr>
              <a:t>WiFi</a:t>
            </a:r>
            <a:r>
              <a:rPr lang="en-US" dirty="0">
                <a:solidFill>
                  <a:schemeClr val="tx1"/>
                </a:solidFill>
              </a:rPr>
              <a:t>)</a:t>
            </a:r>
            <a:br>
              <a:rPr lang="en-US" dirty="0">
                <a:solidFill>
                  <a:schemeClr val="tx1"/>
                </a:solidFill>
              </a:rPr>
            </a:br>
            <a:r>
              <a:rPr lang="en-US" dirty="0">
                <a:solidFill>
                  <a:schemeClr val="tx1"/>
                </a:solidFill>
              </a:rPr>
              <a:t>• Avoid collisions through coordination</a:t>
            </a:r>
            <a:br>
              <a:rPr lang="en-US" dirty="0">
                <a:solidFill>
                  <a:schemeClr val="tx1"/>
                </a:solidFill>
              </a:rPr>
            </a:br>
            <a:r>
              <a:rPr lang="en-US" dirty="0">
                <a:solidFill>
                  <a:schemeClr val="tx1"/>
                </a:solidFill>
              </a:rPr>
              <a:t>• </a:t>
            </a:r>
            <a:r>
              <a:rPr lang="en-US" b="1" dirty="0">
                <a:solidFill>
                  <a:schemeClr val="tx1"/>
                </a:solidFill>
              </a:rPr>
              <a:t>Mechanisms</a:t>
            </a:r>
            <a:r>
              <a:rPr lang="en-US" dirty="0">
                <a:solidFill>
                  <a:schemeClr val="tx1"/>
                </a:solidFill>
              </a:rPr>
              <a:t>: RTS/CTS, Interframe spacing</a:t>
            </a:r>
            <a:endParaRPr lang="en-IN" dirty="0">
              <a:solidFill>
                <a:schemeClr val="tx1"/>
              </a:solidFill>
            </a:endParaRPr>
          </a:p>
        </p:txBody>
      </p:sp>
    </p:spTree>
    <p:extLst>
      <p:ext uri="{BB962C8B-B14F-4D97-AF65-F5344CB8AC3E}">
        <p14:creationId xmlns:p14="http://schemas.microsoft.com/office/powerpoint/2010/main" val="1835381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B2A3A-A26E-E0CC-5A90-EA48D458F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BECC7-8716-62D8-45AC-7F5834FDDB4B}"/>
              </a:ext>
            </a:extLst>
          </p:cNvPr>
          <p:cNvSpPr>
            <a:spLocks noGrp="1"/>
          </p:cNvSpPr>
          <p:nvPr>
            <p:ph type="title"/>
          </p:nvPr>
        </p:nvSpPr>
        <p:spPr>
          <a:xfrm>
            <a:off x="364524" y="228600"/>
            <a:ext cx="8286419" cy="615553"/>
          </a:xfrm>
        </p:spPr>
        <p:txBody>
          <a:bodyPr/>
          <a:lstStyle/>
          <a:p>
            <a:r>
              <a:rPr lang="en-US" dirty="0"/>
              <a:t>Data Link Layer</a:t>
            </a:r>
            <a:endParaRPr lang="en-IN" dirty="0"/>
          </a:p>
        </p:txBody>
      </p:sp>
      <p:sp>
        <p:nvSpPr>
          <p:cNvPr id="3" name="Text Placeholder 2">
            <a:extLst>
              <a:ext uri="{FF2B5EF4-FFF2-40B4-BE49-F238E27FC236}">
                <a16:creationId xmlns:a16="http://schemas.microsoft.com/office/drawing/2014/main" id="{D9EA4998-B634-96AD-5469-BA863F991912}"/>
              </a:ext>
            </a:extLst>
          </p:cNvPr>
          <p:cNvSpPr>
            <a:spLocks noGrp="1"/>
          </p:cNvSpPr>
          <p:nvPr>
            <p:ph type="body" idx="1"/>
          </p:nvPr>
        </p:nvSpPr>
        <p:spPr>
          <a:xfrm>
            <a:off x="381000" y="1066800"/>
            <a:ext cx="8763000" cy="1600438"/>
          </a:xfrm>
        </p:spPr>
        <p:txBody>
          <a:bodyPr/>
          <a:lstStyle/>
          <a:p>
            <a:r>
              <a:rPr lang="en-IN" dirty="0">
                <a:solidFill>
                  <a:schemeClr val="tx1"/>
                </a:solidFill>
              </a:rPr>
              <a:t>CSMA/CD vs CSMA/CA</a:t>
            </a:r>
          </a:p>
          <a:p>
            <a:endParaRPr lang="en-IN" dirty="0">
              <a:solidFill>
                <a:schemeClr val="tx1"/>
              </a:solidFill>
            </a:endParaRPr>
          </a:p>
          <a:p>
            <a:endParaRPr lang="en-IN" dirty="0">
              <a:solidFill>
                <a:schemeClr val="tx1"/>
              </a:solidFill>
            </a:endParaRPr>
          </a:p>
          <a:p>
            <a:endParaRPr lang="en-IN" dirty="0">
              <a:solidFill>
                <a:schemeClr val="tx1"/>
              </a:solidFill>
            </a:endParaRPr>
          </a:p>
        </p:txBody>
      </p:sp>
      <p:graphicFrame>
        <p:nvGraphicFramePr>
          <p:cNvPr id="6" name="Table 5">
            <a:extLst>
              <a:ext uri="{FF2B5EF4-FFF2-40B4-BE49-F238E27FC236}">
                <a16:creationId xmlns:a16="http://schemas.microsoft.com/office/drawing/2014/main" id="{90FB225C-4709-6BD5-918B-12A3DD220501}"/>
              </a:ext>
            </a:extLst>
          </p:cNvPr>
          <p:cNvGraphicFramePr>
            <a:graphicFrameLocks noGrp="1"/>
          </p:cNvGraphicFramePr>
          <p:nvPr>
            <p:extLst>
              <p:ext uri="{D42A27DB-BD31-4B8C-83A1-F6EECF244321}">
                <p14:modId xmlns:p14="http://schemas.microsoft.com/office/powerpoint/2010/main" val="492966479"/>
              </p:ext>
            </p:extLst>
          </p:nvPr>
        </p:nvGraphicFramePr>
        <p:xfrm>
          <a:off x="364524" y="1524000"/>
          <a:ext cx="8449962" cy="4812414"/>
        </p:xfrm>
        <a:graphic>
          <a:graphicData uri="http://schemas.openxmlformats.org/drawingml/2006/table">
            <a:tbl>
              <a:tblPr firstRow="1" firstCol="1" bandRow="1">
                <a:tableStyleId>{5C22544A-7EE6-4342-B048-85BDC9FD1C3A}</a:tableStyleId>
              </a:tblPr>
              <a:tblGrid>
                <a:gridCol w="2816654">
                  <a:extLst>
                    <a:ext uri="{9D8B030D-6E8A-4147-A177-3AD203B41FA5}">
                      <a16:colId xmlns:a16="http://schemas.microsoft.com/office/drawing/2014/main" val="3657084867"/>
                    </a:ext>
                  </a:extLst>
                </a:gridCol>
                <a:gridCol w="2310794">
                  <a:extLst>
                    <a:ext uri="{9D8B030D-6E8A-4147-A177-3AD203B41FA5}">
                      <a16:colId xmlns:a16="http://schemas.microsoft.com/office/drawing/2014/main" val="527177009"/>
                    </a:ext>
                  </a:extLst>
                </a:gridCol>
                <a:gridCol w="3322514">
                  <a:extLst>
                    <a:ext uri="{9D8B030D-6E8A-4147-A177-3AD203B41FA5}">
                      <a16:colId xmlns:a16="http://schemas.microsoft.com/office/drawing/2014/main" val="318536397"/>
                    </a:ext>
                  </a:extLst>
                </a:gridCol>
              </a:tblGrid>
              <a:tr h="397237">
                <a:tc>
                  <a:txBody>
                    <a:bodyPr/>
                    <a:lstStyle/>
                    <a:p>
                      <a:pPr>
                        <a:lnSpc>
                          <a:spcPct val="150000"/>
                        </a:lnSpc>
                        <a:spcAft>
                          <a:spcPts val="600"/>
                        </a:spcAft>
                        <a:buNone/>
                      </a:pPr>
                      <a:r>
                        <a:rPr lang="en-US" sz="2200" dirty="0">
                          <a:effectLst/>
                        </a:rPr>
                        <a:t>Aspect</a:t>
                      </a:r>
                      <a:endParaRPr lang="en-IN" sz="2200" dirty="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a:effectLst/>
                        </a:rPr>
                        <a:t>CSMA/CD</a:t>
                      </a:r>
                      <a:endParaRPr lang="en-IN" sz="220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a:effectLst/>
                        </a:rPr>
                        <a:t>CSMA/CA</a:t>
                      </a:r>
                      <a:endParaRPr lang="en-IN" sz="220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1130773174"/>
                  </a:ext>
                </a:extLst>
              </a:tr>
              <a:tr h="397237">
                <a:tc>
                  <a:txBody>
                    <a:bodyPr/>
                    <a:lstStyle/>
                    <a:p>
                      <a:pPr>
                        <a:lnSpc>
                          <a:spcPct val="150000"/>
                        </a:lnSpc>
                        <a:spcAft>
                          <a:spcPts val="600"/>
                        </a:spcAft>
                        <a:buNone/>
                      </a:pPr>
                      <a:r>
                        <a:rPr lang="en-US" sz="2200" dirty="0">
                          <a:effectLst/>
                        </a:rPr>
                        <a:t>Usage</a:t>
                      </a:r>
                      <a:endParaRPr lang="en-IN" sz="2200" dirty="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a:effectLst/>
                        </a:rPr>
                        <a:t>Wired Ethernet</a:t>
                      </a:r>
                      <a:endParaRPr lang="en-IN" sz="220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a:effectLst/>
                        </a:rPr>
                        <a:t>Wireless Networks</a:t>
                      </a:r>
                      <a:endParaRPr lang="en-IN" sz="220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2372521404"/>
                  </a:ext>
                </a:extLst>
              </a:tr>
              <a:tr h="397237">
                <a:tc>
                  <a:txBody>
                    <a:bodyPr/>
                    <a:lstStyle/>
                    <a:p>
                      <a:pPr>
                        <a:lnSpc>
                          <a:spcPct val="150000"/>
                        </a:lnSpc>
                        <a:spcAft>
                          <a:spcPts val="600"/>
                        </a:spcAft>
                        <a:buNone/>
                      </a:pPr>
                      <a:r>
                        <a:rPr lang="en-US" sz="2200" dirty="0">
                          <a:effectLst/>
                        </a:rPr>
                        <a:t>Collision Handling</a:t>
                      </a:r>
                      <a:endParaRPr lang="en-IN" sz="2200" dirty="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dirty="0">
                          <a:effectLst/>
                        </a:rPr>
                        <a:t>Detect after occurrence</a:t>
                      </a:r>
                      <a:endParaRPr lang="en-IN" sz="2200" dirty="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a:effectLst/>
                        </a:rPr>
                        <a:t>Avoid before occurrence</a:t>
                      </a:r>
                      <a:endParaRPr lang="en-IN" sz="220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1194148421"/>
                  </a:ext>
                </a:extLst>
              </a:tr>
              <a:tr h="397237">
                <a:tc>
                  <a:txBody>
                    <a:bodyPr/>
                    <a:lstStyle/>
                    <a:p>
                      <a:pPr>
                        <a:lnSpc>
                          <a:spcPct val="150000"/>
                        </a:lnSpc>
                        <a:spcAft>
                          <a:spcPts val="600"/>
                        </a:spcAft>
                        <a:buNone/>
                      </a:pPr>
                      <a:r>
                        <a:rPr lang="en-US" sz="2200">
                          <a:effectLst/>
                        </a:rPr>
                        <a:t>Efficiency</a:t>
                      </a:r>
                      <a:endParaRPr lang="en-IN" sz="220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dirty="0">
                          <a:effectLst/>
                        </a:rPr>
                        <a:t>Higher throughput</a:t>
                      </a:r>
                      <a:endParaRPr lang="en-IN" sz="2200" dirty="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a:effectLst/>
                        </a:rPr>
                        <a:t>Lower overhead in wireless</a:t>
                      </a:r>
                      <a:endParaRPr lang="en-IN" sz="220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617227714"/>
                  </a:ext>
                </a:extLst>
              </a:tr>
              <a:tr h="397237">
                <a:tc>
                  <a:txBody>
                    <a:bodyPr/>
                    <a:lstStyle/>
                    <a:p>
                      <a:pPr>
                        <a:lnSpc>
                          <a:spcPct val="150000"/>
                        </a:lnSpc>
                        <a:spcAft>
                          <a:spcPts val="600"/>
                        </a:spcAft>
                        <a:buNone/>
                      </a:pPr>
                      <a:r>
                        <a:rPr lang="en-US" sz="2200">
                          <a:effectLst/>
                        </a:rPr>
                        <a:t>Complexity</a:t>
                      </a:r>
                      <a:endParaRPr lang="en-IN" sz="220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dirty="0">
                          <a:effectLst/>
                        </a:rPr>
                        <a:t>Simpler</a:t>
                      </a:r>
                      <a:endParaRPr lang="en-IN" sz="2200" dirty="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dirty="0">
                          <a:effectLst/>
                        </a:rPr>
                        <a:t>More complex protocols</a:t>
                      </a:r>
                      <a:endParaRPr lang="en-IN" sz="2200" dirty="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4211517433"/>
                  </a:ext>
                </a:extLst>
              </a:tr>
              <a:tr h="397237">
                <a:tc>
                  <a:txBody>
                    <a:bodyPr/>
                    <a:lstStyle/>
                    <a:p>
                      <a:pPr>
                        <a:lnSpc>
                          <a:spcPct val="150000"/>
                        </a:lnSpc>
                        <a:spcAft>
                          <a:spcPts val="600"/>
                        </a:spcAft>
                        <a:buNone/>
                      </a:pPr>
                      <a:r>
                        <a:rPr lang="en-US" sz="2200">
                          <a:effectLst/>
                        </a:rPr>
                        <a:t>Reliability</a:t>
                      </a:r>
                      <a:endParaRPr lang="en-IN" sz="220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dirty="0">
                          <a:effectLst/>
                        </a:rPr>
                        <a:t>Direct collision detection</a:t>
                      </a:r>
                      <a:endParaRPr lang="en-IN" sz="2200" dirty="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tc>
                  <a:txBody>
                    <a:bodyPr/>
                    <a:lstStyle/>
                    <a:p>
                      <a:pPr>
                        <a:lnSpc>
                          <a:spcPct val="150000"/>
                        </a:lnSpc>
                        <a:spcAft>
                          <a:spcPts val="600"/>
                        </a:spcAft>
                        <a:buNone/>
                      </a:pPr>
                      <a:r>
                        <a:rPr lang="en-US" sz="2200" dirty="0">
                          <a:effectLst/>
                        </a:rPr>
                        <a:t>Acknowledgment-based</a:t>
                      </a:r>
                      <a:endParaRPr lang="en-IN" sz="2200" dirty="0">
                        <a:effectLst/>
                        <a:latin typeface="Georgia" panose="02040502050405020303" pitchFamily="18" charset="0"/>
                        <a:ea typeface="Aptos" panose="020B0004020202020204" pitchFamily="34" charset="0"/>
                        <a:cs typeface="Times New Roman" panose="02020603050405020304" pitchFamily="18" charset="0"/>
                      </a:endParaRPr>
                    </a:p>
                  </a:txBody>
                  <a:tcPr marL="101600" marR="101600" marT="50800" marB="50800"/>
                </a:tc>
                <a:extLst>
                  <a:ext uri="{0D108BD9-81ED-4DB2-BD59-A6C34878D82A}">
                    <a16:rowId xmlns:a16="http://schemas.microsoft.com/office/drawing/2014/main" val="4088721232"/>
                  </a:ext>
                </a:extLst>
              </a:tr>
            </a:tbl>
          </a:graphicData>
        </a:graphic>
      </p:graphicFrame>
    </p:spTree>
    <p:extLst>
      <p:ext uri="{BB962C8B-B14F-4D97-AF65-F5344CB8AC3E}">
        <p14:creationId xmlns:p14="http://schemas.microsoft.com/office/powerpoint/2010/main" val="3497765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153" y="373786"/>
            <a:ext cx="8013039" cy="615553"/>
          </a:xfrm>
        </p:spPr>
        <p:txBody>
          <a:bodyPr/>
          <a:lstStyle/>
          <a:p>
            <a:r>
              <a:rPr lang="en-US" dirty="0"/>
              <a:t>Data Link Layer</a:t>
            </a:r>
          </a:p>
        </p:txBody>
      </p:sp>
      <p:sp>
        <p:nvSpPr>
          <p:cNvPr id="3" name="Text Placeholder 2"/>
          <p:cNvSpPr>
            <a:spLocks noGrp="1"/>
          </p:cNvSpPr>
          <p:nvPr>
            <p:ph type="body" idx="1"/>
          </p:nvPr>
        </p:nvSpPr>
        <p:spPr>
          <a:xfrm>
            <a:off x="654380" y="1375123"/>
            <a:ext cx="7835239" cy="4801314"/>
          </a:xfrm>
        </p:spPr>
        <p:txBody>
          <a:bodyPr/>
          <a:lstStyle/>
          <a:p>
            <a:pPr algn="just"/>
            <a:r>
              <a:rPr lang="en-US" altLang="en-US" dirty="0">
                <a:solidFill>
                  <a:schemeClr val="tx1"/>
                </a:solidFill>
              </a:rPr>
              <a:t>When nodes or stations are connected and use a common link, called a multipoint or broadcast link, a multiple-access protocol is needed to coordinate access to the link.</a:t>
            </a:r>
          </a:p>
          <a:p>
            <a:pPr algn="just"/>
            <a:endParaRPr lang="en-US" altLang="en-US" dirty="0">
              <a:solidFill>
                <a:schemeClr val="tx1"/>
              </a:solidFill>
            </a:endParaRPr>
          </a:p>
          <a:p>
            <a:pPr algn="just"/>
            <a:r>
              <a:rPr lang="en-US" altLang="en-US" dirty="0">
                <a:solidFill>
                  <a:schemeClr val="tx1"/>
                </a:solidFill>
              </a:rPr>
              <a:t>The problem of controlling access to the medium is like the rules of speaking in an assembly. </a:t>
            </a:r>
          </a:p>
          <a:p>
            <a:pPr algn="just"/>
            <a:endParaRPr lang="en-US" altLang="en-US" dirty="0">
              <a:solidFill>
                <a:schemeClr val="tx1"/>
              </a:solidFill>
            </a:endParaRPr>
          </a:p>
          <a:p>
            <a:pPr algn="just"/>
            <a:r>
              <a:rPr lang="en-US" altLang="en-US" dirty="0">
                <a:solidFill>
                  <a:schemeClr val="tx1"/>
                </a:solidFill>
              </a:rPr>
              <a:t>The procedures guarantee that the right to speak is upheld and ensure that two people do not talk at the same time, do not interrupt each other, do not monopolize the discussion, and so on</a:t>
            </a:r>
          </a:p>
          <a:p>
            <a:endParaRPr lang="en-US" dirty="0"/>
          </a:p>
        </p:txBody>
      </p:sp>
    </p:spTree>
    <p:extLst>
      <p:ext uri="{BB962C8B-B14F-4D97-AF65-F5344CB8AC3E}">
        <p14:creationId xmlns:p14="http://schemas.microsoft.com/office/powerpoint/2010/main" val="4107666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26"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76227"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76228" name="Text Box 4"/>
          <p:cNvSpPr txBox="1">
            <a:spLocks noChangeArrowheads="1"/>
          </p:cNvSpPr>
          <p:nvPr/>
        </p:nvSpPr>
        <p:spPr bwMode="auto">
          <a:xfrm>
            <a:off x="219310" y="1217626"/>
            <a:ext cx="67910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aseline="0" dirty="0"/>
              <a:t>Data link layer divided into two functionality-oriented </a:t>
            </a:r>
            <a:r>
              <a:rPr lang="en-US" sz="2000" baseline="0" dirty="0" err="1"/>
              <a:t>sublayers</a:t>
            </a:r>
            <a:endParaRPr lang="en-US" sz="2000" baseline="0" dirty="0"/>
          </a:p>
        </p:txBody>
      </p:sp>
      <p:sp>
        <p:nvSpPr>
          <p:cNvPr id="1076229"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762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25" y="2038350"/>
            <a:ext cx="5375275"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295400" y="5029200"/>
            <a:ext cx="6172200" cy="369332"/>
          </a:xfrm>
          <a:prstGeom prst="rect">
            <a:avLst/>
          </a:prstGeom>
          <a:noFill/>
        </p:spPr>
        <p:txBody>
          <a:bodyPr wrap="square" rtlCol="0">
            <a:spAutoFit/>
          </a:bodyPr>
          <a:lstStyle/>
          <a:p>
            <a:r>
              <a:rPr lang="en-US" dirty="0"/>
              <a:t>Or Logical link control and MAC</a:t>
            </a:r>
          </a:p>
        </p:txBody>
      </p:sp>
    </p:spTree>
    <p:extLst>
      <p:ext uri="{BB962C8B-B14F-4D97-AF65-F5344CB8AC3E}">
        <p14:creationId xmlns:p14="http://schemas.microsoft.com/office/powerpoint/2010/main" val="1473317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4"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78275"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78276" name="Text Box 4"/>
          <p:cNvSpPr txBox="1">
            <a:spLocks noChangeArrowheads="1"/>
          </p:cNvSpPr>
          <p:nvPr/>
        </p:nvSpPr>
        <p:spPr bwMode="auto">
          <a:xfrm>
            <a:off x="304800" y="1219201"/>
            <a:ext cx="68257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aseline="0" dirty="0"/>
              <a:t>Taxonomy of multiple-access protocols discussed in this chapter</a:t>
            </a:r>
          </a:p>
        </p:txBody>
      </p:sp>
      <p:sp>
        <p:nvSpPr>
          <p:cNvPr id="1078277"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782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897063"/>
            <a:ext cx="6554788" cy="328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1407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p:cNvSpPr>
            <a:spLocks noChangeArrowheads="1"/>
          </p:cNvSpPr>
          <p:nvPr/>
        </p:nvSpPr>
        <p:spPr bwMode="auto">
          <a:xfrm>
            <a:off x="0" y="0"/>
            <a:ext cx="9144000" cy="990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3200" i="0" baseline="0">
              <a:effectLst>
                <a:outerShdw blurRad="38100" dist="38100" dir="2700000" algn="tl">
                  <a:srgbClr val="FFFFFF"/>
                </a:outerShdw>
              </a:effectLst>
            </a:endParaRPr>
          </a:p>
        </p:txBody>
      </p:sp>
      <p:sp>
        <p:nvSpPr>
          <p:cNvPr id="565251" name="Text Box 3"/>
          <p:cNvSpPr txBox="1">
            <a:spLocks noChangeArrowheads="1"/>
          </p:cNvSpPr>
          <p:nvPr/>
        </p:nvSpPr>
        <p:spPr bwMode="auto">
          <a:xfrm>
            <a:off x="228600" y="228600"/>
            <a:ext cx="36405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i="0" baseline="0" dirty="0">
                <a:effectLst>
                  <a:outerShdw blurRad="38100" dist="38100" dir="2700000" algn="tl">
                    <a:srgbClr val="C0C0C0"/>
                  </a:outerShdw>
                </a:effectLst>
                <a:latin typeface="Times" pitchFamily="18" charset="0"/>
              </a:rPr>
              <a:t>RANDOM ACCESS</a:t>
            </a:r>
          </a:p>
        </p:txBody>
      </p:sp>
      <p:sp>
        <p:nvSpPr>
          <p:cNvPr id="565252"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i="0" baseline="0"/>
          </a:p>
        </p:txBody>
      </p:sp>
      <p:sp>
        <p:nvSpPr>
          <p:cNvPr id="565253" name="Rectangle 5"/>
          <p:cNvSpPr>
            <a:spLocks noChangeArrowheads="1"/>
          </p:cNvSpPr>
          <p:nvPr/>
        </p:nvSpPr>
        <p:spPr bwMode="auto">
          <a:xfrm>
            <a:off x="304800" y="1529507"/>
            <a:ext cx="8229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sz="2400" baseline="0" dirty="0">
                <a:effectLst>
                  <a:outerShdw blurRad="38100" dist="38100" dir="2700000" algn="tl">
                    <a:srgbClr val="C0C0C0"/>
                  </a:outerShdw>
                </a:effectLst>
              </a:rPr>
              <a:t>In </a:t>
            </a:r>
            <a:r>
              <a:rPr lang="en-US" sz="2400" baseline="0" dirty="0">
                <a:solidFill>
                  <a:schemeClr val="hlink"/>
                </a:solidFill>
                <a:effectLst>
                  <a:outerShdw blurRad="38100" dist="38100" dir="2700000" algn="tl">
                    <a:srgbClr val="C0C0C0"/>
                  </a:outerShdw>
                </a:effectLst>
              </a:rPr>
              <a:t>random access</a:t>
            </a:r>
            <a:r>
              <a:rPr lang="en-US" sz="2400" baseline="0" dirty="0">
                <a:effectLst>
                  <a:outerShdw blurRad="38100" dist="38100" dir="2700000" algn="tl">
                    <a:srgbClr val="C0C0C0"/>
                  </a:outerShdw>
                </a:effectLst>
              </a:rPr>
              <a:t> or </a:t>
            </a:r>
            <a:r>
              <a:rPr lang="en-US" sz="2400" baseline="0" dirty="0">
                <a:solidFill>
                  <a:schemeClr val="hlink"/>
                </a:solidFill>
                <a:effectLst>
                  <a:outerShdw blurRad="38100" dist="38100" dir="2700000" algn="tl">
                    <a:srgbClr val="C0C0C0"/>
                  </a:outerShdw>
                </a:effectLst>
              </a:rPr>
              <a:t>contention</a:t>
            </a:r>
            <a:r>
              <a:rPr lang="en-US" sz="2400" baseline="0" dirty="0">
                <a:effectLst>
                  <a:outerShdw blurRad="38100" dist="38100" dir="2700000" algn="tl">
                    <a:srgbClr val="C0C0C0"/>
                  </a:outerShdw>
                </a:effectLst>
              </a:rPr>
              <a:t> methods, no station is superior to another station, and none is assigned the control over another. No station permits, or does not permit, another station to send. At each instance, a station that has data to send uses a procedure defined by the protocol to make a decision on whether or not to send. </a:t>
            </a:r>
          </a:p>
        </p:txBody>
      </p:sp>
      <p:sp>
        <p:nvSpPr>
          <p:cNvPr id="565277" name="Rectangle 29"/>
          <p:cNvSpPr>
            <a:spLocks noChangeArrowheads="1"/>
          </p:cNvSpPr>
          <p:nvPr/>
        </p:nvSpPr>
        <p:spPr bwMode="auto">
          <a:xfrm>
            <a:off x="304800" y="4743450"/>
            <a:ext cx="79248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sz="2400" i="0" baseline="0" dirty="0">
                <a:solidFill>
                  <a:srgbClr val="0033CC"/>
                </a:solidFill>
              </a:rPr>
              <a:t>ALOHA</a:t>
            </a:r>
            <a:br>
              <a:rPr lang="fr-FR" sz="2400" i="0" baseline="0" dirty="0">
                <a:solidFill>
                  <a:srgbClr val="0033CC"/>
                </a:solidFill>
              </a:rPr>
            </a:br>
            <a:r>
              <a:rPr lang="en-US" sz="2400" i="0" baseline="0" dirty="0">
                <a:solidFill>
                  <a:srgbClr val="0033CC"/>
                </a:solidFill>
              </a:rPr>
              <a:t>Carrier Sense Multiple Access</a:t>
            </a:r>
          </a:p>
          <a:p>
            <a:pPr>
              <a:buClr>
                <a:schemeClr val="tx1"/>
              </a:buClr>
              <a:buSzPct val="117000"/>
              <a:buFont typeface="Wingdings" pitchFamily="2" charset="2"/>
              <a:buNone/>
            </a:pPr>
            <a:r>
              <a:rPr lang="en-US" sz="2400" i="0" baseline="0" dirty="0">
                <a:solidFill>
                  <a:srgbClr val="0033CC"/>
                </a:solidFill>
              </a:rPr>
              <a:t>Carrier Sense Multiple Access with Collision Detection</a:t>
            </a:r>
          </a:p>
          <a:p>
            <a:pPr>
              <a:buClr>
                <a:schemeClr val="tx1"/>
              </a:buClr>
              <a:buSzPct val="117000"/>
              <a:buFont typeface="Wingdings" pitchFamily="2" charset="2"/>
              <a:buNone/>
            </a:pPr>
            <a:r>
              <a:rPr lang="en-US" sz="2400" i="0" baseline="0" dirty="0">
                <a:solidFill>
                  <a:srgbClr val="0033CC"/>
                </a:solidFill>
              </a:rPr>
              <a:t>Carrier Sense Multiple Access with Collision Avoidance</a:t>
            </a:r>
          </a:p>
        </p:txBody>
      </p:sp>
      <p:sp>
        <p:nvSpPr>
          <p:cNvPr id="565278" name="Text Box 30"/>
          <p:cNvSpPr txBox="1">
            <a:spLocks noChangeArrowheads="1"/>
          </p:cNvSpPr>
          <p:nvPr/>
        </p:nvSpPr>
        <p:spPr bwMode="auto">
          <a:xfrm>
            <a:off x="323438" y="41148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u="sng" baseline="0">
                <a:solidFill>
                  <a:schemeClr val="hlink"/>
                </a:solidFill>
                <a:effectLst>
                  <a:outerShdw blurRad="38100" dist="38100" dir="2700000" algn="tl">
                    <a:srgbClr val="C0C0C0"/>
                  </a:outerShdw>
                </a:effectLst>
              </a:rPr>
              <a:t>Topics discussed in this section:</a:t>
            </a:r>
          </a:p>
        </p:txBody>
      </p:sp>
      <p:pic>
        <p:nvPicPr>
          <p:cNvPr id="3" name="Picture 2">
            <a:extLst>
              <a:ext uri="{FF2B5EF4-FFF2-40B4-BE49-F238E27FC236}">
                <a16:creationId xmlns:a16="http://schemas.microsoft.com/office/drawing/2014/main" id="{8D3D8F5D-140C-AC4A-6033-866D604148FB}"/>
              </a:ext>
            </a:extLst>
          </p:cNvPr>
          <p:cNvPicPr>
            <a:picLocks noChangeAspect="1"/>
          </p:cNvPicPr>
          <p:nvPr/>
        </p:nvPicPr>
        <p:blipFill>
          <a:blip r:embed="rId3"/>
          <a:stretch>
            <a:fillRect/>
          </a:stretch>
        </p:blipFill>
        <p:spPr>
          <a:xfrm>
            <a:off x="76200" y="40047"/>
            <a:ext cx="1927647" cy="607782"/>
          </a:xfrm>
          <a:prstGeom prst="rect">
            <a:avLst/>
          </a:prstGeom>
        </p:spPr>
      </p:pic>
      <p:pic>
        <p:nvPicPr>
          <p:cNvPr id="5" name="Picture 4">
            <a:extLst>
              <a:ext uri="{FF2B5EF4-FFF2-40B4-BE49-F238E27FC236}">
                <a16:creationId xmlns:a16="http://schemas.microsoft.com/office/drawing/2014/main" id="{A9CEC864-5CB5-862E-71CF-0A856701E235}"/>
              </a:ext>
            </a:extLst>
          </p:cNvPr>
          <p:cNvPicPr>
            <a:picLocks noChangeAspect="1"/>
          </p:cNvPicPr>
          <p:nvPr/>
        </p:nvPicPr>
        <p:blipFill>
          <a:blip r:embed="rId4"/>
          <a:stretch>
            <a:fillRect/>
          </a:stretch>
        </p:blipFill>
        <p:spPr>
          <a:xfrm>
            <a:off x="7742703" y="2381"/>
            <a:ext cx="875259" cy="694350"/>
          </a:xfrm>
          <a:prstGeom prst="rect">
            <a:avLst/>
          </a:prstGeom>
        </p:spPr>
      </p:pic>
    </p:spTree>
    <p:extLst>
      <p:ext uri="{BB962C8B-B14F-4D97-AF65-F5344CB8AC3E}">
        <p14:creationId xmlns:p14="http://schemas.microsoft.com/office/powerpoint/2010/main" val="17686919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3400" y="304800"/>
            <a:ext cx="8013039" cy="615553"/>
          </a:xfrm>
        </p:spPr>
        <p:txBody>
          <a:bodyPr/>
          <a:lstStyle/>
          <a:p>
            <a:r>
              <a:rPr lang="en-US" dirty="0">
                <a:solidFill>
                  <a:srgbClr val="0033CC"/>
                </a:solidFill>
              </a:rPr>
              <a:t>Random Access</a:t>
            </a:r>
            <a:endParaRPr lang="en-US" altLang="en-US" dirty="0"/>
          </a:p>
        </p:txBody>
      </p:sp>
      <p:sp>
        <p:nvSpPr>
          <p:cNvPr id="6147" name="Rectangle 3"/>
          <p:cNvSpPr>
            <a:spLocks noGrp="1" noChangeArrowheads="1"/>
          </p:cNvSpPr>
          <p:nvPr>
            <p:ph type="body" idx="1"/>
          </p:nvPr>
        </p:nvSpPr>
        <p:spPr>
          <a:xfrm>
            <a:off x="381000" y="1375123"/>
            <a:ext cx="8305800" cy="4801314"/>
          </a:xfrm>
        </p:spPr>
        <p:txBody>
          <a:bodyPr/>
          <a:lstStyle/>
          <a:p>
            <a:pPr marL="457200" indent="-457200" algn="just">
              <a:buFont typeface="Arial" panose="020B0604020202020204" pitchFamily="34" charset="0"/>
              <a:buChar char="•"/>
            </a:pPr>
            <a:r>
              <a:rPr lang="en-US" dirty="0">
                <a:solidFill>
                  <a:schemeClr val="tx1"/>
                </a:solidFill>
              </a:rPr>
              <a:t>In </a:t>
            </a:r>
            <a:r>
              <a:rPr lang="en-US" b="1" dirty="0">
                <a:solidFill>
                  <a:schemeClr val="tx1"/>
                </a:solidFill>
              </a:rPr>
              <a:t>random-access </a:t>
            </a:r>
            <a:r>
              <a:rPr lang="en-US" dirty="0">
                <a:solidFill>
                  <a:schemeClr val="tx1"/>
                </a:solidFill>
              </a:rPr>
              <a:t>or </a:t>
            </a:r>
            <a:r>
              <a:rPr lang="en-US" b="1" dirty="0">
                <a:solidFill>
                  <a:schemeClr val="tx1"/>
                </a:solidFill>
              </a:rPr>
              <a:t>contention </a:t>
            </a:r>
            <a:r>
              <a:rPr lang="en-US" dirty="0">
                <a:solidFill>
                  <a:schemeClr val="tx1"/>
                </a:solidFill>
              </a:rPr>
              <a:t>methods, no station is superior to another station, and none is assigned control over another. </a:t>
            </a:r>
          </a:p>
          <a:p>
            <a:pPr marL="457200" indent="-457200" algn="just">
              <a:buFont typeface="Arial" panose="020B0604020202020204" pitchFamily="34" charset="0"/>
              <a:buChar char="•"/>
            </a:pPr>
            <a:endParaRPr lang="en-US" dirty="0">
              <a:solidFill>
                <a:schemeClr val="tx1"/>
              </a:solidFill>
            </a:endParaRPr>
          </a:p>
          <a:p>
            <a:pPr marL="457200" indent="-457200" algn="just">
              <a:buFont typeface="Arial" panose="020B0604020202020204" pitchFamily="34" charset="0"/>
              <a:buChar char="•"/>
            </a:pPr>
            <a:r>
              <a:rPr lang="en-US" dirty="0">
                <a:solidFill>
                  <a:schemeClr val="tx1"/>
                </a:solidFill>
              </a:rPr>
              <a:t>At each instance, a station that has data to send uses a procedure defined by the protocol to make a decision on whether or not to send.</a:t>
            </a:r>
          </a:p>
          <a:p>
            <a:pPr marL="457200" indent="-457200" algn="just">
              <a:buFont typeface="Arial" panose="020B0604020202020204" pitchFamily="34" charset="0"/>
              <a:buChar char="•"/>
            </a:pPr>
            <a:endParaRPr lang="en-US" dirty="0">
              <a:solidFill>
                <a:schemeClr val="tx1"/>
              </a:solidFill>
            </a:endParaRPr>
          </a:p>
          <a:p>
            <a:pPr marL="457200" indent="-457200" algn="just">
              <a:buFont typeface="Arial" panose="020B0604020202020204" pitchFamily="34" charset="0"/>
              <a:buChar char="•"/>
            </a:pPr>
            <a:r>
              <a:rPr lang="en-US" dirty="0">
                <a:solidFill>
                  <a:schemeClr val="tx1"/>
                </a:solidFill>
              </a:rPr>
              <a:t>This decision depends on the state of the medium (idle or busy). In other words, each station can transmit when it desires on the condition that it follows the predefined procedure, including testing the state of the medium.</a:t>
            </a:r>
            <a:endParaRPr lang="en-US" altLang="en-US" dirty="0"/>
          </a:p>
        </p:txBody>
      </p:sp>
    </p:spTree>
    <p:extLst>
      <p:ext uri="{BB962C8B-B14F-4D97-AF65-F5344CB8AC3E}">
        <p14:creationId xmlns:p14="http://schemas.microsoft.com/office/powerpoint/2010/main" val="33228728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380" y="533400"/>
            <a:ext cx="8013039" cy="615553"/>
          </a:xfrm>
        </p:spPr>
        <p:txBody>
          <a:bodyPr/>
          <a:lstStyle/>
          <a:p>
            <a:r>
              <a:rPr lang="en-US" dirty="0">
                <a:solidFill>
                  <a:srgbClr val="0033CC"/>
                </a:solidFill>
              </a:rPr>
              <a:t>Random Access</a:t>
            </a:r>
            <a:endParaRPr lang="en-US" dirty="0"/>
          </a:p>
        </p:txBody>
      </p:sp>
      <p:sp>
        <p:nvSpPr>
          <p:cNvPr id="3" name="Text Placeholder 2"/>
          <p:cNvSpPr>
            <a:spLocks noGrp="1"/>
          </p:cNvSpPr>
          <p:nvPr>
            <p:ph type="body" idx="1"/>
          </p:nvPr>
        </p:nvSpPr>
        <p:spPr>
          <a:xfrm>
            <a:off x="654380" y="1375123"/>
            <a:ext cx="8184820" cy="4801314"/>
          </a:xfrm>
        </p:spPr>
        <p:txBody>
          <a:bodyPr/>
          <a:lstStyle/>
          <a:p>
            <a:pPr marL="457200" indent="-457200">
              <a:buFont typeface="Arial" panose="020B0604020202020204" pitchFamily="34" charset="0"/>
              <a:buChar char="•"/>
            </a:pPr>
            <a:r>
              <a:rPr lang="en-US" dirty="0">
                <a:solidFill>
                  <a:schemeClr val="tx1"/>
                </a:solidFill>
              </a:rPr>
              <a:t>Two features give this method its name. </a:t>
            </a:r>
          </a:p>
          <a:p>
            <a:pPr marL="457200" indent="-457200">
              <a:buFont typeface="Arial" panose="020B0604020202020204" pitchFamily="34" charset="0"/>
              <a:buChar char="•"/>
            </a:pPr>
            <a:endParaRPr lang="en-US" dirty="0">
              <a:solidFill>
                <a:schemeClr val="tx1"/>
              </a:solidFill>
            </a:endParaRPr>
          </a:p>
          <a:p>
            <a:pPr marL="457200" indent="-457200">
              <a:buFont typeface="Arial" panose="020B0604020202020204" pitchFamily="34" charset="0"/>
              <a:buChar char="•"/>
            </a:pPr>
            <a:r>
              <a:rPr lang="en-US" dirty="0">
                <a:solidFill>
                  <a:schemeClr val="tx1"/>
                </a:solidFill>
              </a:rPr>
              <a:t>First, there is no scheduled time for a station to transmit. Transmission is random among the stations. </a:t>
            </a:r>
          </a:p>
          <a:p>
            <a:pPr marL="457200" indent="-457200">
              <a:buFont typeface="Arial" panose="020B0604020202020204" pitchFamily="34" charset="0"/>
              <a:buChar char="•"/>
            </a:pPr>
            <a:endParaRPr lang="en-US" dirty="0">
              <a:solidFill>
                <a:schemeClr val="tx1"/>
              </a:solidFill>
            </a:endParaRPr>
          </a:p>
          <a:p>
            <a:pPr marL="457200" indent="-457200">
              <a:buFont typeface="Arial" panose="020B0604020202020204" pitchFamily="34" charset="0"/>
              <a:buChar char="•"/>
            </a:pPr>
            <a:r>
              <a:rPr lang="en-US" dirty="0">
                <a:solidFill>
                  <a:schemeClr val="tx1"/>
                </a:solidFill>
              </a:rPr>
              <a:t>That is why these methods are called </a:t>
            </a:r>
            <a:r>
              <a:rPr lang="en-US" i="1" dirty="0">
                <a:solidFill>
                  <a:schemeClr val="tx1"/>
                </a:solidFill>
              </a:rPr>
              <a:t>random access</a:t>
            </a:r>
            <a:r>
              <a:rPr lang="en-US" dirty="0">
                <a:solidFill>
                  <a:schemeClr val="tx1"/>
                </a:solidFill>
              </a:rPr>
              <a:t>. </a:t>
            </a:r>
          </a:p>
          <a:p>
            <a:pPr marL="457200" indent="-457200">
              <a:buFont typeface="Arial" panose="020B0604020202020204" pitchFamily="34" charset="0"/>
              <a:buChar char="•"/>
            </a:pPr>
            <a:endParaRPr lang="en-US" dirty="0">
              <a:solidFill>
                <a:schemeClr val="tx1"/>
              </a:solidFill>
            </a:endParaRPr>
          </a:p>
          <a:p>
            <a:pPr marL="457200" indent="-457200">
              <a:buFont typeface="Arial" panose="020B0604020202020204" pitchFamily="34" charset="0"/>
              <a:buChar char="•"/>
            </a:pPr>
            <a:r>
              <a:rPr lang="en-US" dirty="0">
                <a:solidFill>
                  <a:schemeClr val="tx1"/>
                </a:solidFill>
              </a:rPr>
              <a:t>Second, no rules specify which station should send next. Stations compete with one another to access the medium. </a:t>
            </a:r>
          </a:p>
          <a:p>
            <a:pPr marL="457200" indent="-457200">
              <a:buFont typeface="Arial" panose="020B0604020202020204" pitchFamily="34" charset="0"/>
              <a:buChar char="•"/>
            </a:pPr>
            <a:endParaRPr lang="en-US" dirty="0">
              <a:solidFill>
                <a:schemeClr val="tx1"/>
              </a:solidFill>
            </a:endParaRPr>
          </a:p>
          <a:p>
            <a:pPr marL="457200" indent="-457200">
              <a:buFont typeface="Arial" panose="020B0604020202020204" pitchFamily="34" charset="0"/>
              <a:buChar char="•"/>
            </a:pPr>
            <a:r>
              <a:rPr lang="en-US" dirty="0">
                <a:solidFill>
                  <a:schemeClr val="tx1"/>
                </a:solidFill>
              </a:rPr>
              <a:t>That is why these methods are also called </a:t>
            </a:r>
            <a:r>
              <a:rPr lang="en-US" i="1" dirty="0">
                <a:solidFill>
                  <a:schemeClr val="tx1"/>
                </a:solidFill>
              </a:rPr>
              <a:t>contention </a:t>
            </a:r>
            <a:r>
              <a:rPr lang="en-US" dirty="0">
                <a:solidFill>
                  <a:schemeClr val="tx1"/>
                </a:solidFill>
              </a:rPr>
              <a:t>methods. </a:t>
            </a:r>
            <a:br>
              <a:rPr lang="en-US" dirty="0"/>
            </a:br>
            <a:endParaRPr lang="en-US" dirty="0"/>
          </a:p>
        </p:txBody>
      </p:sp>
    </p:spTree>
    <p:extLst>
      <p:ext uri="{BB962C8B-B14F-4D97-AF65-F5344CB8AC3E}">
        <p14:creationId xmlns:p14="http://schemas.microsoft.com/office/powerpoint/2010/main" val="1973787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289" y="378374"/>
            <a:ext cx="8013039" cy="762000"/>
          </a:xfrm>
        </p:spPr>
        <p:txBody>
          <a:bodyPr/>
          <a:lstStyle/>
          <a:p>
            <a:r>
              <a:rPr lang="en-US" dirty="0">
                <a:solidFill>
                  <a:srgbClr val="0033CC"/>
                </a:solidFill>
              </a:rPr>
              <a:t>Random Access</a:t>
            </a:r>
            <a:endParaRPr lang="en-US" dirty="0"/>
          </a:p>
        </p:txBody>
      </p:sp>
      <p:sp>
        <p:nvSpPr>
          <p:cNvPr id="3" name="Text Placeholder 2"/>
          <p:cNvSpPr>
            <a:spLocks noGrp="1"/>
          </p:cNvSpPr>
          <p:nvPr>
            <p:ph type="body" idx="1"/>
          </p:nvPr>
        </p:nvSpPr>
        <p:spPr>
          <a:xfrm>
            <a:off x="309645" y="1140374"/>
            <a:ext cx="8524709" cy="5447645"/>
          </a:xfrm>
        </p:spPr>
        <p:txBody>
          <a:bodyPr/>
          <a:lstStyle/>
          <a:p>
            <a:pPr algn="just"/>
            <a:r>
              <a:rPr lang="en-US" dirty="0">
                <a:solidFill>
                  <a:schemeClr val="tx1"/>
                </a:solidFill>
              </a:rPr>
              <a:t>In a random-access method, each station has the right to the medium without being controlled by any other station.</a:t>
            </a:r>
          </a:p>
          <a:p>
            <a:pPr algn="just"/>
            <a:endParaRPr lang="en-US" dirty="0">
              <a:solidFill>
                <a:schemeClr val="tx1"/>
              </a:solidFill>
            </a:endParaRPr>
          </a:p>
          <a:p>
            <a:pPr algn="just"/>
            <a:r>
              <a:rPr lang="en-US" dirty="0">
                <a:solidFill>
                  <a:schemeClr val="tx1"/>
                </a:solidFill>
              </a:rPr>
              <a:t>However, if more than one station tries to send, there is</a:t>
            </a:r>
            <a:br>
              <a:rPr lang="en-US" dirty="0">
                <a:solidFill>
                  <a:schemeClr val="tx1"/>
                </a:solidFill>
              </a:rPr>
            </a:br>
            <a:r>
              <a:rPr lang="en-US" dirty="0">
                <a:solidFill>
                  <a:schemeClr val="tx1"/>
                </a:solidFill>
              </a:rPr>
              <a:t>an access conflict—</a:t>
            </a:r>
            <a:r>
              <a:rPr lang="en-US" b="1" i="1" dirty="0">
                <a:solidFill>
                  <a:schemeClr val="tx1"/>
                </a:solidFill>
              </a:rPr>
              <a:t>collision</a:t>
            </a:r>
            <a:r>
              <a:rPr lang="en-US" dirty="0">
                <a:solidFill>
                  <a:schemeClr val="tx1"/>
                </a:solidFill>
              </a:rPr>
              <a:t>—and the frames will be either destroyed or modified. </a:t>
            </a:r>
          </a:p>
          <a:p>
            <a:pPr algn="just"/>
            <a:endParaRPr lang="en-US" dirty="0">
              <a:solidFill>
                <a:schemeClr val="tx1"/>
              </a:solidFill>
            </a:endParaRPr>
          </a:p>
          <a:p>
            <a:pPr algn="just"/>
            <a:r>
              <a:rPr lang="en-US" dirty="0">
                <a:solidFill>
                  <a:schemeClr val="tx1"/>
                </a:solidFill>
              </a:rPr>
              <a:t>To avoid access conflict or to resolve it when it happens, each station follows a procedure that answers the following questions:</a:t>
            </a:r>
          </a:p>
          <a:p>
            <a:pPr marL="457200" indent="-457200" algn="just">
              <a:buFont typeface="Arial" panose="020B0604020202020204" pitchFamily="34" charset="0"/>
              <a:buChar char="•"/>
            </a:pPr>
            <a:r>
              <a:rPr lang="en-US" sz="2400" dirty="0">
                <a:solidFill>
                  <a:schemeClr val="tx1"/>
                </a:solidFill>
              </a:rPr>
              <a:t>When can the station access the medium?</a:t>
            </a:r>
          </a:p>
          <a:p>
            <a:pPr marL="457200" indent="-457200" algn="just">
              <a:buFont typeface="Arial" panose="020B0604020202020204" pitchFamily="34" charset="0"/>
              <a:buChar char="•"/>
            </a:pPr>
            <a:r>
              <a:rPr lang="en-US" sz="2400" dirty="0">
                <a:solidFill>
                  <a:schemeClr val="tx1"/>
                </a:solidFill>
              </a:rPr>
              <a:t>What can the station do if the medium is busy?</a:t>
            </a:r>
          </a:p>
          <a:p>
            <a:pPr marL="457200" indent="-457200" algn="just">
              <a:buFont typeface="Arial" panose="020B0604020202020204" pitchFamily="34" charset="0"/>
              <a:buChar char="•"/>
            </a:pPr>
            <a:r>
              <a:rPr lang="en-US" sz="2400" dirty="0">
                <a:solidFill>
                  <a:schemeClr val="tx1"/>
                </a:solidFill>
              </a:rPr>
              <a:t>How can the station determine the success or failure of the transmission?</a:t>
            </a:r>
          </a:p>
          <a:p>
            <a:pPr marL="457200" indent="-457200" algn="just">
              <a:buFont typeface="Arial" panose="020B0604020202020204" pitchFamily="34" charset="0"/>
              <a:buChar char="•"/>
            </a:pPr>
            <a:r>
              <a:rPr lang="en-US" sz="2400" dirty="0">
                <a:solidFill>
                  <a:schemeClr val="tx1"/>
                </a:solidFill>
              </a:rPr>
              <a:t>What can the station do if there is an access conflict? </a:t>
            </a:r>
            <a:endParaRPr lang="en-US" dirty="0">
              <a:solidFill>
                <a:schemeClr val="tx1"/>
              </a:solidFill>
            </a:endParaRPr>
          </a:p>
        </p:txBody>
      </p:sp>
    </p:spTree>
    <p:extLst>
      <p:ext uri="{BB962C8B-B14F-4D97-AF65-F5344CB8AC3E}">
        <p14:creationId xmlns:p14="http://schemas.microsoft.com/office/powerpoint/2010/main" val="10560667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81000" y="152400"/>
            <a:ext cx="8013039" cy="615553"/>
          </a:xfrm>
        </p:spPr>
        <p:txBody>
          <a:bodyPr/>
          <a:lstStyle/>
          <a:p>
            <a:r>
              <a:rPr lang="en-US" dirty="0">
                <a:solidFill>
                  <a:srgbClr val="0033CC"/>
                </a:solidFill>
              </a:rPr>
              <a:t>ALOHA</a:t>
            </a:r>
            <a:endParaRPr lang="en-US" altLang="en-US" dirty="0"/>
          </a:p>
        </p:txBody>
      </p:sp>
      <p:sp>
        <p:nvSpPr>
          <p:cNvPr id="6147" name="Rectangle 3"/>
          <p:cNvSpPr>
            <a:spLocks noGrp="1" noChangeArrowheads="1"/>
          </p:cNvSpPr>
          <p:nvPr>
            <p:ph type="body" idx="1"/>
          </p:nvPr>
        </p:nvSpPr>
        <p:spPr>
          <a:xfrm>
            <a:off x="533400" y="951667"/>
            <a:ext cx="8077200" cy="5601533"/>
          </a:xfrm>
        </p:spPr>
        <p:txBody>
          <a:bodyPr/>
          <a:lstStyle/>
          <a:p>
            <a:pPr algn="just"/>
            <a:r>
              <a:rPr lang="en-US" b="1" dirty="0">
                <a:solidFill>
                  <a:schemeClr val="tx1"/>
                </a:solidFill>
              </a:rPr>
              <a:t>ALOHA, </a:t>
            </a:r>
            <a:r>
              <a:rPr lang="en-US" dirty="0">
                <a:solidFill>
                  <a:schemeClr val="tx1"/>
                </a:solidFill>
              </a:rPr>
              <a:t>the earliest random-access method, was developed at the University of Hawaii in early 1970. </a:t>
            </a:r>
          </a:p>
          <a:p>
            <a:pPr algn="just"/>
            <a:endParaRPr lang="en-US" dirty="0">
              <a:solidFill>
                <a:schemeClr val="tx1"/>
              </a:solidFill>
            </a:endParaRPr>
          </a:p>
          <a:p>
            <a:pPr algn="just"/>
            <a:r>
              <a:rPr lang="en-US" dirty="0">
                <a:solidFill>
                  <a:schemeClr val="tx1"/>
                </a:solidFill>
              </a:rPr>
              <a:t>It was designed for a radio (wireless) </a:t>
            </a:r>
            <a:r>
              <a:rPr lang="en-US" dirty="0">
                <a:solidFill>
                  <a:srgbClr val="00B050"/>
                </a:solidFill>
              </a:rPr>
              <a:t>LAN</a:t>
            </a:r>
            <a:r>
              <a:rPr lang="en-US" dirty="0">
                <a:solidFill>
                  <a:schemeClr val="tx1"/>
                </a:solidFill>
              </a:rPr>
              <a:t>, but it can be used on any shared medium.</a:t>
            </a:r>
          </a:p>
          <a:p>
            <a:pPr algn="just"/>
            <a:endParaRPr lang="en-US" dirty="0">
              <a:solidFill>
                <a:schemeClr val="tx1"/>
              </a:solidFill>
            </a:endParaRPr>
          </a:p>
          <a:p>
            <a:pPr algn="just"/>
            <a:r>
              <a:rPr lang="en-US" dirty="0">
                <a:solidFill>
                  <a:schemeClr val="tx1"/>
                </a:solidFill>
              </a:rPr>
              <a:t>It has an acknowledgement used for successful communication.</a:t>
            </a:r>
          </a:p>
          <a:p>
            <a:pPr algn="just"/>
            <a:endParaRPr lang="en-US" dirty="0">
              <a:solidFill>
                <a:schemeClr val="tx1"/>
              </a:solidFill>
            </a:endParaRPr>
          </a:p>
          <a:p>
            <a:pPr algn="just"/>
            <a:r>
              <a:rPr lang="en-US" dirty="0">
                <a:solidFill>
                  <a:schemeClr val="tx1"/>
                </a:solidFill>
              </a:rPr>
              <a:t>There are potential collisions in this arrangement. The medium is shared between the stations. </a:t>
            </a:r>
          </a:p>
          <a:p>
            <a:pPr algn="just"/>
            <a:endParaRPr lang="en-US" dirty="0">
              <a:solidFill>
                <a:schemeClr val="tx1"/>
              </a:solidFill>
            </a:endParaRPr>
          </a:p>
          <a:p>
            <a:pPr algn="just"/>
            <a:r>
              <a:rPr lang="en-US" dirty="0">
                <a:solidFill>
                  <a:schemeClr val="tx1"/>
                </a:solidFill>
              </a:rPr>
              <a:t>When a station sends data, another station may attempt to</a:t>
            </a:r>
            <a:br>
              <a:rPr lang="en-US" dirty="0">
                <a:solidFill>
                  <a:schemeClr val="tx1"/>
                </a:solidFill>
              </a:rPr>
            </a:br>
            <a:r>
              <a:rPr lang="en-US" dirty="0">
                <a:solidFill>
                  <a:schemeClr val="tx1"/>
                </a:solidFill>
              </a:rPr>
              <a:t>do so at the same time. The data from the two stations collide and become garbled. </a:t>
            </a:r>
            <a:endParaRPr lang="en-US" dirty="0"/>
          </a:p>
        </p:txBody>
      </p:sp>
    </p:spTree>
    <p:extLst>
      <p:ext uri="{BB962C8B-B14F-4D97-AF65-F5344CB8AC3E}">
        <p14:creationId xmlns:p14="http://schemas.microsoft.com/office/powerpoint/2010/main" val="2031228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380" y="533400"/>
            <a:ext cx="8013039" cy="615553"/>
          </a:xfrm>
        </p:spPr>
        <p:txBody>
          <a:bodyPr/>
          <a:lstStyle/>
          <a:p>
            <a:r>
              <a:rPr lang="en-US" dirty="0">
                <a:solidFill>
                  <a:srgbClr val="00B0F0"/>
                </a:solidFill>
              </a:rPr>
              <a:t>Pure ALOHA</a:t>
            </a:r>
          </a:p>
        </p:txBody>
      </p:sp>
      <p:sp>
        <p:nvSpPr>
          <p:cNvPr id="3" name="Text Placeholder 2"/>
          <p:cNvSpPr>
            <a:spLocks noGrp="1"/>
          </p:cNvSpPr>
          <p:nvPr>
            <p:ph type="body" idx="1"/>
          </p:nvPr>
        </p:nvSpPr>
        <p:spPr>
          <a:xfrm>
            <a:off x="654380" y="1375123"/>
            <a:ext cx="7835239" cy="4001095"/>
          </a:xfrm>
        </p:spPr>
        <p:txBody>
          <a:bodyPr/>
          <a:lstStyle/>
          <a:p>
            <a:r>
              <a:rPr lang="en-US" dirty="0">
                <a:solidFill>
                  <a:schemeClr val="tx1"/>
                </a:solidFill>
              </a:rPr>
              <a:t>The original ALOHA protocol is called </a:t>
            </a:r>
            <a:r>
              <a:rPr lang="en-US" b="1" i="1" dirty="0">
                <a:solidFill>
                  <a:schemeClr val="tx1"/>
                </a:solidFill>
              </a:rPr>
              <a:t>pure ALOHA. </a:t>
            </a:r>
          </a:p>
          <a:p>
            <a:endParaRPr lang="en-US" b="1" i="1" dirty="0">
              <a:solidFill>
                <a:schemeClr val="tx1"/>
              </a:solidFill>
            </a:endParaRPr>
          </a:p>
          <a:p>
            <a:r>
              <a:rPr lang="en-US" dirty="0">
                <a:solidFill>
                  <a:schemeClr val="tx1"/>
                </a:solidFill>
              </a:rPr>
              <a:t>This is a simple but elegant protocol. The idea is that each station sends a frame whenever it has a frame to send (multiple access). </a:t>
            </a:r>
            <a:br>
              <a:rPr lang="en-US" dirty="0">
                <a:solidFill>
                  <a:schemeClr val="tx1"/>
                </a:solidFill>
              </a:rPr>
            </a:br>
            <a:endParaRPr lang="en-US" dirty="0">
              <a:solidFill>
                <a:schemeClr val="tx1"/>
              </a:solidFill>
            </a:endParaRPr>
          </a:p>
          <a:p>
            <a:r>
              <a:rPr lang="en-US" dirty="0">
                <a:solidFill>
                  <a:schemeClr val="tx1"/>
                </a:solidFill>
              </a:rPr>
              <a:t>However, since there is only one channel to share, there is the possibility of collision between frames from different stations. </a:t>
            </a:r>
          </a:p>
          <a:p>
            <a:endParaRPr lang="en-US" dirty="0">
              <a:solidFill>
                <a:schemeClr val="tx1"/>
              </a:solidFill>
            </a:endParaRPr>
          </a:p>
          <a:p>
            <a:r>
              <a:rPr lang="en-US" dirty="0">
                <a:solidFill>
                  <a:schemeClr val="tx1"/>
                </a:solidFill>
              </a:rPr>
              <a:t>Consider only Transmission time (No propagation time). </a:t>
            </a:r>
            <a:br>
              <a:rPr lang="en-US" dirty="0"/>
            </a:br>
            <a:endParaRPr lang="en-US" dirty="0"/>
          </a:p>
        </p:txBody>
      </p:sp>
    </p:spTree>
    <p:extLst>
      <p:ext uri="{BB962C8B-B14F-4D97-AF65-F5344CB8AC3E}">
        <p14:creationId xmlns:p14="http://schemas.microsoft.com/office/powerpoint/2010/main" val="1032338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418"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84419"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84420" name="Text Box 4"/>
          <p:cNvSpPr txBox="1">
            <a:spLocks noChangeArrowheads="1"/>
          </p:cNvSpPr>
          <p:nvPr/>
        </p:nvSpPr>
        <p:spPr bwMode="auto">
          <a:xfrm>
            <a:off x="304800" y="381000"/>
            <a:ext cx="36355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baseline="0" dirty="0"/>
              <a:t>Frames in a pure ALOHA network</a:t>
            </a:r>
          </a:p>
        </p:txBody>
      </p:sp>
      <p:sp>
        <p:nvSpPr>
          <p:cNvPr id="1084421"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8442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 y="1600200"/>
            <a:ext cx="8620125"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992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380" y="533400"/>
            <a:ext cx="8013039" cy="615553"/>
          </a:xfrm>
        </p:spPr>
        <p:txBody>
          <a:bodyPr/>
          <a:lstStyle/>
          <a:p>
            <a:r>
              <a:rPr lang="en-US" dirty="0"/>
              <a:t>Pure ALOHA</a:t>
            </a:r>
          </a:p>
        </p:txBody>
      </p:sp>
      <p:sp>
        <p:nvSpPr>
          <p:cNvPr id="3" name="Text Placeholder 2"/>
          <p:cNvSpPr>
            <a:spLocks noGrp="1"/>
          </p:cNvSpPr>
          <p:nvPr>
            <p:ph type="body" idx="1"/>
          </p:nvPr>
        </p:nvSpPr>
        <p:spPr>
          <a:xfrm>
            <a:off x="654380" y="1375123"/>
            <a:ext cx="7835239" cy="5201424"/>
          </a:xfrm>
        </p:spPr>
        <p:txBody>
          <a:bodyPr/>
          <a:lstStyle/>
          <a:p>
            <a:r>
              <a:rPr lang="en-US" dirty="0">
                <a:solidFill>
                  <a:schemeClr val="tx1"/>
                </a:solidFill>
              </a:rPr>
              <a:t>The pure ALOHA protocol relies on acknowledgments from the receiver. When a station sends a frame, it expects the receiver to send an acknowledgment. </a:t>
            </a:r>
          </a:p>
          <a:p>
            <a:endParaRPr lang="en-US" dirty="0">
              <a:solidFill>
                <a:schemeClr val="tx1"/>
              </a:solidFill>
            </a:endParaRPr>
          </a:p>
          <a:p>
            <a:r>
              <a:rPr lang="en-US" dirty="0">
                <a:solidFill>
                  <a:schemeClr val="tx1"/>
                </a:solidFill>
              </a:rPr>
              <a:t>If the acknowledgment does not arrive after a time-out period, the station assumes that the frame (or the acknowledgment) has been destroyed and resends the frame.</a:t>
            </a:r>
          </a:p>
          <a:p>
            <a:br>
              <a:rPr lang="en-US" dirty="0">
                <a:solidFill>
                  <a:schemeClr val="tx1"/>
                </a:solidFill>
              </a:rPr>
            </a:br>
            <a:r>
              <a:rPr lang="en-US" dirty="0">
                <a:solidFill>
                  <a:schemeClr val="tx1"/>
                </a:solidFill>
              </a:rPr>
              <a:t>A collision involves two or more stations. If all these stations try to resend their frames after the time-out, the frames will collide again.  </a:t>
            </a:r>
          </a:p>
          <a:p>
            <a:endParaRPr lang="en-US" dirty="0">
              <a:solidFill>
                <a:schemeClr val="tx1"/>
              </a:solidFill>
            </a:endParaRPr>
          </a:p>
          <a:p>
            <a:r>
              <a:rPr lang="en-US" sz="2800" b="1" dirty="0">
                <a:solidFill>
                  <a:schemeClr val="tx1"/>
                </a:solidFill>
              </a:rPr>
              <a:t>Transmission Time =  Message length/ Bandwidth</a:t>
            </a:r>
            <a:endParaRPr lang="en-US" b="1" dirty="0"/>
          </a:p>
        </p:txBody>
      </p:sp>
    </p:spTree>
    <p:extLst>
      <p:ext uri="{BB962C8B-B14F-4D97-AF65-F5344CB8AC3E}">
        <p14:creationId xmlns:p14="http://schemas.microsoft.com/office/powerpoint/2010/main" val="3730191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0247"/>
            <a:ext cx="8013039" cy="615553"/>
          </a:xfrm>
        </p:spPr>
        <p:txBody>
          <a:bodyPr/>
          <a:lstStyle/>
          <a:p>
            <a:r>
              <a:rPr lang="en-US" dirty="0"/>
              <a:t>Pure ALOHA</a:t>
            </a:r>
          </a:p>
        </p:txBody>
      </p:sp>
      <p:sp>
        <p:nvSpPr>
          <p:cNvPr id="3" name="Text Placeholder 2"/>
          <p:cNvSpPr>
            <a:spLocks noGrp="1"/>
          </p:cNvSpPr>
          <p:nvPr>
            <p:ph type="body" idx="1"/>
          </p:nvPr>
        </p:nvSpPr>
        <p:spPr>
          <a:xfrm>
            <a:off x="190500" y="847665"/>
            <a:ext cx="8763000" cy="5940088"/>
          </a:xfrm>
        </p:spPr>
        <p:txBody>
          <a:bodyPr/>
          <a:lstStyle/>
          <a:p>
            <a:r>
              <a:rPr lang="en-US" sz="2400" dirty="0">
                <a:solidFill>
                  <a:schemeClr val="tx1"/>
                </a:solidFill>
              </a:rPr>
              <a:t>Pure ALOHA dictates that when the time-out period passes, each station waits a random amount of time before resending its frame. The randomness will help avoid more collisions. </a:t>
            </a:r>
          </a:p>
          <a:p>
            <a:endParaRPr lang="en-US" sz="2400" dirty="0">
              <a:solidFill>
                <a:schemeClr val="tx1"/>
              </a:solidFill>
            </a:endParaRPr>
          </a:p>
          <a:p>
            <a:r>
              <a:rPr lang="en-US" sz="2400" dirty="0">
                <a:solidFill>
                  <a:schemeClr val="tx1"/>
                </a:solidFill>
              </a:rPr>
              <a:t>We call this time the </a:t>
            </a:r>
            <a:r>
              <a:rPr lang="en-US" sz="2400" i="1" dirty="0">
                <a:solidFill>
                  <a:schemeClr val="tx1"/>
                </a:solidFill>
              </a:rPr>
              <a:t>backoff time, TB</a:t>
            </a:r>
            <a:r>
              <a:rPr lang="en-US" sz="2400" dirty="0">
                <a:solidFill>
                  <a:schemeClr val="tx1"/>
                </a:solidFill>
              </a:rPr>
              <a:t>. </a:t>
            </a:r>
          </a:p>
          <a:p>
            <a:endParaRPr lang="en-US" sz="2400" dirty="0">
              <a:solidFill>
                <a:schemeClr val="tx1"/>
              </a:solidFill>
            </a:endParaRPr>
          </a:p>
          <a:p>
            <a:r>
              <a:rPr lang="en-US" sz="2400" dirty="0">
                <a:solidFill>
                  <a:schemeClr val="tx1"/>
                </a:solidFill>
              </a:rPr>
              <a:t>The backoff time </a:t>
            </a:r>
            <a:r>
              <a:rPr lang="en-US" sz="2400" i="1" dirty="0">
                <a:solidFill>
                  <a:schemeClr val="tx1"/>
                </a:solidFill>
              </a:rPr>
              <a:t>TB </a:t>
            </a:r>
            <a:r>
              <a:rPr lang="en-US" sz="2400" dirty="0">
                <a:solidFill>
                  <a:schemeClr val="tx1"/>
                </a:solidFill>
              </a:rPr>
              <a:t>is a random value that normally depends</a:t>
            </a:r>
            <a:br>
              <a:rPr lang="en-US" sz="2400" dirty="0">
                <a:solidFill>
                  <a:schemeClr val="tx1"/>
                </a:solidFill>
              </a:rPr>
            </a:br>
            <a:r>
              <a:rPr lang="en-US" sz="2400" dirty="0">
                <a:solidFill>
                  <a:schemeClr val="tx1"/>
                </a:solidFill>
              </a:rPr>
              <a:t>on </a:t>
            </a:r>
            <a:r>
              <a:rPr lang="en-US" sz="2400" i="1" dirty="0">
                <a:solidFill>
                  <a:schemeClr val="tx1"/>
                </a:solidFill>
              </a:rPr>
              <a:t>K </a:t>
            </a:r>
            <a:r>
              <a:rPr lang="en-US" sz="2400" dirty="0">
                <a:solidFill>
                  <a:schemeClr val="tx1"/>
                </a:solidFill>
              </a:rPr>
              <a:t>(the number of attempted unsuccessful transmissions).</a:t>
            </a:r>
          </a:p>
          <a:p>
            <a:endParaRPr lang="en-US" sz="2400" dirty="0">
              <a:solidFill>
                <a:schemeClr val="tx1"/>
              </a:solidFill>
            </a:endParaRPr>
          </a:p>
          <a:p>
            <a:r>
              <a:rPr lang="en-US" sz="2400" dirty="0">
                <a:solidFill>
                  <a:schemeClr val="tx1"/>
                </a:solidFill>
              </a:rPr>
              <a:t>Propagation time is the time required for a frame to travel from source to destination, </a:t>
            </a:r>
            <a:r>
              <a:rPr lang="en-US" sz="2400" i="1" dirty="0">
                <a:solidFill>
                  <a:schemeClr val="tx1"/>
                </a:solidFill>
              </a:rPr>
              <a:t>Tp</a:t>
            </a:r>
          </a:p>
          <a:p>
            <a:endParaRPr lang="en-US" sz="2400" dirty="0">
              <a:solidFill>
                <a:schemeClr val="tx1"/>
              </a:solidFill>
            </a:endParaRPr>
          </a:p>
          <a:p>
            <a:r>
              <a:rPr lang="en-US" sz="2400" dirty="0">
                <a:solidFill>
                  <a:schemeClr val="tx1"/>
                </a:solidFill>
              </a:rPr>
              <a:t>The time-out period is equal to the maximum possible round-trip propagation delay, which is twice the amount of time required to send a frame between the two most widely separated stations </a:t>
            </a:r>
          </a:p>
          <a:p>
            <a:r>
              <a:rPr lang="en-US" sz="2400" i="1" dirty="0">
                <a:solidFill>
                  <a:schemeClr val="tx1"/>
                </a:solidFill>
              </a:rPr>
              <a:t>Time Period = </a:t>
            </a:r>
            <a:r>
              <a:rPr lang="en-US" sz="2400" dirty="0">
                <a:solidFill>
                  <a:schemeClr val="tx1"/>
                </a:solidFill>
              </a:rPr>
              <a:t>2 × </a:t>
            </a:r>
            <a:r>
              <a:rPr lang="en-US" sz="2400" i="1" dirty="0">
                <a:solidFill>
                  <a:schemeClr val="tx1"/>
                </a:solidFill>
              </a:rPr>
              <a:t>Tp</a:t>
            </a:r>
            <a:r>
              <a:rPr lang="en-US" sz="2400" dirty="0">
                <a:solidFill>
                  <a:schemeClr val="tx1"/>
                </a:solidFill>
              </a:rPr>
              <a:t>.</a:t>
            </a:r>
            <a:r>
              <a:rPr lang="en-US" dirty="0">
                <a:solidFill>
                  <a:schemeClr val="tx1"/>
                </a:solidFill>
              </a:rPr>
              <a:t> </a:t>
            </a:r>
          </a:p>
        </p:txBody>
      </p:sp>
    </p:spTree>
    <p:extLst>
      <p:ext uri="{BB962C8B-B14F-4D97-AF65-F5344CB8AC3E}">
        <p14:creationId xmlns:p14="http://schemas.microsoft.com/office/powerpoint/2010/main" val="34810046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466"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86467"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86468" name="Text Box 4"/>
          <p:cNvSpPr txBox="1">
            <a:spLocks noChangeArrowheads="1"/>
          </p:cNvSpPr>
          <p:nvPr/>
        </p:nvSpPr>
        <p:spPr bwMode="auto">
          <a:xfrm>
            <a:off x="304800" y="381000"/>
            <a:ext cx="38761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it-IT" sz="2000" baseline="0" dirty="0"/>
              <a:t>Procedure for pure ALOHA protocol</a:t>
            </a:r>
            <a:endParaRPr lang="en-US" sz="2000" baseline="0" dirty="0"/>
          </a:p>
        </p:txBody>
      </p:sp>
      <p:sp>
        <p:nvSpPr>
          <p:cNvPr id="1086469"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8647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938" y="1206500"/>
            <a:ext cx="6088062" cy="473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4159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solidFill>
                  <a:srgbClr val="1C1C1C"/>
                </a:solidFill>
              </a:rPr>
              <a:t>12.</a:t>
            </a:r>
            <a:fld id="{93143109-DF88-4950-983B-D37727354FEE}" type="slidenum">
              <a:rPr lang="en-US">
                <a:solidFill>
                  <a:srgbClr val="1C1C1C"/>
                </a:solidFill>
              </a:rPr>
              <a:pPr/>
              <a:t>35</a:t>
            </a:fld>
            <a:endParaRPr lang="en-US">
              <a:solidFill>
                <a:srgbClr val="1C1C1C"/>
              </a:solidFill>
            </a:endParaRPr>
          </a:p>
        </p:txBody>
      </p:sp>
      <p:sp>
        <p:nvSpPr>
          <p:cNvPr id="1162242"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224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2244"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224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224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2247"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224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2249" name="Rectangle 9"/>
          <p:cNvSpPr>
            <a:spLocks noChangeArrowheads="1"/>
          </p:cNvSpPr>
          <p:nvPr/>
        </p:nvSpPr>
        <p:spPr bwMode="auto">
          <a:xfrm>
            <a:off x="228600" y="1143000"/>
            <a:ext cx="8686800" cy="47894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dirty="0">
                <a:solidFill>
                  <a:srgbClr val="000000"/>
                </a:solidFill>
                <a:latin typeface="Times New Roman" pitchFamily="18" charset="0"/>
              </a:rPr>
              <a:t>The stations on a wireless ALOHA network are a maximum of 600 km apart. If we assume that signals propagate at 3 × 10</a:t>
            </a:r>
            <a:r>
              <a:rPr lang="en-US" sz="2800" b="1" i="1" baseline="20000" dirty="0">
                <a:solidFill>
                  <a:srgbClr val="000000"/>
                </a:solidFill>
                <a:latin typeface="Times New Roman" pitchFamily="18" charset="0"/>
              </a:rPr>
              <a:t>8</a:t>
            </a:r>
            <a:r>
              <a:rPr lang="en-US" sz="2800" b="1" i="1" dirty="0">
                <a:solidFill>
                  <a:srgbClr val="000000"/>
                </a:solidFill>
                <a:latin typeface="Times New Roman" pitchFamily="18" charset="0"/>
              </a:rPr>
              <a:t> m/s,  we find  </a:t>
            </a:r>
          </a:p>
          <a:p>
            <a:pPr algn="just" eaLnBrk="0" fontAlgn="base" hangingPunct="0">
              <a:spcBef>
                <a:spcPct val="0"/>
              </a:spcBef>
              <a:spcAft>
                <a:spcPct val="0"/>
              </a:spcAft>
            </a:pPr>
            <a:r>
              <a:rPr lang="en-US" sz="2800" b="1" i="1" dirty="0">
                <a:solidFill>
                  <a:srgbClr val="000000"/>
                </a:solidFill>
                <a:latin typeface="Times New Roman" pitchFamily="18" charset="0"/>
              </a:rPr>
              <a:t>                         </a:t>
            </a:r>
            <a:r>
              <a:rPr lang="en-US" sz="2800" b="1" i="1" dirty="0">
                <a:solidFill>
                  <a:srgbClr val="3333CC"/>
                </a:solidFill>
                <a:latin typeface="Times New Roman" pitchFamily="18" charset="0"/>
              </a:rPr>
              <a:t>T</a:t>
            </a:r>
            <a:r>
              <a:rPr lang="en-US" sz="2800" b="1" i="1" baseline="-10000" dirty="0">
                <a:solidFill>
                  <a:srgbClr val="3333CC"/>
                </a:solidFill>
                <a:latin typeface="Times New Roman" pitchFamily="18" charset="0"/>
              </a:rPr>
              <a:t>p </a:t>
            </a:r>
            <a:r>
              <a:rPr lang="en-US" sz="2800" b="1" i="1" dirty="0">
                <a:solidFill>
                  <a:srgbClr val="3333CC"/>
                </a:solidFill>
                <a:latin typeface="Times New Roman" pitchFamily="18" charset="0"/>
              </a:rPr>
              <a:t>= (600 × 10</a:t>
            </a:r>
            <a:r>
              <a:rPr lang="en-US" sz="2800" b="1" i="1" baseline="30000" dirty="0">
                <a:solidFill>
                  <a:srgbClr val="3333CC"/>
                </a:solidFill>
                <a:latin typeface="Times New Roman" pitchFamily="18" charset="0"/>
              </a:rPr>
              <a:t>5</a:t>
            </a:r>
            <a:r>
              <a:rPr lang="en-US" sz="2800" b="1" i="1" dirty="0">
                <a:solidFill>
                  <a:srgbClr val="3333CC"/>
                </a:solidFill>
                <a:latin typeface="Times New Roman" pitchFamily="18" charset="0"/>
              </a:rPr>
              <a:t> ) / (3 × 10</a:t>
            </a:r>
            <a:r>
              <a:rPr lang="en-US" sz="2800" b="1" i="1" baseline="30000" dirty="0">
                <a:solidFill>
                  <a:srgbClr val="3333CC"/>
                </a:solidFill>
                <a:latin typeface="Times New Roman" pitchFamily="18" charset="0"/>
              </a:rPr>
              <a:t>8</a:t>
            </a:r>
            <a:r>
              <a:rPr lang="en-US" sz="2800" b="1" i="1" dirty="0">
                <a:solidFill>
                  <a:srgbClr val="3333CC"/>
                </a:solidFill>
                <a:latin typeface="Times New Roman" pitchFamily="18" charset="0"/>
              </a:rPr>
              <a:t> ) = 2 </a:t>
            </a:r>
            <a:r>
              <a:rPr lang="en-US" sz="2800" b="1" i="1" dirty="0" err="1">
                <a:solidFill>
                  <a:srgbClr val="3333CC"/>
                </a:solidFill>
                <a:latin typeface="Times New Roman" pitchFamily="18" charset="0"/>
              </a:rPr>
              <a:t>ms.</a:t>
            </a:r>
            <a:r>
              <a:rPr lang="en-US" sz="2800" b="1" i="1" dirty="0">
                <a:solidFill>
                  <a:srgbClr val="000000"/>
                </a:solidFill>
                <a:latin typeface="Times New Roman" pitchFamily="18" charset="0"/>
              </a:rPr>
              <a:t> </a:t>
            </a:r>
          </a:p>
          <a:p>
            <a:pPr algn="just" eaLnBrk="0" fontAlgn="base" hangingPunct="0">
              <a:spcBef>
                <a:spcPct val="0"/>
              </a:spcBef>
              <a:spcAft>
                <a:spcPct val="0"/>
              </a:spcAft>
            </a:pPr>
            <a:r>
              <a:rPr lang="en-US" sz="2800" b="1" i="1" dirty="0">
                <a:solidFill>
                  <a:srgbClr val="000000"/>
                </a:solidFill>
                <a:latin typeface="Times New Roman" pitchFamily="18" charset="0"/>
              </a:rPr>
              <a:t>Now we can find the value of T</a:t>
            </a:r>
            <a:r>
              <a:rPr lang="en-US" sz="2800" b="1" i="1" baseline="-12000" dirty="0">
                <a:solidFill>
                  <a:srgbClr val="000000"/>
                </a:solidFill>
                <a:latin typeface="Times New Roman" pitchFamily="18" charset="0"/>
              </a:rPr>
              <a:t>B</a:t>
            </a:r>
            <a:r>
              <a:rPr lang="en-US" sz="2800" b="1" i="1" dirty="0">
                <a:solidFill>
                  <a:srgbClr val="000000"/>
                </a:solidFill>
                <a:latin typeface="Times New Roman" pitchFamily="18" charset="0"/>
              </a:rPr>
              <a:t> for different values of </a:t>
            </a:r>
            <a:br>
              <a:rPr lang="en-US" sz="2800" b="1" i="1" dirty="0">
                <a:solidFill>
                  <a:srgbClr val="000000"/>
                </a:solidFill>
                <a:latin typeface="Times New Roman" pitchFamily="18" charset="0"/>
              </a:rPr>
            </a:br>
            <a:r>
              <a:rPr lang="en-US" sz="2800" b="1" i="1" dirty="0">
                <a:solidFill>
                  <a:srgbClr val="000000"/>
                </a:solidFill>
                <a:latin typeface="Times New Roman" pitchFamily="18" charset="0"/>
              </a:rPr>
              <a:t>K .</a:t>
            </a:r>
          </a:p>
          <a:p>
            <a:pPr algn="just" eaLnBrk="0" fontAlgn="base" hangingPunct="0">
              <a:spcBef>
                <a:spcPct val="0"/>
              </a:spcBef>
              <a:spcAft>
                <a:spcPct val="0"/>
              </a:spcAft>
            </a:pPr>
            <a:endParaRPr lang="en-US" sz="2800" b="1" i="1" dirty="0">
              <a:solidFill>
                <a:srgbClr val="000000"/>
              </a:solidFill>
              <a:latin typeface="Times New Roman" pitchFamily="18" charset="0"/>
            </a:endParaRPr>
          </a:p>
          <a:p>
            <a:pPr algn="just" eaLnBrk="0" fontAlgn="base" hangingPunct="0">
              <a:spcBef>
                <a:spcPct val="0"/>
              </a:spcBef>
              <a:spcAft>
                <a:spcPct val="0"/>
              </a:spcAft>
            </a:pPr>
            <a:r>
              <a:rPr lang="en-US" sz="2800" b="1" i="1" dirty="0">
                <a:solidFill>
                  <a:srgbClr val="FF0000"/>
                </a:solidFill>
                <a:latin typeface="Times New Roman" pitchFamily="18" charset="0"/>
              </a:rPr>
              <a:t>a</a:t>
            </a:r>
            <a:r>
              <a:rPr lang="en-US" sz="2800" b="1" i="1" dirty="0">
                <a:solidFill>
                  <a:srgbClr val="000000"/>
                </a:solidFill>
                <a:latin typeface="Times New Roman" pitchFamily="18" charset="0"/>
              </a:rPr>
              <a:t>. For K = 1, the range is {0, 1}. The station needs to        </a:t>
            </a:r>
          </a:p>
          <a:p>
            <a:pPr algn="just" eaLnBrk="0" fontAlgn="base" hangingPunct="0">
              <a:spcBef>
                <a:spcPct val="0"/>
              </a:spcBef>
              <a:spcAft>
                <a:spcPct val="0"/>
              </a:spcAft>
            </a:pPr>
            <a:r>
              <a:rPr lang="en-US" sz="2800" b="1" i="1" dirty="0">
                <a:solidFill>
                  <a:srgbClr val="000000"/>
                </a:solidFill>
                <a:latin typeface="Times New Roman" pitchFamily="18" charset="0"/>
              </a:rPr>
              <a:t>    generate a random number with a value of 0 or 1. This</a:t>
            </a:r>
            <a:br>
              <a:rPr lang="en-US" sz="2800" b="1" i="1" dirty="0">
                <a:solidFill>
                  <a:srgbClr val="000000"/>
                </a:solidFill>
                <a:latin typeface="Times New Roman" pitchFamily="18" charset="0"/>
              </a:rPr>
            </a:br>
            <a:r>
              <a:rPr lang="en-US" sz="2800" b="1" i="1" dirty="0">
                <a:solidFill>
                  <a:srgbClr val="000000"/>
                </a:solidFill>
                <a:latin typeface="Times New Roman" pitchFamily="18" charset="0"/>
              </a:rPr>
              <a:t>    means that T</a:t>
            </a:r>
            <a:r>
              <a:rPr lang="en-US" sz="2800" b="1" i="1" baseline="-12000" dirty="0">
                <a:solidFill>
                  <a:srgbClr val="000000"/>
                </a:solidFill>
                <a:latin typeface="Times New Roman" pitchFamily="18" charset="0"/>
              </a:rPr>
              <a:t>B</a:t>
            </a:r>
            <a:r>
              <a:rPr lang="en-US" sz="2800" b="1" i="1" dirty="0">
                <a:solidFill>
                  <a:srgbClr val="000000"/>
                </a:solidFill>
                <a:latin typeface="Times New Roman" pitchFamily="18" charset="0"/>
              </a:rPr>
              <a:t> is either 0 </a:t>
            </a:r>
            <a:r>
              <a:rPr lang="en-US" sz="2800" b="1" i="1" dirty="0" err="1">
                <a:solidFill>
                  <a:srgbClr val="000000"/>
                </a:solidFill>
                <a:latin typeface="Times New Roman" pitchFamily="18" charset="0"/>
              </a:rPr>
              <a:t>ms</a:t>
            </a:r>
            <a:r>
              <a:rPr lang="en-US" sz="2800" b="1" i="1" dirty="0">
                <a:solidFill>
                  <a:srgbClr val="000000"/>
                </a:solidFill>
                <a:latin typeface="Times New Roman" pitchFamily="18" charset="0"/>
              </a:rPr>
              <a:t> (0 × 2) or 2 </a:t>
            </a:r>
            <a:r>
              <a:rPr lang="en-US" sz="2800" b="1" i="1" dirty="0" err="1">
                <a:solidFill>
                  <a:srgbClr val="000000"/>
                </a:solidFill>
                <a:latin typeface="Times New Roman" pitchFamily="18" charset="0"/>
              </a:rPr>
              <a:t>ms</a:t>
            </a:r>
            <a:r>
              <a:rPr lang="en-US" sz="2800" b="1" i="1" dirty="0">
                <a:solidFill>
                  <a:srgbClr val="000000"/>
                </a:solidFill>
                <a:latin typeface="Times New Roman" pitchFamily="18" charset="0"/>
              </a:rPr>
              <a:t> (1 × 2),</a:t>
            </a:r>
            <a:br>
              <a:rPr lang="en-US" sz="2800" b="1" i="1" dirty="0">
                <a:solidFill>
                  <a:srgbClr val="000000"/>
                </a:solidFill>
                <a:latin typeface="Times New Roman" pitchFamily="18" charset="0"/>
              </a:rPr>
            </a:br>
            <a:r>
              <a:rPr lang="en-US" sz="2800" b="1" i="1" dirty="0">
                <a:solidFill>
                  <a:srgbClr val="000000"/>
                </a:solidFill>
                <a:latin typeface="Times New Roman" pitchFamily="18" charset="0"/>
              </a:rPr>
              <a:t>    based on the outcome of the random variable.</a:t>
            </a:r>
          </a:p>
        </p:txBody>
      </p:sp>
      <p:sp>
        <p:nvSpPr>
          <p:cNvPr id="1162250" name="Text Box 10"/>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12.1</a:t>
            </a:r>
          </a:p>
        </p:txBody>
      </p:sp>
      <p:pic>
        <p:nvPicPr>
          <p:cNvPr id="3" name="Picture 2">
            <a:extLst>
              <a:ext uri="{FF2B5EF4-FFF2-40B4-BE49-F238E27FC236}">
                <a16:creationId xmlns:a16="http://schemas.microsoft.com/office/drawing/2014/main" id="{EDBAA0FA-FDA8-4A3F-EE5A-E7DA6A6FD74A}"/>
              </a:ext>
            </a:extLst>
          </p:cNvPr>
          <p:cNvPicPr>
            <a:picLocks noChangeAspect="1"/>
          </p:cNvPicPr>
          <p:nvPr/>
        </p:nvPicPr>
        <p:blipFill>
          <a:blip r:embed="rId3"/>
          <a:stretch>
            <a:fillRect/>
          </a:stretch>
        </p:blipFill>
        <p:spPr>
          <a:xfrm>
            <a:off x="61119" y="109768"/>
            <a:ext cx="1927647" cy="607782"/>
          </a:xfrm>
          <a:prstGeom prst="rect">
            <a:avLst/>
          </a:prstGeom>
        </p:spPr>
      </p:pic>
      <p:pic>
        <p:nvPicPr>
          <p:cNvPr id="5" name="Picture 4">
            <a:extLst>
              <a:ext uri="{FF2B5EF4-FFF2-40B4-BE49-F238E27FC236}">
                <a16:creationId xmlns:a16="http://schemas.microsoft.com/office/drawing/2014/main" id="{104899F6-C9FD-5AE3-FFA4-F4EAEAA68C33}"/>
              </a:ext>
            </a:extLst>
          </p:cNvPr>
          <p:cNvPicPr>
            <a:picLocks noChangeAspect="1"/>
          </p:cNvPicPr>
          <p:nvPr/>
        </p:nvPicPr>
        <p:blipFill>
          <a:blip r:embed="rId4"/>
          <a:stretch>
            <a:fillRect/>
          </a:stretch>
        </p:blipFill>
        <p:spPr>
          <a:xfrm>
            <a:off x="7727622" y="72102"/>
            <a:ext cx="875259" cy="694350"/>
          </a:xfrm>
          <a:prstGeom prst="rect">
            <a:avLst/>
          </a:prstGeom>
        </p:spPr>
      </p:pic>
    </p:spTree>
    <p:extLst>
      <p:ext uri="{BB962C8B-B14F-4D97-AF65-F5344CB8AC3E}">
        <p14:creationId xmlns:p14="http://schemas.microsoft.com/office/powerpoint/2010/main" val="3953540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solidFill>
                  <a:srgbClr val="1C1C1C"/>
                </a:solidFill>
              </a:rPr>
              <a:t>12.</a:t>
            </a:r>
            <a:fld id="{88EE9895-05BD-4169-A7C8-87FD55C026AD}" type="slidenum">
              <a:rPr lang="en-US">
                <a:solidFill>
                  <a:srgbClr val="1C1C1C"/>
                </a:solidFill>
              </a:rPr>
              <a:pPr/>
              <a:t>36</a:t>
            </a:fld>
            <a:endParaRPr lang="en-US">
              <a:solidFill>
                <a:srgbClr val="1C1C1C"/>
              </a:solidFill>
            </a:endParaRPr>
          </a:p>
        </p:txBody>
      </p:sp>
      <p:sp>
        <p:nvSpPr>
          <p:cNvPr id="1174530"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453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4532"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453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453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4535"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453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4537" name="Rectangle 9"/>
          <p:cNvSpPr>
            <a:spLocks noChangeArrowheads="1"/>
          </p:cNvSpPr>
          <p:nvPr/>
        </p:nvSpPr>
        <p:spPr bwMode="auto">
          <a:xfrm>
            <a:off x="228600" y="1143000"/>
            <a:ext cx="8686800" cy="43624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dirty="0">
                <a:solidFill>
                  <a:srgbClr val="FF0000"/>
                </a:solidFill>
                <a:latin typeface="Times New Roman" pitchFamily="18" charset="0"/>
              </a:rPr>
              <a:t>b.</a:t>
            </a:r>
            <a:r>
              <a:rPr lang="en-US" sz="2800" b="1" i="1" dirty="0">
                <a:solidFill>
                  <a:srgbClr val="000000"/>
                </a:solidFill>
                <a:latin typeface="Times New Roman" pitchFamily="18" charset="0"/>
              </a:rPr>
              <a:t> For K = 2, the range is {0, 1, 2, 3}. This means that T</a:t>
            </a:r>
            <a:r>
              <a:rPr lang="en-US" sz="2800" b="1" i="1" baseline="-12000" dirty="0">
                <a:solidFill>
                  <a:srgbClr val="000000"/>
                </a:solidFill>
                <a:latin typeface="Times New Roman" pitchFamily="18" charset="0"/>
              </a:rPr>
              <a:t>B</a:t>
            </a:r>
            <a:br>
              <a:rPr lang="en-US" sz="2800" b="1" i="1" baseline="-12000" dirty="0">
                <a:solidFill>
                  <a:srgbClr val="000000"/>
                </a:solidFill>
                <a:latin typeface="Times New Roman" pitchFamily="18" charset="0"/>
              </a:rPr>
            </a:br>
            <a:r>
              <a:rPr lang="en-US" sz="2800" b="1" i="1" baseline="-12000" dirty="0">
                <a:solidFill>
                  <a:srgbClr val="000000"/>
                </a:solidFill>
                <a:latin typeface="Times New Roman" pitchFamily="18" charset="0"/>
              </a:rPr>
              <a:t>      </a:t>
            </a:r>
            <a:r>
              <a:rPr lang="en-US" sz="2800" b="1" i="1" dirty="0">
                <a:solidFill>
                  <a:srgbClr val="000000"/>
                </a:solidFill>
                <a:latin typeface="Times New Roman" pitchFamily="18" charset="0"/>
              </a:rPr>
              <a:t>can be 0, 2, 4, or 6 </a:t>
            </a:r>
            <a:r>
              <a:rPr lang="en-US" sz="2800" b="1" i="1" dirty="0" err="1">
                <a:solidFill>
                  <a:srgbClr val="000000"/>
                </a:solidFill>
                <a:latin typeface="Times New Roman" pitchFamily="18" charset="0"/>
              </a:rPr>
              <a:t>ms</a:t>
            </a:r>
            <a:r>
              <a:rPr lang="en-US" sz="2800" b="1" i="1" dirty="0">
                <a:solidFill>
                  <a:srgbClr val="000000"/>
                </a:solidFill>
                <a:latin typeface="Times New Roman" pitchFamily="18" charset="0"/>
              </a:rPr>
              <a:t>, based on the outcome of the</a:t>
            </a:r>
            <a:br>
              <a:rPr lang="en-US" sz="2800" b="1" i="1" dirty="0">
                <a:solidFill>
                  <a:srgbClr val="000000"/>
                </a:solidFill>
                <a:latin typeface="Times New Roman" pitchFamily="18" charset="0"/>
              </a:rPr>
            </a:br>
            <a:r>
              <a:rPr lang="en-US" sz="2800" b="1" i="1" dirty="0">
                <a:solidFill>
                  <a:srgbClr val="000000"/>
                </a:solidFill>
                <a:latin typeface="Times New Roman" pitchFamily="18" charset="0"/>
              </a:rPr>
              <a:t>     random variable.</a:t>
            </a:r>
          </a:p>
          <a:p>
            <a:pPr algn="just" eaLnBrk="0" fontAlgn="base" hangingPunct="0">
              <a:spcBef>
                <a:spcPct val="0"/>
              </a:spcBef>
              <a:spcAft>
                <a:spcPct val="0"/>
              </a:spcAft>
            </a:pPr>
            <a:endParaRPr lang="en-US" sz="2800" b="1" i="1" dirty="0">
              <a:solidFill>
                <a:srgbClr val="000000"/>
              </a:solidFill>
              <a:latin typeface="Times New Roman" pitchFamily="18" charset="0"/>
            </a:endParaRPr>
          </a:p>
          <a:p>
            <a:pPr algn="just" eaLnBrk="0" fontAlgn="base" hangingPunct="0">
              <a:spcBef>
                <a:spcPct val="0"/>
              </a:spcBef>
              <a:spcAft>
                <a:spcPct val="0"/>
              </a:spcAft>
            </a:pPr>
            <a:r>
              <a:rPr lang="en-US" sz="2800" b="1" i="1" dirty="0">
                <a:solidFill>
                  <a:srgbClr val="FF0000"/>
                </a:solidFill>
                <a:latin typeface="Times New Roman" pitchFamily="18" charset="0"/>
              </a:rPr>
              <a:t>c.</a:t>
            </a:r>
            <a:r>
              <a:rPr lang="en-US" sz="2800" b="1" i="1" dirty="0">
                <a:solidFill>
                  <a:srgbClr val="000000"/>
                </a:solidFill>
                <a:latin typeface="Times New Roman" pitchFamily="18" charset="0"/>
              </a:rPr>
              <a:t> For K = 3, the range is {0, 1, 2, 3, 4, 5, 6, 7}. This</a:t>
            </a:r>
            <a:br>
              <a:rPr lang="en-US" sz="2800" b="1" i="1" dirty="0">
                <a:solidFill>
                  <a:srgbClr val="000000"/>
                </a:solidFill>
                <a:latin typeface="Times New Roman" pitchFamily="18" charset="0"/>
              </a:rPr>
            </a:br>
            <a:r>
              <a:rPr lang="en-US" sz="2800" b="1" i="1" dirty="0">
                <a:solidFill>
                  <a:srgbClr val="000000"/>
                </a:solidFill>
                <a:latin typeface="Times New Roman" pitchFamily="18" charset="0"/>
              </a:rPr>
              <a:t>     means that T</a:t>
            </a:r>
            <a:r>
              <a:rPr lang="en-US" sz="2800" b="1" i="1" baseline="-12000" dirty="0">
                <a:solidFill>
                  <a:srgbClr val="000000"/>
                </a:solidFill>
                <a:latin typeface="Times New Roman" pitchFamily="18" charset="0"/>
              </a:rPr>
              <a:t>B</a:t>
            </a:r>
            <a:r>
              <a:rPr lang="en-US" sz="2800" b="1" i="1" dirty="0">
                <a:solidFill>
                  <a:srgbClr val="000000"/>
                </a:solidFill>
                <a:latin typeface="Times New Roman" pitchFamily="18" charset="0"/>
              </a:rPr>
              <a:t> can be 0, 2, 4, . . . , 14 </a:t>
            </a:r>
            <a:r>
              <a:rPr lang="en-US" sz="2800" b="1" i="1" dirty="0" err="1">
                <a:solidFill>
                  <a:srgbClr val="000000"/>
                </a:solidFill>
                <a:latin typeface="Times New Roman" pitchFamily="18" charset="0"/>
              </a:rPr>
              <a:t>ms</a:t>
            </a:r>
            <a:r>
              <a:rPr lang="en-US" sz="2800" b="1" i="1" dirty="0">
                <a:solidFill>
                  <a:srgbClr val="000000"/>
                </a:solidFill>
                <a:latin typeface="Times New Roman" pitchFamily="18" charset="0"/>
              </a:rPr>
              <a:t>, based on the</a:t>
            </a:r>
            <a:br>
              <a:rPr lang="en-US" sz="2800" b="1" i="1" dirty="0">
                <a:solidFill>
                  <a:srgbClr val="000000"/>
                </a:solidFill>
                <a:latin typeface="Times New Roman" pitchFamily="18" charset="0"/>
              </a:rPr>
            </a:br>
            <a:r>
              <a:rPr lang="en-US" sz="2800" b="1" i="1" dirty="0">
                <a:solidFill>
                  <a:srgbClr val="000000"/>
                </a:solidFill>
                <a:latin typeface="Times New Roman" pitchFamily="18" charset="0"/>
              </a:rPr>
              <a:t>     outcome of the random variable.</a:t>
            </a:r>
          </a:p>
          <a:p>
            <a:pPr algn="just" eaLnBrk="0" fontAlgn="base" hangingPunct="0">
              <a:spcBef>
                <a:spcPct val="0"/>
              </a:spcBef>
              <a:spcAft>
                <a:spcPct val="0"/>
              </a:spcAft>
            </a:pPr>
            <a:endParaRPr lang="en-US" sz="2800" b="1" i="1" dirty="0">
              <a:solidFill>
                <a:srgbClr val="000000"/>
              </a:solidFill>
              <a:latin typeface="Times New Roman" pitchFamily="18" charset="0"/>
            </a:endParaRPr>
          </a:p>
          <a:p>
            <a:pPr algn="just" eaLnBrk="0" fontAlgn="base" hangingPunct="0">
              <a:spcBef>
                <a:spcPct val="0"/>
              </a:spcBef>
              <a:spcAft>
                <a:spcPct val="0"/>
              </a:spcAft>
            </a:pPr>
            <a:r>
              <a:rPr lang="en-US" sz="2800" b="1" i="1" dirty="0">
                <a:solidFill>
                  <a:srgbClr val="FF0000"/>
                </a:solidFill>
                <a:latin typeface="Times New Roman" pitchFamily="18" charset="0"/>
              </a:rPr>
              <a:t>d.</a:t>
            </a:r>
            <a:r>
              <a:rPr lang="en-US" sz="2800" b="1" i="1" dirty="0">
                <a:solidFill>
                  <a:srgbClr val="000000"/>
                </a:solidFill>
                <a:latin typeface="Times New Roman" pitchFamily="18" charset="0"/>
              </a:rPr>
              <a:t> We need to mention that if K &gt; 10, it is normally set to</a:t>
            </a:r>
            <a:br>
              <a:rPr lang="en-US" sz="2800" b="1" i="1" dirty="0">
                <a:solidFill>
                  <a:srgbClr val="000000"/>
                </a:solidFill>
                <a:latin typeface="Times New Roman" pitchFamily="18" charset="0"/>
              </a:rPr>
            </a:br>
            <a:r>
              <a:rPr lang="en-US" sz="2800" b="1" i="1" dirty="0">
                <a:solidFill>
                  <a:srgbClr val="000000"/>
                </a:solidFill>
                <a:latin typeface="Times New Roman" pitchFamily="18" charset="0"/>
              </a:rPr>
              <a:t>     10.</a:t>
            </a:r>
          </a:p>
        </p:txBody>
      </p:sp>
      <p:sp>
        <p:nvSpPr>
          <p:cNvPr id="1174538" name="Text Box 10"/>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12.1 (continued)</a:t>
            </a:r>
          </a:p>
        </p:txBody>
      </p:sp>
      <p:pic>
        <p:nvPicPr>
          <p:cNvPr id="3" name="Picture 2">
            <a:extLst>
              <a:ext uri="{FF2B5EF4-FFF2-40B4-BE49-F238E27FC236}">
                <a16:creationId xmlns:a16="http://schemas.microsoft.com/office/drawing/2014/main" id="{C9773612-743B-F8F3-8251-FE7606EB02F6}"/>
              </a:ext>
            </a:extLst>
          </p:cNvPr>
          <p:cNvPicPr>
            <a:picLocks noChangeAspect="1"/>
          </p:cNvPicPr>
          <p:nvPr/>
        </p:nvPicPr>
        <p:blipFill>
          <a:blip r:embed="rId3"/>
          <a:stretch>
            <a:fillRect/>
          </a:stretch>
        </p:blipFill>
        <p:spPr>
          <a:xfrm>
            <a:off x="179176" y="27896"/>
            <a:ext cx="1927647" cy="607782"/>
          </a:xfrm>
          <a:prstGeom prst="rect">
            <a:avLst/>
          </a:prstGeom>
        </p:spPr>
      </p:pic>
      <p:pic>
        <p:nvPicPr>
          <p:cNvPr id="5" name="Picture 4">
            <a:extLst>
              <a:ext uri="{FF2B5EF4-FFF2-40B4-BE49-F238E27FC236}">
                <a16:creationId xmlns:a16="http://schemas.microsoft.com/office/drawing/2014/main" id="{05C50C09-3BF3-D927-3B87-792424CBC196}"/>
              </a:ext>
            </a:extLst>
          </p:cNvPr>
          <p:cNvPicPr>
            <a:picLocks noChangeAspect="1"/>
          </p:cNvPicPr>
          <p:nvPr/>
        </p:nvPicPr>
        <p:blipFill>
          <a:blip r:embed="rId4"/>
          <a:stretch>
            <a:fillRect/>
          </a:stretch>
        </p:blipFill>
        <p:spPr>
          <a:xfrm>
            <a:off x="7845679" y="-9770"/>
            <a:ext cx="875259" cy="694350"/>
          </a:xfrm>
          <a:prstGeom prst="rect">
            <a:avLst/>
          </a:prstGeom>
        </p:spPr>
      </p:pic>
    </p:spTree>
    <p:extLst>
      <p:ext uri="{BB962C8B-B14F-4D97-AF65-F5344CB8AC3E}">
        <p14:creationId xmlns:p14="http://schemas.microsoft.com/office/powerpoint/2010/main" val="26223288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F49ED095-3E9E-42F0-B2EA-29951FE78007}" type="slidenum">
              <a:rPr lang="en-US">
                <a:solidFill>
                  <a:srgbClr val="1C1C1C"/>
                </a:solidFill>
              </a:rPr>
              <a:pPr/>
              <a:t>37</a:t>
            </a:fld>
            <a:endParaRPr lang="en-US">
              <a:solidFill>
                <a:srgbClr val="1C1C1C"/>
              </a:solidFill>
            </a:endParaRPr>
          </a:p>
        </p:txBody>
      </p:sp>
      <p:sp>
        <p:nvSpPr>
          <p:cNvPr id="1088514"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88516" name="Text Box 4"/>
          <p:cNvSpPr txBox="1">
            <a:spLocks noChangeArrowheads="1"/>
          </p:cNvSpPr>
          <p:nvPr/>
        </p:nvSpPr>
        <p:spPr bwMode="auto">
          <a:xfrm>
            <a:off x="199231" y="228600"/>
            <a:ext cx="86106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base" hangingPunct="0">
              <a:spcBef>
                <a:spcPct val="0"/>
              </a:spcBef>
              <a:spcAft>
                <a:spcPct val="0"/>
              </a:spcAft>
            </a:pPr>
            <a:r>
              <a:rPr lang="en-US" sz="2000" b="1" i="1" dirty="0">
                <a:solidFill>
                  <a:srgbClr val="000000"/>
                </a:solidFill>
                <a:latin typeface="Times New Roman" pitchFamily="18" charset="0"/>
              </a:rPr>
              <a:t>Vulnerable time for pure ALOHA protocol</a:t>
            </a:r>
          </a:p>
          <a:p>
            <a:pPr eaLnBrk="0" fontAlgn="base" hangingPunct="0">
              <a:spcBef>
                <a:spcPct val="0"/>
              </a:spcBef>
              <a:spcAft>
                <a:spcPct val="0"/>
              </a:spcAft>
            </a:pPr>
            <a:endParaRPr lang="en-US" sz="2000" b="1" i="1" dirty="0">
              <a:solidFill>
                <a:srgbClr val="000000"/>
              </a:solidFill>
              <a:latin typeface="Times New Roman" pitchFamily="18" charset="0"/>
            </a:endParaRPr>
          </a:p>
          <a:p>
            <a:pPr eaLnBrk="0" fontAlgn="base" hangingPunct="0">
              <a:spcBef>
                <a:spcPct val="0"/>
              </a:spcBef>
              <a:spcAft>
                <a:spcPct val="0"/>
              </a:spcAft>
            </a:pPr>
            <a:r>
              <a:rPr lang="en-US" sz="2000" dirty="0"/>
              <a:t>the length of time in which there is a possibility of collision. </a:t>
            </a:r>
          </a:p>
          <a:p>
            <a:pPr eaLnBrk="0" fontAlgn="base" hangingPunct="0">
              <a:spcBef>
                <a:spcPct val="0"/>
              </a:spcBef>
              <a:spcAft>
                <a:spcPct val="0"/>
              </a:spcAft>
            </a:pPr>
            <a:r>
              <a:rPr lang="en-US" sz="2000" dirty="0"/>
              <a:t>The stations send fixed-length frames with each frame taking </a:t>
            </a:r>
            <a:r>
              <a:rPr lang="en-US" sz="2000" i="1" dirty="0" err="1"/>
              <a:t>Tfr</a:t>
            </a:r>
            <a:r>
              <a:rPr lang="en-US" sz="2000" i="1" dirty="0"/>
              <a:t> </a:t>
            </a:r>
            <a:r>
              <a:rPr lang="en-US" sz="2000" dirty="0"/>
              <a:t>seconds to send. </a:t>
            </a:r>
            <a:endParaRPr lang="en-US" sz="2000" b="1" i="1" dirty="0">
              <a:solidFill>
                <a:srgbClr val="000000"/>
              </a:solidFill>
              <a:latin typeface="Times New Roman" pitchFamily="18" charset="0"/>
            </a:endParaRPr>
          </a:p>
        </p:txBody>
      </p:sp>
      <p:sp>
        <p:nvSpPr>
          <p:cNvPr id="1088517"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08852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063" y="1752600"/>
            <a:ext cx="6992937" cy="449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08739984-EC49-4C44-4FC1-5F43206466D2}"/>
              </a:ext>
            </a:extLst>
          </p:cNvPr>
          <p:cNvPicPr>
            <a:picLocks noChangeAspect="1"/>
          </p:cNvPicPr>
          <p:nvPr/>
        </p:nvPicPr>
        <p:blipFill>
          <a:blip r:embed="rId4"/>
          <a:stretch>
            <a:fillRect/>
          </a:stretch>
        </p:blipFill>
        <p:spPr>
          <a:xfrm>
            <a:off x="188119" y="218640"/>
            <a:ext cx="1927647" cy="607782"/>
          </a:xfrm>
          <a:prstGeom prst="rect">
            <a:avLst/>
          </a:prstGeom>
        </p:spPr>
      </p:pic>
      <p:pic>
        <p:nvPicPr>
          <p:cNvPr id="5" name="Picture 4">
            <a:extLst>
              <a:ext uri="{FF2B5EF4-FFF2-40B4-BE49-F238E27FC236}">
                <a16:creationId xmlns:a16="http://schemas.microsoft.com/office/drawing/2014/main" id="{B0566619-0B9D-153A-E5F1-445A0D88D8C9}"/>
              </a:ext>
            </a:extLst>
          </p:cNvPr>
          <p:cNvPicPr>
            <a:picLocks noChangeAspect="1"/>
          </p:cNvPicPr>
          <p:nvPr/>
        </p:nvPicPr>
        <p:blipFill>
          <a:blip r:embed="rId5"/>
          <a:stretch>
            <a:fillRect/>
          </a:stretch>
        </p:blipFill>
        <p:spPr>
          <a:xfrm>
            <a:off x="7854622" y="180974"/>
            <a:ext cx="875259" cy="694350"/>
          </a:xfrm>
          <a:prstGeom prst="rect">
            <a:avLst/>
          </a:prstGeom>
        </p:spPr>
      </p:pic>
    </p:spTree>
    <p:extLst>
      <p:ext uri="{BB962C8B-B14F-4D97-AF65-F5344CB8AC3E}">
        <p14:creationId xmlns:p14="http://schemas.microsoft.com/office/powerpoint/2010/main" val="617909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5480" y="128618"/>
            <a:ext cx="8013039" cy="615553"/>
          </a:xfrm>
        </p:spPr>
        <p:txBody>
          <a:bodyPr/>
          <a:lstStyle/>
          <a:p>
            <a:r>
              <a:rPr lang="en-US" dirty="0"/>
              <a:t>ALOHA</a:t>
            </a:r>
          </a:p>
        </p:txBody>
      </p:sp>
      <p:sp>
        <p:nvSpPr>
          <p:cNvPr id="3" name="Text Placeholder 2"/>
          <p:cNvSpPr>
            <a:spLocks noGrp="1"/>
          </p:cNvSpPr>
          <p:nvPr>
            <p:ph type="body" idx="1"/>
          </p:nvPr>
        </p:nvSpPr>
        <p:spPr>
          <a:xfrm>
            <a:off x="654380" y="1375123"/>
            <a:ext cx="7835239" cy="4832092"/>
          </a:xfrm>
        </p:spPr>
        <p:txBody>
          <a:bodyPr/>
          <a:lstStyle/>
          <a:p>
            <a:r>
              <a:rPr lang="en-US" sz="2600" dirty="0">
                <a:solidFill>
                  <a:schemeClr val="tx1"/>
                </a:solidFill>
                <a:latin typeface="Perpetua" pitchFamily="18" charset="0"/>
              </a:rPr>
              <a:t>Vulnerable time during which a collision may occur in pure ALOHA is 2 times the frame transmission time.</a:t>
            </a:r>
            <a:r>
              <a:rPr lang="en-US" sz="2600" dirty="0">
                <a:latin typeface="Perpetua" pitchFamily="18" charset="0"/>
              </a:rPr>
              <a:t> </a:t>
            </a:r>
          </a:p>
          <a:p>
            <a:endParaRPr lang="en-US" i="1" dirty="0">
              <a:solidFill>
                <a:schemeClr val="tx1"/>
              </a:solidFill>
            </a:endParaRPr>
          </a:p>
          <a:p>
            <a:r>
              <a:rPr lang="en-US" b="1" dirty="0">
                <a:solidFill>
                  <a:schemeClr val="tx1"/>
                </a:solidFill>
              </a:rPr>
              <a:t>Pure ALOHA vulnerable time</a:t>
            </a:r>
            <a:r>
              <a:rPr lang="en-US" dirty="0">
                <a:solidFill>
                  <a:schemeClr val="tx1"/>
                </a:solidFill>
              </a:rPr>
              <a:t> </a:t>
            </a:r>
            <a:r>
              <a:rPr lang="en-US" i="1" dirty="0">
                <a:solidFill>
                  <a:schemeClr val="tx1"/>
                </a:solidFill>
              </a:rPr>
              <a:t>= </a:t>
            </a:r>
            <a:r>
              <a:rPr lang="en-US" dirty="0">
                <a:solidFill>
                  <a:schemeClr val="tx1"/>
                </a:solidFill>
              </a:rPr>
              <a:t>2 × </a:t>
            </a:r>
            <a:r>
              <a:rPr lang="en-US" b="1" i="1" dirty="0" err="1">
                <a:solidFill>
                  <a:schemeClr val="tx1"/>
                </a:solidFill>
              </a:rPr>
              <a:t>T</a:t>
            </a:r>
            <a:r>
              <a:rPr lang="en-US" b="1" i="1" baseline="-25000" dirty="0" err="1">
                <a:solidFill>
                  <a:schemeClr val="tx1"/>
                </a:solidFill>
              </a:rPr>
              <a:t>fr</a:t>
            </a:r>
            <a:r>
              <a:rPr lang="en-US" dirty="0">
                <a:solidFill>
                  <a:schemeClr val="tx1"/>
                </a:solidFill>
              </a:rPr>
              <a:t>  or (</a:t>
            </a:r>
            <a:r>
              <a:rPr lang="en-US" i="1" dirty="0">
                <a:solidFill>
                  <a:schemeClr val="tx1"/>
                </a:solidFill>
              </a:rPr>
              <a:t> </a:t>
            </a:r>
            <a:r>
              <a:rPr lang="en-US" dirty="0">
                <a:solidFill>
                  <a:schemeClr val="tx1"/>
                </a:solidFill>
              </a:rPr>
              <a:t>2 × </a:t>
            </a:r>
            <a:r>
              <a:rPr lang="en-US" b="1" i="1" dirty="0" err="1">
                <a:solidFill>
                  <a:schemeClr val="tx1"/>
                </a:solidFill>
              </a:rPr>
              <a:t>Tt</a:t>
            </a:r>
            <a:r>
              <a:rPr lang="en-US" dirty="0">
                <a:solidFill>
                  <a:schemeClr val="tx1"/>
                </a:solidFill>
              </a:rPr>
              <a:t> )</a:t>
            </a:r>
            <a:br>
              <a:rPr lang="en-US" dirty="0">
                <a:solidFill>
                  <a:schemeClr val="tx1"/>
                </a:solidFill>
              </a:rPr>
            </a:br>
            <a:endParaRPr lang="en-US" dirty="0">
              <a:solidFill>
                <a:schemeClr val="tx1"/>
              </a:solidFill>
            </a:endParaRPr>
          </a:p>
          <a:p>
            <a:r>
              <a:rPr lang="en-US" b="1" i="1" dirty="0">
                <a:solidFill>
                  <a:schemeClr val="tx1"/>
                </a:solidFill>
              </a:rPr>
              <a:t>Throughput</a:t>
            </a:r>
            <a:br>
              <a:rPr lang="en-US" b="1" i="1" dirty="0">
                <a:solidFill>
                  <a:schemeClr val="tx1"/>
                </a:solidFill>
              </a:rPr>
            </a:br>
            <a:r>
              <a:rPr lang="en-US" dirty="0">
                <a:solidFill>
                  <a:schemeClr val="tx1"/>
                </a:solidFill>
              </a:rPr>
              <a:t>Let us call </a:t>
            </a:r>
            <a:r>
              <a:rPr lang="en-US" i="1" dirty="0">
                <a:solidFill>
                  <a:schemeClr val="tx1"/>
                </a:solidFill>
              </a:rPr>
              <a:t>G </a:t>
            </a:r>
            <a:r>
              <a:rPr lang="en-US" dirty="0">
                <a:solidFill>
                  <a:schemeClr val="tx1"/>
                </a:solidFill>
              </a:rPr>
              <a:t>the average number of frames generated by the system during one frame transmission time. </a:t>
            </a:r>
          </a:p>
          <a:p>
            <a:endParaRPr lang="en-US" dirty="0">
              <a:solidFill>
                <a:schemeClr val="tx1"/>
              </a:solidFill>
            </a:endParaRPr>
          </a:p>
          <a:p>
            <a:r>
              <a:rPr lang="en-US" dirty="0">
                <a:solidFill>
                  <a:schemeClr val="tx1"/>
                </a:solidFill>
              </a:rPr>
              <a:t>Then it can be proven that the average number of successfully transmitted frames for pure ALOHA is </a:t>
            </a:r>
            <a:r>
              <a:rPr lang="en-US" i="1" dirty="0">
                <a:solidFill>
                  <a:schemeClr val="tx1"/>
                </a:solidFill>
              </a:rPr>
              <a:t>S </a:t>
            </a:r>
            <a:r>
              <a:rPr lang="en-US" dirty="0">
                <a:solidFill>
                  <a:schemeClr val="tx1"/>
                </a:solidFill>
              </a:rPr>
              <a:t>= </a:t>
            </a:r>
            <a:r>
              <a:rPr lang="en-US" sz="2800" b="1" dirty="0">
                <a:solidFill>
                  <a:srgbClr val="FF0000"/>
                </a:solidFill>
                <a:latin typeface="Arial" charset="0"/>
              </a:rPr>
              <a:t>G × e </a:t>
            </a:r>
            <a:r>
              <a:rPr lang="en-US" sz="2800" b="1" baseline="30000" dirty="0">
                <a:solidFill>
                  <a:srgbClr val="FF0000"/>
                </a:solidFill>
                <a:latin typeface="Arial" charset="0"/>
              </a:rPr>
              <a:t>−2G </a:t>
            </a:r>
            <a:br>
              <a:rPr lang="en-US" dirty="0"/>
            </a:br>
            <a:endParaRPr lang="en-US" dirty="0"/>
          </a:p>
        </p:txBody>
      </p:sp>
    </p:spTree>
    <p:extLst>
      <p:ext uri="{BB962C8B-B14F-4D97-AF65-F5344CB8AC3E}">
        <p14:creationId xmlns:p14="http://schemas.microsoft.com/office/powerpoint/2010/main" val="1072422289"/>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solidFill>
                  <a:srgbClr val="1C1C1C"/>
                </a:solidFill>
              </a:rPr>
              <a:t>12.</a:t>
            </a:r>
            <a:fld id="{E58ED0D9-E6A9-40E6-A97D-42780493B265}" type="slidenum">
              <a:rPr lang="en-US">
                <a:solidFill>
                  <a:srgbClr val="1C1C1C"/>
                </a:solidFill>
              </a:rPr>
              <a:pPr/>
              <a:t>39</a:t>
            </a:fld>
            <a:endParaRPr lang="en-US">
              <a:solidFill>
                <a:srgbClr val="1C1C1C"/>
              </a:solidFill>
            </a:endParaRPr>
          </a:p>
        </p:txBody>
      </p:sp>
      <p:sp>
        <p:nvSpPr>
          <p:cNvPr id="1164290"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429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4292"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429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429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4295"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429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4297" name="Rectangle 9"/>
          <p:cNvSpPr>
            <a:spLocks noChangeArrowheads="1"/>
          </p:cNvSpPr>
          <p:nvPr/>
        </p:nvSpPr>
        <p:spPr bwMode="auto">
          <a:xfrm>
            <a:off x="228600" y="11430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000000"/>
                </a:solidFill>
                <a:latin typeface="Times New Roman" pitchFamily="18" charset="0"/>
              </a:rPr>
              <a:t>A pure ALOHA network transmits 200-bit frames on a shared channel of 200 kbps. What is the requirement to make this frame collision-free?</a:t>
            </a:r>
          </a:p>
        </p:txBody>
      </p:sp>
      <p:sp>
        <p:nvSpPr>
          <p:cNvPr id="1164298" name="Text Box 10"/>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12.2</a:t>
            </a:r>
          </a:p>
        </p:txBody>
      </p:sp>
      <p:sp>
        <p:nvSpPr>
          <p:cNvPr id="1164299" name="Rectangle 11"/>
          <p:cNvSpPr>
            <a:spLocks noChangeArrowheads="1"/>
          </p:cNvSpPr>
          <p:nvPr/>
        </p:nvSpPr>
        <p:spPr bwMode="auto">
          <a:xfrm>
            <a:off x="152400" y="2819400"/>
            <a:ext cx="8839200" cy="35394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dirty="0">
                <a:solidFill>
                  <a:srgbClr val="FF0000"/>
                </a:solidFill>
                <a:latin typeface="Times New Roman" pitchFamily="18" charset="0"/>
              </a:rPr>
              <a:t>Solution</a:t>
            </a:r>
          </a:p>
          <a:p>
            <a:pPr algn="just" eaLnBrk="0" fontAlgn="base" hangingPunct="0">
              <a:spcBef>
                <a:spcPct val="0"/>
              </a:spcBef>
              <a:spcAft>
                <a:spcPct val="0"/>
              </a:spcAft>
            </a:pPr>
            <a:r>
              <a:rPr lang="en-US" sz="2800" b="1" i="1" dirty="0">
                <a:solidFill>
                  <a:srgbClr val="000000"/>
                </a:solidFill>
                <a:latin typeface="Times New Roman" pitchFamily="18" charset="0"/>
              </a:rPr>
              <a:t>Average frame transmission time </a:t>
            </a:r>
            <a:r>
              <a:rPr lang="en-US" sz="2800" b="1" i="1" dirty="0" err="1">
                <a:solidFill>
                  <a:srgbClr val="000000"/>
                </a:solidFill>
                <a:latin typeface="Times New Roman" pitchFamily="18" charset="0"/>
              </a:rPr>
              <a:t>T</a:t>
            </a:r>
            <a:r>
              <a:rPr lang="en-US" sz="2800" b="1" i="1" baseline="-12000" dirty="0" err="1">
                <a:solidFill>
                  <a:srgbClr val="000000"/>
                </a:solidFill>
                <a:latin typeface="Times New Roman" pitchFamily="18" charset="0"/>
              </a:rPr>
              <a:t>fr</a:t>
            </a:r>
            <a:r>
              <a:rPr lang="en-US" sz="2800" b="1" i="1" dirty="0">
                <a:solidFill>
                  <a:srgbClr val="000000"/>
                </a:solidFill>
                <a:latin typeface="Times New Roman" pitchFamily="18" charset="0"/>
              </a:rPr>
              <a:t> is 200 bits/200 kbps or 1 </a:t>
            </a:r>
            <a:r>
              <a:rPr lang="en-US" sz="2800" b="1" i="1" dirty="0" err="1">
                <a:solidFill>
                  <a:srgbClr val="000000"/>
                </a:solidFill>
                <a:latin typeface="Times New Roman" pitchFamily="18" charset="0"/>
              </a:rPr>
              <a:t>ms.</a:t>
            </a:r>
            <a:r>
              <a:rPr lang="en-US" sz="2800" b="1" i="1" dirty="0">
                <a:solidFill>
                  <a:srgbClr val="000000"/>
                </a:solidFill>
                <a:latin typeface="Times New Roman" pitchFamily="18" charset="0"/>
              </a:rPr>
              <a:t> The vulnerable time is  2 × 1 </a:t>
            </a:r>
            <a:r>
              <a:rPr lang="en-US" sz="2800" b="1" i="1" dirty="0" err="1">
                <a:solidFill>
                  <a:srgbClr val="000000"/>
                </a:solidFill>
                <a:latin typeface="Times New Roman" pitchFamily="18" charset="0"/>
              </a:rPr>
              <a:t>ms</a:t>
            </a:r>
            <a:r>
              <a:rPr lang="en-US" sz="2800" b="1" i="1" dirty="0">
                <a:solidFill>
                  <a:srgbClr val="000000"/>
                </a:solidFill>
                <a:latin typeface="Times New Roman" pitchFamily="18" charset="0"/>
              </a:rPr>
              <a:t> = 2 </a:t>
            </a:r>
            <a:r>
              <a:rPr lang="en-US" sz="2800" b="1" i="1" dirty="0" err="1">
                <a:solidFill>
                  <a:srgbClr val="000000"/>
                </a:solidFill>
                <a:latin typeface="Times New Roman" pitchFamily="18" charset="0"/>
              </a:rPr>
              <a:t>ms.</a:t>
            </a:r>
            <a:r>
              <a:rPr lang="en-US" sz="2800" b="1" i="1" dirty="0">
                <a:solidFill>
                  <a:srgbClr val="000000"/>
                </a:solidFill>
                <a:latin typeface="Times New Roman" pitchFamily="18" charset="0"/>
              </a:rPr>
              <a:t> </a:t>
            </a:r>
          </a:p>
          <a:p>
            <a:pPr algn="just" eaLnBrk="0" fontAlgn="base" hangingPunct="0">
              <a:spcBef>
                <a:spcPct val="0"/>
              </a:spcBef>
              <a:spcAft>
                <a:spcPct val="0"/>
              </a:spcAft>
            </a:pPr>
            <a:endParaRPr lang="en-US" sz="2800" b="1" i="1" dirty="0">
              <a:solidFill>
                <a:srgbClr val="000000"/>
              </a:solidFill>
              <a:latin typeface="Times New Roman" pitchFamily="18" charset="0"/>
            </a:endParaRPr>
          </a:p>
          <a:p>
            <a:pPr algn="just" eaLnBrk="0" fontAlgn="base" hangingPunct="0">
              <a:spcBef>
                <a:spcPct val="0"/>
              </a:spcBef>
              <a:spcAft>
                <a:spcPct val="0"/>
              </a:spcAft>
            </a:pPr>
            <a:r>
              <a:rPr lang="en-US" sz="2800" b="1" i="1" dirty="0">
                <a:solidFill>
                  <a:srgbClr val="000000"/>
                </a:solidFill>
                <a:latin typeface="Times New Roman" pitchFamily="18" charset="0"/>
              </a:rPr>
              <a:t>This means no station should send later than 1 </a:t>
            </a:r>
            <a:r>
              <a:rPr lang="en-US" sz="2800" b="1" i="1" dirty="0" err="1">
                <a:solidFill>
                  <a:srgbClr val="000000"/>
                </a:solidFill>
                <a:latin typeface="Times New Roman" pitchFamily="18" charset="0"/>
              </a:rPr>
              <a:t>ms</a:t>
            </a:r>
            <a:r>
              <a:rPr lang="en-US" sz="2800" b="1" i="1" dirty="0">
                <a:solidFill>
                  <a:srgbClr val="000000"/>
                </a:solidFill>
                <a:latin typeface="Times New Roman" pitchFamily="18" charset="0"/>
              </a:rPr>
              <a:t> before this station starts transmission and no station should start sending during the one 1-ms period that this station is sending.</a:t>
            </a:r>
          </a:p>
        </p:txBody>
      </p:sp>
      <p:pic>
        <p:nvPicPr>
          <p:cNvPr id="3" name="Picture 2">
            <a:extLst>
              <a:ext uri="{FF2B5EF4-FFF2-40B4-BE49-F238E27FC236}">
                <a16:creationId xmlns:a16="http://schemas.microsoft.com/office/drawing/2014/main" id="{8B5EDF59-3518-E94C-A5E7-DC9747724709}"/>
              </a:ext>
            </a:extLst>
          </p:cNvPr>
          <p:cNvPicPr>
            <a:picLocks noChangeAspect="1"/>
          </p:cNvPicPr>
          <p:nvPr/>
        </p:nvPicPr>
        <p:blipFill>
          <a:blip r:embed="rId3"/>
          <a:stretch>
            <a:fillRect/>
          </a:stretch>
        </p:blipFill>
        <p:spPr>
          <a:xfrm>
            <a:off x="76200" y="74666"/>
            <a:ext cx="1927647" cy="607782"/>
          </a:xfrm>
          <a:prstGeom prst="rect">
            <a:avLst/>
          </a:prstGeom>
        </p:spPr>
      </p:pic>
      <p:pic>
        <p:nvPicPr>
          <p:cNvPr id="5" name="Picture 4">
            <a:extLst>
              <a:ext uri="{FF2B5EF4-FFF2-40B4-BE49-F238E27FC236}">
                <a16:creationId xmlns:a16="http://schemas.microsoft.com/office/drawing/2014/main" id="{F5F613C1-79F4-7025-0FB2-EB34CDD4FDBC}"/>
              </a:ext>
            </a:extLst>
          </p:cNvPr>
          <p:cNvPicPr>
            <a:picLocks noChangeAspect="1"/>
          </p:cNvPicPr>
          <p:nvPr/>
        </p:nvPicPr>
        <p:blipFill>
          <a:blip r:embed="rId4"/>
          <a:stretch>
            <a:fillRect/>
          </a:stretch>
        </p:blipFill>
        <p:spPr>
          <a:xfrm>
            <a:off x="7742703" y="37000"/>
            <a:ext cx="875259" cy="694350"/>
          </a:xfrm>
          <a:prstGeom prst="rect">
            <a:avLst/>
          </a:prstGeom>
        </p:spPr>
      </p:pic>
    </p:spTree>
    <p:extLst>
      <p:ext uri="{BB962C8B-B14F-4D97-AF65-F5344CB8AC3E}">
        <p14:creationId xmlns:p14="http://schemas.microsoft.com/office/powerpoint/2010/main" val="3111468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solidFill>
                  <a:srgbClr val="1C1C1C"/>
                </a:solidFill>
              </a:rPr>
              <a:t>12.</a:t>
            </a:r>
            <a:fld id="{7CF46759-E120-446D-9E4F-ADC21BCF7F2A}" type="slidenum">
              <a:rPr lang="en-US">
                <a:solidFill>
                  <a:srgbClr val="1C1C1C"/>
                </a:solidFill>
              </a:rPr>
              <a:pPr/>
              <a:t>40</a:t>
            </a:fld>
            <a:endParaRPr lang="en-US">
              <a:solidFill>
                <a:srgbClr val="1C1C1C"/>
              </a:solidFill>
            </a:endParaRPr>
          </a:p>
        </p:txBody>
      </p:sp>
      <p:sp>
        <p:nvSpPr>
          <p:cNvPr id="1139714"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3971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39716"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3971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3971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39719"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3972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39721" name="Line 9"/>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39722" name="Line 10"/>
          <p:cNvSpPr>
            <a:spLocks noChangeShapeType="1"/>
          </p:cNvSpPr>
          <p:nvPr/>
        </p:nvSpPr>
        <p:spPr bwMode="auto">
          <a:xfrm>
            <a:off x="458788" y="4953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39723" name="Rectangle 11"/>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base" hangingPunct="0">
              <a:spcBef>
                <a:spcPct val="0"/>
              </a:spcBef>
              <a:spcAft>
                <a:spcPct val="0"/>
              </a:spcAft>
            </a:pPr>
            <a:r>
              <a:rPr lang="en-US" sz="3200" b="1" dirty="0">
                <a:solidFill>
                  <a:srgbClr val="000000"/>
                </a:solidFill>
                <a:latin typeface="Arial" charset="0"/>
              </a:rPr>
              <a:t>The throughput for pure ALOHA is </a:t>
            </a:r>
            <a:br>
              <a:rPr lang="en-US" sz="3200" b="1" dirty="0">
                <a:solidFill>
                  <a:srgbClr val="000000"/>
                </a:solidFill>
                <a:latin typeface="Arial" charset="0"/>
              </a:rPr>
            </a:br>
            <a:r>
              <a:rPr lang="en-US" sz="3200" b="1" dirty="0">
                <a:solidFill>
                  <a:srgbClr val="FF0000"/>
                </a:solidFill>
                <a:latin typeface="Arial" charset="0"/>
              </a:rPr>
              <a:t>S = G × e </a:t>
            </a:r>
            <a:r>
              <a:rPr lang="en-US" sz="3200" b="1" baseline="30000" dirty="0">
                <a:solidFill>
                  <a:srgbClr val="FF0000"/>
                </a:solidFill>
                <a:latin typeface="Arial" charset="0"/>
              </a:rPr>
              <a:t>−2G  </a:t>
            </a:r>
            <a:r>
              <a:rPr lang="en-US" sz="3200" b="1" dirty="0">
                <a:solidFill>
                  <a:srgbClr val="000000"/>
                </a:solidFill>
                <a:latin typeface="Arial" charset="0"/>
              </a:rPr>
              <a:t>.</a:t>
            </a:r>
          </a:p>
          <a:p>
            <a:pPr algn="ctr" eaLnBrk="0" fontAlgn="base" hangingPunct="0">
              <a:spcBef>
                <a:spcPct val="0"/>
              </a:spcBef>
              <a:spcAft>
                <a:spcPct val="0"/>
              </a:spcAft>
            </a:pPr>
            <a:r>
              <a:rPr lang="en-US" sz="3200" b="1" dirty="0">
                <a:solidFill>
                  <a:srgbClr val="000000"/>
                </a:solidFill>
                <a:latin typeface="Arial" charset="0"/>
              </a:rPr>
              <a:t>The maximum throughput</a:t>
            </a:r>
          </a:p>
          <a:p>
            <a:pPr algn="ctr" eaLnBrk="0" fontAlgn="base" hangingPunct="0">
              <a:spcBef>
                <a:spcPct val="0"/>
              </a:spcBef>
              <a:spcAft>
                <a:spcPct val="0"/>
              </a:spcAft>
            </a:pPr>
            <a:r>
              <a:rPr lang="en-US" sz="3200" b="1" dirty="0" err="1">
                <a:solidFill>
                  <a:srgbClr val="FF0000"/>
                </a:solidFill>
                <a:latin typeface="Arial" charset="0"/>
              </a:rPr>
              <a:t>S</a:t>
            </a:r>
            <a:r>
              <a:rPr lang="en-US" sz="3200" b="1" baseline="-18000" dirty="0" err="1">
                <a:solidFill>
                  <a:srgbClr val="FF0000"/>
                </a:solidFill>
                <a:latin typeface="Arial" charset="0"/>
              </a:rPr>
              <a:t>max</a:t>
            </a:r>
            <a:r>
              <a:rPr lang="en-US" sz="3200" b="1" dirty="0">
                <a:solidFill>
                  <a:srgbClr val="FF0000"/>
                </a:solidFill>
                <a:latin typeface="Arial" charset="0"/>
              </a:rPr>
              <a:t> = 0.184 </a:t>
            </a:r>
            <a:r>
              <a:rPr lang="en-US" sz="3200" b="1" dirty="0">
                <a:solidFill>
                  <a:srgbClr val="000000"/>
                </a:solidFill>
                <a:latin typeface="Arial" charset="0"/>
              </a:rPr>
              <a:t>when G= (1/2).</a:t>
            </a:r>
          </a:p>
        </p:txBody>
      </p:sp>
      <p:grpSp>
        <p:nvGrpSpPr>
          <p:cNvPr id="1139724" name="Group 12"/>
          <p:cNvGrpSpPr>
            <a:grpSpLocks/>
          </p:cNvGrpSpPr>
          <p:nvPr/>
        </p:nvGrpSpPr>
        <p:grpSpPr bwMode="auto">
          <a:xfrm>
            <a:off x="457200" y="1981200"/>
            <a:ext cx="1143000" cy="566738"/>
            <a:chOff x="1200" y="1248"/>
            <a:chExt cx="720" cy="357"/>
          </a:xfrm>
        </p:grpSpPr>
        <p:pic>
          <p:nvPicPr>
            <p:cNvPr id="1139725"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39726"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800" b="1" i="1">
                  <a:solidFill>
                    <a:srgbClr val="FF0000"/>
                  </a:solidFill>
                  <a:latin typeface="Times New Roman" pitchFamily="18" charset="0"/>
                </a:rPr>
                <a:t>Note</a:t>
              </a:r>
            </a:p>
          </p:txBody>
        </p:sp>
      </p:grpSp>
      <p:pic>
        <p:nvPicPr>
          <p:cNvPr id="3" name="Picture 2">
            <a:extLst>
              <a:ext uri="{FF2B5EF4-FFF2-40B4-BE49-F238E27FC236}">
                <a16:creationId xmlns:a16="http://schemas.microsoft.com/office/drawing/2014/main" id="{B208D06F-CD33-4E00-10E8-2BCFCD89273A}"/>
              </a:ext>
            </a:extLst>
          </p:cNvPr>
          <p:cNvPicPr>
            <a:picLocks noChangeAspect="1"/>
          </p:cNvPicPr>
          <p:nvPr/>
        </p:nvPicPr>
        <p:blipFill>
          <a:blip r:embed="rId4"/>
          <a:stretch>
            <a:fillRect/>
          </a:stretch>
        </p:blipFill>
        <p:spPr>
          <a:xfrm>
            <a:off x="191075" y="204047"/>
            <a:ext cx="1927647" cy="607782"/>
          </a:xfrm>
          <a:prstGeom prst="rect">
            <a:avLst/>
          </a:prstGeom>
        </p:spPr>
      </p:pic>
      <p:pic>
        <p:nvPicPr>
          <p:cNvPr id="5" name="Picture 4">
            <a:extLst>
              <a:ext uri="{FF2B5EF4-FFF2-40B4-BE49-F238E27FC236}">
                <a16:creationId xmlns:a16="http://schemas.microsoft.com/office/drawing/2014/main" id="{EE9C2998-3C74-E6E2-2064-6B92FFDB9D02}"/>
              </a:ext>
            </a:extLst>
          </p:cNvPr>
          <p:cNvPicPr>
            <a:picLocks noChangeAspect="1"/>
          </p:cNvPicPr>
          <p:nvPr/>
        </p:nvPicPr>
        <p:blipFill>
          <a:blip r:embed="rId5"/>
          <a:stretch>
            <a:fillRect/>
          </a:stretch>
        </p:blipFill>
        <p:spPr>
          <a:xfrm>
            <a:off x="7857578" y="166381"/>
            <a:ext cx="875259" cy="694350"/>
          </a:xfrm>
          <a:prstGeom prst="rect">
            <a:avLst/>
          </a:prstGeom>
        </p:spPr>
      </p:pic>
    </p:spTree>
    <p:extLst>
      <p:ext uri="{BB962C8B-B14F-4D97-AF65-F5344CB8AC3E}">
        <p14:creationId xmlns:p14="http://schemas.microsoft.com/office/powerpoint/2010/main" val="22835601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2400" y="914400"/>
            <a:ext cx="8839200" cy="1107996"/>
          </a:xfrm>
        </p:spPr>
        <p:txBody>
          <a:bodyPr/>
          <a:lstStyle/>
          <a:p>
            <a:r>
              <a:rPr lang="en-US" sz="3600" dirty="0"/>
              <a:t>Calculation of max efficiency/ throughput Pure ALOHA </a:t>
            </a:r>
          </a:p>
        </p:txBody>
      </p:sp>
      <p:sp>
        <p:nvSpPr>
          <p:cNvPr id="3" name="Text Placeholder 2"/>
          <p:cNvSpPr>
            <a:spLocks noGrp="1"/>
          </p:cNvSpPr>
          <p:nvPr>
            <p:ph type="body" idx="1"/>
          </p:nvPr>
        </p:nvSpPr>
        <p:spPr>
          <a:xfrm>
            <a:off x="304800" y="1982852"/>
            <a:ext cx="7835239" cy="4341748"/>
          </a:xfrm>
        </p:spPr>
        <p:txBody>
          <a:bodyPr/>
          <a:lstStyle/>
          <a:p>
            <a:endParaRPr lang="en-US" sz="2400" dirty="0">
              <a:solidFill>
                <a:srgbClr val="FF0000"/>
              </a:solidFill>
              <a:latin typeface="Arial" charset="0"/>
            </a:endParaRPr>
          </a:p>
          <a:p>
            <a:r>
              <a:rPr lang="en-US" sz="2400" dirty="0">
                <a:solidFill>
                  <a:srgbClr val="FF0000"/>
                </a:solidFill>
                <a:latin typeface="Arial" charset="0"/>
              </a:rPr>
              <a:t>S = G × e </a:t>
            </a:r>
            <a:r>
              <a:rPr lang="en-US" sz="2400" baseline="30000" dirty="0">
                <a:solidFill>
                  <a:srgbClr val="FF0000"/>
                </a:solidFill>
                <a:latin typeface="Arial" charset="0"/>
              </a:rPr>
              <a:t>−2G</a:t>
            </a:r>
          </a:p>
          <a:p>
            <a:endParaRPr lang="en-US" sz="2800" b="1" baseline="30000" dirty="0">
              <a:solidFill>
                <a:srgbClr val="FF0000"/>
              </a:solidFill>
              <a:latin typeface="Arial" charset="0"/>
            </a:endParaRPr>
          </a:p>
          <a:p>
            <a:r>
              <a:rPr lang="en-US" sz="2800" b="1" baseline="30000" dirty="0">
                <a:solidFill>
                  <a:schemeClr val="tx1"/>
                </a:solidFill>
                <a:latin typeface="Arial" charset="0"/>
              </a:rPr>
              <a:t>Differentiate it with respect to G</a:t>
            </a:r>
          </a:p>
          <a:p>
            <a:r>
              <a:rPr lang="en-US" sz="2400" b="1" dirty="0">
                <a:solidFill>
                  <a:srgbClr val="FF0000"/>
                </a:solidFill>
                <a:latin typeface="Arial" charset="0"/>
              </a:rPr>
              <a:t>	</a:t>
            </a:r>
            <a:r>
              <a:rPr lang="en-US" sz="2400" dirty="0">
                <a:solidFill>
                  <a:schemeClr val="tx1"/>
                </a:solidFill>
                <a:latin typeface="Arial" charset="0"/>
              </a:rPr>
              <a:t>G × e</a:t>
            </a:r>
            <a:r>
              <a:rPr lang="en-US" sz="2400" baseline="30000" dirty="0">
                <a:solidFill>
                  <a:schemeClr val="tx1"/>
                </a:solidFill>
                <a:latin typeface="Arial" charset="0"/>
              </a:rPr>
              <a:t>−2G </a:t>
            </a:r>
            <a:r>
              <a:rPr lang="en-US" sz="2400" dirty="0">
                <a:solidFill>
                  <a:schemeClr val="tx1"/>
                </a:solidFill>
                <a:latin typeface="Arial" charset="0"/>
              </a:rPr>
              <a:t>(-2) + e</a:t>
            </a:r>
            <a:r>
              <a:rPr lang="en-US" sz="2400" baseline="30000" dirty="0">
                <a:solidFill>
                  <a:schemeClr val="tx1"/>
                </a:solidFill>
                <a:latin typeface="Arial" charset="0"/>
              </a:rPr>
              <a:t>−2G </a:t>
            </a:r>
            <a:r>
              <a:rPr lang="en-US" sz="2400" dirty="0">
                <a:solidFill>
                  <a:schemeClr val="tx1"/>
                </a:solidFill>
                <a:latin typeface="Arial" charset="0"/>
              </a:rPr>
              <a:t>(1) = 0 </a:t>
            </a:r>
            <a:r>
              <a:rPr lang="en-US" sz="2400" b="1" dirty="0">
                <a:solidFill>
                  <a:schemeClr val="tx1"/>
                </a:solidFill>
                <a:latin typeface="Arial" charset="0"/>
              </a:rPr>
              <a:t>; </a:t>
            </a:r>
            <a:r>
              <a:rPr lang="en-US" sz="2000" dirty="0">
                <a:solidFill>
                  <a:schemeClr val="tx1"/>
                </a:solidFill>
                <a:latin typeface="Perpetua" pitchFamily="18" charset="0"/>
                <a:ea typeface="+mj-ea"/>
                <a:cs typeface="Franklin Gothic Book"/>
              </a:rPr>
              <a:t>(to find the maximum value)</a:t>
            </a:r>
          </a:p>
          <a:p>
            <a:endParaRPr lang="en-US" sz="2000" dirty="0">
              <a:solidFill>
                <a:schemeClr val="tx1"/>
              </a:solidFill>
              <a:latin typeface="Perpetua" pitchFamily="18" charset="0"/>
              <a:ea typeface="+mj-ea"/>
              <a:cs typeface="Franklin Gothic Book"/>
            </a:endParaRPr>
          </a:p>
          <a:p>
            <a:r>
              <a:rPr lang="en-US" sz="2000" dirty="0">
                <a:solidFill>
                  <a:srgbClr val="696363"/>
                </a:solidFill>
                <a:latin typeface="Perpetua" pitchFamily="18" charset="0"/>
                <a:ea typeface="+mj-ea"/>
                <a:cs typeface="Franklin Gothic Book"/>
              </a:rPr>
              <a:t>               = </a:t>
            </a:r>
            <a:r>
              <a:rPr lang="en-US" sz="2000" dirty="0">
                <a:solidFill>
                  <a:schemeClr val="tx1"/>
                </a:solidFill>
                <a:latin typeface="Arial" charset="0"/>
              </a:rPr>
              <a:t>e</a:t>
            </a:r>
            <a:r>
              <a:rPr lang="en-US" sz="2000" baseline="30000" dirty="0">
                <a:solidFill>
                  <a:schemeClr val="tx1"/>
                </a:solidFill>
                <a:latin typeface="Arial" charset="0"/>
              </a:rPr>
              <a:t>−2G </a:t>
            </a:r>
            <a:r>
              <a:rPr lang="en-US" sz="2000" dirty="0">
                <a:solidFill>
                  <a:schemeClr val="tx1"/>
                </a:solidFill>
                <a:latin typeface="Arial" charset="0"/>
              </a:rPr>
              <a:t>(-2G+1) =0</a:t>
            </a:r>
          </a:p>
          <a:p>
            <a:r>
              <a:rPr lang="en-US" sz="2000" dirty="0">
                <a:solidFill>
                  <a:schemeClr val="tx1"/>
                </a:solidFill>
                <a:latin typeface="Arial" charset="0"/>
                <a:ea typeface="+mj-ea"/>
                <a:cs typeface="Franklin Gothic Book"/>
              </a:rPr>
              <a:t>	=</a:t>
            </a:r>
            <a:r>
              <a:rPr lang="en-US" sz="2000" dirty="0">
                <a:solidFill>
                  <a:schemeClr val="tx1"/>
                </a:solidFill>
                <a:latin typeface="Arial" charset="0"/>
              </a:rPr>
              <a:t>(-2G+1) =0</a:t>
            </a:r>
          </a:p>
          <a:p>
            <a:r>
              <a:rPr lang="en-US" sz="2000" dirty="0">
                <a:solidFill>
                  <a:schemeClr val="tx1"/>
                </a:solidFill>
                <a:latin typeface="Arial" charset="0"/>
                <a:cs typeface="Franklin Gothic Book"/>
              </a:rPr>
              <a:t>	= </a:t>
            </a:r>
            <a:r>
              <a:rPr lang="en-US" sz="2000" dirty="0">
                <a:solidFill>
                  <a:schemeClr val="tx1"/>
                </a:solidFill>
                <a:latin typeface="Arial" charset="0"/>
              </a:rPr>
              <a:t>G =1/2</a:t>
            </a:r>
          </a:p>
          <a:p>
            <a:endParaRPr lang="en-US" sz="2000" dirty="0">
              <a:solidFill>
                <a:schemeClr val="tx1"/>
              </a:solidFill>
              <a:latin typeface="Arial" charset="0"/>
            </a:endParaRPr>
          </a:p>
          <a:p>
            <a:r>
              <a:rPr lang="en-US" sz="2000" dirty="0">
                <a:solidFill>
                  <a:schemeClr val="tx1"/>
                </a:solidFill>
                <a:latin typeface="Arial" charset="0"/>
              </a:rPr>
              <a:t>Now, solve the efficiency equation</a:t>
            </a:r>
          </a:p>
          <a:p>
            <a:endParaRPr lang="en-US" sz="2000" dirty="0">
              <a:solidFill>
                <a:schemeClr val="tx1"/>
              </a:solidFill>
              <a:latin typeface="Arial" charset="0"/>
            </a:endParaRPr>
          </a:p>
          <a:p>
            <a:r>
              <a:rPr lang="en-US" sz="2000" b="1" dirty="0">
                <a:solidFill>
                  <a:srgbClr val="FF0000"/>
                </a:solidFill>
                <a:latin typeface="Arial" charset="0"/>
              </a:rPr>
              <a:t>             </a:t>
            </a:r>
            <a:r>
              <a:rPr lang="en-US" sz="2000" b="1" dirty="0">
                <a:solidFill>
                  <a:schemeClr val="tx1"/>
                </a:solidFill>
                <a:latin typeface="Arial" charset="0"/>
              </a:rPr>
              <a:t>Max efficiency (</a:t>
            </a:r>
            <a:r>
              <a:rPr lang="en-US" sz="2000" b="1" dirty="0" err="1">
                <a:solidFill>
                  <a:schemeClr val="tx1"/>
                </a:solidFill>
                <a:latin typeface="Arial" charset="0"/>
              </a:rPr>
              <a:t>S</a:t>
            </a:r>
            <a:r>
              <a:rPr lang="en-US" sz="2000" b="1" baseline="-18000" dirty="0" err="1">
                <a:solidFill>
                  <a:schemeClr val="tx1"/>
                </a:solidFill>
                <a:latin typeface="Arial" charset="0"/>
              </a:rPr>
              <a:t>max</a:t>
            </a:r>
            <a:r>
              <a:rPr lang="en-US" sz="2000" b="1" dirty="0">
                <a:solidFill>
                  <a:schemeClr val="tx1"/>
                </a:solidFill>
                <a:latin typeface="Arial" charset="0"/>
              </a:rPr>
              <a:t>) = 0.184</a:t>
            </a:r>
            <a:endParaRPr lang="en-US" sz="2000" dirty="0">
              <a:solidFill>
                <a:schemeClr val="tx1"/>
              </a:solidFill>
              <a:latin typeface="Arial" charset="0"/>
            </a:endParaRPr>
          </a:p>
          <a:p>
            <a:endParaRPr lang="en-US" sz="2000" dirty="0">
              <a:solidFill>
                <a:srgbClr val="696363"/>
              </a:solidFill>
              <a:latin typeface="Perpetua" pitchFamily="18" charset="0"/>
              <a:ea typeface="+mj-ea"/>
              <a:cs typeface="Franklin Gothic Book"/>
            </a:endParaRPr>
          </a:p>
          <a:p>
            <a:endParaRPr lang="en-US" dirty="0">
              <a:solidFill>
                <a:schemeClr val="tx1"/>
              </a:solidFill>
            </a:endParaRPr>
          </a:p>
        </p:txBody>
      </p:sp>
    </p:spTree>
    <p:extLst>
      <p:ext uri="{BB962C8B-B14F-4D97-AF65-F5344CB8AC3E}">
        <p14:creationId xmlns:p14="http://schemas.microsoft.com/office/powerpoint/2010/main" val="2977039129"/>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solidFill>
                  <a:srgbClr val="1C1C1C"/>
                </a:solidFill>
              </a:rPr>
              <a:t>12.</a:t>
            </a:r>
            <a:fld id="{70F2B417-BDF0-4A23-9D2A-1E3D6A7B9E7F}" type="slidenum">
              <a:rPr lang="en-US">
                <a:solidFill>
                  <a:srgbClr val="1C1C1C"/>
                </a:solidFill>
              </a:rPr>
              <a:pPr/>
              <a:t>42</a:t>
            </a:fld>
            <a:endParaRPr lang="en-US">
              <a:solidFill>
                <a:srgbClr val="1C1C1C"/>
              </a:solidFill>
            </a:endParaRPr>
          </a:p>
        </p:txBody>
      </p:sp>
      <p:sp>
        <p:nvSpPr>
          <p:cNvPr id="1166338"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633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6340"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634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634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6343"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634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6345" name="Rectangle 9"/>
          <p:cNvSpPr>
            <a:spLocks noChangeArrowheads="1"/>
          </p:cNvSpPr>
          <p:nvPr/>
        </p:nvSpPr>
        <p:spPr bwMode="auto">
          <a:xfrm>
            <a:off x="228600" y="838200"/>
            <a:ext cx="8686800" cy="2227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000000"/>
                </a:solidFill>
                <a:latin typeface="Times New Roman" pitchFamily="18" charset="0"/>
              </a:rPr>
              <a:t>A pure ALOHA network transmits 200-bit frames on a shared channel of 200 kbps. What is the throughput if the system (all stations together) produces</a:t>
            </a:r>
          </a:p>
          <a:p>
            <a:pPr algn="just" eaLnBrk="0" fontAlgn="base" hangingPunct="0">
              <a:spcBef>
                <a:spcPct val="0"/>
              </a:spcBef>
              <a:spcAft>
                <a:spcPct val="0"/>
              </a:spcAft>
            </a:pPr>
            <a:r>
              <a:rPr lang="en-US" sz="2800" b="1" i="1">
                <a:solidFill>
                  <a:srgbClr val="FF0000"/>
                </a:solidFill>
                <a:latin typeface="Times New Roman" pitchFamily="18" charset="0"/>
              </a:rPr>
              <a:t>a.</a:t>
            </a:r>
            <a:r>
              <a:rPr lang="en-US" sz="2800" b="1" i="1">
                <a:solidFill>
                  <a:srgbClr val="000000"/>
                </a:solidFill>
                <a:latin typeface="Times New Roman" pitchFamily="18" charset="0"/>
              </a:rPr>
              <a:t> 1000 frames per second    </a:t>
            </a:r>
            <a:r>
              <a:rPr lang="en-US" sz="2800" b="1" i="1">
                <a:solidFill>
                  <a:srgbClr val="FF0000"/>
                </a:solidFill>
                <a:latin typeface="Times New Roman" pitchFamily="18" charset="0"/>
              </a:rPr>
              <a:t>b.</a:t>
            </a:r>
            <a:r>
              <a:rPr lang="en-US" sz="2800" b="1" i="1">
                <a:solidFill>
                  <a:srgbClr val="000000"/>
                </a:solidFill>
                <a:latin typeface="Times New Roman" pitchFamily="18" charset="0"/>
              </a:rPr>
              <a:t> 500 frames per second</a:t>
            </a:r>
          </a:p>
          <a:p>
            <a:pPr algn="just" eaLnBrk="0" fontAlgn="base" hangingPunct="0">
              <a:spcBef>
                <a:spcPct val="0"/>
              </a:spcBef>
              <a:spcAft>
                <a:spcPct val="0"/>
              </a:spcAft>
            </a:pPr>
            <a:r>
              <a:rPr lang="en-US" sz="2800" b="1" i="1">
                <a:solidFill>
                  <a:srgbClr val="FF0000"/>
                </a:solidFill>
                <a:latin typeface="Times New Roman" pitchFamily="18" charset="0"/>
              </a:rPr>
              <a:t>c.</a:t>
            </a:r>
            <a:r>
              <a:rPr lang="en-US" sz="2800" b="1" i="1">
                <a:solidFill>
                  <a:srgbClr val="000000"/>
                </a:solidFill>
                <a:latin typeface="Times New Roman" pitchFamily="18" charset="0"/>
              </a:rPr>
              <a:t> 250 frames per second.</a:t>
            </a:r>
          </a:p>
        </p:txBody>
      </p:sp>
      <p:sp>
        <p:nvSpPr>
          <p:cNvPr id="1166346" name="Text Box 10"/>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12.3</a:t>
            </a:r>
          </a:p>
        </p:txBody>
      </p:sp>
      <p:sp>
        <p:nvSpPr>
          <p:cNvPr id="1166347" name="Rectangle 11"/>
          <p:cNvSpPr>
            <a:spLocks noChangeArrowheads="1"/>
          </p:cNvSpPr>
          <p:nvPr/>
        </p:nvSpPr>
        <p:spPr bwMode="auto">
          <a:xfrm>
            <a:off x="228600" y="3200400"/>
            <a:ext cx="8686800" cy="30813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FF0000"/>
                </a:solidFill>
                <a:latin typeface="Times New Roman" pitchFamily="18" charset="0"/>
              </a:rPr>
              <a:t>Solution</a:t>
            </a:r>
          </a:p>
          <a:p>
            <a:pPr algn="just" eaLnBrk="0" fontAlgn="base" hangingPunct="0">
              <a:spcBef>
                <a:spcPct val="0"/>
              </a:spcBef>
              <a:spcAft>
                <a:spcPct val="0"/>
              </a:spcAft>
            </a:pPr>
            <a:r>
              <a:rPr lang="en-US" sz="2800" b="1" i="1">
                <a:solidFill>
                  <a:srgbClr val="000000"/>
                </a:solidFill>
                <a:latin typeface="Times New Roman" pitchFamily="18" charset="0"/>
              </a:rPr>
              <a:t>The frame transmission time is 200/200 kbps or 1 ms.</a:t>
            </a:r>
          </a:p>
          <a:p>
            <a:pPr algn="just" eaLnBrk="0" fontAlgn="base" hangingPunct="0">
              <a:spcBef>
                <a:spcPct val="0"/>
              </a:spcBef>
              <a:spcAft>
                <a:spcPct val="0"/>
              </a:spcAft>
            </a:pPr>
            <a:r>
              <a:rPr lang="en-US" sz="2800" b="1" i="1">
                <a:solidFill>
                  <a:srgbClr val="FF0000"/>
                </a:solidFill>
                <a:latin typeface="Times New Roman" pitchFamily="18" charset="0"/>
              </a:rPr>
              <a:t>a.</a:t>
            </a:r>
            <a:r>
              <a:rPr lang="en-US" sz="2800" b="1" i="1">
                <a:solidFill>
                  <a:srgbClr val="000000"/>
                </a:solidFill>
                <a:latin typeface="Times New Roman" pitchFamily="18" charset="0"/>
              </a:rPr>
              <a:t> If the system creates 1000 frames per second, this is 1</a:t>
            </a:r>
            <a:br>
              <a:rPr lang="en-US" sz="2800" b="1" i="1">
                <a:solidFill>
                  <a:srgbClr val="000000"/>
                </a:solidFill>
                <a:latin typeface="Times New Roman" pitchFamily="18" charset="0"/>
              </a:rPr>
            </a:br>
            <a:r>
              <a:rPr lang="en-US" sz="2800" b="1" i="1">
                <a:solidFill>
                  <a:srgbClr val="000000"/>
                </a:solidFill>
                <a:latin typeface="Times New Roman" pitchFamily="18" charset="0"/>
              </a:rPr>
              <a:t>    frame per millisecond. The load is 1. In this case </a:t>
            </a:r>
            <a:br>
              <a:rPr lang="en-US" sz="2800" b="1" i="1">
                <a:solidFill>
                  <a:srgbClr val="000000"/>
                </a:solidFill>
                <a:latin typeface="Times New Roman" pitchFamily="18" charset="0"/>
              </a:rPr>
            </a:br>
            <a:r>
              <a:rPr lang="en-US" sz="2800" b="1" i="1">
                <a:solidFill>
                  <a:srgbClr val="000000"/>
                </a:solidFill>
                <a:latin typeface="Times New Roman" pitchFamily="18" charset="0"/>
              </a:rPr>
              <a:t>    S = G× e</a:t>
            </a:r>
            <a:r>
              <a:rPr lang="en-US" sz="2800" b="1" i="1" baseline="30000">
                <a:solidFill>
                  <a:srgbClr val="000000"/>
                </a:solidFill>
                <a:latin typeface="Times New Roman" pitchFamily="18" charset="0"/>
              </a:rPr>
              <a:t>−2 G</a:t>
            </a:r>
            <a:r>
              <a:rPr lang="en-US" sz="2800" b="1" i="1">
                <a:solidFill>
                  <a:srgbClr val="000000"/>
                </a:solidFill>
                <a:latin typeface="Times New Roman" pitchFamily="18" charset="0"/>
              </a:rPr>
              <a:t> or S = 0.135 (13.5 percent). This means</a:t>
            </a:r>
            <a:br>
              <a:rPr lang="en-US" sz="2800" b="1" i="1">
                <a:solidFill>
                  <a:srgbClr val="000000"/>
                </a:solidFill>
                <a:latin typeface="Times New Roman" pitchFamily="18" charset="0"/>
              </a:rPr>
            </a:br>
            <a:r>
              <a:rPr lang="en-US" sz="2800" b="1" i="1">
                <a:solidFill>
                  <a:srgbClr val="000000"/>
                </a:solidFill>
                <a:latin typeface="Times New Roman" pitchFamily="18" charset="0"/>
              </a:rPr>
              <a:t>    that the throughput is 1000 × 0.135 = 135 frames. Only</a:t>
            </a:r>
            <a:br>
              <a:rPr lang="en-US" sz="2800" b="1" i="1">
                <a:solidFill>
                  <a:srgbClr val="000000"/>
                </a:solidFill>
                <a:latin typeface="Times New Roman" pitchFamily="18" charset="0"/>
              </a:rPr>
            </a:br>
            <a:r>
              <a:rPr lang="en-US" sz="2800" b="1" i="1">
                <a:solidFill>
                  <a:srgbClr val="000000"/>
                </a:solidFill>
                <a:latin typeface="Times New Roman" pitchFamily="18" charset="0"/>
              </a:rPr>
              <a:t>    135 frames out of 1000 will probably survive.</a:t>
            </a:r>
          </a:p>
        </p:txBody>
      </p:sp>
      <p:pic>
        <p:nvPicPr>
          <p:cNvPr id="3" name="Picture 2">
            <a:extLst>
              <a:ext uri="{FF2B5EF4-FFF2-40B4-BE49-F238E27FC236}">
                <a16:creationId xmlns:a16="http://schemas.microsoft.com/office/drawing/2014/main" id="{B19800D7-1323-43DF-2A76-A0220C1252C4}"/>
              </a:ext>
            </a:extLst>
          </p:cNvPr>
          <p:cNvPicPr>
            <a:picLocks noChangeAspect="1"/>
          </p:cNvPicPr>
          <p:nvPr/>
        </p:nvPicPr>
        <p:blipFill>
          <a:blip r:embed="rId3"/>
          <a:stretch>
            <a:fillRect/>
          </a:stretch>
        </p:blipFill>
        <p:spPr>
          <a:xfrm>
            <a:off x="15082" y="73513"/>
            <a:ext cx="1927647" cy="607782"/>
          </a:xfrm>
          <a:prstGeom prst="rect">
            <a:avLst/>
          </a:prstGeom>
        </p:spPr>
      </p:pic>
      <p:pic>
        <p:nvPicPr>
          <p:cNvPr id="5" name="Picture 4">
            <a:extLst>
              <a:ext uri="{FF2B5EF4-FFF2-40B4-BE49-F238E27FC236}">
                <a16:creationId xmlns:a16="http://schemas.microsoft.com/office/drawing/2014/main" id="{06770AA0-559E-3416-95BC-BC4A5309584A}"/>
              </a:ext>
            </a:extLst>
          </p:cNvPr>
          <p:cNvPicPr>
            <a:picLocks noChangeAspect="1"/>
          </p:cNvPicPr>
          <p:nvPr/>
        </p:nvPicPr>
        <p:blipFill>
          <a:blip r:embed="rId4"/>
          <a:stretch>
            <a:fillRect/>
          </a:stretch>
        </p:blipFill>
        <p:spPr>
          <a:xfrm>
            <a:off x="7681585" y="35847"/>
            <a:ext cx="875259" cy="694350"/>
          </a:xfrm>
          <a:prstGeom prst="rect">
            <a:avLst/>
          </a:prstGeom>
        </p:spPr>
      </p:pic>
    </p:spTree>
    <p:extLst>
      <p:ext uri="{BB962C8B-B14F-4D97-AF65-F5344CB8AC3E}">
        <p14:creationId xmlns:p14="http://schemas.microsoft.com/office/powerpoint/2010/main" val="25311422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solidFill>
                  <a:srgbClr val="1C1C1C"/>
                </a:solidFill>
              </a:rPr>
              <a:t>12.</a:t>
            </a:r>
            <a:fld id="{5E2C2484-1BB7-4CE3-BBB5-E1C3161C12C9}" type="slidenum">
              <a:rPr lang="en-US">
                <a:solidFill>
                  <a:srgbClr val="1C1C1C"/>
                </a:solidFill>
              </a:rPr>
              <a:pPr/>
              <a:t>43</a:t>
            </a:fld>
            <a:endParaRPr lang="en-US">
              <a:solidFill>
                <a:srgbClr val="1C1C1C"/>
              </a:solidFill>
            </a:endParaRPr>
          </a:p>
        </p:txBody>
      </p:sp>
      <p:sp>
        <p:nvSpPr>
          <p:cNvPr id="1176578"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657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6580"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658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658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6583"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658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6586" name="Text Box 10"/>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12.3 (continued)</a:t>
            </a:r>
          </a:p>
        </p:txBody>
      </p:sp>
      <p:sp>
        <p:nvSpPr>
          <p:cNvPr id="1176587" name="Rectangle 11"/>
          <p:cNvSpPr>
            <a:spLocks noChangeArrowheads="1"/>
          </p:cNvSpPr>
          <p:nvPr/>
        </p:nvSpPr>
        <p:spPr bwMode="auto">
          <a:xfrm>
            <a:off x="228600" y="838200"/>
            <a:ext cx="8686800" cy="56435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FF0000"/>
                </a:solidFill>
                <a:latin typeface="Times New Roman" pitchFamily="18" charset="0"/>
              </a:rPr>
              <a:t>b.</a:t>
            </a:r>
            <a:r>
              <a:rPr lang="en-US" sz="2800" b="1" i="1">
                <a:solidFill>
                  <a:srgbClr val="000000"/>
                </a:solidFill>
                <a:latin typeface="Times New Roman" pitchFamily="18" charset="0"/>
              </a:rPr>
              <a:t> If the system creates 500 frames per second, this is</a:t>
            </a:r>
            <a:br>
              <a:rPr lang="en-US" sz="2800" b="1" i="1">
                <a:solidFill>
                  <a:srgbClr val="000000"/>
                </a:solidFill>
                <a:latin typeface="Times New Roman" pitchFamily="18" charset="0"/>
              </a:rPr>
            </a:br>
            <a:r>
              <a:rPr lang="en-US" sz="2800" b="1" i="1">
                <a:solidFill>
                  <a:srgbClr val="000000"/>
                </a:solidFill>
                <a:latin typeface="Times New Roman" pitchFamily="18" charset="0"/>
              </a:rPr>
              <a:t>    (1/2) frame per millisecond. The load is (1/2). In this</a:t>
            </a:r>
            <a:br>
              <a:rPr lang="en-US" sz="2800" b="1" i="1">
                <a:solidFill>
                  <a:srgbClr val="000000"/>
                </a:solidFill>
                <a:latin typeface="Times New Roman" pitchFamily="18" charset="0"/>
              </a:rPr>
            </a:br>
            <a:r>
              <a:rPr lang="en-US" sz="2800" b="1" i="1">
                <a:solidFill>
                  <a:srgbClr val="000000"/>
                </a:solidFill>
                <a:latin typeface="Times New Roman" pitchFamily="18" charset="0"/>
              </a:rPr>
              <a:t>    case S = G × e </a:t>
            </a:r>
            <a:r>
              <a:rPr lang="en-US" sz="2800" b="1" i="1" baseline="30000">
                <a:solidFill>
                  <a:srgbClr val="000000"/>
                </a:solidFill>
                <a:latin typeface="Times New Roman" pitchFamily="18" charset="0"/>
              </a:rPr>
              <a:t>−2G</a:t>
            </a:r>
            <a:r>
              <a:rPr lang="en-US" sz="2800" b="1" i="1">
                <a:solidFill>
                  <a:srgbClr val="000000"/>
                </a:solidFill>
                <a:latin typeface="Times New Roman" pitchFamily="18" charset="0"/>
              </a:rPr>
              <a:t> or S = 0.184 (18.4 percent). This</a:t>
            </a:r>
            <a:br>
              <a:rPr lang="en-US" sz="2800" b="1" i="1">
                <a:solidFill>
                  <a:srgbClr val="000000"/>
                </a:solidFill>
                <a:latin typeface="Times New Roman" pitchFamily="18" charset="0"/>
              </a:rPr>
            </a:br>
            <a:r>
              <a:rPr lang="en-US" sz="2800" b="1" i="1">
                <a:solidFill>
                  <a:srgbClr val="000000"/>
                </a:solidFill>
                <a:latin typeface="Times New Roman" pitchFamily="18" charset="0"/>
              </a:rPr>
              <a:t>    means that the throughput is 500 × 0.184 = 92 and that</a:t>
            </a:r>
            <a:br>
              <a:rPr lang="en-US" sz="2800" b="1" i="1">
                <a:solidFill>
                  <a:srgbClr val="000000"/>
                </a:solidFill>
                <a:latin typeface="Times New Roman" pitchFamily="18" charset="0"/>
              </a:rPr>
            </a:br>
            <a:r>
              <a:rPr lang="en-US" sz="2800" b="1" i="1">
                <a:solidFill>
                  <a:srgbClr val="000000"/>
                </a:solidFill>
                <a:latin typeface="Times New Roman" pitchFamily="18" charset="0"/>
              </a:rPr>
              <a:t>    only 92 frames out of 500 will probably survive. Note</a:t>
            </a:r>
            <a:br>
              <a:rPr lang="en-US" sz="2800" b="1" i="1">
                <a:solidFill>
                  <a:srgbClr val="000000"/>
                </a:solidFill>
                <a:latin typeface="Times New Roman" pitchFamily="18" charset="0"/>
              </a:rPr>
            </a:br>
            <a:r>
              <a:rPr lang="en-US" sz="2800" b="1" i="1">
                <a:solidFill>
                  <a:srgbClr val="000000"/>
                </a:solidFill>
                <a:latin typeface="Times New Roman" pitchFamily="18" charset="0"/>
              </a:rPr>
              <a:t>    that this is the maximum throughput case,</a:t>
            </a:r>
            <a:br>
              <a:rPr lang="en-US" sz="2800" b="1" i="1">
                <a:solidFill>
                  <a:srgbClr val="000000"/>
                </a:solidFill>
                <a:latin typeface="Times New Roman" pitchFamily="18" charset="0"/>
              </a:rPr>
            </a:br>
            <a:r>
              <a:rPr lang="en-US" sz="2800" b="1" i="1">
                <a:solidFill>
                  <a:srgbClr val="000000"/>
                </a:solidFill>
                <a:latin typeface="Times New Roman" pitchFamily="18" charset="0"/>
              </a:rPr>
              <a:t>    percentagewise.</a:t>
            </a:r>
          </a:p>
          <a:p>
            <a:pPr algn="just" eaLnBrk="0" fontAlgn="base" hangingPunct="0">
              <a:spcBef>
                <a:spcPct val="0"/>
              </a:spcBef>
              <a:spcAft>
                <a:spcPct val="0"/>
              </a:spcAft>
            </a:pPr>
            <a:endParaRPr lang="en-US" sz="2800" b="1" i="1">
              <a:solidFill>
                <a:srgbClr val="000000"/>
              </a:solidFill>
              <a:latin typeface="Times New Roman" pitchFamily="18" charset="0"/>
            </a:endParaRPr>
          </a:p>
          <a:p>
            <a:pPr algn="just" eaLnBrk="0" fontAlgn="base" hangingPunct="0">
              <a:spcBef>
                <a:spcPct val="0"/>
              </a:spcBef>
              <a:spcAft>
                <a:spcPct val="0"/>
              </a:spcAft>
            </a:pPr>
            <a:r>
              <a:rPr lang="en-US" sz="2800" b="1" i="1">
                <a:solidFill>
                  <a:srgbClr val="FF0000"/>
                </a:solidFill>
                <a:latin typeface="Times New Roman" pitchFamily="18" charset="0"/>
              </a:rPr>
              <a:t>c.</a:t>
            </a:r>
            <a:r>
              <a:rPr lang="en-US" sz="2800" b="1" i="1">
                <a:solidFill>
                  <a:srgbClr val="000000"/>
                </a:solidFill>
                <a:latin typeface="Times New Roman" pitchFamily="18" charset="0"/>
              </a:rPr>
              <a:t> If the system creates 250 frames per second, this is (1/4)</a:t>
            </a:r>
            <a:br>
              <a:rPr lang="en-US" sz="2800" b="1" i="1">
                <a:solidFill>
                  <a:srgbClr val="000000"/>
                </a:solidFill>
                <a:latin typeface="Times New Roman" pitchFamily="18" charset="0"/>
              </a:rPr>
            </a:br>
            <a:r>
              <a:rPr lang="en-US" sz="2800" b="1" i="1">
                <a:solidFill>
                  <a:srgbClr val="000000"/>
                </a:solidFill>
                <a:latin typeface="Times New Roman" pitchFamily="18" charset="0"/>
              </a:rPr>
              <a:t>    frame per millisecond. The load is (1/4). In this case </a:t>
            </a:r>
            <a:br>
              <a:rPr lang="en-US" sz="2800" b="1" i="1">
                <a:solidFill>
                  <a:srgbClr val="000000"/>
                </a:solidFill>
                <a:latin typeface="Times New Roman" pitchFamily="18" charset="0"/>
              </a:rPr>
            </a:br>
            <a:r>
              <a:rPr lang="en-US" sz="2800" b="1" i="1">
                <a:solidFill>
                  <a:srgbClr val="000000"/>
                </a:solidFill>
                <a:latin typeface="Times New Roman" pitchFamily="18" charset="0"/>
              </a:rPr>
              <a:t>    S = G × e −</a:t>
            </a:r>
            <a:r>
              <a:rPr lang="en-US" sz="2800" b="1" i="1" baseline="30000">
                <a:solidFill>
                  <a:srgbClr val="000000"/>
                </a:solidFill>
                <a:latin typeface="Times New Roman" pitchFamily="18" charset="0"/>
              </a:rPr>
              <a:t>2G</a:t>
            </a:r>
            <a:r>
              <a:rPr lang="en-US" sz="2800" b="1" i="1">
                <a:solidFill>
                  <a:srgbClr val="000000"/>
                </a:solidFill>
                <a:latin typeface="Times New Roman" pitchFamily="18" charset="0"/>
              </a:rPr>
              <a:t> or S = 0.152 (15.2 percent). This means</a:t>
            </a:r>
            <a:br>
              <a:rPr lang="en-US" sz="2800" b="1" i="1">
                <a:solidFill>
                  <a:srgbClr val="000000"/>
                </a:solidFill>
                <a:latin typeface="Times New Roman" pitchFamily="18" charset="0"/>
              </a:rPr>
            </a:br>
            <a:r>
              <a:rPr lang="en-US" sz="2800" b="1" i="1">
                <a:solidFill>
                  <a:srgbClr val="000000"/>
                </a:solidFill>
                <a:latin typeface="Times New Roman" pitchFamily="18" charset="0"/>
              </a:rPr>
              <a:t>    that the throughput is 250 × 0.152 = 38. Only 38</a:t>
            </a:r>
            <a:br>
              <a:rPr lang="en-US" sz="2800" b="1" i="1">
                <a:solidFill>
                  <a:srgbClr val="000000"/>
                </a:solidFill>
                <a:latin typeface="Times New Roman" pitchFamily="18" charset="0"/>
              </a:rPr>
            </a:br>
            <a:r>
              <a:rPr lang="en-US" sz="2800" b="1" i="1">
                <a:solidFill>
                  <a:srgbClr val="000000"/>
                </a:solidFill>
                <a:latin typeface="Times New Roman" pitchFamily="18" charset="0"/>
              </a:rPr>
              <a:t>    frames out of 250 will probably survive.</a:t>
            </a:r>
          </a:p>
        </p:txBody>
      </p:sp>
      <p:pic>
        <p:nvPicPr>
          <p:cNvPr id="3" name="Picture 2">
            <a:extLst>
              <a:ext uri="{FF2B5EF4-FFF2-40B4-BE49-F238E27FC236}">
                <a16:creationId xmlns:a16="http://schemas.microsoft.com/office/drawing/2014/main" id="{CA7A4C6C-D033-197F-1B02-E3F01FFFB540}"/>
              </a:ext>
            </a:extLst>
          </p:cNvPr>
          <p:cNvPicPr>
            <a:picLocks noChangeAspect="1"/>
          </p:cNvPicPr>
          <p:nvPr/>
        </p:nvPicPr>
        <p:blipFill>
          <a:blip r:embed="rId3"/>
          <a:stretch>
            <a:fillRect/>
          </a:stretch>
        </p:blipFill>
        <p:spPr>
          <a:xfrm>
            <a:off x="78582" y="98172"/>
            <a:ext cx="1927647" cy="607782"/>
          </a:xfrm>
          <a:prstGeom prst="rect">
            <a:avLst/>
          </a:prstGeom>
        </p:spPr>
      </p:pic>
      <p:pic>
        <p:nvPicPr>
          <p:cNvPr id="5" name="Picture 4">
            <a:extLst>
              <a:ext uri="{FF2B5EF4-FFF2-40B4-BE49-F238E27FC236}">
                <a16:creationId xmlns:a16="http://schemas.microsoft.com/office/drawing/2014/main" id="{9E5BE833-F5B9-F8D9-D4AF-251790B15397}"/>
              </a:ext>
            </a:extLst>
          </p:cNvPr>
          <p:cNvPicPr>
            <a:picLocks noChangeAspect="1"/>
          </p:cNvPicPr>
          <p:nvPr/>
        </p:nvPicPr>
        <p:blipFill>
          <a:blip r:embed="rId4"/>
          <a:stretch>
            <a:fillRect/>
          </a:stretch>
        </p:blipFill>
        <p:spPr>
          <a:xfrm>
            <a:off x="7745085" y="60506"/>
            <a:ext cx="875259" cy="694350"/>
          </a:xfrm>
          <a:prstGeom prst="rect">
            <a:avLst/>
          </a:prstGeom>
        </p:spPr>
      </p:pic>
    </p:spTree>
    <p:extLst>
      <p:ext uri="{BB962C8B-B14F-4D97-AF65-F5344CB8AC3E}">
        <p14:creationId xmlns:p14="http://schemas.microsoft.com/office/powerpoint/2010/main" val="11931943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4380" y="265867"/>
            <a:ext cx="8013039" cy="615553"/>
          </a:xfrm>
        </p:spPr>
        <p:txBody>
          <a:bodyPr/>
          <a:lstStyle/>
          <a:p>
            <a:r>
              <a:rPr lang="en-US" dirty="0">
                <a:solidFill>
                  <a:srgbClr val="00B0F0"/>
                </a:solidFill>
              </a:rPr>
              <a:t>Slotted ALOHA</a:t>
            </a:r>
          </a:p>
        </p:txBody>
      </p:sp>
      <p:sp>
        <p:nvSpPr>
          <p:cNvPr id="3" name="Text Placeholder 2"/>
          <p:cNvSpPr>
            <a:spLocks noGrp="1"/>
          </p:cNvSpPr>
          <p:nvPr>
            <p:ph type="body" idx="1"/>
          </p:nvPr>
        </p:nvSpPr>
        <p:spPr>
          <a:xfrm>
            <a:off x="654380" y="990600"/>
            <a:ext cx="7835239" cy="5601533"/>
          </a:xfrm>
        </p:spPr>
        <p:txBody>
          <a:bodyPr/>
          <a:lstStyle/>
          <a:p>
            <a:r>
              <a:rPr lang="en-US" dirty="0">
                <a:solidFill>
                  <a:schemeClr val="tx1"/>
                </a:solidFill>
              </a:rPr>
              <a:t>Pure ALOHA has a vulnerable time of 2 × </a:t>
            </a:r>
            <a:r>
              <a:rPr lang="en-US" i="1" dirty="0">
                <a:solidFill>
                  <a:schemeClr val="tx1"/>
                </a:solidFill>
              </a:rPr>
              <a:t>Tfr</a:t>
            </a:r>
            <a:r>
              <a:rPr lang="en-US" dirty="0">
                <a:solidFill>
                  <a:schemeClr val="tx1"/>
                </a:solidFill>
              </a:rPr>
              <a:t>. </a:t>
            </a:r>
          </a:p>
          <a:p>
            <a:endParaRPr lang="en-US" dirty="0">
              <a:solidFill>
                <a:schemeClr val="tx1"/>
              </a:solidFill>
            </a:endParaRPr>
          </a:p>
          <a:p>
            <a:r>
              <a:rPr lang="en-US" dirty="0">
                <a:solidFill>
                  <a:schemeClr val="tx1"/>
                </a:solidFill>
              </a:rPr>
              <a:t>This is so because there is no rule that defines when the station can send. </a:t>
            </a:r>
          </a:p>
          <a:p>
            <a:endParaRPr lang="en-US" dirty="0">
              <a:solidFill>
                <a:schemeClr val="tx1"/>
              </a:solidFill>
            </a:endParaRPr>
          </a:p>
          <a:p>
            <a:r>
              <a:rPr lang="en-US" dirty="0">
                <a:solidFill>
                  <a:schemeClr val="tx1"/>
                </a:solidFill>
              </a:rPr>
              <a:t>A station may send soon after another station has started or just before another station has finished. </a:t>
            </a:r>
          </a:p>
          <a:p>
            <a:endParaRPr lang="en-US" dirty="0">
              <a:solidFill>
                <a:schemeClr val="tx1"/>
              </a:solidFill>
            </a:endParaRPr>
          </a:p>
          <a:p>
            <a:r>
              <a:rPr lang="en-US" dirty="0">
                <a:solidFill>
                  <a:schemeClr val="tx1"/>
                </a:solidFill>
              </a:rPr>
              <a:t>Slotted ALOHA was invented to improve the efficiency of pure ALOHA.</a:t>
            </a:r>
          </a:p>
          <a:p>
            <a:endParaRPr lang="en-US" dirty="0">
              <a:solidFill>
                <a:schemeClr val="tx1"/>
              </a:solidFill>
            </a:endParaRPr>
          </a:p>
          <a:p>
            <a:r>
              <a:rPr lang="en-US" dirty="0">
                <a:solidFill>
                  <a:schemeClr val="tx1"/>
                </a:solidFill>
              </a:rPr>
              <a:t>In </a:t>
            </a:r>
            <a:r>
              <a:rPr lang="en-US" b="1" dirty="0">
                <a:solidFill>
                  <a:schemeClr val="tx1"/>
                </a:solidFill>
              </a:rPr>
              <a:t>slotted ALOHA </a:t>
            </a:r>
            <a:r>
              <a:rPr lang="en-US" dirty="0">
                <a:solidFill>
                  <a:schemeClr val="tx1"/>
                </a:solidFill>
              </a:rPr>
              <a:t>we divide the time into slots of </a:t>
            </a:r>
            <a:r>
              <a:rPr lang="en-US" i="1" dirty="0" err="1">
                <a:solidFill>
                  <a:schemeClr val="tx1"/>
                </a:solidFill>
              </a:rPr>
              <a:t>T</a:t>
            </a:r>
            <a:r>
              <a:rPr lang="en-US" i="1" baseline="-25000" dirty="0" err="1">
                <a:solidFill>
                  <a:schemeClr val="tx1"/>
                </a:solidFill>
              </a:rPr>
              <a:t>fr</a:t>
            </a:r>
            <a:r>
              <a:rPr lang="en-US" i="1" dirty="0">
                <a:solidFill>
                  <a:schemeClr val="tx1"/>
                </a:solidFill>
              </a:rPr>
              <a:t> </a:t>
            </a:r>
            <a:r>
              <a:rPr lang="en-US" dirty="0">
                <a:solidFill>
                  <a:schemeClr val="tx1"/>
                </a:solidFill>
              </a:rPr>
              <a:t>seconds and force the station to send only at the beginning of the time slot. </a:t>
            </a:r>
          </a:p>
        </p:txBody>
      </p:sp>
    </p:spTree>
    <p:extLst>
      <p:ext uri="{BB962C8B-B14F-4D97-AF65-F5344CB8AC3E}">
        <p14:creationId xmlns:p14="http://schemas.microsoft.com/office/powerpoint/2010/main" val="3072453992"/>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654380" y="1375123"/>
            <a:ext cx="7835239" cy="4801314"/>
          </a:xfrm>
        </p:spPr>
        <p:txBody>
          <a:bodyPr/>
          <a:lstStyle/>
          <a:p>
            <a:r>
              <a:rPr lang="en-US" dirty="0">
                <a:solidFill>
                  <a:schemeClr val="tx1"/>
                </a:solidFill>
              </a:rPr>
              <a:t>Because a station is allowed to send only at the beginning of the synchronized time slot, if a station misses this moment, it must wait until the beginning of the next time slot. </a:t>
            </a:r>
          </a:p>
          <a:p>
            <a:endParaRPr lang="en-US" dirty="0">
              <a:solidFill>
                <a:schemeClr val="tx1"/>
              </a:solidFill>
            </a:endParaRPr>
          </a:p>
          <a:p>
            <a:r>
              <a:rPr lang="en-US" dirty="0">
                <a:solidFill>
                  <a:schemeClr val="tx1"/>
                </a:solidFill>
              </a:rPr>
              <a:t>This means that the station which started at the beginning of this slot has already finished sending its frame. </a:t>
            </a:r>
          </a:p>
          <a:p>
            <a:endParaRPr lang="en-US" dirty="0">
              <a:solidFill>
                <a:schemeClr val="tx1"/>
              </a:solidFill>
            </a:endParaRPr>
          </a:p>
          <a:p>
            <a:r>
              <a:rPr lang="en-US" dirty="0">
                <a:solidFill>
                  <a:schemeClr val="tx1"/>
                </a:solidFill>
              </a:rPr>
              <a:t>Of course, there is still the possibility of collision if two stations try to send at the beginning of the same time slot. </a:t>
            </a:r>
          </a:p>
          <a:p>
            <a:endParaRPr lang="en-US" dirty="0">
              <a:solidFill>
                <a:schemeClr val="tx1"/>
              </a:solidFill>
            </a:endParaRPr>
          </a:p>
          <a:p>
            <a:r>
              <a:rPr lang="en-US" dirty="0">
                <a:solidFill>
                  <a:schemeClr val="tx1"/>
                </a:solidFill>
              </a:rPr>
              <a:t>However, the vulnerable time is now reduced to one-half, equal to </a:t>
            </a:r>
            <a:r>
              <a:rPr lang="en-US" i="1" dirty="0">
                <a:solidFill>
                  <a:schemeClr val="tx1"/>
                </a:solidFill>
              </a:rPr>
              <a:t>Tfr</a:t>
            </a:r>
            <a:r>
              <a:rPr lang="en-US" dirty="0">
                <a:solidFill>
                  <a:schemeClr val="tx1"/>
                </a:solidFill>
              </a:rPr>
              <a:t>. </a:t>
            </a:r>
          </a:p>
        </p:txBody>
      </p:sp>
    </p:spTree>
    <p:extLst>
      <p:ext uri="{BB962C8B-B14F-4D97-AF65-F5344CB8AC3E}">
        <p14:creationId xmlns:p14="http://schemas.microsoft.com/office/powerpoint/2010/main" val="34719529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C77BA3F4-0335-4973-BFEB-5E4FD16560CF}" type="slidenum">
              <a:rPr lang="en-US">
                <a:solidFill>
                  <a:srgbClr val="1C1C1C"/>
                </a:solidFill>
              </a:rPr>
              <a:pPr/>
              <a:t>46</a:t>
            </a:fld>
            <a:endParaRPr lang="en-US">
              <a:solidFill>
                <a:srgbClr val="1C1C1C"/>
              </a:solidFill>
            </a:endParaRPr>
          </a:p>
        </p:txBody>
      </p:sp>
      <p:sp>
        <p:nvSpPr>
          <p:cNvPr id="1090562"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90563"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90564" name="Text Box 4"/>
          <p:cNvSpPr txBox="1">
            <a:spLocks noChangeArrowheads="1"/>
          </p:cNvSpPr>
          <p:nvPr/>
        </p:nvSpPr>
        <p:spPr bwMode="auto">
          <a:xfrm>
            <a:off x="304800" y="381000"/>
            <a:ext cx="566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12.6  </a:t>
            </a:r>
            <a:r>
              <a:rPr lang="en-US" sz="2000" b="1" i="1">
                <a:solidFill>
                  <a:srgbClr val="000000"/>
                </a:solidFill>
                <a:latin typeface="Times New Roman" pitchFamily="18" charset="0"/>
              </a:rPr>
              <a:t>Frames in a slotted ALOHA network</a:t>
            </a:r>
          </a:p>
        </p:txBody>
      </p:sp>
      <p:sp>
        <p:nvSpPr>
          <p:cNvPr id="1090565"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09056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938" y="1433513"/>
            <a:ext cx="8501062" cy="397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7C21031A-8ABC-DED6-412E-9B4EC9A03DF0}"/>
              </a:ext>
            </a:extLst>
          </p:cNvPr>
          <p:cNvPicPr>
            <a:picLocks noChangeAspect="1"/>
          </p:cNvPicPr>
          <p:nvPr/>
        </p:nvPicPr>
        <p:blipFill>
          <a:blip r:embed="rId4"/>
          <a:stretch>
            <a:fillRect/>
          </a:stretch>
        </p:blipFill>
        <p:spPr>
          <a:xfrm>
            <a:off x="76200" y="182004"/>
            <a:ext cx="1927647" cy="607782"/>
          </a:xfrm>
          <a:prstGeom prst="rect">
            <a:avLst/>
          </a:prstGeom>
        </p:spPr>
      </p:pic>
      <p:pic>
        <p:nvPicPr>
          <p:cNvPr id="5" name="Picture 4">
            <a:extLst>
              <a:ext uri="{FF2B5EF4-FFF2-40B4-BE49-F238E27FC236}">
                <a16:creationId xmlns:a16="http://schemas.microsoft.com/office/drawing/2014/main" id="{A8B9763D-6D12-AAF9-1840-654789C7E1B8}"/>
              </a:ext>
            </a:extLst>
          </p:cNvPr>
          <p:cNvPicPr>
            <a:picLocks noChangeAspect="1"/>
          </p:cNvPicPr>
          <p:nvPr/>
        </p:nvPicPr>
        <p:blipFill>
          <a:blip r:embed="rId5"/>
          <a:stretch>
            <a:fillRect/>
          </a:stretch>
        </p:blipFill>
        <p:spPr>
          <a:xfrm>
            <a:off x="7742703" y="144338"/>
            <a:ext cx="875259" cy="694350"/>
          </a:xfrm>
          <a:prstGeom prst="rect">
            <a:avLst/>
          </a:prstGeom>
        </p:spPr>
      </p:pic>
    </p:spTree>
    <p:extLst>
      <p:ext uri="{BB962C8B-B14F-4D97-AF65-F5344CB8AC3E}">
        <p14:creationId xmlns:p14="http://schemas.microsoft.com/office/powerpoint/2010/main" val="4985652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7A6531C0-9ABB-495F-8543-E1EEB34849D9}" type="slidenum">
              <a:rPr lang="en-US">
                <a:solidFill>
                  <a:srgbClr val="1C1C1C"/>
                </a:solidFill>
              </a:rPr>
              <a:pPr/>
              <a:t>47</a:t>
            </a:fld>
            <a:endParaRPr lang="en-US">
              <a:solidFill>
                <a:srgbClr val="1C1C1C"/>
              </a:solidFill>
            </a:endParaRPr>
          </a:p>
        </p:txBody>
      </p:sp>
      <p:sp>
        <p:nvSpPr>
          <p:cNvPr id="1092610"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92611"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92612" name="Text Box 4"/>
          <p:cNvSpPr txBox="1">
            <a:spLocks noChangeArrowheads="1"/>
          </p:cNvSpPr>
          <p:nvPr/>
        </p:nvSpPr>
        <p:spPr bwMode="auto">
          <a:xfrm>
            <a:off x="304800" y="381000"/>
            <a:ext cx="6464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12.7  </a:t>
            </a:r>
            <a:r>
              <a:rPr lang="en-US" sz="2000" b="1" i="1">
                <a:solidFill>
                  <a:srgbClr val="000000"/>
                </a:solidFill>
                <a:latin typeface="Times New Roman" pitchFamily="18" charset="0"/>
              </a:rPr>
              <a:t>Vulnerable time for slotted ALOHA protocol</a:t>
            </a:r>
          </a:p>
        </p:txBody>
      </p:sp>
      <p:sp>
        <p:nvSpPr>
          <p:cNvPr id="1092613"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09261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700" y="1430338"/>
            <a:ext cx="7632700" cy="436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AAA92BA2-00D1-DCFC-8814-2BC1E643F6D5}"/>
              </a:ext>
            </a:extLst>
          </p:cNvPr>
          <p:cNvPicPr>
            <a:picLocks noChangeAspect="1"/>
          </p:cNvPicPr>
          <p:nvPr/>
        </p:nvPicPr>
        <p:blipFill>
          <a:blip r:embed="rId4"/>
          <a:stretch>
            <a:fillRect/>
          </a:stretch>
        </p:blipFill>
        <p:spPr>
          <a:xfrm>
            <a:off x="119062" y="200566"/>
            <a:ext cx="1927647" cy="607782"/>
          </a:xfrm>
          <a:prstGeom prst="rect">
            <a:avLst/>
          </a:prstGeom>
        </p:spPr>
      </p:pic>
      <p:pic>
        <p:nvPicPr>
          <p:cNvPr id="5" name="Picture 4">
            <a:extLst>
              <a:ext uri="{FF2B5EF4-FFF2-40B4-BE49-F238E27FC236}">
                <a16:creationId xmlns:a16="http://schemas.microsoft.com/office/drawing/2014/main" id="{DA89A94B-56D2-12C1-8E0D-6F3F7AAE75D9}"/>
              </a:ext>
            </a:extLst>
          </p:cNvPr>
          <p:cNvPicPr>
            <a:picLocks noChangeAspect="1"/>
          </p:cNvPicPr>
          <p:nvPr/>
        </p:nvPicPr>
        <p:blipFill>
          <a:blip r:embed="rId5"/>
          <a:stretch>
            <a:fillRect/>
          </a:stretch>
        </p:blipFill>
        <p:spPr>
          <a:xfrm>
            <a:off x="7785565" y="162900"/>
            <a:ext cx="875259" cy="694350"/>
          </a:xfrm>
          <a:prstGeom prst="rect">
            <a:avLst/>
          </a:prstGeom>
        </p:spPr>
      </p:pic>
    </p:spTree>
    <p:extLst>
      <p:ext uri="{BB962C8B-B14F-4D97-AF65-F5344CB8AC3E}">
        <p14:creationId xmlns:p14="http://schemas.microsoft.com/office/powerpoint/2010/main" val="9649007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54380" y="1375123"/>
            <a:ext cx="7835239" cy="4431983"/>
          </a:xfrm>
        </p:spPr>
        <p:txBody>
          <a:bodyPr/>
          <a:lstStyle/>
          <a:p>
            <a:pPr algn="l"/>
            <a:r>
              <a:rPr lang="en-US" b="1" dirty="0">
                <a:solidFill>
                  <a:schemeClr val="tx1"/>
                </a:solidFill>
              </a:rPr>
              <a:t>Slotted ALOHA vulnerable time</a:t>
            </a:r>
            <a:r>
              <a:rPr lang="en-US" dirty="0">
                <a:solidFill>
                  <a:schemeClr val="tx1"/>
                </a:solidFill>
              </a:rPr>
              <a:t> </a:t>
            </a:r>
            <a:r>
              <a:rPr lang="en-US" i="1" dirty="0">
                <a:solidFill>
                  <a:schemeClr val="tx1"/>
                </a:solidFill>
              </a:rPr>
              <a:t>= </a:t>
            </a:r>
            <a:r>
              <a:rPr lang="en-US" b="1" i="1" dirty="0" err="1">
                <a:solidFill>
                  <a:schemeClr val="tx1"/>
                </a:solidFill>
              </a:rPr>
              <a:t>T</a:t>
            </a:r>
            <a:r>
              <a:rPr lang="en-US" b="1" i="1" baseline="-25000" dirty="0" err="1">
                <a:solidFill>
                  <a:schemeClr val="tx1"/>
                </a:solidFill>
              </a:rPr>
              <a:t>fr</a:t>
            </a:r>
            <a:r>
              <a:rPr lang="en-US" dirty="0">
                <a:solidFill>
                  <a:schemeClr val="tx1"/>
                </a:solidFill>
              </a:rPr>
              <a:t>  or (2 × </a:t>
            </a:r>
            <a:r>
              <a:rPr lang="en-US" b="1" i="1" dirty="0" err="1">
                <a:solidFill>
                  <a:schemeClr val="tx1"/>
                </a:solidFill>
              </a:rPr>
              <a:t>T</a:t>
            </a:r>
            <a:r>
              <a:rPr lang="en-US" b="1" i="1" baseline="-25000" dirty="0" err="1">
                <a:solidFill>
                  <a:schemeClr val="tx1"/>
                </a:solidFill>
              </a:rPr>
              <a:t>t</a:t>
            </a:r>
            <a:r>
              <a:rPr lang="en-US" baseline="-25000" dirty="0">
                <a:solidFill>
                  <a:schemeClr val="tx1"/>
                </a:solidFill>
              </a:rPr>
              <a:t> </a:t>
            </a:r>
            <a:r>
              <a:rPr lang="en-US" dirty="0">
                <a:solidFill>
                  <a:schemeClr val="tx1"/>
                </a:solidFill>
              </a:rPr>
              <a:t>)</a:t>
            </a:r>
            <a:endParaRPr lang="en-US" b="1" i="1" dirty="0">
              <a:solidFill>
                <a:schemeClr val="tx1"/>
              </a:solidFill>
            </a:endParaRPr>
          </a:p>
          <a:p>
            <a:pPr algn="l"/>
            <a:endParaRPr lang="en-US" b="1" i="1" dirty="0">
              <a:solidFill>
                <a:schemeClr val="tx1"/>
              </a:solidFill>
            </a:endParaRPr>
          </a:p>
          <a:p>
            <a:pPr algn="l"/>
            <a:endParaRPr lang="en-US" b="1" i="1" dirty="0">
              <a:solidFill>
                <a:schemeClr val="tx1"/>
              </a:solidFill>
            </a:endParaRPr>
          </a:p>
          <a:p>
            <a:pPr algn="l"/>
            <a:r>
              <a:rPr lang="en-US" b="1" i="1" dirty="0">
                <a:solidFill>
                  <a:schemeClr val="tx1"/>
                </a:solidFill>
              </a:rPr>
              <a:t>Throughput</a:t>
            </a:r>
            <a:br>
              <a:rPr lang="en-US" b="1" i="1" dirty="0">
                <a:solidFill>
                  <a:schemeClr val="tx1"/>
                </a:solidFill>
              </a:rPr>
            </a:br>
            <a:r>
              <a:rPr lang="en-US" dirty="0">
                <a:solidFill>
                  <a:schemeClr val="tx1"/>
                </a:solidFill>
              </a:rPr>
              <a:t>It can be proven that the average number of successful transmissions for slotted ALOHA is:</a:t>
            </a:r>
          </a:p>
          <a:p>
            <a:pPr algn="ctr"/>
            <a:br>
              <a:rPr lang="en-US" dirty="0">
                <a:solidFill>
                  <a:schemeClr val="tx1"/>
                </a:solidFill>
              </a:rPr>
            </a:br>
            <a:r>
              <a:rPr lang="en-US" sz="2800" b="1" dirty="0">
                <a:solidFill>
                  <a:schemeClr val="tx1"/>
                </a:solidFill>
                <a:latin typeface="Arial" charset="0"/>
              </a:rPr>
              <a:t>S= G × e</a:t>
            </a:r>
            <a:r>
              <a:rPr lang="en-US" sz="2800" b="1" baseline="30000" dirty="0">
                <a:solidFill>
                  <a:schemeClr val="tx1"/>
                </a:solidFill>
                <a:latin typeface="Arial" charset="0"/>
              </a:rPr>
              <a:t>−G</a:t>
            </a:r>
            <a:r>
              <a:rPr lang="en-US" dirty="0">
                <a:solidFill>
                  <a:schemeClr val="tx1"/>
                </a:solidFill>
              </a:rPr>
              <a:t>. </a:t>
            </a:r>
          </a:p>
          <a:p>
            <a:endParaRPr lang="en-US" dirty="0">
              <a:solidFill>
                <a:schemeClr val="tx1"/>
              </a:solidFill>
            </a:endParaRPr>
          </a:p>
          <a:p>
            <a:r>
              <a:rPr lang="en-US" dirty="0">
                <a:solidFill>
                  <a:schemeClr val="tx1"/>
                </a:solidFill>
              </a:rPr>
              <a:t>The maximum throughput </a:t>
            </a:r>
            <a:r>
              <a:rPr lang="en-US" i="1" dirty="0" err="1">
                <a:solidFill>
                  <a:schemeClr val="tx1"/>
                </a:solidFill>
              </a:rPr>
              <a:t>Smax</a:t>
            </a:r>
            <a:r>
              <a:rPr lang="en-US" i="1" dirty="0">
                <a:solidFill>
                  <a:schemeClr val="tx1"/>
                </a:solidFill>
              </a:rPr>
              <a:t> </a:t>
            </a:r>
            <a:r>
              <a:rPr lang="en-US" dirty="0">
                <a:solidFill>
                  <a:schemeClr val="tx1"/>
                </a:solidFill>
              </a:rPr>
              <a:t>is 0.368, when </a:t>
            </a:r>
            <a:r>
              <a:rPr lang="en-US" i="1" dirty="0">
                <a:solidFill>
                  <a:schemeClr val="tx1"/>
                </a:solidFill>
              </a:rPr>
              <a:t>G </a:t>
            </a:r>
            <a:r>
              <a:rPr lang="en-US" dirty="0">
                <a:solidFill>
                  <a:schemeClr val="tx1"/>
                </a:solidFill>
              </a:rPr>
              <a:t>= 1. </a:t>
            </a:r>
            <a:br>
              <a:rPr lang="en-US" dirty="0">
                <a:solidFill>
                  <a:schemeClr val="tx1"/>
                </a:solidFill>
              </a:rPr>
            </a:br>
            <a:endParaRPr lang="en-US" dirty="0">
              <a:solidFill>
                <a:schemeClr val="tx1"/>
              </a:solidFill>
            </a:endParaRPr>
          </a:p>
        </p:txBody>
      </p:sp>
      <p:sp>
        <p:nvSpPr>
          <p:cNvPr id="4" name="Rectangle 3"/>
          <p:cNvSpPr/>
          <p:nvPr/>
        </p:nvSpPr>
        <p:spPr>
          <a:xfrm>
            <a:off x="1905000" y="5029200"/>
            <a:ext cx="4572000" cy="646331"/>
          </a:xfrm>
          <a:prstGeom prst="rect">
            <a:avLst/>
          </a:prstGeom>
        </p:spPr>
        <p:txBody>
          <a:bodyPr>
            <a:spAutoFit/>
          </a:bodyPr>
          <a:lstStyle/>
          <a:p>
            <a:br>
              <a:rPr lang="en-US" dirty="0"/>
            </a:br>
            <a:endParaRPr lang="en-US" dirty="0"/>
          </a:p>
        </p:txBody>
      </p:sp>
    </p:spTree>
    <p:extLst>
      <p:ext uri="{BB962C8B-B14F-4D97-AF65-F5344CB8AC3E}">
        <p14:creationId xmlns:p14="http://schemas.microsoft.com/office/powerpoint/2010/main" val="5929310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solidFill>
                  <a:srgbClr val="1C1C1C"/>
                </a:solidFill>
              </a:rPr>
              <a:t>12.</a:t>
            </a:r>
            <a:fld id="{ED777CFC-95F4-4956-A14A-6C78552DD448}" type="slidenum">
              <a:rPr lang="en-US">
                <a:solidFill>
                  <a:srgbClr val="1C1C1C"/>
                </a:solidFill>
              </a:rPr>
              <a:pPr/>
              <a:t>49</a:t>
            </a:fld>
            <a:endParaRPr lang="en-US">
              <a:solidFill>
                <a:srgbClr val="1C1C1C"/>
              </a:solidFill>
            </a:endParaRPr>
          </a:p>
        </p:txBody>
      </p:sp>
      <p:sp>
        <p:nvSpPr>
          <p:cNvPr id="1141762"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176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1764"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176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176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1767"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176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1769" name="Line 9"/>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41770" name="Line 10"/>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41771" name="Rectangle 11"/>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base" hangingPunct="0">
              <a:spcBef>
                <a:spcPct val="0"/>
              </a:spcBef>
              <a:spcAft>
                <a:spcPct val="0"/>
              </a:spcAft>
            </a:pPr>
            <a:r>
              <a:rPr lang="en-US" sz="3200" b="1" dirty="0">
                <a:solidFill>
                  <a:srgbClr val="000000"/>
                </a:solidFill>
                <a:latin typeface="Arial" charset="0"/>
              </a:rPr>
              <a:t>The throughput for slotted ALOHA is </a:t>
            </a:r>
            <a:br>
              <a:rPr lang="en-US" sz="3200" b="1" dirty="0">
                <a:solidFill>
                  <a:srgbClr val="000000"/>
                </a:solidFill>
                <a:latin typeface="Arial" charset="0"/>
              </a:rPr>
            </a:br>
            <a:r>
              <a:rPr lang="en-US" sz="3200" b="1" dirty="0">
                <a:solidFill>
                  <a:srgbClr val="FF0000"/>
                </a:solidFill>
                <a:latin typeface="Arial" charset="0"/>
              </a:rPr>
              <a:t>S = G × e</a:t>
            </a:r>
            <a:r>
              <a:rPr lang="en-US" sz="3200" b="1" baseline="30000" dirty="0">
                <a:solidFill>
                  <a:srgbClr val="FF0000"/>
                </a:solidFill>
                <a:latin typeface="Arial" charset="0"/>
              </a:rPr>
              <a:t>−G</a:t>
            </a:r>
            <a:r>
              <a:rPr lang="en-US" sz="3200" b="1" dirty="0">
                <a:solidFill>
                  <a:srgbClr val="000000"/>
                </a:solidFill>
                <a:latin typeface="Arial" charset="0"/>
              </a:rPr>
              <a:t> .</a:t>
            </a:r>
          </a:p>
          <a:p>
            <a:pPr algn="ctr" eaLnBrk="0" fontAlgn="base" hangingPunct="0">
              <a:spcBef>
                <a:spcPct val="0"/>
              </a:spcBef>
              <a:spcAft>
                <a:spcPct val="0"/>
              </a:spcAft>
            </a:pPr>
            <a:r>
              <a:rPr lang="en-US" sz="3200" b="1" dirty="0">
                <a:solidFill>
                  <a:srgbClr val="000000"/>
                </a:solidFill>
                <a:latin typeface="Arial" charset="0"/>
              </a:rPr>
              <a:t>The maximum throughput </a:t>
            </a:r>
            <a:br>
              <a:rPr lang="en-US" sz="3200" b="1" dirty="0">
                <a:solidFill>
                  <a:srgbClr val="000000"/>
                </a:solidFill>
                <a:latin typeface="Arial" charset="0"/>
              </a:rPr>
            </a:br>
            <a:r>
              <a:rPr lang="en-US" sz="3200" b="1" dirty="0" err="1">
                <a:solidFill>
                  <a:srgbClr val="FF0000"/>
                </a:solidFill>
                <a:latin typeface="Arial" charset="0"/>
              </a:rPr>
              <a:t>S</a:t>
            </a:r>
            <a:r>
              <a:rPr lang="en-US" sz="3200" b="1" baseline="-18000" dirty="0" err="1">
                <a:solidFill>
                  <a:srgbClr val="FF0000"/>
                </a:solidFill>
                <a:latin typeface="Arial" charset="0"/>
              </a:rPr>
              <a:t>max</a:t>
            </a:r>
            <a:r>
              <a:rPr lang="en-US" sz="3200" b="1" dirty="0">
                <a:solidFill>
                  <a:srgbClr val="FF0000"/>
                </a:solidFill>
                <a:latin typeface="Arial" charset="0"/>
              </a:rPr>
              <a:t> = 0.368</a:t>
            </a:r>
            <a:r>
              <a:rPr lang="en-US" sz="3200" b="1" dirty="0">
                <a:solidFill>
                  <a:srgbClr val="000000"/>
                </a:solidFill>
                <a:latin typeface="Arial" charset="0"/>
              </a:rPr>
              <a:t> when G = 1.</a:t>
            </a:r>
          </a:p>
        </p:txBody>
      </p:sp>
      <p:grpSp>
        <p:nvGrpSpPr>
          <p:cNvPr id="1141772" name="Group 12"/>
          <p:cNvGrpSpPr>
            <a:grpSpLocks/>
          </p:cNvGrpSpPr>
          <p:nvPr/>
        </p:nvGrpSpPr>
        <p:grpSpPr bwMode="auto">
          <a:xfrm>
            <a:off x="457200" y="1981200"/>
            <a:ext cx="1143000" cy="566738"/>
            <a:chOff x="1200" y="1248"/>
            <a:chExt cx="720" cy="357"/>
          </a:xfrm>
        </p:grpSpPr>
        <p:pic>
          <p:nvPicPr>
            <p:cNvPr id="114177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41774"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800" b="1" i="1">
                  <a:solidFill>
                    <a:srgbClr val="FF0000"/>
                  </a:solidFill>
                  <a:latin typeface="Times New Roman" pitchFamily="18" charset="0"/>
                </a:rPr>
                <a:t>Note</a:t>
              </a:r>
            </a:p>
          </p:txBody>
        </p:sp>
      </p:grpSp>
      <p:pic>
        <p:nvPicPr>
          <p:cNvPr id="3" name="Picture 2">
            <a:extLst>
              <a:ext uri="{FF2B5EF4-FFF2-40B4-BE49-F238E27FC236}">
                <a16:creationId xmlns:a16="http://schemas.microsoft.com/office/drawing/2014/main" id="{A06A4A44-06A8-1543-AC2B-05DD631AD925}"/>
              </a:ext>
            </a:extLst>
          </p:cNvPr>
          <p:cNvPicPr>
            <a:picLocks noChangeAspect="1"/>
          </p:cNvPicPr>
          <p:nvPr/>
        </p:nvPicPr>
        <p:blipFill>
          <a:blip r:embed="rId4"/>
          <a:stretch>
            <a:fillRect/>
          </a:stretch>
        </p:blipFill>
        <p:spPr>
          <a:xfrm>
            <a:off x="44232" y="140547"/>
            <a:ext cx="1927647" cy="607782"/>
          </a:xfrm>
          <a:prstGeom prst="rect">
            <a:avLst/>
          </a:prstGeom>
        </p:spPr>
      </p:pic>
      <p:pic>
        <p:nvPicPr>
          <p:cNvPr id="5" name="Picture 4">
            <a:extLst>
              <a:ext uri="{FF2B5EF4-FFF2-40B4-BE49-F238E27FC236}">
                <a16:creationId xmlns:a16="http://schemas.microsoft.com/office/drawing/2014/main" id="{1CCEB2A2-BC94-C1A0-4EAC-6646CD27EFED}"/>
              </a:ext>
            </a:extLst>
          </p:cNvPr>
          <p:cNvPicPr>
            <a:picLocks noChangeAspect="1"/>
          </p:cNvPicPr>
          <p:nvPr/>
        </p:nvPicPr>
        <p:blipFill>
          <a:blip r:embed="rId5"/>
          <a:stretch>
            <a:fillRect/>
          </a:stretch>
        </p:blipFill>
        <p:spPr>
          <a:xfrm>
            <a:off x="7710735" y="102881"/>
            <a:ext cx="875259" cy="694350"/>
          </a:xfrm>
          <a:prstGeom prst="rect">
            <a:avLst/>
          </a:prstGeom>
        </p:spPr>
      </p:pic>
    </p:spTree>
    <p:extLst>
      <p:ext uri="{BB962C8B-B14F-4D97-AF65-F5344CB8AC3E}">
        <p14:creationId xmlns:p14="http://schemas.microsoft.com/office/powerpoint/2010/main" val="30233938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solidFill>
                  <a:srgbClr val="1C1C1C"/>
                </a:solidFill>
              </a:rPr>
              <a:t>12.</a:t>
            </a:r>
            <a:fld id="{76EEB3FF-E6D6-4B9D-A7E5-BA45350DC73A}" type="slidenum">
              <a:rPr lang="en-US">
                <a:solidFill>
                  <a:srgbClr val="1C1C1C"/>
                </a:solidFill>
              </a:rPr>
              <a:pPr/>
              <a:t>50</a:t>
            </a:fld>
            <a:endParaRPr lang="en-US">
              <a:solidFill>
                <a:srgbClr val="1C1C1C"/>
              </a:solidFill>
            </a:endParaRPr>
          </a:p>
        </p:txBody>
      </p:sp>
      <p:sp>
        <p:nvSpPr>
          <p:cNvPr id="1178626"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862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8628"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862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863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8631"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863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8633" name="Rectangle 9"/>
          <p:cNvSpPr>
            <a:spLocks noChangeArrowheads="1"/>
          </p:cNvSpPr>
          <p:nvPr/>
        </p:nvSpPr>
        <p:spPr bwMode="auto">
          <a:xfrm>
            <a:off x="228600" y="838200"/>
            <a:ext cx="8686800" cy="2227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dirty="0">
                <a:solidFill>
                  <a:srgbClr val="000000"/>
                </a:solidFill>
                <a:latin typeface="Times New Roman" pitchFamily="18" charset="0"/>
              </a:rPr>
              <a:t>A slotted ALOHA  network transmits 200-bit frames on a shared channel of 200 kbps. What is the throughput of the system (all stations together) produces</a:t>
            </a:r>
          </a:p>
          <a:p>
            <a:pPr algn="just" eaLnBrk="0" fontAlgn="base" hangingPunct="0">
              <a:spcBef>
                <a:spcPct val="0"/>
              </a:spcBef>
              <a:spcAft>
                <a:spcPct val="0"/>
              </a:spcAft>
            </a:pPr>
            <a:r>
              <a:rPr lang="en-US" sz="2800" b="1" i="1" dirty="0">
                <a:solidFill>
                  <a:srgbClr val="FF0000"/>
                </a:solidFill>
                <a:latin typeface="Times New Roman" pitchFamily="18" charset="0"/>
              </a:rPr>
              <a:t>a.</a:t>
            </a:r>
            <a:r>
              <a:rPr lang="en-US" sz="2800" b="1" i="1" dirty="0">
                <a:solidFill>
                  <a:srgbClr val="000000"/>
                </a:solidFill>
                <a:latin typeface="Times New Roman" pitchFamily="18" charset="0"/>
              </a:rPr>
              <a:t> 1000 frames per second    </a:t>
            </a:r>
            <a:r>
              <a:rPr lang="en-US" sz="2800" b="1" i="1" dirty="0">
                <a:solidFill>
                  <a:srgbClr val="FF0000"/>
                </a:solidFill>
                <a:latin typeface="Times New Roman" pitchFamily="18" charset="0"/>
              </a:rPr>
              <a:t>b.</a:t>
            </a:r>
            <a:r>
              <a:rPr lang="en-US" sz="2800" b="1" i="1" dirty="0">
                <a:solidFill>
                  <a:srgbClr val="000000"/>
                </a:solidFill>
                <a:latin typeface="Times New Roman" pitchFamily="18" charset="0"/>
              </a:rPr>
              <a:t> 500 frames per second</a:t>
            </a:r>
          </a:p>
          <a:p>
            <a:pPr algn="just" eaLnBrk="0" fontAlgn="base" hangingPunct="0">
              <a:spcBef>
                <a:spcPct val="0"/>
              </a:spcBef>
              <a:spcAft>
                <a:spcPct val="0"/>
              </a:spcAft>
            </a:pPr>
            <a:r>
              <a:rPr lang="en-US" sz="2800" b="1" i="1" dirty="0">
                <a:solidFill>
                  <a:srgbClr val="FF0000"/>
                </a:solidFill>
                <a:latin typeface="Times New Roman" pitchFamily="18" charset="0"/>
              </a:rPr>
              <a:t>c.</a:t>
            </a:r>
            <a:r>
              <a:rPr lang="en-US" sz="2800" b="1" i="1" dirty="0">
                <a:solidFill>
                  <a:srgbClr val="000000"/>
                </a:solidFill>
                <a:latin typeface="Times New Roman" pitchFamily="18" charset="0"/>
              </a:rPr>
              <a:t> 250 frames per second.</a:t>
            </a:r>
          </a:p>
        </p:txBody>
      </p:sp>
      <p:sp>
        <p:nvSpPr>
          <p:cNvPr id="1178634" name="Text Box 10"/>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12.4</a:t>
            </a:r>
          </a:p>
        </p:txBody>
      </p:sp>
      <p:sp>
        <p:nvSpPr>
          <p:cNvPr id="1178635" name="Rectangle 11"/>
          <p:cNvSpPr>
            <a:spLocks noChangeArrowheads="1"/>
          </p:cNvSpPr>
          <p:nvPr/>
        </p:nvSpPr>
        <p:spPr bwMode="auto">
          <a:xfrm>
            <a:off x="228600" y="3200400"/>
            <a:ext cx="8686800" cy="30813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FF0000"/>
                </a:solidFill>
                <a:latin typeface="Times New Roman" pitchFamily="18" charset="0"/>
              </a:rPr>
              <a:t>Solution</a:t>
            </a:r>
          </a:p>
          <a:p>
            <a:pPr algn="just" eaLnBrk="0" fontAlgn="base" hangingPunct="0">
              <a:spcBef>
                <a:spcPct val="0"/>
              </a:spcBef>
              <a:spcAft>
                <a:spcPct val="0"/>
              </a:spcAft>
            </a:pPr>
            <a:r>
              <a:rPr lang="en-US" sz="2800" b="1" i="1">
                <a:solidFill>
                  <a:srgbClr val="000000"/>
                </a:solidFill>
                <a:latin typeface="Times New Roman" pitchFamily="18" charset="0"/>
              </a:rPr>
              <a:t>The frame transmission time is 200/200 kbps or 1 ms.</a:t>
            </a:r>
          </a:p>
          <a:p>
            <a:pPr algn="just" eaLnBrk="0" fontAlgn="base" hangingPunct="0">
              <a:spcBef>
                <a:spcPct val="0"/>
              </a:spcBef>
              <a:spcAft>
                <a:spcPct val="0"/>
              </a:spcAft>
            </a:pPr>
            <a:r>
              <a:rPr lang="en-US" sz="2800" b="1" i="1">
                <a:solidFill>
                  <a:srgbClr val="FF0000"/>
                </a:solidFill>
                <a:latin typeface="Times New Roman" pitchFamily="18" charset="0"/>
              </a:rPr>
              <a:t>a.</a:t>
            </a:r>
            <a:r>
              <a:rPr lang="en-US" sz="2800" b="1" i="1">
                <a:solidFill>
                  <a:srgbClr val="000000"/>
                </a:solidFill>
                <a:latin typeface="Times New Roman" pitchFamily="18" charset="0"/>
              </a:rPr>
              <a:t> If the system creates 1000 frames per second, this is 1</a:t>
            </a:r>
            <a:br>
              <a:rPr lang="en-US" sz="2800" b="1" i="1">
                <a:solidFill>
                  <a:srgbClr val="000000"/>
                </a:solidFill>
                <a:latin typeface="Times New Roman" pitchFamily="18" charset="0"/>
              </a:rPr>
            </a:br>
            <a:r>
              <a:rPr lang="en-US" sz="2800" b="1" i="1">
                <a:solidFill>
                  <a:srgbClr val="000000"/>
                </a:solidFill>
                <a:latin typeface="Times New Roman" pitchFamily="18" charset="0"/>
              </a:rPr>
              <a:t>    frame per millisecond. The load is 1. In this case </a:t>
            </a:r>
            <a:br>
              <a:rPr lang="en-US" sz="2800" b="1" i="1">
                <a:solidFill>
                  <a:srgbClr val="000000"/>
                </a:solidFill>
                <a:latin typeface="Times New Roman" pitchFamily="18" charset="0"/>
              </a:rPr>
            </a:br>
            <a:r>
              <a:rPr lang="en-US" sz="2800" b="1" i="1">
                <a:solidFill>
                  <a:srgbClr val="000000"/>
                </a:solidFill>
                <a:latin typeface="Times New Roman" pitchFamily="18" charset="0"/>
              </a:rPr>
              <a:t>    S = G× e</a:t>
            </a:r>
            <a:r>
              <a:rPr lang="en-US" sz="2800" b="1" i="1" baseline="30000">
                <a:solidFill>
                  <a:srgbClr val="000000"/>
                </a:solidFill>
                <a:latin typeface="Times New Roman" pitchFamily="18" charset="0"/>
              </a:rPr>
              <a:t>−G</a:t>
            </a:r>
            <a:r>
              <a:rPr lang="en-US" sz="2800" b="1" i="1">
                <a:solidFill>
                  <a:srgbClr val="000000"/>
                </a:solidFill>
                <a:latin typeface="Times New Roman" pitchFamily="18" charset="0"/>
              </a:rPr>
              <a:t> or S = 0.368 (36.8 percent). This means</a:t>
            </a:r>
            <a:br>
              <a:rPr lang="en-US" sz="2800" b="1" i="1">
                <a:solidFill>
                  <a:srgbClr val="000000"/>
                </a:solidFill>
                <a:latin typeface="Times New Roman" pitchFamily="18" charset="0"/>
              </a:rPr>
            </a:br>
            <a:r>
              <a:rPr lang="en-US" sz="2800" b="1" i="1">
                <a:solidFill>
                  <a:srgbClr val="000000"/>
                </a:solidFill>
                <a:latin typeface="Times New Roman" pitchFamily="18" charset="0"/>
              </a:rPr>
              <a:t>    that the throughput is 1000 × 0.0368 = 368 frames.</a:t>
            </a:r>
            <a:br>
              <a:rPr lang="en-US" sz="2800" b="1" i="1">
                <a:solidFill>
                  <a:srgbClr val="000000"/>
                </a:solidFill>
                <a:latin typeface="Times New Roman" pitchFamily="18" charset="0"/>
              </a:rPr>
            </a:br>
            <a:r>
              <a:rPr lang="en-US" sz="2800" b="1" i="1">
                <a:solidFill>
                  <a:srgbClr val="000000"/>
                </a:solidFill>
                <a:latin typeface="Times New Roman" pitchFamily="18" charset="0"/>
              </a:rPr>
              <a:t>    Only 386 frames out of 1000 will probably survive.</a:t>
            </a:r>
          </a:p>
        </p:txBody>
      </p:sp>
      <p:pic>
        <p:nvPicPr>
          <p:cNvPr id="3" name="Picture 2">
            <a:extLst>
              <a:ext uri="{FF2B5EF4-FFF2-40B4-BE49-F238E27FC236}">
                <a16:creationId xmlns:a16="http://schemas.microsoft.com/office/drawing/2014/main" id="{4F9DD2CF-C586-DBFE-1455-2A26B687E0F2}"/>
              </a:ext>
            </a:extLst>
          </p:cNvPr>
          <p:cNvPicPr>
            <a:picLocks noChangeAspect="1"/>
          </p:cNvPicPr>
          <p:nvPr/>
        </p:nvPicPr>
        <p:blipFill>
          <a:blip r:embed="rId3"/>
          <a:stretch>
            <a:fillRect/>
          </a:stretch>
        </p:blipFill>
        <p:spPr>
          <a:xfrm>
            <a:off x="125195" y="2435"/>
            <a:ext cx="1927647" cy="607782"/>
          </a:xfrm>
          <a:prstGeom prst="rect">
            <a:avLst/>
          </a:prstGeom>
        </p:spPr>
      </p:pic>
      <p:pic>
        <p:nvPicPr>
          <p:cNvPr id="5" name="Picture 4">
            <a:extLst>
              <a:ext uri="{FF2B5EF4-FFF2-40B4-BE49-F238E27FC236}">
                <a16:creationId xmlns:a16="http://schemas.microsoft.com/office/drawing/2014/main" id="{A97A78F8-71C0-25B0-69B9-DFDF7F995E20}"/>
              </a:ext>
            </a:extLst>
          </p:cNvPr>
          <p:cNvPicPr>
            <a:picLocks noChangeAspect="1"/>
          </p:cNvPicPr>
          <p:nvPr/>
        </p:nvPicPr>
        <p:blipFill>
          <a:blip r:embed="rId4"/>
          <a:stretch>
            <a:fillRect/>
          </a:stretch>
        </p:blipFill>
        <p:spPr>
          <a:xfrm>
            <a:off x="7791698" y="-35231"/>
            <a:ext cx="875259" cy="694350"/>
          </a:xfrm>
          <a:prstGeom prst="rect">
            <a:avLst/>
          </a:prstGeom>
        </p:spPr>
      </p:pic>
    </p:spTree>
    <p:extLst>
      <p:ext uri="{BB962C8B-B14F-4D97-AF65-F5344CB8AC3E}">
        <p14:creationId xmlns:p14="http://schemas.microsoft.com/office/powerpoint/2010/main" val="32156813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r>
              <a:rPr lang="en-US">
                <a:solidFill>
                  <a:srgbClr val="1C1C1C"/>
                </a:solidFill>
              </a:rPr>
              <a:t>12.</a:t>
            </a:r>
            <a:fld id="{0FEB850B-7C8C-4106-AEF7-18C5A072BDB4}" type="slidenum">
              <a:rPr lang="en-US">
                <a:solidFill>
                  <a:srgbClr val="1C1C1C"/>
                </a:solidFill>
              </a:rPr>
              <a:pPr/>
              <a:t>51</a:t>
            </a:fld>
            <a:endParaRPr lang="en-US">
              <a:solidFill>
                <a:srgbClr val="1C1C1C"/>
              </a:solidFill>
            </a:endParaRPr>
          </a:p>
        </p:txBody>
      </p:sp>
      <p:sp>
        <p:nvSpPr>
          <p:cNvPr id="1180674"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8067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80676"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8067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8067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80679"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8068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80681" name="Text Box 9"/>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12.4 (continued)</a:t>
            </a:r>
          </a:p>
        </p:txBody>
      </p:sp>
      <p:sp>
        <p:nvSpPr>
          <p:cNvPr id="1180682" name="Rectangle 10"/>
          <p:cNvSpPr>
            <a:spLocks noChangeArrowheads="1"/>
          </p:cNvSpPr>
          <p:nvPr/>
        </p:nvSpPr>
        <p:spPr bwMode="auto">
          <a:xfrm>
            <a:off x="228600" y="838200"/>
            <a:ext cx="8686800" cy="47894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FF0000"/>
                </a:solidFill>
                <a:latin typeface="Times New Roman" pitchFamily="18" charset="0"/>
              </a:rPr>
              <a:t>b.</a:t>
            </a:r>
            <a:r>
              <a:rPr lang="en-US" sz="2800" b="1" i="1">
                <a:solidFill>
                  <a:srgbClr val="000000"/>
                </a:solidFill>
                <a:latin typeface="Times New Roman" pitchFamily="18" charset="0"/>
              </a:rPr>
              <a:t> If the system creates 500 frames per second, this is</a:t>
            </a:r>
            <a:br>
              <a:rPr lang="en-US" sz="2800" b="1" i="1">
                <a:solidFill>
                  <a:srgbClr val="000000"/>
                </a:solidFill>
                <a:latin typeface="Times New Roman" pitchFamily="18" charset="0"/>
              </a:rPr>
            </a:br>
            <a:r>
              <a:rPr lang="en-US" sz="2800" b="1" i="1">
                <a:solidFill>
                  <a:srgbClr val="000000"/>
                </a:solidFill>
                <a:latin typeface="Times New Roman" pitchFamily="18" charset="0"/>
              </a:rPr>
              <a:t>    (1/2) frame per millisecond. The load is (1/2). In this</a:t>
            </a:r>
            <a:br>
              <a:rPr lang="en-US" sz="2800" b="1" i="1">
                <a:solidFill>
                  <a:srgbClr val="000000"/>
                </a:solidFill>
                <a:latin typeface="Times New Roman" pitchFamily="18" charset="0"/>
              </a:rPr>
            </a:br>
            <a:r>
              <a:rPr lang="en-US" sz="2800" b="1" i="1">
                <a:solidFill>
                  <a:srgbClr val="000000"/>
                </a:solidFill>
                <a:latin typeface="Times New Roman" pitchFamily="18" charset="0"/>
              </a:rPr>
              <a:t>    case S = G × e</a:t>
            </a:r>
            <a:r>
              <a:rPr lang="en-US" sz="2800" b="1" i="1" baseline="30000">
                <a:solidFill>
                  <a:srgbClr val="000000"/>
                </a:solidFill>
                <a:latin typeface="Times New Roman" pitchFamily="18" charset="0"/>
              </a:rPr>
              <a:t>−G</a:t>
            </a:r>
            <a:r>
              <a:rPr lang="en-US" sz="2800" b="1" i="1">
                <a:solidFill>
                  <a:srgbClr val="000000"/>
                </a:solidFill>
                <a:latin typeface="Times New Roman" pitchFamily="18" charset="0"/>
              </a:rPr>
              <a:t> or S = 0.303 (30.3 percent). This</a:t>
            </a:r>
            <a:br>
              <a:rPr lang="en-US" sz="2800" b="1" i="1">
                <a:solidFill>
                  <a:srgbClr val="000000"/>
                </a:solidFill>
                <a:latin typeface="Times New Roman" pitchFamily="18" charset="0"/>
              </a:rPr>
            </a:br>
            <a:r>
              <a:rPr lang="en-US" sz="2800" b="1" i="1">
                <a:solidFill>
                  <a:srgbClr val="000000"/>
                </a:solidFill>
                <a:latin typeface="Times New Roman" pitchFamily="18" charset="0"/>
              </a:rPr>
              <a:t>    means that the throughput is 500 × 0.0303 = 151. </a:t>
            </a:r>
            <a:br>
              <a:rPr lang="en-US" sz="2800" b="1" i="1">
                <a:solidFill>
                  <a:srgbClr val="000000"/>
                </a:solidFill>
                <a:latin typeface="Times New Roman" pitchFamily="18" charset="0"/>
              </a:rPr>
            </a:br>
            <a:r>
              <a:rPr lang="en-US" sz="2800" b="1" i="1">
                <a:solidFill>
                  <a:srgbClr val="000000"/>
                </a:solidFill>
                <a:latin typeface="Times New Roman" pitchFamily="18" charset="0"/>
              </a:rPr>
              <a:t>    Only 151 frames out of 500 will probably survive.</a:t>
            </a:r>
          </a:p>
          <a:p>
            <a:pPr algn="just" eaLnBrk="0" fontAlgn="base" hangingPunct="0">
              <a:spcBef>
                <a:spcPct val="0"/>
              </a:spcBef>
              <a:spcAft>
                <a:spcPct val="0"/>
              </a:spcAft>
            </a:pPr>
            <a:endParaRPr lang="en-US" sz="2800" b="1" i="1">
              <a:solidFill>
                <a:srgbClr val="000000"/>
              </a:solidFill>
              <a:latin typeface="Times New Roman" pitchFamily="18" charset="0"/>
            </a:endParaRPr>
          </a:p>
          <a:p>
            <a:pPr algn="just" eaLnBrk="0" fontAlgn="base" hangingPunct="0">
              <a:spcBef>
                <a:spcPct val="0"/>
              </a:spcBef>
              <a:spcAft>
                <a:spcPct val="0"/>
              </a:spcAft>
            </a:pPr>
            <a:r>
              <a:rPr lang="en-US" sz="2800" b="1" i="1">
                <a:solidFill>
                  <a:srgbClr val="FF0000"/>
                </a:solidFill>
                <a:latin typeface="Times New Roman" pitchFamily="18" charset="0"/>
              </a:rPr>
              <a:t>c.</a:t>
            </a:r>
            <a:r>
              <a:rPr lang="en-US" sz="2800" b="1" i="1">
                <a:solidFill>
                  <a:srgbClr val="000000"/>
                </a:solidFill>
                <a:latin typeface="Times New Roman" pitchFamily="18" charset="0"/>
              </a:rPr>
              <a:t> If the system creates 250 frames per second, this is (1/4)</a:t>
            </a:r>
            <a:br>
              <a:rPr lang="en-US" sz="2800" b="1" i="1">
                <a:solidFill>
                  <a:srgbClr val="000000"/>
                </a:solidFill>
                <a:latin typeface="Times New Roman" pitchFamily="18" charset="0"/>
              </a:rPr>
            </a:br>
            <a:r>
              <a:rPr lang="en-US" sz="2800" b="1" i="1">
                <a:solidFill>
                  <a:srgbClr val="000000"/>
                </a:solidFill>
                <a:latin typeface="Times New Roman" pitchFamily="18" charset="0"/>
              </a:rPr>
              <a:t>    frame per millisecond. The load is (1/4). In this case </a:t>
            </a:r>
            <a:br>
              <a:rPr lang="en-US" sz="2800" b="1" i="1">
                <a:solidFill>
                  <a:srgbClr val="000000"/>
                </a:solidFill>
                <a:latin typeface="Times New Roman" pitchFamily="18" charset="0"/>
              </a:rPr>
            </a:br>
            <a:r>
              <a:rPr lang="en-US" sz="2800" b="1" i="1">
                <a:solidFill>
                  <a:srgbClr val="000000"/>
                </a:solidFill>
                <a:latin typeface="Times New Roman" pitchFamily="18" charset="0"/>
              </a:rPr>
              <a:t>    S = G × e </a:t>
            </a:r>
            <a:r>
              <a:rPr lang="en-US" sz="2800" b="1" i="1" baseline="30000">
                <a:solidFill>
                  <a:srgbClr val="000000"/>
                </a:solidFill>
                <a:latin typeface="Times New Roman" pitchFamily="18" charset="0"/>
              </a:rPr>
              <a:t>−G</a:t>
            </a:r>
            <a:r>
              <a:rPr lang="en-US" sz="2800" b="1" i="1">
                <a:solidFill>
                  <a:srgbClr val="000000"/>
                </a:solidFill>
                <a:latin typeface="Times New Roman" pitchFamily="18" charset="0"/>
              </a:rPr>
              <a:t> or S = 0.195 (19.5 percent). This means</a:t>
            </a:r>
            <a:br>
              <a:rPr lang="en-US" sz="2800" b="1" i="1">
                <a:solidFill>
                  <a:srgbClr val="000000"/>
                </a:solidFill>
                <a:latin typeface="Times New Roman" pitchFamily="18" charset="0"/>
              </a:rPr>
            </a:br>
            <a:r>
              <a:rPr lang="en-US" sz="2800" b="1" i="1">
                <a:solidFill>
                  <a:srgbClr val="000000"/>
                </a:solidFill>
                <a:latin typeface="Times New Roman" pitchFamily="18" charset="0"/>
              </a:rPr>
              <a:t>    that the throughput is 250 × 0.195 = 49. Only 49</a:t>
            </a:r>
            <a:br>
              <a:rPr lang="en-US" sz="2800" b="1" i="1">
                <a:solidFill>
                  <a:srgbClr val="000000"/>
                </a:solidFill>
                <a:latin typeface="Times New Roman" pitchFamily="18" charset="0"/>
              </a:rPr>
            </a:br>
            <a:r>
              <a:rPr lang="en-US" sz="2800" b="1" i="1">
                <a:solidFill>
                  <a:srgbClr val="000000"/>
                </a:solidFill>
                <a:latin typeface="Times New Roman" pitchFamily="18" charset="0"/>
              </a:rPr>
              <a:t>    frames out of 250 will probably survive.</a:t>
            </a:r>
          </a:p>
        </p:txBody>
      </p:sp>
      <p:pic>
        <p:nvPicPr>
          <p:cNvPr id="3" name="Picture 2">
            <a:extLst>
              <a:ext uri="{FF2B5EF4-FFF2-40B4-BE49-F238E27FC236}">
                <a16:creationId xmlns:a16="http://schemas.microsoft.com/office/drawing/2014/main" id="{0F25C848-86F9-7F86-A431-546CE326041C}"/>
              </a:ext>
            </a:extLst>
          </p:cNvPr>
          <p:cNvPicPr>
            <a:picLocks noChangeAspect="1"/>
          </p:cNvPicPr>
          <p:nvPr/>
        </p:nvPicPr>
        <p:blipFill>
          <a:blip r:embed="rId3"/>
          <a:stretch>
            <a:fillRect/>
          </a:stretch>
        </p:blipFill>
        <p:spPr>
          <a:xfrm>
            <a:off x="179176" y="178709"/>
            <a:ext cx="1927647" cy="607782"/>
          </a:xfrm>
          <a:prstGeom prst="rect">
            <a:avLst/>
          </a:prstGeom>
        </p:spPr>
      </p:pic>
      <p:pic>
        <p:nvPicPr>
          <p:cNvPr id="5" name="Picture 4">
            <a:extLst>
              <a:ext uri="{FF2B5EF4-FFF2-40B4-BE49-F238E27FC236}">
                <a16:creationId xmlns:a16="http://schemas.microsoft.com/office/drawing/2014/main" id="{052A7F3E-8E75-BDA5-4BC1-028A113648EB}"/>
              </a:ext>
            </a:extLst>
          </p:cNvPr>
          <p:cNvPicPr>
            <a:picLocks noChangeAspect="1"/>
          </p:cNvPicPr>
          <p:nvPr/>
        </p:nvPicPr>
        <p:blipFill>
          <a:blip r:embed="rId4"/>
          <a:stretch>
            <a:fillRect/>
          </a:stretch>
        </p:blipFill>
        <p:spPr>
          <a:xfrm>
            <a:off x="7845679" y="141043"/>
            <a:ext cx="875259" cy="694350"/>
          </a:xfrm>
          <a:prstGeom prst="rect">
            <a:avLst/>
          </a:prstGeom>
        </p:spPr>
      </p:pic>
    </p:spTree>
    <p:extLst>
      <p:ext uri="{BB962C8B-B14F-4D97-AF65-F5344CB8AC3E}">
        <p14:creationId xmlns:p14="http://schemas.microsoft.com/office/powerpoint/2010/main" val="18747753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013039" cy="615553"/>
          </a:xfrm>
        </p:spPr>
        <p:txBody>
          <a:bodyPr/>
          <a:lstStyle/>
          <a:p>
            <a:r>
              <a:rPr lang="en-US" dirty="0"/>
              <a:t>CSMA</a:t>
            </a:r>
          </a:p>
        </p:txBody>
      </p:sp>
      <p:sp>
        <p:nvSpPr>
          <p:cNvPr id="3" name="Text Placeholder 2"/>
          <p:cNvSpPr>
            <a:spLocks noGrp="1"/>
          </p:cNvSpPr>
          <p:nvPr>
            <p:ph type="body" idx="1"/>
          </p:nvPr>
        </p:nvSpPr>
        <p:spPr>
          <a:xfrm>
            <a:off x="654380" y="1447800"/>
            <a:ext cx="8184820" cy="5311378"/>
          </a:xfrm>
        </p:spPr>
        <p:txBody>
          <a:bodyPr/>
          <a:lstStyle/>
          <a:p>
            <a:pPr marL="342900" indent="-342900" algn="l">
              <a:buFont typeface="Arial" pitchFamily="34" charset="0"/>
              <a:buChar char="•"/>
            </a:pPr>
            <a:r>
              <a:rPr lang="en-US" sz="2400" dirty="0">
                <a:solidFill>
                  <a:schemeClr val="tx1"/>
                </a:solidFill>
              </a:rPr>
              <a:t>In other words, CSMA is based on the principle “sense before transmit” or “listen before talk.”</a:t>
            </a:r>
          </a:p>
          <a:p>
            <a:pPr marL="342900" indent="-342900" algn="l">
              <a:buFont typeface="Arial" pitchFamily="34" charset="0"/>
              <a:buChar char="•"/>
            </a:pPr>
            <a:endParaRPr lang="en-US" sz="2400" dirty="0">
              <a:solidFill>
                <a:schemeClr val="tx1"/>
              </a:solidFill>
            </a:endParaRPr>
          </a:p>
          <a:p>
            <a:pPr marL="342900" indent="-342900" algn="l">
              <a:buFont typeface="Arial" pitchFamily="34" charset="0"/>
              <a:buChar char="•"/>
            </a:pPr>
            <a:r>
              <a:rPr lang="en-US" sz="2400" dirty="0">
                <a:solidFill>
                  <a:schemeClr val="tx1"/>
                </a:solidFill>
              </a:rPr>
              <a:t>To minimize the chance of collision and, therefore, increase the performance, the CSMA method was developed. </a:t>
            </a:r>
          </a:p>
          <a:p>
            <a:pPr marL="342900" indent="-342900" algn="l">
              <a:buFont typeface="Arial" pitchFamily="34" charset="0"/>
              <a:buChar char="•"/>
            </a:pPr>
            <a:endParaRPr lang="en-US" sz="2400" dirty="0">
              <a:solidFill>
                <a:schemeClr val="tx1"/>
              </a:solidFill>
            </a:endParaRPr>
          </a:p>
          <a:p>
            <a:pPr marL="342900" indent="-342900" algn="l">
              <a:buFont typeface="Arial" pitchFamily="34" charset="0"/>
              <a:buChar char="•"/>
            </a:pPr>
            <a:r>
              <a:rPr lang="en-US" sz="2400" dirty="0">
                <a:solidFill>
                  <a:schemeClr val="tx1"/>
                </a:solidFill>
              </a:rPr>
              <a:t>The chance of collision can be reduced if a station senses the medium before trying to use it. </a:t>
            </a:r>
          </a:p>
          <a:p>
            <a:pPr marL="342900" indent="-342900" algn="l">
              <a:buFont typeface="Arial" pitchFamily="34" charset="0"/>
              <a:buChar char="•"/>
            </a:pPr>
            <a:endParaRPr lang="en-US" sz="2400" dirty="0">
              <a:solidFill>
                <a:schemeClr val="tx1"/>
              </a:solidFill>
            </a:endParaRPr>
          </a:p>
          <a:p>
            <a:pPr marL="342900" indent="-342900" algn="l">
              <a:buFont typeface="Arial" pitchFamily="34" charset="0"/>
              <a:buChar char="•"/>
            </a:pPr>
            <a:r>
              <a:rPr lang="en-US" sz="2400" dirty="0">
                <a:solidFill>
                  <a:schemeClr val="tx1"/>
                </a:solidFill>
              </a:rPr>
              <a:t>Carrier sense multiple access (CSMA) requires that each station first listen to the medium (or check the state of the medium) before sending. </a:t>
            </a:r>
          </a:p>
          <a:p>
            <a:pPr marL="342900" indent="-342900" algn="l">
              <a:buFont typeface="Arial" pitchFamily="34" charset="0"/>
              <a:buChar char="•"/>
            </a:pPr>
            <a:endParaRPr lang="en-US" sz="2400" dirty="0">
              <a:solidFill>
                <a:schemeClr val="tx1"/>
              </a:solidFill>
            </a:endParaRPr>
          </a:p>
          <a:p>
            <a:pPr marL="342900" indent="-342900" algn="l">
              <a:buFont typeface="Arial" pitchFamily="34" charset="0"/>
              <a:buChar char="•"/>
            </a:pPr>
            <a:r>
              <a:rPr lang="en-US" sz="2400" dirty="0">
                <a:solidFill>
                  <a:schemeClr val="tx1"/>
                </a:solidFill>
              </a:rPr>
              <a:t>CSMA can reduce the possibility of collision, but it cannot eliminate it.</a:t>
            </a:r>
            <a:endParaRPr lang="en-US" dirty="0">
              <a:solidFill>
                <a:schemeClr val="tx1"/>
              </a:solidFill>
            </a:endParaRPr>
          </a:p>
        </p:txBody>
      </p:sp>
      <p:sp>
        <p:nvSpPr>
          <p:cNvPr id="4" name="Rectangle 3"/>
          <p:cNvSpPr/>
          <p:nvPr/>
        </p:nvSpPr>
        <p:spPr>
          <a:xfrm>
            <a:off x="1905000" y="5029200"/>
            <a:ext cx="4572000" cy="646331"/>
          </a:xfrm>
          <a:prstGeom prst="rect">
            <a:avLst/>
          </a:prstGeom>
        </p:spPr>
        <p:txBody>
          <a:bodyPr>
            <a:spAutoFit/>
          </a:bodyPr>
          <a:lstStyle/>
          <a:p>
            <a:br>
              <a:rPr lang="en-US" dirty="0">
                <a:solidFill>
                  <a:prstClr val="black"/>
                </a:solidFill>
              </a:rPr>
            </a:br>
            <a:endParaRPr lang="en-US" dirty="0">
              <a:solidFill>
                <a:prstClr val="black"/>
              </a:solidFill>
            </a:endParaRPr>
          </a:p>
        </p:txBody>
      </p:sp>
      <p:pic>
        <p:nvPicPr>
          <p:cNvPr id="6" name="Picture 5">
            <a:extLst>
              <a:ext uri="{FF2B5EF4-FFF2-40B4-BE49-F238E27FC236}">
                <a16:creationId xmlns:a16="http://schemas.microsoft.com/office/drawing/2014/main" id="{1248B601-4C6E-E25B-629C-BE9D850D9AB8}"/>
              </a:ext>
            </a:extLst>
          </p:cNvPr>
          <p:cNvPicPr>
            <a:picLocks noChangeAspect="1"/>
          </p:cNvPicPr>
          <p:nvPr/>
        </p:nvPicPr>
        <p:blipFill>
          <a:blip r:embed="rId2"/>
          <a:stretch>
            <a:fillRect/>
          </a:stretch>
        </p:blipFill>
        <p:spPr>
          <a:xfrm>
            <a:off x="228600" y="189743"/>
            <a:ext cx="1927647" cy="607782"/>
          </a:xfrm>
          <a:prstGeom prst="rect">
            <a:avLst/>
          </a:prstGeom>
        </p:spPr>
      </p:pic>
      <p:pic>
        <p:nvPicPr>
          <p:cNvPr id="8" name="Picture 7">
            <a:extLst>
              <a:ext uri="{FF2B5EF4-FFF2-40B4-BE49-F238E27FC236}">
                <a16:creationId xmlns:a16="http://schemas.microsoft.com/office/drawing/2014/main" id="{4C502A2A-857E-57D0-CB5F-CBC74B37D24E}"/>
              </a:ext>
            </a:extLst>
          </p:cNvPr>
          <p:cNvPicPr>
            <a:picLocks noChangeAspect="1"/>
          </p:cNvPicPr>
          <p:nvPr/>
        </p:nvPicPr>
        <p:blipFill>
          <a:blip r:embed="rId3"/>
          <a:stretch>
            <a:fillRect/>
          </a:stretch>
        </p:blipFill>
        <p:spPr>
          <a:xfrm>
            <a:off x="7895103" y="152077"/>
            <a:ext cx="875259" cy="694350"/>
          </a:xfrm>
          <a:prstGeom prst="rect">
            <a:avLst/>
          </a:prstGeom>
        </p:spPr>
      </p:pic>
    </p:spTree>
    <p:extLst>
      <p:ext uri="{BB962C8B-B14F-4D97-AF65-F5344CB8AC3E}">
        <p14:creationId xmlns:p14="http://schemas.microsoft.com/office/powerpoint/2010/main" val="3766466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54380" y="1375123"/>
            <a:ext cx="7835239" cy="3200876"/>
          </a:xfrm>
        </p:spPr>
        <p:txBody>
          <a:bodyPr/>
          <a:lstStyle/>
          <a:p>
            <a:pPr marL="457200" indent="-457200" algn="just">
              <a:buFont typeface="Arial" pitchFamily="34" charset="0"/>
              <a:buChar char="•"/>
            </a:pPr>
            <a:r>
              <a:rPr lang="en-US" dirty="0">
                <a:solidFill>
                  <a:schemeClr val="tx1"/>
                </a:solidFill>
              </a:rPr>
              <a:t>The possibility of collision still exists because of propagation delay; when a station sends a frame, it still takes time (although very short) for the first bit to reach every station and for every station to sense it. </a:t>
            </a:r>
          </a:p>
          <a:p>
            <a:pPr marL="457200" indent="-457200" algn="just">
              <a:buFont typeface="Arial" pitchFamily="34" charset="0"/>
              <a:buChar char="•"/>
            </a:pPr>
            <a:endParaRPr lang="en-US" dirty="0">
              <a:solidFill>
                <a:schemeClr val="tx1"/>
              </a:solidFill>
            </a:endParaRPr>
          </a:p>
          <a:p>
            <a:pPr marL="457200" indent="-457200" algn="just">
              <a:buFont typeface="Arial" pitchFamily="34" charset="0"/>
              <a:buChar char="•"/>
            </a:pPr>
            <a:r>
              <a:rPr lang="en-US" dirty="0">
                <a:solidFill>
                  <a:schemeClr val="tx1"/>
                </a:solidFill>
              </a:rPr>
              <a:t>In other words, a station may sense the medium and find it idle, only because the first bit sent by another station has not yet been received.</a:t>
            </a:r>
          </a:p>
        </p:txBody>
      </p:sp>
      <p:pic>
        <p:nvPicPr>
          <p:cNvPr id="4" name="Picture 3">
            <a:extLst>
              <a:ext uri="{FF2B5EF4-FFF2-40B4-BE49-F238E27FC236}">
                <a16:creationId xmlns:a16="http://schemas.microsoft.com/office/drawing/2014/main" id="{2EE2CABB-C83B-6229-6BA8-06F33A36A989}"/>
              </a:ext>
            </a:extLst>
          </p:cNvPr>
          <p:cNvPicPr>
            <a:picLocks noChangeAspect="1"/>
          </p:cNvPicPr>
          <p:nvPr/>
        </p:nvPicPr>
        <p:blipFill>
          <a:blip r:embed="rId2"/>
          <a:stretch>
            <a:fillRect/>
          </a:stretch>
        </p:blipFill>
        <p:spPr>
          <a:xfrm>
            <a:off x="152400" y="381000"/>
            <a:ext cx="1927647" cy="607782"/>
          </a:xfrm>
          <a:prstGeom prst="rect">
            <a:avLst/>
          </a:prstGeom>
        </p:spPr>
      </p:pic>
      <p:pic>
        <p:nvPicPr>
          <p:cNvPr id="6" name="Picture 5">
            <a:extLst>
              <a:ext uri="{FF2B5EF4-FFF2-40B4-BE49-F238E27FC236}">
                <a16:creationId xmlns:a16="http://schemas.microsoft.com/office/drawing/2014/main" id="{639D87E1-4743-4368-8710-495ED18CD067}"/>
              </a:ext>
            </a:extLst>
          </p:cNvPr>
          <p:cNvPicPr>
            <a:picLocks noChangeAspect="1"/>
          </p:cNvPicPr>
          <p:nvPr/>
        </p:nvPicPr>
        <p:blipFill>
          <a:blip r:embed="rId3"/>
          <a:stretch>
            <a:fillRect/>
          </a:stretch>
        </p:blipFill>
        <p:spPr>
          <a:xfrm>
            <a:off x="7818903" y="343334"/>
            <a:ext cx="875259" cy="694350"/>
          </a:xfrm>
          <a:prstGeom prst="rect">
            <a:avLst/>
          </a:prstGeom>
        </p:spPr>
      </p:pic>
    </p:spTree>
    <p:extLst>
      <p:ext uri="{BB962C8B-B14F-4D97-AF65-F5344CB8AC3E}">
        <p14:creationId xmlns:p14="http://schemas.microsoft.com/office/powerpoint/2010/main" val="25481301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F90883B3-4427-4118-9976-BD167AE7708C}" type="slidenum">
              <a:rPr lang="en-US">
                <a:solidFill>
                  <a:srgbClr val="1C1C1C"/>
                </a:solidFill>
              </a:rPr>
              <a:pPr/>
              <a:t>54</a:t>
            </a:fld>
            <a:endParaRPr lang="en-US">
              <a:solidFill>
                <a:srgbClr val="1C1C1C"/>
              </a:solidFill>
            </a:endParaRPr>
          </a:p>
        </p:txBody>
      </p:sp>
      <p:sp>
        <p:nvSpPr>
          <p:cNvPr id="1094658"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94659"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94660" name="Text Box 4"/>
          <p:cNvSpPr txBox="1">
            <a:spLocks noChangeArrowheads="1"/>
          </p:cNvSpPr>
          <p:nvPr/>
        </p:nvSpPr>
        <p:spPr bwMode="auto">
          <a:xfrm>
            <a:off x="304800" y="381000"/>
            <a:ext cx="6300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12.8  </a:t>
            </a:r>
            <a:r>
              <a:rPr lang="en-US" sz="2000" b="1" i="1">
                <a:solidFill>
                  <a:srgbClr val="000000"/>
                </a:solidFill>
                <a:latin typeface="Times New Roman" pitchFamily="18" charset="0"/>
              </a:rPr>
              <a:t>Space/time model of the collision in CSMA</a:t>
            </a:r>
          </a:p>
        </p:txBody>
      </p:sp>
      <p:sp>
        <p:nvSpPr>
          <p:cNvPr id="1094661"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09466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6800"/>
            <a:ext cx="7880350" cy="507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75E28839-49ED-7055-C343-8DF26D0AF9F1}"/>
              </a:ext>
            </a:extLst>
          </p:cNvPr>
          <p:cNvPicPr>
            <a:picLocks noChangeAspect="1"/>
          </p:cNvPicPr>
          <p:nvPr/>
        </p:nvPicPr>
        <p:blipFill>
          <a:blip r:embed="rId4"/>
          <a:stretch>
            <a:fillRect/>
          </a:stretch>
        </p:blipFill>
        <p:spPr>
          <a:xfrm>
            <a:off x="152400" y="182922"/>
            <a:ext cx="1927647" cy="607782"/>
          </a:xfrm>
          <a:prstGeom prst="rect">
            <a:avLst/>
          </a:prstGeom>
        </p:spPr>
      </p:pic>
      <p:pic>
        <p:nvPicPr>
          <p:cNvPr id="5" name="Picture 4">
            <a:extLst>
              <a:ext uri="{FF2B5EF4-FFF2-40B4-BE49-F238E27FC236}">
                <a16:creationId xmlns:a16="http://schemas.microsoft.com/office/drawing/2014/main" id="{A35997B1-0533-576A-D117-9F7401ABC471}"/>
              </a:ext>
            </a:extLst>
          </p:cNvPr>
          <p:cNvPicPr>
            <a:picLocks noChangeAspect="1"/>
          </p:cNvPicPr>
          <p:nvPr/>
        </p:nvPicPr>
        <p:blipFill>
          <a:blip r:embed="rId5"/>
          <a:stretch>
            <a:fillRect/>
          </a:stretch>
        </p:blipFill>
        <p:spPr>
          <a:xfrm>
            <a:off x="7818903" y="145256"/>
            <a:ext cx="875259" cy="694350"/>
          </a:xfrm>
          <a:prstGeom prst="rect">
            <a:avLst/>
          </a:prstGeom>
        </p:spPr>
      </p:pic>
    </p:spTree>
    <p:extLst>
      <p:ext uri="{BB962C8B-B14F-4D97-AF65-F5344CB8AC3E}">
        <p14:creationId xmlns:p14="http://schemas.microsoft.com/office/powerpoint/2010/main" val="41457667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2B453DBB-0599-44BB-A3EC-80D924CD42A1}" type="slidenum">
              <a:rPr lang="en-US">
                <a:solidFill>
                  <a:srgbClr val="1C1C1C"/>
                </a:solidFill>
              </a:rPr>
              <a:pPr/>
              <a:t>55</a:t>
            </a:fld>
            <a:endParaRPr lang="en-US">
              <a:solidFill>
                <a:srgbClr val="1C1C1C"/>
              </a:solidFill>
            </a:endParaRPr>
          </a:p>
        </p:txBody>
      </p:sp>
      <p:sp>
        <p:nvSpPr>
          <p:cNvPr id="1096706"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96707"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96708" name="Text Box 4"/>
          <p:cNvSpPr txBox="1">
            <a:spLocks noChangeArrowheads="1"/>
          </p:cNvSpPr>
          <p:nvPr/>
        </p:nvSpPr>
        <p:spPr bwMode="auto">
          <a:xfrm>
            <a:off x="304800" y="381000"/>
            <a:ext cx="4535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12.9  </a:t>
            </a:r>
            <a:r>
              <a:rPr lang="en-US" sz="2000" b="1" i="1">
                <a:solidFill>
                  <a:srgbClr val="000000"/>
                </a:solidFill>
                <a:latin typeface="Times New Roman" pitchFamily="18" charset="0"/>
              </a:rPr>
              <a:t>Vulnerable time in CSMA</a:t>
            </a:r>
          </a:p>
        </p:txBody>
      </p:sp>
      <p:sp>
        <p:nvSpPr>
          <p:cNvPr id="1096709"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09671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81200"/>
            <a:ext cx="8839200" cy="329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B84B1869-246B-C381-251A-2EF4C80D5B21}"/>
              </a:ext>
            </a:extLst>
          </p:cNvPr>
          <p:cNvPicPr>
            <a:picLocks noChangeAspect="1"/>
          </p:cNvPicPr>
          <p:nvPr/>
        </p:nvPicPr>
        <p:blipFill>
          <a:blip r:embed="rId4"/>
          <a:stretch>
            <a:fillRect/>
          </a:stretch>
        </p:blipFill>
        <p:spPr>
          <a:xfrm>
            <a:off x="7144" y="111844"/>
            <a:ext cx="1927647" cy="607782"/>
          </a:xfrm>
          <a:prstGeom prst="rect">
            <a:avLst/>
          </a:prstGeom>
        </p:spPr>
      </p:pic>
      <p:pic>
        <p:nvPicPr>
          <p:cNvPr id="5" name="Picture 4">
            <a:extLst>
              <a:ext uri="{FF2B5EF4-FFF2-40B4-BE49-F238E27FC236}">
                <a16:creationId xmlns:a16="http://schemas.microsoft.com/office/drawing/2014/main" id="{D915243E-9CF3-9E39-56D1-D7CAA934E2CF}"/>
              </a:ext>
            </a:extLst>
          </p:cNvPr>
          <p:cNvPicPr>
            <a:picLocks noChangeAspect="1"/>
          </p:cNvPicPr>
          <p:nvPr/>
        </p:nvPicPr>
        <p:blipFill>
          <a:blip r:embed="rId5"/>
          <a:stretch>
            <a:fillRect/>
          </a:stretch>
        </p:blipFill>
        <p:spPr>
          <a:xfrm>
            <a:off x="7673647" y="74178"/>
            <a:ext cx="875259" cy="694350"/>
          </a:xfrm>
          <a:prstGeom prst="rect">
            <a:avLst/>
          </a:prstGeom>
        </p:spPr>
      </p:pic>
    </p:spTree>
    <p:extLst>
      <p:ext uri="{BB962C8B-B14F-4D97-AF65-F5344CB8AC3E}">
        <p14:creationId xmlns:p14="http://schemas.microsoft.com/office/powerpoint/2010/main" val="28253583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C3C04350-2EC5-458A-AB87-9FB7AF0B0778}" type="slidenum">
              <a:rPr lang="en-US">
                <a:solidFill>
                  <a:srgbClr val="1C1C1C"/>
                </a:solidFill>
              </a:rPr>
              <a:pPr/>
              <a:t>56</a:t>
            </a:fld>
            <a:endParaRPr lang="en-US">
              <a:solidFill>
                <a:srgbClr val="1C1C1C"/>
              </a:solidFill>
            </a:endParaRPr>
          </a:p>
        </p:txBody>
      </p:sp>
      <p:sp>
        <p:nvSpPr>
          <p:cNvPr id="1098754"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98755" name="Line 3"/>
          <p:cNvSpPr>
            <a:spLocks noChangeShapeType="1"/>
          </p:cNvSpPr>
          <p:nvPr/>
        </p:nvSpPr>
        <p:spPr bwMode="auto">
          <a:xfrm>
            <a:off x="152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098756" name="Text Box 4"/>
          <p:cNvSpPr txBox="1">
            <a:spLocks noChangeArrowheads="1"/>
          </p:cNvSpPr>
          <p:nvPr/>
        </p:nvSpPr>
        <p:spPr bwMode="auto">
          <a:xfrm>
            <a:off x="304800" y="228600"/>
            <a:ext cx="5946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12.10  </a:t>
            </a:r>
            <a:r>
              <a:rPr lang="en-US" sz="2000" b="1" i="1">
                <a:solidFill>
                  <a:srgbClr val="000000"/>
                </a:solidFill>
                <a:latin typeface="Times New Roman" pitchFamily="18" charset="0"/>
              </a:rPr>
              <a:t>Behavior of three persistence methods</a:t>
            </a:r>
          </a:p>
        </p:txBody>
      </p:sp>
      <p:sp>
        <p:nvSpPr>
          <p:cNvPr id="1098757" name="Line 5"/>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09875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7350" y="914400"/>
            <a:ext cx="5100638" cy="542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5E525DF2-B2F5-795B-28FF-AAFCEE669764}"/>
              </a:ext>
            </a:extLst>
          </p:cNvPr>
          <p:cNvPicPr>
            <a:picLocks noChangeAspect="1"/>
          </p:cNvPicPr>
          <p:nvPr/>
        </p:nvPicPr>
        <p:blipFill>
          <a:blip r:embed="rId4"/>
          <a:stretch>
            <a:fillRect/>
          </a:stretch>
        </p:blipFill>
        <p:spPr>
          <a:xfrm>
            <a:off x="221456" y="161979"/>
            <a:ext cx="1927647" cy="607782"/>
          </a:xfrm>
          <a:prstGeom prst="rect">
            <a:avLst/>
          </a:prstGeom>
        </p:spPr>
      </p:pic>
      <p:pic>
        <p:nvPicPr>
          <p:cNvPr id="5" name="Picture 4">
            <a:extLst>
              <a:ext uri="{FF2B5EF4-FFF2-40B4-BE49-F238E27FC236}">
                <a16:creationId xmlns:a16="http://schemas.microsoft.com/office/drawing/2014/main" id="{19161D72-9623-E248-64A4-D0D41C356557}"/>
              </a:ext>
            </a:extLst>
          </p:cNvPr>
          <p:cNvPicPr>
            <a:picLocks noChangeAspect="1"/>
          </p:cNvPicPr>
          <p:nvPr/>
        </p:nvPicPr>
        <p:blipFill>
          <a:blip r:embed="rId5"/>
          <a:stretch>
            <a:fillRect/>
          </a:stretch>
        </p:blipFill>
        <p:spPr>
          <a:xfrm>
            <a:off x="7887959" y="124313"/>
            <a:ext cx="875259" cy="694350"/>
          </a:xfrm>
          <a:prstGeom prst="rect">
            <a:avLst/>
          </a:prstGeom>
        </p:spPr>
      </p:pic>
    </p:spTree>
    <p:extLst>
      <p:ext uri="{BB962C8B-B14F-4D97-AF65-F5344CB8AC3E}">
        <p14:creationId xmlns:p14="http://schemas.microsoft.com/office/powerpoint/2010/main" val="32057076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 Number Placeholder 4"/>
          <p:cNvSpPr>
            <a:spLocks noGrp="1"/>
          </p:cNvSpPr>
          <p:nvPr>
            <p:ph type="sldNum" sz="quarter" idx="4294967295"/>
          </p:nvPr>
        </p:nvSpPr>
        <p:spPr>
          <a:xfrm>
            <a:off x="6781800" y="6324600"/>
            <a:ext cx="1905000" cy="457200"/>
          </a:xfrm>
          <a:prstGeom prst="rect">
            <a:avLst/>
          </a:prstGeom>
        </p:spPr>
        <p:txBody>
          <a:bodyPr/>
          <a:lstStyle/>
          <a:p>
            <a:fld id="{1C58AFC8-B411-4AE5-BF15-EFF60FD6F054}" type="slidenum">
              <a:rPr lang="en-US"/>
              <a:pPr/>
              <a:t>57</a:t>
            </a:fld>
            <a:endParaRPr lang="en-US"/>
          </a:p>
        </p:txBody>
      </p:sp>
      <p:sp>
        <p:nvSpPr>
          <p:cNvPr id="11266" name="Rectangle 2"/>
          <p:cNvSpPr>
            <a:spLocks noGrp="1" noChangeArrowheads="1"/>
          </p:cNvSpPr>
          <p:nvPr>
            <p:ph type="title"/>
          </p:nvPr>
        </p:nvSpPr>
        <p:spPr>
          <a:xfrm>
            <a:off x="914400" y="152400"/>
            <a:ext cx="7772400" cy="838200"/>
          </a:xfrm>
          <a:noFill/>
          <a:extLst>
            <a:ext uri="{909E8E84-426E-40DD-AFC4-6F175D3DCCD1}">
              <a14:hiddenFill xmlns:a14="http://schemas.microsoft.com/office/drawing/2010/main">
                <a:solidFill>
                  <a:srgbClr val="993366"/>
                </a:solidFill>
              </a14:hiddenFill>
            </a:ext>
          </a:extLst>
        </p:spPr>
        <p:txBody>
          <a:bodyPr/>
          <a:lstStyle/>
          <a:p>
            <a:r>
              <a:rPr lang="en-US" dirty="0">
                <a:latin typeface="Arial Narrow" pitchFamily="34" charset="0"/>
              </a:rPr>
              <a:t>Kinds of CSMA</a:t>
            </a:r>
          </a:p>
        </p:txBody>
      </p:sp>
      <p:sp>
        <p:nvSpPr>
          <p:cNvPr id="11267" name="Text Box 3"/>
          <p:cNvSpPr txBox="1">
            <a:spLocks noChangeArrowheads="1"/>
          </p:cNvSpPr>
          <p:nvPr/>
        </p:nvSpPr>
        <p:spPr bwMode="auto">
          <a:xfrm>
            <a:off x="304800" y="2641600"/>
            <a:ext cx="1219200" cy="466725"/>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atin typeface="Times New Roman" pitchFamily="18" charset="0"/>
              </a:rPr>
              <a:t>CSMA</a:t>
            </a:r>
          </a:p>
        </p:txBody>
      </p:sp>
      <p:sp>
        <p:nvSpPr>
          <p:cNvPr id="11268" name="Text Box 4"/>
          <p:cNvSpPr txBox="1">
            <a:spLocks noChangeArrowheads="1"/>
          </p:cNvSpPr>
          <p:nvPr/>
        </p:nvSpPr>
        <p:spPr bwMode="auto">
          <a:xfrm>
            <a:off x="1981200" y="1727200"/>
            <a:ext cx="2895600" cy="466725"/>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atin typeface="Times New Roman" pitchFamily="18" charset="0"/>
              </a:rPr>
              <a:t>Nonpersistent CSMA</a:t>
            </a:r>
          </a:p>
        </p:txBody>
      </p:sp>
      <p:sp>
        <p:nvSpPr>
          <p:cNvPr id="11269" name="Text Box 5"/>
          <p:cNvSpPr txBox="1">
            <a:spLocks noChangeArrowheads="1"/>
          </p:cNvSpPr>
          <p:nvPr/>
        </p:nvSpPr>
        <p:spPr bwMode="auto">
          <a:xfrm>
            <a:off x="1981200" y="3556000"/>
            <a:ext cx="2895600" cy="466725"/>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atin typeface="Times New Roman" pitchFamily="18" charset="0"/>
              </a:rPr>
              <a:t>Persistent CSMA</a:t>
            </a:r>
          </a:p>
        </p:txBody>
      </p:sp>
      <p:sp>
        <p:nvSpPr>
          <p:cNvPr id="11270" name="Text Box 6"/>
          <p:cNvSpPr txBox="1">
            <a:spLocks noChangeArrowheads="1"/>
          </p:cNvSpPr>
          <p:nvPr/>
        </p:nvSpPr>
        <p:spPr bwMode="auto">
          <a:xfrm>
            <a:off x="5334000" y="1320800"/>
            <a:ext cx="3505200" cy="406400"/>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a:latin typeface="Times New Roman" pitchFamily="18" charset="0"/>
              </a:rPr>
              <a:t>Unslotted Nonpersistent CSMA</a:t>
            </a:r>
          </a:p>
        </p:txBody>
      </p:sp>
      <p:sp>
        <p:nvSpPr>
          <p:cNvPr id="11271" name="Text Box 7"/>
          <p:cNvSpPr txBox="1">
            <a:spLocks noChangeArrowheads="1"/>
          </p:cNvSpPr>
          <p:nvPr/>
        </p:nvSpPr>
        <p:spPr bwMode="auto">
          <a:xfrm>
            <a:off x="5334000" y="3149600"/>
            <a:ext cx="3505200" cy="406400"/>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a:latin typeface="Times New Roman" pitchFamily="18" charset="0"/>
              </a:rPr>
              <a:t>Unslotted persistent CSMA</a:t>
            </a:r>
          </a:p>
        </p:txBody>
      </p:sp>
      <p:sp>
        <p:nvSpPr>
          <p:cNvPr id="11272" name="Text Box 8"/>
          <p:cNvSpPr txBox="1">
            <a:spLocks noChangeArrowheads="1"/>
          </p:cNvSpPr>
          <p:nvPr/>
        </p:nvSpPr>
        <p:spPr bwMode="auto">
          <a:xfrm>
            <a:off x="5334000" y="2184400"/>
            <a:ext cx="3505200" cy="406400"/>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a:latin typeface="Times New Roman" pitchFamily="18" charset="0"/>
              </a:rPr>
              <a:t>Slotted Nonpersistent CSMA</a:t>
            </a:r>
          </a:p>
        </p:txBody>
      </p:sp>
      <p:sp>
        <p:nvSpPr>
          <p:cNvPr id="11273" name="Text Box 9"/>
          <p:cNvSpPr txBox="1">
            <a:spLocks noChangeArrowheads="1"/>
          </p:cNvSpPr>
          <p:nvPr/>
        </p:nvSpPr>
        <p:spPr bwMode="auto">
          <a:xfrm>
            <a:off x="5334000" y="4013200"/>
            <a:ext cx="3505200" cy="406400"/>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a:latin typeface="Times New Roman" pitchFamily="18" charset="0"/>
              </a:rPr>
              <a:t>Slotted persistent CSMA</a:t>
            </a:r>
          </a:p>
        </p:txBody>
      </p:sp>
      <p:sp>
        <p:nvSpPr>
          <p:cNvPr id="11274" name="Line 10"/>
          <p:cNvSpPr>
            <a:spLocks noChangeShapeType="1"/>
          </p:cNvSpPr>
          <p:nvPr/>
        </p:nvSpPr>
        <p:spPr bwMode="auto">
          <a:xfrm>
            <a:off x="4876800" y="19558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75" name="Line 11"/>
          <p:cNvSpPr>
            <a:spLocks noChangeShapeType="1"/>
          </p:cNvSpPr>
          <p:nvPr/>
        </p:nvSpPr>
        <p:spPr bwMode="auto">
          <a:xfrm>
            <a:off x="5105400" y="14986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76" name="Line 12"/>
          <p:cNvSpPr>
            <a:spLocks noChangeShapeType="1"/>
          </p:cNvSpPr>
          <p:nvPr/>
        </p:nvSpPr>
        <p:spPr bwMode="auto">
          <a:xfrm>
            <a:off x="5105400" y="14986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77" name="Line 13"/>
          <p:cNvSpPr>
            <a:spLocks noChangeShapeType="1"/>
          </p:cNvSpPr>
          <p:nvPr/>
        </p:nvSpPr>
        <p:spPr bwMode="auto">
          <a:xfrm>
            <a:off x="5105400" y="24130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78" name="Line 14"/>
          <p:cNvSpPr>
            <a:spLocks noChangeShapeType="1"/>
          </p:cNvSpPr>
          <p:nvPr/>
        </p:nvSpPr>
        <p:spPr bwMode="auto">
          <a:xfrm>
            <a:off x="4876800" y="37846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79" name="Line 15"/>
          <p:cNvSpPr>
            <a:spLocks noChangeShapeType="1"/>
          </p:cNvSpPr>
          <p:nvPr/>
        </p:nvSpPr>
        <p:spPr bwMode="auto">
          <a:xfrm>
            <a:off x="5105400" y="33274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80" name="Line 16"/>
          <p:cNvSpPr>
            <a:spLocks noChangeShapeType="1"/>
          </p:cNvSpPr>
          <p:nvPr/>
        </p:nvSpPr>
        <p:spPr bwMode="auto">
          <a:xfrm>
            <a:off x="5105400" y="33274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81" name="Line 17"/>
          <p:cNvSpPr>
            <a:spLocks noChangeShapeType="1"/>
          </p:cNvSpPr>
          <p:nvPr/>
        </p:nvSpPr>
        <p:spPr bwMode="auto">
          <a:xfrm>
            <a:off x="5105400" y="42418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82" name="Line 18"/>
          <p:cNvSpPr>
            <a:spLocks noChangeShapeType="1"/>
          </p:cNvSpPr>
          <p:nvPr/>
        </p:nvSpPr>
        <p:spPr bwMode="auto">
          <a:xfrm>
            <a:off x="1524000" y="28702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83" name="Line 19"/>
          <p:cNvSpPr>
            <a:spLocks noChangeShapeType="1"/>
          </p:cNvSpPr>
          <p:nvPr/>
        </p:nvSpPr>
        <p:spPr bwMode="auto">
          <a:xfrm>
            <a:off x="1752600" y="19558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84" name="Line 20"/>
          <p:cNvSpPr>
            <a:spLocks noChangeShapeType="1"/>
          </p:cNvSpPr>
          <p:nvPr/>
        </p:nvSpPr>
        <p:spPr bwMode="auto">
          <a:xfrm>
            <a:off x="1752600" y="19558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85" name="Line 21"/>
          <p:cNvSpPr>
            <a:spLocks noChangeShapeType="1"/>
          </p:cNvSpPr>
          <p:nvPr/>
        </p:nvSpPr>
        <p:spPr bwMode="auto">
          <a:xfrm>
            <a:off x="1752600" y="37846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87" name="Text Box 23"/>
          <p:cNvSpPr txBox="1">
            <a:spLocks noChangeArrowheads="1"/>
          </p:cNvSpPr>
          <p:nvPr/>
        </p:nvSpPr>
        <p:spPr bwMode="auto">
          <a:xfrm>
            <a:off x="3962400" y="4648200"/>
            <a:ext cx="2209800" cy="406400"/>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a:latin typeface="Times New Roman" pitchFamily="18" charset="0"/>
              </a:rPr>
              <a:t>1-persistent CSMA</a:t>
            </a:r>
          </a:p>
        </p:txBody>
      </p:sp>
      <p:sp>
        <p:nvSpPr>
          <p:cNvPr id="11288" name="Text Box 24"/>
          <p:cNvSpPr txBox="1">
            <a:spLocks noChangeArrowheads="1"/>
          </p:cNvSpPr>
          <p:nvPr/>
        </p:nvSpPr>
        <p:spPr bwMode="auto">
          <a:xfrm>
            <a:off x="3962400" y="5511800"/>
            <a:ext cx="2209800" cy="406400"/>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a:latin typeface="Times New Roman" pitchFamily="18" charset="0"/>
              </a:rPr>
              <a:t>p-persistent CSMA</a:t>
            </a:r>
          </a:p>
        </p:txBody>
      </p:sp>
      <p:sp>
        <p:nvSpPr>
          <p:cNvPr id="11290" name="Line 26"/>
          <p:cNvSpPr>
            <a:spLocks noChangeShapeType="1"/>
          </p:cNvSpPr>
          <p:nvPr/>
        </p:nvSpPr>
        <p:spPr bwMode="auto">
          <a:xfrm>
            <a:off x="3733800" y="48260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91" name="Line 27"/>
          <p:cNvSpPr>
            <a:spLocks noChangeShapeType="1"/>
          </p:cNvSpPr>
          <p:nvPr/>
        </p:nvSpPr>
        <p:spPr bwMode="auto">
          <a:xfrm>
            <a:off x="3733800" y="48260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92" name="Line 28"/>
          <p:cNvSpPr>
            <a:spLocks noChangeShapeType="1"/>
          </p:cNvSpPr>
          <p:nvPr/>
        </p:nvSpPr>
        <p:spPr bwMode="auto">
          <a:xfrm>
            <a:off x="3733800" y="57404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95" name="AutoShape 31"/>
          <p:cNvSpPr>
            <a:spLocks noChangeArrowheads="1"/>
          </p:cNvSpPr>
          <p:nvPr/>
        </p:nvSpPr>
        <p:spPr bwMode="auto">
          <a:xfrm flipV="1">
            <a:off x="2995613" y="4267200"/>
            <a:ext cx="585787" cy="1371600"/>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99CC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8464171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28600" y="1143000"/>
            <a:ext cx="8153400" cy="609600"/>
          </a:xfrm>
          <a:noFill/>
          <a:extLst>
            <a:ext uri="{909E8E84-426E-40DD-AFC4-6F175D3DCCD1}">
              <a14:hiddenFill xmlns:a14="http://schemas.microsoft.com/office/drawing/2010/main">
                <a:solidFill>
                  <a:srgbClr val="993366"/>
                </a:solidFill>
              </a14:hiddenFill>
            </a:ext>
          </a:extLst>
        </p:spPr>
        <p:txBody>
          <a:bodyPr/>
          <a:lstStyle/>
          <a:p>
            <a:r>
              <a:rPr lang="en-US" sz="3200" dirty="0" err="1"/>
              <a:t>Nonpersistent</a:t>
            </a:r>
            <a:r>
              <a:rPr lang="en-US" sz="3200" dirty="0"/>
              <a:t>/x-persistent CSMA Protocols</a:t>
            </a:r>
          </a:p>
        </p:txBody>
      </p:sp>
      <p:sp>
        <p:nvSpPr>
          <p:cNvPr id="18435" name="Rectangle 3"/>
          <p:cNvSpPr>
            <a:spLocks noGrp="1" noChangeArrowheads="1"/>
          </p:cNvSpPr>
          <p:nvPr>
            <p:ph type="body" idx="1"/>
          </p:nvPr>
        </p:nvSpPr>
        <p:spPr bwMode="auto">
          <a:xfrm>
            <a:off x="228600" y="1981200"/>
            <a:ext cx="8915400" cy="4433201"/>
          </a:xfrm>
          <a:noFill/>
          <a:ln/>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a:lnSpc>
                <a:spcPct val="80000"/>
              </a:lnSpc>
            </a:pPr>
            <a:r>
              <a:rPr lang="en-US" sz="2800" dirty="0" err="1">
                <a:solidFill>
                  <a:schemeClr val="folHlink"/>
                </a:solidFill>
              </a:rPr>
              <a:t>Nonpersistent</a:t>
            </a:r>
            <a:r>
              <a:rPr lang="en-US" sz="2800" dirty="0">
                <a:solidFill>
                  <a:schemeClr val="folHlink"/>
                </a:solidFill>
              </a:rPr>
              <a:t> (0 </a:t>
            </a:r>
            <a:r>
              <a:rPr lang="en-US" sz="2800" dirty="0" err="1">
                <a:solidFill>
                  <a:schemeClr val="folHlink"/>
                </a:solidFill>
              </a:rPr>
              <a:t>persistant</a:t>
            </a:r>
            <a:r>
              <a:rPr lang="en-US" sz="2800" dirty="0">
                <a:solidFill>
                  <a:schemeClr val="folHlink"/>
                </a:solidFill>
              </a:rPr>
              <a:t>) CSMA Protocol:</a:t>
            </a:r>
          </a:p>
          <a:p>
            <a:pPr marL="609600" indent="-609600">
              <a:lnSpc>
                <a:spcPct val="80000"/>
              </a:lnSpc>
              <a:buFont typeface="Wingdings" pitchFamily="2" charset="2"/>
              <a:buNone/>
            </a:pPr>
            <a:r>
              <a:rPr lang="en-US" sz="2800" b="1" dirty="0">
                <a:solidFill>
                  <a:schemeClr val="folHlink"/>
                </a:solidFill>
              </a:rPr>
              <a:t>   </a:t>
            </a:r>
            <a:r>
              <a:rPr lang="en-US" sz="2400" b="1" dirty="0">
                <a:solidFill>
                  <a:schemeClr val="folHlink"/>
                </a:solidFill>
              </a:rPr>
              <a:t>Step 1:   </a:t>
            </a:r>
            <a:r>
              <a:rPr lang="en-US" sz="2400" dirty="0">
                <a:solidFill>
                  <a:schemeClr val="folHlink"/>
                </a:solidFill>
              </a:rPr>
              <a:t>If the medium is idle, transmit immediately</a:t>
            </a:r>
          </a:p>
          <a:p>
            <a:pPr marL="609600" indent="-609600">
              <a:lnSpc>
                <a:spcPct val="80000"/>
              </a:lnSpc>
              <a:buFont typeface="Wingdings" pitchFamily="2" charset="2"/>
              <a:buNone/>
            </a:pPr>
            <a:r>
              <a:rPr lang="en-US" sz="2400" b="1" dirty="0">
                <a:solidFill>
                  <a:schemeClr val="folHlink"/>
                </a:solidFill>
              </a:rPr>
              <a:t>    Step 2</a:t>
            </a:r>
            <a:r>
              <a:rPr lang="en-US" sz="2400" dirty="0">
                <a:solidFill>
                  <a:schemeClr val="folHlink"/>
                </a:solidFill>
              </a:rPr>
              <a:t>:   If the medium is busy, wait a random amount of time 		      and repeat </a:t>
            </a:r>
            <a:r>
              <a:rPr lang="en-US" sz="2400" b="1" dirty="0">
                <a:solidFill>
                  <a:schemeClr val="folHlink"/>
                </a:solidFill>
              </a:rPr>
              <a:t>Step 1</a:t>
            </a:r>
          </a:p>
          <a:p>
            <a:pPr marL="990600" lvl="1" indent="-533400">
              <a:lnSpc>
                <a:spcPct val="80000"/>
              </a:lnSpc>
            </a:pPr>
            <a:r>
              <a:rPr lang="en-US" sz="2400" dirty="0">
                <a:solidFill>
                  <a:schemeClr val="folHlink"/>
                </a:solidFill>
              </a:rPr>
              <a:t>Random </a:t>
            </a:r>
            <a:r>
              <a:rPr lang="en-US" sz="2400" dirty="0" err="1">
                <a:solidFill>
                  <a:schemeClr val="folHlink"/>
                </a:solidFill>
              </a:rPr>
              <a:t>backoff</a:t>
            </a:r>
            <a:r>
              <a:rPr lang="en-US" sz="2400" dirty="0">
                <a:solidFill>
                  <a:schemeClr val="folHlink"/>
                </a:solidFill>
              </a:rPr>
              <a:t> reduces probability of collisions</a:t>
            </a:r>
          </a:p>
          <a:p>
            <a:pPr marL="990600" lvl="1" indent="-533400">
              <a:lnSpc>
                <a:spcPct val="80000"/>
              </a:lnSpc>
            </a:pPr>
            <a:r>
              <a:rPr lang="en-US" sz="2400" dirty="0">
                <a:solidFill>
                  <a:schemeClr val="folHlink"/>
                </a:solidFill>
              </a:rPr>
              <a:t>Waste idle time if the </a:t>
            </a:r>
            <a:r>
              <a:rPr lang="en-US" sz="2400" dirty="0" err="1">
                <a:solidFill>
                  <a:schemeClr val="folHlink"/>
                </a:solidFill>
              </a:rPr>
              <a:t>backoff</a:t>
            </a:r>
            <a:r>
              <a:rPr lang="en-US" sz="2400" dirty="0">
                <a:solidFill>
                  <a:schemeClr val="folHlink"/>
                </a:solidFill>
              </a:rPr>
              <a:t> time is too long</a:t>
            </a:r>
          </a:p>
          <a:p>
            <a:pPr marL="990600" lvl="1" indent="-533400">
              <a:lnSpc>
                <a:spcPct val="80000"/>
              </a:lnSpc>
              <a:buFont typeface="Wingdings" pitchFamily="2" charset="2"/>
              <a:buNone/>
            </a:pPr>
            <a:endParaRPr lang="en-US" sz="2400" dirty="0">
              <a:solidFill>
                <a:schemeClr val="folHlink"/>
              </a:solidFill>
            </a:endParaRPr>
          </a:p>
          <a:p>
            <a:pPr marL="609600" indent="-609600">
              <a:lnSpc>
                <a:spcPct val="80000"/>
              </a:lnSpc>
            </a:pPr>
            <a:r>
              <a:rPr lang="en-US" sz="2800" dirty="0">
                <a:solidFill>
                  <a:schemeClr val="folHlink"/>
                </a:solidFill>
              </a:rPr>
              <a:t>1-persistent CSMA Protocol:</a:t>
            </a:r>
          </a:p>
          <a:p>
            <a:pPr marL="609600" indent="-609600">
              <a:lnSpc>
                <a:spcPct val="80000"/>
              </a:lnSpc>
              <a:buFont typeface="Wingdings" pitchFamily="2" charset="2"/>
              <a:buNone/>
            </a:pPr>
            <a:r>
              <a:rPr lang="en-US" sz="2800" b="1" dirty="0">
                <a:solidFill>
                  <a:schemeClr val="folHlink"/>
                </a:solidFill>
              </a:rPr>
              <a:t>   </a:t>
            </a:r>
            <a:r>
              <a:rPr lang="en-US" sz="2400" b="1" dirty="0">
                <a:solidFill>
                  <a:schemeClr val="folHlink"/>
                </a:solidFill>
              </a:rPr>
              <a:t>Step 1</a:t>
            </a:r>
            <a:r>
              <a:rPr lang="en-US" sz="2400" dirty="0">
                <a:solidFill>
                  <a:schemeClr val="folHlink"/>
                </a:solidFill>
              </a:rPr>
              <a:t>:    If the medium is idle, transmit immediately</a:t>
            </a:r>
          </a:p>
          <a:p>
            <a:pPr marL="609600" indent="-609600">
              <a:lnSpc>
                <a:spcPct val="80000"/>
              </a:lnSpc>
              <a:buFont typeface="Wingdings" pitchFamily="2" charset="2"/>
              <a:buNone/>
            </a:pPr>
            <a:r>
              <a:rPr lang="en-US" sz="2400" b="1" dirty="0">
                <a:solidFill>
                  <a:schemeClr val="folHlink"/>
                </a:solidFill>
              </a:rPr>
              <a:t>    Step 2</a:t>
            </a:r>
            <a:r>
              <a:rPr lang="en-US" sz="2400" dirty="0">
                <a:solidFill>
                  <a:schemeClr val="folHlink"/>
                </a:solidFill>
              </a:rPr>
              <a:t>:    If the medium is busy, continue to listen until medium 	       becomes idle, and then transmit immediately</a:t>
            </a:r>
          </a:p>
          <a:p>
            <a:pPr marL="990600" lvl="1" indent="-533400">
              <a:lnSpc>
                <a:spcPct val="80000"/>
              </a:lnSpc>
            </a:pPr>
            <a:r>
              <a:rPr lang="en-US" sz="2400" dirty="0">
                <a:solidFill>
                  <a:schemeClr val="folHlink"/>
                </a:solidFill>
              </a:rPr>
              <a:t>	There will always be a collision if two nodes want to retransmit</a:t>
            </a:r>
          </a:p>
          <a:p>
            <a:pPr marL="990600" lvl="1" indent="-533400">
              <a:lnSpc>
                <a:spcPct val="80000"/>
              </a:lnSpc>
              <a:buFont typeface="Wingdings" pitchFamily="2" charset="2"/>
              <a:buNone/>
            </a:pPr>
            <a:r>
              <a:rPr lang="en-US" sz="2400" dirty="0">
                <a:solidFill>
                  <a:schemeClr val="folHlink"/>
                </a:solidFill>
              </a:rPr>
              <a:t>	(usually you stop transmission attempts after few tries)</a:t>
            </a:r>
          </a:p>
        </p:txBody>
      </p:sp>
      <p:sp>
        <p:nvSpPr>
          <p:cNvPr id="4" name="Slide Number Placeholder 5"/>
          <p:cNvSpPr>
            <a:spLocks noGrp="1"/>
          </p:cNvSpPr>
          <p:nvPr>
            <p:ph type="sldNum" sz="quarter" idx="7"/>
          </p:nvPr>
        </p:nvSpPr>
        <p:spPr>
          <a:xfrm>
            <a:off x="6781800" y="6324600"/>
            <a:ext cx="1905000" cy="457200"/>
          </a:xfrm>
          <a:prstGeom prst="rect">
            <a:avLst/>
          </a:prstGeom>
        </p:spPr>
        <p:txBody>
          <a:bodyPr/>
          <a:lstStyle/>
          <a:p>
            <a:fld id="{46DBD432-21DC-4A9F-8F94-DCC50C943595}" type="slidenum">
              <a:rPr lang="en-US"/>
              <a:pPr/>
              <a:t>58</a:t>
            </a:fld>
            <a:endParaRPr lang="en-US"/>
          </a:p>
        </p:txBody>
      </p:sp>
    </p:spTree>
    <p:extLst>
      <p:ext uri="{BB962C8B-B14F-4D97-AF65-F5344CB8AC3E}">
        <p14:creationId xmlns:p14="http://schemas.microsoft.com/office/powerpoint/2010/main" val="1087562176"/>
      </p:ext>
    </p:extLst>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D9CAF9C5-69DA-4ED8-8B3F-3E4FFCCA41CE}" type="slidenum">
              <a:rPr lang="en-US">
                <a:solidFill>
                  <a:srgbClr val="1C1C1C"/>
                </a:solidFill>
              </a:rPr>
              <a:pPr/>
              <a:t>59</a:t>
            </a:fld>
            <a:endParaRPr lang="en-US">
              <a:solidFill>
                <a:srgbClr val="1C1C1C"/>
              </a:solidFill>
            </a:endParaRPr>
          </a:p>
        </p:txBody>
      </p:sp>
      <p:sp>
        <p:nvSpPr>
          <p:cNvPr id="1100802"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00803"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00804" name="Text Box 4"/>
          <p:cNvSpPr txBox="1">
            <a:spLocks noChangeArrowheads="1"/>
          </p:cNvSpPr>
          <p:nvPr/>
        </p:nvSpPr>
        <p:spPr bwMode="auto">
          <a:xfrm>
            <a:off x="304800" y="381000"/>
            <a:ext cx="6559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12.11  </a:t>
            </a:r>
            <a:r>
              <a:rPr lang="en-US" sz="2000" b="1" i="1">
                <a:solidFill>
                  <a:srgbClr val="000000"/>
                </a:solidFill>
                <a:latin typeface="Times New Roman" pitchFamily="18" charset="0"/>
              </a:rPr>
              <a:t>Flow diagram for three persistence methods</a:t>
            </a:r>
          </a:p>
        </p:txBody>
      </p:sp>
      <p:sp>
        <p:nvSpPr>
          <p:cNvPr id="1100805"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00807"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0075" y="1173163"/>
            <a:ext cx="5064125" cy="492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00697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050"/>
          <p:cNvSpPr>
            <a:spLocks noGrp="1" noChangeArrowheads="1"/>
          </p:cNvSpPr>
          <p:nvPr>
            <p:ph type="title"/>
          </p:nvPr>
        </p:nvSpPr>
        <p:spPr>
          <a:xfrm>
            <a:off x="391732" y="1026117"/>
            <a:ext cx="8371268" cy="497884"/>
          </a:xfrm>
        </p:spPr>
        <p:txBody>
          <a:bodyPr/>
          <a:lstStyle/>
          <a:p>
            <a:r>
              <a:rPr lang="en-US" sz="3200" dirty="0"/>
              <a:t>Nonpersistent/x-persistent CSMA Protocols</a:t>
            </a:r>
          </a:p>
        </p:txBody>
      </p:sp>
      <p:sp>
        <p:nvSpPr>
          <p:cNvPr id="39939" name="Rectangle 2051"/>
          <p:cNvSpPr>
            <a:spLocks noGrp="1" noChangeArrowheads="1"/>
          </p:cNvSpPr>
          <p:nvPr>
            <p:ph type="body" idx="1"/>
          </p:nvPr>
        </p:nvSpPr>
        <p:spPr bwMode="auto">
          <a:xfrm>
            <a:off x="391732" y="2021884"/>
            <a:ext cx="8001000" cy="4302716"/>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80000"/>
              </a:lnSpc>
            </a:pPr>
            <a:r>
              <a:rPr lang="en-US" sz="3200" dirty="0">
                <a:solidFill>
                  <a:schemeClr val="folHlink"/>
                </a:solidFill>
              </a:rPr>
              <a:t>p-persistent CSMA Protocol:</a:t>
            </a:r>
          </a:p>
          <a:p>
            <a:pPr>
              <a:lnSpc>
                <a:spcPct val="80000"/>
              </a:lnSpc>
              <a:buFont typeface="Wingdings" pitchFamily="2" charset="2"/>
              <a:buNone/>
            </a:pPr>
            <a:r>
              <a:rPr lang="en-US" sz="3200" b="1" dirty="0">
                <a:solidFill>
                  <a:schemeClr val="folHlink"/>
                </a:solidFill>
              </a:rPr>
              <a:t>   </a:t>
            </a:r>
            <a:r>
              <a:rPr lang="en-US" sz="2800" b="1" dirty="0">
                <a:solidFill>
                  <a:schemeClr val="folHlink"/>
                </a:solidFill>
              </a:rPr>
              <a:t>Step 1</a:t>
            </a:r>
            <a:r>
              <a:rPr lang="en-US" sz="2800" dirty="0">
                <a:solidFill>
                  <a:schemeClr val="folHlink"/>
                </a:solidFill>
              </a:rPr>
              <a:t>: If the medium is idle, transmit with probability 	      p, and delay 	     for worst case propagation 	      delay for one packet with probability 	     (1-p)</a:t>
            </a:r>
          </a:p>
          <a:p>
            <a:pPr>
              <a:lnSpc>
                <a:spcPct val="80000"/>
              </a:lnSpc>
              <a:buFont typeface="Wingdings" pitchFamily="2" charset="2"/>
              <a:buNone/>
            </a:pPr>
            <a:r>
              <a:rPr lang="en-US" sz="2800" b="1" dirty="0">
                <a:solidFill>
                  <a:schemeClr val="folHlink"/>
                </a:solidFill>
              </a:rPr>
              <a:t>    Step 2</a:t>
            </a:r>
            <a:r>
              <a:rPr lang="en-US" sz="2800" dirty="0">
                <a:solidFill>
                  <a:schemeClr val="folHlink"/>
                </a:solidFill>
              </a:rPr>
              <a:t>: If the medium is busy, continue to listen until 		       medium becomes idle, then go to </a:t>
            </a:r>
            <a:r>
              <a:rPr lang="en-US" sz="2800" b="1" dirty="0">
                <a:solidFill>
                  <a:schemeClr val="folHlink"/>
                </a:solidFill>
              </a:rPr>
              <a:t>Step 1</a:t>
            </a:r>
          </a:p>
          <a:p>
            <a:pPr>
              <a:lnSpc>
                <a:spcPct val="80000"/>
              </a:lnSpc>
              <a:buFont typeface="Wingdings" pitchFamily="2" charset="2"/>
              <a:buNone/>
            </a:pPr>
            <a:r>
              <a:rPr lang="en-US" sz="2800" b="1" dirty="0">
                <a:solidFill>
                  <a:schemeClr val="folHlink"/>
                </a:solidFill>
              </a:rPr>
              <a:t>    Step 3</a:t>
            </a:r>
            <a:r>
              <a:rPr lang="en-US" sz="2800" dirty="0">
                <a:solidFill>
                  <a:schemeClr val="folHlink"/>
                </a:solidFill>
              </a:rPr>
              <a:t>: If transmission is delayed by one time slot, 		      continue with </a:t>
            </a:r>
            <a:r>
              <a:rPr lang="en-US" sz="2800" b="1" dirty="0">
                <a:solidFill>
                  <a:schemeClr val="folHlink"/>
                </a:solidFill>
              </a:rPr>
              <a:t>Step 1</a:t>
            </a:r>
          </a:p>
          <a:p>
            <a:pPr lvl="1">
              <a:lnSpc>
                <a:spcPct val="80000"/>
              </a:lnSpc>
            </a:pPr>
            <a:endParaRPr lang="en-US" sz="2800" dirty="0">
              <a:solidFill>
                <a:schemeClr val="folHlink"/>
              </a:solidFill>
            </a:endParaRPr>
          </a:p>
          <a:p>
            <a:pPr lvl="1">
              <a:lnSpc>
                <a:spcPct val="80000"/>
              </a:lnSpc>
            </a:pPr>
            <a:r>
              <a:rPr lang="en-US" sz="2800" dirty="0">
                <a:solidFill>
                  <a:schemeClr val="folHlink"/>
                </a:solidFill>
              </a:rPr>
              <a:t>A good tradeoff between </a:t>
            </a:r>
            <a:r>
              <a:rPr lang="en-US" sz="2800" dirty="0" err="1">
                <a:solidFill>
                  <a:schemeClr val="folHlink"/>
                </a:solidFill>
              </a:rPr>
              <a:t>nonpersistent</a:t>
            </a:r>
            <a:r>
              <a:rPr lang="en-US" sz="2800" dirty="0">
                <a:solidFill>
                  <a:schemeClr val="folHlink"/>
                </a:solidFill>
              </a:rPr>
              <a:t> and 1-persistent CSMA</a:t>
            </a:r>
          </a:p>
          <a:p>
            <a:pPr>
              <a:lnSpc>
                <a:spcPct val="80000"/>
              </a:lnSpc>
            </a:pPr>
            <a:endParaRPr lang="en-US" dirty="0"/>
          </a:p>
        </p:txBody>
      </p:sp>
      <p:sp>
        <p:nvSpPr>
          <p:cNvPr id="4" name="Slide Number Placeholder 5"/>
          <p:cNvSpPr>
            <a:spLocks noGrp="1"/>
          </p:cNvSpPr>
          <p:nvPr>
            <p:ph type="sldNum" sz="quarter" idx="7"/>
          </p:nvPr>
        </p:nvSpPr>
        <p:spPr>
          <a:xfrm>
            <a:off x="6781800" y="6324600"/>
            <a:ext cx="1905000" cy="457200"/>
          </a:xfrm>
          <a:prstGeom prst="rect">
            <a:avLst/>
          </a:prstGeom>
        </p:spPr>
        <p:txBody>
          <a:bodyPr/>
          <a:lstStyle/>
          <a:p>
            <a:fld id="{2137693C-28D7-444A-A61F-E91D2D1C7E53}" type="slidenum">
              <a:rPr lang="en-US"/>
              <a:pPr/>
              <a:t>60</a:t>
            </a:fld>
            <a:endParaRPr lang="en-US"/>
          </a:p>
        </p:txBody>
      </p:sp>
    </p:spTree>
    <p:extLst>
      <p:ext uri="{BB962C8B-B14F-4D97-AF65-F5344CB8AC3E}">
        <p14:creationId xmlns:p14="http://schemas.microsoft.com/office/powerpoint/2010/main" val="4149766076"/>
      </p:ext>
    </p:extLst>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1211282"/>
            <a:ext cx="7772400" cy="685800"/>
          </a:xfrm>
          <a:noFill/>
          <a:extLst>
            <a:ext uri="{909E8E84-426E-40DD-AFC4-6F175D3DCCD1}">
              <a14:hiddenFill xmlns:a14="http://schemas.microsoft.com/office/drawing/2010/main">
                <a:solidFill>
                  <a:srgbClr val="993366"/>
                </a:solidFill>
              </a14:hiddenFill>
            </a:ext>
          </a:extLst>
        </p:spPr>
        <p:txBody>
          <a:bodyPr/>
          <a:lstStyle/>
          <a:p>
            <a:r>
              <a:rPr lang="en-US" dirty="0"/>
              <a:t>How to Select Probability </a:t>
            </a:r>
            <a:r>
              <a:rPr lang="en-US" i="1" dirty="0"/>
              <a:t>p</a:t>
            </a:r>
            <a:r>
              <a:rPr lang="en-US" dirty="0"/>
              <a:t> ?</a:t>
            </a:r>
          </a:p>
        </p:txBody>
      </p:sp>
      <p:sp>
        <p:nvSpPr>
          <p:cNvPr id="21507" name="Rectangle 3"/>
          <p:cNvSpPr>
            <a:spLocks noGrp="1" noChangeArrowheads="1"/>
          </p:cNvSpPr>
          <p:nvPr>
            <p:ph type="body" idx="1"/>
          </p:nvPr>
        </p:nvSpPr>
        <p:spPr bwMode="auto">
          <a:xfrm>
            <a:off x="685800" y="2354282"/>
            <a:ext cx="7239000" cy="3970318"/>
          </a:xfrm>
          <a:noFill/>
          <a:ln/>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2900" indent="-342900">
              <a:buFont typeface="Arial" pitchFamily="34" charset="0"/>
              <a:buChar char="•"/>
            </a:pPr>
            <a:r>
              <a:rPr lang="en-US" sz="2800" dirty="0">
                <a:solidFill>
                  <a:schemeClr val="folHlink"/>
                </a:solidFill>
              </a:rPr>
              <a:t>Assume that </a:t>
            </a:r>
            <a:r>
              <a:rPr lang="en-US" sz="2800" i="1" dirty="0">
                <a:solidFill>
                  <a:schemeClr val="folHlink"/>
                </a:solidFill>
              </a:rPr>
              <a:t>N</a:t>
            </a:r>
            <a:r>
              <a:rPr lang="en-US" sz="2800" dirty="0">
                <a:solidFill>
                  <a:schemeClr val="folHlink"/>
                </a:solidFill>
              </a:rPr>
              <a:t> nodes have a packet to send and the medium is busy</a:t>
            </a:r>
          </a:p>
          <a:p>
            <a:pPr marL="342900" indent="-342900">
              <a:buFont typeface="Arial" pitchFamily="34" charset="0"/>
              <a:buChar char="•"/>
            </a:pPr>
            <a:r>
              <a:rPr lang="en-US" sz="2800" i="1" dirty="0">
                <a:solidFill>
                  <a:schemeClr val="folHlink"/>
                </a:solidFill>
              </a:rPr>
              <a:t>Then, </a:t>
            </a:r>
            <a:r>
              <a:rPr lang="en-US" sz="2800" i="1" dirty="0" err="1">
                <a:solidFill>
                  <a:schemeClr val="folHlink"/>
                </a:solidFill>
              </a:rPr>
              <a:t>Np</a:t>
            </a:r>
            <a:r>
              <a:rPr lang="en-US" sz="2800" dirty="0">
                <a:solidFill>
                  <a:schemeClr val="folHlink"/>
                </a:solidFill>
              </a:rPr>
              <a:t> is the expected number of nodes that will attempt to transmit once the medium becomes idle</a:t>
            </a:r>
            <a:endParaRPr lang="en-US" sz="2800" i="1" dirty="0">
              <a:solidFill>
                <a:schemeClr val="folHlink"/>
              </a:solidFill>
            </a:endParaRPr>
          </a:p>
          <a:p>
            <a:pPr marL="342900" indent="-342900">
              <a:buFont typeface="Arial" pitchFamily="34" charset="0"/>
              <a:buChar char="•"/>
            </a:pPr>
            <a:r>
              <a:rPr lang="en-US" sz="2800" dirty="0">
                <a:solidFill>
                  <a:schemeClr val="folHlink"/>
                </a:solidFill>
              </a:rPr>
              <a:t>If </a:t>
            </a:r>
            <a:r>
              <a:rPr lang="en-US" sz="2800" i="1" dirty="0" err="1">
                <a:solidFill>
                  <a:schemeClr val="folHlink"/>
                </a:solidFill>
              </a:rPr>
              <a:t>Np</a:t>
            </a:r>
            <a:r>
              <a:rPr lang="en-US" sz="2800" i="1" dirty="0">
                <a:solidFill>
                  <a:schemeClr val="folHlink"/>
                </a:solidFill>
              </a:rPr>
              <a:t> &gt; </a:t>
            </a:r>
            <a:r>
              <a:rPr lang="en-US" sz="2800" dirty="0">
                <a:solidFill>
                  <a:schemeClr val="folHlink"/>
                </a:solidFill>
              </a:rPr>
              <a:t>1, then a collision is expected to occur</a:t>
            </a:r>
          </a:p>
          <a:p>
            <a:pPr>
              <a:buFont typeface="Wingdings" pitchFamily="2" charset="2"/>
              <a:buNone/>
            </a:pPr>
            <a:endParaRPr lang="en-US" sz="2800" dirty="0">
              <a:solidFill>
                <a:schemeClr val="folHlink"/>
              </a:solidFill>
            </a:endParaRPr>
          </a:p>
          <a:p>
            <a:pPr>
              <a:buFont typeface="Wingdings" pitchFamily="2" charset="2"/>
              <a:buNone/>
            </a:pPr>
            <a:r>
              <a:rPr lang="en-US" sz="2800" dirty="0">
                <a:solidFill>
                  <a:schemeClr val="folHlink"/>
                </a:solidFill>
              </a:rPr>
              <a:t>    Therefore, network must make sure that </a:t>
            </a:r>
            <a:r>
              <a:rPr lang="en-US" sz="2800" i="1" dirty="0" err="1">
                <a:solidFill>
                  <a:schemeClr val="folHlink"/>
                </a:solidFill>
              </a:rPr>
              <a:t>Np</a:t>
            </a:r>
            <a:r>
              <a:rPr lang="en-US" sz="2800" dirty="0">
                <a:solidFill>
                  <a:schemeClr val="folHlink"/>
                </a:solidFill>
              </a:rPr>
              <a:t> &lt; 1 to avoid collision, where </a:t>
            </a:r>
            <a:r>
              <a:rPr lang="en-US" sz="2800" i="1" dirty="0">
                <a:solidFill>
                  <a:schemeClr val="folHlink"/>
                </a:solidFill>
              </a:rPr>
              <a:t>N</a:t>
            </a:r>
            <a:r>
              <a:rPr lang="en-US" sz="2800" dirty="0">
                <a:solidFill>
                  <a:schemeClr val="folHlink"/>
                </a:solidFill>
              </a:rPr>
              <a:t> is the maximum number of nodes that can be active at a time</a:t>
            </a:r>
          </a:p>
        </p:txBody>
      </p:sp>
      <p:sp>
        <p:nvSpPr>
          <p:cNvPr id="4" name="Slide Number Placeholder 5"/>
          <p:cNvSpPr>
            <a:spLocks noGrp="1"/>
          </p:cNvSpPr>
          <p:nvPr>
            <p:ph type="sldNum" sz="quarter" idx="7"/>
          </p:nvPr>
        </p:nvSpPr>
        <p:spPr>
          <a:xfrm>
            <a:off x="6781800" y="6324600"/>
            <a:ext cx="1905000" cy="457200"/>
          </a:xfrm>
          <a:prstGeom prst="rect">
            <a:avLst/>
          </a:prstGeom>
        </p:spPr>
        <p:txBody>
          <a:bodyPr/>
          <a:lstStyle/>
          <a:p>
            <a:fld id="{77B49472-7689-4185-A382-EE8DE61502BE}" type="slidenum">
              <a:rPr lang="en-US"/>
              <a:pPr/>
              <a:t>61</a:t>
            </a:fld>
            <a:endParaRPr lang="en-US"/>
          </a:p>
        </p:txBody>
      </p:sp>
    </p:spTree>
    <p:extLst>
      <p:ext uri="{BB962C8B-B14F-4D97-AF65-F5344CB8AC3E}">
        <p14:creationId xmlns:p14="http://schemas.microsoft.com/office/powerpoint/2010/main" val="2689998135"/>
      </p:ext>
    </p:extLst>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lide Number Placeholder 4"/>
          <p:cNvSpPr>
            <a:spLocks noGrp="1"/>
          </p:cNvSpPr>
          <p:nvPr>
            <p:ph type="sldNum" sz="quarter" idx="4294967295"/>
          </p:nvPr>
        </p:nvSpPr>
        <p:spPr>
          <a:xfrm>
            <a:off x="6781800" y="6324600"/>
            <a:ext cx="1905000" cy="457200"/>
          </a:xfrm>
          <a:prstGeom prst="rect">
            <a:avLst/>
          </a:prstGeom>
        </p:spPr>
        <p:txBody>
          <a:bodyPr/>
          <a:lstStyle/>
          <a:p>
            <a:fld id="{DB1A5955-6926-47CA-A7C6-AB2186E4993B}" type="slidenum">
              <a:rPr lang="en-US"/>
              <a:pPr/>
              <a:t>62</a:t>
            </a:fld>
            <a:endParaRPr lang="en-US"/>
          </a:p>
        </p:txBody>
      </p:sp>
      <p:sp>
        <p:nvSpPr>
          <p:cNvPr id="12290" name="Rectangle 2"/>
          <p:cNvSpPr>
            <a:spLocks noGrp="1" noChangeArrowheads="1"/>
          </p:cNvSpPr>
          <p:nvPr>
            <p:ph type="title"/>
          </p:nvPr>
        </p:nvSpPr>
        <p:spPr>
          <a:xfrm>
            <a:off x="1066800" y="76200"/>
            <a:ext cx="7772400" cy="914400"/>
          </a:xfrm>
          <a:noFill/>
          <a:extLst>
            <a:ext uri="{909E8E84-426E-40DD-AFC4-6F175D3DCCD1}">
              <a14:hiddenFill xmlns:a14="http://schemas.microsoft.com/office/drawing/2010/main">
                <a:solidFill>
                  <a:srgbClr val="993366"/>
                </a:solidFill>
              </a14:hiddenFill>
            </a:ext>
          </a:extLst>
        </p:spPr>
        <p:txBody>
          <a:bodyPr/>
          <a:lstStyle/>
          <a:p>
            <a:r>
              <a:rPr lang="en-US"/>
              <a:t>Throughput</a:t>
            </a:r>
          </a:p>
        </p:txBody>
      </p:sp>
      <p:sp>
        <p:nvSpPr>
          <p:cNvPr id="12292" name="Line 4"/>
          <p:cNvSpPr>
            <a:spLocks noChangeShapeType="1"/>
          </p:cNvSpPr>
          <p:nvPr/>
        </p:nvSpPr>
        <p:spPr bwMode="auto">
          <a:xfrm>
            <a:off x="1752600" y="1371600"/>
            <a:ext cx="0" cy="4114800"/>
          </a:xfrm>
          <a:prstGeom prst="line">
            <a:avLst/>
          </a:prstGeom>
          <a:noFill/>
          <a:ln w="2857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3" name="Line 5"/>
          <p:cNvSpPr>
            <a:spLocks noChangeShapeType="1"/>
          </p:cNvSpPr>
          <p:nvPr/>
        </p:nvSpPr>
        <p:spPr bwMode="auto">
          <a:xfrm>
            <a:off x="1752600" y="5486400"/>
            <a:ext cx="617220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6" name="Line 8"/>
          <p:cNvSpPr>
            <a:spLocks noChangeShapeType="1"/>
          </p:cNvSpPr>
          <p:nvPr/>
        </p:nvSpPr>
        <p:spPr bwMode="auto">
          <a:xfrm>
            <a:off x="1752600" y="4724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7" name="Line 9"/>
          <p:cNvSpPr>
            <a:spLocks noChangeShapeType="1"/>
          </p:cNvSpPr>
          <p:nvPr/>
        </p:nvSpPr>
        <p:spPr bwMode="auto">
          <a:xfrm>
            <a:off x="1752600" y="4343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8" name="Line 10"/>
          <p:cNvSpPr>
            <a:spLocks noChangeShapeType="1"/>
          </p:cNvSpPr>
          <p:nvPr/>
        </p:nvSpPr>
        <p:spPr bwMode="auto">
          <a:xfrm>
            <a:off x="1752600" y="3962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9" name="Line 11"/>
          <p:cNvSpPr>
            <a:spLocks noChangeShapeType="1"/>
          </p:cNvSpPr>
          <p:nvPr/>
        </p:nvSpPr>
        <p:spPr bwMode="auto">
          <a:xfrm>
            <a:off x="1752600" y="3581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0" name="Line 12"/>
          <p:cNvSpPr>
            <a:spLocks noChangeShapeType="1"/>
          </p:cNvSpPr>
          <p:nvPr/>
        </p:nvSpPr>
        <p:spPr bwMode="auto">
          <a:xfrm>
            <a:off x="1752600" y="3200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1" name="Line 13"/>
          <p:cNvSpPr>
            <a:spLocks noChangeShapeType="1"/>
          </p:cNvSpPr>
          <p:nvPr/>
        </p:nvSpPr>
        <p:spPr bwMode="auto">
          <a:xfrm>
            <a:off x="1752600" y="2819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2" name="Line 14"/>
          <p:cNvSpPr>
            <a:spLocks noChangeShapeType="1"/>
          </p:cNvSpPr>
          <p:nvPr/>
        </p:nvSpPr>
        <p:spPr bwMode="auto">
          <a:xfrm>
            <a:off x="1752600" y="2438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3" name="Line 15"/>
          <p:cNvSpPr>
            <a:spLocks noChangeShapeType="1"/>
          </p:cNvSpPr>
          <p:nvPr/>
        </p:nvSpPr>
        <p:spPr bwMode="auto">
          <a:xfrm>
            <a:off x="1752600" y="2057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4" name="Line 16"/>
          <p:cNvSpPr>
            <a:spLocks noChangeShapeType="1"/>
          </p:cNvSpPr>
          <p:nvPr/>
        </p:nvSpPr>
        <p:spPr bwMode="auto">
          <a:xfrm>
            <a:off x="1752600" y="5105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5" name="Line 17"/>
          <p:cNvSpPr>
            <a:spLocks noChangeShapeType="1"/>
          </p:cNvSpPr>
          <p:nvPr/>
        </p:nvSpPr>
        <p:spPr bwMode="auto">
          <a:xfrm>
            <a:off x="2362200" y="5410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6" name="Line 18"/>
          <p:cNvSpPr>
            <a:spLocks noChangeShapeType="1"/>
          </p:cNvSpPr>
          <p:nvPr/>
        </p:nvSpPr>
        <p:spPr bwMode="auto">
          <a:xfrm>
            <a:off x="3048000" y="5410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7" name="Line 19"/>
          <p:cNvSpPr>
            <a:spLocks noChangeShapeType="1"/>
          </p:cNvSpPr>
          <p:nvPr/>
        </p:nvSpPr>
        <p:spPr bwMode="auto">
          <a:xfrm>
            <a:off x="3657600" y="5410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8" name="Line 20"/>
          <p:cNvSpPr>
            <a:spLocks noChangeShapeType="1"/>
          </p:cNvSpPr>
          <p:nvPr/>
        </p:nvSpPr>
        <p:spPr bwMode="auto">
          <a:xfrm>
            <a:off x="4343400" y="5410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9" name="Line 21"/>
          <p:cNvSpPr>
            <a:spLocks noChangeShapeType="1"/>
          </p:cNvSpPr>
          <p:nvPr/>
        </p:nvSpPr>
        <p:spPr bwMode="auto">
          <a:xfrm>
            <a:off x="4953000" y="5410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0" name="Line 22"/>
          <p:cNvSpPr>
            <a:spLocks noChangeShapeType="1"/>
          </p:cNvSpPr>
          <p:nvPr/>
        </p:nvSpPr>
        <p:spPr bwMode="auto">
          <a:xfrm>
            <a:off x="5638800" y="5410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1" name="Line 23"/>
          <p:cNvSpPr>
            <a:spLocks noChangeShapeType="1"/>
          </p:cNvSpPr>
          <p:nvPr/>
        </p:nvSpPr>
        <p:spPr bwMode="auto">
          <a:xfrm>
            <a:off x="6324600" y="5410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2" name="Line 24"/>
          <p:cNvSpPr>
            <a:spLocks noChangeShapeType="1"/>
          </p:cNvSpPr>
          <p:nvPr/>
        </p:nvSpPr>
        <p:spPr bwMode="auto">
          <a:xfrm>
            <a:off x="6934200" y="5410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4" name="Text Box 26"/>
          <p:cNvSpPr txBox="1">
            <a:spLocks noChangeArrowheads="1"/>
          </p:cNvSpPr>
          <p:nvPr/>
        </p:nvSpPr>
        <p:spPr bwMode="auto">
          <a:xfrm>
            <a:off x="1600200" y="5530850"/>
            <a:ext cx="6248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a:latin typeface="Times New Roman" pitchFamily="18" charset="0"/>
              </a:rPr>
              <a:t>0          1           2           3           4          5            6           7          8           9</a:t>
            </a:r>
          </a:p>
        </p:txBody>
      </p:sp>
      <p:sp>
        <p:nvSpPr>
          <p:cNvPr id="12315" name="Text Box 27"/>
          <p:cNvSpPr txBox="1">
            <a:spLocks noChangeArrowheads="1"/>
          </p:cNvSpPr>
          <p:nvPr/>
        </p:nvSpPr>
        <p:spPr bwMode="auto">
          <a:xfrm>
            <a:off x="4114800" y="5715000"/>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atin typeface="Times New Roman" pitchFamily="18" charset="0"/>
              </a:rPr>
              <a:t>G</a:t>
            </a:r>
          </a:p>
        </p:txBody>
      </p:sp>
      <p:sp>
        <p:nvSpPr>
          <p:cNvPr id="12316" name="Text Box 28"/>
          <p:cNvSpPr txBox="1">
            <a:spLocks noChangeArrowheads="1"/>
          </p:cNvSpPr>
          <p:nvPr/>
        </p:nvSpPr>
        <p:spPr bwMode="auto">
          <a:xfrm>
            <a:off x="1295400" y="1558925"/>
            <a:ext cx="457200" cy="400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a:latin typeface="Times New Roman" pitchFamily="18" charset="0"/>
              </a:rPr>
              <a:t>1.0</a:t>
            </a:r>
          </a:p>
          <a:p>
            <a:pPr>
              <a:spcBef>
                <a:spcPct val="50000"/>
              </a:spcBef>
            </a:pPr>
            <a:r>
              <a:rPr lang="en-US" sz="1600">
                <a:latin typeface="Times New Roman" pitchFamily="18" charset="0"/>
              </a:rPr>
              <a:t>0.9</a:t>
            </a:r>
          </a:p>
          <a:p>
            <a:pPr>
              <a:spcBef>
                <a:spcPct val="50000"/>
              </a:spcBef>
            </a:pPr>
            <a:r>
              <a:rPr lang="en-US" sz="1600">
                <a:latin typeface="Times New Roman" pitchFamily="18" charset="0"/>
              </a:rPr>
              <a:t>0.8</a:t>
            </a:r>
          </a:p>
          <a:p>
            <a:pPr>
              <a:spcBef>
                <a:spcPct val="50000"/>
              </a:spcBef>
            </a:pPr>
            <a:r>
              <a:rPr lang="en-US" sz="1600">
                <a:latin typeface="Times New Roman" pitchFamily="18" charset="0"/>
              </a:rPr>
              <a:t>0.7</a:t>
            </a:r>
          </a:p>
          <a:p>
            <a:pPr>
              <a:spcBef>
                <a:spcPct val="50000"/>
              </a:spcBef>
            </a:pPr>
            <a:r>
              <a:rPr lang="en-US" sz="1600">
                <a:latin typeface="Times New Roman" pitchFamily="18" charset="0"/>
              </a:rPr>
              <a:t>0.6</a:t>
            </a:r>
          </a:p>
          <a:p>
            <a:pPr>
              <a:spcBef>
                <a:spcPct val="50000"/>
              </a:spcBef>
            </a:pPr>
            <a:r>
              <a:rPr lang="en-US" sz="1600">
                <a:latin typeface="Times New Roman" pitchFamily="18" charset="0"/>
              </a:rPr>
              <a:t>0.5</a:t>
            </a:r>
          </a:p>
          <a:p>
            <a:pPr>
              <a:spcBef>
                <a:spcPct val="50000"/>
              </a:spcBef>
            </a:pPr>
            <a:r>
              <a:rPr lang="en-US" sz="1600">
                <a:latin typeface="Times New Roman" pitchFamily="18" charset="0"/>
              </a:rPr>
              <a:t>0.4</a:t>
            </a:r>
          </a:p>
          <a:p>
            <a:pPr>
              <a:spcBef>
                <a:spcPct val="50000"/>
              </a:spcBef>
            </a:pPr>
            <a:r>
              <a:rPr lang="en-US" sz="1600">
                <a:latin typeface="Times New Roman" pitchFamily="18" charset="0"/>
              </a:rPr>
              <a:t>0.3</a:t>
            </a:r>
          </a:p>
          <a:p>
            <a:pPr>
              <a:spcBef>
                <a:spcPct val="50000"/>
              </a:spcBef>
            </a:pPr>
            <a:r>
              <a:rPr lang="en-US" sz="1600">
                <a:latin typeface="Times New Roman" pitchFamily="18" charset="0"/>
              </a:rPr>
              <a:t>0.2</a:t>
            </a:r>
          </a:p>
          <a:p>
            <a:pPr>
              <a:spcBef>
                <a:spcPct val="50000"/>
              </a:spcBef>
            </a:pPr>
            <a:r>
              <a:rPr lang="en-US" sz="1600">
                <a:latin typeface="Times New Roman" pitchFamily="18" charset="0"/>
              </a:rPr>
              <a:t>0.1</a:t>
            </a:r>
          </a:p>
          <a:p>
            <a:pPr>
              <a:spcBef>
                <a:spcPct val="50000"/>
              </a:spcBef>
            </a:pPr>
            <a:r>
              <a:rPr lang="en-US" sz="1600">
                <a:latin typeface="Times New Roman" pitchFamily="18" charset="0"/>
              </a:rPr>
              <a:t>  0</a:t>
            </a:r>
          </a:p>
        </p:txBody>
      </p:sp>
      <p:sp>
        <p:nvSpPr>
          <p:cNvPr id="12317" name="Text Box 29"/>
          <p:cNvSpPr txBox="1">
            <a:spLocks noChangeArrowheads="1"/>
          </p:cNvSpPr>
          <p:nvPr/>
        </p:nvSpPr>
        <p:spPr bwMode="auto">
          <a:xfrm rot="-5400000">
            <a:off x="685800" y="33528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atin typeface="Times New Roman" pitchFamily="18" charset="0"/>
              </a:rPr>
              <a:t>S</a:t>
            </a:r>
          </a:p>
        </p:txBody>
      </p:sp>
      <p:sp>
        <p:nvSpPr>
          <p:cNvPr id="12319" name="Freeform 31"/>
          <p:cNvSpPr>
            <a:spLocks/>
          </p:cNvSpPr>
          <p:nvPr/>
        </p:nvSpPr>
        <p:spPr bwMode="auto">
          <a:xfrm>
            <a:off x="1752600" y="4800600"/>
            <a:ext cx="1905000" cy="685800"/>
          </a:xfrm>
          <a:custGeom>
            <a:avLst/>
            <a:gdLst>
              <a:gd name="T0" fmla="*/ 0 w 1200"/>
              <a:gd name="T1" fmla="*/ 480 h 480"/>
              <a:gd name="T2" fmla="*/ 48 w 1200"/>
              <a:gd name="T3" fmla="*/ 192 h 480"/>
              <a:gd name="T4" fmla="*/ 192 w 1200"/>
              <a:gd name="T5" fmla="*/ 0 h 480"/>
              <a:gd name="T6" fmla="*/ 480 w 1200"/>
              <a:gd name="T7" fmla="*/ 192 h 480"/>
              <a:gd name="T8" fmla="*/ 864 w 1200"/>
              <a:gd name="T9" fmla="*/ 384 h 480"/>
              <a:gd name="T10" fmla="*/ 1200 w 1200"/>
              <a:gd name="T11" fmla="*/ 480 h 480"/>
            </a:gdLst>
            <a:ahLst/>
            <a:cxnLst>
              <a:cxn ang="0">
                <a:pos x="T0" y="T1"/>
              </a:cxn>
              <a:cxn ang="0">
                <a:pos x="T2" y="T3"/>
              </a:cxn>
              <a:cxn ang="0">
                <a:pos x="T4" y="T5"/>
              </a:cxn>
              <a:cxn ang="0">
                <a:pos x="T6" y="T7"/>
              </a:cxn>
              <a:cxn ang="0">
                <a:pos x="T8" y="T9"/>
              </a:cxn>
              <a:cxn ang="0">
                <a:pos x="T10" y="T11"/>
              </a:cxn>
            </a:cxnLst>
            <a:rect l="0" t="0" r="r" b="b"/>
            <a:pathLst>
              <a:path w="1200" h="480">
                <a:moveTo>
                  <a:pt x="0" y="480"/>
                </a:moveTo>
                <a:cubicBezTo>
                  <a:pt x="8" y="376"/>
                  <a:pt x="16" y="272"/>
                  <a:pt x="48" y="192"/>
                </a:cubicBezTo>
                <a:cubicBezTo>
                  <a:pt x="80" y="112"/>
                  <a:pt x="120" y="0"/>
                  <a:pt x="192" y="0"/>
                </a:cubicBezTo>
                <a:cubicBezTo>
                  <a:pt x="264" y="0"/>
                  <a:pt x="368" y="128"/>
                  <a:pt x="480" y="192"/>
                </a:cubicBezTo>
                <a:cubicBezTo>
                  <a:pt x="592" y="256"/>
                  <a:pt x="744" y="336"/>
                  <a:pt x="864" y="384"/>
                </a:cubicBezTo>
                <a:cubicBezTo>
                  <a:pt x="984" y="432"/>
                  <a:pt x="1092" y="456"/>
                  <a:pt x="1200" y="480"/>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20" name="Freeform 32"/>
          <p:cNvSpPr>
            <a:spLocks/>
          </p:cNvSpPr>
          <p:nvPr/>
        </p:nvSpPr>
        <p:spPr bwMode="auto">
          <a:xfrm>
            <a:off x="1752600" y="4025900"/>
            <a:ext cx="4191000" cy="1460500"/>
          </a:xfrm>
          <a:custGeom>
            <a:avLst/>
            <a:gdLst>
              <a:gd name="T0" fmla="*/ 0 w 2640"/>
              <a:gd name="T1" fmla="*/ 920 h 920"/>
              <a:gd name="T2" fmla="*/ 48 w 2640"/>
              <a:gd name="T3" fmla="*/ 536 h 920"/>
              <a:gd name="T4" fmla="*/ 144 w 2640"/>
              <a:gd name="T5" fmla="*/ 248 h 920"/>
              <a:gd name="T6" fmla="*/ 384 w 2640"/>
              <a:gd name="T7" fmla="*/ 8 h 920"/>
              <a:gd name="T8" fmla="*/ 720 w 2640"/>
              <a:gd name="T9" fmla="*/ 200 h 920"/>
              <a:gd name="T10" fmla="*/ 1104 w 2640"/>
              <a:gd name="T11" fmla="*/ 488 h 920"/>
              <a:gd name="T12" fmla="*/ 1440 w 2640"/>
              <a:gd name="T13" fmla="*/ 680 h 920"/>
              <a:gd name="T14" fmla="*/ 1968 w 2640"/>
              <a:gd name="T15" fmla="*/ 824 h 920"/>
              <a:gd name="T16" fmla="*/ 2640 w 2640"/>
              <a:gd name="T17" fmla="*/ 920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40" h="920">
                <a:moveTo>
                  <a:pt x="0" y="920"/>
                </a:moveTo>
                <a:cubicBezTo>
                  <a:pt x="12" y="784"/>
                  <a:pt x="24" y="648"/>
                  <a:pt x="48" y="536"/>
                </a:cubicBezTo>
                <a:cubicBezTo>
                  <a:pt x="72" y="424"/>
                  <a:pt x="88" y="336"/>
                  <a:pt x="144" y="248"/>
                </a:cubicBezTo>
                <a:cubicBezTo>
                  <a:pt x="200" y="160"/>
                  <a:pt x="288" y="16"/>
                  <a:pt x="384" y="8"/>
                </a:cubicBezTo>
                <a:cubicBezTo>
                  <a:pt x="480" y="0"/>
                  <a:pt x="600" y="120"/>
                  <a:pt x="720" y="200"/>
                </a:cubicBezTo>
                <a:cubicBezTo>
                  <a:pt x="840" y="280"/>
                  <a:pt x="984" y="408"/>
                  <a:pt x="1104" y="488"/>
                </a:cubicBezTo>
                <a:cubicBezTo>
                  <a:pt x="1224" y="568"/>
                  <a:pt x="1296" y="624"/>
                  <a:pt x="1440" y="680"/>
                </a:cubicBezTo>
                <a:cubicBezTo>
                  <a:pt x="1584" y="736"/>
                  <a:pt x="1768" y="784"/>
                  <a:pt x="1968" y="824"/>
                </a:cubicBezTo>
                <a:cubicBezTo>
                  <a:pt x="2168" y="864"/>
                  <a:pt x="2404" y="892"/>
                  <a:pt x="2640" y="920"/>
                </a:cubicBezTo>
              </a:path>
            </a:pathLst>
          </a:custGeom>
          <a:noFill/>
          <a:ln w="28575" cmpd="sng">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21" name="Freeform 33"/>
          <p:cNvSpPr>
            <a:spLocks/>
          </p:cNvSpPr>
          <p:nvPr/>
        </p:nvSpPr>
        <p:spPr bwMode="auto">
          <a:xfrm>
            <a:off x="1752600" y="3340100"/>
            <a:ext cx="4572000" cy="2146300"/>
          </a:xfrm>
          <a:custGeom>
            <a:avLst/>
            <a:gdLst>
              <a:gd name="T0" fmla="*/ 0 w 2880"/>
              <a:gd name="T1" fmla="*/ 1352 h 1352"/>
              <a:gd name="T2" fmla="*/ 144 w 2880"/>
              <a:gd name="T3" fmla="*/ 488 h 1352"/>
              <a:gd name="T4" fmla="*/ 384 w 2880"/>
              <a:gd name="T5" fmla="*/ 56 h 1352"/>
              <a:gd name="T6" fmla="*/ 624 w 2880"/>
              <a:gd name="T7" fmla="*/ 152 h 1352"/>
              <a:gd name="T8" fmla="*/ 1056 w 2880"/>
              <a:gd name="T9" fmla="*/ 728 h 1352"/>
              <a:gd name="T10" fmla="*/ 1632 w 2880"/>
              <a:gd name="T11" fmla="*/ 1112 h 1352"/>
              <a:gd name="T12" fmla="*/ 2400 w 2880"/>
              <a:gd name="T13" fmla="*/ 1304 h 1352"/>
              <a:gd name="T14" fmla="*/ 2880 w 2880"/>
              <a:gd name="T15" fmla="*/ 1352 h 13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80" h="1352">
                <a:moveTo>
                  <a:pt x="0" y="1352"/>
                </a:moveTo>
                <a:cubicBezTo>
                  <a:pt x="40" y="1028"/>
                  <a:pt x="80" y="704"/>
                  <a:pt x="144" y="488"/>
                </a:cubicBezTo>
                <a:cubicBezTo>
                  <a:pt x="208" y="272"/>
                  <a:pt x="304" y="112"/>
                  <a:pt x="384" y="56"/>
                </a:cubicBezTo>
                <a:cubicBezTo>
                  <a:pt x="464" y="0"/>
                  <a:pt x="512" y="40"/>
                  <a:pt x="624" y="152"/>
                </a:cubicBezTo>
                <a:cubicBezTo>
                  <a:pt x="736" y="264"/>
                  <a:pt x="888" y="568"/>
                  <a:pt x="1056" y="728"/>
                </a:cubicBezTo>
                <a:cubicBezTo>
                  <a:pt x="1224" y="888"/>
                  <a:pt x="1408" y="1016"/>
                  <a:pt x="1632" y="1112"/>
                </a:cubicBezTo>
                <a:cubicBezTo>
                  <a:pt x="1856" y="1208"/>
                  <a:pt x="2192" y="1264"/>
                  <a:pt x="2400" y="1304"/>
                </a:cubicBezTo>
                <a:cubicBezTo>
                  <a:pt x="2608" y="1344"/>
                  <a:pt x="2744" y="1348"/>
                  <a:pt x="2880" y="1352"/>
                </a:cubicBezTo>
              </a:path>
            </a:pathLst>
          </a:custGeom>
          <a:noFill/>
          <a:ln w="28575"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23" name="Freeform 35"/>
          <p:cNvSpPr>
            <a:spLocks/>
          </p:cNvSpPr>
          <p:nvPr/>
        </p:nvSpPr>
        <p:spPr bwMode="auto">
          <a:xfrm>
            <a:off x="1752600" y="2806700"/>
            <a:ext cx="5867400" cy="2679700"/>
          </a:xfrm>
          <a:custGeom>
            <a:avLst/>
            <a:gdLst>
              <a:gd name="T0" fmla="*/ 0 w 3696"/>
              <a:gd name="T1" fmla="*/ 1688 h 1688"/>
              <a:gd name="T2" fmla="*/ 144 w 3696"/>
              <a:gd name="T3" fmla="*/ 824 h 1688"/>
              <a:gd name="T4" fmla="*/ 288 w 3696"/>
              <a:gd name="T5" fmla="*/ 344 h 1688"/>
              <a:gd name="T6" fmla="*/ 576 w 3696"/>
              <a:gd name="T7" fmla="*/ 8 h 1688"/>
              <a:gd name="T8" fmla="*/ 1152 w 3696"/>
              <a:gd name="T9" fmla="*/ 392 h 1688"/>
              <a:gd name="T10" fmla="*/ 1872 w 3696"/>
              <a:gd name="T11" fmla="*/ 968 h 1688"/>
              <a:gd name="T12" fmla="*/ 2400 w 3696"/>
              <a:gd name="T13" fmla="*/ 1256 h 1688"/>
              <a:gd name="T14" fmla="*/ 3072 w 3696"/>
              <a:gd name="T15" fmla="*/ 1496 h 1688"/>
              <a:gd name="T16" fmla="*/ 3696 w 3696"/>
              <a:gd name="T17" fmla="*/ 1592 h 1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96" h="1688">
                <a:moveTo>
                  <a:pt x="0" y="1688"/>
                </a:moveTo>
                <a:cubicBezTo>
                  <a:pt x="48" y="1368"/>
                  <a:pt x="96" y="1048"/>
                  <a:pt x="144" y="824"/>
                </a:cubicBezTo>
                <a:cubicBezTo>
                  <a:pt x="192" y="600"/>
                  <a:pt x="216" y="480"/>
                  <a:pt x="288" y="344"/>
                </a:cubicBezTo>
                <a:cubicBezTo>
                  <a:pt x="360" y="208"/>
                  <a:pt x="432" y="0"/>
                  <a:pt x="576" y="8"/>
                </a:cubicBezTo>
                <a:cubicBezTo>
                  <a:pt x="720" y="16"/>
                  <a:pt x="936" y="232"/>
                  <a:pt x="1152" y="392"/>
                </a:cubicBezTo>
                <a:cubicBezTo>
                  <a:pt x="1368" y="552"/>
                  <a:pt x="1664" y="824"/>
                  <a:pt x="1872" y="968"/>
                </a:cubicBezTo>
                <a:cubicBezTo>
                  <a:pt x="2080" y="1112"/>
                  <a:pt x="2200" y="1168"/>
                  <a:pt x="2400" y="1256"/>
                </a:cubicBezTo>
                <a:cubicBezTo>
                  <a:pt x="2600" y="1344"/>
                  <a:pt x="2856" y="1440"/>
                  <a:pt x="3072" y="1496"/>
                </a:cubicBezTo>
                <a:cubicBezTo>
                  <a:pt x="3288" y="1552"/>
                  <a:pt x="3492" y="1572"/>
                  <a:pt x="3696" y="1592"/>
                </a:cubicBezTo>
              </a:path>
            </a:pathLst>
          </a:custGeom>
          <a:noFill/>
          <a:ln w="28575" cmpd="sng">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24" name="Freeform 36"/>
          <p:cNvSpPr>
            <a:spLocks/>
          </p:cNvSpPr>
          <p:nvPr/>
        </p:nvSpPr>
        <p:spPr bwMode="auto">
          <a:xfrm>
            <a:off x="1752600" y="2057400"/>
            <a:ext cx="5867400" cy="3429000"/>
          </a:xfrm>
          <a:custGeom>
            <a:avLst/>
            <a:gdLst>
              <a:gd name="T0" fmla="*/ 0 w 3696"/>
              <a:gd name="T1" fmla="*/ 2224 h 2224"/>
              <a:gd name="T2" fmla="*/ 96 w 3696"/>
              <a:gd name="T3" fmla="*/ 1552 h 2224"/>
              <a:gd name="T4" fmla="*/ 288 w 3696"/>
              <a:gd name="T5" fmla="*/ 688 h 2224"/>
              <a:gd name="T6" fmla="*/ 528 w 3696"/>
              <a:gd name="T7" fmla="*/ 256 h 2224"/>
              <a:gd name="T8" fmla="*/ 912 w 3696"/>
              <a:gd name="T9" fmla="*/ 16 h 2224"/>
              <a:gd name="T10" fmla="*/ 1632 w 3696"/>
              <a:gd name="T11" fmla="*/ 160 h 2224"/>
              <a:gd name="T12" fmla="*/ 2640 w 3696"/>
              <a:gd name="T13" fmla="*/ 400 h 2224"/>
              <a:gd name="T14" fmla="*/ 3696 w 3696"/>
              <a:gd name="T15" fmla="*/ 640 h 22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96" h="2224">
                <a:moveTo>
                  <a:pt x="0" y="2224"/>
                </a:moveTo>
                <a:cubicBezTo>
                  <a:pt x="24" y="2016"/>
                  <a:pt x="48" y="1808"/>
                  <a:pt x="96" y="1552"/>
                </a:cubicBezTo>
                <a:cubicBezTo>
                  <a:pt x="144" y="1296"/>
                  <a:pt x="216" y="904"/>
                  <a:pt x="288" y="688"/>
                </a:cubicBezTo>
                <a:cubicBezTo>
                  <a:pt x="360" y="472"/>
                  <a:pt x="424" y="368"/>
                  <a:pt x="528" y="256"/>
                </a:cubicBezTo>
                <a:cubicBezTo>
                  <a:pt x="632" y="144"/>
                  <a:pt x="728" y="32"/>
                  <a:pt x="912" y="16"/>
                </a:cubicBezTo>
                <a:cubicBezTo>
                  <a:pt x="1096" y="0"/>
                  <a:pt x="1344" y="96"/>
                  <a:pt x="1632" y="160"/>
                </a:cubicBezTo>
                <a:cubicBezTo>
                  <a:pt x="1920" y="224"/>
                  <a:pt x="2296" y="320"/>
                  <a:pt x="2640" y="400"/>
                </a:cubicBezTo>
                <a:cubicBezTo>
                  <a:pt x="2984" y="480"/>
                  <a:pt x="3520" y="600"/>
                  <a:pt x="3696" y="640"/>
                </a:cubicBezTo>
              </a:path>
            </a:pathLst>
          </a:custGeom>
          <a:noFill/>
          <a:ln w="28575" cmpd="sng">
            <a:solidFill>
              <a:srgbClr val="CC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25" name="Freeform 37"/>
          <p:cNvSpPr>
            <a:spLocks/>
          </p:cNvSpPr>
          <p:nvPr/>
        </p:nvSpPr>
        <p:spPr bwMode="auto">
          <a:xfrm>
            <a:off x="1752600" y="2209800"/>
            <a:ext cx="5867400" cy="3276600"/>
          </a:xfrm>
          <a:custGeom>
            <a:avLst/>
            <a:gdLst>
              <a:gd name="T0" fmla="*/ 0 w 3696"/>
              <a:gd name="T1" fmla="*/ 2136 h 2136"/>
              <a:gd name="T2" fmla="*/ 144 w 3696"/>
              <a:gd name="T3" fmla="*/ 1368 h 2136"/>
              <a:gd name="T4" fmla="*/ 528 w 3696"/>
              <a:gd name="T5" fmla="*/ 744 h 2136"/>
              <a:gd name="T6" fmla="*/ 1008 w 3696"/>
              <a:gd name="T7" fmla="*/ 408 h 2136"/>
              <a:gd name="T8" fmla="*/ 1872 w 3696"/>
              <a:gd name="T9" fmla="*/ 168 h 2136"/>
              <a:gd name="T10" fmla="*/ 3168 w 3696"/>
              <a:gd name="T11" fmla="*/ 24 h 2136"/>
              <a:gd name="T12" fmla="*/ 3696 w 3696"/>
              <a:gd name="T13" fmla="*/ 24 h 2136"/>
            </a:gdLst>
            <a:ahLst/>
            <a:cxnLst>
              <a:cxn ang="0">
                <a:pos x="T0" y="T1"/>
              </a:cxn>
              <a:cxn ang="0">
                <a:pos x="T2" y="T3"/>
              </a:cxn>
              <a:cxn ang="0">
                <a:pos x="T4" y="T5"/>
              </a:cxn>
              <a:cxn ang="0">
                <a:pos x="T6" y="T7"/>
              </a:cxn>
              <a:cxn ang="0">
                <a:pos x="T8" y="T9"/>
              </a:cxn>
              <a:cxn ang="0">
                <a:pos x="T10" y="T11"/>
              </a:cxn>
              <a:cxn ang="0">
                <a:pos x="T12" y="T13"/>
              </a:cxn>
            </a:cxnLst>
            <a:rect l="0" t="0" r="r" b="b"/>
            <a:pathLst>
              <a:path w="3696" h="2136">
                <a:moveTo>
                  <a:pt x="0" y="2136"/>
                </a:moveTo>
                <a:cubicBezTo>
                  <a:pt x="28" y="1868"/>
                  <a:pt x="56" y="1600"/>
                  <a:pt x="144" y="1368"/>
                </a:cubicBezTo>
                <a:cubicBezTo>
                  <a:pt x="232" y="1136"/>
                  <a:pt x="384" y="904"/>
                  <a:pt x="528" y="744"/>
                </a:cubicBezTo>
                <a:cubicBezTo>
                  <a:pt x="672" y="584"/>
                  <a:pt x="784" y="504"/>
                  <a:pt x="1008" y="408"/>
                </a:cubicBezTo>
                <a:cubicBezTo>
                  <a:pt x="1232" y="312"/>
                  <a:pt x="1512" y="232"/>
                  <a:pt x="1872" y="168"/>
                </a:cubicBezTo>
                <a:cubicBezTo>
                  <a:pt x="2232" y="104"/>
                  <a:pt x="2864" y="48"/>
                  <a:pt x="3168" y="24"/>
                </a:cubicBezTo>
                <a:cubicBezTo>
                  <a:pt x="3472" y="0"/>
                  <a:pt x="3584" y="12"/>
                  <a:pt x="3696" y="24"/>
                </a:cubicBezTo>
              </a:path>
            </a:pathLst>
          </a:custGeom>
          <a:noFill/>
          <a:ln w="28575" cmpd="sng">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26" name="Freeform 38"/>
          <p:cNvSpPr>
            <a:spLocks/>
          </p:cNvSpPr>
          <p:nvPr/>
        </p:nvSpPr>
        <p:spPr bwMode="auto">
          <a:xfrm>
            <a:off x="1752600" y="1828800"/>
            <a:ext cx="5867400" cy="3657600"/>
          </a:xfrm>
          <a:custGeom>
            <a:avLst/>
            <a:gdLst>
              <a:gd name="T0" fmla="*/ 0 w 3696"/>
              <a:gd name="T1" fmla="*/ 2360 h 2360"/>
              <a:gd name="T2" fmla="*/ 192 w 3696"/>
              <a:gd name="T3" fmla="*/ 1208 h 2360"/>
              <a:gd name="T4" fmla="*/ 384 w 3696"/>
              <a:gd name="T5" fmla="*/ 632 h 2360"/>
              <a:gd name="T6" fmla="*/ 624 w 3696"/>
              <a:gd name="T7" fmla="*/ 248 h 2360"/>
              <a:gd name="T8" fmla="*/ 912 w 3696"/>
              <a:gd name="T9" fmla="*/ 56 h 2360"/>
              <a:gd name="T10" fmla="*/ 1248 w 3696"/>
              <a:gd name="T11" fmla="*/ 8 h 2360"/>
              <a:gd name="T12" fmla="*/ 1968 w 3696"/>
              <a:gd name="T13" fmla="*/ 8 h 2360"/>
              <a:gd name="T14" fmla="*/ 3696 w 3696"/>
              <a:gd name="T15" fmla="*/ 56 h 23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96" h="2360">
                <a:moveTo>
                  <a:pt x="0" y="2360"/>
                </a:moveTo>
                <a:cubicBezTo>
                  <a:pt x="64" y="1928"/>
                  <a:pt x="128" y="1496"/>
                  <a:pt x="192" y="1208"/>
                </a:cubicBezTo>
                <a:cubicBezTo>
                  <a:pt x="256" y="920"/>
                  <a:pt x="312" y="792"/>
                  <a:pt x="384" y="632"/>
                </a:cubicBezTo>
                <a:cubicBezTo>
                  <a:pt x="456" y="472"/>
                  <a:pt x="536" y="344"/>
                  <a:pt x="624" y="248"/>
                </a:cubicBezTo>
                <a:cubicBezTo>
                  <a:pt x="712" y="152"/>
                  <a:pt x="808" y="96"/>
                  <a:pt x="912" y="56"/>
                </a:cubicBezTo>
                <a:cubicBezTo>
                  <a:pt x="1016" y="16"/>
                  <a:pt x="1072" y="16"/>
                  <a:pt x="1248" y="8"/>
                </a:cubicBezTo>
                <a:cubicBezTo>
                  <a:pt x="1424" y="0"/>
                  <a:pt x="1560" y="0"/>
                  <a:pt x="1968" y="8"/>
                </a:cubicBezTo>
                <a:cubicBezTo>
                  <a:pt x="2376" y="16"/>
                  <a:pt x="3036" y="36"/>
                  <a:pt x="3696" y="56"/>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27" name="Text Box 39"/>
          <p:cNvSpPr txBox="1">
            <a:spLocks noChangeArrowheads="1"/>
          </p:cNvSpPr>
          <p:nvPr/>
        </p:nvSpPr>
        <p:spPr bwMode="auto">
          <a:xfrm>
            <a:off x="2667000" y="4648200"/>
            <a:ext cx="114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800">
                <a:solidFill>
                  <a:schemeClr val="folHlink"/>
                </a:solidFill>
                <a:latin typeface="Times New Roman" pitchFamily="18" charset="0"/>
              </a:rPr>
              <a:t>Aloha</a:t>
            </a:r>
          </a:p>
        </p:txBody>
      </p:sp>
      <p:sp>
        <p:nvSpPr>
          <p:cNvPr id="12328" name="Text Box 40"/>
          <p:cNvSpPr txBox="1">
            <a:spLocks noChangeArrowheads="1"/>
          </p:cNvSpPr>
          <p:nvPr/>
        </p:nvSpPr>
        <p:spPr bwMode="auto">
          <a:xfrm>
            <a:off x="3657600" y="4357688"/>
            <a:ext cx="1447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800">
                <a:solidFill>
                  <a:schemeClr val="folHlink"/>
                </a:solidFill>
                <a:latin typeface="Times New Roman" pitchFamily="18" charset="0"/>
              </a:rPr>
              <a:t>Slotted Aloha</a:t>
            </a:r>
          </a:p>
        </p:txBody>
      </p:sp>
      <p:sp>
        <p:nvSpPr>
          <p:cNvPr id="12329" name="Text Box 41"/>
          <p:cNvSpPr txBox="1">
            <a:spLocks noChangeArrowheads="1"/>
          </p:cNvSpPr>
          <p:nvPr/>
        </p:nvSpPr>
        <p:spPr bwMode="auto">
          <a:xfrm>
            <a:off x="4495800" y="3581400"/>
            <a:ext cx="1981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800">
                <a:solidFill>
                  <a:schemeClr val="folHlink"/>
                </a:solidFill>
                <a:latin typeface="Times New Roman" pitchFamily="18" charset="0"/>
              </a:rPr>
              <a:t>1-persistent CSMA</a:t>
            </a:r>
          </a:p>
        </p:txBody>
      </p:sp>
      <p:sp>
        <p:nvSpPr>
          <p:cNvPr id="12330" name="Line 42"/>
          <p:cNvSpPr>
            <a:spLocks noChangeShapeType="1"/>
          </p:cNvSpPr>
          <p:nvPr/>
        </p:nvSpPr>
        <p:spPr bwMode="auto">
          <a:xfrm flipH="1">
            <a:off x="3429000" y="4572000"/>
            <a:ext cx="3048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31" name="Line 43"/>
          <p:cNvSpPr>
            <a:spLocks noChangeShapeType="1"/>
          </p:cNvSpPr>
          <p:nvPr/>
        </p:nvSpPr>
        <p:spPr bwMode="auto">
          <a:xfrm flipH="1">
            <a:off x="3352800" y="3810000"/>
            <a:ext cx="11430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32" name="Line 44"/>
          <p:cNvSpPr>
            <a:spLocks noChangeShapeType="1"/>
          </p:cNvSpPr>
          <p:nvPr/>
        </p:nvSpPr>
        <p:spPr bwMode="auto">
          <a:xfrm flipH="1">
            <a:off x="2438400" y="4800600"/>
            <a:ext cx="3048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33" name="Text Box 45"/>
          <p:cNvSpPr txBox="1">
            <a:spLocks noChangeArrowheads="1"/>
          </p:cNvSpPr>
          <p:nvPr/>
        </p:nvSpPr>
        <p:spPr bwMode="auto">
          <a:xfrm>
            <a:off x="4038600" y="3124200"/>
            <a:ext cx="2133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800">
                <a:solidFill>
                  <a:schemeClr val="folHlink"/>
                </a:solidFill>
                <a:latin typeface="Times New Roman" pitchFamily="18" charset="0"/>
              </a:rPr>
              <a:t>0.5-persistent CSMA</a:t>
            </a:r>
          </a:p>
        </p:txBody>
      </p:sp>
      <p:sp>
        <p:nvSpPr>
          <p:cNvPr id="12334" name="Line 46"/>
          <p:cNvSpPr>
            <a:spLocks noChangeShapeType="1"/>
          </p:cNvSpPr>
          <p:nvPr/>
        </p:nvSpPr>
        <p:spPr bwMode="auto">
          <a:xfrm flipH="1">
            <a:off x="3581400" y="3276600"/>
            <a:ext cx="4572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35" name="Text Box 47"/>
          <p:cNvSpPr txBox="1">
            <a:spLocks noChangeArrowheads="1"/>
          </p:cNvSpPr>
          <p:nvPr/>
        </p:nvSpPr>
        <p:spPr bwMode="auto">
          <a:xfrm>
            <a:off x="3962400" y="2757488"/>
            <a:ext cx="213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800">
                <a:solidFill>
                  <a:schemeClr val="folHlink"/>
                </a:solidFill>
                <a:latin typeface="Times New Roman" pitchFamily="18" charset="0"/>
              </a:rPr>
              <a:t>0.1-persistent CSMA</a:t>
            </a:r>
          </a:p>
        </p:txBody>
      </p:sp>
      <p:sp>
        <p:nvSpPr>
          <p:cNvPr id="12336" name="Text Box 48"/>
          <p:cNvSpPr txBox="1">
            <a:spLocks noChangeArrowheads="1"/>
          </p:cNvSpPr>
          <p:nvPr/>
        </p:nvSpPr>
        <p:spPr bwMode="auto">
          <a:xfrm>
            <a:off x="5334000" y="1538288"/>
            <a:ext cx="2362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800">
                <a:solidFill>
                  <a:schemeClr val="folHlink"/>
                </a:solidFill>
                <a:latin typeface="Times New Roman" pitchFamily="18" charset="0"/>
              </a:rPr>
              <a:t>0.01-persistent CSMA</a:t>
            </a:r>
          </a:p>
        </p:txBody>
      </p:sp>
      <p:sp>
        <p:nvSpPr>
          <p:cNvPr id="12337" name="Text Box 49"/>
          <p:cNvSpPr txBox="1">
            <a:spLocks noChangeArrowheads="1"/>
          </p:cNvSpPr>
          <p:nvPr/>
        </p:nvSpPr>
        <p:spPr bwMode="auto">
          <a:xfrm>
            <a:off x="5410200" y="1919288"/>
            <a:ext cx="2362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800">
                <a:solidFill>
                  <a:schemeClr val="folHlink"/>
                </a:solidFill>
                <a:latin typeface="Times New Roman" pitchFamily="18" charset="0"/>
              </a:rPr>
              <a:t>Nonpersistent CSMA</a:t>
            </a:r>
          </a:p>
        </p:txBody>
      </p:sp>
      <p:sp>
        <p:nvSpPr>
          <p:cNvPr id="12338" name="Line 50"/>
          <p:cNvSpPr>
            <a:spLocks noChangeShapeType="1"/>
          </p:cNvSpPr>
          <p:nvPr/>
        </p:nvSpPr>
        <p:spPr bwMode="auto">
          <a:xfrm flipV="1">
            <a:off x="6019800" y="2743200"/>
            <a:ext cx="3048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39" name="Line 51"/>
          <p:cNvSpPr>
            <a:spLocks noChangeShapeType="1"/>
          </p:cNvSpPr>
          <p:nvPr/>
        </p:nvSpPr>
        <p:spPr bwMode="auto">
          <a:xfrm>
            <a:off x="1752600" y="167640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40" name="Line 52"/>
          <p:cNvSpPr>
            <a:spLocks noChangeShapeType="1"/>
          </p:cNvSpPr>
          <p:nvPr/>
        </p:nvSpPr>
        <p:spPr bwMode="auto">
          <a:xfrm>
            <a:off x="7620000" y="54102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8368928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FD61124A-6FD1-47B4-B4A1-A9978416C3A3}" type="slidenum">
              <a:rPr lang="en-US">
                <a:solidFill>
                  <a:srgbClr val="1C1C1C"/>
                </a:solidFill>
              </a:rPr>
              <a:pPr/>
              <a:t>63</a:t>
            </a:fld>
            <a:endParaRPr lang="en-US">
              <a:solidFill>
                <a:srgbClr val="1C1C1C"/>
              </a:solidFill>
            </a:endParaRPr>
          </a:p>
        </p:txBody>
      </p:sp>
      <p:sp>
        <p:nvSpPr>
          <p:cNvPr id="1102850"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02851"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02852" name="Text Box 4"/>
          <p:cNvSpPr txBox="1">
            <a:spLocks noChangeArrowheads="1"/>
          </p:cNvSpPr>
          <p:nvPr/>
        </p:nvSpPr>
        <p:spPr bwMode="auto">
          <a:xfrm>
            <a:off x="304800" y="381000"/>
            <a:ext cx="5848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12.12  </a:t>
            </a:r>
            <a:r>
              <a:rPr lang="en-US" sz="2000" b="1" i="1">
                <a:solidFill>
                  <a:srgbClr val="000000"/>
                </a:solidFill>
                <a:latin typeface="Times New Roman" pitchFamily="18" charset="0"/>
              </a:rPr>
              <a:t>Collision of the first bit in CSMA/CD</a:t>
            </a:r>
          </a:p>
        </p:txBody>
      </p:sp>
      <p:sp>
        <p:nvSpPr>
          <p:cNvPr id="1102853"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0285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 y="2033588"/>
            <a:ext cx="9058275" cy="2614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57354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F121AB5A-A62A-446F-A865-946FC2EDCDEE}" type="slidenum">
              <a:rPr lang="en-US">
                <a:solidFill>
                  <a:srgbClr val="1C1C1C"/>
                </a:solidFill>
              </a:rPr>
              <a:pPr/>
              <a:t>64</a:t>
            </a:fld>
            <a:endParaRPr lang="en-US">
              <a:solidFill>
                <a:srgbClr val="1C1C1C"/>
              </a:solidFill>
            </a:endParaRPr>
          </a:p>
        </p:txBody>
      </p:sp>
      <p:sp>
        <p:nvSpPr>
          <p:cNvPr id="1104898"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04899"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04900" name="Text Box 4"/>
          <p:cNvSpPr txBox="1">
            <a:spLocks noChangeArrowheads="1"/>
          </p:cNvSpPr>
          <p:nvPr/>
        </p:nvSpPr>
        <p:spPr bwMode="auto">
          <a:xfrm>
            <a:off x="304800" y="381000"/>
            <a:ext cx="57054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12.13 </a:t>
            </a:r>
            <a:r>
              <a:rPr lang="en-US" sz="2000" b="1" i="1">
                <a:solidFill>
                  <a:srgbClr val="000000"/>
                </a:solidFill>
                <a:latin typeface="Times New Roman" pitchFamily="18" charset="0"/>
              </a:rPr>
              <a:t>Collision and abortion in CSMA/CD</a:t>
            </a:r>
            <a:endParaRPr lang="en-US" sz="3200" baseline="-18000">
              <a:solidFill>
                <a:srgbClr val="000000"/>
              </a:solidFill>
              <a:latin typeface="Arial" charset="0"/>
            </a:endParaRPr>
          </a:p>
          <a:p>
            <a:pPr eaLnBrk="0" fontAlgn="base" hangingPunct="0">
              <a:spcBef>
                <a:spcPct val="0"/>
              </a:spcBef>
              <a:spcAft>
                <a:spcPct val="0"/>
              </a:spcAft>
            </a:pPr>
            <a:endParaRPr lang="en-US" sz="2000" b="1" i="1">
              <a:solidFill>
                <a:srgbClr val="000000"/>
              </a:solidFill>
              <a:latin typeface="Times New Roman" pitchFamily="18" charset="0"/>
            </a:endParaRPr>
          </a:p>
        </p:txBody>
      </p:sp>
      <p:sp>
        <p:nvSpPr>
          <p:cNvPr id="1104901"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0490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 y="2081213"/>
            <a:ext cx="8994775" cy="294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31950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solidFill>
                  <a:srgbClr val="1C1C1C"/>
                </a:solidFill>
              </a:rPr>
              <a:t>12.</a:t>
            </a:r>
            <a:fld id="{0C8A5C57-8D1A-4B5B-B64A-DCD71B5BA96E}" type="slidenum">
              <a:rPr lang="en-US">
                <a:solidFill>
                  <a:srgbClr val="1C1C1C"/>
                </a:solidFill>
              </a:rPr>
              <a:pPr/>
              <a:t>65</a:t>
            </a:fld>
            <a:endParaRPr lang="en-US">
              <a:solidFill>
                <a:srgbClr val="1C1C1C"/>
              </a:solidFill>
            </a:endParaRPr>
          </a:p>
        </p:txBody>
      </p:sp>
      <p:sp>
        <p:nvSpPr>
          <p:cNvPr id="1170434"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043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0436"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043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043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0439"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044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0441" name="Rectangle 9"/>
          <p:cNvSpPr>
            <a:spLocks noChangeArrowheads="1"/>
          </p:cNvSpPr>
          <p:nvPr/>
        </p:nvSpPr>
        <p:spPr bwMode="auto">
          <a:xfrm>
            <a:off x="228600" y="973138"/>
            <a:ext cx="8686800" cy="22272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000000"/>
                </a:solidFill>
                <a:latin typeface="Times New Roman" pitchFamily="18" charset="0"/>
              </a:rPr>
              <a:t>A network using CSMA/CD has a bandwidth of 10 Mbps. If the maximum propagation time (including the delays in the devices and ignoring the time needed to send a jamming signal, as we see later) is 25.6 μs, what is the minimum size of the frame?</a:t>
            </a:r>
          </a:p>
        </p:txBody>
      </p:sp>
      <p:sp>
        <p:nvSpPr>
          <p:cNvPr id="1170442" name="Text Box 10"/>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12.5</a:t>
            </a:r>
          </a:p>
        </p:txBody>
      </p:sp>
      <p:sp>
        <p:nvSpPr>
          <p:cNvPr id="1170443" name="Rectangle 11"/>
          <p:cNvSpPr>
            <a:spLocks noChangeArrowheads="1"/>
          </p:cNvSpPr>
          <p:nvPr/>
        </p:nvSpPr>
        <p:spPr bwMode="auto">
          <a:xfrm>
            <a:off x="152400" y="3276600"/>
            <a:ext cx="8686800" cy="30813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dirty="0">
                <a:solidFill>
                  <a:srgbClr val="FF0000"/>
                </a:solidFill>
                <a:latin typeface="Times New Roman" pitchFamily="18" charset="0"/>
              </a:rPr>
              <a:t>Solution</a:t>
            </a:r>
          </a:p>
          <a:p>
            <a:pPr algn="just" eaLnBrk="0" fontAlgn="base" hangingPunct="0">
              <a:spcBef>
                <a:spcPct val="0"/>
              </a:spcBef>
              <a:spcAft>
                <a:spcPct val="0"/>
              </a:spcAft>
            </a:pPr>
            <a:r>
              <a:rPr lang="en-US" sz="2800" b="1" i="1" dirty="0">
                <a:solidFill>
                  <a:srgbClr val="000000"/>
                </a:solidFill>
                <a:latin typeface="Times New Roman" pitchFamily="18" charset="0"/>
              </a:rPr>
              <a:t>The frame transmission time is </a:t>
            </a:r>
            <a:r>
              <a:rPr lang="en-US" sz="2800" b="1" i="1" dirty="0" err="1">
                <a:solidFill>
                  <a:srgbClr val="000000"/>
                </a:solidFill>
                <a:latin typeface="Times New Roman" pitchFamily="18" charset="0"/>
              </a:rPr>
              <a:t>T</a:t>
            </a:r>
            <a:r>
              <a:rPr lang="en-US" sz="2800" b="1" i="1" baseline="-16000" dirty="0" err="1">
                <a:solidFill>
                  <a:srgbClr val="000000"/>
                </a:solidFill>
                <a:latin typeface="Times New Roman" pitchFamily="18" charset="0"/>
              </a:rPr>
              <a:t>fr</a:t>
            </a:r>
            <a:r>
              <a:rPr lang="en-US" sz="2800" b="1" i="1" dirty="0">
                <a:solidFill>
                  <a:srgbClr val="000000"/>
                </a:solidFill>
                <a:latin typeface="Times New Roman" pitchFamily="18" charset="0"/>
              </a:rPr>
              <a:t> = 2 × T</a:t>
            </a:r>
            <a:r>
              <a:rPr lang="en-US" sz="2800" b="1" i="1" baseline="-14000" dirty="0">
                <a:solidFill>
                  <a:srgbClr val="000000"/>
                </a:solidFill>
                <a:latin typeface="Times New Roman" pitchFamily="18" charset="0"/>
              </a:rPr>
              <a:t>p</a:t>
            </a:r>
            <a:r>
              <a:rPr lang="en-US" sz="2800" b="1" i="1" dirty="0">
                <a:solidFill>
                  <a:srgbClr val="000000"/>
                </a:solidFill>
                <a:latin typeface="Times New Roman" pitchFamily="18" charset="0"/>
              </a:rPr>
              <a:t> = 51.2 </a:t>
            </a:r>
            <a:r>
              <a:rPr lang="en-US" sz="2800" b="1" i="1" dirty="0" err="1">
                <a:solidFill>
                  <a:srgbClr val="000000"/>
                </a:solidFill>
                <a:latin typeface="Times New Roman" pitchFamily="18" charset="0"/>
              </a:rPr>
              <a:t>μs</a:t>
            </a:r>
            <a:r>
              <a:rPr lang="en-US" sz="2800" b="1" i="1" dirty="0">
                <a:solidFill>
                  <a:srgbClr val="000000"/>
                </a:solidFill>
                <a:latin typeface="Times New Roman" pitchFamily="18" charset="0"/>
              </a:rPr>
              <a:t>. This means, in the worst case, a station needs to transmit for a period of 51.2 </a:t>
            </a:r>
            <a:r>
              <a:rPr lang="en-US" sz="2800" b="1" i="1" dirty="0" err="1">
                <a:solidFill>
                  <a:srgbClr val="000000"/>
                </a:solidFill>
                <a:latin typeface="Times New Roman" pitchFamily="18" charset="0"/>
              </a:rPr>
              <a:t>μs</a:t>
            </a:r>
            <a:r>
              <a:rPr lang="en-US" sz="2800" b="1" i="1" dirty="0">
                <a:solidFill>
                  <a:srgbClr val="000000"/>
                </a:solidFill>
                <a:latin typeface="Times New Roman" pitchFamily="18" charset="0"/>
              </a:rPr>
              <a:t> to detect the collision. The minimum size of the frame is 10 Mbps × 51.2 </a:t>
            </a:r>
            <a:r>
              <a:rPr lang="en-US" sz="2800" b="1" i="1" dirty="0" err="1">
                <a:solidFill>
                  <a:srgbClr val="000000"/>
                </a:solidFill>
                <a:latin typeface="Times New Roman" pitchFamily="18" charset="0"/>
              </a:rPr>
              <a:t>μs</a:t>
            </a:r>
            <a:r>
              <a:rPr lang="en-US" sz="2800" b="1" i="1" dirty="0">
                <a:solidFill>
                  <a:srgbClr val="000000"/>
                </a:solidFill>
                <a:latin typeface="Times New Roman" pitchFamily="18" charset="0"/>
              </a:rPr>
              <a:t> = 512 bits or 64 bytes. This is actually the minimum size of the frame for Standard Ethernet.</a:t>
            </a:r>
          </a:p>
        </p:txBody>
      </p:sp>
    </p:spTree>
    <p:extLst>
      <p:ext uri="{BB962C8B-B14F-4D97-AF65-F5344CB8AC3E}">
        <p14:creationId xmlns:p14="http://schemas.microsoft.com/office/powerpoint/2010/main" val="2993930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D5DF2485-7D06-4BEA-B70D-18CFAE5B1CE5}" type="slidenum">
              <a:rPr lang="en-US">
                <a:solidFill>
                  <a:srgbClr val="1C1C1C"/>
                </a:solidFill>
              </a:rPr>
              <a:pPr/>
              <a:t>66</a:t>
            </a:fld>
            <a:endParaRPr lang="en-US">
              <a:solidFill>
                <a:srgbClr val="1C1C1C"/>
              </a:solidFill>
            </a:endParaRPr>
          </a:p>
        </p:txBody>
      </p:sp>
      <p:sp>
        <p:nvSpPr>
          <p:cNvPr id="1106946"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06947"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06948" name="Text Box 4"/>
          <p:cNvSpPr txBox="1">
            <a:spLocks noChangeArrowheads="1"/>
          </p:cNvSpPr>
          <p:nvPr/>
        </p:nvSpPr>
        <p:spPr bwMode="auto">
          <a:xfrm>
            <a:off x="304800" y="381000"/>
            <a:ext cx="5387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12.14  </a:t>
            </a:r>
            <a:r>
              <a:rPr lang="en-US" sz="2000" b="1" i="1">
                <a:solidFill>
                  <a:srgbClr val="000000"/>
                </a:solidFill>
                <a:latin typeface="Times New Roman" pitchFamily="18" charset="0"/>
              </a:rPr>
              <a:t>Flow diagram for the CSMA/CD</a:t>
            </a:r>
          </a:p>
        </p:txBody>
      </p:sp>
      <p:sp>
        <p:nvSpPr>
          <p:cNvPr id="1106949"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0695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6813" y="1012825"/>
            <a:ext cx="6297612" cy="508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49336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959BF7F2-AF90-4C73-B6BE-9D48B29129A2}" type="slidenum">
              <a:rPr lang="en-US">
                <a:solidFill>
                  <a:srgbClr val="1C1C1C"/>
                </a:solidFill>
              </a:rPr>
              <a:pPr/>
              <a:t>67</a:t>
            </a:fld>
            <a:endParaRPr lang="en-US">
              <a:solidFill>
                <a:srgbClr val="1C1C1C"/>
              </a:solidFill>
            </a:endParaRPr>
          </a:p>
        </p:txBody>
      </p:sp>
      <p:sp>
        <p:nvSpPr>
          <p:cNvPr id="1108994"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08995"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08996" name="Text Box 4"/>
          <p:cNvSpPr txBox="1">
            <a:spLocks noChangeArrowheads="1"/>
          </p:cNvSpPr>
          <p:nvPr/>
        </p:nvSpPr>
        <p:spPr bwMode="auto">
          <a:xfrm>
            <a:off x="304800" y="381000"/>
            <a:ext cx="7691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12.15  </a:t>
            </a:r>
            <a:r>
              <a:rPr lang="en-US" sz="2000" b="1" i="1">
                <a:solidFill>
                  <a:srgbClr val="000000"/>
                </a:solidFill>
                <a:latin typeface="Times New Roman" pitchFamily="18" charset="0"/>
              </a:rPr>
              <a:t>Energy level during transmission, idleness, or collision</a:t>
            </a:r>
          </a:p>
        </p:txBody>
      </p:sp>
      <p:sp>
        <p:nvSpPr>
          <p:cNvPr id="1108997"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0899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88" y="2378075"/>
            <a:ext cx="7212012" cy="227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983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07B473A1-8988-4D71-B585-B1CE543FA772}" type="slidenum">
              <a:rPr lang="en-US">
                <a:solidFill>
                  <a:srgbClr val="1C1C1C"/>
                </a:solidFill>
              </a:rPr>
              <a:pPr/>
              <a:t>68</a:t>
            </a:fld>
            <a:endParaRPr lang="en-US">
              <a:solidFill>
                <a:srgbClr val="1C1C1C"/>
              </a:solidFill>
            </a:endParaRPr>
          </a:p>
        </p:txBody>
      </p:sp>
      <p:sp>
        <p:nvSpPr>
          <p:cNvPr id="1111042"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11043"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11044" name="Text Box 4"/>
          <p:cNvSpPr txBox="1">
            <a:spLocks noChangeArrowheads="1"/>
          </p:cNvSpPr>
          <p:nvPr/>
        </p:nvSpPr>
        <p:spPr bwMode="auto">
          <a:xfrm>
            <a:off x="304800" y="381000"/>
            <a:ext cx="4175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12.16  </a:t>
            </a:r>
            <a:r>
              <a:rPr lang="en-US" sz="2000" b="1" i="1">
                <a:solidFill>
                  <a:srgbClr val="000000"/>
                </a:solidFill>
                <a:latin typeface="Times New Roman" pitchFamily="18" charset="0"/>
              </a:rPr>
              <a:t>Timing in CSMA/CA</a:t>
            </a:r>
          </a:p>
        </p:txBody>
      </p:sp>
      <p:sp>
        <p:nvSpPr>
          <p:cNvPr id="1111045"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1104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438400"/>
            <a:ext cx="8510587"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13512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solidFill>
                  <a:srgbClr val="1C1C1C"/>
                </a:solidFill>
              </a:rPr>
              <a:t>12.</a:t>
            </a:r>
            <a:fld id="{EE3BA990-3ACE-400C-B245-087A9DD2CBA7}" type="slidenum">
              <a:rPr lang="en-US">
                <a:solidFill>
                  <a:srgbClr val="1C1C1C"/>
                </a:solidFill>
              </a:rPr>
              <a:pPr/>
              <a:t>69</a:t>
            </a:fld>
            <a:endParaRPr lang="en-US">
              <a:solidFill>
                <a:srgbClr val="1C1C1C"/>
              </a:solidFill>
            </a:endParaRPr>
          </a:p>
        </p:txBody>
      </p:sp>
      <p:sp>
        <p:nvSpPr>
          <p:cNvPr id="1143810"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381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3812"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381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381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3815"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381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3817" name="Line 9"/>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43818" name="Line 10"/>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43819" name="Rectangle 11"/>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base" hangingPunct="0">
              <a:spcBef>
                <a:spcPct val="0"/>
              </a:spcBef>
              <a:spcAft>
                <a:spcPct val="0"/>
              </a:spcAft>
            </a:pPr>
            <a:r>
              <a:rPr lang="en-US" sz="3200" b="1">
                <a:solidFill>
                  <a:srgbClr val="000000"/>
                </a:solidFill>
                <a:latin typeface="Arial" charset="0"/>
              </a:rPr>
              <a:t>In CSMA/CA, the IFS can also be used to define the priority of a station or a frame.</a:t>
            </a:r>
          </a:p>
        </p:txBody>
      </p:sp>
      <p:grpSp>
        <p:nvGrpSpPr>
          <p:cNvPr id="1143820" name="Group 12"/>
          <p:cNvGrpSpPr>
            <a:grpSpLocks/>
          </p:cNvGrpSpPr>
          <p:nvPr/>
        </p:nvGrpSpPr>
        <p:grpSpPr bwMode="auto">
          <a:xfrm>
            <a:off x="457200" y="1981200"/>
            <a:ext cx="1143000" cy="566738"/>
            <a:chOff x="1200" y="1248"/>
            <a:chExt cx="720" cy="357"/>
          </a:xfrm>
        </p:grpSpPr>
        <p:pic>
          <p:nvPicPr>
            <p:cNvPr id="114382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43822"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800" b="1" i="1">
                  <a:solidFill>
                    <a:srgbClr val="FF0000"/>
                  </a:solidFill>
                  <a:latin typeface="Times New Roman" pitchFamily="18" charset="0"/>
                </a:rPr>
                <a:t>Note</a:t>
              </a:r>
            </a:p>
          </p:txBody>
        </p:sp>
      </p:grpSp>
    </p:spTree>
    <p:extLst>
      <p:ext uri="{BB962C8B-B14F-4D97-AF65-F5344CB8AC3E}">
        <p14:creationId xmlns:p14="http://schemas.microsoft.com/office/powerpoint/2010/main" val="11298141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solidFill>
                  <a:srgbClr val="1C1C1C"/>
                </a:solidFill>
              </a:rPr>
              <a:t>12.</a:t>
            </a:r>
            <a:fld id="{76A476D0-CE02-4002-BBDB-339EE31C97B4}" type="slidenum">
              <a:rPr lang="en-US">
                <a:solidFill>
                  <a:srgbClr val="1C1C1C"/>
                </a:solidFill>
              </a:rPr>
              <a:pPr/>
              <a:t>70</a:t>
            </a:fld>
            <a:endParaRPr lang="en-US">
              <a:solidFill>
                <a:srgbClr val="1C1C1C"/>
              </a:solidFill>
            </a:endParaRPr>
          </a:p>
        </p:txBody>
      </p:sp>
      <p:sp>
        <p:nvSpPr>
          <p:cNvPr id="1145858"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585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5860"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586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586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5863"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586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5865" name="Line 9"/>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45866" name="Line 10"/>
          <p:cNvSpPr>
            <a:spLocks noChangeShapeType="1"/>
          </p:cNvSpPr>
          <p:nvPr/>
        </p:nvSpPr>
        <p:spPr bwMode="auto">
          <a:xfrm>
            <a:off x="458788" y="5410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45867" name="Rectangle 11"/>
          <p:cNvSpPr>
            <a:spLocks noChangeArrowheads="1"/>
          </p:cNvSpPr>
          <p:nvPr/>
        </p:nvSpPr>
        <p:spPr bwMode="auto">
          <a:xfrm>
            <a:off x="495300" y="27590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base" hangingPunct="0">
              <a:spcBef>
                <a:spcPct val="0"/>
              </a:spcBef>
              <a:spcAft>
                <a:spcPct val="0"/>
              </a:spcAft>
            </a:pPr>
            <a:r>
              <a:rPr lang="en-US" sz="3200" b="1">
                <a:solidFill>
                  <a:srgbClr val="000000"/>
                </a:solidFill>
                <a:latin typeface="Arial" charset="0"/>
              </a:rPr>
              <a:t>In CSMA/CA, if the station finds the channel busy, it does not restart the timer of the contention window;</a:t>
            </a:r>
          </a:p>
          <a:p>
            <a:pPr algn="ctr" eaLnBrk="0" fontAlgn="base" hangingPunct="0">
              <a:spcBef>
                <a:spcPct val="0"/>
              </a:spcBef>
              <a:spcAft>
                <a:spcPct val="0"/>
              </a:spcAft>
            </a:pPr>
            <a:r>
              <a:rPr lang="en-US" sz="3200" b="1">
                <a:solidFill>
                  <a:srgbClr val="000000"/>
                </a:solidFill>
                <a:latin typeface="Arial" charset="0"/>
              </a:rPr>
              <a:t>it stops the timer and restarts it when the channel becomes idle.</a:t>
            </a:r>
          </a:p>
        </p:txBody>
      </p:sp>
      <p:grpSp>
        <p:nvGrpSpPr>
          <p:cNvPr id="1145868" name="Group 12"/>
          <p:cNvGrpSpPr>
            <a:grpSpLocks/>
          </p:cNvGrpSpPr>
          <p:nvPr/>
        </p:nvGrpSpPr>
        <p:grpSpPr bwMode="auto">
          <a:xfrm>
            <a:off x="457200" y="1981200"/>
            <a:ext cx="1143000" cy="566738"/>
            <a:chOff x="1200" y="1248"/>
            <a:chExt cx="720" cy="357"/>
          </a:xfrm>
        </p:grpSpPr>
        <p:pic>
          <p:nvPicPr>
            <p:cNvPr id="1145869"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45870"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800" b="1" i="1">
                  <a:solidFill>
                    <a:srgbClr val="FF0000"/>
                  </a:solidFill>
                  <a:latin typeface="Times New Roman" pitchFamily="18" charset="0"/>
                </a:rPr>
                <a:t>Note</a:t>
              </a:r>
            </a:p>
          </p:txBody>
        </p:sp>
      </p:grpSp>
    </p:spTree>
    <p:extLst>
      <p:ext uri="{BB962C8B-B14F-4D97-AF65-F5344CB8AC3E}">
        <p14:creationId xmlns:p14="http://schemas.microsoft.com/office/powerpoint/2010/main" val="29092446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B83077DE-16D5-4674-B59A-3F8E1D3F04BC}" type="slidenum">
              <a:rPr lang="en-US">
                <a:solidFill>
                  <a:srgbClr val="1C1C1C"/>
                </a:solidFill>
              </a:rPr>
              <a:pPr/>
              <a:t>71</a:t>
            </a:fld>
            <a:endParaRPr lang="en-US">
              <a:solidFill>
                <a:srgbClr val="1C1C1C"/>
              </a:solidFill>
            </a:endParaRPr>
          </a:p>
        </p:txBody>
      </p:sp>
      <p:sp>
        <p:nvSpPr>
          <p:cNvPr id="1113090"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13091"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13092" name="Text Box 4"/>
          <p:cNvSpPr txBox="1">
            <a:spLocks noChangeArrowheads="1"/>
          </p:cNvSpPr>
          <p:nvPr/>
        </p:nvSpPr>
        <p:spPr bwMode="auto">
          <a:xfrm>
            <a:off x="304800" y="381000"/>
            <a:ext cx="4986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12.17  </a:t>
            </a:r>
            <a:r>
              <a:rPr lang="en-US" sz="2000" b="1" i="1">
                <a:solidFill>
                  <a:srgbClr val="000000"/>
                </a:solidFill>
                <a:latin typeface="Times New Roman" pitchFamily="18" charset="0"/>
              </a:rPr>
              <a:t>Flow diagram for CSMA/CA</a:t>
            </a:r>
          </a:p>
        </p:txBody>
      </p:sp>
      <p:sp>
        <p:nvSpPr>
          <p:cNvPr id="1113093"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13095"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092200"/>
            <a:ext cx="3025775" cy="485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95495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1"/>
          <p:cNvSpPr>
            <a:spLocks noGrp="1"/>
          </p:cNvSpPr>
          <p:nvPr>
            <p:ph type="sldNum" sz="quarter" idx="10"/>
          </p:nvPr>
        </p:nvSpPr>
        <p:spPr/>
        <p:txBody>
          <a:bodyPr/>
          <a:lstStyle/>
          <a:p>
            <a:r>
              <a:rPr lang="en-US">
                <a:solidFill>
                  <a:srgbClr val="1C1C1C"/>
                </a:solidFill>
              </a:rPr>
              <a:t>12.</a:t>
            </a:r>
            <a:fld id="{E470300C-FCC4-482A-BD07-3F470D343404}" type="slidenum">
              <a:rPr lang="en-US">
                <a:solidFill>
                  <a:srgbClr val="1C1C1C"/>
                </a:solidFill>
              </a:rPr>
              <a:pPr/>
              <a:t>72</a:t>
            </a:fld>
            <a:endParaRPr lang="en-US">
              <a:solidFill>
                <a:srgbClr val="1C1C1C"/>
              </a:solidFill>
            </a:endParaRPr>
          </a:p>
        </p:txBody>
      </p:sp>
      <p:sp>
        <p:nvSpPr>
          <p:cNvPr id="1080322"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sz="3200" b="1">
              <a:solidFill>
                <a:srgbClr val="000000"/>
              </a:solidFill>
              <a:effectLst>
                <a:outerShdw blurRad="38100" dist="38100" dir="2700000" algn="tl">
                  <a:srgbClr val="FFFFFF"/>
                </a:outerShdw>
              </a:effectLst>
              <a:latin typeface="Times New Roman" pitchFamily="18" charset="0"/>
            </a:endParaRPr>
          </a:p>
        </p:txBody>
      </p:sp>
      <p:sp>
        <p:nvSpPr>
          <p:cNvPr id="1080323" name="Text Box 3"/>
          <p:cNvSpPr txBox="1">
            <a:spLocks noChangeArrowheads="1"/>
          </p:cNvSpPr>
          <p:nvPr/>
        </p:nvSpPr>
        <p:spPr bwMode="auto">
          <a:xfrm>
            <a:off x="228600" y="406400"/>
            <a:ext cx="58308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a:solidFill>
                  <a:srgbClr val="000000"/>
                </a:solidFill>
                <a:effectLst>
                  <a:outerShdw blurRad="38100" dist="38100" dir="2700000" algn="tl">
                    <a:srgbClr val="C0C0C0"/>
                  </a:outerShdw>
                </a:effectLst>
                <a:latin typeface="Times" pitchFamily="18" charset="0"/>
              </a:rPr>
              <a:t>12-2   CONTROLLED ACCESS</a:t>
            </a:r>
          </a:p>
        </p:txBody>
      </p:sp>
      <p:sp>
        <p:nvSpPr>
          <p:cNvPr id="1080324"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endParaRPr lang="en-US" b="1">
              <a:solidFill>
                <a:srgbClr val="000000"/>
              </a:solidFill>
              <a:latin typeface="Times New Roman" pitchFamily="18" charset="0"/>
            </a:endParaRPr>
          </a:p>
        </p:txBody>
      </p:sp>
      <p:sp>
        <p:nvSpPr>
          <p:cNvPr id="1080325" name="Rectangle 5"/>
          <p:cNvSpPr>
            <a:spLocks noChangeArrowheads="1"/>
          </p:cNvSpPr>
          <p:nvPr/>
        </p:nvSpPr>
        <p:spPr bwMode="auto">
          <a:xfrm>
            <a:off x="304800" y="15240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fontAlgn="base">
              <a:spcBef>
                <a:spcPct val="0"/>
              </a:spcBef>
              <a:spcAft>
                <a:spcPct val="0"/>
              </a:spcAft>
            </a:pPr>
            <a:r>
              <a:rPr lang="en-US" sz="2800" b="1" i="1">
                <a:solidFill>
                  <a:srgbClr val="000000"/>
                </a:solidFill>
                <a:effectLst>
                  <a:outerShdw blurRad="38100" dist="38100" dir="2700000" algn="tl">
                    <a:srgbClr val="C0C0C0"/>
                  </a:outerShdw>
                </a:effectLst>
                <a:latin typeface="Times New Roman" pitchFamily="18" charset="0"/>
              </a:rPr>
              <a:t>In </a:t>
            </a:r>
            <a:r>
              <a:rPr lang="en-US" sz="2800" b="1" i="1">
                <a:solidFill>
                  <a:srgbClr val="FF0000"/>
                </a:solidFill>
                <a:effectLst>
                  <a:outerShdw blurRad="38100" dist="38100" dir="2700000" algn="tl">
                    <a:srgbClr val="C0C0C0"/>
                  </a:outerShdw>
                </a:effectLst>
                <a:latin typeface="Times New Roman" pitchFamily="18" charset="0"/>
              </a:rPr>
              <a:t>controlled access</a:t>
            </a:r>
            <a:r>
              <a:rPr lang="en-US" sz="2800" b="1" i="1">
                <a:solidFill>
                  <a:srgbClr val="000000"/>
                </a:solidFill>
                <a:effectLst>
                  <a:outerShdw blurRad="38100" dist="38100" dir="2700000" algn="tl">
                    <a:srgbClr val="C0C0C0"/>
                  </a:outerShdw>
                </a:effectLst>
                <a:latin typeface="Times New Roman" pitchFamily="18" charset="0"/>
              </a:rPr>
              <a:t>, the stations consult one another to find which station has the right to send. A station cannot send unless it has been authorized by other stations. We discuss three popular controlled-access methods.</a:t>
            </a:r>
          </a:p>
        </p:txBody>
      </p:sp>
      <p:sp>
        <p:nvSpPr>
          <p:cNvPr id="1080326" name="Rectangle 6"/>
          <p:cNvSpPr>
            <a:spLocks noChangeArrowheads="1"/>
          </p:cNvSpPr>
          <p:nvPr/>
        </p:nvSpPr>
        <p:spPr bwMode="auto">
          <a:xfrm>
            <a:off x="304800" y="50482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buClr>
                <a:srgbClr val="000000"/>
              </a:buClr>
              <a:buSzPct val="117000"/>
              <a:buFont typeface="Wingdings" pitchFamily="2" charset="2"/>
              <a:buNone/>
            </a:pPr>
            <a:r>
              <a:rPr lang="en-US" sz="2400" b="1">
                <a:solidFill>
                  <a:srgbClr val="0033CC"/>
                </a:solidFill>
                <a:latin typeface="Times New Roman" pitchFamily="18" charset="0"/>
              </a:rPr>
              <a:t>Reservation</a:t>
            </a:r>
            <a:br>
              <a:rPr lang="fr-FR" sz="2400" b="1">
                <a:solidFill>
                  <a:srgbClr val="0033CC"/>
                </a:solidFill>
                <a:latin typeface="Times New Roman" pitchFamily="18" charset="0"/>
              </a:rPr>
            </a:br>
            <a:r>
              <a:rPr lang="fr-FR" sz="2400" b="1">
                <a:solidFill>
                  <a:srgbClr val="0033CC"/>
                </a:solidFill>
                <a:latin typeface="Times New Roman" pitchFamily="18" charset="0"/>
              </a:rPr>
              <a:t>Polling</a:t>
            </a:r>
            <a:br>
              <a:rPr lang="fr-FR" sz="2400" b="1">
                <a:solidFill>
                  <a:srgbClr val="0033CC"/>
                </a:solidFill>
                <a:latin typeface="Times New Roman" pitchFamily="18" charset="0"/>
              </a:rPr>
            </a:br>
            <a:r>
              <a:rPr lang="en-US" sz="2400" b="1">
                <a:solidFill>
                  <a:srgbClr val="0033CC"/>
                </a:solidFill>
                <a:latin typeface="Times New Roman" pitchFamily="18" charset="0"/>
              </a:rPr>
              <a:t>Token Passing</a:t>
            </a:r>
          </a:p>
        </p:txBody>
      </p:sp>
      <p:sp>
        <p:nvSpPr>
          <p:cNvPr id="1080327" name="Text Box 7"/>
          <p:cNvSpPr txBox="1">
            <a:spLocks noChangeArrowheads="1"/>
          </p:cNvSpPr>
          <p:nvPr/>
        </p:nvSpPr>
        <p:spPr bwMode="auto">
          <a:xfrm>
            <a:off x="317500" y="45720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sz="2800" b="1" i="1" u="sng">
                <a:solidFill>
                  <a:srgbClr val="FF0000"/>
                </a:solidFill>
                <a:effectLst>
                  <a:outerShdw blurRad="38100" dist="38100" dir="2700000" algn="tl">
                    <a:srgbClr val="C0C0C0"/>
                  </a:outerShdw>
                </a:effectLst>
                <a:latin typeface="Times New Roman" pitchFamily="18" charset="0"/>
              </a:rPr>
              <a:t>Topics discussed in this section:</a:t>
            </a:r>
          </a:p>
        </p:txBody>
      </p:sp>
    </p:spTree>
    <p:extLst>
      <p:ext uri="{BB962C8B-B14F-4D97-AF65-F5344CB8AC3E}">
        <p14:creationId xmlns:p14="http://schemas.microsoft.com/office/powerpoint/2010/main" val="24807527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4539C1A1-8C39-4FFD-BFEB-6379E8073A10}" type="slidenum">
              <a:rPr lang="en-US">
                <a:solidFill>
                  <a:srgbClr val="1C1C1C"/>
                </a:solidFill>
              </a:rPr>
              <a:pPr/>
              <a:t>73</a:t>
            </a:fld>
            <a:endParaRPr lang="en-US">
              <a:solidFill>
                <a:srgbClr val="1C1C1C"/>
              </a:solidFill>
            </a:endParaRPr>
          </a:p>
        </p:txBody>
      </p:sp>
      <p:sp>
        <p:nvSpPr>
          <p:cNvPr id="1115138"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15139"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15140" name="Text Box 4"/>
          <p:cNvSpPr txBox="1">
            <a:spLocks noChangeArrowheads="1"/>
          </p:cNvSpPr>
          <p:nvPr/>
        </p:nvSpPr>
        <p:spPr bwMode="auto">
          <a:xfrm>
            <a:off x="304800" y="381000"/>
            <a:ext cx="4764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12.18  </a:t>
            </a:r>
            <a:r>
              <a:rPr lang="en-US" sz="2000" b="1" i="1">
                <a:solidFill>
                  <a:srgbClr val="000000"/>
                </a:solidFill>
                <a:latin typeface="Times New Roman" pitchFamily="18" charset="0"/>
              </a:rPr>
              <a:t>Reservation access method</a:t>
            </a:r>
          </a:p>
        </p:txBody>
      </p:sp>
      <p:sp>
        <p:nvSpPr>
          <p:cNvPr id="1115141"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1514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2514600"/>
            <a:ext cx="78613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49249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C55D2B99-5AEE-49E3-9108-860188AAF017}" type="slidenum">
              <a:rPr lang="en-US">
                <a:solidFill>
                  <a:srgbClr val="1C1C1C"/>
                </a:solidFill>
              </a:rPr>
              <a:pPr/>
              <a:t>74</a:t>
            </a:fld>
            <a:endParaRPr lang="en-US">
              <a:solidFill>
                <a:srgbClr val="1C1C1C"/>
              </a:solidFill>
            </a:endParaRPr>
          </a:p>
        </p:txBody>
      </p:sp>
      <p:sp>
        <p:nvSpPr>
          <p:cNvPr id="1117186"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17187"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17188" name="Text Box 4"/>
          <p:cNvSpPr txBox="1">
            <a:spLocks noChangeArrowheads="1"/>
          </p:cNvSpPr>
          <p:nvPr/>
        </p:nvSpPr>
        <p:spPr bwMode="auto">
          <a:xfrm>
            <a:off x="304800" y="381000"/>
            <a:ext cx="7178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12.19  </a:t>
            </a:r>
            <a:r>
              <a:rPr lang="en-US" sz="2000" b="1" i="1">
                <a:solidFill>
                  <a:srgbClr val="000000"/>
                </a:solidFill>
                <a:latin typeface="Times New Roman" pitchFamily="18" charset="0"/>
              </a:rPr>
              <a:t>Select and poll functions in polling access method</a:t>
            </a:r>
          </a:p>
        </p:txBody>
      </p:sp>
      <p:sp>
        <p:nvSpPr>
          <p:cNvPr id="1117189"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1719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600" y="1951038"/>
            <a:ext cx="8483600" cy="307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95153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F7A1B228-83A7-4014-93EA-5804D9452F27}" type="slidenum">
              <a:rPr lang="en-US">
                <a:solidFill>
                  <a:srgbClr val="1C1C1C"/>
                </a:solidFill>
              </a:rPr>
              <a:pPr/>
              <a:t>75</a:t>
            </a:fld>
            <a:endParaRPr lang="en-US">
              <a:solidFill>
                <a:srgbClr val="1C1C1C"/>
              </a:solidFill>
            </a:endParaRPr>
          </a:p>
        </p:txBody>
      </p:sp>
      <p:sp>
        <p:nvSpPr>
          <p:cNvPr id="1119234"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19235"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19236" name="Text Box 4"/>
          <p:cNvSpPr txBox="1">
            <a:spLocks noChangeArrowheads="1"/>
          </p:cNvSpPr>
          <p:nvPr/>
        </p:nvSpPr>
        <p:spPr bwMode="auto">
          <a:xfrm>
            <a:off x="76200" y="381000"/>
            <a:ext cx="8934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12.20  </a:t>
            </a:r>
            <a:r>
              <a:rPr lang="en-US" sz="2000" b="1" i="1">
                <a:solidFill>
                  <a:srgbClr val="000000"/>
                </a:solidFill>
                <a:latin typeface="Times New Roman" pitchFamily="18" charset="0"/>
              </a:rPr>
              <a:t>Logical ring and physical topology in token-passing access method</a:t>
            </a:r>
          </a:p>
        </p:txBody>
      </p:sp>
      <p:sp>
        <p:nvSpPr>
          <p:cNvPr id="1119237"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1923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136650"/>
            <a:ext cx="7102475" cy="503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0309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1"/>
          <p:cNvSpPr>
            <a:spLocks noGrp="1"/>
          </p:cNvSpPr>
          <p:nvPr>
            <p:ph type="sldNum" sz="quarter" idx="10"/>
          </p:nvPr>
        </p:nvSpPr>
        <p:spPr/>
        <p:txBody>
          <a:bodyPr/>
          <a:lstStyle/>
          <a:p>
            <a:r>
              <a:rPr lang="en-US">
                <a:solidFill>
                  <a:srgbClr val="1C1C1C"/>
                </a:solidFill>
              </a:rPr>
              <a:t>12.</a:t>
            </a:r>
            <a:fld id="{8B8B5EFE-D5EA-41E4-8123-90EEC20F5B70}" type="slidenum">
              <a:rPr lang="en-US">
                <a:solidFill>
                  <a:srgbClr val="1C1C1C"/>
                </a:solidFill>
              </a:rPr>
              <a:pPr/>
              <a:t>76</a:t>
            </a:fld>
            <a:endParaRPr lang="en-US">
              <a:solidFill>
                <a:srgbClr val="1C1C1C"/>
              </a:solidFill>
            </a:endParaRPr>
          </a:p>
        </p:txBody>
      </p:sp>
      <p:sp>
        <p:nvSpPr>
          <p:cNvPr id="1082370"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sz="3200" b="1">
              <a:solidFill>
                <a:srgbClr val="000000"/>
              </a:solidFill>
              <a:effectLst>
                <a:outerShdw blurRad="38100" dist="38100" dir="2700000" algn="tl">
                  <a:srgbClr val="FFFFFF"/>
                </a:outerShdw>
              </a:effectLst>
              <a:latin typeface="Times New Roman" pitchFamily="18" charset="0"/>
            </a:endParaRPr>
          </a:p>
        </p:txBody>
      </p:sp>
      <p:sp>
        <p:nvSpPr>
          <p:cNvPr id="1082371" name="Text Box 3"/>
          <p:cNvSpPr txBox="1">
            <a:spLocks noChangeArrowheads="1"/>
          </p:cNvSpPr>
          <p:nvPr/>
        </p:nvSpPr>
        <p:spPr bwMode="auto">
          <a:xfrm>
            <a:off x="228600" y="406400"/>
            <a:ext cx="50307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a:solidFill>
                  <a:srgbClr val="000000"/>
                </a:solidFill>
                <a:effectLst>
                  <a:outerShdw blurRad="38100" dist="38100" dir="2700000" algn="tl">
                    <a:srgbClr val="C0C0C0"/>
                  </a:outerShdw>
                </a:effectLst>
                <a:latin typeface="Times" pitchFamily="18" charset="0"/>
              </a:rPr>
              <a:t>12-3   CHANNELIZATION</a:t>
            </a:r>
          </a:p>
        </p:txBody>
      </p:sp>
      <p:sp>
        <p:nvSpPr>
          <p:cNvPr id="1082372"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endParaRPr lang="en-US" b="1">
              <a:solidFill>
                <a:srgbClr val="000000"/>
              </a:solidFill>
              <a:latin typeface="Times New Roman" pitchFamily="18" charset="0"/>
            </a:endParaRPr>
          </a:p>
        </p:txBody>
      </p:sp>
      <p:sp>
        <p:nvSpPr>
          <p:cNvPr id="1082373" name="Rectangle 5"/>
          <p:cNvSpPr>
            <a:spLocks noChangeArrowheads="1"/>
          </p:cNvSpPr>
          <p:nvPr/>
        </p:nvSpPr>
        <p:spPr bwMode="auto">
          <a:xfrm>
            <a:off x="304800" y="15240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fontAlgn="base">
              <a:spcBef>
                <a:spcPct val="0"/>
              </a:spcBef>
              <a:spcAft>
                <a:spcPct val="0"/>
              </a:spcAft>
            </a:pPr>
            <a:r>
              <a:rPr lang="en-US" sz="2800" b="1" i="1">
                <a:solidFill>
                  <a:srgbClr val="FF0000"/>
                </a:solidFill>
                <a:effectLst>
                  <a:outerShdw blurRad="38100" dist="38100" dir="2700000" algn="tl">
                    <a:srgbClr val="C0C0C0"/>
                  </a:outerShdw>
                </a:effectLst>
                <a:latin typeface="Times New Roman" pitchFamily="18" charset="0"/>
              </a:rPr>
              <a:t>Channelization</a:t>
            </a:r>
            <a:r>
              <a:rPr lang="en-US" sz="2800" b="1" i="1">
                <a:solidFill>
                  <a:srgbClr val="000000"/>
                </a:solidFill>
                <a:effectLst>
                  <a:outerShdw blurRad="38100" dist="38100" dir="2700000" algn="tl">
                    <a:srgbClr val="C0C0C0"/>
                  </a:outerShdw>
                </a:effectLst>
                <a:latin typeface="Times New Roman" pitchFamily="18" charset="0"/>
              </a:rPr>
              <a:t> is a multiple-access method in which the available bandwidth of a link is shared in time, frequency, or through code, between different stations. In this section, we discuss three channelization protocols.</a:t>
            </a:r>
          </a:p>
        </p:txBody>
      </p:sp>
      <p:sp>
        <p:nvSpPr>
          <p:cNvPr id="1082374" name="Rectangle 6"/>
          <p:cNvSpPr>
            <a:spLocks noChangeArrowheads="1"/>
          </p:cNvSpPr>
          <p:nvPr/>
        </p:nvSpPr>
        <p:spPr bwMode="auto">
          <a:xfrm>
            <a:off x="304800" y="47434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buClr>
                <a:srgbClr val="000000"/>
              </a:buClr>
              <a:buSzPct val="117000"/>
              <a:buFont typeface="Wingdings" pitchFamily="2" charset="2"/>
              <a:buNone/>
            </a:pPr>
            <a:r>
              <a:rPr lang="en-US" sz="2400" b="1">
                <a:solidFill>
                  <a:srgbClr val="0033CC"/>
                </a:solidFill>
                <a:latin typeface="Times New Roman" pitchFamily="18" charset="0"/>
              </a:rPr>
              <a:t>Frequency-Division Multiple Access (FDMA)</a:t>
            </a:r>
            <a:br>
              <a:rPr lang="fr-FR" sz="2400" b="1">
                <a:solidFill>
                  <a:srgbClr val="0033CC"/>
                </a:solidFill>
                <a:latin typeface="Times New Roman" pitchFamily="18" charset="0"/>
              </a:rPr>
            </a:br>
            <a:r>
              <a:rPr lang="fr-FR" sz="2400" b="1">
                <a:solidFill>
                  <a:srgbClr val="0033CC"/>
                </a:solidFill>
                <a:latin typeface="Times New Roman" pitchFamily="18" charset="0"/>
              </a:rPr>
              <a:t>Time-Division Multiple Access (TDMA)</a:t>
            </a:r>
          </a:p>
          <a:p>
            <a:pPr eaLnBrk="0" fontAlgn="base" hangingPunct="0">
              <a:spcBef>
                <a:spcPct val="0"/>
              </a:spcBef>
              <a:spcAft>
                <a:spcPct val="0"/>
              </a:spcAft>
              <a:buClr>
                <a:srgbClr val="000000"/>
              </a:buClr>
              <a:buSzPct val="117000"/>
              <a:buFont typeface="Wingdings" pitchFamily="2" charset="2"/>
              <a:buNone/>
            </a:pPr>
            <a:r>
              <a:rPr lang="fr-FR" sz="2400" b="1">
                <a:solidFill>
                  <a:srgbClr val="0033CC"/>
                </a:solidFill>
                <a:latin typeface="Times New Roman" pitchFamily="18" charset="0"/>
              </a:rPr>
              <a:t>Code-Division Multiple Access (CDMA)</a:t>
            </a:r>
            <a:endParaRPr lang="en-US" sz="2400" b="1">
              <a:solidFill>
                <a:srgbClr val="0033CC"/>
              </a:solidFill>
              <a:latin typeface="Times New Roman" pitchFamily="18" charset="0"/>
            </a:endParaRPr>
          </a:p>
        </p:txBody>
      </p:sp>
      <p:sp>
        <p:nvSpPr>
          <p:cNvPr id="1082375" name="Text Box 7"/>
          <p:cNvSpPr txBox="1">
            <a:spLocks noChangeArrowheads="1"/>
          </p:cNvSpPr>
          <p:nvPr/>
        </p:nvSpPr>
        <p:spPr bwMode="auto">
          <a:xfrm>
            <a:off x="317500" y="42672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sz="2800" b="1" i="1" u="sng">
                <a:solidFill>
                  <a:srgbClr val="FF0000"/>
                </a:solidFill>
                <a:effectLst>
                  <a:outerShdw blurRad="38100" dist="38100" dir="2700000" algn="tl">
                    <a:srgbClr val="C0C0C0"/>
                  </a:outerShdw>
                </a:effectLst>
                <a:latin typeface="Times New Roman" pitchFamily="18" charset="0"/>
              </a:rPr>
              <a:t>Topics discussed in this section:</a:t>
            </a:r>
          </a:p>
        </p:txBody>
      </p:sp>
    </p:spTree>
    <p:extLst>
      <p:ext uri="{BB962C8B-B14F-4D97-AF65-F5344CB8AC3E}">
        <p14:creationId xmlns:p14="http://schemas.microsoft.com/office/powerpoint/2010/main" val="218415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7165FE79-F94E-4305-9067-505A9EBEC046}" type="slidenum">
              <a:rPr lang="en-US">
                <a:solidFill>
                  <a:srgbClr val="1C1C1C"/>
                </a:solidFill>
              </a:rPr>
              <a:pPr/>
              <a:t>77</a:t>
            </a:fld>
            <a:endParaRPr lang="en-US">
              <a:solidFill>
                <a:srgbClr val="1C1C1C"/>
              </a:solidFill>
            </a:endParaRPr>
          </a:p>
        </p:txBody>
      </p:sp>
      <p:sp>
        <p:nvSpPr>
          <p:cNvPr id="1121282"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21283"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21284" name="Text Box 4"/>
          <p:cNvSpPr txBox="1">
            <a:spLocks noChangeArrowheads="1"/>
          </p:cNvSpPr>
          <p:nvPr/>
        </p:nvSpPr>
        <p:spPr bwMode="auto">
          <a:xfrm>
            <a:off x="304800" y="381000"/>
            <a:ext cx="6616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12.21  </a:t>
            </a:r>
            <a:r>
              <a:rPr lang="en-US" sz="2000" b="1" i="1">
                <a:solidFill>
                  <a:srgbClr val="000000"/>
                </a:solidFill>
                <a:latin typeface="Times New Roman" pitchFamily="18" charset="0"/>
              </a:rPr>
              <a:t>Frequency-division multiple access (FDMA)</a:t>
            </a:r>
          </a:p>
        </p:txBody>
      </p:sp>
      <p:sp>
        <p:nvSpPr>
          <p:cNvPr id="1121285"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2128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788" y="1231900"/>
            <a:ext cx="7212012" cy="478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54334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solidFill>
                  <a:srgbClr val="1C1C1C"/>
                </a:solidFill>
              </a:rPr>
              <a:t>12.</a:t>
            </a:r>
            <a:fld id="{E3470C21-2137-47F4-BD09-A12B634636DF}" type="slidenum">
              <a:rPr lang="en-US">
                <a:solidFill>
                  <a:srgbClr val="1C1C1C"/>
                </a:solidFill>
              </a:rPr>
              <a:pPr/>
              <a:t>78</a:t>
            </a:fld>
            <a:endParaRPr lang="en-US">
              <a:solidFill>
                <a:srgbClr val="1C1C1C"/>
              </a:solidFill>
            </a:endParaRPr>
          </a:p>
        </p:txBody>
      </p:sp>
      <p:sp>
        <p:nvSpPr>
          <p:cNvPr id="1149954"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995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9956"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995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995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9959"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996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49961" name="Line 9"/>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49962" name="Line 10"/>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49963" name="Rectangle 11"/>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base" hangingPunct="0">
              <a:spcBef>
                <a:spcPct val="0"/>
              </a:spcBef>
              <a:spcAft>
                <a:spcPct val="0"/>
              </a:spcAft>
            </a:pPr>
            <a:r>
              <a:rPr lang="en-US" sz="3200" b="1">
                <a:solidFill>
                  <a:srgbClr val="000000"/>
                </a:solidFill>
                <a:latin typeface="Arial" charset="0"/>
              </a:rPr>
              <a:t>In FDMA, the available bandwidth </a:t>
            </a:r>
            <a:br>
              <a:rPr lang="en-US" sz="3200" b="1">
                <a:solidFill>
                  <a:srgbClr val="000000"/>
                </a:solidFill>
                <a:latin typeface="Arial" charset="0"/>
              </a:rPr>
            </a:br>
            <a:r>
              <a:rPr lang="en-US" sz="3200" b="1">
                <a:solidFill>
                  <a:srgbClr val="000000"/>
                </a:solidFill>
                <a:latin typeface="Arial" charset="0"/>
              </a:rPr>
              <a:t>of the common channel is divided into bands that are separated by guard bands.</a:t>
            </a:r>
          </a:p>
        </p:txBody>
      </p:sp>
      <p:grpSp>
        <p:nvGrpSpPr>
          <p:cNvPr id="1149964" name="Group 12"/>
          <p:cNvGrpSpPr>
            <a:grpSpLocks/>
          </p:cNvGrpSpPr>
          <p:nvPr/>
        </p:nvGrpSpPr>
        <p:grpSpPr bwMode="auto">
          <a:xfrm>
            <a:off x="457200" y="1981200"/>
            <a:ext cx="1143000" cy="566738"/>
            <a:chOff x="1200" y="1248"/>
            <a:chExt cx="720" cy="357"/>
          </a:xfrm>
        </p:grpSpPr>
        <p:pic>
          <p:nvPicPr>
            <p:cNvPr id="1149965"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49966"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800" b="1" i="1">
                  <a:solidFill>
                    <a:srgbClr val="FF0000"/>
                  </a:solidFill>
                  <a:latin typeface="Times New Roman" pitchFamily="18" charset="0"/>
                </a:rPr>
                <a:t>Note</a:t>
              </a:r>
            </a:p>
          </p:txBody>
        </p:sp>
      </p:grpSp>
    </p:spTree>
    <p:extLst>
      <p:ext uri="{BB962C8B-B14F-4D97-AF65-F5344CB8AC3E}">
        <p14:creationId xmlns:p14="http://schemas.microsoft.com/office/powerpoint/2010/main" val="38376131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DAE2B32E-8367-4EF7-AF63-8568FFFC2464}" type="slidenum">
              <a:rPr lang="en-US">
                <a:solidFill>
                  <a:srgbClr val="1C1C1C"/>
                </a:solidFill>
              </a:rPr>
              <a:pPr/>
              <a:t>79</a:t>
            </a:fld>
            <a:endParaRPr lang="en-US">
              <a:solidFill>
                <a:srgbClr val="1C1C1C"/>
              </a:solidFill>
            </a:endParaRPr>
          </a:p>
        </p:txBody>
      </p:sp>
      <p:sp>
        <p:nvSpPr>
          <p:cNvPr id="1123330"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23331"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23332" name="Text Box 4"/>
          <p:cNvSpPr txBox="1">
            <a:spLocks noChangeArrowheads="1"/>
          </p:cNvSpPr>
          <p:nvPr/>
        </p:nvSpPr>
        <p:spPr bwMode="auto">
          <a:xfrm>
            <a:off x="304800" y="381000"/>
            <a:ext cx="6008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12.22  </a:t>
            </a:r>
            <a:r>
              <a:rPr lang="en-US" sz="2000" b="1" i="1">
                <a:solidFill>
                  <a:srgbClr val="000000"/>
                </a:solidFill>
                <a:latin typeface="Times New Roman" pitchFamily="18" charset="0"/>
              </a:rPr>
              <a:t>Time-division multiple access (TDMA)</a:t>
            </a:r>
          </a:p>
        </p:txBody>
      </p:sp>
      <p:sp>
        <p:nvSpPr>
          <p:cNvPr id="1123333"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2333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43013"/>
            <a:ext cx="7212013" cy="477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66815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solidFill>
                  <a:srgbClr val="1C1C1C"/>
                </a:solidFill>
              </a:rPr>
              <a:t>12.</a:t>
            </a:r>
            <a:fld id="{3126EFEC-8B23-4A34-8105-F818F7213D83}" type="slidenum">
              <a:rPr lang="en-US">
                <a:solidFill>
                  <a:srgbClr val="1C1C1C"/>
                </a:solidFill>
              </a:rPr>
              <a:pPr/>
              <a:t>80</a:t>
            </a:fld>
            <a:endParaRPr lang="en-US">
              <a:solidFill>
                <a:srgbClr val="1C1C1C"/>
              </a:solidFill>
            </a:endParaRPr>
          </a:p>
        </p:txBody>
      </p:sp>
      <p:sp>
        <p:nvSpPr>
          <p:cNvPr id="1152002"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200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2004"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200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200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2007"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200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2009" name="Line 9"/>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52010" name="Line 10"/>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52011" name="Rectangle 11"/>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base" hangingPunct="0">
              <a:spcBef>
                <a:spcPct val="0"/>
              </a:spcBef>
              <a:spcAft>
                <a:spcPct val="0"/>
              </a:spcAft>
            </a:pPr>
            <a:r>
              <a:rPr lang="en-US" sz="3200" b="1">
                <a:solidFill>
                  <a:srgbClr val="000000"/>
                </a:solidFill>
                <a:latin typeface="Arial" charset="0"/>
              </a:rPr>
              <a:t>In TDMA, the bandwidth is just one channel that is timeshared between different stations.</a:t>
            </a:r>
          </a:p>
        </p:txBody>
      </p:sp>
      <p:grpSp>
        <p:nvGrpSpPr>
          <p:cNvPr id="1152012" name="Group 12"/>
          <p:cNvGrpSpPr>
            <a:grpSpLocks/>
          </p:cNvGrpSpPr>
          <p:nvPr/>
        </p:nvGrpSpPr>
        <p:grpSpPr bwMode="auto">
          <a:xfrm>
            <a:off x="457200" y="1981200"/>
            <a:ext cx="1143000" cy="566738"/>
            <a:chOff x="1200" y="1248"/>
            <a:chExt cx="720" cy="357"/>
          </a:xfrm>
        </p:grpSpPr>
        <p:pic>
          <p:nvPicPr>
            <p:cNvPr id="115201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52014"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800" b="1" i="1">
                  <a:solidFill>
                    <a:srgbClr val="FF0000"/>
                  </a:solidFill>
                  <a:latin typeface="Times New Roman" pitchFamily="18" charset="0"/>
                </a:rPr>
                <a:t>Note</a:t>
              </a:r>
            </a:p>
          </p:txBody>
        </p:sp>
      </p:grpSp>
    </p:spTree>
    <p:extLst>
      <p:ext uri="{BB962C8B-B14F-4D97-AF65-F5344CB8AC3E}">
        <p14:creationId xmlns:p14="http://schemas.microsoft.com/office/powerpoint/2010/main" val="36152077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solidFill>
                  <a:srgbClr val="1C1C1C"/>
                </a:solidFill>
              </a:rPr>
              <a:t>12.</a:t>
            </a:r>
            <a:fld id="{82F858F7-8D79-4296-975F-A376612F26C1}" type="slidenum">
              <a:rPr lang="en-US">
                <a:solidFill>
                  <a:srgbClr val="1C1C1C"/>
                </a:solidFill>
              </a:rPr>
              <a:pPr/>
              <a:t>81</a:t>
            </a:fld>
            <a:endParaRPr lang="en-US">
              <a:solidFill>
                <a:srgbClr val="1C1C1C"/>
              </a:solidFill>
            </a:endParaRPr>
          </a:p>
        </p:txBody>
      </p:sp>
      <p:sp>
        <p:nvSpPr>
          <p:cNvPr id="1154050"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405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4052"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405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405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4055"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405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4057" name="Line 9"/>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54058" name="Line 10"/>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54059" name="Rectangle 11"/>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base" hangingPunct="0">
              <a:spcBef>
                <a:spcPct val="0"/>
              </a:spcBef>
              <a:spcAft>
                <a:spcPct val="0"/>
              </a:spcAft>
            </a:pPr>
            <a:r>
              <a:rPr lang="en-US" sz="3200" b="1">
                <a:solidFill>
                  <a:srgbClr val="000000"/>
                </a:solidFill>
                <a:latin typeface="Arial" charset="0"/>
              </a:rPr>
              <a:t>In CDMA, one channel carries all transmissions simultaneously.</a:t>
            </a:r>
          </a:p>
        </p:txBody>
      </p:sp>
      <p:grpSp>
        <p:nvGrpSpPr>
          <p:cNvPr id="1154060" name="Group 12"/>
          <p:cNvGrpSpPr>
            <a:grpSpLocks/>
          </p:cNvGrpSpPr>
          <p:nvPr/>
        </p:nvGrpSpPr>
        <p:grpSpPr bwMode="auto">
          <a:xfrm>
            <a:off x="457200" y="1981200"/>
            <a:ext cx="1143000" cy="566738"/>
            <a:chOff x="1200" y="1248"/>
            <a:chExt cx="720" cy="357"/>
          </a:xfrm>
        </p:grpSpPr>
        <p:pic>
          <p:nvPicPr>
            <p:cNvPr id="115406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54062"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800" b="1" i="1">
                  <a:solidFill>
                    <a:srgbClr val="FF0000"/>
                  </a:solidFill>
                  <a:latin typeface="Times New Roman" pitchFamily="18" charset="0"/>
                </a:rPr>
                <a:t>Note</a:t>
              </a:r>
            </a:p>
          </p:txBody>
        </p:sp>
      </p:grpSp>
    </p:spTree>
    <p:extLst>
      <p:ext uri="{BB962C8B-B14F-4D97-AF65-F5344CB8AC3E}">
        <p14:creationId xmlns:p14="http://schemas.microsoft.com/office/powerpoint/2010/main" val="41132789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FB7E356E-455D-422B-9E8F-102BC9040BCC}" type="slidenum">
              <a:rPr lang="en-US">
                <a:solidFill>
                  <a:srgbClr val="1C1C1C"/>
                </a:solidFill>
              </a:rPr>
              <a:pPr/>
              <a:t>82</a:t>
            </a:fld>
            <a:endParaRPr lang="en-US">
              <a:solidFill>
                <a:srgbClr val="1C1C1C"/>
              </a:solidFill>
            </a:endParaRPr>
          </a:p>
        </p:txBody>
      </p:sp>
      <p:sp>
        <p:nvSpPr>
          <p:cNvPr id="1125378"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25379"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25380" name="Text Box 4"/>
          <p:cNvSpPr txBox="1">
            <a:spLocks noChangeArrowheads="1"/>
          </p:cNvSpPr>
          <p:nvPr/>
        </p:nvSpPr>
        <p:spPr bwMode="auto">
          <a:xfrm>
            <a:off x="304800" y="381000"/>
            <a:ext cx="6207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12.23  </a:t>
            </a:r>
            <a:r>
              <a:rPr lang="en-US" sz="2000" b="1" i="1">
                <a:solidFill>
                  <a:srgbClr val="000000"/>
                </a:solidFill>
                <a:latin typeface="Times New Roman" pitchFamily="18" charset="0"/>
              </a:rPr>
              <a:t>Simple idea of communication with code</a:t>
            </a:r>
          </a:p>
        </p:txBody>
      </p:sp>
      <p:sp>
        <p:nvSpPr>
          <p:cNvPr id="1125381"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2538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1338263"/>
            <a:ext cx="7258050" cy="430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19370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F918DFA6-E007-47CD-B6DF-71C04C1D1263}" type="slidenum">
              <a:rPr lang="en-US">
                <a:solidFill>
                  <a:srgbClr val="1C1C1C"/>
                </a:solidFill>
              </a:rPr>
              <a:pPr/>
              <a:t>83</a:t>
            </a:fld>
            <a:endParaRPr lang="en-US">
              <a:solidFill>
                <a:srgbClr val="1C1C1C"/>
              </a:solidFill>
            </a:endParaRPr>
          </a:p>
        </p:txBody>
      </p:sp>
      <p:sp>
        <p:nvSpPr>
          <p:cNvPr id="1127426"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27427"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27428" name="Text Box 4"/>
          <p:cNvSpPr txBox="1">
            <a:spLocks noChangeArrowheads="1"/>
          </p:cNvSpPr>
          <p:nvPr/>
        </p:nvSpPr>
        <p:spPr bwMode="auto">
          <a:xfrm>
            <a:off x="304800" y="381000"/>
            <a:ext cx="3589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12.24  </a:t>
            </a:r>
            <a:r>
              <a:rPr lang="en-US" sz="2000" b="1" i="1">
                <a:solidFill>
                  <a:srgbClr val="000000"/>
                </a:solidFill>
                <a:latin typeface="Times New Roman" pitchFamily="18" charset="0"/>
              </a:rPr>
              <a:t>Chip sequences</a:t>
            </a:r>
          </a:p>
        </p:txBody>
      </p:sp>
      <p:sp>
        <p:nvSpPr>
          <p:cNvPr id="1127429"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274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870200"/>
            <a:ext cx="87757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2729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7E14B397-5C01-4973-93B6-794AABEEB2C2}" type="slidenum">
              <a:rPr lang="en-US">
                <a:solidFill>
                  <a:srgbClr val="1C1C1C"/>
                </a:solidFill>
              </a:rPr>
              <a:pPr/>
              <a:t>84</a:t>
            </a:fld>
            <a:endParaRPr lang="en-US">
              <a:solidFill>
                <a:srgbClr val="1C1C1C"/>
              </a:solidFill>
            </a:endParaRPr>
          </a:p>
        </p:txBody>
      </p:sp>
      <p:sp>
        <p:nvSpPr>
          <p:cNvPr id="1129474"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29475"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29476" name="Text Box 4"/>
          <p:cNvSpPr txBox="1">
            <a:spLocks noChangeArrowheads="1"/>
          </p:cNvSpPr>
          <p:nvPr/>
        </p:nvSpPr>
        <p:spPr bwMode="auto">
          <a:xfrm>
            <a:off x="304800" y="381000"/>
            <a:ext cx="5126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12.25  </a:t>
            </a:r>
            <a:r>
              <a:rPr lang="en-US" sz="2000" b="1" i="1">
                <a:solidFill>
                  <a:srgbClr val="000000"/>
                </a:solidFill>
                <a:latin typeface="Times New Roman" pitchFamily="18" charset="0"/>
              </a:rPr>
              <a:t>Data representation in CDMA</a:t>
            </a:r>
          </a:p>
        </p:txBody>
      </p:sp>
      <p:sp>
        <p:nvSpPr>
          <p:cNvPr id="1129477"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294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188" y="3016250"/>
            <a:ext cx="8126412"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06419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7DA75822-4A32-431B-92B2-8FA2541AED4A}" type="slidenum">
              <a:rPr lang="en-US">
                <a:solidFill>
                  <a:srgbClr val="1C1C1C"/>
                </a:solidFill>
              </a:rPr>
              <a:pPr/>
              <a:t>85</a:t>
            </a:fld>
            <a:endParaRPr lang="en-US">
              <a:solidFill>
                <a:srgbClr val="1C1C1C"/>
              </a:solidFill>
            </a:endParaRPr>
          </a:p>
        </p:txBody>
      </p:sp>
      <p:sp>
        <p:nvSpPr>
          <p:cNvPr id="1131522"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31523"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31524" name="Text Box 4"/>
          <p:cNvSpPr txBox="1">
            <a:spLocks noChangeArrowheads="1"/>
          </p:cNvSpPr>
          <p:nvPr/>
        </p:nvSpPr>
        <p:spPr bwMode="auto">
          <a:xfrm>
            <a:off x="304800" y="381000"/>
            <a:ext cx="4803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12.26  </a:t>
            </a:r>
            <a:r>
              <a:rPr lang="en-US" sz="2000" b="1" i="1">
                <a:solidFill>
                  <a:srgbClr val="000000"/>
                </a:solidFill>
                <a:latin typeface="Times New Roman" pitchFamily="18" charset="0"/>
              </a:rPr>
              <a:t>Sharing channel in CDMA</a:t>
            </a:r>
          </a:p>
        </p:txBody>
      </p:sp>
      <p:sp>
        <p:nvSpPr>
          <p:cNvPr id="1131525"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3152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8" y="1524000"/>
            <a:ext cx="8729662"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92074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3399DF56-CC65-4AD5-859B-73F8F31EC874}" type="slidenum">
              <a:rPr lang="en-US">
                <a:solidFill>
                  <a:srgbClr val="1C1C1C"/>
                </a:solidFill>
              </a:rPr>
              <a:pPr/>
              <a:t>86</a:t>
            </a:fld>
            <a:endParaRPr lang="en-US">
              <a:solidFill>
                <a:srgbClr val="1C1C1C"/>
              </a:solidFill>
            </a:endParaRPr>
          </a:p>
        </p:txBody>
      </p:sp>
      <p:sp>
        <p:nvSpPr>
          <p:cNvPr id="1133570"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33571"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33572" name="Text Box 4"/>
          <p:cNvSpPr txBox="1">
            <a:spLocks noChangeArrowheads="1"/>
          </p:cNvSpPr>
          <p:nvPr/>
        </p:nvSpPr>
        <p:spPr bwMode="auto">
          <a:xfrm>
            <a:off x="304800" y="381000"/>
            <a:ext cx="6969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12.27  </a:t>
            </a:r>
            <a:r>
              <a:rPr lang="en-US" sz="2000" b="1" i="1">
                <a:solidFill>
                  <a:srgbClr val="000000"/>
                </a:solidFill>
                <a:latin typeface="Times New Roman" pitchFamily="18" charset="0"/>
              </a:rPr>
              <a:t>Digital signal created by four stations in CDMA</a:t>
            </a:r>
          </a:p>
        </p:txBody>
      </p:sp>
      <p:sp>
        <p:nvSpPr>
          <p:cNvPr id="1133573"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3357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400" y="1552575"/>
            <a:ext cx="8026400" cy="423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4122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A19EB949-946E-46DA-9227-6B113CFC575D}" type="slidenum">
              <a:rPr lang="en-US">
                <a:solidFill>
                  <a:srgbClr val="1C1C1C"/>
                </a:solidFill>
              </a:rPr>
              <a:pPr/>
              <a:t>87</a:t>
            </a:fld>
            <a:endParaRPr lang="en-US">
              <a:solidFill>
                <a:srgbClr val="1C1C1C"/>
              </a:solidFill>
            </a:endParaRPr>
          </a:p>
        </p:txBody>
      </p:sp>
      <p:sp>
        <p:nvSpPr>
          <p:cNvPr id="1135618"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35619"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35620" name="Text Box 4"/>
          <p:cNvSpPr txBox="1">
            <a:spLocks noChangeArrowheads="1"/>
          </p:cNvSpPr>
          <p:nvPr/>
        </p:nvSpPr>
        <p:spPr bwMode="auto">
          <a:xfrm>
            <a:off x="304800" y="381000"/>
            <a:ext cx="7331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12.28  </a:t>
            </a:r>
            <a:r>
              <a:rPr lang="en-US" sz="2000" b="1" i="1">
                <a:solidFill>
                  <a:srgbClr val="000000"/>
                </a:solidFill>
                <a:latin typeface="Times New Roman" pitchFamily="18" charset="0"/>
              </a:rPr>
              <a:t>Decoding of the composite signal for one in CDMA</a:t>
            </a:r>
          </a:p>
        </p:txBody>
      </p:sp>
      <p:sp>
        <p:nvSpPr>
          <p:cNvPr id="1135621"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3562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138" y="1301750"/>
            <a:ext cx="7358062" cy="433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31600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solidFill>
                  <a:srgbClr val="1C1C1C"/>
                </a:solidFill>
              </a:rPr>
              <a:t>12.</a:t>
            </a:r>
            <a:fld id="{354E4BA7-2941-4D41-A429-4C760EBC7FBE}" type="slidenum">
              <a:rPr lang="en-US">
                <a:solidFill>
                  <a:srgbClr val="1C1C1C"/>
                </a:solidFill>
              </a:rPr>
              <a:pPr/>
              <a:t>88</a:t>
            </a:fld>
            <a:endParaRPr lang="en-US">
              <a:solidFill>
                <a:srgbClr val="1C1C1C"/>
              </a:solidFill>
            </a:endParaRPr>
          </a:p>
        </p:txBody>
      </p:sp>
      <p:sp>
        <p:nvSpPr>
          <p:cNvPr id="1137666" name="Line 2"/>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37667" name="Line 3"/>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37668" name="Text Box 4"/>
          <p:cNvSpPr txBox="1">
            <a:spLocks noChangeArrowheads="1"/>
          </p:cNvSpPr>
          <p:nvPr/>
        </p:nvSpPr>
        <p:spPr bwMode="auto">
          <a:xfrm>
            <a:off x="304800" y="381000"/>
            <a:ext cx="7377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a:solidFill>
                  <a:srgbClr val="3333CC"/>
                </a:solidFill>
                <a:latin typeface="Times New Roman" pitchFamily="18" charset="0"/>
              </a:rPr>
              <a:t>Figure 12.29  </a:t>
            </a:r>
            <a:r>
              <a:rPr lang="en-US" sz="2000" b="1" i="1">
                <a:solidFill>
                  <a:srgbClr val="000000"/>
                </a:solidFill>
                <a:latin typeface="Times New Roman" pitchFamily="18" charset="0"/>
              </a:rPr>
              <a:t>General rule and examples of creating Walsh tables</a:t>
            </a:r>
          </a:p>
        </p:txBody>
      </p:sp>
      <p:sp>
        <p:nvSpPr>
          <p:cNvPr id="1137669"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pic>
        <p:nvPicPr>
          <p:cNvPr id="113767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0" y="1417638"/>
            <a:ext cx="598805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89496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solidFill>
                  <a:srgbClr val="1C1C1C"/>
                </a:solidFill>
              </a:rPr>
              <a:t>12.</a:t>
            </a:r>
            <a:fld id="{C4891E09-9A5D-428C-AF97-966456B5ECB1}" type="slidenum">
              <a:rPr lang="en-US">
                <a:solidFill>
                  <a:srgbClr val="1C1C1C"/>
                </a:solidFill>
              </a:rPr>
              <a:pPr/>
              <a:t>89</a:t>
            </a:fld>
            <a:endParaRPr lang="en-US">
              <a:solidFill>
                <a:srgbClr val="1C1C1C"/>
              </a:solidFill>
            </a:endParaRPr>
          </a:p>
        </p:txBody>
      </p:sp>
      <p:sp>
        <p:nvSpPr>
          <p:cNvPr id="1156098"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609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6100"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610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610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6103"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610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6105" name="Line 9"/>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56106" name="Line 10"/>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800" b="1" i="1" baseline="-10000">
              <a:solidFill>
                <a:srgbClr val="000000"/>
              </a:solidFill>
              <a:latin typeface="Times New Roman" pitchFamily="18" charset="0"/>
            </a:endParaRPr>
          </a:p>
        </p:txBody>
      </p:sp>
      <p:sp>
        <p:nvSpPr>
          <p:cNvPr id="1156107" name="Rectangle 11"/>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base" hangingPunct="0">
              <a:spcBef>
                <a:spcPct val="0"/>
              </a:spcBef>
              <a:spcAft>
                <a:spcPct val="0"/>
              </a:spcAft>
            </a:pPr>
            <a:r>
              <a:rPr lang="en-US" sz="3200" b="1">
                <a:solidFill>
                  <a:srgbClr val="000000"/>
                </a:solidFill>
                <a:latin typeface="Arial" charset="0"/>
              </a:rPr>
              <a:t>The number of sequences in a Walsh table needs to be N = 2</a:t>
            </a:r>
            <a:r>
              <a:rPr lang="en-US" sz="3200" b="1" baseline="30000">
                <a:solidFill>
                  <a:srgbClr val="000000"/>
                </a:solidFill>
                <a:latin typeface="Arial" charset="0"/>
              </a:rPr>
              <a:t>m</a:t>
            </a:r>
            <a:r>
              <a:rPr lang="en-US" sz="3200" b="1">
                <a:solidFill>
                  <a:srgbClr val="000000"/>
                </a:solidFill>
                <a:latin typeface="Arial" charset="0"/>
              </a:rPr>
              <a:t>.</a:t>
            </a:r>
          </a:p>
        </p:txBody>
      </p:sp>
      <p:grpSp>
        <p:nvGrpSpPr>
          <p:cNvPr id="1156108" name="Group 12"/>
          <p:cNvGrpSpPr>
            <a:grpSpLocks/>
          </p:cNvGrpSpPr>
          <p:nvPr/>
        </p:nvGrpSpPr>
        <p:grpSpPr bwMode="auto">
          <a:xfrm>
            <a:off x="457200" y="1981200"/>
            <a:ext cx="1143000" cy="566738"/>
            <a:chOff x="1200" y="1248"/>
            <a:chExt cx="720" cy="357"/>
          </a:xfrm>
        </p:grpSpPr>
        <p:pic>
          <p:nvPicPr>
            <p:cNvPr id="1156109"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56110" name="Text Box 14"/>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800" b="1" i="1">
                  <a:solidFill>
                    <a:srgbClr val="FF0000"/>
                  </a:solidFill>
                  <a:latin typeface="Times New Roman" pitchFamily="18" charset="0"/>
                </a:rPr>
                <a:t>Note</a:t>
              </a:r>
            </a:p>
          </p:txBody>
        </p:sp>
      </p:grpSp>
    </p:spTree>
    <p:extLst>
      <p:ext uri="{BB962C8B-B14F-4D97-AF65-F5344CB8AC3E}">
        <p14:creationId xmlns:p14="http://schemas.microsoft.com/office/powerpoint/2010/main" val="42329354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solidFill>
                  <a:srgbClr val="1C1C1C"/>
                </a:solidFill>
              </a:rPr>
              <a:t>12.</a:t>
            </a:r>
            <a:fld id="{819A3E4B-53E4-422C-B7F3-91DA8B76FD71}" type="slidenum">
              <a:rPr lang="en-US">
                <a:solidFill>
                  <a:srgbClr val="1C1C1C"/>
                </a:solidFill>
              </a:rPr>
              <a:pPr/>
              <a:t>90</a:t>
            </a:fld>
            <a:endParaRPr lang="en-US">
              <a:solidFill>
                <a:srgbClr val="1C1C1C"/>
              </a:solidFill>
            </a:endParaRPr>
          </a:p>
        </p:txBody>
      </p:sp>
      <p:sp>
        <p:nvSpPr>
          <p:cNvPr id="950274"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95027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950276"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95027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95027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950279"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95028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950281" name="Rectangle 9"/>
          <p:cNvSpPr>
            <a:spLocks noChangeArrowheads="1"/>
          </p:cNvSpPr>
          <p:nvPr/>
        </p:nvSpPr>
        <p:spPr bwMode="auto">
          <a:xfrm>
            <a:off x="228600" y="114300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000000"/>
                </a:solidFill>
                <a:latin typeface="Times New Roman" pitchFamily="18" charset="0"/>
              </a:rPr>
              <a:t>Find the chips for a network with</a:t>
            </a:r>
          </a:p>
          <a:p>
            <a:pPr algn="just" eaLnBrk="0" fontAlgn="base" hangingPunct="0">
              <a:spcBef>
                <a:spcPct val="0"/>
              </a:spcBef>
              <a:spcAft>
                <a:spcPct val="0"/>
              </a:spcAft>
            </a:pPr>
            <a:r>
              <a:rPr lang="en-US" sz="2800" b="1" i="1">
                <a:solidFill>
                  <a:srgbClr val="FF0000"/>
                </a:solidFill>
                <a:latin typeface="Times New Roman" pitchFamily="18" charset="0"/>
              </a:rPr>
              <a:t>a.</a:t>
            </a:r>
            <a:r>
              <a:rPr lang="en-US" sz="2800" b="1" i="1">
                <a:solidFill>
                  <a:srgbClr val="000000"/>
                </a:solidFill>
                <a:latin typeface="Times New Roman" pitchFamily="18" charset="0"/>
              </a:rPr>
              <a:t> Two stations           </a:t>
            </a:r>
            <a:r>
              <a:rPr lang="en-US" sz="2800" b="1" i="1">
                <a:solidFill>
                  <a:srgbClr val="FF0000"/>
                </a:solidFill>
                <a:latin typeface="Times New Roman" pitchFamily="18" charset="0"/>
              </a:rPr>
              <a:t>b.</a:t>
            </a:r>
            <a:r>
              <a:rPr lang="en-US" sz="2800" b="1" i="1">
                <a:solidFill>
                  <a:srgbClr val="000000"/>
                </a:solidFill>
                <a:latin typeface="Times New Roman" pitchFamily="18" charset="0"/>
              </a:rPr>
              <a:t> Four stations</a:t>
            </a:r>
          </a:p>
        </p:txBody>
      </p:sp>
      <p:sp>
        <p:nvSpPr>
          <p:cNvPr id="950283" name="Text Box 11"/>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12.6</a:t>
            </a:r>
          </a:p>
        </p:txBody>
      </p:sp>
      <p:sp>
        <p:nvSpPr>
          <p:cNvPr id="950284" name="Rectangle 12"/>
          <p:cNvSpPr>
            <a:spLocks noChangeArrowheads="1"/>
          </p:cNvSpPr>
          <p:nvPr/>
        </p:nvSpPr>
        <p:spPr bwMode="auto">
          <a:xfrm>
            <a:off x="228600" y="2438400"/>
            <a:ext cx="8686800" cy="3508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en-US" sz="2800" b="1" i="1">
                <a:solidFill>
                  <a:srgbClr val="FF0000"/>
                </a:solidFill>
                <a:latin typeface="Times New Roman" pitchFamily="18" charset="0"/>
              </a:rPr>
              <a:t>Solution</a:t>
            </a:r>
          </a:p>
          <a:p>
            <a:pPr eaLnBrk="0" fontAlgn="base" hangingPunct="0">
              <a:spcBef>
                <a:spcPct val="0"/>
              </a:spcBef>
              <a:spcAft>
                <a:spcPct val="0"/>
              </a:spcAft>
            </a:pPr>
            <a:r>
              <a:rPr lang="en-US" sz="2800" b="1" i="1">
                <a:solidFill>
                  <a:srgbClr val="000000"/>
                </a:solidFill>
                <a:latin typeface="Times New Roman" pitchFamily="18" charset="0"/>
              </a:rPr>
              <a:t>We can use the rows of W</a:t>
            </a:r>
            <a:r>
              <a:rPr lang="en-US" sz="2800" b="1" i="1" baseline="-10000">
                <a:solidFill>
                  <a:srgbClr val="000000"/>
                </a:solidFill>
                <a:latin typeface="Times New Roman" pitchFamily="18" charset="0"/>
              </a:rPr>
              <a:t>2</a:t>
            </a:r>
            <a:r>
              <a:rPr lang="en-US" sz="2800" b="1" i="1">
                <a:solidFill>
                  <a:srgbClr val="000000"/>
                </a:solidFill>
                <a:latin typeface="Times New Roman" pitchFamily="18" charset="0"/>
              </a:rPr>
              <a:t> and W</a:t>
            </a:r>
            <a:r>
              <a:rPr lang="en-US" sz="2800" b="1" i="1" baseline="-10000">
                <a:solidFill>
                  <a:srgbClr val="000000"/>
                </a:solidFill>
                <a:latin typeface="Times New Roman" pitchFamily="18" charset="0"/>
              </a:rPr>
              <a:t>4</a:t>
            </a:r>
            <a:r>
              <a:rPr lang="en-US" sz="2800" b="1" i="1">
                <a:solidFill>
                  <a:srgbClr val="000000"/>
                </a:solidFill>
                <a:latin typeface="Times New Roman" pitchFamily="18" charset="0"/>
              </a:rPr>
              <a:t> in Figure 12.29:</a:t>
            </a:r>
          </a:p>
          <a:p>
            <a:pPr eaLnBrk="0" fontAlgn="base" hangingPunct="0">
              <a:spcBef>
                <a:spcPct val="0"/>
              </a:spcBef>
              <a:spcAft>
                <a:spcPct val="0"/>
              </a:spcAft>
            </a:pPr>
            <a:r>
              <a:rPr lang="en-US" sz="2800" b="1" i="1">
                <a:solidFill>
                  <a:srgbClr val="FF0000"/>
                </a:solidFill>
                <a:latin typeface="Times New Roman" pitchFamily="18" charset="0"/>
              </a:rPr>
              <a:t>a.</a:t>
            </a:r>
            <a:r>
              <a:rPr lang="en-US" sz="2800" b="1" i="1">
                <a:solidFill>
                  <a:srgbClr val="000000"/>
                </a:solidFill>
                <a:latin typeface="Times New Roman" pitchFamily="18" charset="0"/>
              </a:rPr>
              <a:t> For a two-station network, we have </a:t>
            </a:r>
            <a:br>
              <a:rPr lang="en-US" sz="2800" b="1">
                <a:solidFill>
                  <a:srgbClr val="000000"/>
                </a:solidFill>
                <a:latin typeface="Times New Roman" pitchFamily="18" charset="0"/>
              </a:rPr>
            </a:br>
            <a:r>
              <a:rPr lang="en-US" sz="2800" b="1">
                <a:solidFill>
                  <a:srgbClr val="000000"/>
                </a:solidFill>
                <a:latin typeface="Times New Roman" pitchFamily="18" charset="0"/>
              </a:rPr>
              <a:t>                           [+1 +1] and [+1 −1].</a:t>
            </a:r>
          </a:p>
          <a:p>
            <a:pPr eaLnBrk="0" fontAlgn="base" hangingPunct="0">
              <a:spcBef>
                <a:spcPct val="0"/>
              </a:spcBef>
              <a:spcAft>
                <a:spcPct val="0"/>
              </a:spcAft>
            </a:pPr>
            <a:endParaRPr lang="en-US" sz="2800" b="1">
              <a:solidFill>
                <a:srgbClr val="000000"/>
              </a:solidFill>
              <a:latin typeface="Times New Roman" pitchFamily="18" charset="0"/>
            </a:endParaRPr>
          </a:p>
          <a:p>
            <a:pPr eaLnBrk="0" fontAlgn="base" hangingPunct="0">
              <a:spcBef>
                <a:spcPct val="0"/>
              </a:spcBef>
              <a:spcAft>
                <a:spcPct val="0"/>
              </a:spcAft>
            </a:pPr>
            <a:r>
              <a:rPr lang="en-US" sz="2800" b="1" i="1">
                <a:solidFill>
                  <a:srgbClr val="FF0000"/>
                </a:solidFill>
                <a:latin typeface="Times New Roman" pitchFamily="18" charset="0"/>
              </a:rPr>
              <a:t>b</a:t>
            </a:r>
            <a:r>
              <a:rPr lang="en-US" sz="2800" b="1" i="1">
                <a:solidFill>
                  <a:srgbClr val="000000"/>
                </a:solidFill>
                <a:latin typeface="Times New Roman" pitchFamily="18" charset="0"/>
              </a:rPr>
              <a:t>. For a four-station network we have </a:t>
            </a:r>
            <a:br>
              <a:rPr lang="en-US" sz="2800" b="1" i="1">
                <a:solidFill>
                  <a:srgbClr val="000000"/>
                </a:solidFill>
                <a:latin typeface="Times New Roman" pitchFamily="18" charset="0"/>
              </a:rPr>
            </a:br>
            <a:r>
              <a:rPr lang="en-US" sz="2800" b="1" i="1">
                <a:solidFill>
                  <a:srgbClr val="000000"/>
                </a:solidFill>
                <a:latin typeface="Times New Roman" pitchFamily="18" charset="0"/>
              </a:rPr>
              <a:t>                       </a:t>
            </a:r>
            <a:r>
              <a:rPr lang="en-US" sz="2800" b="1">
                <a:solidFill>
                  <a:srgbClr val="000000"/>
                </a:solidFill>
                <a:latin typeface="Times New Roman" pitchFamily="18" charset="0"/>
              </a:rPr>
              <a:t>[+1 +1 +1 +1], [+1 −1 +1 −1], </a:t>
            </a:r>
            <a:br>
              <a:rPr lang="en-US" sz="2800" b="1">
                <a:solidFill>
                  <a:srgbClr val="000000"/>
                </a:solidFill>
                <a:latin typeface="Times New Roman" pitchFamily="18" charset="0"/>
              </a:rPr>
            </a:br>
            <a:r>
              <a:rPr lang="en-US" sz="2800" b="1">
                <a:solidFill>
                  <a:srgbClr val="000000"/>
                </a:solidFill>
                <a:latin typeface="Times New Roman" pitchFamily="18" charset="0"/>
              </a:rPr>
              <a:t>                 [+1 +1 −1 −1],</a:t>
            </a:r>
            <a:r>
              <a:rPr lang="en-US" sz="2800" b="1" i="1">
                <a:solidFill>
                  <a:srgbClr val="000000"/>
                </a:solidFill>
                <a:latin typeface="Times New Roman" pitchFamily="18" charset="0"/>
              </a:rPr>
              <a:t>  and   </a:t>
            </a:r>
            <a:r>
              <a:rPr lang="en-US" sz="2800" b="1">
                <a:solidFill>
                  <a:srgbClr val="000000"/>
                </a:solidFill>
                <a:latin typeface="Times New Roman" pitchFamily="18" charset="0"/>
              </a:rPr>
              <a:t>[+1 −1 −1 +1].</a:t>
            </a:r>
          </a:p>
        </p:txBody>
      </p:sp>
    </p:spTree>
    <p:extLst>
      <p:ext uri="{BB962C8B-B14F-4D97-AF65-F5344CB8AC3E}">
        <p14:creationId xmlns:p14="http://schemas.microsoft.com/office/powerpoint/2010/main" val="28612245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solidFill>
                  <a:srgbClr val="1C1C1C"/>
                </a:solidFill>
              </a:rPr>
              <a:t>12.</a:t>
            </a:r>
            <a:fld id="{77B0C3A0-14A8-41B1-B1E8-4C25713EDE8C}" type="slidenum">
              <a:rPr lang="en-US">
                <a:solidFill>
                  <a:srgbClr val="1C1C1C"/>
                </a:solidFill>
              </a:rPr>
              <a:pPr/>
              <a:t>91</a:t>
            </a:fld>
            <a:endParaRPr lang="en-US">
              <a:solidFill>
                <a:srgbClr val="1C1C1C"/>
              </a:solidFill>
            </a:endParaRPr>
          </a:p>
        </p:txBody>
      </p:sp>
      <p:sp>
        <p:nvSpPr>
          <p:cNvPr id="1158146"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814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8148"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814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815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8151"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815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58153" name="Rectangle 9"/>
          <p:cNvSpPr>
            <a:spLocks noChangeArrowheads="1"/>
          </p:cNvSpPr>
          <p:nvPr/>
        </p:nvSpPr>
        <p:spPr bwMode="auto">
          <a:xfrm>
            <a:off x="228600" y="114300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000000"/>
                </a:solidFill>
                <a:latin typeface="Times New Roman" pitchFamily="18" charset="0"/>
              </a:rPr>
              <a:t>What is the number of sequences if we have 90 stations in our network?</a:t>
            </a:r>
          </a:p>
        </p:txBody>
      </p:sp>
      <p:sp>
        <p:nvSpPr>
          <p:cNvPr id="1158154" name="Text Box 10"/>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12.7</a:t>
            </a:r>
          </a:p>
        </p:txBody>
      </p:sp>
      <p:sp>
        <p:nvSpPr>
          <p:cNvPr id="1158155" name="Rectangle 11"/>
          <p:cNvSpPr>
            <a:spLocks noChangeArrowheads="1"/>
          </p:cNvSpPr>
          <p:nvPr/>
        </p:nvSpPr>
        <p:spPr bwMode="auto">
          <a:xfrm>
            <a:off x="152400" y="2438400"/>
            <a:ext cx="8686800" cy="18002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FF0000"/>
                </a:solidFill>
                <a:latin typeface="Times New Roman" pitchFamily="18" charset="0"/>
              </a:rPr>
              <a:t>Solution</a:t>
            </a:r>
          </a:p>
          <a:p>
            <a:pPr algn="just" eaLnBrk="0" fontAlgn="base" hangingPunct="0">
              <a:spcBef>
                <a:spcPct val="0"/>
              </a:spcBef>
              <a:spcAft>
                <a:spcPct val="0"/>
              </a:spcAft>
            </a:pPr>
            <a:r>
              <a:rPr lang="en-US" sz="2800" b="1" i="1">
                <a:solidFill>
                  <a:srgbClr val="000000"/>
                </a:solidFill>
                <a:latin typeface="Times New Roman" pitchFamily="18" charset="0"/>
              </a:rPr>
              <a:t>The number of sequences needs to be 2</a:t>
            </a:r>
            <a:r>
              <a:rPr lang="en-US" sz="2800" b="1" i="1" baseline="30000">
                <a:solidFill>
                  <a:srgbClr val="000000"/>
                </a:solidFill>
                <a:latin typeface="Times New Roman" pitchFamily="18" charset="0"/>
              </a:rPr>
              <a:t>m</a:t>
            </a:r>
            <a:r>
              <a:rPr lang="en-US" sz="2800" b="1" i="1">
                <a:solidFill>
                  <a:srgbClr val="000000"/>
                </a:solidFill>
                <a:latin typeface="Times New Roman" pitchFamily="18" charset="0"/>
              </a:rPr>
              <a:t>. We need to choose m = 7 and N = 2</a:t>
            </a:r>
            <a:r>
              <a:rPr lang="en-US" sz="2800" b="1" i="1" baseline="30000">
                <a:solidFill>
                  <a:srgbClr val="000000"/>
                </a:solidFill>
                <a:latin typeface="Times New Roman" pitchFamily="18" charset="0"/>
              </a:rPr>
              <a:t>7</a:t>
            </a:r>
            <a:r>
              <a:rPr lang="en-US" sz="2800" b="1" i="1">
                <a:solidFill>
                  <a:srgbClr val="000000"/>
                </a:solidFill>
                <a:latin typeface="Times New Roman" pitchFamily="18" charset="0"/>
              </a:rPr>
              <a:t> or 128. We can then use 90 </a:t>
            </a:r>
            <a:br>
              <a:rPr lang="en-US" sz="2800" b="1" i="1">
                <a:solidFill>
                  <a:srgbClr val="000000"/>
                </a:solidFill>
                <a:latin typeface="Times New Roman" pitchFamily="18" charset="0"/>
              </a:rPr>
            </a:br>
            <a:r>
              <a:rPr lang="en-US" sz="2800" b="1" i="1">
                <a:solidFill>
                  <a:srgbClr val="000000"/>
                </a:solidFill>
                <a:latin typeface="Times New Roman" pitchFamily="18" charset="0"/>
              </a:rPr>
              <a:t>of the sequences as the chips.</a:t>
            </a:r>
          </a:p>
        </p:txBody>
      </p:sp>
    </p:spTree>
    <p:extLst>
      <p:ext uri="{BB962C8B-B14F-4D97-AF65-F5344CB8AC3E}">
        <p14:creationId xmlns:p14="http://schemas.microsoft.com/office/powerpoint/2010/main" val="20477020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p:cNvSpPr>
            <a:spLocks noGrp="1"/>
          </p:cNvSpPr>
          <p:nvPr>
            <p:ph type="sldNum" sz="quarter" idx="10"/>
          </p:nvPr>
        </p:nvSpPr>
        <p:spPr/>
        <p:txBody>
          <a:bodyPr/>
          <a:lstStyle/>
          <a:p>
            <a:r>
              <a:rPr lang="en-US">
                <a:solidFill>
                  <a:srgbClr val="1C1C1C"/>
                </a:solidFill>
              </a:rPr>
              <a:t>12.</a:t>
            </a:r>
            <a:fld id="{534141E6-966F-41D1-930C-0C7E21B1F14E}" type="slidenum">
              <a:rPr lang="en-US">
                <a:solidFill>
                  <a:srgbClr val="1C1C1C"/>
                </a:solidFill>
              </a:rPr>
              <a:pPr/>
              <a:t>92</a:t>
            </a:fld>
            <a:endParaRPr lang="en-US">
              <a:solidFill>
                <a:srgbClr val="1C1C1C"/>
              </a:solidFill>
            </a:endParaRPr>
          </a:p>
        </p:txBody>
      </p:sp>
      <p:sp>
        <p:nvSpPr>
          <p:cNvPr id="1160194"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019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0196"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019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019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0199"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020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60201" name="Rectangle 9"/>
          <p:cNvSpPr>
            <a:spLocks noChangeArrowheads="1"/>
          </p:cNvSpPr>
          <p:nvPr/>
        </p:nvSpPr>
        <p:spPr bwMode="auto">
          <a:xfrm>
            <a:off x="228600" y="1143000"/>
            <a:ext cx="8686800" cy="18002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000000"/>
                </a:solidFill>
                <a:latin typeface="Times New Roman" pitchFamily="18" charset="0"/>
              </a:rPr>
              <a:t>Prove that a receiving station can get the data sent by a specific sender if it multiplies the entire data on the channel by the sender’s chip code and then divides it by the number of stations.</a:t>
            </a:r>
          </a:p>
        </p:txBody>
      </p:sp>
      <p:sp>
        <p:nvSpPr>
          <p:cNvPr id="1160202" name="Text Box 10"/>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12.8</a:t>
            </a:r>
          </a:p>
        </p:txBody>
      </p:sp>
      <p:sp>
        <p:nvSpPr>
          <p:cNvPr id="1160203" name="Rectangle 11"/>
          <p:cNvSpPr>
            <a:spLocks noChangeArrowheads="1"/>
          </p:cNvSpPr>
          <p:nvPr/>
        </p:nvSpPr>
        <p:spPr bwMode="auto">
          <a:xfrm>
            <a:off x="228600" y="3200400"/>
            <a:ext cx="8686800" cy="30813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FF0000"/>
                </a:solidFill>
                <a:latin typeface="Times New Roman" pitchFamily="18" charset="0"/>
              </a:rPr>
              <a:t>Solution</a:t>
            </a:r>
          </a:p>
          <a:p>
            <a:pPr algn="just" eaLnBrk="0" fontAlgn="base" hangingPunct="0">
              <a:spcBef>
                <a:spcPct val="0"/>
              </a:spcBef>
              <a:spcAft>
                <a:spcPct val="0"/>
              </a:spcAft>
            </a:pPr>
            <a:r>
              <a:rPr lang="en-US" sz="2800" b="1" i="1">
                <a:solidFill>
                  <a:srgbClr val="000000"/>
                </a:solidFill>
                <a:latin typeface="Times New Roman" pitchFamily="18" charset="0"/>
              </a:rPr>
              <a:t>Let us prove this for the first station, using our previous four-station example. We can say that the data on the channel </a:t>
            </a:r>
            <a:br>
              <a:rPr lang="en-US" sz="2800" b="1" i="1">
                <a:solidFill>
                  <a:srgbClr val="000000"/>
                </a:solidFill>
                <a:latin typeface="Times New Roman" pitchFamily="18" charset="0"/>
              </a:rPr>
            </a:br>
            <a:r>
              <a:rPr lang="en-US" sz="2800" b="1" i="1">
                <a:solidFill>
                  <a:srgbClr val="000000"/>
                </a:solidFill>
                <a:latin typeface="Times New Roman" pitchFamily="18" charset="0"/>
              </a:rPr>
              <a:t>      D = (d</a:t>
            </a:r>
            <a:r>
              <a:rPr lang="en-US" sz="2800" b="1" i="1" baseline="-10000">
                <a:solidFill>
                  <a:srgbClr val="000000"/>
                </a:solidFill>
                <a:latin typeface="Times New Roman" pitchFamily="18" charset="0"/>
              </a:rPr>
              <a:t>1</a:t>
            </a:r>
            <a:r>
              <a:rPr lang="en-US" sz="2800" b="1" i="1">
                <a:solidFill>
                  <a:srgbClr val="000000"/>
                </a:solidFill>
                <a:latin typeface="Times New Roman" pitchFamily="18" charset="0"/>
              </a:rPr>
              <a:t> ⋅ c</a:t>
            </a:r>
            <a:r>
              <a:rPr lang="en-US" sz="2800" b="1" i="1" baseline="-10000">
                <a:solidFill>
                  <a:srgbClr val="000000"/>
                </a:solidFill>
                <a:latin typeface="Times New Roman" pitchFamily="18" charset="0"/>
              </a:rPr>
              <a:t>1</a:t>
            </a:r>
            <a:r>
              <a:rPr lang="en-US" sz="2800" b="1" i="1">
                <a:solidFill>
                  <a:srgbClr val="000000"/>
                </a:solidFill>
                <a:latin typeface="Times New Roman" pitchFamily="18" charset="0"/>
              </a:rPr>
              <a:t> + d</a:t>
            </a:r>
            <a:r>
              <a:rPr lang="en-US" sz="2800" b="1" i="1" baseline="-10000">
                <a:solidFill>
                  <a:srgbClr val="000000"/>
                </a:solidFill>
                <a:latin typeface="Times New Roman" pitchFamily="18" charset="0"/>
              </a:rPr>
              <a:t>2</a:t>
            </a:r>
            <a:r>
              <a:rPr lang="en-US" sz="2800" b="1" i="1">
                <a:solidFill>
                  <a:srgbClr val="000000"/>
                </a:solidFill>
                <a:latin typeface="Times New Roman" pitchFamily="18" charset="0"/>
              </a:rPr>
              <a:t> ⋅ c</a:t>
            </a:r>
            <a:r>
              <a:rPr lang="en-US" sz="2800" b="1" i="1" baseline="-10000">
                <a:solidFill>
                  <a:srgbClr val="000000"/>
                </a:solidFill>
                <a:latin typeface="Times New Roman" pitchFamily="18" charset="0"/>
              </a:rPr>
              <a:t>2</a:t>
            </a:r>
            <a:r>
              <a:rPr lang="en-US" sz="2800" b="1" i="1">
                <a:solidFill>
                  <a:srgbClr val="000000"/>
                </a:solidFill>
                <a:latin typeface="Times New Roman" pitchFamily="18" charset="0"/>
              </a:rPr>
              <a:t> + d</a:t>
            </a:r>
            <a:r>
              <a:rPr lang="en-US" sz="2800" b="1" i="1" baseline="-10000">
                <a:solidFill>
                  <a:srgbClr val="000000"/>
                </a:solidFill>
                <a:latin typeface="Times New Roman" pitchFamily="18" charset="0"/>
              </a:rPr>
              <a:t>3</a:t>
            </a:r>
            <a:r>
              <a:rPr lang="en-US" sz="2800" b="1" i="1">
                <a:solidFill>
                  <a:srgbClr val="000000"/>
                </a:solidFill>
                <a:latin typeface="Times New Roman" pitchFamily="18" charset="0"/>
              </a:rPr>
              <a:t> ⋅ c</a:t>
            </a:r>
            <a:r>
              <a:rPr lang="en-US" sz="2800" b="1" i="1" baseline="-10000">
                <a:solidFill>
                  <a:srgbClr val="000000"/>
                </a:solidFill>
                <a:latin typeface="Times New Roman" pitchFamily="18" charset="0"/>
              </a:rPr>
              <a:t>3</a:t>
            </a:r>
            <a:r>
              <a:rPr lang="en-US" sz="2800" b="1" i="1">
                <a:solidFill>
                  <a:srgbClr val="000000"/>
                </a:solidFill>
                <a:latin typeface="Times New Roman" pitchFamily="18" charset="0"/>
              </a:rPr>
              <a:t> + d</a:t>
            </a:r>
            <a:r>
              <a:rPr lang="en-US" sz="2800" b="1" i="1" baseline="-10000">
                <a:solidFill>
                  <a:srgbClr val="000000"/>
                </a:solidFill>
                <a:latin typeface="Times New Roman" pitchFamily="18" charset="0"/>
              </a:rPr>
              <a:t>4</a:t>
            </a:r>
            <a:r>
              <a:rPr lang="en-US" sz="2800" b="1" i="1">
                <a:solidFill>
                  <a:srgbClr val="000000"/>
                </a:solidFill>
                <a:latin typeface="Times New Roman" pitchFamily="18" charset="0"/>
              </a:rPr>
              <a:t> ⋅ c</a:t>
            </a:r>
            <a:r>
              <a:rPr lang="en-US" sz="2800" b="1" i="1" baseline="-10000">
                <a:solidFill>
                  <a:srgbClr val="000000"/>
                </a:solidFill>
                <a:latin typeface="Times New Roman" pitchFamily="18" charset="0"/>
              </a:rPr>
              <a:t>4</a:t>
            </a:r>
            <a:r>
              <a:rPr lang="en-US" sz="2800" b="1" i="1">
                <a:solidFill>
                  <a:srgbClr val="000000"/>
                </a:solidFill>
                <a:latin typeface="Times New Roman" pitchFamily="18" charset="0"/>
              </a:rPr>
              <a:t>). </a:t>
            </a:r>
            <a:br>
              <a:rPr lang="en-US" sz="2800" b="1" i="1">
                <a:solidFill>
                  <a:srgbClr val="000000"/>
                </a:solidFill>
                <a:latin typeface="Times New Roman" pitchFamily="18" charset="0"/>
              </a:rPr>
            </a:br>
            <a:r>
              <a:rPr lang="en-US" sz="2800" b="1" i="1">
                <a:solidFill>
                  <a:srgbClr val="000000"/>
                </a:solidFill>
                <a:latin typeface="Times New Roman" pitchFamily="18" charset="0"/>
              </a:rPr>
              <a:t>The receiver which wants to get the data sent by station 1 multiplies these data by c</a:t>
            </a:r>
            <a:r>
              <a:rPr lang="en-US" sz="2800" b="1" i="1" baseline="-10000">
                <a:solidFill>
                  <a:srgbClr val="000000"/>
                </a:solidFill>
                <a:latin typeface="Times New Roman" pitchFamily="18" charset="0"/>
              </a:rPr>
              <a:t>1</a:t>
            </a:r>
            <a:r>
              <a:rPr lang="en-US" sz="2800" b="1" i="1">
                <a:solidFill>
                  <a:srgbClr val="000000"/>
                </a:solidFill>
                <a:latin typeface="Times New Roman" pitchFamily="18" charset="0"/>
              </a:rPr>
              <a:t>.</a:t>
            </a:r>
          </a:p>
        </p:txBody>
      </p:sp>
    </p:spTree>
    <p:extLst>
      <p:ext uri="{BB962C8B-B14F-4D97-AF65-F5344CB8AC3E}">
        <p14:creationId xmlns:p14="http://schemas.microsoft.com/office/powerpoint/2010/main" val="19576149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
          <p:cNvSpPr>
            <a:spLocks noGrp="1"/>
          </p:cNvSpPr>
          <p:nvPr>
            <p:ph type="sldNum" sz="quarter" idx="10"/>
          </p:nvPr>
        </p:nvSpPr>
        <p:spPr/>
        <p:txBody>
          <a:bodyPr/>
          <a:lstStyle/>
          <a:p>
            <a:r>
              <a:rPr lang="en-US">
                <a:solidFill>
                  <a:srgbClr val="1C1C1C"/>
                </a:solidFill>
              </a:rPr>
              <a:t>12.</a:t>
            </a:r>
            <a:fld id="{3F4AB83E-885E-4962-9971-E36CA11A9113}" type="slidenum">
              <a:rPr lang="en-US">
                <a:solidFill>
                  <a:srgbClr val="1C1C1C"/>
                </a:solidFill>
              </a:rPr>
              <a:pPr/>
              <a:t>93</a:t>
            </a:fld>
            <a:endParaRPr lang="en-US">
              <a:solidFill>
                <a:srgbClr val="1C1C1C"/>
              </a:solidFill>
            </a:endParaRPr>
          </a:p>
        </p:txBody>
      </p:sp>
      <p:sp>
        <p:nvSpPr>
          <p:cNvPr id="1172482" name="Rectangle 2"/>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248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2484" name="Rectangle 4"/>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248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248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2487" name="Rectangle 7"/>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248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kumimoji="1" lang="en-US" sz="2400">
              <a:solidFill>
                <a:srgbClr val="000000"/>
              </a:solidFill>
            </a:endParaRPr>
          </a:p>
        </p:txBody>
      </p:sp>
      <p:sp>
        <p:nvSpPr>
          <p:cNvPr id="1172489" name="Rectangle 9"/>
          <p:cNvSpPr>
            <a:spLocks noChangeArrowheads="1"/>
          </p:cNvSpPr>
          <p:nvPr/>
        </p:nvSpPr>
        <p:spPr bwMode="auto">
          <a:xfrm>
            <a:off x="228600" y="11430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endParaRPr lang="en-US" sz="2800" b="1" i="1">
              <a:solidFill>
                <a:srgbClr val="000000"/>
              </a:solidFill>
              <a:latin typeface="Times New Roman" pitchFamily="18" charset="0"/>
            </a:endParaRPr>
          </a:p>
        </p:txBody>
      </p:sp>
      <p:sp>
        <p:nvSpPr>
          <p:cNvPr id="1172490" name="Text Box 10"/>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3200" b="1" i="1">
                <a:solidFill>
                  <a:srgbClr val="FF0000"/>
                </a:solidFill>
                <a:latin typeface="Times New Roman" pitchFamily="18" charset="0"/>
              </a:rPr>
              <a:t>Example 12.8 (continued)</a:t>
            </a:r>
          </a:p>
        </p:txBody>
      </p:sp>
      <p:sp>
        <p:nvSpPr>
          <p:cNvPr id="1172491" name="Rectangle 11"/>
          <p:cNvSpPr>
            <a:spLocks noChangeArrowheads="1"/>
          </p:cNvSpPr>
          <p:nvPr/>
        </p:nvSpPr>
        <p:spPr bwMode="auto">
          <a:xfrm>
            <a:off x="228600" y="38100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fontAlgn="base" hangingPunct="0">
              <a:spcBef>
                <a:spcPct val="0"/>
              </a:spcBef>
              <a:spcAft>
                <a:spcPct val="0"/>
              </a:spcAft>
            </a:pPr>
            <a:r>
              <a:rPr lang="en-US" sz="2800" b="1" i="1">
                <a:solidFill>
                  <a:srgbClr val="000000"/>
                </a:solidFill>
                <a:latin typeface="Times New Roman" pitchFamily="18" charset="0"/>
              </a:rPr>
              <a:t>When we divide the result by N, we get d</a:t>
            </a:r>
            <a:r>
              <a:rPr lang="en-US" sz="2800" b="1" i="1" baseline="-10000">
                <a:solidFill>
                  <a:srgbClr val="000000"/>
                </a:solidFill>
                <a:latin typeface="Times New Roman" pitchFamily="18" charset="0"/>
              </a:rPr>
              <a:t>1 </a:t>
            </a:r>
            <a:r>
              <a:rPr lang="en-US" sz="2800" b="1" i="1">
                <a:solidFill>
                  <a:srgbClr val="000000"/>
                </a:solidFill>
                <a:latin typeface="Times New Roman" pitchFamily="18" charset="0"/>
              </a:rPr>
              <a:t>.</a:t>
            </a:r>
          </a:p>
        </p:txBody>
      </p:sp>
      <p:pic>
        <p:nvPicPr>
          <p:cNvPr id="117249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0650" y="1981200"/>
            <a:ext cx="6362700" cy="150336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2346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33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1" u="none" strike="noStrike" cap="none" normalizeH="0" baseline="-10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1" u="none" strike="noStrike" cap="none" normalizeH="0" baseline="-1000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33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3300"/>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3300"/>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3300"/>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3300"/>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3300"/>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CC3300"/>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2225</TotalTime>
  <Words>4986</Words>
  <Application>Microsoft Office PowerPoint</Application>
  <PresentationFormat>On-screen Show (4:3)</PresentationFormat>
  <Paragraphs>581</Paragraphs>
  <Slides>93</Slides>
  <Notes>53</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93</vt:i4>
      </vt:variant>
    </vt:vector>
  </HeadingPairs>
  <TitlesOfParts>
    <vt:vector size="107" baseType="lpstr">
      <vt:lpstr>Arial</vt:lpstr>
      <vt:lpstr>Arial Narrow</vt:lpstr>
      <vt:lpstr>Calibri</vt:lpstr>
      <vt:lpstr>Franklin Gothic Book</vt:lpstr>
      <vt:lpstr>Georgia</vt:lpstr>
      <vt:lpstr>McGrawHill-Italic</vt:lpstr>
      <vt:lpstr>Perpetua</vt:lpstr>
      <vt:lpstr>Tahoma</vt:lpstr>
      <vt:lpstr>Times</vt:lpstr>
      <vt:lpstr>Times New Roman</vt:lpstr>
      <vt:lpstr>Wingdings</vt:lpstr>
      <vt:lpstr>Office Theme</vt:lpstr>
      <vt:lpstr>Blends</vt:lpstr>
      <vt:lpstr>1_Office Theme</vt:lpstr>
      <vt:lpstr>    Data Link layer</vt:lpstr>
      <vt:lpstr>Data Link Layer</vt:lpstr>
      <vt:lpstr>Data Link Layer</vt:lpstr>
      <vt:lpstr>Data Link Layer</vt:lpstr>
      <vt:lpstr>Data Link Layer</vt:lpstr>
      <vt:lpstr>Data Link Layer</vt:lpstr>
      <vt:lpstr>Data Link Layer</vt:lpstr>
      <vt:lpstr>Data Link Layer</vt:lpstr>
      <vt:lpstr>Data Link Layer</vt:lpstr>
      <vt:lpstr>Data Link Layer</vt:lpstr>
      <vt:lpstr>Data Link Layer</vt:lpstr>
      <vt:lpstr>SIMPLE/ SINGLE PARITY CHECK</vt:lpstr>
      <vt:lpstr>PowerPoint Presentation</vt:lpstr>
      <vt:lpstr>Checksum (CHECK THE SUM)</vt:lpstr>
      <vt:lpstr>PowerPoint Presentation</vt:lpstr>
      <vt:lpstr>PowerPoint Presentation</vt:lpstr>
      <vt:lpstr>Cyclic Redundancy Check (CRC)</vt:lpstr>
      <vt:lpstr>PowerPoint Presentation</vt:lpstr>
      <vt:lpstr>PowerPoint Presentation</vt:lpstr>
      <vt:lpstr>Data Link Layer</vt:lpstr>
      <vt:lpstr>Data Link Layer</vt:lpstr>
      <vt:lpstr>Data Link Layer</vt:lpstr>
      <vt:lpstr>PowerPoint Presentation</vt:lpstr>
      <vt:lpstr>PowerPoint Presentation</vt:lpstr>
      <vt:lpstr>PowerPoint Presentation</vt:lpstr>
      <vt:lpstr>Random Access</vt:lpstr>
      <vt:lpstr>Random Access</vt:lpstr>
      <vt:lpstr>Random Access</vt:lpstr>
      <vt:lpstr>ALOHA</vt:lpstr>
      <vt:lpstr>Pure ALOHA</vt:lpstr>
      <vt:lpstr>PowerPoint Presentation</vt:lpstr>
      <vt:lpstr>Pure ALOHA</vt:lpstr>
      <vt:lpstr>Pure ALOHA</vt:lpstr>
      <vt:lpstr>PowerPoint Presentation</vt:lpstr>
      <vt:lpstr>PowerPoint Presentation</vt:lpstr>
      <vt:lpstr>PowerPoint Presentation</vt:lpstr>
      <vt:lpstr>PowerPoint Presentation</vt:lpstr>
      <vt:lpstr>ALOHA</vt:lpstr>
      <vt:lpstr>PowerPoint Presentation</vt:lpstr>
      <vt:lpstr>PowerPoint Presentation</vt:lpstr>
      <vt:lpstr>Calculation of max efficiency/ throughput Pure ALOHA </vt:lpstr>
      <vt:lpstr>PowerPoint Presentation</vt:lpstr>
      <vt:lpstr>PowerPoint Presentation</vt:lpstr>
      <vt:lpstr>Slotted ALOHA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CSMA</vt:lpstr>
      <vt:lpstr>PowerPoint Presentation</vt:lpstr>
      <vt:lpstr>PowerPoint Presentation</vt:lpstr>
      <vt:lpstr>PowerPoint Presentation</vt:lpstr>
      <vt:lpstr>PowerPoint Presentation</vt:lpstr>
      <vt:lpstr>Kinds of CSMA</vt:lpstr>
      <vt:lpstr>Nonpersistent/x-persistent CSMA Protocols</vt:lpstr>
      <vt:lpstr>PowerPoint Presentation</vt:lpstr>
      <vt:lpstr>Nonpersistent/x-persistent CSMA Protocols</vt:lpstr>
      <vt:lpstr>How to Select Probability p ?</vt:lpstr>
      <vt:lpstr>Throughput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 babu.</dc:creator>
  <cp:lastModifiedBy>rishi srivastava</cp:lastModifiedBy>
  <cp:revision>164</cp:revision>
  <dcterms:created xsi:type="dcterms:W3CDTF">2021-01-14T11:38:43Z</dcterms:created>
  <dcterms:modified xsi:type="dcterms:W3CDTF">2026-08-17T04:13:06Z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2021-01-14T00:00:00Z</vt:filetime>
  </property>
  <property fmtid="{D5CDD505-2E9C-101B-9397-08002B2CF9AE}" pid="3" name="Creator">
    <vt:lpwstr>Microsoft® Office PowerPoint® 2007</vt:lpwstr>
  </property>
  <property fmtid="{D5CDD505-2E9C-101B-9397-08002B2CF9AE}" pid="4" name="LastSaved">
    <vt:filetime>2021-01-14T00:00:00Z</vt:filetime>
  </property>
  <property fmtid="{D5CDD505-2E9C-101B-9397-08002B2CF9AE}" pid="5" name="MSIP_Label_5e4b1be8-281e-475d-98b0-21c3457e5a46_Enabled">
    <vt:lpwstr>true</vt:lpwstr>
  </property>
  <property fmtid="{D5CDD505-2E9C-101B-9397-08002B2CF9AE}" pid="6" name="MSIP_Label_5e4b1be8-281e-475d-98b0-21c3457e5a46_SetDate">
    <vt:lpwstr>2026-08-13T12:42:55Z</vt:lpwstr>
  </property>
  <property fmtid="{D5CDD505-2E9C-101B-9397-08002B2CF9AE}" pid="7" name="MSIP_Label_5e4b1be8-281e-475d-98b0-21c3457e5a46_Method">
    <vt:lpwstr>Standard</vt:lpwstr>
  </property>
  <property fmtid="{D5CDD505-2E9C-101B-9397-08002B2CF9AE}" pid="8" name="MSIP_Label_5e4b1be8-281e-475d-98b0-21c3457e5a46_Name">
    <vt:lpwstr>Public</vt:lpwstr>
  </property>
  <property fmtid="{D5CDD505-2E9C-101B-9397-08002B2CF9AE}" pid="9" name="MSIP_Label_5e4b1be8-281e-475d-98b0-21c3457e5a46_SiteId">
    <vt:lpwstr>8b3dd73e-4e72-4679-b191-56da1588712b</vt:lpwstr>
  </property>
  <property fmtid="{D5CDD505-2E9C-101B-9397-08002B2CF9AE}" pid="10" name="MSIP_Label_5e4b1be8-281e-475d-98b0-21c3457e5a46_ActionId">
    <vt:lpwstr>d37f3153-262c-4fc7-babc-eae8394e1153</vt:lpwstr>
  </property>
  <property fmtid="{D5CDD505-2E9C-101B-9397-08002B2CF9AE}" pid="11" name="MSIP_Label_5e4b1be8-281e-475d-98b0-21c3457e5a46_ContentBits">
    <vt:lpwstr>0</vt:lpwstr>
  </property>
  <property fmtid="{D5CDD505-2E9C-101B-9397-08002B2CF9AE}" pid="12" name="MSIP_Label_5e4b1be8-281e-475d-98b0-21c3457e5a46_Tag">
    <vt:lpwstr>50, 3, 0, 1</vt:lpwstr>
  </property>
</Properties>
</file>