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59" r:id="rId8"/>
    <p:sldId id="266" r:id="rId9"/>
    <p:sldId id="260" r:id="rId10"/>
    <p:sldId id="267" r:id="rId11"/>
    <p:sldId id="261" r:id="rId12"/>
    <p:sldId id="262" r:id="rId13"/>
    <p:sldId id="273" r:id="rId14"/>
    <p:sldId id="263" r:id="rId15"/>
    <p:sldId id="264" r:id="rId16"/>
    <p:sldId id="265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572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" y="7620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800" y="0"/>
                </a:lnTo>
              </a:path>
            </a:pathLst>
          </a:custGeom>
          <a:ln w="2438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72844" y="729183"/>
            <a:ext cx="663575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7616" y="658368"/>
            <a:ext cx="8635365" cy="0"/>
          </a:xfrm>
          <a:custGeom>
            <a:avLst/>
            <a:gdLst/>
            <a:ahLst/>
            <a:cxnLst/>
            <a:rect l="l" t="t" r="r" b="b"/>
            <a:pathLst>
              <a:path w="8635365">
                <a:moveTo>
                  <a:pt x="0" y="0"/>
                </a:moveTo>
                <a:lnTo>
                  <a:pt x="8634984" y="0"/>
                </a:lnTo>
              </a:path>
            </a:pathLst>
          </a:custGeom>
          <a:ln w="1219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724915"/>
            <a:ext cx="737108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7212" y="1569212"/>
            <a:ext cx="4953635" cy="2557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99652" y="6917648"/>
            <a:ext cx="20574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0285" marR="5080" indent="-2268220">
              <a:lnSpc>
                <a:spcPct val="120000"/>
              </a:lnSpc>
              <a:spcBef>
                <a:spcPts val="95"/>
              </a:spcBef>
            </a:pPr>
            <a:r>
              <a:rPr sz="4000" b="1" dirty="0">
                <a:solidFill>
                  <a:srgbClr val="3A802E"/>
                </a:solidFill>
                <a:latin typeface="Times New Roman"/>
                <a:cs typeface="Times New Roman"/>
              </a:rPr>
              <a:t>High</a:t>
            </a:r>
            <a:r>
              <a:rPr sz="4000" b="1" spc="-65" dirty="0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3A802E"/>
                </a:solidFill>
                <a:latin typeface="Times New Roman"/>
                <a:cs typeface="Times New Roman"/>
              </a:rPr>
              <a:t>Performance</a:t>
            </a:r>
            <a:r>
              <a:rPr sz="4000" b="1" spc="-70" dirty="0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3A802E"/>
                </a:solidFill>
                <a:latin typeface="Times New Roman"/>
                <a:cs typeface="Times New Roman"/>
              </a:rPr>
              <a:t>Computing </a:t>
            </a:r>
            <a:r>
              <a:rPr sz="4000" b="1" dirty="0">
                <a:solidFill>
                  <a:srgbClr val="3A802E"/>
                </a:solidFill>
                <a:latin typeface="Times New Roman"/>
                <a:cs typeface="Times New Roman"/>
              </a:rPr>
              <a:t>Lecture</a:t>
            </a:r>
            <a:r>
              <a:rPr sz="4000" b="1" spc="-65" dirty="0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sz="4000" b="1" spc="-50" dirty="0">
                <a:solidFill>
                  <a:srgbClr val="3A802E"/>
                </a:solidFill>
                <a:latin typeface="Times New Roman"/>
                <a:cs typeface="Times New Roman"/>
              </a:rPr>
              <a:t>8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88284" y="3218179"/>
            <a:ext cx="35153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8820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Matthew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Jacob </a:t>
            </a:r>
            <a:r>
              <a:rPr sz="2400" dirty="0">
                <a:latin typeface="Arial MT"/>
                <a:cs typeface="Arial MT"/>
              </a:rPr>
              <a:t>Indian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Institute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Science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Example:</a:t>
            </a:r>
            <a:r>
              <a:rPr spc="-95" dirty="0"/>
              <a:t> </a:t>
            </a:r>
            <a:r>
              <a:rPr spc="-185" dirty="0"/>
              <a:t>Function</a:t>
            </a:r>
            <a:r>
              <a:rPr spc="-95" dirty="0"/>
              <a:t> </a:t>
            </a:r>
            <a:r>
              <a:rPr spc="-254" dirty="0"/>
              <a:t>Call</a:t>
            </a:r>
            <a:r>
              <a:rPr spc="-85" dirty="0"/>
              <a:t> </a:t>
            </a:r>
            <a:r>
              <a:rPr spc="-365" dirty="0"/>
              <a:t>and</a:t>
            </a:r>
            <a:r>
              <a:rPr spc="-85" dirty="0"/>
              <a:t> </a:t>
            </a:r>
            <a:r>
              <a:rPr spc="-185" dirty="0"/>
              <a:t>Return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599692"/>
            <a:ext cx="6360160" cy="4561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sz="2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sz="2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sz="26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sz="26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sz="2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6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6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Arial MT"/>
                <a:cs typeface="Arial MT"/>
              </a:rPr>
              <a:t>call?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ts val="2870"/>
              </a:lnSpc>
              <a:spcBef>
                <a:spcPts val="1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2400" dirty="0">
                <a:latin typeface="Arial MT"/>
                <a:cs typeface="Arial MT"/>
              </a:rPr>
              <a:t>Pass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parameters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7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2400" dirty="0">
                <a:latin typeface="Arial MT"/>
                <a:cs typeface="Arial MT"/>
              </a:rPr>
              <a:t>Transfer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2400" dirty="0">
                <a:latin typeface="Arial MT"/>
                <a:cs typeface="Arial MT"/>
              </a:rPr>
              <a:t>Remember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  <a:p>
            <a:pPr marL="1033144" lvl="1" indent="-349885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1033144" algn="l"/>
              </a:tabLst>
            </a:pPr>
            <a:r>
              <a:rPr sz="2400" spc="-10" dirty="0">
                <a:latin typeface="Arial MT"/>
                <a:cs typeface="Arial MT"/>
              </a:rPr>
              <a:t>Where?</a:t>
            </a:r>
            <a:r>
              <a:rPr sz="2400" spc="-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stack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memory)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30"/>
              </a:lnSpc>
              <a:spcBef>
                <a:spcPts val="21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3600" baseline="2314" dirty="0">
                <a:latin typeface="Arial MT"/>
                <a:cs typeface="Arial MT"/>
              </a:rPr>
              <a:t>Save</a:t>
            </a:r>
            <a:r>
              <a:rPr sz="3600" spc="-75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register</a:t>
            </a:r>
            <a:r>
              <a:rPr sz="3600" spc="-75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values</a:t>
            </a:r>
            <a:r>
              <a:rPr sz="3600" spc="765" baseline="23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3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2400" dirty="0">
                <a:latin typeface="Arial MT"/>
                <a:cs typeface="Arial MT"/>
              </a:rPr>
              <a:t>Allocate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3115"/>
              </a:lnSpc>
            </a:pP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sz="2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sz="2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sz="26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sz="26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sz="2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6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6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Arial MT"/>
                <a:cs typeface="Arial MT"/>
              </a:rPr>
              <a:t>return?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1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2400" dirty="0">
                <a:latin typeface="Arial MT"/>
                <a:cs typeface="Arial MT"/>
              </a:rPr>
              <a:t>Pass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(through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stack)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55"/>
              </a:lnSpc>
              <a:spcBef>
                <a:spcPts val="2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2400" dirty="0">
                <a:latin typeface="Arial MT"/>
                <a:cs typeface="Arial MT"/>
              </a:rPr>
              <a:t>Restore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55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2400" dirty="0">
                <a:latin typeface="Arial MT"/>
                <a:cs typeface="Arial MT"/>
              </a:rPr>
              <a:t>Clean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sz="2400" dirty="0">
                <a:latin typeface="Arial MT"/>
                <a:cs typeface="Arial MT"/>
              </a:rPr>
              <a:t>Transfer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693165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Implementing</a:t>
            </a:r>
            <a:r>
              <a:rPr spc="-130" dirty="0"/>
              <a:t> </a:t>
            </a:r>
            <a:r>
              <a:rPr spc="-635" dirty="0"/>
              <a:t>a</a:t>
            </a:r>
            <a:r>
              <a:rPr spc="-120" dirty="0"/>
              <a:t> </a:t>
            </a:r>
            <a:r>
              <a:rPr spc="-380" dirty="0"/>
              <a:t>Stack</a:t>
            </a:r>
            <a:r>
              <a:rPr spc="-120" dirty="0"/>
              <a:t> </a:t>
            </a:r>
            <a:r>
              <a:rPr spc="-30" dirty="0"/>
              <a:t>in</a:t>
            </a:r>
            <a:r>
              <a:rPr spc="-185" dirty="0"/>
              <a:t> Memory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0155" y="1345466"/>
            <a:ext cx="8229600" cy="38969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7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sz="3000" dirty="0">
                <a:latin typeface="Arial MT"/>
                <a:cs typeface="Arial MT"/>
              </a:rPr>
              <a:t>Use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one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register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Stack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Pointer,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say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R29</a:t>
            </a:r>
            <a:endParaRPr sz="300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sz="2600" dirty="0">
                <a:latin typeface="Arial MT"/>
                <a:cs typeface="Arial MT"/>
              </a:rPr>
              <a:t>It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could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point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at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either</a:t>
            </a:r>
            <a:endParaRPr sz="2600">
              <a:latin typeface="Arial MT"/>
              <a:cs typeface="Arial MT"/>
            </a:endParaRPr>
          </a:p>
          <a:p>
            <a:pPr marL="1033144" lvl="2" indent="-349885">
              <a:lnSpc>
                <a:spcPct val="100000"/>
              </a:lnSpc>
              <a:spcBef>
                <a:spcPts val="56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1033144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stack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</a:t>
            </a:r>
            <a:endParaRPr sz="2400">
              <a:latin typeface="Arial MT"/>
              <a:cs typeface="Arial MT"/>
            </a:endParaRPr>
          </a:p>
          <a:p>
            <a:pPr marL="1033144" lvl="2" indent="-349885">
              <a:lnSpc>
                <a:spcPct val="100000"/>
              </a:lnSpc>
              <a:spcBef>
                <a:spcPts val="57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1033144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push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355600" marR="212090" indent="-343535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sz="3000" dirty="0">
                <a:latin typeface="Arial MT"/>
                <a:cs typeface="Arial MT"/>
              </a:rPr>
              <a:t>Decide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whether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stack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grows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“up”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or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“down”</a:t>
            </a:r>
            <a:r>
              <a:rPr sz="3000" spc="-25" dirty="0">
                <a:latin typeface="Arial MT"/>
                <a:cs typeface="Arial MT"/>
              </a:rPr>
              <a:t> in 	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sz="2600" dirty="0">
                <a:latin typeface="Arial MT"/>
                <a:cs typeface="Arial MT"/>
              </a:rPr>
              <a:t>up: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grows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into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higher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addresses</a:t>
            </a:r>
            <a:endParaRPr sz="260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sz="2600" dirty="0">
                <a:latin typeface="Arial MT"/>
                <a:cs typeface="Arial MT"/>
              </a:rPr>
              <a:t>down: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grows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into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lower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addresses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7991-09A6-8827-A783-9F69CD2C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(MIPS-style rules)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9D0DE-2D8E-5E99-B218-FEAE01C4F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4D254F-508A-3958-466D-487942B0C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72959"/>
              </p:ext>
            </p:extLst>
          </p:nvPr>
        </p:nvGraphicFramePr>
        <p:xfrm>
          <a:off x="381000" y="1390395"/>
          <a:ext cx="9067800" cy="3257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3900">
                  <a:extLst>
                    <a:ext uri="{9D8B030D-6E8A-4147-A177-3AD203B41FA5}">
                      <a16:colId xmlns:a16="http://schemas.microsoft.com/office/drawing/2014/main" val="141197820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3928492942"/>
                    </a:ext>
                  </a:extLst>
                </a:gridCol>
              </a:tblGrid>
              <a:tr h="542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649464"/>
                  </a:ext>
                </a:extLst>
              </a:tr>
              <a:tr h="542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Always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308577"/>
                  </a:ext>
                </a:extLst>
              </a:tr>
              <a:tr h="542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Stack Pointer (SP)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37416"/>
                  </a:ext>
                </a:extLst>
              </a:tr>
              <a:tr h="542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806868"/>
                  </a:ext>
                </a:extLst>
              </a:tr>
              <a:tr h="542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R4–R7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 arguments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859454"/>
                  </a:ext>
                </a:extLst>
              </a:tr>
              <a:tr h="542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R2–R3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272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BA6BF7-3E85-46B3-F9AB-6B39E3491B97}"/>
              </a:ext>
            </a:extLst>
          </p:cNvPr>
          <p:cNvSpPr txBox="1"/>
          <p:nvPr/>
        </p:nvSpPr>
        <p:spPr>
          <a:xfrm>
            <a:off x="152400" y="4648203"/>
            <a:ext cx="9296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    </a:t>
            </a:r>
          </a:p>
          <a:p>
            <a:pPr lvl="0"/>
            <a:r>
              <a:rPr lang="en-US" dirty="0"/>
              <a:t>Stack grows toward lower memory addresses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R29 is updated using instructions 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ADDI R29, R29, -4</a:t>
            </a:r>
            <a:r>
              <a:rPr lang="en-US" dirty="0"/>
              <a:t> (push)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ADDI R29, R29, +4</a:t>
            </a:r>
            <a:r>
              <a:rPr lang="en-US" dirty="0"/>
              <a:t> (pop)</a:t>
            </a:r>
          </a:p>
        </p:txBody>
      </p:sp>
    </p:spTree>
    <p:extLst>
      <p:ext uri="{BB962C8B-B14F-4D97-AF65-F5344CB8AC3E}">
        <p14:creationId xmlns:p14="http://schemas.microsoft.com/office/powerpoint/2010/main" val="91136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23406-0967-9805-809D-40A4A3129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212" y="1569212"/>
            <a:ext cx="8870188" cy="5822188"/>
          </a:xfrm>
        </p:spPr>
        <p:txBody>
          <a:bodyPr/>
          <a:lstStyle/>
          <a:p>
            <a:r>
              <a:rPr lang="en-US" sz="2000" b="1" dirty="0"/>
              <a:t>PUSH operation (Insert data into stack)</a:t>
            </a:r>
          </a:p>
          <a:p>
            <a:r>
              <a:rPr lang="en-US" sz="2000" b="1" dirty="0"/>
              <a:t>Step 1:</a:t>
            </a:r>
            <a:br>
              <a:rPr lang="en-US" sz="2000" dirty="0"/>
            </a:br>
            <a:r>
              <a:rPr lang="en-US" sz="2000" dirty="0"/>
              <a:t>R29 = R29 - 4</a:t>
            </a:r>
            <a:br>
              <a:rPr lang="en-US" sz="2000" dirty="0"/>
            </a:br>
            <a:r>
              <a:rPr lang="en-US" sz="2000" dirty="0"/>
              <a:t>👉 Stack pointer moves down (space created)</a:t>
            </a:r>
          </a:p>
          <a:p>
            <a:r>
              <a:rPr lang="en-US" sz="2000" b="1" dirty="0"/>
              <a:t>Step 2:</a:t>
            </a:r>
            <a:br>
              <a:rPr lang="en-US" sz="2000" dirty="0"/>
            </a:br>
            <a:r>
              <a:rPr lang="en-US" sz="2000" dirty="0"/>
              <a:t>Memory[ R29 ] = Data</a:t>
            </a:r>
            <a:br>
              <a:rPr lang="en-US" sz="2000" dirty="0"/>
            </a:br>
            <a:r>
              <a:rPr lang="en-US" sz="2000" dirty="0"/>
              <a:t>👉 Value is stored in stack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PUSH R1 (R1 = 5)</a:t>
            </a:r>
          </a:p>
          <a:p>
            <a:pPr lvl="0"/>
            <a:r>
              <a:rPr lang="en-US" sz="2000" dirty="0"/>
              <a:t>R29 = R29 - 4 </a:t>
            </a:r>
          </a:p>
          <a:p>
            <a:pPr lvl="0"/>
            <a:r>
              <a:rPr lang="en-US" sz="2000" dirty="0"/>
              <a:t>Memory[R29] =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2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4F987-4A66-8ED6-81DE-510BB5314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212" y="1569212"/>
            <a:ext cx="7879588" cy="4524315"/>
          </a:xfrm>
        </p:spPr>
        <p:txBody>
          <a:bodyPr/>
          <a:lstStyle/>
          <a:p>
            <a:r>
              <a:rPr lang="en-US" sz="2400" b="1" dirty="0"/>
              <a:t>POP operation (Remove data from stack)</a:t>
            </a:r>
          </a:p>
          <a:p>
            <a:r>
              <a:rPr lang="en-US" sz="2400" b="1" dirty="0"/>
              <a:t>Step 1:</a:t>
            </a:r>
            <a:br>
              <a:rPr lang="en-US" sz="2400" dirty="0"/>
            </a:br>
            <a:r>
              <a:rPr lang="en-US" sz="2400" dirty="0"/>
              <a:t>Data = Memory[ R29 ]</a:t>
            </a:r>
            <a:br>
              <a:rPr lang="en-US" sz="2400" dirty="0"/>
            </a:br>
            <a:r>
              <a:rPr lang="en-US" sz="2400" dirty="0"/>
              <a:t> Value is read from stack</a:t>
            </a:r>
          </a:p>
          <a:p>
            <a:r>
              <a:rPr lang="en-US" sz="2400" b="1" dirty="0"/>
              <a:t>Step 2:</a:t>
            </a:r>
            <a:br>
              <a:rPr lang="en-US" sz="2400" dirty="0"/>
            </a:br>
            <a:r>
              <a:rPr lang="en-US" sz="2400" dirty="0"/>
              <a:t>R29 = R29 + 4</a:t>
            </a:r>
          </a:p>
          <a:p>
            <a:r>
              <a:rPr lang="en-US" sz="2400" dirty="0"/>
              <a:t> Stack pointer moves up (space removed)</a:t>
            </a:r>
          </a:p>
          <a:p>
            <a:endParaRPr lang="en-US" sz="2400" dirty="0"/>
          </a:p>
          <a:p>
            <a:r>
              <a:rPr lang="en-US" sz="2400" dirty="0"/>
              <a:t>R29 always points to TOP of stack</a:t>
            </a:r>
            <a:br>
              <a:rPr lang="en-US" sz="2400" dirty="0"/>
            </a:br>
            <a:r>
              <a:rPr lang="en-US" sz="2400" dirty="0"/>
              <a:t>👉 PUSH → decreases R29</a:t>
            </a:r>
            <a:br>
              <a:rPr lang="en-US" sz="2400" dirty="0"/>
            </a:br>
            <a:r>
              <a:rPr lang="en-US" sz="2400" dirty="0"/>
              <a:t>👉 POP → increases R29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35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Implementing</a:t>
            </a:r>
            <a:r>
              <a:rPr spc="-130" dirty="0"/>
              <a:t> </a:t>
            </a:r>
            <a:r>
              <a:rPr spc="-635" dirty="0"/>
              <a:t>a</a:t>
            </a:r>
            <a:r>
              <a:rPr spc="-120" dirty="0"/>
              <a:t> </a:t>
            </a:r>
            <a:r>
              <a:rPr spc="-380" dirty="0"/>
              <a:t>Stack</a:t>
            </a:r>
            <a:r>
              <a:rPr spc="-120" dirty="0"/>
              <a:t> </a:t>
            </a:r>
            <a:r>
              <a:rPr spc="-30" dirty="0"/>
              <a:t>in</a:t>
            </a:r>
            <a:r>
              <a:rPr spc="-185" dirty="0"/>
              <a:t> </a:t>
            </a:r>
            <a:r>
              <a:rPr spc="-195" dirty="0"/>
              <a:t>Memory.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34996" y="3020567"/>
            <a:ext cx="1362710" cy="2703830"/>
            <a:chOff x="2634996" y="3020567"/>
            <a:chExt cx="1362710" cy="2703830"/>
          </a:xfrm>
        </p:grpSpPr>
        <p:sp>
          <p:nvSpPr>
            <p:cNvPr id="4" name="object 4"/>
            <p:cNvSpPr/>
            <p:nvPr/>
          </p:nvSpPr>
          <p:spPr>
            <a:xfrm>
              <a:off x="2648712" y="3020567"/>
              <a:ext cx="1335405" cy="2703830"/>
            </a:xfrm>
            <a:custGeom>
              <a:avLst/>
              <a:gdLst/>
              <a:ahLst/>
              <a:cxnLst/>
              <a:rect l="l" t="t" r="r" b="b"/>
              <a:pathLst>
                <a:path w="1335404" h="2703829">
                  <a:moveTo>
                    <a:pt x="0" y="0"/>
                  </a:moveTo>
                  <a:lnTo>
                    <a:pt x="0" y="2703576"/>
                  </a:lnTo>
                </a:path>
                <a:path w="1335404" h="2703829">
                  <a:moveTo>
                    <a:pt x="1335024" y="0"/>
                  </a:moveTo>
                  <a:lnTo>
                    <a:pt x="1335024" y="2703576"/>
                  </a:lnTo>
                </a:path>
                <a:path w="1335404" h="2703829">
                  <a:moveTo>
                    <a:pt x="0" y="463296"/>
                  </a:moveTo>
                  <a:lnTo>
                    <a:pt x="1335024" y="463296"/>
                  </a:lnTo>
                </a:path>
                <a:path w="1335404" h="2703829">
                  <a:moveTo>
                    <a:pt x="0" y="883920"/>
                  </a:moveTo>
                  <a:lnTo>
                    <a:pt x="1335024" y="883920"/>
                  </a:lnTo>
                </a:path>
                <a:path w="1335404" h="2703829">
                  <a:moveTo>
                    <a:pt x="0" y="1383792"/>
                  </a:moveTo>
                  <a:lnTo>
                    <a:pt x="1335024" y="1383792"/>
                  </a:lnTo>
                </a:path>
                <a:path w="1335404" h="2703829">
                  <a:moveTo>
                    <a:pt x="0" y="1807464"/>
                  </a:moveTo>
                  <a:lnTo>
                    <a:pt x="1335024" y="1807464"/>
                  </a:lnTo>
                </a:path>
                <a:path w="1335404" h="2703829">
                  <a:moveTo>
                    <a:pt x="0" y="2228088"/>
                  </a:moveTo>
                  <a:lnTo>
                    <a:pt x="1335024" y="2228088"/>
                  </a:lnTo>
                </a:path>
              </a:pathLst>
            </a:custGeom>
            <a:ln w="274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01112" y="3020567"/>
              <a:ext cx="844550" cy="2459990"/>
            </a:xfrm>
            <a:custGeom>
              <a:avLst/>
              <a:gdLst/>
              <a:ahLst/>
              <a:cxnLst/>
              <a:rect l="l" t="t" r="r" b="b"/>
              <a:pathLst>
                <a:path w="844550" h="2459990">
                  <a:moveTo>
                    <a:pt x="0" y="0"/>
                  </a:moveTo>
                  <a:lnTo>
                    <a:pt x="0" y="2459736"/>
                  </a:lnTo>
                </a:path>
                <a:path w="844550" h="2459990">
                  <a:moveTo>
                    <a:pt x="0" y="2459736"/>
                  </a:moveTo>
                  <a:lnTo>
                    <a:pt x="844296" y="2459736"/>
                  </a:lnTo>
                </a:path>
                <a:path w="844550" h="2459990">
                  <a:moveTo>
                    <a:pt x="844296" y="2459736"/>
                  </a:moveTo>
                  <a:lnTo>
                    <a:pt x="844296" y="0"/>
                  </a:lnTo>
                </a:path>
              </a:pathLst>
            </a:custGeom>
            <a:ln w="91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1112" y="4828032"/>
              <a:ext cx="844296" cy="65227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01112" y="4828032"/>
              <a:ext cx="844550" cy="652780"/>
            </a:xfrm>
            <a:custGeom>
              <a:avLst/>
              <a:gdLst/>
              <a:ahLst/>
              <a:cxnLst/>
              <a:rect l="l" t="t" r="r" b="b"/>
              <a:pathLst>
                <a:path w="844550" h="652779">
                  <a:moveTo>
                    <a:pt x="0" y="0"/>
                  </a:moveTo>
                  <a:lnTo>
                    <a:pt x="0" y="652272"/>
                  </a:lnTo>
                  <a:lnTo>
                    <a:pt x="844296" y="652272"/>
                  </a:lnTo>
                  <a:lnTo>
                    <a:pt x="844296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7563" y="3452876"/>
            <a:ext cx="1044575" cy="17907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b="1" spc="-10" dirty="0">
                <a:latin typeface="Arial"/>
                <a:cs typeface="Arial"/>
              </a:rPr>
              <a:t>0x1234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400" b="1" spc="-10" dirty="0">
                <a:latin typeface="Arial"/>
                <a:cs typeface="Arial"/>
              </a:rPr>
              <a:t>0x1235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400" b="1" spc="-10" dirty="0">
                <a:latin typeface="Arial"/>
                <a:cs typeface="Arial"/>
              </a:rPr>
              <a:t>0x1236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400" b="1" spc="-10" dirty="0">
                <a:latin typeface="Arial"/>
                <a:cs typeface="Arial"/>
              </a:rPr>
              <a:t>0x1237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1931923" y="6229603"/>
            <a:ext cx="58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/>
                <a:cs typeface="Arial"/>
              </a:rPr>
              <a:t>R29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6895" y="6202679"/>
            <a:ext cx="1386840" cy="424180"/>
          </a:xfrm>
          <a:prstGeom prst="rect">
            <a:avLst/>
          </a:prstGeom>
          <a:ln w="9142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Arial"/>
                <a:cs typeface="Arial"/>
              </a:rPr>
              <a:t>0x1237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21134" y="2984783"/>
            <a:ext cx="4378960" cy="193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b="1" spc="-10" dirty="0">
                <a:latin typeface="Arial"/>
                <a:cs typeface="Arial"/>
              </a:rPr>
              <a:t>PushByte:</a:t>
            </a:r>
            <a:r>
              <a:rPr sz="2400" b="1" dirty="0">
                <a:latin typeface="Arial"/>
                <a:cs typeface="Arial"/>
              </a:rPr>
              <a:t>	SUBI</a:t>
            </a:r>
            <a:r>
              <a:rPr sz="2400" b="1" spc="5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R29,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R29,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tabLst>
                <a:tab pos="2770505" algn="l"/>
              </a:tabLst>
            </a:pPr>
            <a:r>
              <a:rPr sz="2400" b="1" spc="-25" dirty="0">
                <a:latin typeface="Arial"/>
                <a:cs typeface="Arial"/>
              </a:rPr>
              <a:t>SB</a:t>
            </a:r>
            <a:r>
              <a:rPr sz="2400" b="1" dirty="0">
                <a:latin typeface="Arial"/>
                <a:cs typeface="Arial"/>
              </a:rPr>
              <a:t>	0(R29),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Rs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40864" algn="l"/>
                <a:tab pos="2669540" algn="l"/>
              </a:tabLst>
            </a:pPr>
            <a:r>
              <a:rPr sz="2400" b="1" spc="-10" dirty="0">
                <a:latin typeface="Arial"/>
                <a:cs typeface="Arial"/>
              </a:rPr>
              <a:t>PopByte: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LB</a:t>
            </a:r>
            <a:r>
              <a:rPr sz="2400" b="1" dirty="0">
                <a:latin typeface="Arial"/>
                <a:cs typeface="Arial"/>
              </a:rPr>
              <a:t>	Rd,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0(R29)</a:t>
            </a:r>
            <a:endParaRPr sz="2400" dirty="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ADDI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R29,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R29,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7147" y="1477772"/>
            <a:ext cx="79279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Example: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Growing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down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(into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lower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addresses)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 </a:t>
            </a:r>
            <a:r>
              <a:rPr sz="2400" dirty="0">
                <a:latin typeface="Arial MT"/>
                <a:cs typeface="Arial MT"/>
              </a:rPr>
              <a:t>R29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stack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element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1FF45-D669-1C07-9DF0-840723986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838200"/>
            <a:ext cx="9525000" cy="6477000"/>
          </a:xfrm>
        </p:spPr>
        <p:txBody>
          <a:bodyPr/>
          <a:lstStyle/>
          <a:p>
            <a:pPr lvl="0"/>
            <a:r>
              <a:rPr lang="pt-BR" sz="2000" b="1" spc="-10" dirty="0">
                <a:latin typeface="Arial"/>
                <a:cs typeface="Arial"/>
              </a:rPr>
              <a:t>PushByte:</a:t>
            </a:r>
            <a:r>
              <a:rPr lang="pt-BR" sz="2000" b="1" dirty="0">
                <a:latin typeface="Arial"/>
                <a:cs typeface="Arial"/>
              </a:rPr>
              <a:t>	SUBI</a:t>
            </a:r>
            <a:r>
              <a:rPr lang="pt-BR" sz="2000" b="1" spc="585" dirty="0">
                <a:latin typeface="Arial"/>
                <a:cs typeface="Arial"/>
              </a:rPr>
              <a:t> </a:t>
            </a:r>
            <a:r>
              <a:rPr lang="pt-BR" sz="2000" b="1" dirty="0">
                <a:latin typeface="Arial"/>
                <a:cs typeface="Arial"/>
              </a:rPr>
              <a:t>R29,</a:t>
            </a:r>
          </a:p>
          <a:p>
            <a:pPr lvl="0"/>
            <a:r>
              <a:rPr lang="pt-BR" sz="2000" b="1" spc="-60" dirty="0">
                <a:latin typeface="Arial"/>
                <a:cs typeface="Arial"/>
              </a:rPr>
              <a:t> </a:t>
            </a:r>
            <a:r>
              <a:rPr lang="pt-BR" sz="2000" b="1" dirty="0">
                <a:latin typeface="Arial"/>
                <a:cs typeface="Arial"/>
              </a:rPr>
              <a:t>R29,</a:t>
            </a:r>
            <a:r>
              <a:rPr lang="pt-BR" sz="2000" b="1" spc="-60" dirty="0">
                <a:latin typeface="Arial"/>
                <a:cs typeface="Arial"/>
              </a:rPr>
              <a:t> </a:t>
            </a:r>
            <a:r>
              <a:rPr lang="pt-BR" sz="2000" b="1" spc="-50" dirty="0">
                <a:latin typeface="Arial"/>
                <a:cs typeface="Arial"/>
              </a:rPr>
              <a:t>1{</a:t>
            </a:r>
            <a:r>
              <a:rPr lang="en-US" sz="2000" b="1" dirty="0"/>
              <a:t>R29 = Stack Pointer (SP)</a:t>
            </a:r>
            <a:r>
              <a:rPr lang="en-US" sz="2000" dirty="0"/>
              <a:t> → points to top of stack {</a:t>
            </a:r>
            <a:r>
              <a:rPr lang="en-US" sz="2000" dirty="0">
                <a:highlight>
                  <a:srgbClr val="FFFF00"/>
                </a:highlight>
              </a:rPr>
              <a:t>Stack grows </a:t>
            </a:r>
            <a:r>
              <a:rPr lang="en-US" sz="2000" b="1" dirty="0">
                <a:highlight>
                  <a:srgbClr val="FFFF00"/>
                </a:highlight>
              </a:rPr>
              <a:t>downwards</a:t>
            </a:r>
            <a:r>
              <a:rPr lang="en-US" sz="2000" dirty="0">
                <a:highlight>
                  <a:srgbClr val="FFFF00"/>
                </a:highlight>
              </a:rPr>
              <a:t> (towards smaller addresses</a:t>
            </a:r>
            <a:r>
              <a:rPr lang="en-US" sz="2000" dirty="0"/>
              <a:t>}</a:t>
            </a:r>
          </a:p>
          <a:p>
            <a:pPr lvl="0"/>
            <a:r>
              <a:rPr lang="en-US" sz="2000" dirty="0">
                <a:highlight>
                  <a:srgbClr val="FFFF00"/>
                </a:highlight>
              </a:rPr>
              <a:t>{Subtract 1 from R29 </a:t>
            </a:r>
          </a:p>
          <a:p>
            <a:pPr lvl="0"/>
            <a:r>
              <a:rPr lang="en-US" sz="2000" dirty="0">
                <a:highlight>
                  <a:srgbClr val="FFFF00"/>
                </a:highlight>
              </a:rPr>
              <a:t>Move stack pointer </a:t>
            </a:r>
            <a:r>
              <a:rPr lang="en-US" sz="2000" b="1" dirty="0">
                <a:highlight>
                  <a:srgbClr val="FFFF00"/>
                </a:highlight>
              </a:rPr>
              <a:t>down by 1 byte</a:t>
            </a:r>
            <a:r>
              <a:rPr lang="en-US" sz="2000" dirty="0">
                <a:highlight>
                  <a:srgbClr val="FFFF00"/>
                </a:highlight>
              </a:rPr>
              <a:t> </a:t>
            </a:r>
          </a:p>
          <a:p>
            <a:br>
              <a:rPr lang="en-US" sz="2000" dirty="0">
                <a:highlight>
                  <a:srgbClr val="FFFF00"/>
                </a:highlight>
              </a:rPr>
            </a:br>
            <a:r>
              <a:rPr lang="en-US" sz="2000" b="1" dirty="0">
                <a:highlight>
                  <a:srgbClr val="FFFF00"/>
                </a:highlight>
              </a:rPr>
              <a:t>Make space on stack for 1 byte</a:t>
            </a:r>
            <a:endParaRPr lang="en-US" sz="2000" dirty="0">
              <a:highlight>
                <a:srgbClr val="FFFF00"/>
              </a:highlight>
            </a:endParaRPr>
          </a:p>
          <a:p>
            <a:pPr lvl="0"/>
            <a:r>
              <a:rPr lang="en-US" sz="2000" dirty="0">
                <a:highlight>
                  <a:srgbClr val="FFFF00"/>
                </a:highlight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lang="pt-BR" sz="2000" b="1" spc="-50" dirty="0">
                <a:latin typeface="Arial"/>
                <a:cs typeface="Arial"/>
              </a:rPr>
              <a:t>}</a:t>
            </a:r>
            <a:endParaRPr lang="pt-BR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lang="pt-BR" sz="2000" b="1" spc="-25" dirty="0">
                <a:latin typeface="Arial"/>
                <a:cs typeface="Arial"/>
              </a:rPr>
              <a:t>SB </a:t>
            </a:r>
            <a:r>
              <a:rPr lang="pt-BR" sz="2000" b="1" dirty="0">
                <a:latin typeface="Arial"/>
                <a:cs typeface="Arial"/>
              </a:rPr>
              <a:t>0(R29),</a:t>
            </a:r>
            <a:r>
              <a:rPr lang="pt-BR" sz="2000" b="1" spc="-75" dirty="0">
                <a:latin typeface="Arial"/>
                <a:cs typeface="Arial"/>
              </a:rPr>
              <a:t> </a:t>
            </a:r>
            <a:r>
              <a:rPr lang="pt-BR" sz="2000" b="1" spc="-25" dirty="0">
                <a:latin typeface="Arial"/>
                <a:cs typeface="Arial"/>
              </a:rPr>
              <a:t>Rs {</a:t>
            </a:r>
            <a:r>
              <a:rPr lang="en-US" sz="2000" dirty="0">
                <a:highlight>
                  <a:srgbClr val="FFFF00"/>
                </a:highlight>
              </a:rPr>
              <a:t>Store 1 byte from register </a:t>
            </a:r>
            <a:r>
              <a:rPr lang="en-US" sz="2000" b="1" dirty="0">
                <a:highlight>
                  <a:srgbClr val="FFFF00"/>
                </a:highlight>
              </a:rPr>
              <a:t>Rs</a:t>
            </a:r>
            <a:r>
              <a:rPr lang="en-US" sz="2000" dirty="0">
                <a:highlight>
                  <a:srgbClr val="FFFF00"/>
                </a:highlight>
              </a:rPr>
              <a:t> into memory at address </a:t>
            </a:r>
            <a:r>
              <a:rPr lang="en-US" sz="2000" b="1" dirty="0">
                <a:highlight>
                  <a:srgbClr val="FFFF00"/>
                </a:highlight>
              </a:rPr>
              <a:t>R29</a:t>
            </a:r>
            <a:r>
              <a:rPr lang="pt-BR" sz="2000" b="1" spc="-25" dirty="0">
                <a:latin typeface="Arial"/>
                <a:cs typeface="Arial"/>
              </a:rPr>
              <a:t>}</a:t>
            </a:r>
            <a:endParaRPr lang="pt-BR"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lang="pt-BR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40864" algn="l"/>
                <a:tab pos="2669540" algn="l"/>
              </a:tabLst>
            </a:pPr>
            <a:r>
              <a:rPr lang="pt-BR" sz="2000" b="1" spc="-10" dirty="0">
                <a:latin typeface="Arial"/>
                <a:cs typeface="Arial"/>
              </a:rPr>
              <a:t>PopByte:</a:t>
            </a:r>
            <a:r>
              <a:rPr lang="pt-BR" sz="2000" b="1" dirty="0">
                <a:latin typeface="Arial"/>
                <a:cs typeface="Arial"/>
              </a:rPr>
              <a:t>	</a:t>
            </a:r>
            <a:r>
              <a:rPr lang="pt-BR" sz="2000" b="1" spc="-25" dirty="0">
                <a:latin typeface="Arial"/>
                <a:cs typeface="Arial"/>
              </a:rPr>
              <a:t>LB</a:t>
            </a:r>
            <a:r>
              <a:rPr lang="pt-BR" sz="2000" b="1" dirty="0">
                <a:latin typeface="Arial"/>
                <a:cs typeface="Arial"/>
              </a:rPr>
              <a:t>	Rd,</a:t>
            </a:r>
            <a:r>
              <a:rPr lang="pt-BR" sz="2000" b="1" spc="-30" dirty="0">
                <a:latin typeface="Arial"/>
                <a:cs typeface="Arial"/>
              </a:rPr>
              <a:t> </a:t>
            </a:r>
            <a:r>
              <a:rPr lang="pt-BR" sz="2000" b="1" spc="-10" dirty="0">
                <a:latin typeface="Arial"/>
                <a:cs typeface="Arial"/>
              </a:rPr>
              <a:t>0(R29)     {</a:t>
            </a:r>
            <a:r>
              <a:rPr lang="en-US" sz="2000" dirty="0">
                <a:highlight>
                  <a:srgbClr val="FFFF00"/>
                </a:highlight>
              </a:rPr>
              <a:t>Load 1 byte from memory (at R29) into register </a:t>
            </a:r>
            <a:r>
              <a:rPr lang="en-US" sz="2000" b="1" dirty="0">
                <a:highlight>
                  <a:srgbClr val="FFFF00"/>
                </a:highlight>
              </a:rPr>
              <a:t>Rd</a:t>
            </a:r>
            <a:r>
              <a:rPr lang="pt-BR" sz="2000" b="1" spc="-10" dirty="0">
                <a:latin typeface="Arial"/>
                <a:cs typeface="Arial"/>
              </a:rPr>
              <a:t>}</a:t>
            </a:r>
            <a:endParaRPr lang="pt-BR" sz="2000" dirty="0">
              <a:latin typeface="Arial"/>
              <a:cs typeface="Arial"/>
            </a:endParaRPr>
          </a:p>
          <a:p>
            <a:pPr lvl="0"/>
            <a:r>
              <a:rPr lang="pt-BR" sz="2000" b="1" dirty="0">
                <a:latin typeface="Arial"/>
                <a:cs typeface="Arial"/>
              </a:rPr>
              <a:t>ADDI</a:t>
            </a:r>
            <a:r>
              <a:rPr lang="pt-BR" sz="2000" b="1" spc="-65" dirty="0">
                <a:latin typeface="Arial"/>
                <a:cs typeface="Arial"/>
              </a:rPr>
              <a:t> </a:t>
            </a:r>
            <a:r>
              <a:rPr lang="pt-BR" sz="2000" b="1" dirty="0">
                <a:latin typeface="Arial"/>
                <a:cs typeface="Arial"/>
              </a:rPr>
              <a:t>R29,</a:t>
            </a:r>
            <a:r>
              <a:rPr lang="pt-BR" sz="2000" b="1" spc="-60" dirty="0">
                <a:latin typeface="Arial"/>
                <a:cs typeface="Arial"/>
              </a:rPr>
              <a:t> </a:t>
            </a:r>
            <a:r>
              <a:rPr lang="pt-BR" sz="2000" b="1" dirty="0">
                <a:latin typeface="Arial"/>
                <a:cs typeface="Arial"/>
              </a:rPr>
              <a:t>R29,</a:t>
            </a:r>
            <a:r>
              <a:rPr lang="pt-BR" sz="2000" b="1" spc="-85" dirty="0">
                <a:latin typeface="Arial"/>
                <a:cs typeface="Arial"/>
              </a:rPr>
              <a:t> </a:t>
            </a:r>
            <a:r>
              <a:rPr lang="pt-BR" sz="2000" b="1" spc="-50" dirty="0">
                <a:latin typeface="Arial"/>
                <a:cs typeface="Arial"/>
              </a:rPr>
              <a:t>1                              {</a:t>
            </a:r>
            <a:r>
              <a:rPr lang="en-US" sz="2000" dirty="0">
                <a:highlight>
                  <a:srgbClr val="FFFF00"/>
                </a:highlight>
              </a:rPr>
              <a:t>Add 1 to R29 Move stack pointer </a:t>
            </a:r>
            <a:r>
              <a:rPr lang="en-US" sz="2000" b="1" dirty="0">
                <a:highlight>
                  <a:srgbClr val="FFFF00"/>
                </a:highlight>
              </a:rPr>
              <a:t>up by 1 byte</a:t>
            </a:r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pt-BR" sz="2000" b="1" spc="-50" dirty="0">
                <a:latin typeface="Arial"/>
                <a:cs typeface="Arial"/>
              </a:rPr>
              <a:t>}</a:t>
            </a:r>
            <a:endParaRPr lang="pt-BR" sz="2000" dirty="0">
              <a:latin typeface="Arial"/>
              <a:cs typeface="Arial"/>
            </a:endParaRPr>
          </a:p>
          <a:p>
            <a:endParaRPr lang="en-US" dirty="0"/>
          </a:p>
          <a:p>
            <a:r>
              <a:rPr lang="en-US" b="1" dirty="0"/>
              <a:t>LOAD moves data from memory to register, while STORE moves data from register to memory.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29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52825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Function</a:t>
            </a:r>
            <a:r>
              <a:rPr spc="-105" dirty="0"/>
              <a:t> </a:t>
            </a:r>
            <a:r>
              <a:rPr spc="-254" dirty="0"/>
              <a:t>Call</a:t>
            </a:r>
            <a:r>
              <a:rPr spc="-70" dirty="0"/>
              <a:t> </a:t>
            </a:r>
            <a:r>
              <a:rPr spc="-365" dirty="0"/>
              <a:t>and</a:t>
            </a:r>
            <a:r>
              <a:rPr spc="-95" dirty="0"/>
              <a:t> </a:t>
            </a:r>
            <a:r>
              <a:rPr spc="-200" dirty="0"/>
              <a:t>Return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9828" y="1632204"/>
            <a:ext cx="3362325" cy="4721860"/>
            <a:chOff x="909828" y="1632204"/>
            <a:chExt cx="3362325" cy="4721860"/>
          </a:xfrm>
        </p:grpSpPr>
        <p:sp>
          <p:nvSpPr>
            <p:cNvPr id="4" name="object 4"/>
            <p:cNvSpPr/>
            <p:nvPr/>
          </p:nvSpPr>
          <p:spPr>
            <a:xfrm>
              <a:off x="914400" y="1636776"/>
              <a:ext cx="3352800" cy="4712335"/>
            </a:xfrm>
            <a:custGeom>
              <a:avLst/>
              <a:gdLst/>
              <a:ahLst/>
              <a:cxnLst/>
              <a:rect l="l" t="t" r="r" b="b"/>
              <a:pathLst>
                <a:path w="3352800" h="4712335">
                  <a:moveTo>
                    <a:pt x="3352800" y="0"/>
                  </a:moveTo>
                  <a:lnTo>
                    <a:pt x="0" y="0"/>
                  </a:lnTo>
                  <a:lnTo>
                    <a:pt x="0" y="4712208"/>
                  </a:lnTo>
                  <a:lnTo>
                    <a:pt x="3352800" y="4712208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400" y="1636776"/>
              <a:ext cx="3352800" cy="4712335"/>
            </a:xfrm>
            <a:custGeom>
              <a:avLst/>
              <a:gdLst/>
              <a:ahLst/>
              <a:cxnLst/>
              <a:rect l="l" t="t" r="r" b="b"/>
              <a:pathLst>
                <a:path w="3352800" h="4712335">
                  <a:moveTo>
                    <a:pt x="0" y="0"/>
                  </a:moveTo>
                  <a:lnTo>
                    <a:pt x="0" y="4712208"/>
                  </a:lnTo>
                  <a:lnTo>
                    <a:pt x="3352800" y="4712208"/>
                  </a:lnTo>
                  <a:lnTo>
                    <a:pt x="3352800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71016" y="4288535"/>
            <a:ext cx="2670175" cy="1871980"/>
          </a:xfrm>
          <a:prstGeom prst="rect">
            <a:avLst/>
          </a:prstGeom>
          <a:solidFill>
            <a:srgbClr val="CC9900"/>
          </a:solidFill>
          <a:ln w="9142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600" b="1" dirty="0">
                <a:latin typeface="Arial"/>
                <a:cs typeface="Arial"/>
              </a:rPr>
              <a:t>void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A()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{</a:t>
            </a:r>
            <a:endParaRPr sz="1600" dirty="0">
              <a:latin typeface="Arial"/>
              <a:cs typeface="Arial"/>
            </a:endParaRPr>
          </a:p>
          <a:p>
            <a:pPr marL="381000" marR="1819275" indent="-3175">
              <a:lnSpc>
                <a:spcPts val="2900"/>
              </a:lnSpc>
              <a:spcBef>
                <a:spcPts val="240"/>
              </a:spcBef>
            </a:pPr>
            <a:r>
              <a:rPr sz="1600" b="1" spc="-50" dirty="0">
                <a:latin typeface="Arial"/>
                <a:cs typeface="Arial"/>
              </a:rPr>
              <a:t>… </a:t>
            </a:r>
            <a:r>
              <a:rPr sz="1600" b="1" spc="-10" dirty="0">
                <a:latin typeface="Arial"/>
                <a:cs typeface="Arial"/>
              </a:rPr>
              <a:t>B(5);</a:t>
            </a:r>
            <a:endParaRPr sz="1600" dirty="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705"/>
              </a:spcBef>
            </a:pPr>
            <a:r>
              <a:rPr sz="1600" b="1" spc="-50" dirty="0">
                <a:latin typeface="Arial"/>
                <a:cs typeface="Arial"/>
              </a:rPr>
              <a:t>…</a:t>
            </a:r>
            <a:endParaRPr sz="16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1600" b="1" spc="-50" dirty="0">
                <a:latin typeface="Arial"/>
                <a:cs typeface="Arial"/>
              </a:rPr>
              <a:t>}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1016" y="1767839"/>
            <a:ext cx="2670175" cy="2322830"/>
          </a:xfrm>
          <a:prstGeom prst="rect">
            <a:avLst/>
          </a:prstGeom>
          <a:solidFill>
            <a:srgbClr val="BFBFBF"/>
          </a:solidFill>
          <a:ln w="9142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R="1106805" algn="ctr">
              <a:lnSpc>
                <a:spcPct val="100000"/>
              </a:lnSpc>
              <a:spcBef>
                <a:spcPts val="320"/>
              </a:spcBef>
            </a:pPr>
            <a:r>
              <a:rPr sz="1600" b="1" dirty="0">
                <a:latin typeface="Arial"/>
                <a:cs typeface="Arial"/>
              </a:rPr>
              <a:t>void B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(int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x)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{</a:t>
            </a:r>
            <a:endParaRPr sz="1600" dirty="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  <a:spcBef>
                <a:spcPts val="960"/>
              </a:spcBef>
            </a:pPr>
            <a:r>
              <a:rPr sz="1600" b="1" dirty="0">
                <a:latin typeface="Arial"/>
                <a:cs typeface="Arial"/>
              </a:rPr>
              <a:t>int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a,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b;</a:t>
            </a:r>
            <a:endParaRPr sz="1600" dirty="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980"/>
              </a:spcBef>
            </a:pPr>
            <a:r>
              <a:rPr sz="1600" b="1" spc="-50" dirty="0">
                <a:latin typeface="Arial"/>
                <a:cs typeface="Arial"/>
              </a:rPr>
              <a:t>…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 dirty="0">
              <a:latin typeface="Arial"/>
              <a:cs typeface="Arial"/>
            </a:endParaRPr>
          </a:p>
          <a:p>
            <a:pPr marR="1111885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Arial"/>
                <a:cs typeface="Arial"/>
              </a:rPr>
              <a:t>return();</a:t>
            </a:r>
            <a:endParaRPr sz="16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1600" b="1" spc="-50" dirty="0">
                <a:latin typeface="Arial"/>
                <a:cs typeface="Arial"/>
              </a:rPr>
              <a:t>}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3996" y="4601972"/>
            <a:ext cx="1868170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ADDI</a:t>
            </a:r>
            <a:r>
              <a:rPr sz="1800" b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R1,</a:t>
            </a:r>
            <a:r>
              <a:rPr sz="1800" b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R0,</a:t>
            </a:r>
            <a:r>
              <a:rPr sz="1800" b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C9900"/>
                </a:solidFill>
                <a:latin typeface="Arial"/>
                <a:cs typeface="Arial"/>
              </a:rPr>
              <a:t>5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ADDI</a:t>
            </a:r>
            <a:r>
              <a:rPr sz="1800" b="1" spc="-2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R29,</a:t>
            </a:r>
            <a:r>
              <a:rPr sz="1800" b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R29,</a:t>
            </a:r>
            <a:r>
              <a:rPr sz="1800" b="1" spc="-3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C9900"/>
                </a:solidFill>
                <a:latin typeface="Arial"/>
                <a:cs typeface="Arial"/>
              </a:rPr>
              <a:t>4</a:t>
            </a:r>
            <a:endParaRPr sz="1800" dirty="0">
              <a:latin typeface="Arial"/>
              <a:cs typeface="Arial"/>
            </a:endParaRPr>
          </a:p>
          <a:p>
            <a:pPr marL="15240" marR="297180" indent="-3175">
              <a:lnSpc>
                <a:spcPct val="118900"/>
              </a:lnSpc>
              <a:spcBef>
                <a:spcPts val="695"/>
              </a:spcBef>
            </a:pP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SW</a:t>
            </a:r>
            <a:r>
              <a:rPr sz="1800" b="1" spc="-2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0(R29),</a:t>
            </a:r>
            <a:r>
              <a:rPr sz="1800" b="1" spc="-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CC9900"/>
                </a:solidFill>
                <a:latin typeface="Arial"/>
                <a:cs typeface="Arial"/>
              </a:rPr>
              <a:t>R1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JAL</a:t>
            </a:r>
            <a:r>
              <a:rPr sz="1800" b="1" spc="-3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C9900"/>
                </a:solidFill>
                <a:latin typeface="Arial"/>
                <a:cs typeface="Arial"/>
              </a:rPr>
              <a:t>B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7171" y="1666747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3A802E"/>
                </a:solidFill>
                <a:latin typeface="Arial"/>
                <a:cs typeface="Arial"/>
              </a:rPr>
              <a:t>B</a:t>
            </a:r>
            <a:r>
              <a:rPr sz="1800" spc="-25" dirty="0">
                <a:solidFill>
                  <a:srgbClr val="3A802E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51776" y="1210055"/>
            <a:ext cx="1183005" cy="4676140"/>
          </a:xfrm>
          <a:custGeom>
            <a:avLst/>
            <a:gdLst/>
            <a:ahLst/>
            <a:cxnLst/>
            <a:rect l="l" t="t" r="r" b="b"/>
            <a:pathLst>
              <a:path w="1183004" h="4676140">
                <a:moveTo>
                  <a:pt x="0" y="4675632"/>
                </a:moveTo>
                <a:lnTo>
                  <a:pt x="0" y="0"/>
                </a:lnTo>
              </a:path>
              <a:path w="1183004" h="4676140">
                <a:moveTo>
                  <a:pt x="1182624" y="4675632"/>
                </a:moveTo>
                <a:lnTo>
                  <a:pt x="1182624" y="0"/>
                </a:lnTo>
              </a:path>
              <a:path w="1183004" h="4676140">
                <a:moveTo>
                  <a:pt x="0" y="0"/>
                </a:moveTo>
                <a:lnTo>
                  <a:pt x="1182624" y="0"/>
                </a:lnTo>
              </a:path>
            </a:pathLst>
          </a:custGeom>
          <a:ln w="27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65491" y="1127252"/>
            <a:ext cx="1155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0485" algn="ctr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51776" y="1560575"/>
            <a:ext cx="1183005" cy="454659"/>
          </a:xfrm>
          <a:custGeom>
            <a:avLst/>
            <a:gdLst/>
            <a:ahLst/>
            <a:cxnLst/>
            <a:rect l="l" t="t" r="r" b="b"/>
            <a:pathLst>
              <a:path w="1183004" h="454660">
                <a:moveTo>
                  <a:pt x="0" y="12191"/>
                </a:moveTo>
                <a:lnTo>
                  <a:pt x="1182624" y="0"/>
                </a:lnTo>
              </a:path>
              <a:path w="1183004" h="454660">
                <a:moveTo>
                  <a:pt x="0" y="454151"/>
                </a:moveTo>
                <a:lnTo>
                  <a:pt x="1182624" y="454151"/>
                </a:lnTo>
              </a:path>
            </a:pathLst>
          </a:custGeom>
          <a:ln w="27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19743" y="1682495"/>
            <a:ext cx="304800" cy="170815"/>
          </a:xfrm>
          <a:custGeom>
            <a:avLst/>
            <a:gdLst/>
            <a:ahLst/>
            <a:cxnLst/>
            <a:rect l="l" t="t" r="r" b="b"/>
            <a:pathLst>
              <a:path w="304800" h="170814">
                <a:moveTo>
                  <a:pt x="170687" y="0"/>
                </a:moveTo>
                <a:lnTo>
                  <a:pt x="0" y="85343"/>
                </a:lnTo>
                <a:lnTo>
                  <a:pt x="170687" y="170687"/>
                </a:lnTo>
                <a:lnTo>
                  <a:pt x="170687" y="112775"/>
                </a:lnTo>
                <a:lnTo>
                  <a:pt x="143255" y="112775"/>
                </a:lnTo>
                <a:lnTo>
                  <a:pt x="143255" y="54863"/>
                </a:lnTo>
                <a:lnTo>
                  <a:pt x="170687" y="54863"/>
                </a:lnTo>
                <a:lnTo>
                  <a:pt x="170687" y="0"/>
                </a:lnTo>
                <a:close/>
              </a:path>
              <a:path w="304800" h="170814">
                <a:moveTo>
                  <a:pt x="170687" y="54863"/>
                </a:moveTo>
                <a:lnTo>
                  <a:pt x="143255" y="54863"/>
                </a:lnTo>
                <a:lnTo>
                  <a:pt x="143255" y="112775"/>
                </a:lnTo>
                <a:lnTo>
                  <a:pt x="170687" y="112775"/>
                </a:lnTo>
                <a:lnTo>
                  <a:pt x="170687" y="54863"/>
                </a:lnTo>
                <a:close/>
              </a:path>
              <a:path w="304800" h="170814">
                <a:moveTo>
                  <a:pt x="304800" y="54863"/>
                </a:moveTo>
                <a:lnTo>
                  <a:pt x="170687" y="54863"/>
                </a:lnTo>
                <a:lnTo>
                  <a:pt x="170687" y="112775"/>
                </a:lnTo>
                <a:lnTo>
                  <a:pt x="304800" y="112775"/>
                </a:lnTo>
                <a:lnTo>
                  <a:pt x="304800" y="54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19743" y="1310639"/>
            <a:ext cx="304800" cy="170815"/>
          </a:xfrm>
          <a:custGeom>
            <a:avLst/>
            <a:gdLst/>
            <a:ahLst/>
            <a:cxnLst/>
            <a:rect l="l" t="t" r="r" b="b"/>
            <a:pathLst>
              <a:path w="304800" h="170815">
                <a:moveTo>
                  <a:pt x="170687" y="0"/>
                </a:moveTo>
                <a:lnTo>
                  <a:pt x="0" y="85344"/>
                </a:lnTo>
                <a:lnTo>
                  <a:pt x="170687" y="170687"/>
                </a:lnTo>
                <a:lnTo>
                  <a:pt x="170687" y="112775"/>
                </a:lnTo>
                <a:lnTo>
                  <a:pt x="143255" y="112775"/>
                </a:lnTo>
                <a:lnTo>
                  <a:pt x="143255" y="54863"/>
                </a:lnTo>
                <a:lnTo>
                  <a:pt x="170687" y="54863"/>
                </a:lnTo>
                <a:lnTo>
                  <a:pt x="170687" y="0"/>
                </a:lnTo>
                <a:close/>
              </a:path>
              <a:path w="304800" h="170815">
                <a:moveTo>
                  <a:pt x="170687" y="54863"/>
                </a:moveTo>
                <a:lnTo>
                  <a:pt x="143255" y="54863"/>
                </a:lnTo>
                <a:lnTo>
                  <a:pt x="143255" y="112775"/>
                </a:lnTo>
                <a:lnTo>
                  <a:pt x="170687" y="112775"/>
                </a:lnTo>
                <a:lnTo>
                  <a:pt x="170687" y="54863"/>
                </a:lnTo>
                <a:close/>
              </a:path>
              <a:path w="304800" h="170815">
                <a:moveTo>
                  <a:pt x="304800" y="54863"/>
                </a:moveTo>
                <a:lnTo>
                  <a:pt x="170687" y="54863"/>
                </a:lnTo>
                <a:lnTo>
                  <a:pt x="170687" y="112775"/>
                </a:lnTo>
                <a:lnTo>
                  <a:pt x="304800" y="112775"/>
                </a:lnTo>
                <a:lnTo>
                  <a:pt x="304800" y="54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437119" y="1721611"/>
            <a:ext cx="874394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9"/>
              </a:lnSpc>
              <a:tabLst>
                <a:tab pos="447675" algn="l"/>
              </a:tabLst>
            </a:pPr>
            <a:r>
              <a:rPr sz="1800" spc="-50" dirty="0">
                <a:latin typeface="Arial MT"/>
                <a:cs typeface="Arial MT"/>
              </a:rPr>
              <a:t>5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200" b="1" dirty="0">
                <a:latin typeface="Arial"/>
                <a:cs typeface="Arial"/>
              </a:rPr>
              <a:t>(int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x)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6558788" y="718819"/>
            <a:ext cx="2744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Call/Return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451D9-DD05-9AEB-ABB5-0F4B15A5C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212" y="685801"/>
            <a:ext cx="8717788" cy="7920117"/>
          </a:xfrm>
        </p:spPr>
        <p:txBody>
          <a:bodyPr/>
          <a:lstStyle/>
          <a:p>
            <a:pPr lvl="0"/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</a:t>
            </a:r>
            <a:r>
              <a:rPr lang="pt-BR"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R1,</a:t>
            </a:r>
            <a:r>
              <a:rPr lang="pt-BR"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R0,</a:t>
            </a:r>
            <a:r>
              <a:rPr lang="pt-BR"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{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to register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R0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and store result in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R1 ,</a:t>
            </a:r>
            <a:r>
              <a:rPr lang="en-US" sz="2000" b="1" dirty="0">
                <a:highlight>
                  <a:srgbClr val="FFFF00"/>
                </a:highlight>
              </a:rPr>
              <a:t> R0 is always 0</a:t>
            </a:r>
            <a:r>
              <a:rPr lang="en-US" sz="2000" dirty="0">
                <a:highlight>
                  <a:srgbClr val="FFFF00"/>
                </a:highlight>
              </a:rPr>
              <a:t> (in most architectures) R1 = 0 + 5 = </a:t>
            </a:r>
            <a:r>
              <a:rPr lang="en-US" sz="2000" b="1" dirty="0">
                <a:highlight>
                  <a:srgbClr val="FFFF00"/>
                </a:highlight>
              </a:rPr>
              <a:t>5</a:t>
            </a:r>
            <a:r>
              <a:rPr lang="en-US" sz="2000" dirty="0">
                <a:highlight>
                  <a:srgbClr val="FFFF00"/>
                </a:highlight>
              </a:rPr>
              <a:t> ;</a:t>
            </a:r>
            <a:r>
              <a:rPr lang="en-US" sz="2000" b="1" dirty="0">
                <a:highlight>
                  <a:srgbClr val="FFFF00"/>
                </a:highlight>
              </a:rPr>
              <a:t>Put value 5 into R1</a:t>
            </a:r>
            <a:r>
              <a:rPr lang="pt-BR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0"/>
            <a:endParaRPr lang="pt-BR" sz="20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</a:t>
            </a:r>
            <a:r>
              <a:rPr lang="pt-BR"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R29,</a:t>
            </a:r>
            <a:r>
              <a:rPr lang="pt-BR"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R29,</a:t>
            </a:r>
            <a:r>
              <a:rPr lang="pt-BR"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                             </a:t>
            </a:r>
            <a:r>
              <a:rPr lang="pt-BR" sz="2000" b="1" spc="-5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dirty="0">
                <a:highlight>
                  <a:srgbClr val="FFFF00"/>
                </a:highlight>
              </a:rPr>
              <a:t>Add </a:t>
            </a:r>
            <a:r>
              <a:rPr lang="en-US" sz="2000" b="1" dirty="0">
                <a:highlight>
                  <a:srgbClr val="FFFF00"/>
                </a:highlight>
              </a:rPr>
              <a:t>4</a:t>
            </a:r>
            <a:r>
              <a:rPr lang="en-US" sz="2000" dirty="0">
                <a:highlight>
                  <a:srgbClr val="FFFF00"/>
                </a:highlight>
              </a:rPr>
              <a:t> to stack pointer (R29)</a:t>
            </a:r>
            <a:r>
              <a:rPr lang="pt-BR" sz="2000" b="1" spc="-5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0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" marR="297180" indent="-3175">
              <a:lnSpc>
                <a:spcPct val="100000"/>
              </a:lnSpc>
              <a:spcBef>
                <a:spcPts val="695"/>
              </a:spcBef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pt-BR"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0(R29),</a:t>
            </a:r>
            <a:r>
              <a:rPr lang="pt-BR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     </a:t>
            </a:r>
            <a:r>
              <a:rPr lang="pt-BR" sz="2000" b="1" spc="-5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dirty="0">
                <a:highlight>
                  <a:srgbClr val="FFFF00"/>
                </a:highlight>
              </a:rPr>
              <a:t>Store word (4 bytes) from </a:t>
            </a:r>
            <a:r>
              <a:rPr lang="en-US" sz="2000" b="1" dirty="0">
                <a:highlight>
                  <a:srgbClr val="FFFF00"/>
                </a:highlight>
              </a:rPr>
              <a:t>R1</a:t>
            </a:r>
            <a:r>
              <a:rPr lang="en-US" sz="2000" dirty="0">
                <a:highlight>
                  <a:srgbClr val="FFFF00"/>
                </a:highlight>
              </a:rPr>
              <a:t> into memory at address </a:t>
            </a:r>
            <a:r>
              <a:rPr lang="en-US" sz="2000" b="1" dirty="0">
                <a:highlight>
                  <a:srgbClr val="FFFF00"/>
                </a:highlight>
              </a:rPr>
              <a:t>R29</a:t>
            </a:r>
            <a:r>
              <a:rPr lang="pt-BR" sz="2000" b="1" spc="-5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000" b="1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</a:t>
            </a:r>
            <a:r>
              <a:rPr lang="pt-BR"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spc="-5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             {</a:t>
            </a:r>
            <a:r>
              <a:rPr lang="en-US" sz="2000" dirty="0">
                <a:highlight>
                  <a:srgbClr val="FFFF00"/>
                </a:highlight>
              </a:rPr>
              <a:t>Jump to function/label </a:t>
            </a:r>
            <a:r>
              <a:rPr lang="en-US" sz="2000" b="1" dirty="0">
                <a:highlight>
                  <a:srgbClr val="FFFF00"/>
                </a:highlight>
              </a:rPr>
              <a:t>B</a:t>
            </a:r>
            <a:r>
              <a:rPr lang="en-US" sz="2000" dirty="0">
                <a:highlight>
                  <a:srgbClr val="FFFF00"/>
                </a:highlight>
              </a:rPr>
              <a:t>  Save return address in </a:t>
            </a:r>
            <a:r>
              <a:rPr lang="en-US" sz="2000" b="1" dirty="0">
                <a:highlight>
                  <a:srgbClr val="FFFF00"/>
                </a:highlight>
              </a:rPr>
              <a:t>link register</a:t>
            </a:r>
            <a:r>
              <a:rPr lang="en-US" sz="2000" dirty="0">
                <a:highlight>
                  <a:srgbClr val="FFFF00"/>
                </a:highlight>
              </a:rPr>
              <a:t> (usually R31)</a:t>
            </a:r>
            <a:r>
              <a:rPr lang="pt-BR" sz="2000" b="1" spc="-5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b="1" spc="-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1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1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449950"/>
              </p:ext>
            </p:extLst>
          </p:nvPr>
        </p:nvGraphicFramePr>
        <p:xfrm>
          <a:off x="723900" y="1498092"/>
          <a:ext cx="9029701" cy="62743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4936">
                  <a:extLst>
                    <a:ext uri="{9D8B030D-6E8A-4147-A177-3AD203B41FA5}">
                      <a16:colId xmlns:a16="http://schemas.microsoft.com/office/drawing/2014/main" val="602927456"/>
                    </a:ext>
                  </a:extLst>
                </a:gridCol>
              </a:tblGrid>
              <a:tr h="575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Mnemonics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Example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Meaning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2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3013">
                <a:tc>
                  <a:txBody>
                    <a:bodyPr/>
                    <a:lstStyle/>
                    <a:p>
                      <a:pPr marL="91440" marR="114300">
                        <a:lnSpc>
                          <a:spcPts val="2620"/>
                        </a:lnSpc>
                        <a:spcBef>
                          <a:spcPts val="42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Conditional Branch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911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BEQ,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BNE,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BGEZ,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BLEZ,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BLTZ,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BGTZ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BLTZ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R2,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16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R2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0,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2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R2 is negative, the (PC) is updated to PC + 4 - 16, effectively jumping backward by 12 instructions (since PC increments by 4 during fetch). </a:t>
                      </a:r>
                      <a:endParaRPr sz="12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65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Jump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J,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JR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J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target</a:t>
                      </a:r>
                      <a:r>
                        <a:rPr sz="1200" spc="-15" baseline="-20833" dirty="0">
                          <a:latin typeface="Arial MT"/>
                          <a:cs typeface="Arial MT"/>
                        </a:rPr>
                        <a:t>26</a:t>
                      </a:r>
                      <a:endParaRPr sz="1200" baseline="-20833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Wingdings"/>
                          <a:cs typeface="Wingdings"/>
                        </a:rPr>
                        <a:t></a:t>
                      </a:r>
                      <a:endParaRPr sz="1200" dirty="0">
                        <a:latin typeface="Wingdings"/>
                        <a:cs typeface="Wingdings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(PC)</a:t>
                      </a:r>
                      <a:r>
                        <a:rPr sz="1200" spc="-15" baseline="-20833" dirty="0">
                          <a:latin typeface="Times New Roman"/>
                          <a:cs typeface="Times New Roman"/>
                        </a:rPr>
                        <a:t>31-</a:t>
                      </a:r>
                      <a:r>
                        <a:rPr sz="1200" baseline="-20833" dirty="0">
                          <a:latin typeface="Times New Roman"/>
                          <a:cs typeface="Times New Roman"/>
                        </a:rPr>
                        <a:t>28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sz="1200" spc="-15" baseline="-20833" dirty="0">
                          <a:latin typeface="Times New Roman"/>
                          <a:cs typeface="Times New Roman"/>
                        </a:rPr>
                        <a:t>26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||00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instruction refers to updating the program counter (PC) in a processor by combining the upper 4 bits of the current PC, a 26-bit target address, and two zero bits. This is typical in RISC architectures for branch instructions.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4600">
                <a:tc>
                  <a:txBody>
                    <a:bodyPr/>
                    <a:lstStyle/>
                    <a:p>
                      <a:pPr marL="91440" marR="2800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Jump</a:t>
                      </a:r>
                      <a:r>
                        <a:rPr sz="1200" spc="-15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200" spc="-2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Link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JAL,</a:t>
                      </a:r>
                      <a:r>
                        <a:rPr sz="1200" spc="-1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JALR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JALR</a:t>
                      </a:r>
                      <a:r>
                        <a:rPr sz="1200" spc="-4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R2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R31</a:t>
                      </a:r>
                      <a:r>
                        <a:rPr sz="1200" spc="-1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solidFill>
                            <a:srgbClr val="0066FF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200" spc="18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PC</a:t>
                      </a:r>
                      <a:r>
                        <a:rPr sz="1200" spc="-2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sz="1200" spc="-3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PC</a:t>
                      </a:r>
                      <a:r>
                        <a:rPr sz="1200" spc="-15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solidFill>
                            <a:srgbClr val="0066FF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200" spc="19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R2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address of the instruction after this pair gets stored into register 31. On many RISC architectures (MIPS, RISC-V), R31 is the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conventioned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link register (return address register). The +8 accounts for the two instructions in this sequence—since each instruction is 4 bytes, PC+8 points to the instruction following this pair.</a:t>
                      </a:r>
                    </a:p>
                    <a:p>
                      <a:pPr marL="0"/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 ← R2 — Perform the actual jump. </a:t>
                      </a:r>
                      <a:endParaRPr sz="12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48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call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SYSCALL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SYSCALL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SYSCALL instruction is a way for user-mode programs to request services from the operating system kernel. It's a special control-flow instruction present in most RISC (and CISC) architectures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sz="12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Recall:</a:t>
            </a:r>
            <a:r>
              <a:rPr spc="-114" dirty="0"/>
              <a:t> </a:t>
            </a:r>
            <a:r>
              <a:rPr spc="-245" dirty="0"/>
              <a:t>MIPS</a:t>
            </a:r>
            <a:r>
              <a:rPr spc="-105" dirty="0"/>
              <a:t> </a:t>
            </a:r>
            <a:r>
              <a:rPr spc="-375" dirty="0"/>
              <a:t>1</a:t>
            </a:r>
            <a:r>
              <a:rPr spc="-90" dirty="0"/>
              <a:t> </a:t>
            </a:r>
            <a:r>
              <a:rPr spc="-210" dirty="0"/>
              <a:t>JAL</a:t>
            </a:r>
            <a:r>
              <a:rPr spc="-110" dirty="0"/>
              <a:t> </a:t>
            </a:r>
            <a:r>
              <a:rPr spc="-130" dirty="0"/>
              <a:t>instruction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52825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Function</a:t>
            </a:r>
            <a:r>
              <a:rPr spc="-105" dirty="0"/>
              <a:t> </a:t>
            </a:r>
            <a:r>
              <a:rPr spc="-254" dirty="0"/>
              <a:t>Call</a:t>
            </a:r>
            <a:r>
              <a:rPr spc="-70" dirty="0"/>
              <a:t> </a:t>
            </a:r>
            <a:r>
              <a:rPr spc="-365" dirty="0"/>
              <a:t>and</a:t>
            </a:r>
            <a:r>
              <a:rPr spc="-95" dirty="0"/>
              <a:t> </a:t>
            </a:r>
            <a:r>
              <a:rPr spc="-200" dirty="0"/>
              <a:t>Return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9828" y="1632204"/>
            <a:ext cx="3362325" cy="4721860"/>
            <a:chOff x="909828" y="1632204"/>
            <a:chExt cx="3362325" cy="4721860"/>
          </a:xfrm>
        </p:grpSpPr>
        <p:sp>
          <p:nvSpPr>
            <p:cNvPr id="4" name="object 4"/>
            <p:cNvSpPr/>
            <p:nvPr/>
          </p:nvSpPr>
          <p:spPr>
            <a:xfrm>
              <a:off x="914400" y="1636776"/>
              <a:ext cx="3352800" cy="4712335"/>
            </a:xfrm>
            <a:custGeom>
              <a:avLst/>
              <a:gdLst/>
              <a:ahLst/>
              <a:cxnLst/>
              <a:rect l="l" t="t" r="r" b="b"/>
              <a:pathLst>
                <a:path w="3352800" h="4712335">
                  <a:moveTo>
                    <a:pt x="3352800" y="0"/>
                  </a:moveTo>
                  <a:lnTo>
                    <a:pt x="0" y="0"/>
                  </a:lnTo>
                  <a:lnTo>
                    <a:pt x="0" y="4712208"/>
                  </a:lnTo>
                  <a:lnTo>
                    <a:pt x="3352800" y="4712208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400" y="1636776"/>
              <a:ext cx="3352800" cy="4712335"/>
            </a:xfrm>
            <a:custGeom>
              <a:avLst/>
              <a:gdLst/>
              <a:ahLst/>
              <a:cxnLst/>
              <a:rect l="l" t="t" r="r" b="b"/>
              <a:pathLst>
                <a:path w="3352800" h="4712335">
                  <a:moveTo>
                    <a:pt x="0" y="0"/>
                  </a:moveTo>
                  <a:lnTo>
                    <a:pt x="0" y="4712208"/>
                  </a:lnTo>
                  <a:lnTo>
                    <a:pt x="3352800" y="4712208"/>
                  </a:lnTo>
                  <a:lnTo>
                    <a:pt x="3352800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71016" y="4288535"/>
            <a:ext cx="2670175" cy="1871980"/>
          </a:xfrm>
          <a:prstGeom prst="rect">
            <a:avLst/>
          </a:prstGeom>
          <a:solidFill>
            <a:srgbClr val="CC9900"/>
          </a:solidFill>
          <a:ln w="9142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600" b="1" dirty="0">
                <a:latin typeface="Arial"/>
                <a:cs typeface="Arial"/>
              </a:rPr>
              <a:t>void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A()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381000" marR="1819275" indent="-3175">
              <a:lnSpc>
                <a:spcPts val="2900"/>
              </a:lnSpc>
              <a:spcBef>
                <a:spcPts val="240"/>
              </a:spcBef>
            </a:pPr>
            <a:r>
              <a:rPr sz="1600" b="1" spc="-50" dirty="0">
                <a:latin typeface="Arial"/>
                <a:cs typeface="Arial"/>
              </a:rPr>
              <a:t>… </a:t>
            </a:r>
            <a:r>
              <a:rPr sz="1600" b="1" spc="-10" dirty="0">
                <a:latin typeface="Arial"/>
                <a:cs typeface="Arial"/>
              </a:rPr>
              <a:t>B(5);</a:t>
            </a:r>
            <a:endParaRPr sz="16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705"/>
              </a:spcBef>
            </a:pPr>
            <a:r>
              <a:rPr sz="1600" b="1" spc="-5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1600" b="1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1016" y="1767839"/>
            <a:ext cx="2670175" cy="2322830"/>
          </a:xfrm>
          <a:prstGeom prst="rect">
            <a:avLst/>
          </a:prstGeom>
          <a:solidFill>
            <a:srgbClr val="BFBFBF"/>
          </a:solidFill>
          <a:ln w="9142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R="1106805" algn="ctr">
              <a:lnSpc>
                <a:spcPct val="100000"/>
              </a:lnSpc>
              <a:spcBef>
                <a:spcPts val="320"/>
              </a:spcBef>
            </a:pPr>
            <a:r>
              <a:rPr sz="1600" b="1" dirty="0">
                <a:latin typeface="Arial"/>
                <a:cs typeface="Arial"/>
              </a:rPr>
              <a:t>void B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(int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x)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{</a:t>
            </a:r>
            <a:endParaRPr sz="1600" dirty="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  <a:spcBef>
                <a:spcPts val="960"/>
              </a:spcBef>
            </a:pPr>
            <a:r>
              <a:rPr sz="1600" b="1" dirty="0">
                <a:latin typeface="Arial"/>
                <a:cs typeface="Arial"/>
              </a:rPr>
              <a:t>int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a,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b;</a:t>
            </a:r>
            <a:endParaRPr sz="1600" dirty="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980"/>
              </a:spcBef>
            </a:pPr>
            <a:r>
              <a:rPr sz="1600" b="1" spc="-50" dirty="0">
                <a:latin typeface="Arial"/>
                <a:cs typeface="Arial"/>
              </a:rPr>
              <a:t>…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 dirty="0">
              <a:latin typeface="Arial"/>
              <a:cs typeface="Arial"/>
            </a:endParaRPr>
          </a:p>
          <a:p>
            <a:pPr marR="1111885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Arial"/>
                <a:cs typeface="Arial"/>
              </a:rPr>
              <a:t>return();</a:t>
            </a:r>
            <a:endParaRPr sz="16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1600" b="1" spc="-50" dirty="0">
                <a:latin typeface="Arial"/>
                <a:cs typeface="Arial"/>
              </a:rPr>
              <a:t>}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3996" y="4982972"/>
            <a:ext cx="1868170" cy="1674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0400"/>
              </a:lnSpc>
              <a:spcBef>
                <a:spcPts val="90"/>
              </a:spcBef>
            </a:pP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ADDI</a:t>
            </a:r>
            <a:r>
              <a:rPr sz="1800" b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R1,</a:t>
            </a:r>
            <a:r>
              <a:rPr sz="1800" b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R0,</a:t>
            </a:r>
            <a:r>
              <a:rPr sz="1800" b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C9900"/>
                </a:solidFill>
                <a:latin typeface="Arial"/>
                <a:cs typeface="Arial"/>
              </a:rPr>
              <a:t>5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ADDI</a:t>
            </a:r>
            <a:r>
              <a:rPr sz="1800" b="1" spc="-2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R29,</a:t>
            </a:r>
            <a:r>
              <a:rPr sz="1800" b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R29,</a:t>
            </a:r>
            <a:r>
              <a:rPr sz="1800" b="1" spc="-3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C9900"/>
                </a:solidFill>
                <a:latin typeface="Arial"/>
                <a:cs typeface="Arial"/>
              </a:rPr>
              <a:t>4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SW</a:t>
            </a:r>
            <a:r>
              <a:rPr sz="1800" b="1" spc="-2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0(R29),</a:t>
            </a:r>
            <a:r>
              <a:rPr sz="1800" b="1" spc="-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CC9900"/>
                </a:solidFill>
                <a:latin typeface="Arial"/>
                <a:cs typeface="Arial"/>
              </a:rPr>
              <a:t>R1 </a:t>
            </a:r>
            <a:r>
              <a:rPr sz="1800" b="1" dirty="0">
                <a:solidFill>
                  <a:srgbClr val="CC9900"/>
                </a:solidFill>
                <a:latin typeface="Arial"/>
                <a:cs typeface="Arial"/>
              </a:rPr>
              <a:t>JAL</a:t>
            </a:r>
            <a:r>
              <a:rPr sz="1800" b="1" spc="-3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C9900"/>
                </a:solidFill>
                <a:latin typeface="Arial"/>
                <a:cs typeface="Arial"/>
              </a:rPr>
              <a:t>B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7171" y="1182115"/>
            <a:ext cx="2404110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8640" marR="5080" indent="-536575">
              <a:lnSpc>
                <a:spcPct val="1511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1800" b="1" spc="-25" dirty="0">
                <a:solidFill>
                  <a:srgbClr val="3A802E"/>
                </a:solidFill>
                <a:latin typeface="Arial"/>
                <a:cs typeface="Arial"/>
              </a:rPr>
              <a:t>B</a:t>
            </a:r>
            <a:r>
              <a:rPr sz="1800" spc="-25" dirty="0">
                <a:solidFill>
                  <a:srgbClr val="3A802E"/>
                </a:solidFill>
                <a:latin typeface="Arial MT"/>
                <a:cs typeface="Arial MT"/>
              </a:rPr>
              <a:t>:</a:t>
            </a:r>
            <a:r>
              <a:rPr sz="1800" dirty="0">
                <a:solidFill>
                  <a:srgbClr val="3A802E"/>
                </a:solidFill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ADDI</a:t>
            </a:r>
            <a:r>
              <a:rPr sz="1800" b="1" spc="-2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sz="1800" b="1" spc="-15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sz="1800" b="1" spc="-3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3A802E"/>
                </a:solidFill>
                <a:latin typeface="Arial"/>
                <a:cs typeface="Arial"/>
              </a:rPr>
              <a:t>4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SW</a:t>
            </a:r>
            <a:r>
              <a:rPr sz="1800" b="1" spc="-1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0(R29),</a:t>
            </a:r>
            <a:r>
              <a:rPr sz="1800" b="1" spc="-5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A802E"/>
                </a:solidFill>
                <a:latin typeface="Arial"/>
                <a:cs typeface="Arial"/>
              </a:rPr>
              <a:t>R31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338060" y="1196340"/>
          <a:ext cx="1182370" cy="46742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marR="70485" algn="ctr">
                        <a:lnSpc>
                          <a:spcPts val="2330"/>
                        </a:lnSpc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…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532765" algn="l"/>
                        </a:tabLst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(int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x)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Return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address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9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Local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int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Local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int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9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3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610600" y="1295400"/>
            <a:ext cx="304800" cy="173990"/>
          </a:xfrm>
          <a:custGeom>
            <a:avLst/>
            <a:gdLst/>
            <a:ahLst/>
            <a:cxnLst/>
            <a:rect l="l" t="t" r="r" b="b"/>
            <a:pathLst>
              <a:path w="304800" h="173990">
                <a:moveTo>
                  <a:pt x="170688" y="0"/>
                </a:moveTo>
                <a:lnTo>
                  <a:pt x="0" y="88391"/>
                </a:lnTo>
                <a:lnTo>
                  <a:pt x="170688" y="173736"/>
                </a:lnTo>
                <a:lnTo>
                  <a:pt x="170688" y="115824"/>
                </a:lnTo>
                <a:lnTo>
                  <a:pt x="143255" y="115824"/>
                </a:lnTo>
                <a:lnTo>
                  <a:pt x="143255" y="57912"/>
                </a:lnTo>
                <a:lnTo>
                  <a:pt x="170688" y="57912"/>
                </a:lnTo>
                <a:lnTo>
                  <a:pt x="170688" y="0"/>
                </a:lnTo>
                <a:close/>
              </a:path>
              <a:path w="304800" h="173990">
                <a:moveTo>
                  <a:pt x="170688" y="57912"/>
                </a:moveTo>
                <a:lnTo>
                  <a:pt x="143255" y="57912"/>
                </a:lnTo>
                <a:lnTo>
                  <a:pt x="143255" y="115824"/>
                </a:lnTo>
                <a:lnTo>
                  <a:pt x="170688" y="115824"/>
                </a:lnTo>
                <a:lnTo>
                  <a:pt x="170688" y="57912"/>
                </a:lnTo>
                <a:close/>
              </a:path>
              <a:path w="304800" h="173990">
                <a:moveTo>
                  <a:pt x="304800" y="57912"/>
                </a:moveTo>
                <a:lnTo>
                  <a:pt x="170688" y="57912"/>
                </a:lnTo>
                <a:lnTo>
                  <a:pt x="170688" y="115824"/>
                </a:lnTo>
                <a:lnTo>
                  <a:pt x="304800" y="115824"/>
                </a:lnTo>
                <a:lnTo>
                  <a:pt x="304800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19743" y="1682495"/>
            <a:ext cx="304800" cy="170815"/>
          </a:xfrm>
          <a:custGeom>
            <a:avLst/>
            <a:gdLst/>
            <a:ahLst/>
            <a:cxnLst/>
            <a:rect l="l" t="t" r="r" b="b"/>
            <a:pathLst>
              <a:path w="304800" h="170814">
                <a:moveTo>
                  <a:pt x="170687" y="0"/>
                </a:moveTo>
                <a:lnTo>
                  <a:pt x="0" y="85343"/>
                </a:lnTo>
                <a:lnTo>
                  <a:pt x="170687" y="170687"/>
                </a:lnTo>
                <a:lnTo>
                  <a:pt x="170687" y="112775"/>
                </a:lnTo>
                <a:lnTo>
                  <a:pt x="143255" y="112775"/>
                </a:lnTo>
                <a:lnTo>
                  <a:pt x="143255" y="54863"/>
                </a:lnTo>
                <a:lnTo>
                  <a:pt x="170687" y="54863"/>
                </a:lnTo>
                <a:lnTo>
                  <a:pt x="170687" y="0"/>
                </a:lnTo>
                <a:close/>
              </a:path>
              <a:path w="304800" h="170814">
                <a:moveTo>
                  <a:pt x="170687" y="54863"/>
                </a:moveTo>
                <a:lnTo>
                  <a:pt x="143255" y="54863"/>
                </a:lnTo>
                <a:lnTo>
                  <a:pt x="143255" y="112775"/>
                </a:lnTo>
                <a:lnTo>
                  <a:pt x="170687" y="112775"/>
                </a:lnTo>
                <a:lnTo>
                  <a:pt x="170687" y="54863"/>
                </a:lnTo>
                <a:close/>
              </a:path>
              <a:path w="304800" h="170814">
                <a:moveTo>
                  <a:pt x="304800" y="54863"/>
                </a:moveTo>
                <a:lnTo>
                  <a:pt x="170687" y="54863"/>
                </a:lnTo>
                <a:lnTo>
                  <a:pt x="170687" y="112775"/>
                </a:lnTo>
                <a:lnTo>
                  <a:pt x="304800" y="112775"/>
                </a:lnTo>
                <a:lnTo>
                  <a:pt x="304800" y="54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8619743" y="2154935"/>
            <a:ext cx="685800" cy="173990"/>
            <a:chOff x="8619743" y="2154935"/>
            <a:chExt cx="685800" cy="173990"/>
          </a:xfrm>
        </p:grpSpPr>
        <p:sp>
          <p:nvSpPr>
            <p:cNvPr id="14" name="object 14"/>
            <p:cNvSpPr/>
            <p:nvPr/>
          </p:nvSpPr>
          <p:spPr>
            <a:xfrm>
              <a:off x="8619743" y="2154935"/>
              <a:ext cx="304800" cy="173990"/>
            </a:xfrm>
            <a:custGeom>
              <a:avLst/>
              <a:gdLst/>
              <a:ahLst/>
              <a:cxnLst/>
              <a:rect l="l" t="t" r="r" b="b"/>
              <a:pathLst>
                <a:path w="304800" h="173989">
                  <a:moveTo>
                    <a:pt x="170687" y="0"/>
                  </a:moveTo>
                  <a:lnTo>
                    <a:pt x="0" y="85343"/>
                  </a:lnTo>
                  <a:lnTo>
                    <a:pt x="170687" y="173736"/>
                  </a:lnTo>
                  <a:lnTo>
                    <a:pt x="170687" y="115824"/>
                  </a:lnTo>
                  <a:lnTo>
                    <a:pt x="143255" y="115824"/>
                  </a:lnTo>
                  <a:lnTo>
                    <a:pt x="143255" y="57912"/>
                  </a:lnTo>
                  <a:lnTo>
                    <a:pt x="170687" y="57912"/>
                  </a:lnTo>
                  <a:lnTo>
                    <a:pt x="170687" y="0"/>
                  </a:lnTo>
                  <a:close/>
                </a:path>
                <a:path w="304800" h="173989">
                  <a:moveTo>
                    <a:pt x="170687" y="57912"/>
                  </a:moveTo>
                  <a:lnTo>
                    <a:pt x="143255" y="57912"/>
                  </a:lnTo>
                  <a:lnTo>
                    <a:pt x="143255" y="115824"/>
                  </a:lnTo>
                  <a:lnTo>
                    <a:pt x="170687" y="115824"/>
                  </a:lnTo>
                  <a:lnTo>
                    <a:pt x="170687" y="57912"/>
                  </a:lnTo>
                  <a:close/>
                </a:path>
                <a:path w="304800" h="173989">
                  <a:moveTo>
                    <a:pt x="304800" y="57912"/>
                  </a:moveTo>
                  <a:lnTo>
                    <a:pt x="170687" y="57912"/>
                  </a:lnTo>
                  <a:lnTo>
                    <a:pt x="170687" y="115824"/>
                  </a:lnTo>
                  <a:lnTo>
                    <a:pt x="304800" y="115824"/>
                  </a:lnTo>
                  <a:lnTo>
                    <a:pt x="304800" y="57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24543" y="2197607"/>
              <a:ext cx="381000" cy="85725"/>
            </a:xfrm>
            <a:custGeom>
              <a:avLst/>
              <a:gdLst/>
              <a:ahLst/>
              <a:cxnLst/>
              <a:rect l="l" t="t" r="r" b="b"/>
              <a:pathLst>
                <a:path w="381000" h="85725">
                  <a:moveTo>
                    <a:pt x="85344" y="0"/>
                  </a:moveTo>
                  <a:lnTo>
                    <a:pt x="0" y="42671"/>
                  </a:lnTo>
                  <a:lnTo>
                    <a:pt x="85344" y="85343"/>
                  </a:lnTo>
                  <a:lnTo>
                    <a:pt x="85344" y="57912"/>
                  </a:lnTo>
                  <a:lnTo>
                    <a:pt x="73151" y="57912"/>
                  </a:lnTo>
                  <a:lnTo>
                    <a:pt x="73151" y="30479"/>
                  </a:lnTo>
                  <a:lnTo>
                    <a:pt x="85344" y="30479"/>
                  </a:lnTo>
                  <a:lnTo>
                    <a:pt x="85344" y="0"/>
                  </a:lnTo>
                  <a:close/>
                </a:path>
                <a:path w="381000" h="85725">
                  <a:moveTo>
                    <a:pt x="85344" y="30479"/>
                  </a:moveTo>
                  <a:lnTo>
                    <a:pt x="73151" y="30479"/>
                  </a:lnTo>
                  <a:lnTo>
                    <a:pt x="73151" y="57912"/>
                  </a:lnTo>
                  <a:lnTo>
                    <a:pt x="85344" y="57912"/>
                  </a:lnTo>
                  <a:lnTo>
                    <a:pt x="85344" y="30479"/>
                  </a:lnTo>
                  <a:close/>
                </a:path>
                <a:path w="381000" h="85725">
                  <a:moveTo>
                    <a:pt x="381000" y="30479"/>
                  </a:moveTo>
                  <a:lnTo>
                    <a:pt x="85344" y="30479"/>
                  </a:lnTo>
                  <a:lnTo>
                    <a:pt x="85344" y="57912"/>
                  </a:lnTo>
                  <a:lnTo>
                    <a:pt x="381000" y="57912"/>
                  </a:lnTo>
                  <a:lnTo>
                    <a:pt x="381000" y="3047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8619743" y="3096767"/>
            <a:ext cx="304800" cy="170815"/>
          </a:xfrm>
          <a:custGeom>
            <a:avLst/>
            <a:gdLst/>
            <a:ahLst/>
            <a:cxnLst/>
            <a:rect l="l" t="t" r="r" b="b"/>
            <a:pathLst>
              <a:path w="304800" h="170814">
                <a:moveTo>
                  <a:pt x="170687" y="0"/>
                </a:moveTo>
                <a:lnTo>
                  <a:pt x="0" y="85344"/>
                </a:lnTo>
                <a:lnTo>
                  <a:pt x="170687" y="170687"/>
                </a:lnTo>
                <a:lnTo>
                  <a:pt x="170687" y="115824"/>
                </a:lnTo>
                <a:lnTo>
                  <a:pt x="143255" y="115824"/>
                </a:lnTo>
                <a:lnTo>
                  <a:pt x="143255" y="57912"/>
                </a:lnTo>
                <a:lnTo>
                  <a:pt x="170687" y="57912"/>
                </a:lnTo>
                <a:lnTo>
                  <a:pt x="170687" y="0"/>
                </a:lnTo>
                <a:close/>
              </a:path>
              <a:path w="304800" h="170814">
                <a:moveTo>
                  <a:pt x="170687" y="57912"/>
                </a:moveTo>
                <a:lnTo>
                  <a:pt x="143255" y="57912"/>
                </a:lnTo>
                <a:lnTo>
                  <a:pt x="143255" y="115824"/>
                </a:lnTo>
                <a:lnTo>
                  <a:pt x="170687" y="115824"/>
                </a:lnTo>
                <a:lnTo>
                  <a:pt x="170687" y="57912"/>
                </a:lnTo>
                <a:close/>
              </a:path>
              <a:path w="304800" h="170814">
                <a:moveTo>
                  <a:pt x="304800" y="57912"/>
                </a:moveTo>
                <a:lnTo>
                  <a:pt x="170687" y="57912"/>
                </a:lnTo>
                <a:lnTo>
                  <a:pt x="170687" y="115824"/>
                </a:lnTo>
                <a:lnTo>
                  <a:pt x="304800" y="115824"/>
                </a:lnTo>
                <a:lnTo>
                  <a:pt x="304800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21428" y="2081276"/>
            <a:ext cx="1995805" cy="205549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ADDI</a:t>
            </a:r>
            <a:r>
              <a:rPr sz="1800" b="1" spc="-2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sz="1800" b="1" spc="-15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sz="1800" b="1" spc="-3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3A802E"/>
                </a:solidFill>
                <a:latin typeface="Arial"/>
                <a:cs typeface="Arial"/>
              </a:rPr>
              <a:t>8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spc="-50" dirty="0">
                <a:solidFill>
                  <a:srgbClr val="3A802E"/>
                </a:solidFill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12700" marR="5080" indent="12065">
              <a:lnSpc>
                <a:spcPct val="143900"/>
              </a:lnSpc>
              <a:spcBef>
                <a:spcPts val="180"/>
              </a:spcBef>
            </a:pP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SUBI</a:t>
            </a:r>
            <a:r>
              <a:rPr sz="1800" b="1" spc="-2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sz="1800" b="1" spc="-15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R29,</a:t>
            </a:r>
            <a:r>
              <a:rPr sz="1800" b="1" spc="-3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A802E"/>
                </a:solidFill>
                <a:latin typeface="Arial"/>
                <a:cs typeface="Arial"/>
              </a:rPr>
              <a:t>16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LW</a:t>
            </a:r>
            <a:r>
              <a:rPr sz="1800" b="1" spc="-1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R31,</a:t>
            </a:r>
            <a:r>
              <a:rPr sz="1800" b="1" spc="-20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A802E"/>
                </a:solidFill>
                <a:latin typeface="Arial"/>
                <a:cs typeface="Arial"/>
              </a:rPr>
              <a:t>8(R29) </a:t>
            </a:r>
            <a:r>
              <a:rPr sz="1800" b="1" dirty="0">
                <a:solidFill>
                  <a:srgbClr val="3A802E"/>
                </a:solidFill>
                <a:latin typeface="Arial"/>
                <a:cs typeface="Arial"/>
              </a:rPr>
              <a:t>JR</a:t>
            </a:r>
            <a:r>
              <a:rPr sz="1800" b="1" spc="-5" dirty="0">
                <a:solidFill>
                  <a:srgbClr val="3A802E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A802E"/>
                </a:solidFill>
                <a:latin typeface="Arial"/>
                <a:cs typeface="Arial"/>
              </a:rPr>
              <a:t>R31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6482588" y="761492"/>
            <a:ext cx="2744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Call/Return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70AF76-52D0-CD47-D321-1A97AE943E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66758533"/>
              </p:ext>
            </p:extLst>
          </p:nvPr>
        </p:nvGraphicFramePr>
        <p:xfrm>
          <a:off x="533400" y="990601"/>
          <a:ext cx="8534400" cy="60396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311089875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347609616"/>
                    </a:ext>
                  </a:extLst>
                </a:gridCol>
              </a:tblGrid>
              <a:tr h="259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Code</a:t>
                      </a:r>
                    </a:p>
                  </a:txBody>
                  <a:tcPr marL="42043" marR="42043" marT="21021" marB="21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Meaning</a:t>
                      </a:r>
                    </a:p>
                  </a:txBody>
                  <a:tcPr marL="42043" marR="42043" marT="21021" marB="21021" anchor="ctr"/>
                </a:tc>
                <a:extLst>
                  <a:ext uri="{0D108BD9-81ED-4DB2-BD59-A6C34878D82A}">
                    <a16:rowId xmlns:a16="http://schemas.microsoft.com/office/drawing/2014/main" val="3647766657"/>
                  </a:ext>
                </a:extLst>
              </a:tr>
              <a:tr h="484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ADDI R29, R29, 4</a:t>
                      </a:r>
                    </a:p>
                  </a:txBody>
                  <a:tcPr marL="42043" marR="42043" marT="21021" marB="21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R29 ← R29 + 4. Push 4 bytes onto the stack — allocate a slot.</a:t>
                      </a:r>
                    </a:p>
                  </a:txBody>
                  <a:tcPr marL="42043" marR="42043" marT="21021" marB="21021" anchor="ctr"/>
                </a:tc>
                <a:extLst>
                  <a:ext uri="{0D108BD9-81ED-4DB2-BD59-A6C34878D82A}">
                    <a16:rowId xmlns:a16="http://schemas.microsoft.com/office/drawing/2014/main" val="3630649866"/>
                  </a:ext>
                </a:extLst>
              </a:tr>
              <a:tr h="1065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SW 0(R29), R31</a:t>
                      </a:r>
                    </a:p>
                  </a:txBody>
                  <a:tcPr marL="42043" marR="42043" marT="21021" marB="21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Store word — save the link register R31 (return address) into the stack slot R29 just pointed to. This preserves the return address because B will make its own call.</a:t>
                      </a:r>
                    </a:p>
                  </a:txBody>
                  <a:tcPr marL="42043" marR="42043" marT="21021" marB="21021" anchor="ctr"/>
                </a:tc>
                <a:extLst>
                  <a:ext uri="{0D108BD9-81ED-4DB2-BD59-A6C34878D82A}">
                    <a16:rowId xmlns:a16="http://schemas.microsoft.com/office/drawing/2014/main" val="2478232195"/>
                  </a:ext>
                </a:extLst>
              </a:tr>
              <a:tr h="920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ADDI R29, R29, 8</a:t>
                      </a:r>
                    </a:p>
                  </a:txBody>
                  <a:tcPr marL="42043" marR="42043" marT="21021" marB="21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R29 ← R29 + 8. Push 8 more bytes — reserve stack space for local variables (the … is the function body using this space).</a:t>
                      </a:r>
                    </a:p>
                  </a:txBody>
                  <a:tcPr marL="42043" marR="42043" marT="21021" marB="21021" anchor="ctr"/>
                </a:tc>
                <a:extLst>
                  <a:ext uri="{0D108BD9-81ED-4DB2-BD59-A6C34878D82A}">
                    <a16:rowId xmlns:a16="http://schemas.microsoft.com/office/drawing/2014/main" val="845184335"/>
                  </a:ext>
                </a:extLst>
              </a:tr>
              <a:tr h="259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…</a:t>
                      </a:r>
                    </a:p>
                  </a:txBody>
                  <a:tcPr marL="42043" marR="42043" marT="21021" marB="21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(function body)</a:t>
                      </a:r>
                    </a:p>
                  </a:txBody>
                  <a:tcPr marL="42043" marR="42043" marT="21021" marB="21021" anchor="ctr"/>
                </a:tc>
                <a:extLst>
                  <a:ext uri="{0D108BD9-81ED-4DB2-BD59-A6C34878D82A}">
                    <a16:rowId xmlns:a16="http://schemas.microsoft.com/office/drawing/2014/main" val="127485317"/>
                  </a:ext>
                </a:extLst>
              </a:tr>
              <a:tr h="1646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SUBI R29, R29, 16</a:t>
                      </a:r>
                    </a:p>
                  </a:txBody>
                  <a:tcPr marL="42043" marR="42043" marT="21021" marB="21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R29 ← R29 - 16. Pop 16 bytes. This unwinds the 8 local bytes plus the 8 bytes (R31 slot + caller's 4-byte parameter slot)` that had been pushed, moving the stack pointer back down to where the subroutine found it.</a:t>
                      </a:r>
                    </a:p>
                  </a:txBody>
                  <a:tcPr marL="42043" marR="42043" marT="21021" marB="21021" anchor="ctr"/>
                </a:tc>
                <a:extLst>
                  <a:ext uri="{0D108BD9-81ED-4DB2-BD59-A6C34878D82A}">
                    <a16:rowId xmlns:a16="http://schemas.microsoft.com/office/drawing/2014/main" val="1788426390"/>
                  </a:ext>
                </a:extLst>
              </a:tr>
              <a:tr h="629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LW R31, 8(R29)</a:t>
                      </a:r>
                    </a:p>
                  </a:txBody>
                  <a:tcPr marL="42043" marR="42043" marT="21021" marB="21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Load word — restore R31 from memory at R29 + 8, i.e. the slot where R31 was saved.</a:t>
                      </a:r>
                    </a:p>
                  </a:txBody>
                  <a:tcPr marL="42043" marR="42043" marT="21021" marB="21021" anchor="ctr"/>
                </a:tc>
                <a:extLst>
                  <a:ext uri="{0D108BD9-81ED-4DB2-BD59-A6C34878D82A}">
                    <a16:rowId xmlns:a16="http://schemas.microsoft.com/office/drawing/2014/main" val="3416655258"/>
                  </a:ext>
                </a:extLst>
              </a:tr>
              <a:tr h="774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JR R31</a:t>
                      </a:r>
                    </a:p>
                  </a:txBody>
                  <a:tcPr marL="42043" marR="42043" marT="21021" marB="21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Jump register — PC ← R31. Return control to the caller, one instruction after the JAL.</a:t>
                      </a:r>
                    </a:p>
                  </a:txBody>
                  <a:tcPr marL="42043" marR="42043" marT="21021" marB="21021" anchor="ctr"/>
                </a:tc>
                <a:extLst>
                  <a:ext uri="{0D108BD9-81ED-4DB2-BD59-A6C34878D82A}">
                    <a16:rowId xmlns:a16="http://schemas.microsoft.com/office/drawing/2014/main" val="2125143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393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Use</a:t>
            </a:r>
            <a:r>
              <a:rPr spc="-110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spc="-215" dirty="0"/>
              <a:t>Main</a:t>
            </a:r>
            <a:r>
              <a:rPr spc="-114" dirty="0"/>
              <a:t> </a:t>
            </a:r>
            <a:r>
              <a:rPr spc="-250" dirty="0"/>
              <a:t>Memory</a:t>
            </a:r>
            <a:r>
              <a:rPr spc="-110" dirty="0"/>
              <a:t> </a:t>
            </a:r>
            <a:r>
              <a:rPr spc="-290" dirty="0"/>
              <a:t>by</a:t>
            </a:r>
            <a:r>
              <a:rPr spc="-105" dirty="0"/>
              <a:t> </a:t>
            </a:r>
            <a:r>
              <a:rPr spc="-635" dirty="0"/>
              <a:t>a</a:t>
            </a:r>
            <a:r>
              <a:rPr spc="-110" dirty="0"/>
              <a:t> </a:t>
            </a:r>
            <a:r>
              <a:rPr spc="-310" dirty="0"/>
              <a:t>Program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07212" y="1569212"/>
            <a:ext cx="4953635" cy="4044697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/>
              <a:t>Instructions</a:t>
            </a:r>
            <a:r>
              <a:rPr spc="-80" dirty="0"/>
              <a:t> </a:t>
            </a:r>
            <a:r>
              <a:rPr dirty="0"/>
              <a:t>(code,</a:t>
            </a:r>
            <a:r>
              <a:rPr spc="-80" dirty="0"/>
              <a:t> </a:t>
            </a:r>
            <a:r>
              <a:rPr spc="-10" dirty="0"/>
              <a:t>text)</a:t>
            </a:r>
          </a:p>
          <a:p>
            <a:pPr marL="35623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different</a:t>
            </a:r>
            <a:r>
              <a:rPr spc="-30" dirty="0"/>
              <a:t> </a:t>
            </a:r>
            <a:r>
              <a:rPr spc="-20" dirty="0"/>
              <a:t>ways</a:t>
            </a:r>
          </a:p>
          <a:p>
            <a:pPr marL="682625" lvl="1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sz="2600" dirty="0">
                <a:latin typeface="Arial MT"/>
                <a:cs typeface="Arial MT"/>
              </a:rPr>
              <a:t>Stack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allocated</a:t>
            </a:r>
            <a:endParaRPr sz="2600" dirty="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sz="2600" dirty="0">
                <a:latin typeface="Arial MT"/>
                <a:cs typeface="Arial MT"/>
              </a:rPr>
              <a:t>Heap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allocated</a:t>
            </a:r>
            <a:endParaRPr sz="2600" dirty="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5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sz="2600" dirty="0">
                <a:latin typeface="Arial MT"/>
                <a:cs typeface="Arial MT"/>
              </a:rPr>
              <a:t>Statically</a:t>
            </a:r>
            <a:r>
              <a:rPr sz="2600" spc="-1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allocated</a:t>
            </a:r>
            <a:endParaRPr lang="en-US" sz="2600" spc="-10" dirty="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5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endParaRPr lang="en-US" sz="2600" spc="-10" dirty="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5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endParaRPr lang="en-US" sz="2600" spc="-10" dirty="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5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endParaRPr sz="26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34684" y="1885188"/>
          <a:ext cx="2264410" cy="4607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4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text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7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data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stack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heap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333488" y="5654040"/>
            <a:ext cx="76200" cy="350520"/>
          </a:xfrm>
          <a:custGeom>
            <a:avLst/>
            <a:gdLst/>
            <a:ahLst/>
            <a:cxnLst/>
            <a:rect l="l" t="t" r="r" b="b"/>
            <a:pathLst>
              <a:path w="76200" h="350520">
                <a:moveTo>
                  <a:pt x="42671" y="57912"/>
                </a:moveTo>
                <a:lnTo>
                  <a:pt x="36575" y="57912"/>
                </a:lnTo>
                <a:lnTo>
                  <a:pt x="33527" y="60960"/>
                </a:lnTo>
                <a:lnTo>
                  <a:pt x="33527" y="347472"/>
                </a:lnTo>
                <a:lnTo>
                  <a:pt x="36575" y="350520"/>
                </a:lnTo>
                <a:lnTo>
                  <a:pt x="42671" y="350520"/>
                </a:lnTo>
                <a:lnTo>
                  <a:pt x="42671" y="57912"/>
                </a:lnTo>
                <a:close/>
              </a:path>
              <a:path w="76200" h="350520">
                <a:moveTo>
                  <a:pt x="39623" y="0"/>
                </a:moveTo>
                <a:lnTo>
                  <a:pt x="0" y="76200"/>
                </a:lnTo>
                <a:lnTo>
                  <a:pt x="33527" y="76200"/>
                </a:lnTo>
                <a:lnTo>
                  <a:pt x="33527" y="60960"/>
                </a:lnTo>
                <a:lnTo>
                  <a:pt x="36575" y="57912"/>
                </a:lnTo>
                <a:lnTo>
                  <a:pt x="67421" y="57912"/>
                </a:lnTo>
                <a:lnTo>
                  <a:pt x="39623" y="0"/>
                </a:lnTo>
                <a:close/>
              </a:path>
              <a:path w="76200" h="350520">
                <a:moveTo>
                  <a:pt x="67421" y="57912"/>
                </a:moveTo>
                <a:lnTo>
                  <a:pt x="42671" y="57912"/>
                </a:lnTo>
                <a:lnTo>
                  <a:pt x="42671" y="76200"/>
                </a:lnTo>
                <a:lnTo>
                  <a:pt x="76200" y="76200"/>
                </a:lnTo>
                <a:lnTo>
                  <a:pt x="67421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33488" y="4572000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20">
                <a:moveTo>
                  <a:pt x="33527" y="198119"/>
                </a:moveTo>
                <a:lnTo>
                  <a:pt x="0" y="198119"/>
                </a:lnTo>
                <a:lnTo>
                  <a:pt x="39623" y="274319"/>
                </a:lnTo>
                <a:lnTo>
                  <a:pt x="67421" y="216407"/>
                </a:lnTo>
                <a:lnTo>
                  <a:pt x="36575" y="216407"/>
                </a:lnTo>
                <a:lnTo>
                  <a:pt x="33527" y="213360"/>
                </a:lnTo>
                <a:lnTo>
                  <a:pt x="33527" y="198119"/>
                </a:lnTo>
                <a:close/>
              </a:path>
              <a:path w="76200" h="274320">
                <a:moveTo>
                  <a:pt x="42671" y="0"/>
                </a:moveTo>
                <a:lnTo>
                  <a:pt x="36575" y="0"/>
                </a:lnTo>
                <a:lnTo>
                  <a:pt x="33527" y="3048"/>
                </a:lnTo>
                <a:lnTo>
                  <a:pt x="33527" y="213360"/>
                </a:lnTo>
                <a:lnTo>
                  <a:pt x="36575" y="216407"/>
                </a:lnTo>
                <a:lnTo>
                  <a:pt x="42671" y="216407"/>
                </a:lnTo>
                <a:lnTo>
                  <a:pt x="42671" y="0"/>
                </a:lnTo>
                <a:close/>
              </a:path>
              <a:path w="76200" h="274320">
                <a:moveTo>
                  <a:pt x="76200" y="198119"/>
                </a:moveTo>
                <a:lnTo>
                  <a:pt x="42671" y="198119"/>
                </a:lnTo>
                <a:lnTo>
                  <a:pt x="42671" y="216407"/>
                </a:lnTo>
                <a:lnTo>
                  <a:pt x="67421" y="216407"/>
                </a:lnTo>
                <a:lnTo>
                  <a:pt x="76200" y="198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23717" y="5680964"/>
            <a:ext cx="2805683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addresses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4AE956-6C3B-8817-9ADD-BFFD02A00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t="26936" r="41667" b="36700"/>
          <a:stretch>
            <a:fillRect/>
          </a:stretch>
        </p:blipFill>
        <p:spPr>
          <a:xfrm>
            <a:off x="1143001" y="4031567"/>
            <a:ext cx="4617846" cy="24611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Stack</a:t>
            </a:r>
            <a:r>
              <a:rPr spc="-90" dirty="0"/>
              <a:t> </a:t>
            </a:r>
            <a:r>
              <a:rPr spc="-220" dirty="0"/>
              <a:t>Allocated</a:t>
            </a:r>
            <a:r>
              <a:rPr spc="-80" dirty="0"/>
              <a:t> </a:t>
            </a:r>
            <a:r>
              <a:rPr spc="-300" dirty="0"/>
              <a:t>Variables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660652"/>
            <a:ext cx="7921625" cy="3408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48615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sz="3000" dirty="0">
                <a:latin typeface="Arial MT"/>
                <a:cs typeface="Arial MT"/>
              </a:rPr>
              <a:t>Space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allocated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function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call,</a:t>
            </a:r>
            <a:r>
              <a:rPr sz="3000" spc="-6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reclaimed 	</a:t>
            </a:r>
            <a:r>
              <a:rPr sz="3000" dirty="0">
                <a:latin typeface="Arial MT"/>
                <a:cs typeface="Arial MT"/>
              </a:rPr>
              <a:t>on</a:t>
            </a:r>
            <a:r>
              <a:rPr sz="3000" spc="-10" dirty="0">
                <a:latin typeface="Arial MT"/>
                <a:cs typeface="Arial MT"/>
              </a:rPr>
              <a:t> return</a:t>
            </a:r>
            <a:endParaRPr sz="3000">
              <a:latin typeface="Arial MT"/>
              <a:cs typeface="Arial MT"/>
            </a:endParaRPr>
          </a:p>
          <a:p>
            <a:pPr marL="355600" marR="113030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sz="3000" dirty="0">
                <a:latin typeface="Arial MT"/>
                <a:cs typeface="Arial MT"/>
              </a:rPr>
              <a:t>Addresses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calculated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6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used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by</a:t>
            </a:r>
            <a:r>
              <a:rPr sz="3000" spc="-7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compiler, 	</a:t>
            </a:r>
            <a:r>
              <a:rPr sz="3000" dirty="0">
                <a:latin typeface="Arial MT"/>
                <a:cs typeface="Arial MT"/>
              </a:rPr>
              <a:t>relative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top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stack,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or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some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other 	</a:t>
            </a:r>
            <a:r>
              <a:rPr sz="3000" dirty="0">
                <a:latin typeface="Arial MT"/>
                <a:cs typeface="Arial MT"/>
              </a:rPr>
              <a:t>base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register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associated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with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stack</a:t>
            </a:r>
            <a:endParaRPr sz="30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sz="3000" dirty="0">
                <a:latin typeface="Arial MT"/>
                <a:cs typeface="Arial MT"/>
              </a:rPr>
              <a:t>Growth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stack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area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thus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managed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by</a:t>
            </a:r>
            <a:r>
              <a:rPr sz="3000" spc="-6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the 	</a:t>
            </a:r>
            <a:r>
              <a:rPr sz="3000" dirty="0">
                <a:latin typeface="Arial MT"/>
                <a:cs typeface="Arial MT"/>
              </a:rPr>
              <a:t>program,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generated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by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compiler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Heap</a:t>
            </a:r>
            <a:r>
              <a:rPr spc="-85" dirty="0"/>
              <a:t> </a:t>
            </a:r>
            <a:r>
              <a:rPr spc="-220" dirty="0"/>
              <a:t>Allocated</a:t>
            </a:r>
            <a:r>
              <a:rPr spc="-75" dirty="0"/>
              <a:t> </a:t>
            </a:r>
            <a:r>
              <a:rPr spc="-300" dirty="0"/>
              <a:t>Variables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569212"/>
            <a:ext cx="7581900" cy="370967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sz="3000" dirty="0">
                <a:latin typeface="Arial MT"/>
                <a:cs typeface="Arial MT"/>
              </a:rPr>
              <a:t>Managed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by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allocation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library</a:t>
            </a:r>
            <a:endParaRPr sz="30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sz="3000" dirty="0">
                <a:latin typeface="Arial MT"/>
                <a:cs typeface="Arial MT"/>
              </a:rPr>
              <a:t>Functions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like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malloc,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realloc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,free</a:t>
            </a:r>
            <a:endParaRPr sz="30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sz="3000" dirty="0">
                <a:latin typeface="Arial MT"/>
                <a:cs typeface="Arial MT"/>
              </a:rPr>
              <a:t>Get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`linked’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(joined)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your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program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if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they 	</a:t>
            </a:r>
            <a:r>
              <a:rPr sz="3000" dirty="0">
                <a:latin typeface="Arial MT"/>
                <a:cs typeface="Arial MT"/>
              </a:rPr>
              <a:t>are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called</a:t>
            </a:r>
            <a:endParaRPr sz="30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sz="3000" dirty="0">
                <a:latin typeface="Arial MT"/>
                <a:cs typeface="Arial MT"/>
              </a:rPr>
              <a:t>Executed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just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like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other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program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functions</a:t>
            </a:r>
            <a:endParaRPr sz="30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sz="3000" dirty="0">
                <a:latin typeface="Arial MT"/>
                <a:cs typeface="Arial MT"/>
              </a:rPr>
              <a:t>What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about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growth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heap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area?</a:t>
            </a:r>
            <a:endParaRPr sz="3000">
              <a:latin typeface="Arial MT"/>
              <a:cs typeface="Arial MT"/>
            </a:endParaRPr>
          </a:p>
          <a:p>
            <a:pPr marL="682625" lvl="1" indent="-325755">
              <a:lnSpc>
                <a:spcPct val="100000"/>
              </a:lnSpc>
              <a:spcBef>
                <a:spcPts val="68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sz="2600" dirty="0">
                <a:latin typeface="Arial MT"/>
                <a:cs typeface="Arial MT"/>
              </a:rPr>
              <a:t>Managed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library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functions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</TotalTime>
  <Words>1430</Words>
  <Application>Microsoft Office PowerPoint</Application>
  <PresentationFormat>Custom</PresentationFormat>
  <Paragraphs>235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MT</vt:lpstr>
      <vt:lpstr>Courier New</vt:lpstr>
      <vt:lpstr>Times New Roman</vt:lpstr>
      <vt:lpstr>Wingdings</vt:lpstr>
      <vt:lpstr>Office Theme</vt:lpstr>
      <vt:lpstr>High Performance Computing Lecture 8</vt:lpstr>
      <vt:lpstr>Example: Function Call and Return</vt:lpstr>
      <vt:lpstr>Implementing a Stack in Memory</vt:lpstr>
      <vt:lpstr>(MIPS-style rules)</vt:lpstr>
      <vt:lpstr>PowerPoint Presentation</vt:lpstr>
      <vt:lpstr>PowerPoint Presentation</vt:lpstr>
      <vt:lpstr>Implementing a Stack in Memory.</vt:lpstr>
      <vt:lpstr>PowerPoint Presentation</vt:lpstr>
      <vt:lpstr>Function Call and Return</vt:lpstr>
      <vt:lpstr>PowerPoint Presentation</vt:lpstr>
      <vt:lpstr>Recall: MIPS 1 JAL instruction</vt:lpstr>
      <vt:lpstr>Function Call and Return</vt:lpstr>
      <vt:lpstr>PowerPoint Presentation</vt:lpstr>
      <vt:lpstr>Use of Main Memory by a Program</vt:lpstr>
      <vt:lpstr>Stack Allocated Variables</vt:lpstr>
      <vt:lpstr>Heap Allocated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Dr. Kanwalpreet Kour [MU - Jaipur]</cp:lastModifiedBy>
  <cp:revision>4</cp:revision>
  <dcterms:created xsi:type="dcterms:W3CDTF">2026-09-02T03:57:22Z</dcterms:created>
  <dcterms:modified xsi:type="dcterms:W3CDTF">2026-09-02T17:17:29Z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2011-08-29T00:00:00Z</vt:filetime>
  </property>
  <property fmtid="{D5CDD505-2E9C-101B-9397-08002B2CF9AE}" pid="4" name="Producer">
    <vt:lpwstr>doPDF Ver 7.2 Build 370 (Windows XP Professional Edition  (SP 2) - Version: 5.1.2600 (x86))</vt:lpwstr>
  </property>
  <property fmtid="{D5CDD505-2E9C-101B-9397-08002B2CF9AE}" pid="5" name="LastSaved">
    <vt:filetime>2011-08-29T00:00:00Z</vt:filetime>
  </property>
</Properties>
</file>