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222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3876" y="3118104"/>
            <a:ext cx="6050597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67752" y="5632704"/>
            <a:ext cx="4982845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C4C4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50" spc="-10" dirty="0"/>
              <a:t>messages.downloaded_by</a:t>
            </a:r>
            <a:endParaRPr sz="75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C4C4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50" spc="-10" dirty="0"/>
              <a:t>messages.downloaded_by</a:t>
            </a:r>
            <a:endParaRPr sz="75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55917" y="2313432"/>
            <a:ext cx="3096482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665950" y="2313432"/>
            <a:ext cx="3096482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C4C4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50" spc="-10" dirty="0"/>
              <a:t>messages.downloaded_by</a:t>
            </a:r>
            <a:endParaRPr sz="75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C4C4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50" spc="-10" dirty="0"/>
              <a:t>messages.downloaded_by</a:t>
            </a:r>
            <a:endParaRPr sz="75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C4C4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50" spc="-10" dirty="0"/>
              <a:t>messages.downloaded_by</a:t>
            </a:r>
            <a:endParaRPr sz="75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917" y="402336"/>
            <a:ext cx="6406515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5917" y="2313432"/>
            <a:ext cx="6406515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977544" y="9841964"/>
            <a:ext cx="1523259" cy="1447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4C4C4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50" spc="-10" dirty="0"/>
              <a:t>messages.downloaded_by</a:t>
            </a:r>
            <a:endParaRPr sz="75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55917" y="9354312"/>
            <a:ext cx="1637220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25212" y="9354312"/>
            <a:ext cx="1637220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rriam-webster.com/dictionary/heuristic" TargetMode="External"/><Relationship Id="rId2" Type="http://schemas.openxmlformats.org/officeDocument/2006/relationships/hyperlink" Target="https://www.merriam-webster.com/dictionary/implemented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dcc.fc.up.pt/~ricroc/aulas/1516/cp/apontamentos/slides_metrics.pdf" TargetMode="External"/><Relationship Id="rId4" Type="http://schemas.openxmlformats.org/officeDocument/2006/relationships/hyperlink" Target="https://www.britannica.com/science/algorith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otalview.io/blog/gpu-computing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891540"/>
            <a:ext cx="5967730" cy="7998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UNIT-</a:t>
            </a:r>
            <a:r>
              <a:rPr sz="1200" b="1" spc="-50" dirty="0">
                <a:solidFill>
                  <a:srgbClr val="1F2023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12700" marR="12065" indent="55244" algn="just">
              <a:lnSpc>
                <a:spcPct val="110000"/>
              </a:lnSpc>
              <a:spcBef>
                <a:spcPts val="100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High</a:t>
            </a:r>
            <a:r>
              <a:rPr sz="1200" spc="9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Performance</a:t>
            </a:r>
            <a:r>
              <a:rPr sz="1200" spc="9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Computing</a:t>
            </a:r>
            <a:r>
              <a:rPr sz="1200" spc="10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most</a:t>
            </a:r>
            <a:r>
              <a:rPr sz="1200" spc="9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generally</a:t>
            </a:r>
            <a:r>
              <a:rPr sz="1200" spc="10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refers</a:t>
            </a:r>
            <a:r>
              <a:rPr sz="1200" spc="9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9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practice</a:t>
            </a:r>
            <a:r>
              <a:rPr sz="1200" spc="10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9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aggregating</a:t>
            </a:r>
            <a:r>
              <a:rPr sz="1200" spc="10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computing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power</a:t>
            </a:r>
            <a:r>
              <a:rPr sz="1200" spc="2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20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20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way</a:t>
            </a:r>
            <a:r>
              <a:rPr sz="1200" spc="20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sz="1200" spc="20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delivers</a:t>
            </a:r>
            <a:r>
              <a:rPr sz="1200" spc="2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much</a:t>
            </a:r>
            <a:r>
              <a:rPr sz="1200" spc="2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higher</a:t>
            </a:r>
            <a:r>
              <a:rPr sz="1200" spc="20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performance</a:t>
            </a:r>
            <a:r>
              <a:rPr sz="1200" spc="2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than</a:t>
            </a:r>
            <a:r>
              <a:rPr sz="1200" spc="2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one</a:t>
            </a:r>
            <a:r>
              <a:rPr sz="1200" spc="20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could</a:t>
            </a:r>
            <a:r>
              <a:rPr sz="1200" spc="2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get</a:t>
            </a:r>
            <a:r>
              <a:rPr sz="1200" spc="19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out</a:t>
            </a:r>
            <a:r>
              <a:rPr sz="1200" spc="2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20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20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typical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desktop</a:t>
            </a:r>
            <a:r>
              <a:rPr sz="1200" spc="1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computer</a:t>
            </a:r>
            <a:r>
              <a:rPr sz="1200" spc="1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or</a:t>
            </a:r>
            <a:r>
              <a:rPr sz="1200" spc="1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workstation</a:t>
            </a:r>
            <a:r>
              <a:rPr sz="1200" spc="1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1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order</a:t>
            </a:r>
            <a:r>
              <a:rPr sz="1200" spc="1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1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solve</a:t>
            </a:r>
            <a:r>
              <a:rPr sz="1200" spc="1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large</a:t>
            </a:r>
            <a:r>
              <a:rPr sz="1200" spc="1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problems</a:t>
            </a:r>
            <a:r>
              <a:rPr sz="1200" spc="1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1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science,</a:t>
            </a:r>
            <a:r>
              <a:rPr sz="1200" spc="1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engineering,</a:t>
            </a:r>
            <a:r>
              <a:rPr sz="1200" spc="1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or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business.</a:t>
            </a:r>
            <a:endParaRPr sz="1200">
              <a:latin typeface="Times New Roman"/>
              <a:cs typeface="Times New Roman"/>
            </a:endParaRPr>
          </a:p>
          <a:p>
            <a:pPr marL="12700" marR="10795" indent="175895" algn="just">
              <a:lnSpc>
                <a:spcPct val="110100"/>
              </a:lnSpc>
              <a:spcBef>
                <a:spcPts val="100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High</a:t>
            </a:r>
            <a:r>
              <a:rPr sz="1200" spc="1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performance</a:t>
            </a:r>
            <a:r>
              <a:rPr sz="1200" spc="1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computing</a:t>
            </a:r>
            <a:r>
              <a:rPr sz="1200" spc="1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(HPC)</a:t>
            </a:r>
            <a:r>
              <a:rPr sz="1200" spc="1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b="1" spc="1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ability</a:t>
            </a:r>
            <a:r>
              <a:rPr sz="1200" b="1" spc="1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b="1" spc="1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process</a:t>
            </a:r>
            <a:r>
              <a:rPr sz="1200" b="1" spc="1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data</a:t>
            </a:r>
            <a:r>
              <a:rPr sz="1200" b="1" spc="1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b="1" spc="1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perform</a:t>
            </a:r>
            <a:r>
              <a:rPr sz="1200" b="1" spc="1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complex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calculations</a:t>
            </a:r>
            <a:r>
              <a:rPr sz="1200" b="1" spc="2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at</a:t>
            </a:r>
            <a:r>
              <a:rPr sz="1200" b="1" spc="2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high</a:t>
            </a:r>
            <a:r>
              <a:rPr sz="1200" b="1" spc="2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speeds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r>
              <a:rPr sz="1200" spc="2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2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put</a:t>
            </a:r>
            <a:r>
              <a:rPr sz="1200" spc="2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it</a:t>
            </a:r>
            <a:r>
              <a:rPr sz="1200" spc="2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into</a:t>
            </a:r>
            <a:r>
              <a:rPr sz="1200" spc="229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perspective,</a:t>
            </a:r>
            <a:r>
              <a:rPr sz="1200" spc="2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2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laptop</a:t>
            </a:r>
            <a:r>
              <a:rPr sz="1200" spc="229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or</a:t>
            </a:r>
            <a:r>
              <a:rPr sz="1200" spc="2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desktop</a:t>
            </a:r>
            <a:r>
              <a:rPr sz="1200" spc="2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with</a:t>
            </a:r>
            <a:r>
              <a:rPr sz="1200" spc="2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2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3</a:t>
            </a:r>
            <a:r>
              <a:rPr sz="1200" spc="2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GHz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processor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can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perform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around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3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billion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calculations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per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second.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What</a:t>
            </a:r>
            <a:r>
              <a:rPr sz="1200" b="1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Is</a:t>
            </a:r>
            <a:r>
              <a:rPr sz="1200" b="1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81819"/>
                </a:solidFill>
                <a:latin typeface="Times New Roman"/>
                <a:cs typeface="Times New Roman"/>
              </a:rPr>
              <a:t>High-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Performance</a:t>
            </a:r>
            <a:r>
              <a:rPr sz="1200" b="1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81819"/>
                </a:solidFill>
                <a:latin typeface="Times New Roman"/>
                <a:cs typeface="Times New Roman"/>
              </a:rPr>
              <a:t>Computing?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3970" indent="407670" algn="just">
              <a:lnSpc>
                <a:spcPct val="110100"/>
              </a:lnSpc>
            </a:pP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High-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Performance</a:t>
            </a:r>
            <a:r>
              <a:rPr sz="1200" spc="114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Computing</a:t>
            </a:r>
            <a:r>
              <a:rPr sz="1200" spc="1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is</a:t>
            </a:r>
            <a:r>
              <a:rPr sz="1200" spc="114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10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practice</a:t>
            </a:r>
            <a:r>
              <a:rPr sz="1200" spc="1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of</a:t>
            </a:r>
            <a:r>
              <a:rPr sz="1200" spc="1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combining</a:t>
            </a:r>
            <a:r>
              <a:rPr sz="1200" spc="114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computing</a:t>
            </a:r>
            <a:r>
              <a:rPr sz="1200" spc="1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power</a:t>
            </a:r>
            <a:r>
              <a:rPr sz="1200" spc="1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10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deliver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much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more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performance</a:t>
            </a:r>
            <a:r>
              <a:rPr sz="1200" spc="-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than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typical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computer.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This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is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achieved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using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parallel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data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processing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systems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where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several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u="sng" dirty="0">
                <a:solidFill>
                  <a:srgbClr val="005FBE"/>
                </a:solidFill>
                <a:uFill>
                  <a:solidFill>
                    <a:srgbClr val="005FBE"/>
                  </a:solidFill>
                </a:uFill>
                <a:latin typeface="Times New Roman"/>
                <a:cs typeface="Times New Roman"/>
              </a:rPr>
              <a:t>servers</a:t>
            </a:r>
            <a:r>
              <a:rPr sz="1200" spc="-40" dirty="0">
                <a:solidFill>
                  <a:srgbClr val="005FBE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work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together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complete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</a:t>
            </a:r>
            <a:r>
              <a:rPr sz="1200" spc="-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task.</a:t>
            </a:r>
            <a:endParaRPr sz="12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10200"/>
              </a:lnSpc>
              <a:spcBef>
                <a:spcPts val="890"/>
              </a:spcBef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105" dirty="0">
                <a:solidFill>
                  <a:srgbClr val="181819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increases</a:t>
            </a:r>
            <a:r>
              <a:rPr sz="1200" spc="120" dirty="0">
                <a:solidFill>
                  <a:srgbClr val="181819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105" dirty="0">
                <a:solidFill>
                  <a:srgbClr val="181819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computing</a:t>
            </a:r>
            <a:r>
              <a:rPr sz="1200" spc="120" dirty="0">
                <a:solidFill>
                  <a:srgbClr val="181819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performance,</a:t>
            </a:r>
            <a:r>
              <a:rPr sz="1200" spc="114" dirty="0">
                <a:solidFill>
                  <a:srgbClr val="181819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giving</a:t>
            </a:r>
            <a:r>
              <a:rPr sz="1200" spc="114" dirty="0">
                <a:solidFill>
                  <a:srgbClr val="181819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complex</a:t>
            </a:r>
            <a:r>
              <a:rPr sz="1200" spc="110" dirty="0">
                <a:solidFill>
                  <a:srgbClr val="181819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calculations</a:t>
            </a:r>
            <a:r>
              <a:rPr sz="1200" spc="120" dirty="0">
                <a:solidFill>
                  <a:srgbClr val="181819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105" dirty="0">
                <a:solidFill>
                  <a:srgbClr val="181819"/>
                </a:solidFill>
                <a:latin typeface="Times New Roman"/>
                <a:cs typeface="Times New Roman"/>
              </a:rPr>
              <a:t> 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advanced applications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smooth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run.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For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instance,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3GHz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processor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typical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laptop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can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perform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up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181819"/>
                </a:solidFill>
                <a:latin typeface="Times New Roman"/>
                <a:cs typeface="Times New Roman"/>
              </a:rPr>
              <a:t>3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billion</a:t>
            </a:r>
            <a:r>
              <a:rPr sz="1200" spc="2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calculations</a:t>
            </a:r>
            <a:r>
              <a:rPr sz="1200" spc="2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</a:t>
            </a:r>
            <a:r>
              <a:rPr sz="1200" spc="2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</a:t>
            </a:r>
            <a:r>
              <a:rPr sz="1200" spc="2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second.</a:t>
            </a:r>
            <a:r>
              <a:rPr sz="1200" spc="2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But,</a:t>
            </a:r>
            <a:r>
              <a:rPr sz="1200" spc="2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</a:t>
            </a:r>
            <a:r>
              <a:rPr sz="1200" spc="2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2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can</a:t>
            </a:r>
            <a:r>
              <a:rPr sz="1200" spc="2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perform</a:t>
            </a:r>
            <a:r>
              <a:rPr sz="1200" spc="2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quadrillions</a:t>
            </a:r>
            <a:r>
              <a:rPr sz="1200" spc="2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of</a:t>
            </a:r>
            <a:r>
              <a:rPr sz="1200" spc="2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calculations</a:t>
            </a:r>
            <a:r>
              <a:rPr sz="1200" spc="2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</a:t>
            </a:r>
            <a:r>
              <a:rPr sz="1200" spc="229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181819"/>
                </a:solidFill>
                <a:latin typeface="Times New Roman"/>
                <a:cs typeface="Times New Roman"/>
              </a:rPr>
              <a:t>a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second.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That’s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how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fast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can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operate,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great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example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being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supercomputer.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0160" algn="just">
              <a:lnSpc>
                <a:spcPct val="110100"/>
              </a:lnSpc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high-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performance</a:t>
            </a:r>
            <a:r>
              <a:rPr sz="1200" spc="114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computing</a:t>
            </a:r>
            <a:r>
              <a:rPr sz="1200" spc="1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system</a:t>
            </a:r>
            <a:r>
              <a:rPr sz="1200" spc="1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was</a:t>
            </a:r>
            <a:r>
              <a:rPr sz="1200" spc="10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developed</a:t>
            </a:r>
            <a:r>
              <a:rPr sz="1200" spc="1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114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meet</a:t>
            </a:r>
            <a:r>
              <a:rPr sz="1200" spc="1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rising</a:t>
            </a:r>
            <a:r>
              <a:rPr sz="1200" spc="1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demand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for</a:t>
            </a:r>
            <a:r>
              <a:rPr sz="1200" spc="10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faster,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reliable,</a:t>
            </a:r>
            <a:r>
              <a:rPr sz="1200" spc="3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3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scalable</a:t>
            </a:r>
            <a:r>
              <a:rPr sz="1200" spc="3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compute</a:t>
            </a:r>
            <a:r>
              <a:rPr sz="1200" spc="3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speeds.</a:t>
            </a:r>
            <a:r>
              <a:rPr sz="1200" spc="3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Modern</a:t>
            </a:r>
            <a:r>
              <a:rPr sz="1200" spc="3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HPCs</a:t>
            </a:r>
            <a:r>
              <a:rPr sz="1200" spc="3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bring</a:t>
            </a:r>
            <a:r>
              <a:rPr sz="1200" spc="30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together</a:t>
            </a:r>
            <a:r>
              <a:rPr sz="1200" spc="3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algorithms,</a:t>
            </a:r>
            <a:r>
              <a:rPr sz="1200" spc="3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computer architecture,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system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software,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specialty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programs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apps,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advanced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sensors,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etc.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These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systems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find</a:t>
            </a:r>
            <a:r>
              <a:rPr sz="1200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applications</a:t>
            </a:r>
            <a:r>
              <a:rPr sz="1200" spc="1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high-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performance</a:t>
            </a:r>
            <a:r>
              <a:rPr sz="1200" spc="10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environments</a:t>
            </a:r>
            <a:r>
              <a:rPr sz="1200" spc="1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where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speed,</a:t>
            </a:r>
            <a:r>
              <a:rPr sz="1200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accuracy,</a:t>
            </a:r>
            <a:r>
              <a:rPr sz="1200" spc="1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reliability</a:t>
            </a:r>
            <a:r>
              <a:rPr sz="1200" spc="10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are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given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priority.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200" b="1" spc="-10" dirty="0">
                <a:solidFill>
                  <a:srgbClr val="181819"/>
                </a:solidFill>
                <a:latin typeface="Times New Roman"/>
                <a:cs typeface="Times New Roman"/>
              </a:rPr>
              <a:t>Characteristics</a:t>
            </a:r>
            <a:r>
              <a:rPr sz="1200" b="1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of</a:t>
            </a:r>
            <a:r>
              <a:rPr sz="1200" b="1" spc="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81819"/>
                </a:solidFill>
                <a:latin typeface="Times New Roman"/>
                <a:cs typeface="Times New Roman"/>
              </a:rPr>
              <a:t>High-Performance</a:t>
            </a:r>
            <a:r>
              <a:rPr sz="1200" b="1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81819"/>
                </a:solidFill>
                <a:latin typeface="Times New Roman"/>
                <a:cs typeface="Times New Roman"/>
              </a:rPr>
              <a:t>Computing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10100"/>
              </a:lnSpc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three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main</a:t>
            </a:r>
            <a:r>
              <a:rPr sz="1200" spc="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components</a:t>
            </a:r>
            <a:r>
              <a:rPr sz="1200" spc="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of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</a:t>
            </a:r>
            <a:r>
              <a:rPr sz="1200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system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are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compute,</a:t>
            </a:r>
            <a:r>
              <a:rPr sz="1200" spc="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storage</a:t>
            </a:r>
            <a:r>
              <a:rPr sz="1200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network.</a:t>
            </a:r>
            <a:r>
              <a:rPr sz="1200" spc="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compute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components</a:t>
            </a:r>
            <a:r>
              <a:rPr sz="1200" spc="1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comprise</a:t>
            </a:r>
            <a:r>
              <a:rPr sz="1200" spc="1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parts</a:t>
            </a:r>
            <a:r>
              <a:rPr sz="1200" spc="1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such</a:t>
            </a:r>
            <a:r>
              <a:rPr sz="1200" spc="1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as</a:t>
            </a:r>
            <a:r>
              <a:rPr sz="1200" spc="1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1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motherboard,</a:t>
            </a:r>
            <a:r>
              <a:rPr sz="1200" spc="16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RAM,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u="sng" dirty="0">
                <a:solidFill>
                  <a:srgbClr val="005FBE"/>
                </a:solidFill>
                <a:uFill>
                  <a:solidFill>
                    <a:srgbClr val="005FBE"/>
                  </a:solidFill>
                </a:uFill>
                <a:latin typeface="Times New Roman"/>
                <a:cs typeface="Times New Roman"/>
              </a:rPr>
              <a:t>CPU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,</a:t>
            </a:r>
            <a:r>
              <a:rPr sz="1200" spc="1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hard</a:t>
            </a:r>
            <a:r>
              <a:rPr sz="1200" spc="1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drive,</a:t>
            </a:r>
            <a:r>
              <a:rPr sz="1200" spc="1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etc.,</a:t>
            </a:r>
            <a:r>
              <a:rPr sz="1200" spc="1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needed</a:t>
            </a:r>
            <a:r>
              <a:rPr sz="1200" spc="16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to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complete</a:t>
            </a:r>
            <a:r>
              <a:rPr sz="1200" spc="4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specific</a:t>
            </a:r>
            <a:r>
              <a:rPr sz="1200" spc="4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tasks</a:t>
            </a:r>
            <a:r>
              <a:rPr sz="1200" spc="409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such</a:t>
            </a:r>
            <a:r>
              <a:rPr sz="1200" spc="40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as</a:t>
            </a:r>
            <a:r>
              <a:rPr sz="1200" spc="4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running</a:t>
            </a:r>
            <a:r>
              <a:rPr sz="1200" spc="4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computations</a:t>
            </a:r>
            <a:r>
              <a:rPr sz="1200" spc="4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40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critical</a:t>
            </a:r>
            <a:r>
              <a:rPr sz="1200" spc="4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software.</a:t>
            </a:r>
            <a:r>
              <a:rPr sz="1200" spc="409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Networking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components</a:t>
            </a:r>
            <a:r>
              <a:rPr sz="1200" spc="2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ensure</a:t>
            </a:r>
            <a:r>
              <a:rPr sz="1200" spc="2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204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system</a:t>
            </a:r>
            <a:r>
              <a:rPr sz="1200" spc="2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204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204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users</a:t>
            </a:r>
            <a:r>
              <a:rPr sz="1200" spc="2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are</a:t>
            </a:r>
            <a:r>
              <a:rPr sz="1200" spc="2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well</a:t>
            </a:r>
            <a:r>
              <a:rPr sz="1200" spc="2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connected,</a:t>
            </a:r>
            <a:r>
              <a:rPr sz="1200" spc="2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allowing</a:t>
            </a:r>
            <a:r>
              <a:rPr sz="1200" spc="2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access</a:t>
            </a:r>
            <a:r>
              <a:rPr sz="1200" spc="2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204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critical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resources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like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remote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computers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Internet.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Storage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components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hold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recorded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data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and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ensure</a:t>
            </a:r>
            <a:r>
              <a:rPr sz="1200" spc="-5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they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are</a:t>
            </a:r>
            <a:r>
              <a:rPr sz="1200" spc="-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easily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accessible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whenever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needed.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40"/>
              </a:spcBef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</a:t>
            </a:r>
            <a:r>
              <a:rPr sz="1200" spc="2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</a:t>
            </a:r>
            <a:r>
              <a:rPr sz="1200" spc="2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HPC,</a:t>
            </a:r>
            <a:r>
              <a:rPr sz="1200" spc="229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multiple</a:t>
            </a:r>
            <a:r>
              <a:rPr sz="1200" spc="2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computer</a:t>
            </a:r>
            <a:r>
              <a:rPr sz="1200" spc="2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servers</a:t>
            </a:r>
            <a:r>
              <a:rPr sz="1200" spc="2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are</a:t>
            </a:r>
            <a:r>
              <a:rPr sz="1200" spc="2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networked</a:t>
            </a:r>
            <a:r>
              <a:rPr sz="1200" spc="229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229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form</a:t>
            </a:r>
            <a:r>
              <a:rPr sz="1200" spc="2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</a:t>
            </a:r>
            <a:r>
              <a:rPr sz="1200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u="sng" dirty="0">
                <a:solidFill>
                  <a:srgbClr val="005FBE"/>
                </a:solidFill>
                <a:uFill>
                  <a:solidFill>
                    <a:srgbClr val="005FBE"/>
                  </a:solidFill>
                </a:uFill>
                <a:latin typeface="Times New Roman"/>
                <a:cs typeface="Times New Roman"/>
              </a:rPr>
              <a:t>cluster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,</a:t>
            </a:r>
            <a:r>
              <a:rPr sz="1200" spc="2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which</a:t>
            </a:r>
            <a:r>
              <a:rPr sz="1200" spc="229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serves</a:t>
            </a:r>
            <a:r>
              <a:rPr sz="1200" spc="2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as</a:t>
            </a:r>
            <a:r>
              <a:rPr sz="1200" spc="2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an</a:t>
            </a:r>
            <a:endParaRPr sz="1200">
              <a:latin typeface="Times New Roman"/>
              <a:cs typeface="Times New Roman"/>
            </a:endParaRPr>
          </a:p>
          <a:p>
            <a:pPr marL="12700" marR="11430" algn="just">
              <a:lnSpc>
                <a:spcPct val="110100"/>
              </a:lnSpc>
              <a:spcBef>
                <a:spcPts val="5"/>
              </a:spcBef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efficient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architecture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system.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servers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cluster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are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concurrently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run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with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algorithms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software</a:t>
            </a:r>
            <a:r>
              <a:rPr sz="1200" spc="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programs</a:t>
            </a:r>
            <a:r>
              <a:rPr sz="1200" spc="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complete</a:t>
            </a:r>
            <a:r>
              <a:rPr sz="1200" spc="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different</a:t>
            </a:r>
            <a:r>
              <a:rPr sz="1200" spc="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tasks.</a:t>
            </a:r>
            <a:r>
              <a:rPr sz="1200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store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or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access</a:t>
            </a:r>
            <a:r>
              <a:rPr sz="1200" spc="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required</a:t>
            </a:r>
            <a:r>
              <a:rPr sz="1200" spc="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information,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cluster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is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networked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data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storage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systems.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108" y="996889"/>
            <a:ext cx="3493103" cy="17317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4369" y="2946400"/>
            <a:ext cx="6193155" cy="6188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8255" algn="just">
              <a:lnSpc>
                <a:spcPct val="110100"/>
              </a:lnSpc>
              <a:spcBef>
                <a:spcPts val="95"/>
              </a:spcBef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Each</a:t>
            </a:r>
            <a:r>
              <a:rPr sz="1200" spc="1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component</a:t>
            </a:r>
            <a:r>
              <a:rPr sz="1200" spc="1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of</a:t>
            </a:r>
            <a:r>
              <a:rPr sz="1200" spc="1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1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high-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performance</a:t>
            </a:r>
            <a:r>
              <a:rPr sz="1200" spc="1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computing</a:t>
            </a:r>
            <a:r>
              <a:rPr sz="1200" spc="1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infrastructure</a:t>
            </a:r>
            <a:r>
              <a:rPr sz="1200" spc="1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must</a:t>
            </a:r>
            <a:r>
              <a:rPr sz="1200" spc="1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keep</a:t>
            </a:r>
            <a:r>
              <a:rPr sz="1200" spc="1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pace</a:t>
            </a:r>
            <a:r>
              <a:rPr sz="1200" spc="1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with</a:t>
            </a:r>
            <a:r>
              <a:rPr sz="1200" spc="1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each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other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-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ensure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maximum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performance.</a:t>
            </a:r>
            <a:r>
              <a:rPr sz="1200" spc="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All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networking</a:t>
            </a:r>
            <a:r>
              <a:rPr sz="1200" spc="-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systems should</a:t>
            </a:r>
            <a:r>
              <a:rPr sz="1200" spc="-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also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have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capacity</a:t>
            </a:r>
            <a:r>
              <a:rPr sz="1200" spc="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to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support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high-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speed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data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transmission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between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computing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servers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data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storage.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Other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distinctive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features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of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high-performance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computing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system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are: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Times New Roman"/>
              <a:cs typeface="Times New Roman"/>
            </a:endParaRPr>
          </a:p>
          <a:p>
            <a:pPr marL="238125" marR="9525" indent="-226060" algn="just">
              <a:lnSpc>
                <a:spcPct val="110100"/>
              </a:lnSpc>
              <a:spcBef>
                <a:spcPts val="5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Powerful</a:t>
            </a:r>
            <a:r>
              <a:rPr sz="1200" b="1" spc="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search</a:t>
            </a:r>
            <a:r>
              <a:rPr sz="1200" b="1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–</a:t>
            </a:r>
            <a:r>
              <a:rPr sz="1200" spc="8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HPCs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have</a:t>
            </a:r>
            <a:r>
              <a:rPr sz="1200" spc="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powerful</a:t>
            </a:r>
            <a:r>
              <a:rPr sz="1200" spc="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search</a:t>
            </a:r>
            <a:r>
              <a:rPr sz="1200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capabilities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that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allow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users</a:t>
            </a:r>
            <a:r>
              <a:rPr sz="1200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easily</a:t>
            </a:r>
            <a:r>
              <a:rPr sz="1200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navigate 	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between</a:t>
            </a:r>
            <a:r>
              <a:rPr sz="1200" spc="38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files,</a:t>
            </a:r>
            <a:r>
              <a:rPr sz="1200" spc="37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applications,</a:t>
            </a:r>
            <a:r>
              <a:rPr sz="1200" spc="38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37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huge</a:t>
            </a:r>
            <a:r>
              <a:rPr sz="1200" spc="37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databases.</a:t>
            </a:r>
            <a:r>
              <a:rPr sz="1200" spc="38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This</a:t>
            </a:r>
            <a:r>
              <a:rPr sz="1200" spc="38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makes</a:t>
            </a:r>
            <a:r>
              <a:rPr sz="1200" spc="38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regular</a:t>
            </a:r>
            <a:r>
              <a:rPr sz="1200" spc="38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interaction</a:t>
            </a:r>
            <a:r>
              <a:rPr sz="1200" spc="3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with</a:t>
            </a:r>
            <a:r>
              <a:rPr sz="1200" spc="37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the 	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computer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quite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convenient.</a:t>
            </a:r>
            <a:endParaRPr sz="1200">
              <a:latin typeface="Times New Roman"/>
              <a:cs typeface="Times New Roman"/>
            </a:endParaRPr>
          </a:p>
          <a:p>
            <a:pPr marL="238125" indent="-226060" algn="just">
              <a:lnSpc>
                <a:spcPct val="100000"/>
              </a:lnSpc>
              <a:spcBef>
                <a:spcPts val="140"/>
              </a:spcBef>
              <a:buSzPct val="83333"/>
              <a:buFont typeface="Arial MT"/>
              <a:buChar char="•"/>
              <a:tabLst>
                <a:tab pos="238125" algn="l"/>
                <a:tab pos="240665" algn="l"/>
              </a:tabLst>
            </a:pP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Advanced</a:t>
            </a:r>
            <a:r>
              <a:rPr sz="1200" b="1" spc="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directory</a:t>
            </a:r>
            <a:r>
              <a:rPr sz="1200" b="1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browsing</a:t>
            </a:r>
            <a:r>
              <a:rPr sz="1200" b="1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–</a:t>
            </a:r>
            <a:r>
              <a:rPr sz="1200" spc="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8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has</a:t>
            </a:r>
            <a:r>
              <a:rPr sz="1200" spc="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advanced</a:t>
            </a:r>
            <a:r>
              <a:rPr sz="1200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mechanisms</a:t>
            </a:r>
            <a:r>
              <a:rPr sz="1200" spc="10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that</a:t>
            </a:r>
            <a:r>
              <a:rPr sz="1200" spc="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allow</a:t>
            </a:r>
            <a:r>
              <a:rPr sz="1200" spc="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for</a:t>
            </a:r>
            <a:r>
              <a:rPr sz="1200" spc="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traversing</a:t>
            </a:r>
            <a:endParaRPr sz="1200">
              <a:latin typeface="Times New Roman"/>
              <a:cs typeface="Times New Roman"/>
            </a:endParaRPr>
          </a:p>
          <a:p>
            <a:pPr marL="240665" marR="10795" algn="just">
              <a:lnSpc>
                <a:spcPct val="109700"/>
              </a:lnSpc>
              <a:spcBef>
                <a:spcPts val="10"/>
              </a:spcBef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directory</a:t>
            </a:r>
            <a:r>
              <a:rPr sz="1200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standards.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This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gives</a:t>
            </a:r>
            <a:r>
              <a:rPr sz="1200" spc="10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users</a:t>
            </a:r>
            <a:r>
              <a:rPr sz="1200" spc="10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option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cache</a:t>
            </a:r>
            <a:r>
              <a:rPr sz="1200" spc="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directory</a:t>
            </a:r>
            <a:r>
              <a:rPr sz="1200" spc="1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lists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from</a:t>
            </a:r>
            <a:r>
              <a:rPr sz="1200" spc="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distributed</a:t>
            </a:r>
            <a:r>
              <a:rPr sz="1200" spc="1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hosts,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enabling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fast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re-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display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of</a:t>
            </a:r>
            <a:r>
              <a:rPr sz="1200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previously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visited</a:t>
            </a:r>
            <a:r>
              <a:rPr sz="1200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directories.</a:t>
            </a:r>
            <a:endParaRPr sz="1200">
              <a:latin typeface="Times New Roman"/>
              <a:cs typeface="Times New Roman"/>
            </a:endParaRPr>
          </a:p>
          <a:p>
            <a:pPr marL="238125" marR="5080" indent="-226060" algn="just">
              <a:lnSpc>
                <a:spcPct val="110100"/>
              </a:lnSpc>
              <a:spcBef>
                <a:spcPts val="5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Authentication</a:t>
            </a:r>
            <a:r>
              <a:rPr sz="1200" b="1" spc="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management</a:t>
            </a:r>
            <a:r>
              <a:rPr sz="1200" b="1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–</a:t>
            </a:r>
            <a:r>
              <a:rPr sz="1200" spc="-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make</a:t>
            </a:r>
            <a:r>
              <a:rPr sz="1200" spc="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system</a:t>
            </a:r>
            <a:r>
              <a:rPr sz="1200" spc="-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authentication</a:t>
            </a:r>
            <a:r>
              <a:rPr sz="1200" spc="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access a breeze, HPCs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allow 	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trusted</a:t>
            </a:r>
            <a:r>
              <a:rPr sz="1200" spc="17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connections</a:t>
            </a:r>
            <a:r>
              <a:rPr sz="1200" spc="1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1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be</a:t>
            </a:r>
            <a:r>
              <a:rPr sz="1200" spc="18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cached</a:t>
            </a:r>
            <a:r>
              <a:rPr sz="1200" spc="1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18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re-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used.</a:t>
            </a:r>
            <a:r>
              <a:rPr sz="1200" spc="18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This</a:t>
            </a:r>
            <a:r>
              <a:rPr sz="1200" spc="1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means</a:t>
            </a:r>
            <a:r>
              <a:rPr sz="1200" spc="18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authentication</a:t>
            </a:r>
            <a:r>
              <a:rPr sz="1200" spc="2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information</a:t>
            </a:r>
            <a:r>
              <a:rPr sz="1200" spc="1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can</a:t>
            </a:r>
            <a:r>
              <a:rPr sz="1200" spc="18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be 	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stored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during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session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re-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used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next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time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you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want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use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  <a:p>
            <a:pPr marL="238125" marR="6985" indent="-226060" algn="just">
              <a:lnSpc>
                <a:spcPts val="1590"/>
              </a:lnSpc>
              <a:spcBef>
                <a:spcPts val="65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Drag</a:t>
            </a:r>
            <a:r>
              <a:rPr sz="1200" b="1" spc="18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b="1" spc="1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drop</a:t>
            </a:r>
            <a:r>
              <a:rPr sz="1200" b="1" spc="1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file</a:t>
            </a:r>
            <a:r>
              <a:rPr sz="1200" b="1" spc="204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transfer</a:t>
            </a:r>
            <a:r>
              <a:rPr sz="1200" b="1" spc="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–</a:t>
            </a:r>
            <a:r>
              <a:rPr sz="1200" spc="18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this</a:t>
            </a:r>
            <a:r>
              <a:rPr sz="1200" spc="2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allows</a:t>
            </a:r>
            <a:r>
              <a:rPr sz="1200" spc="2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for</a:t>
            </a:r>
            <a:r>
              <a:rPr sz="1200" spc="18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faster</a:t>
            </a:r>
            <a:r>
              <a:rPr sz="1200" spc="1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transfer</a:t>
            </a:r>
            <a:r>
              <a:rPr sz="1200" spc="1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of</a:t>
            </a:r>
            <a:r>
              <a:rPr sz="1200" spc="1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files</a:t>
            </a:r>
            <a:r>
              <a:rPr sz="1200" spc="2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enhances</a:t>
            </a:r>
            <a:r>
              <a:rPr sz="1200" spc="20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19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user 	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experience,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especially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when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dealing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with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huge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data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sets.</a:t>
            </a:r>
            <a:endParaRPr sz="1200">
              <a:latin typeface="Times New Roman"/>
              <a:cs typeface="Times New Roman"/>
            </a:endParaRPr>
          </a:p>
          <a:p>
            <a:pPr marL="238760" indent="-226060" algn="just">
              <a:lnSpc>
                <a:spcPct val="100000"/>
              </a:lnSpc>
              <a:spcBef>
                <a:spcPts val="65"/>
              </a:spcBef>
              <a:buSzPct val="83333"/>
              <a:buFont typeface="Arial MT"/>
              <a:buChar char="•"/>
              <a:tabLst>
                <a:tab pos="238760" algn="l"/>
              </a:tabLst>
            </a:pP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Directory</a:t>
            </a:r>
            <a:r>
              <a:rPr sz="1200" b="1" spc="6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synchronization</a:t>
            </a:r>
            <a:r>
              <a:rPr sz="1200" b="1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–</a:t>
            </a:r>
            <a:r>
              <a:rPr sz="1200" spc="5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5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allows</a:t>
            </a:r>
            <a:r>
              <a:rPr sz="1200" spc="7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for</a:t>
            </a:r>
            <a:r>
              <a:rPr sz="1200" spc="6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synchronizing</a:t>
            </a:r>
            <a:r>
              <a:rPr sz="1200" spc="7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remote</a:t>
            </a:r>
            <a:r>
              <a:rPr sz="1200" spc="6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or</a:t>
            </a:r>
            <a:r>
              <a:rPr sz="1200" spc="6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local</a:t>
            </a:r>
            <a:r>
              <a:rPr sz="1200" spc="7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directories,</a:t>
            </a:r>
            <a:r>
              <a:rPr sz="1200" spc="7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where</a:t>
            </a:r>
            <a:endParaRPr sz="1200">
              <a:latin typeface="Times New Roman"/>
              <a:cs typeface="Times New Roman"/>
            </a:endParaRPr>
          </a:p>
          <a:p>
            <a:pPr marL="240665" algn="just">
              <a:lnSpc>
                <a:spcPct val="100000"/>
              </a:lnSpc>
              <a:spcBef>
                <a:spcPts val="150"/>
              </a:spcBef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old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files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(in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destination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folder)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can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be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replaced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by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newer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ones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source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file/folder.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 algn="just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Why</a:t>
            </a:r>
            <a:r>
              <a:rPr sz="1200" b="1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is</a:t>
            </a:r>
            <a:r>
              <a:rPr sz="1200" b="1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81819"/>
                </a:solidFill>
                <a:latin typeface="Times New Roman"/>
                <a:cs typeface="Times New Roman"/>
              </a:rPr>
              <a:t>High-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performance</a:t>
            </a:r>
            <a:r>
              <a:rPr sz="1200" b="1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Computing</a:t>
            </a:r>
            <a:r>
              <a:rPr sz="1200" b="1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81819"/>
                </a:solidFill>
                <a:latin typeface="Times New Roman"/>
                <a:cs typeface="Times New Roman"/>
              </a:rPr>
              <a:t>Important?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 marR="9525" algn="just">
              <a:lnSpc>
                <a:spcPct val="110100"/>
              </a:lnSpc>
              <a:spcBef>
                <a:spcPts val="5"/>
              </a:spcBef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has</a:t>
            </a:r>
            <a:r>
              <a:rPr sz="1200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played</a:t>
            </a:r>
            <a:r>
              <a:rPr sz="1200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</a:t>
            </a:r>
            <a:r>
              <a:rPr sz="1200" spc="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significant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role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research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innovation</a:t>
            </a:r>
            <a:r>
              <a:rPr sz="1200" spc="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worlds</a:t>
            </a:r>
            <a:r>
              <a:rPr sz="1200" spc="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for</a:t>
            </a:r>
            <a:r>
              <a:rPr sz="1200" spc="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decades.</a:t>
            </a:r>
            <a:r>
              <a:rPr sz="1200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Engineers,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designers,</a:t>
            </a:r>
            <a:r>
              <a:rPr sz="1200" spc="3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scientists,</a:t>
            </a:r>
            <a:r>
              <a:rPr sz="1200" spc="37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36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other</a:t>
            </a:r>
            <a:r>
              <a:rPr sz="1200" spc="36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professionals</a:t>
            </a:r>
            <a:r>
              <a:rPr sz="1200" spc="37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have</a:t>
            </a:r>
            <a:r>
              <a:rPr sz="1200" spc="36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leveraged</a:t>
            </a:r>
            <a:r>
              <a:rPr sz="1200" spc="37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36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power</a:t>
            </a:r>
            <a:r>
              <a:rPr sz="1200" spc="36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of</a:t>
            </a:r>
            <a:r>
              <a:rPr sz="1200" spc="35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3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36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make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significant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breakthroughs.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Below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are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primary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benefits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of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HPCs.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 algn="just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High</a:t>
            </a:r>
            <a:r>
              <a:rPr sz="1200" b="1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81819"/>
                </a:solidFill>
                <a:latin typeface="Times New Roman"/>
                <a:cs typeface="Times New Roman"/>
              </a:rPr>
              <a:t>Speed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 marR="6350" algn="just">
              <a:lnSpc>
                <a:spcPct val="109700"/>
              </a:lnSpc>
              <a:spcBef>
                <a:spcPts val="5"/>
              </a:spcBef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HPCs</a:t>
            </a:r>
            <a:r>
              <a:rPr sz="1200" spc="3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are</a:t>
            </a:r>
            <a:r>
              <a:rPr sz="1200" spc="3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designed</a:t>
            </a:r>
            <a:r>
              <a:rPr sz="1200" spc="3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for</a:t>
            </a:r>
            <a:r>
              <a:rPr sz="1200" spc="3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fast-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speed</a:t>
            </a:r>
            <a:r>
              <a:rPr sz="1200" spc="3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processing.</a:t>
            </a:r>
            <a:r>
              <a:rPr sz="1200" spc="3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This</a:t>
            </a:r>
            <a:r>
              <a:rPr sz="1200" spc="3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translates</a:t>
            </a:r>
            <a:r>
              <a:rPr sz="1200" spc="3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3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3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systems</a:t>
            </a:r>
            <a:r>
              <a:rPr sz="1200" spc="3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performing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massive</a:t>
            </a:r>
            <a:r>
              <a:rPr sz="1200" spc="-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calculations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seconds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that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would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have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taken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weeks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or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months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using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regular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processors.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869" y="891540"/>
            <a:ext cx="6003290" cy="8014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Reduced</a:t>
            </a:r>
            <a:r>
              <a:rPr sz="1200" b="1" spc="-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181819"/>
                </a:solidFill>
                <a:latin typeface="Times New Roman"/>
                <a:cs typeface="Times New Roman"/>
              </a:rPr>
              <a:t>Cost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Times New Roman"/>
              <a:cs typeface="Times New Roman"/>
            </a:endParaRPr>
          </a:p>
          <a:p>
            <a:pPr marL="50800" marR="6985" algn="just">
              <a:lnSpc>
                <a:spcPct val="110100"/>
              </a:lnSpc>
              <a:spcBef>
                <a:spcPts val="5"/>
              </a:spcBef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Since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systems</a:t>
            </a:r>
            <a:r>
              <a:rPr sz="1200" spc="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have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high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processing</a:t>
            </a:r>
            <a:r>
              <a:rPr sz="1200" spc="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speed,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applications</a:t>
            </a:r>
            <a:r>
              <a:rPr sz="1200" spc="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run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faster,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therefore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answers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6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complex</a:t>
            </a:r>
            <a:r>
              <a:rPr sz="1200" spc="7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calculations</a:t>
            </a:r>
            <a:r>
              <a:rPr sz="1200" spc="8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are</a:t>
            </a:r>
            <a:r>
              <a:rPr sz="1200" spc="6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yielded</a:t>
            </a:r>
            <a:r>
              <a:rPr sz="1200" spc="7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quickly.</a:t>
            </a:r>
            <a:r>
              <a:rPr sz="1200" spc="8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Fast</a:t>
            </a:r>
            <a:r>
              <a:rPr sz="1200" spc="5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calculations</a:t>
            </a:r>
            <a:r>
              <a:rPr sz="1200" spc="8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translate</a:t>
            </a:r>
            <a:r>
              <a:rPr sz="1200" spc="8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7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less</a:t>
            </a:r>
            <a:r>
              <a:rPr sz="1200" spc="6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money</a:t>
            </a:r>
            <a:r>
              <a:rPr sz="1200" spc="7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6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time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spent on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tasks.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</a:t>
            </a:r>
            <a:r>
              <a:rPr sz="1200" spc="-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addition, startups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-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small businesses can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afford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-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run</a:t>
            </a:r>
            <a:r>
              <a:rPr sz="1200" spc="-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workloads</a:t>
            </a:r>
            <a:r>
              <a:rPr sz="1200" spc="-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using 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cloud-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based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HPC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since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they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only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have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pay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for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what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they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use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can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scale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up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when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-2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where needed.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Reduced</a:t>
            </a:r>
            <a:r>
              <a:rPr sz="1200" b="1" spc="-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81819"/>
                </a:solidFill>
                <a:latin typeface="Times New Roman"/>
                <a:cs typeface="Times New Roman"/>
              </a:rPr>
              <a:t>Physical</a:t>
            </a:r>
            <a:r>
              <a:rPr sz="1200" b="1" spc="-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81819"/>
                </a:solidFill>
                <a:latin typeface="Times New Roman"/>
                <a:cs typeface="Times New Roman"/>
              </a:rPr>
              <a:t>Testing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Times New Roman"/>
              <a:cs typeface="Times New Roman"/>
            </a:endParaRPr>
          </a:p>
          <a:p>
            <a:pPr marL="50800" marR="11430" algn="just">
              <a:lnSpc>
                <a:spcPct val="110100"/>
              </a:lnSpc>
              <a:spcBef>
                <a:spcPts val="5"/>
              </a:spcBef>
            </a:pP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Most</a:t>
            </a:r>
            <a:r>
              <a:rPr sz="1200" spc="1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modern-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day</a:t>
            </a:r>
            <a:r>
              <a:rPr sz="1200" spc="13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applications</a:t>
            </a:r>
            <a:r>
              <a:rPr sz="1200" spc="15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require</a:t>
            </a:r>
            <a:r>
              <a:rPr sz="1200" spc="1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physical</a:t>
            </a:r>
            <a:r>
              <a:rPr sz="1200" spc="1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testing</a:t>
            </a:r>
            <a:r>
              <a:rPr sz="1200" spc="1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before</a:t>
            </a:r>
            <a:r>
              <a:rPr sz="1200" spc="1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being</a:t>
            </a:r>
            <a:r>
              <a:rPr sz="1200" spc="1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used</a:t>
            </a:r>
            <a:r>
              <a:rPr sz="1200" spc="1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in</a:t>
            </a:r>
            <a:r>
              <a:rPr sz="1200" spc="14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14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market.</a:t>
            </a:r>
            <a:r>
              <a:rPr sz="1200" spc="15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HPC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systems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can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create</a:t>
            </a:r>
            <a:r>
              <a:rPr sz="1200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simulations,</a:t>
            </a:r>
            <a:r>
              <a:rPr sz="1200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thus</a:t>
            </a:r>
            <a:r>
              <a:rPr sz="1200" spc="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eliminating</a:t>
            </a:r>
            <a:r>
              <a:rPr sz="1200" spc="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the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need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for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physical</a:t>
            </a:r>
            <a:r>
              <a:rPr sz="1200" spc="1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tests,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which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can</a:t>
            </a:r>
            <a:r>
              <a:rPr sz="1200" spc="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be</a:t>
            </a:r>
            <a:r>
              <a:rPr sz="1200" spc="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costly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and</a:t>
            </a:r>
            <a:r>
              <a:rPr sz="1200" spc="-2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prone</a:t>
            </a:r>
            <a:r>
              <a:rPr sz="1200" spc="-30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81819"/>
                </a:solidFill>
                <a:latin typeface="Times New Roman"/>
                <a:cs typeface="Times New Roman"/>
              </a:rPr>
              <a:t>to</a:t>
            </a:r>
            <a:r>
              <a:rPr sz="1200" spc="-15" dirty="0">
                <a:solidFill>
                  <a:srgbClr val="1818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81819"/>
                </a:solidFill>
                <a:latin typeface="Times New Roman"/>
                <a:cs typeface="Times New Roman"/>
              </a:rPr>
              <a:t>errors.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What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High</a:t>
            </a:r>
            <a:r>
              <a:rPr sz="1200" b="1" spc="-10" dirty="0">
                <a:latin typeface="Times New Roman"/>
                <a:cs typeface="Times New Roman"/>
              </a:rPr>
              <a:t> Performance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Computing?</a:t>
            </a:r>
            <a:endParaRPr sz="1200">
              <a:latin typeface="Times New Roman"/>
              <a:cs typeface="Times New Roman"/>
            </a:endParaRPr>
          </a:p>
          <a:p>
            <a:pPr marL="50800" marR="5080">
              <a:lnSpc>
                <a:spcPct val="109700"/>
              </a:lnSpc>
              <a:spcBef>
                <a:spcPts val="1010"/>
              </a:spcBef>
            </a:pPr>
            <a:r>
              <a:rPr sz="1200" b="1" dirty="0">
                <a:latin typeface="Times New Roman"/>
                <a:cs typeface="Times New Roman"/>
              </a:rPr>
              <a:t>High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Performance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Computing,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HPC </a:t>
            </a:r>
            <a:r>
              <a:rPr sz="1200" dirty="0">
                <a:latin typeface="Times New Roman"/>
                <a:cs typeface="Times New Roman"/>
              </a:rPr>
              <a:t>could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defined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aggregation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computing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multiple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computers/servers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problems.</a:t>
            </a:r>
            <a:endParaRPr sz="1200">
              <a:latin typeface="Times New Roman"/>
              <a:cs typeface="Times New Roman"/>
            </a:endParaRPr>
          </a:p>
          <a:p>
            <a:pPr marL="50800" marR="11430">
              <a:lnSpc>
                <a:spcPct val="109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heavy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typical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take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long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would therefore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0" dirty="0">
                <a:latin typeface="Times New Roman"/>
                <a:cs typeface="Times New Roman"/>
              </a:rPr>
              <a:t> unfeasible.</a:t>
            </a:r>
            <a:endParaRPr sz="1200">
              <a:latin typeface="Times New Roman"/>
              <a:cs typeface="Times New Roman"/>
            </a:endParaRPr>
          </a:p>
          <a:p>
            <a:pPr marL="50800" marR="6985">
              <a:lnSpc>
                <a:spcPct val="109700"/>
              </a:lnSpc>
              <a:spcBef>
                <a:spcPts val="760"/>
              </a:spcBef>
            </a:pPr>
            <a:r>
              <a:rPr sz="1200" b="1" dirty="0">
                <a:latin typeface="Times New Roman"/>
                <a:cs typeface="Times New Roman"/>
              </a:rPr>
              <a:t>This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approach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also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makes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possible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increase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accuracy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results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since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computing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available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higher.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50"/>
              </a:spcBef>
            </a:pPr>
            <a:r>
              <a:rPr sz="1200" b="1" dirty="0">
                <a:latin typeface="Times New Roman"/>
                <a:cs typeface="Times New Roman"/>
              </a:rPr>
              <a:t>How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does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High</a:t>
            </a:r>
            <a:r>
              <a:rPr sz="1200" b="1" spc="-10" dirty="0">
                <a:latin typeface="Times New Roman"/>
                <a:cs typeface="Times New Roman"/>
              </a:rPr>
              <a:t> Performance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Computing</a:t>
            </a:r>
            <a:r>
              <a:rPr sz="1200" b="1" spc="-20" dirty="0">
                <a:latin typeface="Times New Roman"/>
                <a:cs typeface="Times New Roman"/>
              </a:rPr>
              <a:t> work?</a:t>
            </a:r>
            <a:endParaRPr sz="1200">
              <a:latin typeface="Times New Roman"/>
              <a:cs typeface="Times New Roman"/>
            </a:endParaRPr>
          </a:p>
          <a:p>
            <a:pPr marL="50800" marR="8890">
              <a:lnSpc>
                <a:spcPct val="110400"/>
              </a:lnSpc>
              <a:spcBef>
                <a:spcPts val="99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architecture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HPC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quite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complex,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simplify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can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divided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areas: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40"/>
              </a:spcBef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Skeleton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50"/>
              </a:spcBef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components:</a:t>
            </a:r>
            <a:endParaRPr sz="1200">
              <a:latin typeface="Times New Roman"/>
              <a:cs typeface="Times New Roman"/>
            </a:endParaRPr>
          </a:p>
          <a:p>
            <a:pPr marL="241300" marR="10160" indent="-228600">
              <a:lnSpc>
                <a:spcPct val="110400"/>
              </a:lnSpc>
              <a:spcBef>
                <a:spcPts val="740"/>
              </a:spcBef>
              <a:buSzPct val="83333"/>
              <a:buFont typeface="Arial MT"/>
              <a:buChar char="•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Login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node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responsible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well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desktops.</a:t>
            </a:r>
            <a:endParaRPr sz="1200">
              <a:latin typeface="Times New Roman"/>
              <a:cs typeface="Times New Roman"/>
            </a:endParaRPr>
          </a:p>
          <a:p>
            <a:pPr marL="241300" marR="8255" indent="-228600">
              <a:lnSpc>
                <a:spcPts val="1590"/>
              </a:lnSpc>
              <a:spcBef>
                <a:spcPts val="70"/>
              </a:spcBef>
              <a:buSzPct val="83333"/>
              <a:buFont typeface="Arial MT"/>
              <a:buChar char="•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Master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node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component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responsible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orchestrating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called scheduler.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060"/>
              </a:spcBef>
            </a:pPr>
            <a:r>
              <a:rPr sz="1200" b="1" spc="-10" dirty="0">
                <a:latin typeface="Times New Roman"/>
                <a:cs typeface="Times New Roman"/>
              </a:rPr>
              <a:t>Computing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50"/>
              </a:spcBef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component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responsible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users’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jobs.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40"/>
              </a:spcBef>
            </a:pPr>
            <a:r>
              <a:rPr sz="1200" b="1" spc="-10" dirty="0">
                <a:latin typeface="Times New Roman"/>
                <a:cs typeface="Times New Roman"/>
              </a:rPr>
              <a:t>Storage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50"/>
              </a:spcBef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component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responsible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persistence.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869" y="872490"/>
            <a:ext cx="5010785" cy="158369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50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NFS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0" dirty="0">
                <a:latin typeface="Times New Roman"/>
                <a:cs typeface="Times New Roman"/>
              </a:rPr>
              <a:t> data.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50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Parallel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calculations.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40"/>
              </a:spcBef>
            </a:pPr>
            <a:r>
              <a:rPr sz="1200" b="1" spc="-10" dirty="0">
                <a:latin typeface="Times New Roman"/>
                <a:cs typeface="Times New Roman"/>
              </a:rPr>
              <a:t>Networking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50"/>
              </a:spcBef>
            </a:pPr>
            <a:r>
              <a:rPr sz="1200" dirty="0">
                <a:latin typeface="Times New Roman"/>
                <a:cs typeface="Times New Roman"/>
              </a:rPr>
              <a:t>Responsible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communication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components.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90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whole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connected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Gigabit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Ethernet.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50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Times New Roman"/>
                <a:cs typeface="Times New Roman"/>
              </a:rPr>
              <a:t>Compute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nodes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Parallel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File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connected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speed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RDMA.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598432"/>
            <a:ext cx="6858000" cy="428814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4869" y="7016750"/>
            <a:ext cx="6001385" cy="2040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normally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follows: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Uploading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study/calculation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carried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out.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done.</a:t>
            </a:r>
            <a:endParaRPr sz="1200">
              <a:latin typeface="Times New Roman"/>
              <a:cs typeface="Times New Roman"/>
            </a:endParaRPr>
          </a:p>
          <a:p>
            <a:pPr marL="241300" marR="7620" indent="-228600">
              <a:lnSpc>
                <a:spcPct val="109700"/>
              </a:lnSpc>
              <a:spcBef>
                <a:spcPts val="1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Sending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scheduler: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necessary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spc="-10" dirty="0">
                <a:latin typeface="Times New Roman"/>
                <a:cs typeface="Times New Roman"/>
              </a:rPr>
              <a:t>cores.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downloading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results.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40"/>
              </a:spcBef>
            </a:pP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cases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state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High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Performance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Computing</a:t>
            </a:r>
            <a:endParaRPr sz="1200">
              <a:latin typeface="Times New Roman"/>
              <a:cs typeface="Times New Roman"/>
            </a:endParaRPr>
          </a:p>
          <a:p>
            <a:pPr marL="50800" marR="5080">
              <a:lnSpc>
                <a:spcPct val="109700"/>
              </a:lnSpc>
              <a:spcBef>
                <a:spcPts val="1010"/>
              </a:spcBef>
            </a:pPr>
            <a:r>
              <a:rPr sz="1200" b="1" dirty="0">
                <a:latin typeface="Times New Roman"/>
                <a:cs typeface="Times New Roman"/>
              </a:rPr>
              <a:t>Currently</a:t>
            </a:r>
            <a:r>
              <a:rPr sz="1200" b="1" spc="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HPC</a:t>
            </a:r>
            <a:r>
              <a:rPr sz="1200" b="1" spc="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systems</a:t>
            </a:r>
            <a:r>
              <a:rPr sz="1200" b="1" spc="8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growing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recent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years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industries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benefit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increasing.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messages.downloaded_by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869" y="872490"/>
            <a:ext cx="6003925" cy="7885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8890" algn="just">
              <a:lnSpc>
                <a:spcPct val="1104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capacity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GPU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utilization.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stories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diverse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5" dirty="0">
                <a:latin typeface="Times New Roman"/>
                <a:cs typeface="Times New Roman"/>
              </a:rPr>
              <a:t> as.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40"/>
              </a:spcBef>
            </a:pPr>
            <a:r>
              <a:rPr sz="1200" b="1" spc="-10" dirty="0">
                <a:latin typeface="Times New Roman"/>
                <a:cs typeface="Times New Roman"/>
              </a:rPr>
              <a:t>Computational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Fluid Dynamics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(CFD)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pos="241300" algn="l"/>
              </a:tabLst>
            </a:pPr>
            <a:r>
              <a:rPr sz="1200" spc="-10" dirty="0">
                <a:latin typeface="Times New Roman"/>
                <a:cs typeface="Times New Roman"/>
              </a:rPr>
              <a:t>Environmental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buildings.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Safety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health: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Investigation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smoke.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Medicine: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blood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capillaries,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arteries,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veins.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40"/>
              </a:spcBef>
            </a:pPr>
            <a:r>
              <a:rPr sz="1200" b="1" spc="-10" dirty="0">
                <a:latin typeface="Times New Roman"/>
                <a:cs typeface="Times New Roman"/>
              </a:rPr>
              <a:t>Artificial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Intelligence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High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Performance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Computing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Precision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medicine: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cancer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diagnosis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Cyber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threat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Climate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Modeling.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40"/>
              </a:spcBef>
            </a:pPr>
            <a:r>
              <a:rPr sz="1200" b="1" dirty="0">
                <a:latin typeface="Times New Roman"/>
                <a:cs typeface="Times New Roman"/>
              </a:rPr>
              <a:t>Big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Forecasting.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Fraud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detection.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50"/>
              </a:spcBef>
            </a:pPr>
            <a:r>
              <a:rPr sz="1200" b="1" spc="-10" dirty="0">
                <a:latin typeface="Times New Roman"/>
                <a:cs typeface="Times New Roman"/>
              </a:rPr>
              <a:t>Rendering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40"/>
              </a:spcBef>
            </a:pPr>
            <a:r>
              <a:rPr sz="1200" dirty="0">
                <a:latin typeface="Times New Roman"/>
                <a:cs typeface="Times New Roman"/>
              </a:rPr>
              <a:t>Render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farms.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Times New Roman"/>
              <a:cs typeface="Times New Roman"/>
            </a:endParaRPr>
          </a:p>
          <a:p>
            <a:pPr marL="50800" marR="5080" algn="just">
              <a:lnSpc>
                <a:spcPct val="110100"/>
              </a:lnSpc>
            </a:pPr>
            <a:r>
              <a:rPr sz="1200" b="1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Times New Roman"/>
                <a:cs typeface="Times New Roman"/>
              </a:rPr>
              <a:t>Computational</a:t>
            </a:r>
            <a:r>
              <a:rPr sz="1200" b="1" u="sng" spc="5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Times New Roman"/>
                <a:cs typeface="Times New Roman"/>
              </a:rPr>
              <a:t>complexity</a:t>
            </a:r>
            <a:r>
              <a:rPr sz="1200" b="1" spc="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continuum,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sz="1200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some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algorithms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require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linear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time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(that</a:t>
            </a:r>
            <a:r>
              <a:rPr sz="1200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is,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1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time</a:t>
            </a:r>
            <a:r>
              <a:rPr sz="1200" spc="1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required</a:t>
            </a:r>
            <a:r>
              <a:rPr sz="1200" spc="1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increases</a:t>
            </a:r>
            <a:r>
              <a:rPr sz="1200" spc="1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directly</a:t>
            </a:r>
            <a:r>
              <a:rPr sz="1200" spc="1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with</a:t>
            </a:r>
            <a:r>
              <a:rPr sz="1200" spc="1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1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number</a:t>
            </a:r>
            <a:r>
              <a:rPr sz="1200" spc="1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1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items</a:t>
            </a:r>
            <a:r>
              <a:rPr sz="1200" spc="1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or</a:t>
            </a:r>
            <a:r>
              <a:rPr sz="1200" spc="1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nodes</a:t>
            </a:r>
            <a:r>
              <a:rPr sz="1200" spc="1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1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1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list,</a:t>
            </a:r>
            <a:r>
              <a:rPr sz="1200" spc="1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graph,</a:t>
            </a:r>
            <a:r>
              <a:rPr sz="1200" spc="1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or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network</a:t>
            </a:r>
            <a:r>
              <a:rPr sz="1200" spc="3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being</a:t>
            </a:r>
            <a:r>
              <a:rPr sz="1200" spc="3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processed),</a:t>
            </a:r>
            <a:r>
              <a:rPr sz="1200" spc="3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whereas</a:t>
            </a:r>
            <a:r>
              <a:rPr sz="1200" spc="3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others</a:t>
            </a:r>
            <a:r>
              <a:rPr sz="1200" spc="3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require</a:t>
            </a:r>
            <a:r>
              <a:rPr sz="1200" spc="3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quadratic</a:t>
            </a:r>
            <a:r>
              <a:rPr sz="1200" spc="3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or</a:t>
            </a:r>
            <a:r>
              <a:rPr sz="1200" spc="3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even</a:t>
            </a:r>
            <a:r>
              <a:rPr sz="1200" spc="3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exponential</a:t>
            </a:r>
            <a:r>
              <a:rPr sz="1200" spc="3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time</a:t>
            </a:r>
            <a:r>
              <a:rPr sz="1200" spc="3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to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complete.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(that</a:t>
            </a:r>
            <a:r>
              <a:rPr sz="1200" spc="3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is,</a:t>
            </a:r>
            <a:r>
              <a:rPr sz="1200" spc="3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the</a:t>
            </a:r>
            <a:r>
              <a:rPr sz="1200" spc="3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time</a:t>
            </a:r>
            <a:r>
              <a:rPr sz="1200" spc="5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required</a:t>
            </a:r>
            <a:r>
              <a:rPr sz="1200" spc="3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increases</a:t>
            </a:r>
            <a:r>
              <a:rPr sz="1200" spc="4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directly</a:t>
            </a:r>
            <a:r>
              <a:rPr sz="1200" spc="5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with</a:t>
            </a:r>
            <a:r>
              <a:rPr sz="1200" spc="3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the</a:t>
            </a:r>
            <a:r>
              <a:rPr sz="1200" spc="3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number</a:t>
            </a:r>
            <a:r>
              <a:rPr sz="1200" spc="4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of</a:t>
            </a:r>
            <a:r>
              <a:rPr sz="1200" spc="3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items</a:t>
            </a:r>
            <a:r>
              <a:rPr sz="1200" spc="4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or</a:t>
            </a:r>
            <a:r>
              <a:rPr sz="1200" spc="3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nodes</a:t>
            </a:r>
            <a:r>
              <a:rPr sz="1200" spc="4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in</a:t>
            </a:r>
            <a:r>
              <a:rPr sz="1200" spc="3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91919"/>
                </a:solidFill>
                <a:latin typeface="Times New Roman"/>
                <a:cs typeface="Times New Roman"/>
              </a:rPr>
              <a:t>the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list,</a:t>
            </a:r>
            <a:r>
              <a:rPr sz="1200" spc="10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graph,</a:t>
            </a:r>
            <a:r>
              <a:rPr sz="1200" spc="10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or</a:t>
            </a:r>
            <a:r>
              <a:rPr sz="1200" spc="9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network</a:t>
            </a:r>
            <a:r>
              <a:rPr sz="1200" spc="10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being</a:t>
            </a:r>
            <a:r>
              <a:rPr sz="1200" spc="10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processed),</a:t>
            </a:r>
            <a:r>
              <a:rPr sz="1200" spc="10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whereas</a:t>
            </a:r>
            <a:r>
              <a:rPr sz="1200" spc="10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others</a:t>
            </a:r>
            <a:r>
              <a:rPr sz="1200" spc="10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require</a:t>
            </a:r>
            <a:r>
              <a:rPr sz="1200" spc="9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quadratic</a:t>
            </a:r>
            <a:r>
              <a:rPr sz="1200" spc="11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or</a:t>
            </a:r>
            <a:r>
              <a:rPr sz="1200" spc="10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even</a:t>
            </a:r>
            <a:r>
              <a:rPr sz="1200" spc="10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91919"/>
                </a:solidFill>
                <a:latin typeface="Times New Roman"/>
                <a:cs typeface="Times New Roman"/>
              </a:rPr>
              <a:t>exponential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time</a:t>
            </a:r>
            <a:r>
              <a:rPr sz="1200" spc="6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to</a:t>
            </a:r>
            <a:r>
              <a:rPr sz="1200" spc="5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complete</a:t>
            </a:r>
            <a:r>
              <a:rPr sz="1200" spc="6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(that</a:t>
            </a:r>
            <a:r>
              <a:rPr sz="1200" spc="5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is,</a:t>
            </a:r>
            <a:r>
              <a:rPr sz="1200" spc="5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the</a:t>
            </a:r>
            <a:r>
              <a:rPr sz="1200" spc="5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time</a:t>
            </a:r>
            <a:r>
              <a:rPr sz="1200" spc="5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required</a:t>
            </a:r>
            <a:r>
              <a:rPr sz="1200" spc="6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increases</a:t>
            </a:r>
            <a:r>
              <a:rPr sz="1200" spc="6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with</a:t>
            </a:r>
            <a:r>
              <a:rPr sz="1200" spc="5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the</a:t>
            </a:r>
            <a:r>
              <a:rPr sz="1200" spc="5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number</a:t>
            </a:r>
            <a:r>
              <a:rPr sz="1200" spc="5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of</a:t>
            </a:r>
            <a:r>
              <a:rPr sz="1200" spc="4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items</a:t>
            </a:r>
            <a:r>
              <a:rPr sz="1200" spc="7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squared</a:t>
            </a:r>
            <a:r>
              <a:rPr sz="1200" spc="5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or</a:t>
            </a:r>
            <a:r>
              <a:rPr sz="1200" spc="5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91919"/>
                </a:solidFill>
                <a:latin typeface="Times New Roman"/>
                <a:cs typeface="Times New Roman"/>
              </a:rPr>
              <a:t>with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the</a:t>
            </a:r>
            <a:r>
              <a:rPr sz="1200" spc="-2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91919"/>
                </a:solidFill>
                <a:latin typeface="Times New Roman"/>
                <a:cs typeface="Times New Roman"/>
              </a:rPr>
              <a:t>exponential</a:t>
            </a:r>
            <a:r>
              <a:rPr sz="1200" spc="-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of</a:t>
            </a:r>
            <a:r>
              <a:rPr sz="1200" spc="-1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that</a:t>
            </a:r>
            <a:r>
              <a:rPr sz="1200" spc="-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number).</a:t>
            </a:r>
            <a:r>
              <a:rPr sz="1200" spc="-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At</a:t>
            </a:r>
            <a:r>
              <a:rPr sz="1200" spc="-1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the</a:t>
            </a:r>
            <a:r>
              <a:rPr sz="1200" spc="-1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far</a:t>
            </a:r>
            <a:r>
              <a:rPr sz="1200" spc="-1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end of</a:t>
            </a:r>
            <a:r>
              <a:rPr sz="1200" spc="-1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this</a:t>
            </a:r>
            <a:r>
              <a:rPr sz="1200" spc="-1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continuum</a:t>
            </a:r>
            <a:r>
              <a:rPr sz="1200" spc="-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lie</a:t>
            </a:r>
            <a:r>
              <a:rPr sz="1200" spc="-1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intractable</a:t>
            </a:r>
            <a:r>
              <a:rPr sz="1200" spc="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91919"/>
                </a:solidFill>
                <a:latin typeface="Times New Roman"/>
                <a:cs typeface="Times New Roman"/>
              </a:rPr>
              <a:t>problems—</a:t>
            </a:r>
            <a:r>
              <a:rPr sz="1200" spc="-10" dirty="0">
                <a:solidFill>
                  <a:srgbClr val="191919"/>
                </a:solidFill>
                <a:latin typeface="Times New Roman"/>
                <a:cs typeface="Times New Roman"/>
              </a:rPr>
              <a:t>those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whose</a:t>
            </a:r>
            <a:r>
              <a:rPr sz="1200" spc="-3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solutions</a:t>
            </a:r>
            <a:r>
              <a:rPr sz="1200" spc="-2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cannot</a:t>
            </a:r>
            <a:r>
              <a:rPr sz="1200" spc="-3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be</a:t>
            </a:r>
            <a:r>
              <a:rPr sz="1200" spc="-3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efficiently</a:t>
            </a:r>
            <a:r>
              <a:rPr sz="1200" spc="-2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u="sng" dirty="0">
                <a:solidFill>
                  <a:srgbClr val="13589C"/>
                </a:solidFill>
                <a:uFill>
                  <a:solidFill>
                    <a:srgbClr val="13589C"/>
                  </a:solidFill>
                </a:uFill>
                <a:latin typeface="Times New Roman"/>
                <a:cs typeface="Times New Roman"/>
                <a:hlinkClick r:id="rId2"/>
              </a:rPr>
              <a:t>implemented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.</a:t>
            </a:r>
            <a:r>
              <a:rPr sz="1200" spc="-4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For</a:t>
            </a:r>
            <a:r>
              <a:rPr sz="1200" spc="-3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those</a:t>
            </a:r>
            <a:r>
              <a:rPr sz="1200" spc="-4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problems,</a:t>
            </a:r>
            <a:r>
              <a:rPr sz="1200" spc="-3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computer</a:t>
            </a:r>
            <a:r>
              <a:rPr sz="1200" spc="-2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scientists</a:t>
            </a:r>
            <a:r>
              <a:rPr sz="1200" spc="-3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91919"/>
                </a:solidFill>
                <a:latin typeface="Times New Roman"/>
                <a:cs typeface="Times New Roman"/>
              </a:rPr>
              <a:t>seek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to find</a:t>
            </a:r>
            <a:r>
              <a:rPr sz="1200" spc="-3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u="sng" dirty="0">
                <a:solidFill>
                  <a:srgbClr val="13589C"/>
                </a:solidFill>
                <a:uFill>
                  <a:solidFill>
                    <a:srgbClr val="13589C"/>
                  </a:solidFill>
                </a:uFill>
                <a:latin typeface="Times New Roman"/>
                <a:cs typeface="Times New Roman"/>
                <a:hlinkClick r:id="rId3"/>
              </a:rPr>
              <a:t>heuristic</a:t>
            </a:r>
            <a:r>
              <a:rPr sz="1200" spc="-25" dirty="0">
                <a:solidFill>
                  <a:srgbClr val="13589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algorithms</a:t>
            </a:r>
            <a:r>
              <a:rPr sz="1200" spc="2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that</a:t>
            </a:r>
            <a:r>
              <a:rPr sz="1200" spc="-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can</a:t>
            </a:r>
            <a:r>
              <a:rPr sz="1200" spc="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almost solve</a:t>
            </a:r>
            <a:r>
              <a:rPr sz="1200" spc="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the</a:t>
            </a:r>
            <a:r>
              <a:rPr sz="1200" spc="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problem</a:t>
            </a:r>
            <a:r>
              <a:rPr sz="1200" spc="1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and</a:t>
            </a:r>
            <a:r>
              <a:rPr sz="1200" spc="-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run</a:t>
            </a:r>
            <a:r>
              <a:rPr sz="1200" spc="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in</a:t>
            </a:r>
            <a:r>
              <a:rPr sz="1200" spc="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a</a:t>
            </a:r>
            <a:r>
              <a:rPr sz="1200" spc="-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reasonable</a:t>
            </a:r>
            <a:r>
              <a:rPr sz="1200" spc="1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amount </a:t>
            </a:r>
            <a:r>
              <a:rPr sz="1200" spc="-25" dirty="0">
                <a:solidFill>
                  <a:srgbClr val="191919"/>
                </a:solidFill>
                <a:latin typeface="Times New Roman"/>
                <a:cs typeface="Times New Roman"/>
              </a:rPr>
              <a:t>of </a:t>
            </a:r>
            <a:r>
              <a:rPr sz="1200" spc="-10" dirty="0">
                <a:solidFill>
                  <a:srgbClr val="191919"/>
                </a:solidFill>
                <a:latin typeface="Times New Roman"/>
                <a:cs typeface="Times New Roman"/>
              </a:rPr>
              <a:t>time.</a:t>
            </a:r>
            <a:endParaRPr sz="1200">
              <a:latin typeface="Times New Roman"/>
              <a:cs typeface="Times New Roman"/>
            </a:endParaRPr>
          </a:p>
          <a:p>
            <a:pPr marL="50800" marR="13335" algn="just">
              <a:lnSpc>
                <a:spcPct val="110400"/>
              </a:lnSpc>
              <a:spcBef>
                <a:spcPts val="990"/>
              </a:spcBef>
            </a:pPr>
            <a:r>
              <a:rPr sz="1200" b="1" dirty="0">
                <a:solidFill>
                  <a:srgbClr val="191919"/>
                </a:solidFill>
                <a:latin typeface="Times New Roman"/>
                <a:cs typeface="Times New Roman"/>
              </a:rPr>
              <a:t>computational</a:t>
            </a:r>
            <a:r>
              <a:rPr sz="1200" b="1" spc="5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91919"/>
                </a:solidFill>
                <a:latin typeface="Times New Roman"/>
                <a:cs typeface="Times New Roman"/>
              </a:rPr>
              <a:t>complexity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,</a:t>
            </a:r>
            <a:r>
              <a:rPr sz="1200" spc="5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a</a:t>
            </a:r>
            <a:r>
              <a:rPr sz="1200" spc="6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measure</a:t>
            </a:r>
            <a:r>
              <a:rPr sz="1200" spc="6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of</a:t>
            </a:r>
            <a:r>
              <a:rPr sz="1200" spc="6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the</a:t>
            </a:r>
            <a:r>
              <a:rPr sz="1200" spc="6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amount</a:t>
            </a:r>
            <a:r>
              <a:rPr sz="1200" spc="5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of</a:t>
            </a:r>
            <a:r>
              <a:rPr sz="1200" spc="6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computing</a:t>
            </a:r>
            <a:r>
              <a:rPr sz="1200" spc="7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resources</a:t>
            </a:r>
            <a:r>
              <a:rPr sz="1200" spc="6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(time</a:t>
            </a:r>
            <a:r>
              <a:rPr sz="1200" spc="7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and</a:t>
            </a:r>
            <a:r>
              <a:rPr sz="1200" spc="6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91919"/>
                </a:solidFill>
                <a:latin typeface="Times New Roman"/>
                <a:cs typeface="Times New Roman"/>
              </a:rPr>
              <a:t>space)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that</a:t>
            </a:r>
            <a:r>
              <a:rPr sz="1200" spc="-4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a</a:t>
            </a:r>
            <a:r>
              <a:rPr sz="1200" spc="-5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particular</a:t>
            </a:r>
            <a:r>
              <a:rPr sz="1200" spc="-3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u="sng" dirty="0">
                <a:solidFill>
                  <a:srgbClr val="13589C"/>
                </a:solidFill>
                <a:uFill>
                  <a:solidFill>
                    <a:srgbClr val="13589C"/>
                  </a:solidFill>
                </a:uFill>
                <a:latin typeface="Times New Roman"/>
                <a:cs typeface="Times New Roman"/>
                <a:hlinkClick r:id="rId4"/>
              </a:rPr>
              <a:t>algorithm</a:t>
            </a:r>
            <a:r>
              <a:rPr sz="1200" spc="-30" dirty="0">
                <a:solidFill>
                  <a:srgbClr val="13589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consumes</a:t>
            </a:r>
            <a:r>
              <a:rPr sz="1200" spc="-4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when</a:t>
            </a:r>
            <a:r>
              <a:rPr sz="1200" spc="-45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91919"/>
                </a:solidFill>
                <a:latin typeface="Times New Roman"/>
                <a:cs typeface="Times New Roman"/>
              </a:rPr>
              <a:t>it</a:t>
            </a:r>
            <a:r>
              <a:rPr sz="1200" spc="-40" dirty="0">
                <a:solidFill>
                  <a:srgbClr val="191919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91919"/>
                </a:solidFill>
                <a:latin typeface="Times New Roman"/>
                <a:cs typeface="Times New Roman"/>
              </a:rPr>
              <a:t>runs.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40"/>
              </a:spcBef>
            </a:pPr>
            <a:r>
              <a:rPr sz="1200" b="1" spc="-10" dirty="0">
                <a:latin typeface="Times New Roman"/>
                <a:cs typeface="Times New Roman"/>
              </a:rPr>
              <a:t>Performance: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metrics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measurements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</a:pPr>
            <a:r>
              <a:rPr sz="1200" u="sng" spc="-10" dirty="0">
                <a:solidFill>
                  <a:srgbClr val="190CAA"/>
                </a:solidFill>
                <a:uFill>
                  <a:solidFill>
                    <a:srgbClr val="190CAA"/>
                  </a:solidFill>
                </a:uFill>
                <a:latin typeface="Times New Roman"/>
                <a:cs typeface="Times New Roman"/>
                <a:hlinkClick r:id="rId5"/>
              </a:rPr>
              <a:t>https://www.dcc.fc.up.pt/~ricroc/aulas/1516/cp/apontamentos/slides_metrics.pdf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872490"/>
            <a:ext cx="5969000" cy="6504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10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Two</a:t>
            </a:r>
            <a:r>
              <a:rPr sz="1200" spc="1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principal</a:t>
            </a:r>
            <a:r>
              <a:rPr sz="1200" spc="1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metrics</a:t>
            </a:r>
            <a:r>
              <a:rPr sz="1200" spc="1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are</a:t>
            </a:r>
            <a:r>
              <a:rPr sz="1200" spc="1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used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1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measure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an</a:t>
            </a:r>
            <a:r>
              <a:rPr sz="1200" spc="1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HPC's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performance:</a:t>
            </a:r>
            <a:r>
              <a:rPr sz="1200" spc="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throughput</a:t>
            </a:r>
            <a:r>
              <a:rPr sz="1200" b="1" spc="1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b="1" spc="1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latency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.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Throughput</a:t>
            </a:r>
            <a:r>
              <a:rPr sz="1200" spc="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measures</a:t>
            </a:r>
            <a:r>
              <a:rPr sz="1200" spc="9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amount</a:t>
            </a:r>
            <a:r>
              <a:rPr sz="1200" spc="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data</a:t>
            </a:r>
            <a:r>
              <a:rPr sz="1200" spc="9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processed</a:t>
            </a:r>
            <a:r>
              <a:rPr sz="1200" spc="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by</a:t>
            </a:r>
            <a:r>
              <a:rPr sz="1200" spc="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9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system</a:t>
            </a:r>
            <a:r>
              <a:rPr sz="1200" spc="9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given</a:t>
            </a:r>
            <a:r>
              <a:rPr sz="1200" spc="9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unit</a:t>
            </a:r>
            <a:r>
              <a:rPr sz="1200" spc="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time</a:t>
            </a:r>
            <a:r>
              <a:rPr sz="1200" spc="9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spc="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is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typically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expressed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as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I/O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operations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per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second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(IOPS)</a:t>
            </a:r>
            <a:endParaRPr sz="1200">
              <a:latin typeface="Times New Roman"/>
              <a:cs typeface="Times New Roman"/>
            </a:endParaRPr>
          </a:p>
          <a:p>
            <a:pPr marL="12700" marR="12065" algn="just">
              <a:lnSpc>
                <a:spcPct val="110000"/>
              </a:lnSpc>
              <a:spcBef>
                <a:spcPts val="100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Computer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performance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metrics</a:t>
            </a:r>
            <a:r>
              <a:rPr sz="1200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(things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measure)</a:t>
            </a:r>
            <a:r>
              <a:rPr sz="1200" spc="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include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availability,</a:t>
            </a:r>
            <a:r>
              <a:rPr sz="1200" spc="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response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time,</a:t>
            </a:r>
            <a:r>
              <a:rPr sz="1200" spc="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channel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capacity,</a:t>
            </a:r>
            <a:r>
              <a:rPr sz="1200" spc="2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latency,</a:t>
            </a:r>
            <a:r>
              <a:rPr sz="1200" spc="2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completion</a:t>
            </a:r>
            <a:r>
              <a:rPr sz="1200" spc="2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time,</a:t>
            </a:r>
            <a:r>
              <a:rPr sz="1200" spc="2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service</a:t>
            </a:r>
            <a:r>
              <a:rPr sz="1200" spc="2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time,</a:t>
            </a:r>
            <a:r>
              <a:rPr sz="1200" spc="2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bandwidth,</a:t>
            </a:r>
            <a:r>
              <a:rPr sz="1200" spc="2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throughput,</a:t>
            </a:r>
            <a:r>
              <a:rPr sz="1200" spc="2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relative</a:t>
            </a:r>
            <a:r>
              <a:rPr sz="1200" spc="2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efficiency,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scalability,</a:t>
            </a:r>
            <a:r>
              <a:rPr sz="1200" spc="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performance</a:t>
            </a:r>
            <a:r>
              <a:rPr sz="1200" spc="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per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watt,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compression</a:t>
            </a:r>
            <a:r>
              <a:rPr sz="1200" spc="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ratio,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instruction</a:t>
            </a:r>
            <a:r>
              <a:rPr sz="1200" spc="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path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length</a:t>
            </a:r>
            <a:r>
              <a:rPr sz="1200" spc="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speed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up.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CPU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benchmarks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 are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 available.</a:t>
            </a:r>
            <a:endParaRPr sz="1200">
              <a:latin typeface="Times New Roman"/>
              <a:cs typeface="Times New Roman"/>
            </a:endParaRPr>
          </a:p>
          <a:p>
            <a:pPr marL="12700" marR="15240" algn="just">
              <a:lnSpc>
                <a:spcPct val="109700"/>
              </a:lnSpc>
              <a:spcBef>
                <a:spcPts val="1010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There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are</a:t>
            </a:r>
            <a:r>
              <a:rPr sz="1200" spc="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five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specific</a:t>
            </a:r>
            <a:r>
              <a:rPr sz="1200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types</a:t>
            </a:r>
            <a:r>
              <a:rPr sz="1200" spc="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measures</a:t>
            </a:r>
            <a:r>
              <a:rPr sz="1200" spc="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have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been</a:t>
            </a:r>
            <a:r>
              <a:rPr sz="1200" spc="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identified,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defined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spc="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will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be</a:t>
            </a:r>
            <a:r>
              <a:rPr sz="1200" spc="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applied throughout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Iowa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state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government:</a:t>
            </a:r>
            <a:r>
              <a:rPr sz="1200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input,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output,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efficiency,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quality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outcome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200" b="1" spc="-10" dirty="0">
                <a:latin typeface="Times New Roman"/>
                <a:cs typeface="Times New Roman"/>
              </a:rPr>
              <a:t>Granularity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Partitioning</a:t>
            </a:r>
            <a:endParaRPr sz="12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10100"/>
              </a:lnSpc>
              <a:spcBef>
                <a:spcPts val="994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parallel</a:t>
            </a:r>
            <a:r>
              <a:rPr sz="1200" spc="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computing,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granularity</a:t>
            </a:r>
            <a:r>
              <a:rPr sz="1200" spc="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(or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grain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size)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task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measure</a:t>
            </a:r>
            <a:r>
              <a:rPr sz="1200" b="1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b="1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amount</a:t>
            </a:r>
            <a:r>
              <a:rPr sz="1200" b="1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work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(or</a:t>
            </a:r>
            <a:r>
              <a:rPr sz="12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computation)</a:t>
            </a:r>
            <a:r>
              <a:rPr sz="12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which</a:t>
            </a:r>
            <a:r>
              <a:rPr sz="12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performed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by</a:t>
            </a:r>
            <a:r>
              <a:rPr sz="12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task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Another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definition</a:t>
            </a:r>
            <a:r>
              <a:rPr sz="12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granularity</a:t>
            </a:r>
            <a:r>
              <a:rPr sz="12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takes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into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account</a:t>
            </a:r>
            <a:r>
              <a:rPr sz="1200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-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communication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overhead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between</a:t>
            </a:r>
            <a:r>
              <a:rPr sz="1200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multiple</a:t>
            </a:r>
            <a:r>
              <a:rPr sz="1200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processors</a:t>
            </a:r>
            <a:r>
              <a:rPr sz="1200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or</a:t>
            </a:r>
            <a:r>
              <a:rPr sz="1200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processing</a:t>
            </a:r>
            <a:r>
              <a:rPr sz="1200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elements.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What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does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granularity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mean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computer?</a:t>
            </a:r>
            <a:endParaRPr sz="12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10100"/>
              </a:lnSpc>
              <a:spcBef>
                <a:spcPts val="89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computer</a:t>
            </a:r>
            <a:r>
              <a:rPr sz="12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science,</a:t>
            </a:r>
            <a:r>
              <a:rPr sz="12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granularity</a:t>
            </a:r>
            <a:r>
              <a:rPr sz="12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refers</a:t>
            </a:r>
            <a:r>
              <a:rPr sz="12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ratio</a:t>
            </a:r>
            <a:r>
              <a:rPr sz="12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computation</a:t>
            </a:r>
            <a:r>
              <a:rPr sz="1200" b="1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communication</a:t>
            </a:r>
            <a:r>
              <a:rPr sz="12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–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also,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1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1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classical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sense,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1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1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breaking</a:t>
            </a:r>
            <a:r>
              <a:rPr sz="1200" spc="1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down</a:t>
            </a:r>
            <a:r>
              <a:rPr sz="1200" spc="1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larger</a:t>
            </a:r>
            <a:r>
              <a:rPr sz="1200" spc="1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holistic</a:t>
            </a:r>
            <a:r>
              <a:rPr sz="1200" spc="1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tasks</a:t>
            </a:r>
            <a:r>
              <a:rPr sz="1200" spc="1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into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smaller,</a:t>
            </a:r>
            <a:r>
              <a:rPr sz="1200" spc="1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more</a:t>
            </a:r>
            <a:r>
              <a:rPr sz="1200" spc="1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finely delegated</a:t>
            </a:r>
            <a:r>
              <a:rPr sz="1200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tasks.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3335" algn="just">
              <a:lnSpc>
                <a:spcPct val="110400"/>
              </a:lnSpc>
            </a:pP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b="1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ability</a:t>
            </a:r>
            <a:r>
              <a:rPr sz="12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b="1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increase</a:t>
            </a:r>
            <a:r>
              <a:rPr sz="12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system's</a:t>
            </a:r>
            <a:r>
              <a:rPr sz="12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capacity</a:t>
            </a:r>
            <a:r>
              <a:rPr sz="12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performance</a:t>
            </a:r>
            <a:r>
              <a:rPr sz="12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through</a:t>
            </a:r>
            <a:r>
              <a:rPr sz="1200" b="1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incremental</a:t>
            </a:r>
            <a:r>
              <a:rPr sz="12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processor expansion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What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partition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HPC?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10100"/>
              </a:lnSpc>
              <a:spcBef>
                <a:spcPts val="90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25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partition</a:t>
            </a:r>
            <a:r>
              <a:rPr sz="1200" spc="2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refers</a:t>
            </a:r>
            <a:r>
              <a:rPr sz="1200" spc="2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b="1" spc="25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group</a:t>
            </a:r>
            <a:r>
              <a:rPr sz="1200" b="1" spc="2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b="1" spc="25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nodes</a:t>
            </a:r>
            <a:r>
              <a:rPr sz="1200" b="1" spc="2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which</a:t>
            </a:r>
            <a:r>
              <a:rPr sz="1200" b="1" spc="2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are</a:t>
            </a:r>
            <a:r>
              <a:rPr sz="1200" b="1" spc="2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characterised</a:t>
            </a:r>
            <a:r>
              <a:rPr sz="1200" b="1" spc="2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by</a:t>
            </a:r>
            <a:r>
              <a:rPr sz="1200" b="1" spc="2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their</a:t>
            </a:r>
            <a:r>
              <a:rPr sz="1200" b="1" spc="2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hardware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r>
              <a:rPr sz="1200" spc="25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The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partitions</a:t>
            </a:r>
            <a:r>
              <a:rPr sz="1200" spc="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available</a:t>
            </a:r>
            <a:r>
              <a:rPr sz="1200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can</a:t>
            </a:r>
            <a:r>
              <a:rPr sz="1200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be</a:t>
            </a:r>
            <a:r>
              <a:rPr sz="1200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listed</a:t>
            </a:r>
            <a:r>
              <a:rPr sz="1200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via</a:t>
            </a:r>
            <a:r>
              <a:rPr sz="1200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command</a:t>
            </a:r>
            <a:r>
              <a:rPr sz="1200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sinfo</a:t>
            </a:r>
            <a:r>
              <a:rPr sz="1200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r>
              <a:rPr sz="1200" spc="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partition</a:t>
            </a:r>
            <a:r>
              <a:rPr sz="1200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can</a:t>
            </a:r>
            <a:r>
              <a:rPr sz="1200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be</a:t>
            </a:r>
            <a:r>
              <a:rPr sz="1200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set</a:t>
            </a:r>
            <a:r>
              <a:rPr sz="1200" spc="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by</a:t>
            </a:r>
            <a:r>
              <a:rPr sz="1200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using</a:t>
            </a:r>
            <a:r>
              <a:rPr sz="1200" spc="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the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following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submit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script: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#SBATCH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--partition=gpu.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What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 Partitioning</a:t>
            </a:r>
            <a:r>
              <a:rPr sz="12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computing?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7506969"/>
            <a:ext cx="1992630" cy="1526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4369" y="872490"/>
            <a:ext cx="6195695" cy="3831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marR="11430" algn="just">
              <a:lnSpc>
                <a:spcPct val="110100"/>
              </a:lnSpc>
              <a:spcBef>
                <a:spcPts val="10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partition</a:t>
            </a:r>
            <a:r>
              <a:rPr sz="1200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logical</a:t>
            </a:r>
            <a:r>
              <a:rPr sz="12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division</a:t>
            </a:r>
            <a:r>
              <a:rPr sz="12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hard</a:t>
            </a:r>
            <a:r>
              <a:rPr sz="12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disk</a:t>
            </a:r>
            <a:r>
              <a:rPr sz="1200" b="1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treated</a:t>
            </a:r>
            <a:r>
              <a:rPr sz="1200" b="1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as</a:t>
            </a:r>
            <a:r>
              <a:rPr sz="1200" b="1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separate</a:t>
            </a:r>
            <a:r>
              <a:rPr sz="1200" b="1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unit</a:t>
            </a:r>
            <a:r>
              <a:rPr sz="12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by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operating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systems</a:t>
            </a:r>
            <a:r>
              <a:rPr sz="1200" b="1" spc="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(OSes)</a:t>
            </a:r>
            <a:r>
              <a:rPr sz="1200" b="1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b="1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file</a:t>
            </a:r>
            <a:r>
              <a:rPr sz="1200" b="1" spc="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systems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r>
              <a:rPr sz="1200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OSes</a:t>
            </a:r>
            <a:r>
              <a:rPr sz="1200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spc="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file</a:t>
            </a:r>
            <a:r>
              <a:rPr sz="1200" spc="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systems</a:t>
            </a:r>
            <a:r>
              <a:rPr sz="1200" spc="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can</a:t>
            </a:r>
            <a:r>
              <a:rPr sz="1200" spc="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manage</a:t>
            </a:r>
            <a:r>
              <a:rPr sz="1200" spc="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information</a:t>
            </a:r>
            <a:r>
              <a:rPr sz="1200" spc="8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on</a:t>
            </a:r>
            <a:r>
              <a:rPr sz="1200" spc="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each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partition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as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if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it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were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distinct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hard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drive.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What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advantage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Partitioning?</a:t>
            </a:r>
            <a:endParaRPr sz="1200">
              <a:latin typeface="Times New Roman"/>
              <a:cs typeface="Times New Roman"/>
            </a:endParaRPr>
          </a:p>
          <a:p>
            <a:pPr marL="240665" marR="5080" algn="just">
              <a:lnSpc>
                <a:spcPct val="110000"/>
              </a:lnSpc>
              <a:spcBef>
                <a:spcPts val="90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Partitioning</a:t>
            </a:r>
            <a:r>
              <a:rPr sz="12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improves</a:t>
            </a:r>
            <a:r>
              <a:rPr sz="1200" b="1" spc="2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b="1" spc="2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performance</a:t>
            </a:r>
            <a:r>
              <a:rPr sz="1200" b="1" spc="2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b="1" spc="2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b="1" spc="2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delete</a:t>
            </a:r>
            <a:r>
              <a:rPr sz="1200" b="1" spc="2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old</a:t>
            </a:r>
            <a:r>
              <a:rPr sz="1200" b="1" spc="2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version</a:t>
            </a:r>
            <a:r>
              <a:rPr sz="1200" b="1" spc="2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shell</a:t>
            </a:r>
            <a:r>
              <a:rPr sz="1200" b="1" spc="2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script</a:t>
            </a:r>
            <a:r>
              <a:rPr sz="1200" b="1" spc="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since</a:t>
            </a:r>
            <a:r>
              <a:rPr sz="1200" spc="20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all</a:t>
            </a:r>
            <a:r>
              <a:rPr sz="1200" spc="2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old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version</a:t>
            </a:r>
            <a:r>
              <a:rPr sz="1200" spc="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data</a:t>
            </a:r>
            <a:r>
              <a:rPr sz="1200" spc="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separate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partition.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By</a:t>
            </a:r>
            <a:r>
              <a:rPr sz="1200" spc="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having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all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current</a:t>
            </a:r>
            <a:r>
              <a:rPr sz="1200" spc="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version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data</a:t>
            </a:r>
            <a:r>
              <a:rPr sz="1200" spc="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separate</a:t>
            </a:r>
            <a:r>
              <a:rPr sz="1200" spc="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partition,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more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current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version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data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available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database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memory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results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efficient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use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database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buffer</a:t>
            </a:r>
            <a:r>
              <a:rPr sz="1200" spc="-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pools.</a:t>
            </a:r>
            <a:endParaRPr sz="1200">
              <a:latin typeface="Times New Roman"/>
              <a:cs typeface="Times New Roman"/>
            </a:endParaRPr>
          </a:p>
          <a:p>
            <a:pPr marL="240665" algn="just">
              <a:lnSpc>
                <a:spcPct val="100000"/>
              </a:lnSpc>
              <a:spcBef>
                <a:spcPts val="150"/>
              </a:spcBef>
            </a:pP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levels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partitioning?</a:t>
            </a:r>
            <a:endParaRPr sz="1200">
              <a:latin typeface="Times New Roman"/>
              <a:cs typeface="Times New Roman"/>
            </a:endParaRPr>
          </a:p>
          <a:p>
            <a:pPr marL="240665" algn="just">
              <a:lnSpc>
                <a:spcPct val="100000"/>
              </a:lnSpc>
              <a:spcBef>
                <a:spcPts val="1040"/>
              </a:spcBef>
            </a:pP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Chapter</a:t>
            </a:r>
            <a:r>
              <a:rPr sz="1200" b="1" spc="-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3</a:t>
            </a:r>
            <a:r>
              <a:rPr sz="1200" b="1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Partitioning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Types</a:t>
            </a:r>
            <a:endParaRPr sz="1200">
              <a:latin typeface="Times New Roman"/>
              <a:cs typeface="Times New Roman"/>
            </a:endParaRPr>
          </a:p>
          <a:p>
            <a:pPr marL="240665" marR="13335" indent="-228600">
              <a:lnSpc>
                <a:spcPct val="109700"/>
              </a:lnSpc>
              <a:spcBef>
                <a:spcPts val="910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RANGE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partitioning.</a:t>
            </a:r>
            <a:r>
              <a:rPr sz="12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This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type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partitioning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assigns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rows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partitions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based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on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column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values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falling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within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given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range.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...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50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LIST</a:t>
            </a:r>
            <a:r>
              <a:rPr sz="1200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partitioning.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...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40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HASH</a:t>
            </a:r>
            <a:r>
              <a:rPr sz="1200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partitioning.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...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50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KEY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partitioning.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969" y="5152390"/>
            <a:ext cx="5967095" cy="3548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What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are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two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types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partitioning?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-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two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types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partitions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are: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Primary</a:t>
            </a:r>
            <a:r>
              <a:rPr sz="1200" b="1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partition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Extended</a:t>
            </a:r>
            <a:r>
              <a:rPr sz="1200" b="1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partition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Does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partitioning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improve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performance?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9700"/>
              </a:lnSpc>
              <a:spcBef>
                <a:spcPts val="910"/>
              </a:spcBef>
            </a:pP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Partitioning</a:t>
            </a:r>
            <a:r>
              <a:rPr sz="1200" b="1" spc="20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can</a:t>
            </a:r>
            <a:r>
              <a:rPr sz="1200" b="1" spc="20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also</a:t>
            </a:r>
            <a:r>
              <a:rPr sz="1200" b="1" spc="19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improve</a:t>
            </a:r>
            <a:r>
              <a:rPr sz="1200" b="1" spc="20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b="1" spc="2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performance</a:t>
            </a:r>
            <a:r>
              <a:rPr sz="1200" b="1" spc="20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b="1" spc="20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multi-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table</a:t>
            </a:r>
            <a:r>
              <a:rPr sz="1200" b="1" spc="20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joins</a:t>
            </a:r>
            <a:r>
              <a:rPr sz="1200" b="1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by</a:t>
            </a:r>
            <a:r>
              <a:rPr sz="1200" spc="20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using</a:t>
            </a:r>
            <a:r>
              <a:rPr sz="1200" spc="20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20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technique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known</a:t>
            </a:r>
            <a:r>
              <a:rPr sz="12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as</a:t>
            </a:r>
            <a:r>
              <a:rPr sz="1200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partition-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wise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 joins.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Locality: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temporal/spatial/stream/kernel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What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temporal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locality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spatial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locality?</a:t>
            </a:r>
            <a:endParaRPr sz="1200">
              <a:latin typeface="Times New Roman"/>
              <a:cs typeface="Times New Roman"/>
            </a:endParaRPr>
          </a:p>
          <a:p>
            <a:pPr marL="12700" marR="12065" algn="just">
              <a:lnSpc>
                <a:spcPct val="110100"/>
              </a:lnSpc>
              <a:spcBef>
                <a:spcPts val="894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Temporal</a:t>
            </a:r>
            <a:r>
              <a:rPr sz="1200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locality</a:t>
            </a:r>
            <a:r>
              <a:rPr sz="1200" spc="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refers</a:t>
            </a:r>
            <a:r>
              <a:rPr sz="1200" spc="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reuse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specific</a:t>
            </a:r>
            <a:r>
              <a:rPr sz="1200" spc="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data</a:t>
            </a:r>
            <a:r>
              <a:rPr sz="1200" spc="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and/or</a:t>
            </a:r>
            <a:r>
              <a:rPr sz="1200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resources</a:t>
            </a:r>
            <a:r>
              <a:rPr sz="1200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within</a:t>
            </a:r>
            <a:r>
              <a:rPr sz="1200" spc="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relatively</a:t>
            </a:r>
            <a:r>
              <a:rPr sz="1200" spc="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small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time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duration.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Spatial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locality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(also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termed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data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locality)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refers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use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data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elements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within relatively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close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storage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locations.</a:t>
            </a:r>
            <a:endParaRPr sz="1200">
              <a:latin typeface="Times New Roman"/>
              <a:cs typeface="Times New Roman"/>
            </a:endParaRPr>
          </a:p>
          <a:p>
            <a:pPr marL="12700" marR="1103630" algn="just">
              <a:lnSpc>
                <a:spcPct val="109700"/>
              </a:lnSpc>
              <a:spcBef>
                <a:spcPts val="10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There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are</a:t>
            </a:r>
            <a:r>
              <a:rPr sz="1200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three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kinds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locality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reference: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temporal,</a:t>
            </a:r>
            <a:r>
              <a:rPr sz="1200" b="1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spatial,</a:t>
            </a:r>
            <a:r>
              <a:rPr sz="1200" b="1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b="1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network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.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What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an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example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spatial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locality?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872490"/>
            <a:ext cx="5969000" cy="815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255" algn="just">
              <a:lnSpc>
                <a:spcPct val="110100"/>
              </a:lnSpc>
              <a:spcBef>
                <a:spcPts val="10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Spatial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locality:</a:t>
            </a:r>
            <a:r>
              <a:rPr sz="1200" spc="1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Programs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tend</a:t>
            </a:r>
            <a:r>
              <a:rPr sz="1200" spc="1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access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data</a:t>
            </a:r>
            <a:r>
              <a:rPr sz="1200" spc="1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sz="1200" spc="1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nearby</a:t>
            </a:r>
            <a:r>
              <a:rPr sz="1200" spc="1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other,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previously</a:t>
            </a:r>
            <a:r>
              <a:rPr sz="1200" spc="1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accessed</a:t>
            </a:r>
            <a:r>
              <a:rPr sz="1200" spc="1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data.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"Nearby"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here</a:t>
            </a:r>
            <a:r>
              <a:rPr sz="1200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refers</a:t>
            </a:r>
            <a:r>
              <a:rPr sz="1200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data's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memory</a:t>
            </a:r>
            <a:r>
              <a:rPr sz="1200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address.</a:t>
            </a:r>
            <a:r>
              <a:rPr sz="1200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For</a:t>
            </a:r>
            <a:r>
              <a:rPr sz="1200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example,</a:t>
            </a:r>
            <a:r>
              <a:rPr sz="1200" spc="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if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program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accesses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data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at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addresses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N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N+4,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it's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likely</a:t>
            </a:r>
            <a:r>
              <a:rPr sz="12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access</a:t>
            </a:r>
            <a:r>
              <a:rPr sz="12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N+8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soon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50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What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an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example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temporal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locality?</a:t>
            </a:r>
            <a:endParaRPr sz="1200">
              <a:latin typeface="Times New Roman"/>
              <a:cs typeface="Times New Roman"/>
            </a:endParaRPr>
          </a:p>
          <a:p>
            <a:pPr marL="12700" marR="12065" algn="just">
              <a:lnSpc>
                <a:spcPct val="110100"/>
              </a:lnSpc>
              <a:spcBef>
                <a:spcPts val="89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Notice</a:t>
            </a:r>
            <a:r>
              <a:rPr sz="1200" spc="6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every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single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instruction,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filing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clerk</a:t>
            </a:r>
            <a:r>
              <a:rPr sz="1200" spc="6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needs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access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total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card.</a:t>
            </a:r>
            <a:r>
              <a:rPr sz="1200" spc="5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This</a:t>
            </a:r>
            <a:r>
              <a:rPr sz="1200" spc="5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an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example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temporal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locality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because</a:t>
            </a:r>
            <a:r>
              <a:rPr sz="1200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it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involves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accessing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same</a:t>
            </a:r>
            <a:r>
              <a:rPr sz="1200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piece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data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frequently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over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short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period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time.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What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are</a:t>
            </a:r>
            <a:r>
              <a:rPr sz="1200" spc="-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basics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4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parallel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programming?</a:t>
            </a:r>
            <a:endParaRPr sz="1200">
              <a:latin typeface="Times New Roman"/>
              <a:cs typeface="Times New Roman"/>
            </a:endParaRPr>
          </a:p>
          <a:p>
            <a:pPr marL="12700" marR="13970" algn="just">
              <a:lnSpc>
                <a:spcPct val="109700"/>
              </a:lnSpc>
              <a:spcBef>
                <a:spcPts val="910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Parallel</a:t>
            </a:r>
            <a:r>
              <a:rPr sz="1200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programming,</a:t>
            </a:r>
            <a:r>
              <a:rPr sz="1200" spc="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in</a:t>
            </a:r>
            <a:r>
              <a:rPr sz="1200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simple</a:t>
            </a:r>
            <a:r>
              <a:rPr sz="1200" spc="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terms,</a:t>
            </a:r>
            <a:r>
              <a:rPr sz="1200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is</a:t>
            </a:r>
            <a:r>
              <a:rPr sz="1200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b="1" spc="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process</a:t>
            </a:r>
            <a:r>
              <a:rPr sz="1200" b="1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decomposing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1200" b="1" spc="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problem</a:t>
            </a:r>
            <a:r>
              <a:rPr sz="12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into</a:t>
            </a:r>
            <a:r>
              <a:rPr sz="12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smaller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tasks</a:t>
            </a:r>
            <a:r>
              <a:rPr sz="12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that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can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be</a:t>
            </a:r>
            <a:r>
              <a:rPr sz="12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executed</a:t>
            </a:r>
            <a:r>
              <a:rPr sz="12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at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same</a:t>
            </a:r>
            <a:r>
              <a:rPr sz="12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time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using</a:t>
            </a:r>
            <a:r>
              <a:rPr sz="12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multiple</a:t>
            </a:r>
            <a:r>
              <a:rPr sz="12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compute</a:t>
            </a:r>
            <a:r>
              <a:rPr sz="12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resources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What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are</a:t>
            </a:r>
            <a:r>
              <a:rPr sz="1200" spc="-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types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parallel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programming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model?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9700"/>
              </a:lnSpc>
              <a:spcBef>
                <a:spcPts val="910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Two</a:t>
            </a:r>
            <a:r>
              <a:rPr sz="1200" spc="10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widely</a:t>
            </a:r>
            <a:r>
              <a:rPr sz="1200" spc="1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known</a:t>
            </a:r>
            <a:r>
              <a:rPr sz="1200" spc="114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parallel</a:t>
            </a:r>
            <a:r>
              <a:rPr sz="1200" spc="1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programming</a:t>
            </a:r>
            <a:r>
              <a:rPr sz="1200" spc="1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models</a:t>
            </a:r>
            <a:r>
              <a:rPr sz="1200" spc="1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are</a:t>
            </a:r>
            <a:r>
              <a:rPr sz="1200" spc="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shared</a:t>
            </a:r>
            <a:r>
              <a:rPr sz="1200" b="1" spc="1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memory</a:t>
            </a:r>
            <a:r>
              <a:rPr sz="1200" b="1" spc="1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200" b="1" spc="1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message</a:t>
            </a:r>
            <a:r>
              <a:rPr sz="1200" b="1" spc="1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passing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,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but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there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are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also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 different combinations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of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both.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6510" algn="just">
              <a:lnSpc>
                <a:spcPct val="110100"/>
              </a:lnSpc>
              <a:spcBef>
                <a:spcPts val="5"/>
              </a:spcBef>
            </a:pP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The</a:t>
            </a:r>
            <a:r>
              <a:rPr sz="1200" spc="21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term</a:t>
            </a:r>
            <a:r>
              <a:rPr sz="1200" spc="21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parallel</a:t>
            </a:r>
            <a:r>
              <a:rPr sz="1200" spc="22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programming</a:t>
            </a:r>
            <a:r>
              <a:rPr sz="1200" spc="21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may</a:t>
            </a:r>
            <a:r>
              <a:rPr sz="1200" spc="21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be</a:t>
            </a:r>
            <a:r>
              <a:rPr sz="1200" spc="21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used</a:t>
            </a:r>
            <a:r>
              <a:rPr sz="1200" spc="21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interchangeable</a:t>
            </a:r>
            <a:r>
              <a:rPr sz="1200" spc="2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with</a:t>
            </a:r>
            <a:r>
              <a:rPr sz="1200" spc="204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parallel</a:t>
            </a:r>
            <a:r>
              <a:rPr sz="1200" spc="22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processing</a:t>
            </a:r>
            <a:r>
              <a:rPr sz="1200" spc="21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or</a:t>
            </a:r>
            <a:r>
              <a:rPr sz="1200" spc="21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666666"/>
                </a:solidFill>
                <a:latin typeface="Times New Roman"/>
                <a:cs typeface="Times New Roman"/>
              </a:rPr>
              <a:t>in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conjunction</a:t>
            </a:r>
            <a:r>
              <a:rPr sz="1200" spc="2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with</a:t>
            </a:r>
            <a:r>
              <a:rPr sz="1200" spc="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parallel</a:t>
            </a:r>
            <a:r>
              <a:rPr sz="1200" spc="2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computing,</a:t>
            </a:r>
            <a:r>
              <a:rPr sz="1200" spc="3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which</a:t>
            </a:r>
            <a:r>
              <a:rPr sz="1200" spc="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refers</a:t>
            </a:r>
            <a:r>
              <a:rPr sz="1200" spc="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to</a:t>
            </a:r>
            <a:r>
              <a:rPr sz="1200" spc="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the</a:t>
            </a:r>
            <a:r>
              <a:rPr sz="1200" spc="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systems</a:t>
            </a:r>
            <a:r>
              <a:rPr sz="1200" spc="2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that</a:t>
            </a:r>
            <a:r>
              <a:rPr sz="1200" spc="2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enable</a:t>
            </a:r>
            <a:r>
              <a:rPr sz="1200" spc="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the</a:t>
            </a:r>
            <a:r>
              <a:rPr sz="1200" spc="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high</a:t>
            </a:r>
            <a:r>
              <a:rPr sz="1200" spc="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Times New Roman"/>
                <a:cs typeface="Times New Roman"/>
              </a:rPr>
              <a:t>efficiency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of</a:t>
            </a:r>
            <a:r>
              <a:rPr sz="1200" spc="-4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parallel</a:t>
            </a:r>
            <a:r>
              <a:rPr sz="1200" spc="-3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Times New Roman"/>
                <a:cs typeface="Times New Roman"/>
              </a:rPr>
              <a:t>programming.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1430" algn="just">
              <a:lnSpc>
                <a:spcPct val="110100"/>
              </a:lnSpc>
              <a:spcBef>
                <a:spcPts val="5"/>
              </a:spcBef>
            </a:pP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In</a:t>
            </a:r>
            <a:r>
              <a:rPr sz="1200" spc="-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parallel</a:t>
            </a:r>
            <a:r>
              <a:rPr sz="1200" spc="1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programming,</a:t>
            </a:r>
            <a:r>
              <a:rPr sz="1200" spc="1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tasks</a:t>
            </a:r>
            <a:r>
              <a:rPr sz="1200" spc="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are parallelized</a:t>
            </a:r>
            <a:r>
              <a:rPr sz="1200" spc="1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so that</a:t>
            </a:r>
            <a:r>
              <a:rPr sz="1200" spc="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they</a:t>
            </a:r>
            <a:r>
              <a:rPr sz="1200" spc="1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can be</a:t>
            </a:r>
            <a:r>
              <a:rPr sz="1200" spc="1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run at the</a:t>
            </a:r>
            <a:r>
              <a:rPr sz="1200" spc="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same time</a:t>
            </a:r>
            <a:r>
              <a:rPr sz="1200" spc="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by </a:t>
            </a:r>
            <a:r>
              <a:rPr sz="1200" spc="-10" dirty="0">
                <a:solidFill>
                  <a:srgbClr val="666666"/>
                </a:solidFill>
                <a:latin typeface="Times New Roman"/>
                <a:cs typeface="Times New Roman"/>
              </a:rPr>
              <a:t>using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multiple</a:t>
            </a:r>
            <a:r>
              <a:rPr sz="1200" spc="114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computers</a:t>
            </a:r>
            <a:r>
              <a:rPr sz="1200" spc="1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or</a:t>
            </a:r>
            <a:r>
              <a:rPr sz="1200" spc="9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multiple</a:t>
            </a:r>
            <a:r>
              <a:rPr sz="1200" spc="1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cores</a:t>
            </a:r>
            <a:r>
              <a:rPr sz="1200" spc="11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within</a:t>
            </a:r>
            <a:r>
              <a:rPr sz="1200" spc="10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a</a:t>
            </a:r>
            <a:r>
              <a:rPr sz="1200" spc="11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CPU.</a:t>
            </a:r>
            <a:r>
              <a:rPr sz="1200" spc="10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Parallel</a:t>
            </a:r>
            <a:r>
              <a:rPr sz="1200" spc="114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programming</a:t>
            </a:r>
            <a:r>
              <a:rPr sz="1200" spc="114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is</a:t>
            </a:r>
            <a:r>
              <a:rPr sz="1200" spc="10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critical</a:t>
            </a:r>
            <a:r>
              <a:rPr sz="1200" spc="114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for</a:t>
            </a:r>
            <a:r>
              <a:rPr sz="1200" spc="9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Times New Roman"/>
                <a:cs typeface="Times New Roman"/>
              </a:rPr>
              <a:t>large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scale</a:t>
            </a:r>
            <a:r>
              <a:rPr sz="1200" spc="3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projects</a:t>
            </a:r>
            <a:r>
              <a:rPr sz="1200" spc="31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in</a:t>
            </a:r>
            <a:r>
              <a:rPr sz="1200" spc="32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which</a:t>
            </a:r>
            <a:r>
              <a:rPr sz="1200" spc="3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speed</a:t>
            </a:r>
            <a:r>
              <a:rPr sz="1200" spc="31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and</a:t>
            </a:r>
            <a:r>
              <a:rPr sz="1200" spc="31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accuracy</a:t>
            </a:r>
            <a:r>
              <a:rPr sz="1200" spc="33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are</a:t>
            </a:r>
            <a:r>
              <a:rPr sz="1200" spc="31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needed.</a:t>
            </a:r>
            <a:r>
              <a:rPr sz="1200" spc="3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It</a:t>
            </a:r>
            <a:r>
              <a:rPr sz="1200" spc="30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is</a:t>
            </a:r>
            <a:r>
              <a:rPr sz="1200" spc="3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a</a:t>
            </a:r>
            <a:r>
              <a:rPr sz="1200" spc="31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complex</a:t>
            </a:r>
            <a:r>
              <a:rPr sz="1200" spc="33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task,</a:t>
            </a:r>
            <a:r>
              <a:rPr sz="1200" spc="31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but</a:t>
            </a:r>
            <a:r>
              <a:rPr sz="1200" spc="30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Times New Roman"/>
                <a:cs typeface="Times New Roman"/>
              </a:rPr>
              <a:t>allows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developers,</a:t>
            </a:r>
            <a:r>
              <a:rPr sz="1200" spc="24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researchers,</a:t>
            </a:r>
            <a:r>
              <a:rPr sz="1200" spc="25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and</a:t>
            </a:r>
            <a:r>
              <a:rPr sz="1200" spc="23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users</a:t>
            </a:r>
            <a:r>
              <a:rPr sz="1200" spc="24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to</a:t>
            </a:r>
            <a:r>
              <a:rPr sz="1200" spc="24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accomplish</a:t>
            </a:r>
            <a:r>
              <a:rPr sz="1200" spc="24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research</a:t>
            </a:r>
            <a:r>
              <a:rPr sz="1200" spc="24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and</a:t>
            </a:r>
            <a:r>
              <a:rPr sz="1200" spc="25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analysis</a:t>
            </a:r>
            <a:r>
              <a:rPr sz="1200" spc="24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quicker</a:t>
            </a:r>
            <a:r>
              <a:rPr sz="1200" spc="25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than</a:t>
            </a:r>
            <a:r>
              <a:rPr sz="1200" spc="25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with</a:t>
            </a:r>
            <a:r>
              <a:rPr sz="1200" spc="23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666666"/>
                </a:solidFill>
                <a:latin typeface="Times New Roman"/>
                <a:cs typeface="Times New Roman"/>
              </a:rPr>
              <a:t>a </a:t>
            </a:r>
            <a:r>
              <a:rPr sz="1200" spc="-10" dirty="0">
                <a:solidFill>
                  <a:srgbClr val="666666"/>
                </a:solidFill>
                <a:latin typeface="Times New Roman"/>
                <a:cs typeface="Times New Roman"/>
              </a:rPr>
              <a:t>program</a:t>
            </a:r>
            <a:r>
              <a:rPr sz="1200" spc="-3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that</a:t>
            </a:r>
            <a:r>
              <a:rPr sz="1200" spc="-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can</a:t>
            </a:r>
            <a:r>
              <a:rPr sz="1200" spc="-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only</a:t>
            </a:r>
            <a:r>
              <a:rPr sz="1200" spc="-2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process</a:t>
            </a:r>
            <a:r>
              <a:rPr sz="1200" spc="-2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one</a:t>
            </a:r>
            <a:r>
              <a:rPr sz="1200" spc="-2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task</a:t>
            </a:r>
            <a:r>
              <a:rPr sz="1200" spc="-2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at</a:t>
            </a:r>
            <a:r>
              <a:rPr sz="1200" spc="-2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66666"/>
                </a:solidFill>
                <a:latin typeface="Times New Roman"/>
                <a:cs typeface="Times New Roman"/>
              </a:rPr>
              <a:t>a</a:t>
            </a:r>
            <a:r>
              <a:rPr sz="1200" spc="-3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666666"/>
                </a:solidFill>
                <a:latin typeface="Times New Roman"/>
                <a:cs typeface="Times New Roman"/>
              </a:rPr>
              <a:t>time.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0588E9"/>
                </a:solidFill>
                <a:latin typeface="Times New Roman"/>
                <a:cs typeface="Times New Roman"/>
              </a:rPr>
              <a:t>How</a:t>
            </a:r>
            <a:r>
              <a:rPr sz="1200" b="1" spc="-30" dirty="0">
                <a:solidFill>
                  <a:srgbClr val="0588E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588E9"/>
                </a:solidFill>
                <a:latin typeface="Times New Roman"/>
                <a:cs typeface="Times New Roman"/>
              </a:rPr>
              <a:t>Does</a:t>
            </a:r>
            <a:r>
              <a:rPr sz="1200" b="1" spc="-30" dirty="0">
                <a:solidFill>
                  <a:srgbClr val="0588E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588E9"/>
                </a:solidFill>
                <a:latin typeface="Times New Roman"/>
                <a:cs typeface="Times New Roman"/>
              </a:rPr>
              <a:t>Parallel</a:t>
            </a:r>
            <a:r>
              <a:rPr sz="1200" b="1" spc="-25" dirty="0">
                <a:solidFill>
                  <a:srgbClr val="0588E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588E9"/>
                </a:solidFill>
                <a:latin typeface="Times New Roman"/>
                <a:cs typeface="Times New Roman"/>
              </a:rPr>
              <a:t>Programming</a:t>
            </a:r>
            <a:r>
              <a:rPr sz="1200" b="1" spc="-25" dirty="0">
                <a:solidFill>
                  <a:srgbClr val="0588E9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0588E9"/>
                </a:solidFill>
                <a:latin typeface="Times New Roman"/>
                <a:cs typeface="Times New Roman"/>
              </a:rPr>
              <a:t>Work?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2065" algn="just">
              <a:lnSpc>
                <a:spcPct val="110000"/>
              </a:lnSpc>
            </a:pP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assigning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 nodes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cores.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 </a:t>
            </a:r>
            <a:r>
              <a:rPr sz="1200" dirty="0">
                <a:latin typeface="Times New Roman"/>
                <a:cs typeface="Times New Roman"/>
              </a:rPr>
              <a:t>Computing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(HPC)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systems,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self-</a:t>
            </a:r>
            <a:r>
              <a:rPr sz="1200" dirty="0">
                <a:latin typeface="Times New Roman"/>
                <a:cs typeface="Times New Roman"/>
              </a:rPr>
              <a:t>contained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contains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running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Processors,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central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units </a:t>
            </a:r>
            <a:r>
              <a:rPr sz="1200" dirty="0">
                <a:latin typeface="Times New Roman"/>
                <a:cs typeface="Times New Roman"/>
              </a:rPr>
              <a:t>(CPUs)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u="sng" dirty="0">
                <a:solidFill>
                  <a:srgbClr val="0588E9"/>
                </a:solidFill>
                <a:uFill>
                  <a:solidFill>
                    <a:srgbClr val="0588E9"/>
                  </a:solidFill>
                </a:uFill>
                <a:latin typeface="Times New Roman"/>
                <a:cs typeface="Times New Roman"/>
                <a:hlinkClick r:id="rId2"/>
              </a:rPr>
              <a:t>graphics processing</a:t>
            </a:r>
            <a:r>
              <a:rPr sz="1200" u="sng" spc="-15" dirty="0">
                <a:solidFill>
                  <a:srgbClr val="0588E9"/>
                </a:solidFill>
                <a:uFill>
                  <a:solidFill>
                    <a:srgbClr val="0588E9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200" u="sng" dirty="0">
                <a:solidFill>
                  <a:srgbClr val="0588E9"/>
                </a:solidFill>
                <a:uFill>
                  <a:solidFill>
                    <a:srgbClr val="0588E9"/>
                  </a:solidFill>
                </a:uFill>
                <a:latin typeface="Times New Roman"/>
                <a:cs typeface="Times New Roman"/>
                <a:hlinkClick r:id="rId2"/>
              </a:rPr>
              <a:t>units</a:t>
            </a:r>
            <a:r>
              <a:rPr sz="1200" u="sng" spc="-10" dirty="0">
                <a:solidFill>
                  <a:srgbClr val="0588E9"/>
                </a:solidFill>
                <a:uFill>
                  <a:solidFill>
                    <a:srgbClr val="0588E9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200" u="sng" dirty="0">
                <a:solidFill>
                  <a:srgbClr val="0588E9"/>
                </a:solidFill>
                <a:uFill>
                  <a:solidFill>
                    <a:srgbClr val="0588E9"/>
                  </a:solidFill>
                </a:uFill>
                <a:latin typeface="Times New Roman"/>
                <a:cs typeface="Times New Roman"/>
                <a:hlinkClick r:id="rId2"/>
              </a:rPr>
              <a:t>(GPUs)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chips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cores.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units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commands;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 can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 cores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 processors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node.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1430" algn="just">
              <a:lnSpc>
                <a:spcPct val="109700"/>
              </a:lnSpc>
            </a:pP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programming,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writes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specialized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easy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processors.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example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872490"/>
            <a:ext cx="5963285" cy="79603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985" algn="just">
              <a:lnSpc>
                <a:spcPct val="110100"/>
              </a:lnSpc>
              <a:spcBef>
                <a:spcPts val="105"/>
              </a:spcBef>
            </a:pP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could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recoloring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image.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developer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break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overall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change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individual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aspects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 segmenting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image into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equal parts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 assigns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recoloring of each part to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spc="-10" dirty="0">
                <a:latin typeface="Times New Roman"/>
                <a:cs typeface="Times New Roman"/>
              </a:rPr>
              <a:t>different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own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resources.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parallel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have </a:t>
            </a:r>
            <a:r>
              <a:rPr sz="1200" dirty="0">
                <a:latin typeface="Times New Roman"/>
                <a:cs typeface="Times New Roman"/>
              </a:rPr>
              <a:t>completed,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reassembled.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101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utilized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devices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ranging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embedded,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mobile, </a:t>
            </a:r>
            <a:r>
              <a:rPr sz="1200" dirty="0">
                <a:latin typeface="Times New Roman"/>
                <a:cs typeface="Times New Roman"/>
              </a:rPr>
              <a:t>laptops,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workstations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world’s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largest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supercomputers.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languages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technologies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parallelism.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C++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Fortran,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OpenMP,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open </a:t>
            </a:r>
            <a:r>
              <a:rPr sz="1200" spc="-10" dirty="0">
                <a:latin typeface="Times New Roman"/>
                <a:cs typeface="Times New Roman"/>
              </a:rPr>
              <a:t>multi-</a:t>
            </a:r>
            <a:r>
              <a:rPr sz="1200" dirty="0">
                <a:latin typeface="Times New Roman"/>
                <a:cs typeface="Times New Roman"/>
              </a:rPr>
              <a:t>processing,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cross-</a:t>
            </a:r>
            <a:r>
              <a:rPr sz="1200" dirty="0">
                <a:latin typeface="Times New Roman"/>
                <a:cs typeface="Times New Roman"/>
              </a:rPr>
              <a:t>platform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API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enable </a:t>
            </a:r>
            <a:r>
              <a:rPr sz="1200" dirty="0">
                <a:latin typeface="Times New Roman"/>
                <a:cs typeface="Times New Roman"/>
              </a:rPr>
              <a:t>running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cores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CPU.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communicate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between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technology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MPI,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typically </a:t>
            </a:r>
            <a:r>
              <a:rPr sz="1200" dirty="0">
                <a:latin typeface="Times New Roman"/>
                <a:cs typeface="Times New Roman"/>
              </a:rPr>
              <a:t>used.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benefits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single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share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Shared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typically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exchanging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over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However,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there’s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cores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single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get </a:t>
            </a:r>
            <a:r>
              <a:rPr sz="1200" dirty="0">
                <a:latin typeface="Times New Roman"/>
                <a:cs typeface="Times New Roman"/>
              </a:rPr>
              <a:t>larger,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developers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parallelism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together.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challenges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 </a:t>
            </a:r>
            <a:r>
              <a:rPr sz="1200" dirty="0">
                <a:latin typeface="Times New Roman"/>
                <a:cs typeface="Times New Roman"/>
              </a:rPr>
              <a:t>developers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properly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decomposing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parallelizing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multiple </a:t>
            </a:r>
            <a:r>
              <a:rPr sz="1200" dirty="0">
                <a:latin typeface="Times New Roman"/>
                <a:cs typeface="Times New Roman"/>
              </a:rPr>
              <a:t>nodes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cores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maximum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debugging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correctly.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0588E9"/>
                </a:solidFill>
                <a:latin typeface="Times New Roman"/>
                <a:cs typeface="Times New Roman"/>
              </a:rPr>
              <a:t>What</a:t>
            </a:r>
            <a:r>
              <a:rPr sz="1200" b="1" spc="-25" dirty="0">
                <a:solidFill>
                  <a:srgbClr val="0588E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588E9"/>
                </a:solidFill>
                <a:latin typeface="Times New Roman"/>
                <a:cs typeface="Times New Roman"/>
              </a:rPr>
              <a:t>Is</a:t>
            </a:r>
            <a:r>
              <a:rPr sz="1200" b="1" spc="-25" dirty="0">
                <a:solidFill>
                  <a:srgbClr val="0588E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588E9"/>
                </a:solidFill>
                <a:latin typeface="Times New Roman"/>
                <a:cs typeface="Times New Roman"/>
              </a:rPr>
              <a:t>Parallel</a:t>
            </a:r>
            <a:r>
              <a:rPr sz="1200" b="1" spc="-10" dirty="0">
                <a:solidFill>
                  <a:srgbClr val="0588E9"/>
                </a:solidFill>
                <a:latin typeface="Times New Roman"/>
                <a:cs typeface="Times New Roman"/>
              </a:rPr>
              <a:t> Programming</a:t>
            </a:r>
            <a:r>
              <a:rPr sz="1200" b="1" spc="-20" dirty="0">
                <a:solidFill>
                  <a:srgbClr val="0588E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588E9"/>
                </a:solidFill>
                <a:latin typeface="Times New Roman"/>
                <a:cs typeface="Times New Roman"/>
              </a:rPr>
              <a:t>Used</a:t>
            </a:r>
            <a:r>
              <a:rPr sz="1200" b="1" spc="-25" dirty="0">
                <a:solidFill>
                  <a:srgbClr val="0588E9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0588E9"/>
                </a:solidFill>
                <a:latin typeface="Times New Roman"/>
                <a:cs typeface="Times New Roman"/>
              </a:rPr>
              <a:t>For?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0000"/>
              </a:lnSpc>
            </a:pP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programming’s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ability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decompose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tasks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suitable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solution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complex </a:t>
            </a:r>
            <a:r>
              <a:rPr sz="1200" dirty="0">
                <a:latin typeface="Times New Roman"/>
                <a:cs typeface="Times New Roman"/>
              </a:rPr>
              <a:t>problems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involving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quantities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complex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calculations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simulations. </a:t>
            </a:r>
            <a:r>
              <a:rPr sz="1200" dirty="0">
                <a:latin typeface="Times New Roman"/>
                <a:cs typeface="Times New Roman"/>
              </a:rPr>
              <a:t>Previously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unsolvable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decomposed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programming,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simulations,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vaccine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development,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astrophysics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research.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programming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Advanced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graphics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entertainment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industry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5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physics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Climate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research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5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Electrical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engineering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Financial</a:t>
            </a:r>
            <a:r>
              <a:rPr sz="1200" dirty="0">
                <a:latin typeface="Times New Roman"/>
                <a:cs typeface="Times New Roman"/>
              </a:rPr>
              <a:t> and </a:t>
            </a:r>
            <a:r>
              <a:rPr sz="1200" spc="-10" dirty="0">
                <a:latin typeface="Times New Roman"/>
                <a:cs typeface="Times New Roman"/>
              </a:rPr>
              <a:t>economic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modeling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5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Molecular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modeling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National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defense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nuclear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weaponry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5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Oil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exploration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Quantum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mechanics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There</a:t>
            </a:r>
            <a:r>
              <a:rPr sz="1200" spc="-1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are</a:t>
            </a:r>
            <a:r>
              <a:rPr sz="1200" spc="-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5</a:t>
            </a:r>
            <a:r>
              <a:rPr sz="1200" spc="-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basic</a:t>
            </a:r>
            <a:r>
              <a:rPr sz="1200" spc="-1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way</a:t>
            </a:r>
            <a:r>
              <a:rPr sz="1200" spc="-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to</a:t>
            </a:r>
            <a:r>
              <a:rPr sz="1200" spc="-1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go</a:t>
            </a:r>
            <a:r>
              <a:rPr sz="1200" spc="-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parallel;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messages.downloaded_by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969" y="872490"/>
            <a:ext cx="5967730" cy="429768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25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Compiler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assistance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5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Library</a:t>
            </a:r>
            <a:r>
              <a:rPr sz="1200" spc="-6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calls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Directives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5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Low</a:t>
            </a:r>
            <a:r>
              <a:rPr sz="1200" spc="-4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level</a:t>
            </a:r>
            <a:r>
              <a:rPr sz="1200" spc="-3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hardware</a:t>
            </a:r>
            <a:r>
              <a:rPr sz="1200" spc="-4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targeting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Message</a:t>
            </a:r>
            <a:r>
              <a:rPr sz="1200" spc="-4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Passing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10100"/>
              </a:lnSpc>
              <a:spcBef>
                <a:spcPts val="5"/>
              </a:spcBef>
            </a:pP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The</a:t>
            </a:r>
            <a:r>
              <a:rPr sz="1200" spc="4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first</a:t>
            </a:r>
            <a:r>
              <a:rPr sz="1200" spc="5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4</a:t>
            </a:r>
            <a:r>
              <a:rPr sz="1200" spc="5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of</a:t>
            </a:r>
            <a:r>
              <a:rPr sz="1200" spc="4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these</a:t>
            </a:r>
            <a:r>
              <a:rPr sz="1200" spc="4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are</a:t>
            </a:r>
            <a:r>
              <a:rPr sz="1200" spc="5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mostly</a:t>
            </a:r>
            <a:r>
              <a:rPr sz="1200" spc="4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focused</a:t>
            </a:r>
            <a:r>
              <a:rPr sz="1200" spc="6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on</a:t>
            </a:r>
            <a:r>
              <a:rPr sz="1200" spc="4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single</a:t>
            </a:r>
            <a:r>
              <a:rPr sz="1200" spc="4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node</a:t>
            </a:r>
            <a:r>
              <a:rPr sz="1200" spc="4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parallelism</a:t>
            </a:r>
            <a:r>
              <a:rPr sz="1200" spc="5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with</a:t>
            </a:r>
            <a:r>
              <a:rPr sz="1200" spc="6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vectorization,</a:t>
            </a:r>
            <a:r>
              <a:rPr sz="1200" spc="5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threading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and</a:t>
            </a:r>
            <a:r>
              <a:rPr sz="1200" spc="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offload</a:t>
            </a:r>
            <a:r>
              <a:rPr sz="1200" spc="1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accelerator</a:t>
            </a:r>
            <a:r>
              <a:rPr sz="1200" spc="1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targeting.</a:t>
            </a:r>
            <a:r>
              <a:rPr sz="1200" spc="1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This</a:t>
            </a:r>
            <a:r>
              <a:rPr sz="1200" spc="1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is</a:t>
            </a:r>
            <a:r>
              <a:rPr sz="1200" spc="1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very important</a:t>
            </a:r>
            <a:r>
              <a:rPr sz="1200" spc="1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since</a:t>
            </a:r>
            <a:r>
              <a:rPr sz="1200" spc="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it</a:t>
            </a:r>
            <a:r>
              <a:rPr sz="1200" spc="1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is now</a:t>
            </a:r>
            <a:r>
              <a:rPr sz="1200" spc="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possible</a:t>
            </a:r>
            <a:r>
              <a:rPr sz="1200" spc="1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to</a:t>
            </a:r>
            <a:r>
              <a:rPr sz="1200" spc="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have</a:t>
            </a:r>
            <a:r>
              <a:rPr sz="1200" spc="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single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workstation</a:t>
            </a:r>
            <a:r>
              <a:rPr sz="1200" spc="1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with</a:t>
            </a:r>
            <a:r>
              <a:rPr sz="1200" spc="1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dozens</a:t>
            </a:r>
            <a:r>
              <a:rPr sz="1200" spc="1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of</a:t>
            </a:r>
            <a:r>
              <a:rPr sz="1200" spc="1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CPU</a:t>
            </a:r>
            <a:r>
              <a:rPr sz="1200" spc="1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cores</a:t>
            </a:r>
            <a:r>
              <a:rPr sz="1200" spc="1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and</a:t>
            </a:r>
            <a:r>
              <a:rPr sz="1200" spc="1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hundreds</a:t>
            </a:r>
            <a:r>
              <a:rPr sz="1200" spc="1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of</a:t>
            </a:r>
            <a:r>
              <a:rPr sz="1200" spc="114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accelerator</a:t>
            </a:r>
            <a:r>
              <a:rPr sz="1200" spc="13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cores</a:t>
            </a:r>
            <a:r>
              <a:rPr sz="1200" spc="1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capable</a:t>
            </a:r>
            <a:r>
              <a:rPr sz="1200" spc="1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of</a:t>
            </a:r>
            <a:r>
              <a:rPr sz="1200" spc="114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handling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possibly</a:t>
            </a:r>
            <a:r>
              <a:rPr sz="1200" spc="-3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thousands</a:t>
            </a:r>
            <a:r>
              <a:rPr sz="1200" spc="-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of</a:t>
            </a:r>
            <a:r>
              <a:rPr sz="1200" spc="-3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execution</a:t>
            </a:r>
            <a:r>
              <a:rPr sz="1200" spc="-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threads.</a:t>
            </a:r>
            <a:r>
              <a:rPr sz="1200" spc="-3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</a:t>
            </a:r>
            <a:r>
              <a:rPr sz="1200" spc="-3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high</a:t>
            </a:r>
            <a:r>
              <a:rPr sz="1200" spc="-3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end</a:t>
            </a:r>
            <a:r>
              <a:rPr sz="1200" spc="-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workstation</a:t>
            </a:r>
            <a:r>
              <a:rPr sz="1200" spc="-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can</a:t>
            </a:r>
            <a:r>
              <a:rPr sz="1200" spc="-3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rival</a:t>
            </a:r>
            <a:r>
              <a:rPr sz="1200" spc="-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the</a:t>
            </a:r>
            <a:r>
              <a:rPr sz="1200" spc="-3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compute</a:t>
            </a:r>
            <a:r>
              <a:rPr sz="1200" spc="-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capability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of</a:t>
            </a:r>
            <a:r>
              <a:rPr sz="1200" spc="-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million</a:t>
            </a:r>
            <a:r>
              <a:rPr sz="1200" spc="-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dollar</a:t>
            </a:r>
            <a:r>
              <a:rPr sz="1200" spc="-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“Supercomputers”</a:t>
            </a:r>
            <a:r>
              <a:rPr sz="1200" spc="-1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from</a:t>
            </a:r>
            <a:r>
              <a:rPr sz="1200" spc="-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only</a:t>
            </a:r>
            <a:r>
              <a:rPr sz="1200" spc="-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</a:t>
            </a:r>
            <a:r>
              <a:rPr sz="1200" spc="-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few</a:t>
            </a:r>
            <a:r>
              <a:rPr sz="1200" spc="-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years</a:t>
            </a:r>
            <a:r>
              <a:rPr sz="1200" spc="-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202428"/>
                </a:solidFill>
                <a:latin typeface="Times New Roman"/>
                <a:cs typeface="Times New Roman"/>
              </a:rPr>
              <a:t>ago!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4604" algn="just">
              <a:lnSpc>
                <a:spcPct val="110100"/>
              </a:lnSpc>
              <a:spcBef>
                <a:spcPts val="5"/>
              </a:spcBef>
            </a:pP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The</a:t>
            </a:r>
            <a:r>
              <a:rPr sz="1200" spc="114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5th</a:t>
            </a:r>
            <a:r>
              <a:rPr sz="1200" spc="1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method,</a:t>
            </a:r>
            <a:r>
              <a:rPr sz="1200" spc="1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Message</a:t>
            </a:r>
            <a:r>
              <a:rPr sz="1200" spc="114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Passing,</a:t>
            </a:r>
            <a:r>
              <a:rPr sz="1200" spc="1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is</a:t>
            </a:r>
            <a:r>
              <a:rPr sz="1200" spc="12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the</a:t>
            </a:r>
            <a:r>
              <a:rPr sz="1200" spc="1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traditional</a:t>
            </a:r>
            <a:r>
              <a:rPr sz="1200" spc="1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method</a:t>
            </a:r>
            <a:r>
              <a:rPr sz="1200" spc="1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of</a:t>
            </a:r>
            <a:r>
              <a:rPr sz="1200" spc="114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parallel</a:t>
            </a:r>
            <a:r>
              <a:rPr sz="1200" spc="1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computing</a:t>
            </a:r>
            <a:r>
              <a:rPr sz="1200" spc="13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and</a:t>
            </a:r>
            <a:r>
              <a:rPr sz="1200" spc="114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is</a:t>
            </a:r>
            <a:r>
              <a:rPr sz="1200" spc="1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still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very</a:t>
            </a:r>
            <a:r>
              <a:rPr sz="1200" spc="1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important.</a:t>
            </a:r>
            <a:r>
              <a:rPr sz="1200" spc="1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Current</a:t>
            </a:r>
            <a:r>
              <a:rPr sz="1200" spc="1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MPI</a:t>
            </a:r>
            <a:r>
              <a:rPr sz="1200" spc="1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implementations</a:t>
            </a:r>
            <a:r>
              <a:rPr sz="1200" spc="2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can</a:t>
            </a:r>
            <a:r>
              <a:rPr sz="1200" spc="1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take</a:t>
            </a:r>
            <a:r>
              <a:rPr sz="1200" spc="1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advantage</a:t>
            </a:r>
            <a:r>
              <a:rPr sz="1200" spc="1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of</a:t>
            </a:r>
            <a:r>
              <a:rPr sz="1200" spc="1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multiple</a:t>
            </a:r>
            <a:r>
              <a:rPr sz="1200" spc="1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many-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core</a:t>
            </a:r>
            <a:r>
              <a:rPr sz="1200" spc="1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CPU’s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on</a:t>
            </a:r>
            <a:r>
              <a:rPr sz="1200" spc="6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</a:t>
            </a:r>
            <a:r>
              <a:rPr sz="1200" spc="7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single</a:t>
            </a:r>
            <a:r>
              <a:rPr sz="1200" spc="8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node</a:t>
            </a:r>
            <a:r>
              <a:rPr sz="1200" spc="6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with</a:t>
            </a:r>
            <a:r>
              <a:rPr sz="1200" spc="7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performance</a:t>
            </a:r>
            <a:r>
              <a:rPr sz="1200" spc="9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that</a:t>
            </a:r>
            <a:r>
              <a:rPr sz="1200" spc="6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is</a:t>
            </a:r>
            <a:r>
              <a:rPr sz="1200" spc="7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as</a:t>
            </a:r>
            <a:r>
              <a:rPr sz="1200" spc="7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good</a:t>
            </a:r>
            <a:r>
              <a:rPr sz="1200" spc="7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(or</a:t>
            </a:r>
            <a:r>
              <a:rPr sz="1200" spc="7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sometimes</a:t>
            </a:r>
            <a:r>
              <a:rPr sz="1200" spc="9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better)</a:t>
            </a:r>
            <a:r>
              <a:rPr sz="1200" spc="7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than</a:t>
            </a:r>
            <a:r>
              <a:rPr sz="1200" spc="7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methods</a:t>
            </a:r>
            <a:r>
              <a:rPr sz="1200" spc="8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that</a:t>
            </a:r>
            <a:r>
              <a:rPr sz="1200" spc="7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202428"/>
                </a:solidFill>
                <a:latin typeface="Times New Roman"/>
                <a:cs typeface="Times New Roman"/>
              </a:rPr>
              <a:t>are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targeted</a:t>
            </a:r>
            <a:r>
              <a:rPr sz="1200" spc="15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more</a:t>
            </a:r>
            <a:r>
              <a:rPr sz="1200" spc="14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at</a:t>
            </a:r>
            <a:r>
              <a:rPr sz="1200" spc="14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multi-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threading.</a:t>
            </a:r>
            <a:r>
              <a:rPr sz="1200" spc="15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And,</a:t>
            </a:r>
            <a:r>
              <a:rPr sz="1200" spc="14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for</a:t>
            </a:r>
            <a:r>
              <a:rPr sz="1200" spc="14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parallel</a:t>
            </a:r>
            <a:r>
              <a:rPr sz="1200" spc="15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computing</a:t>
            </a:r>
            <a:r>
              <a:rPr sz="1200" spc="15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across</a:t>
            </a:r>
            <a:r>
              <a:rPr sz="1200" spc="15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multiple</a:t>
            </a:r>
            <a:r>
              <a:rPr sz="1200" spc="15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nodes</a:t>
            </a:r>
            <a:r>
              <a:rPr sz="1200" spc="15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02428"/>
                </a:solidFill>
                <a:latin typeface="Times New Roman"/>
                <a:cs typeface="Times New Roman"/>
              </a:rPr>
              <a:t>message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passing</a:t>
            </a:r>
            <a:r>
              <a:rPr sz="1200" spc="-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is</a:t>
            </a:r>
            <a:r>
              <a:rPr sz="1200" spc="-3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very</a:t>
            </a:r>
            <a:r>
              <a:rPr sz="1200" spc="-35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well</a:t>
            </a:r>
            <a:r>
              <a:rPr sz="1200" spc="-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understood</a:t>
            </a:r>
            <a:r>
              <a:rPr sz="1200" spc="-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and</a:t>
            </a:r>
            <a:r>
              <a:rPr sz="1200" spc="-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428"/>
                </a:solidFill>
                <a:latin typeface="Times New Roman"/>
                <a:cs typeface="Times New Roman"/>
              </a:rPr>
              <a:t>widely</a:t>
            </a:r>
            <a:r>
              <a:rPr sz="1200" spc="-30" dirty="0">
                <a:solidFill>
                  <a:srgbClr val="202428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202428"/>
                </a:solidFill>
                <a:latin typeface="Times New Roman"/>
                <a:cs typeface="Times New Roman"/>
              </a:rPr>
              <a:t>used.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What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are</a:t>
            </a:r>
            <a:r>
              <a:rPr sz="1200" spc="-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the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023"/>
                </a:solidFill>
                <a:latin typeface="Times New Roman"/>
                <a:cs typeface="Times New Roman"/>
              </a:rPr>
              <a:t>four</a:t>
            </a:r>
            <a:r>
              <a:rPr sz="12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programming</a:t>
            </a:r>
            <a:r>
              <a:rPr sz="1200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models?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0400"/>
              </a:lnSpc>
              <a:spcBef>
                <a:spcPts val="890"/>
              </a:spcBef>
            </a:pP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Streaming</a:t>
            </a:r>
            <a:r>
              <a:rPr sz="1200" b="1" spc="2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Model,</a:t>
            </a:r>
            <a:r>
              <a:rPr sz="12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Shared-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Memory</a:t>
            </a:r>
            <a:r>
              <a:rPr sz="1200" b="1" spc="27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Multiprocessor</a:t>
            </a:r>
            <a:r>
              <a:rPr sz="1200" b="1" spc="2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Model,</a:t>
            </a:r>
            <a:r>
              <a:rPr sz="1200" b="1" spc="-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Asymmetric-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Thread</a:t>
            </a:r>
            <a:r>
              <a:rPr sz="1200" b="1" spc="27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Runtime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Model,</a:t>
            </a:r>
            <a:r>
              <a:rPr sz="1200" b="1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User-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Mode</a:t>
            </a:r>
            <a:r>
              <a:rPr sz="12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2023"/>
                </a:solidFill>
                <a:latin typeface="Times New Roman"/>
                <a:cs typeface="Times New Roman"/>
              </a:rPr>
              <a:t>Thread</a:t>
            </a:r>
            <a:r>
              <a:rPr sz="12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2023"/>
                </a:solidFill>
                <a:latin typeface="Times New Roman"/>
                <a:cs typeface="Times New Roman"/>
              </a:rPr>
              <a:t>Model</a:t>
            </a:r>
            <a:r>
              <a:rPr sz="1200" spc="-10" dirty="0">
                <a:solidFill>
                  <a:srgbClr val="1F2023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3005</Words>
  <Application>Microsoft Office PowerPoint</Application>
  <PresentationFormat>Custom</PresentationFormat>
  <Paragraphs>181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MT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HPC Notes(UNIT-1) - HPC</dc:title>
  <dc:creator>Windows User</dc:creator>
  <cp:lastModifiedBy>Dr. Kanwalpreet Kour [MU - Jaipur]</cp:lastModifiedBy>
  <cp:revision>1</cp:revision>
  <dcterms:created xsi:type="dcterms:W3CDTF">2026-09-02T03:31:54Z</dcterms:created>
  <dcterms:modified xsi:type="dcterms:W3CDTF">2026-09-02T03:34:22Z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2025-04-16T00:00:00Z</vt:filetime>
  </property>
  <property fmtid="{D5CDD505-2E9C-101B-9397-08002B2CF9AE}" pid="4" name="Creator">
    <vt:lpwstr>Writer</vt:lpwstr>
  </property>
  <property fmtid="{D5CDD505-2E9C-101B-9397-08002B2CF9AE}" pid="5" name="Producer">
    <vt:lpwstr>LibreOffice 7.3</vt:lpwstr>
  </property>
  <property fmtid="{D5CDD505-2E9C-101B-9397-08002B2CF9AE}" pid="6" name="LastSaved">
    <vt:filetime>2025-04-16T00:00:00Z</vt:filetime>
  </property>
</Properties>
</file>