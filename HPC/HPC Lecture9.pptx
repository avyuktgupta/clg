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png" ContentType="image/png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7616" y="658368"/>
            <a:ext cx="8635365" cy="0"/>
          </a:xfrm>
          <a:custGeom>
            <a:avLst/>
            <a:gdLst/>
            <a:ahLst/>
            <a:cxnLst/>
            <a:rect l="l" t="t" r="r" b="b"/>
            <a:pathLst>
              <a:path w="8635365" h="0">
                <a:moveTo>
                  <a:pt x="0" y="0"/>
                </a:moveTo>
                <a:lnTo>
                  <a:pt x="8634984" y="0"/>
                </a:lnTo>
              </a:path>
            </a:pathLst>
          </a:custGeom>
          <a:ln w="12190">
            <a:solidFill>
              <a:srgbClr val="99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139" y="511556"/>
            <a:ext cx="8214995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7212" y="1569212"/>
            <a:ext cx="4323715" cy="2557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74252" y="6917648"/>
            <a:ext cx="23114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654811"/>
            <a:ext cx="454088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5"/>
              <a:t>MIPS</a:t>
            </a:r>
            <a:r>
              <a:rPr dirty="0" spc="-95"/>
              <a:t> </a:t>
            </a:r>
            <a:r>
              <a:rPr dirty="0" spc="-375"/>
              <a:t>1</a:t>
            </a:r>
            <a:r>
              <a:rPr dirty="0" spc="-100"/>
              <a:t> </a:t>
            </a:r>
            <a:r>
              <a:rPr dirty="0" spc="-185"/>
              <a:t>Function</a:t>
            </a:r>
            <a:r>
              <a:rPr dirty="0" spc="-105"/>
              <a:t> </a:t>
            </a:r>
            <a:r>
              <a:rPr dirty="0" spc="-185"/>
              <a:t>Call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09828" y="1632204"/>
            <a:ext cx="3362325" cy="4721860"/>
            <a:chOff x="909828" y="1632204"/>
            <a:chExt cx="3362325" cy="4721860"/>
          </a:xfrm>
        </p:grpSpPr>
        <p:sp>
          <p:nvSpPr>
            <p:cNvPr id="4" name="object 4"/>
            <p:cNvSpPr/>
            <p:nvPr/>
          </p:nvSpPr>
          <p:spPr>
            <a:xfrm>
              <a:off x="914400" y="1636776"/>
              <a:ext cx="3352800" cy="4712335"/>
            </a:xfrm>
            <a:custGeom>
              <a:avLst/>
              <a:gdLst/>
              <a:ahLst/>
              <a:cxnLst/>
              <a:rect l="l" t="t" r="r" b="b"/>
              <a:pathLst>
                <a:path w="3352800" h="4712335">
                  <a:moveTo>
                    <a:pt x="3352800" y="0"/>
                  </a:moveTo>
                  <a:lnTo>
                    <a:pt x="0" y="0"/>
                  </a:lnTo>
                  <a:lnTo>
                    <a:pt x="0" y="4712208"/>
                  </a:lnTo>
                  <a:lnTo>
                    <a:pt x="3352800" y="4712208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14400" y="1636776"/>
              <a:ext cx="3352800" cy="4712335"/>
            </a:xfrm>
            <a:custGeom>
              <a:avLst/>
              <a:gdLst/>
              <a:ahLst/>
              <a:cxnLst/>
              <a:rect l="l" t="t" r="r" b="b"/>
              <a:pathLst>
                <a:path w="3352800" h="4712335">
                  <a:moveTo>
                    <a:pt x="0" y="0"/>
                  </a:moveTo>
                  <a:lnTo>
                    <a:pt x="0" y="4712208"/>
                  </a:lnTo>
                  <a:lnTo>
                    <a:pt x="3352800" y="4712208"/>
                  </a:lnTo>
                  <a:lnTo>
                    <a:pt x="3352800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271016" y="4288535"/>
            <a:ext cx="2670175" cy="1871980"/>
          </a:xfrm>
          <a:prstGeom prst="rect">
            <a:avLst/>
          </a:prstGeom>
          <a:solidFill>
            <a:srgbClr val="CC9900"/>
          </a:solidFill>
          <a:ln w="914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dirty="0" sz="1600" b="1">
                <a:latin typeface="Arial"/>
                <a:cs typeface="Arial"/>
              </a:rPr>
              <a:t>void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A()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50" b="1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381000" marR="1819275" indent="-3175">
              <a:lnSpc>
                <a:spcPts val="2900"/>
              </a:lnSpc>
              <a:spcBef>
                <a:spcPts val="240"/>
              </a:spcBef>
            </a:pPr>
            <a:r>
              <a:rPr dirty="0" sz="1600" spc="-50" b="1">
                <a:latin typeface="Arial"/>
                <a:cs typeface="Arial"/>
              </a:rPr>
              <a:t>… </a:t>
            </a:r>
            <a:r>
              <a:rPr dirty="0" sz="1600" spc="-10" b="1">
                <a:latin typeface="Arial"/>
                <a:cs typeface="Arial"/>
              </a:rPr>
              <a:t>B(5);</a:t>
            </a:r>
            <a:endParaRPr sz="16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705"/>
              </a:spcBef>
            </a:pPr>
            <a:r>
              <a:rPr dirty="0" sz="1600" spc="-50" b="1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960"/>
              </a:spcBef>
            </a:pPr>
            <a:r>
              <a:rPr dirty="0" sz="1600" spc="-50" b="1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1016" y="1767839"/>
            <a:ext cx="2670175" cy="2322830"/>
          </a:xfrm>
          <a:prstGeom prst="rect">
            <a:avLst/>
          </a:prstGeom>
          <a:solidFill>
            <a:srgbClr val="BFBFBF"/>
          </a:solidFill>
          <a:ln w="914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algn="ctr" marR="1106805">
              <a:lnSpc>
                <a:spcPct val="100000"/>
              </a:lnSpc>
              <a:spcBef>
                <a:spcPts val="320"/>
              </a:spcBef>
            </a:pPr>
            <a:r>
              <a:rPr dirty="0" sz="1600" b="1">
                <a:latin typeface="Arial"/>
                <a:cs typeface="Arial"/>
              </a:rPr>
              <a:t>void B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(int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x)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50" b="1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264795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latin typeface="Arial"/>
                <a:cs typeface="Arial"/>
              </a:rPr>
              <a:t>int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a,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b;</a:t>
            </a:r>
            <a:endParaRPr sz="16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980"/>
              </a:spcBef>
            </a:pPr>
            <a:r>
              <a:rPr dirty="0" sz="1600" spc="-50" b="1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algn="ctr" marR="1111885">
              <a:lnSpc>
                <a:spcPct val="100000"/>
              </a:lnSpc>
              <a:spcBef>
                <a:spcPts val="5"/>
              </a:spcBef>
            </a:pPr>
            <a:r>
              <a:rPr dirty="0" sz="1600" spc="-10" b="1">
                <a:latin typeface="Arial"/>
                <a:cs typeface="Arial"/>
              </a:rPr>
              <a:t>return();</a:t>
            </a:r>
            <a:endParaRPr sz="16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980"/>
              </a:spcBef>
            </a:pPr>
            <a:r>
              <a:rPr dirty="0" sz="1600" spc="-50" b="1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3996" y="4982972"/>
            <a:ext cx="1868170" cy="16744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50400"/>
              </a:lnSpc>
              <a:spcBef>
                <a:spcPts val="90"/>
              </a:spcBef>
            </a:pPr>
            <a:r>
              <a:rPr dirty="0" sz="1800" b="1">
                <a:solidFill>
                  <a:srgbClr val="CC9900"/>
                </a:solidFill>
                <a:latin typeface="Arial"/>
                <a:cs typeface="Arial"/>
              </a:rPr>
              <a:t>ADDI</a:t>
            </a:r>
            <a:r>
              <a:rPr dirty="0" sz="1800" spc="-15" b="1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9900"/>
                </a:solidFill>
                <a:latin typeface="Arial"/>
                <a:cs typeface="Arial"/>
              </a:rPr>
              <a:t>R1,</a:t>
            </a:r>
            <a:r>
              <a:rPr dirty="0" sz="1800" spc="-15" b="1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9900"/>
                </a:solidFill>
                <a:latin typeface="Arial"/>
                <a:cs typeface="Arial"/>
              </a:rPr>
              <a:t>R0,</a:t>
            </a:r>
            <a:r>
              <a:rPr dirty="0" sz="1800" spc="-15" b="1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CC9900"/>
                </a:solidFill>
                <a:latin typeface="Arial"/>
                <a:cs typeface="Arial"/>
              </a:rPr>
              <a:t>5 </a:t>
            </a:r>
            <a:r>
              <a:rPr dirty="0" sz="1800" b="1">
                <a:solidFill>
                  <a:srgbClr val="CC9900"/>
                </a:solidFill>
                <a:latin typeface="Arial"/>
                <a:cs typeface="Arial"/>
              </a:rPr>
              <a:t>ADDI</a:t>
            </a:r>
            <a:r>
              <a:rPr dirty="0" sz="1800" spc="-20" b="1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9900"/>
                </a:solidFill>
                <a:latin typeface="Arial"/>
                <a:cs typeface="Arial"/>
              </a:rPr>
              <a:t>R29,</a:t>
            </a:r>
            <a:r>
              <a:rPr dirty="0" sz="1800" spc="-15" b="1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9900"/>
                </a:solidFill>
                <a:latin typeface="Arial"/>
                <a:cs typeface="Arial"/>
              </a:rPr>
              <a:t>R29,</a:t>
            </a:r>
            <a:r>
              <a:rPr dirty="0" sz="1800" spc="-30" b="1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CC9900"/>
                </a:solidFill>
                <a:latin typeface="Arial"/>
                <a:cs typeface="Arial"/>
              </a:rPr>
              <a:t>4 </a:t>
            </a:r>
            <a:r>
              <a:rPr dirty="0" sz="1800" b="1">
                <a:solidFill>
                  <a:srgbClr val="CC9900"/>
                </a:solidFill>
                <a:latin typeface="Arial"/>
                <a:cs typeface="Arial"/>
              </a:rPr>
              <a:t>SW</a:t>
            </a:r>
            <a:r>
              <a:rPr dirty="0" sz="1800" spc="-20" b="1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9900"/>
                </a:solidFill>
                <a:latin typeface="Arial"/>
                <a:cs typeface="Arial"/>
              </a:rPr>
              <a:t>0(R29),</a:t>
            </a:r>
            <a:r>
              <a:rPr dirty="0" sz="1800" spc="-5" b="1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CC9900"/>
                </a:solidFill>
                <a:latin typeface="Arial"/>
                <a:cs typeface="Arial"/>
              </a:rPr>
              <a:t>R1 </a:t>
            </a:r>
            <a:r>
              <a:rPr dirty="0" sz="1800" b="1">
                <a:solidFill>
                  <a:srgbClr val="CC9900"/>
                </a:solidFill>
                <a:latin typeface="Arial"/>
                <a:cs typeface="Arial"/>
              </a:rPr>
              <a:t>JAL</a:t>
            </a:r>
            <a:r>
              <a:rPr dirty="0" sz="1800" spc="-30" b="1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CC9900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7171" y="1182115"/>
            <a:ext cx="2404110" cy="854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8640" marR="5080" indent="-536575">
              <a:lnSpc>
                <a:spcPct val="151100"/>
              </a:lnSpc>
              <a:spcBef>
                <a:spcPts val="100"/>
              </a:spcBef>
              <a:tabLst>
                <a:tab pos="548640" algn="l"/>
              </a:tabLst>
            </a:pPr>
            <a:r>
              <a:rPr dirty="0" sz="1800" spc="-25" b="1">
                <a:solidFill>
                  <a:srgbClr val="3A802E"/>
                </a:solidFill>
                <a:latin typeface="Arial"/>
                <a:cs typeface="Arial"/>
              </a:rPr>
              <a:t>B</a:t>
            </a:r>
            <a:r>
              <a:rPr dirty="0" sz="1800" spc="-25">
                <a:solidFill>
                  <a:srgbClr val="3A802E"/>
                </a:solidFill>
                <a:latin typeface="Arial MT"/>
                <a:cs typeface="Arial MT"/>
              </a:rPr>
              <a:t>:</a:t>
            </a:r>
            <a:r>
              <a:rPr dirty="0" sz="1800">
                <a:solidFill>
                  <a:srgbClr val="3A802E"/>
                </a:solidFill>
                <a:latin typeface="Arial MT"/>
                <a:cs typeface="Arial MT"/>
              </a:rPr>
              <a:t>	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ADDI</a:t>
            </a:r>
            <a:r>
              <a:rPr dirty="0" sz="1800" spc="-20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dirty="0" sz="1800" spc="-15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dirty="0" sz="1800" spc="-30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3A802E"/>
                </a:solidFill>
                <a:latin typeface="Arial"/>
                <a:cs typeface="Arial"/>
              </a:rPr>
              <a:t>4 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SW</a:t>
            </a:r>
            <a:r>
              <a:rPr dirty="0" sz="1800" spc="-10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0(R29),</a:t>
            </a:r>
            <a:r>
              <a:rPr dirty="0" sz="1800" spc="-5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3A802E"/>
                </a:solidFill>
                <a:latin typeface="Arial"/>
                <a:cs typeface="Arial"/>
              </a:rPr>
              <a:t>R31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338060" y="1196340"/>
          <a:ext cx="1286510" cy="4674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2370"/>
              </a:tblGrid>
              <a:tr h="356235">
                <a:tc>
                  <a:txBody>
                    <a:bodyPr/>
                    <a:lstStyle/>
                    <a:p>
                      <a:pPr algn="ctr" marR="70485">
                        <a:lnSpc>
                          <a:spcPts val="2330"/>
                        </a:lnSpc>
                      </a:pPr>
                      <a:r>
                        <a:rPr dirty="0" sz="2400" spc="-50" b="1">
                          <a:latin typeface="Arial"/>
                          <a:cs typeface="Arial"/>
                        </a:rPr>
                        <a:t>…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532765" algn="l"/>
                        </a:tabLst>
                      </a:pPr>
                      <a:r>
                        <a:rPr dirty="0" sz="1800" spc="-50">
                          <a:latin typeface="Arial MT"/>
                          <a:cs typeface="Arial MT"/>
                        </a:rPr>
                        <a:t>5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(int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x)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Return</a:t>
                      </a:r>
                      <a:r>
                        <a:rPr dirty="0" sz="12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address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4922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609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Local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int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03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Local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int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4922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3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8610600" y="1295400"/>
            <a:ext cx="304800" cy="173990"/>
          </a:xfrm>
          <a:custGeom>
            <a:avLst/>
            <a:gdLst/>
            <a:ahLst/>
            <a:cxnLst/>
            <a:rect l="l" t="t" r="r" b="b"/>
            <a:pathLst>
              <a:path w="304800" h="173990">
                <a:moveTo>
                  <a:pt x="170688" y="0"/>
                </a:moveTo>
                <a:lnTo>
                  <a:pt x="0" y="88391"/>
                </a:lnTo>
                <a:lnTo>
                  <a:pt x="170688" y="173736"/>
                </a:lnTo>
                <a:lnTo>
                  <a:pt x="170688" y="115824"/>
                </a:lnTo>
                <a:lnTo>
                  <a:pt x="143255" y="115824"/>
                </a:lnTo>
                <a:lnTo>
                  <a:pt x="143255" y="57912"/>
                </a:lnTo>
                <a:lnTo>
                  <a:pt x="170688" y="57912"/>
                </a:lnTo>
                <a:lnTo>
                  <a:pt x="170688" y="0"/>
                </a:lnTo>
                <a:close/>
              </a:path>
              <a:path w="304800" h="173990">
                <a:moveTo>
                  <a:pt x="170688" y="57912"/>
                </a:moveTo>
                <a:lnTo>
                  <a:pt x="143255" y="57912"/>
                </a:lnTo>
                <a:lnTo>
                  <a:pt x="143255" y="115824"/>
                </a:lnTo>
                <a:lnTo>
                  <a:pt x="170688" y="115824"/>
                </a:lnTo>
                <a:lnTo>
                  <a:pt x="170688" y="57912"/>
                </a:lnTo>
                <a:close/>
              </a:path>
              <a:path w="304800" h="173990">
                <a:moveTo>
                  <a:pt x="304800" y="57912"/>
                </a:moveTo>
                <a:lnTo>
                  <a:pt x="170688" y="57912"/>
                </a:lnTo>
                <a:lnTo>
                  <a:pt x="170688" y="115824"/>
                </a:lnTo>
                <a:lnTo>
                  <a:pt x="304800" y="115824"/>
                </a:lnTo>
                <a:lnTo>
                  <a:pt x="304800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619743" y="1682495"/>
            <a:ext cx="304800" cy="170815"/>
          </a:xfrm>
          <a:custGeom>
            <a:avLst/>
            <a:gdLst/>
            <a:ahLst/>
            <a:cxnLst/>
            <a:rect l="l" t="t" r="r" b="b"/>
            <a:pathLst>
              <a:path w="304800" h="170814">
                <a:moveTo>
                  <a:pt x="170687" y="0"/>
                </a:moveTo>
                <a:lnTo>
                  <a:pt x="0" y="85343"/>
                </a:lnTo>
                <a:lnTo>
                  <a:pt x="170687" y="170687"/>
                </a:lnTo>
                <a:lnTo>
                  <a:pt x="170687" y="112775"/>
                </a:lnTo>
                <a:lnTo>
                  <a:pt x="143255" y="112775"/>
                </a:lnTo>
                <a:lnTo>
                  <a:pt x="143255" y="54863"/>
                </a:lnTo>
                <a:lnTo>
                  <a:pt x="170687" y="54863"/>
                </a:lnTo>
                <a:lnTo>
                  <a:pt x="170687" y="0"/>
                </a:lnTo>
                <a:close/>
              </a:path>
              <a:path w="304800" h="170814">
                <a:moveTo>
                  <a:pt x="170687" y="54863"/>
                </a:moveTo>
                <a:lnTo>
                  <a:pt x="143255" y="54863"/>
                </a:lnTo>
                <a:lnTo>
                  <a:pt x="143255" y="112775"/>
                </a:lnTo>
                <a:lnTo>
                  <a:pt x="170687" y="112775"/>
                </a:lnTo>
                <a:lnTo>
                  <a:pt x="170687" y="54863"/>
                </a:lnTo>
                <a:close/>
              </a:path>
              <a:path w="304800" h="170814">
                <a:moveTo>
                  <a:pt x="304800" y="54863"/>
                </a:moveTo>
                <a:lnTo>
                  <a:pt x="170687" y="54863"/>
                </a:lnTo>
                <a:lnTo>
                  <a:pt x="170687" y="112775"/>
                </a:lnTo>
                <a:lnTo>
                  <a:pt x="304800" y="112775"/>
                </a:lnTo>
                <a:lnTo>
                  <a:pt x="304800" y="548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8619743" y="2154935"/>
            <a:ext cx="685800" cy="173990"/>
            <a:chOff x="8619743" y="2154935"/>
            <a:chExt cx="685800" cy="173990"/>
          </a:xfrm>
        </p:grpSpPr>
        <p:sp>
          <p:nvSpPr>
            <p:cNvPr id="14" name="object 14"/>
            <p:cNvSpPr/>
            <p:nvPr/>
          </p:nvSpPr>
          <p:spPr>
            <a:xfrm>
              <a:off x="8619743" y="2154935"/>
              <a:ext cx="304800" cy="173990"/>
            </a:xfrm>
            <a:custGeom>
              <a:avLst/>
              <a:gdLst/>
              <a:ahLst/>
              <a:cxnLst/>
              <a:rect l="l" t="t" r="r" b="b"/>
              <a:pathLst>
                <a:path w="304800" h="173989">
                  <a:moveTo>
                    <a:pt x="170687" y="0"/>
                  </a:moveTo>
                  <a:lnTo>
                    <a:pt x="0" y="85343"/>
                  </a:lnTo>
                  <a:lnTo>
                    <a:pt x="170687" y="173736"/>
                  </a:lnTo>
                  <a:lnTo>
                    <a:pt x="170687" y="115824"/>
                  </a:lnTo>
                  <a:lnTo>
                    <a:pt x="143255" y="115824"/>
                  </a:lnTo>
                  <a:lnTo>
                    <a:pt x="143255" y="57912"/>
                  </a:lnTo>
                  <a:lnTo>
                    <a:pt x="170687" y="57912"/>
                  </a:lnTo>
                  <a:lnTo>
                    <a:pt x="170687" y="0"/>
                  </a:lnTo>
                  <a:close/>
                </a:path>
                <a:path w="304800" h="173989">
                  <a:moveTo>
                    <a:pt x="170687" y="57912"/>
                  </a:moveTo>
                  <a:lnTo>
                    <a:pt x="143255" y="57912"/>
                  </a:lnTo>
                  <a:lnTo>
                    <a:pt x="143255" y="115824"/>
                  </a:lnTo>
                  <a:lnTo>
                    <a:pt x="170687" y="115824"/>
                  </a:lnTo>
                  <a:lnTo>
                    <a:pt x="170687" y="57912"/>
                  </a:lnTo>
                  <a:close/>
                </a:path>
                <a:path w="304800" h="173989">
                  <a:moveTo>
                    <a:pt x="304800" y="57912"/>
                  </a:moveTo>
                  <a:lnTo>
                    <a:pt x="170687" y="57912"/>
                  </a:lnTo>
                  <a:lnTo>
                    <a:pt x="170687" y="115824"/>
                  </a:lnTo>
                  <a:lnTo>
                    <a:pt x="304800" y="115824"/>
                  </a:lnTo>
                  <a:lnTo>
                    <a:pt x="304800" y="57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924543" y="2197607"/>
              <a:ext cx="381000" cy="85725"/>
            </a:xfrm>
            <a:custGeom>
              <a:avLst/>
              <a:gdLst/>
              <a:ahLst/>
              <a:cxnLst/>
              <a:rect l="l" t="t" r="r" b="b"/>
              <a:pathLst>
                <a:path w="381000" h="85725">
                  <a:moveTo>
                    <a:pt x="85344" y="0"/>
                  </a:moveTo>
                  <a:lnTo>
                    <a:pt x="0" y="42671"/>
                  </a:lnTo>
                  <a:lnTo>
                    <a:pt x="85344" y="85343"/>
                  </a:lnTo>
                  <a:lnTo>
                    <a:pt x="85344" y="57912"/>
                  </a:lnTo>
                  <a:lnTo>
                    <a:pt x="73151" y="57912"/>
                  </a:lnTo>
                  <a:lnTo>
                    <a:pt x="73151" y="30479"/>
                  </a:lnTo>
                  <a:lnTo>
                    <a:pt x="85344" y="30479"/>
                  </a:lnTo>
                  <a:lnTo>
                    <a:pt x="85344" y="0"/>
                  </a:lnTo>
                  <a:close/>
                </a:path>
                <a:path w="381000" h="85725">
                  <a:moveTo>
                    <a:pt x="85344" y="30479"/>
                  </a:moveTo>
                  <a:lnTo>
                    <a:pt x="73151" y="30479"/>
                  </a:lnTo>
                  <a:lnTo>
                    <a:pt x="73151" y="57912"/>
                  </a:lnTo>
                  <a:lnTo>
                    <a:pt x="85344" y="57912"/>
                  </a:lnTo>
                  <a:lnTo>
                    <a:pt x="85344" y="30479"/>
                  </a:lnTo>
                  <a:close/>
                </a:path>
                <a:path w="381000" h="85725">
                  <a:moveTo>
                    <a:pt x="381000" y="30479"/>
                  </a:moveTo>
                  <a:lnTo>
                    <a:pt x="85344" y="30479"/>
                  </a:lnTo>
                  <a:lnTo>
                    <a:pt x="85344" y="57912"/>
                  </a:lnTo>
                  <a:lnTo>
                    <a:pt x="381000" y="57912"/>
                  </a:lnTo>
                  <a:lnTo>
                    <a:pt x="381000" y="3047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8619743" y="3096767"/>
            <a:ext cx="304800" cy="170815"/>
          </a:xfrm>
          <a:custGeom>
            <a:avLst/>
            <a:gdLst/>
            <a:ahLst/>
            <a:cxnLst/>
            <a:rect l="l" t="t" r="r" b="b"/>
            <a:pathLst>
              <a:path w="304800" h="170814">
                <a:moveTo>
                  <a:pt x="170687" y="0"/>
                </a:moveTo>
                <a:lnTo>
                  <a:pt x="0" y="85344"/>
                </a:lnTo>
                <a:lnTo>
                  <a:pt x="170687" y="170687"/>
                </a:lnTo>
                <a:lnTo>
                  <a:pt x="170687" y="115824"/>
                </a:lnTo>
                <a:lnTo>
                  <a:pt x="143255" y="115824"/>
                </a:lnTo>
                <a:lnTo>
                  <a:pt x="143255" y="57912"/>
                </a:lnTo>
                <a:lnTo>
                  <a:pt x="170687" y="57912"/>
                </a:lnTo>
                <a:lnTo>
                  <a:pt x="170687" y="0"/>
                </a:lnTo>
                <a:close/>
              </a:path>
              <a:path w="304800" h="170814">
                <a:moveTo>
                  <a:pt x="170687" y="57912"/>
                </a:moveTo>
                <a:lnTo>
                  <a:pt x="143255" y="57912"/>
                </a:lnTo>
                <a:lnTo>
                  <a:pt x="143255" y="115824"/>
                </a:lnTo>
                <a:lnTo>
                  <a:pt x="170687" y="115824"/>
                </a:lnTo>
                <a:lnTo>
                  <a:pt x="170687" y="57912"/>
                </a:lnTo>
                <a:close/>
              </a:path>
              <a:path w="304800" h="170814">
                <a:moveTo>
                  <a:pt x="304800" y="57912"/>
                </a:moveTo>
                <a:lnTo>
                  <a:pt x="170687" y="57912"/>
                </a:lnTo>
                <a:lnTo>
                  <a:pt x="170687" y="115824"/>
                </a:lnTo>
                <a:lnTo>
                  <a:pt x="304800" y="115824"/>
                </a:lnTo>
                <a:lnTo>
                  <a:pt x="304800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21428" y="2081276"/>
            <a:ext cx="1995805" cy="205549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ADDI</a:t>
            </a:r>
            <a:r>
              <a:rPr dirty="0" sz="1800" spc="-20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dirty="0" sz="1800" spc="-15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dirty="0" sz="1800" spc="-30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3A802E"/>
                </a:solidFill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spc="-50" b="1">
                <a:solidFill>
                  <a:srgbClr val="3A802E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  <a:p>
            <a:pPr marL="12700" marR="5080" indent="12065">
              <a:lnSpc>
                <a:spcPct val="143900"/>
              </a:lnSpc>
              <a:spcBef>
                <a:spcPts val="180"/>
              </a:spcBef>
            </a:pP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SUBI</a:t>
            </a:r>
            <a:r>
              <a:rPr dirty="0" sz="1800" spc="-20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dirty="0" sz="1800" spc="-15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dirty="0" sz="1800" spc="-30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3A802E"/>
                </a:solidFill>
                <a:latin typeface="Arial"/>
                <a:cs typeface="Arial"/>
              </a:rPr>
              <a:t>16 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LW</a:t>
            </a:r>
            <a:r>
              <a:rPr dirty="0" sz="1800" spc="-10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R31,</a:t>
            </a:r>
            <a:r>
              <a:rPr dirty="0" sz="1800" spc="-20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3A802E"/>
                </a:solidFill>
                <a:latin typeface="Arial"/>
                <a:cs typeface="Arial"/>
              </a:rPr>
              <a:t>8(R29) </a:t>
            </a:r>
            <a:r>
              <a:rPr dirty="0" sz="1800" b="1">
                <a:solidFill>
                  <a:srgbClr val="3A802E"/>
                </a:solidFill>
                <a:latin typeface="Arial"/>
                <a:cs typeface="Arial"/>
              </a:rPr>
              <a:t>JR</a:t>
            </a:r>
            <a:r>
              <a:rPr dirty="0" sz="1800" spc="-5" b="1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3A802E"/>
                </a:solidFill>
                <a:latin typeface="Arial"/>
                <a:cs typeface="Arial"/>
              </a:rPr>
              <a:t>R31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2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82588" y="761492"/>
            <a:ext cx="2744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Function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Call/Return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5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5"/>
              <a:t>Use</a:t>
            </a:r>
            <a:r>
              <a:rPr dirty="0" spc="-110"/>
              <a:t> </a:t>
            </a:r>
            <a:r>
              <a:rPr dirty="0"/>
              <a:t>of</a:t>
            </a:r>
            <a:r>
              <a:rPr dirty="0" spc="-120"/>
              <a:t> </a:t>
            </a:r>
            <a:r>
              <a:rPr dirty="0" spc="-215"/>
              <a:t>Main</a:t>
            </a:r>
            <a:r>
              <a:rPr dirty="0" spc="-114"/>
              <a:t> </a:t>
            </a:r>
            <a:r>
              <a:rPr dirty="0" spc="-250"/>
              <a:t>Memory</a:t>
            </a:r>
            <a:r>
              <a:rPr dirty="0" spc="-110"/>
              <a:t> </a:t>
            </a:r>
            <a:r>
              <a:rPr dirty="0" spc="-290"/>
              <a:t>by</a:t>
            </a:r>
            <a:r>
              <a:rPr dirty="0" spc="-105"/>
              <a:t> </a:t>
            </a:r>
            <a:r>
              <a:rPr dirty="0" spc="-635"/>
              <a:t>a</a:t>
            </a:r>
            <a:r>
              <a:rPr dirty="0" spc="-110"/>
              <a:t> </a:t>
            </a:r>
            <a:r>
              <a:rPr dirty="0" spc="-310"/>
              <a:t>Program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4140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/>
              <a:t>Instructions</a:t>
            </a:r>
            <a:r>
              <a:rPr dirty="0" spc="-80"/>
              <a:t> </a:t>
            </a:r>
            <a:r>
              <a:rPr dirty="0"/>
              <a:t>(code,</a:t>
            </a:r>
            <a:r>
              <a:rPr dirty="0" spc="-80"/>
              <a:t> </a:t>
            </a:r>
            <a:r>
              <a:rPr dirty="0" spc="-10"/>
              <a:t>text)</a:t>
            </a:r>
          </a:p>
          <a:p>
            <a:pPr marL="356235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pc="-20"/>
              <a:t>Data</a:t>
            </a:r>
          </a:p>
          <a:p>
            <a:pPr lvl="1" marL="682625" indent="-325755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Statically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allocated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2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Stack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allocated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5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Heap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allocated</a:t>
            </a:r>
            <a:endParaRPr sz="26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34684" y="1885188"/>
          <a:ext cx="2350135" cy="460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4410"/>
              </a:tblGrid>
              <a:tr h="1151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09600">
                        <a:lnSpc>
                          <a:spcPct val="100000"/>
                        </a:lnSpc>
                      </a:pPr>
                      <a:r>
                        <a:rPr dirty="0" sz="2400" spc="-20">
                          <a:latin typeface="Arial MT"/>
                          <a:cs typeface="Arial MT"/>
                        </a:rPr>
                        <a:t>text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0744"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2085"/>
                        </a:spcBef>
                      </a:pPr>
                      <a:r>
                        <a:rPr dirty="0" sz="2400" spc="-20">
                          <a:latin typeface="Arial MT"/>
                          <a:cs typeface="Arial MT"/>
                        </a:rPr>
                        <a:t>data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2647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stack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1708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1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20">
                          <a:latin typeface="Arial MT"/>
                          <a:cs typeface="Arial MT"/>
                        </a:rPr>
                        <a:t>heap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333488" y="5654040"/>
            <a:ext cx="76200" cy="350520"/>
          </a:xfrm>
          <a:custGeom>
            <a:avLst/>
            <a:gdLst/>
            <a:ahLst/>
            <a:cxnLst/>
            <a:rect l="l" t="t" r="r" b="b"/>
            <a:pathLst>
              <a:path w="76200" h="350520">
                <a:moveTo>
                  <a:pt x="42671" y="57912"/>
                </a:moveTo>
                <a:lnTo>
                  <a:pt x="36575" y="57912"/>
                </a:lnTo>
                <a:lnTo>
                  <a:pt x="33527" y="60960"/>
                </a:lnTo>
                <a:lnTo>
                  <a:pt x="33527" y="347472"/>
                </a:lnTo>
                <a:lnTo>
                  <a:pt x="36575" y="350520"/>
                </a:lnTo>
                <a:lnTo>
                  <a:pt x="42671" y="350520"/>
                </a:lnTo>
                <a:lnTo>
                  <a:pt x="42671" y="57912"/>
                </a:lnTo>
                <a:close/>
              </a:path>
              <a:path w="76200" h="350520">
                <a:moveTo>
                  <a:pt x="39623" y="0"/>
                </a:moveTo>
                <a:lnTo>
                  <a:pt x="0" y="76200"/>
                </a:lnTo>
                <a:lnTo>
                  <a:pt x="33527" y="76200"/>
                </a:lnTo>
                <a:lnTo>
                  <a:pt x="33527" y="60960"/>
                </a:lnTo>
                <a:lnTo>
                  <a:pt x="36575" y="57912"/>
                </a:lnTo>
                <a:lnTo>
                  <a:pt x="67421" y="57912"/>
                </a:lnTo>
                <a:lnTo>
                  <a:pt x="39623" y="0"/>
                </a:lnTo>
                <a:close/>
              </a:path>
              <a:path w="76200" h="350520">
                <a:moveTo>
                  <a:pt x="67421" y="57912"/>
                </a:moveTo>
                <a:lnTo>
                  <a:pt x="42671" y="57912"/>
                </a:lnTo>
                <a:lnTo>
                  <a:pt x="42671" y="76200"/>
                </a:lnTo>
                <a:lnTo>
                  <a:pt x="76200" y="76200"/>
                </a:lnTo>
                <a:lnTo>
                  <a:pt x="67421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33488" y="4572000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20">
                <a:moveTo>
                  <a:pt x="33527" y="198119"/>
                </a:moveTo>
                <a:lnTo>
                  <a:pt x="0" y="198119"/>
                </a:lnTo>
                <a:lnTo>
                  <a:pt x="39623" y="274319"/>
                </a:lnTo>
                <a:lnTo>
                  <a:pt x="67421" y="216407"/>
                </a:lnTo>
                <a:lnTo>
                  <a:pt x="36575" y="216407"/>
                </a:lnTo>
                <a:lnTo>
                  <a:pt x="33527" y="213360"/>
                </a:lnTo>
                <a:lnTo>
                  <a:pt x="33527" y="198119"/>
                </a:lnTo>
                <a:close/>
              </a:path>
              <a:path w="76200" h="274320">
                <a:moveTo>
                  <a:pt x="42671" y="0"/>
                </a:moveTo>
                <a:lnTo>
                  <a:pt x="36575" y="0"/>
                </a:lnTo>
                <a:lnTo>
                  <a:pt x="33527" y="3048"/>
                </a:lnTo>
                <a:lnTo>
                  <a:pt x="33527" y="213360"/>
                </a:lnTo>
                <a:lnTo>
                  <a:pt x="36575" y="216407"/>
                </a:lnTo>
                <a:lnTo>
                  <a:pt x="42671" y="216407"/>
                </a:lnTo>
                <a:lnTo>
                  <a:pt x="42671" y="0"/>
                </a:lnTo>
                <a:close/>
              </a:path>
              <a:path w="76200" h="274320">
                <a:moveTo>
                  <a:pt x="76200" y="198119"/>
                </a:moveTo>
                <a:lnTo>
                  <a:pt x="42671" y="198119"/>
                </a:lnTo>
                <a:lnTo>
                  <a:pt x="42671" y="216407"/>
                </a:lnTo>
                <a:lnTo>
                  <a:pt x="67421" y="216407"/>
                </a:lnTo>
                <a:lnTo>
                  <a:pt x="76200" y="198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010147" y="1813052"/>
            <a:ext cx="195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72100" y="6378955"/>
            <a:ext cx="8864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2</a:t>
            </a:r>
            <a:r>
              <a:rPr dirty="0" baseline="24305" sz="2400">
                <a:latin typeface="Arial MT"/>
                <a:cs typeface="Arial MT"/>
              </a:rPr>
              <a:t>32</a:t>
            </a:r>
            <a:r>
              <a:rPr dirty="0" baseline="24305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-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5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5"/>
              <a:t>MIPS</a:t>
            </a:r>
            <a:r>
              <a:rPr dirty="0" spc="-105"/>
              <a:t> </a:t>
            </a:r>
            <a:r>
              <a:rPr dirty="0" spc="-375"/>
              <a:t>1</a:t>
            </a:r>
            <a:r>
              <a:rPr dirty="0" spc="-105"/>
              <a:t> </a:t>
            </a:r>
            <a:r>
              <a:rPr dirty="0" spc="-130"/>
              <a:t>Instruction</a:t>
            </a:r>
            <a:r>
              <a:rPr dirty="0" spc="-110"/>
              <a:t> </a:t>
            </a:r>
            <a:r>
              <a:rPr dirty="0" spc="-475"/>
              <a:t>Set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569212"/>
            <a:ext cx="5795645" cy="112268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820"/>
              </a:spcBef>
              <a:buClr>
                <a:srgbClr val="CC9900"/>
              </a:buClr>
              <a:buSzPct val="66666"/>
              <a:buAutoNum type="arabicPeriod"/>
              <a:tabLst>
                <a:tab pos="585470" algn="l"/>
              </a:tabLst>
            </a:pPr>
            <a:r>
              <a:rPr dirty="0" sz="3000">
                <a:latin typeface="Arial MT"/>
                <a:cs typeface="Arial MT"/>
              </a:rPr>
              <a:t>Conditional</a:t>
            </a:r>
            <a:r>
              <a:rPr dirty="0" sz="3000" spc="-8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branch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instructions</a:t>
            </a:r>
            <a:endParaRPr sz="3000">
              <a:latin typeface="Arial MT"/>
              <a:cs typeface="Arial MT"/>
            </a:endParaRPr>
          </a:p>
          <a:p>
            <a:pPr marL="585470" indent="-572770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AutoNum type="arabicPeriod"/>
              <a:tabLst>
                <a:tab pos="585470" algn="l"/>
              </a:tabLst>
            </a:pPr>
            <a:r>
              <a:rPr dirty="0" sz="3000">
                <a:latin typeface="Arial MT"/>
                <a:cs typeface="Arial MT"/>
              </a:rPr>
              <a:t>Floating</a:t>
            </a:r>
            <a:r>
              <a:rPr dirty="0" sz="3000" spc="-85">
                <a:latin typeface="Arial MT"/>
                <a:cs typeface="Arial MT"/>
              </a:rPr>
              <a:t> </a:t>
            </a:r>
            <a:r>
              <a:rPr dirty="0" sz="3000" spc="-20">
                <a:latin typeface="Arial MT"/>
                <a:cs typeface="Arial MT"/>
              </a:rPr>
              <a:t>point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11556"/>
            <a:ext cx="584200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5"/>
              <a:t>MIPS</a:t>
            </a:r>
            <a:r>
              <a:rPr dirty="0" spc="-100"/>
              <a:t> </a:t>
            </a:r>
            <a:r>
              <a:rPr dirty="0" spc="-375"/>
              <a:t>1</a:t>
            </a:r>
            <a:r>
              <a:rPr dirty="0" spc="-105"/>
              <a:t> </a:t>
            </a:r>
            <a:r>
              <a:rPr dirty="0" spc="-280"/>
              <a:t>Branch</a:t>
            </a:r>
            <a:r>
              <a:rPr dirty="0" spc="-110"/>
              <a:t> </a:t>
            </a:r>
            <a:r>
              <a:rPr dirty="0" spc="-145"/>
              <a:t>Instructions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116" y="2829865"/>
            <a:ext cx="3833495" cy="98298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  <a:tabLst>
                <a:tab pos="1043940" algn="l"/>
                <a:tab pos="1917064" algn="l"/>
                <a:tab pos="3201035" algn="l"/>
              </a:tabLst>
            </a:pPr>
            <a:r>
              <a:rPr dirty="0" sz="2600">
                <a:latin typeface="Times New Roman"/>
                <a:cs typeface="Times New Roman"/>
              </a:rPr>
              <a:t>=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=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!=</a:t>
            </a:r>
            <a:r>
              <a:rPr dirty="0" sz="2600">
                <a:latin typeface="Times New Roman"/>
                <a:cs typeface="Times New Roman"/>
              </a:rPr>
              <a:t>	&gt;=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0</a:t>
            </a:r>
            <a:r>
              <a:rPr dirty="0" sz="2600">
                <a:latin typeface="Times New Roman"/>
                <a:cs typeface="Times New Roman"/>
              </a:rPr>
              <a:t>	&lt;=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600">
                <a:latin typeface="Times New Roman"/>
                <a:cs typeface="Times New Roman"/>
              </a:rPr>
              <a:t>What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about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condition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like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3690" y="2829865"/>
            <a:ext cx="1939289" cy="98298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229870">
              <a:lnSpc>
                <a:spcPct val="100000"/>
              </a:lnSpc>
              <a:spcBef>
                <a:spcPts val="750"/>
              </a:spcBef>
              <a:tabLst>
                <a:tab pos="1489710" algn="l"/>
              </a:tabLst>
            </a:pPr>
            <a:r>
              <a:rPr dirty="0" sz="2600">
                <a:latin typeface="Times New Roman"/>
                <a:cs typeface="Times New Roman"/>
              </a:rPr>
              <a:t>&lt;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0</a:t>
            </a:r>
            <a:r>
              <a:rPr dirty="0" sz="2600">
                <a:latin typeface="Times New Roman"/>
                <a:cs typeface="Times New Roman"/>
              </a:rPr>
              <a:t>	&gt;</a:t>
            </a:r>
            <a:r>
              <a:rPr dirty="0" sz="2600" spc="1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643890" algn="l"/>
                <a:tab pos="1266190" algn="l"/>
              </a:tabLst>
            </a:pPr>
            <a:r>
              <a:rPr dirty="0" sz="2600" spc="-25">
                <a:latin typeface="Times New Roman"/>
                <a:cs typeface="Times New Roman"/>
              </a:rPr>
              <a:t>R1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&gt;=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R2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1116" y="3867403"/>
            <a:ext cx="486156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>
                <a:latin typeface="Times New Roman"/>
                <a:cs typeface="Times New Roman"/>
              </a:rPr>
              <a:t>You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could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BGEZ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instruction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1116" y="4342891"/>
            <a:ext cx="3986529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>
                <a:latin typeface="Times New Roman"/>
                <a:cs typeface="Times New Roman"/>
              </a:rPr>
              <a:t>Idea: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Rewrite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condition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as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1539" y="4262424"/>
            <a:ext cx="3340735" cy="145542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600">
                <a:latin typeface="Times New Roman"/>
                <a:cs typeface="Times New Roman"/>
              </a:rPr>
              <a:t>(R1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–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R2)</a:t>
            </a:r>
            <a:r>
              <a:rPr dirty="0" sz="2600" spc="6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&gt;=</a:t>
            </a:r>
            <a:r>
              <a:rPr dirty="0" sz="2600" spc="64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  <a:p>
            <a:pPr marL="330835">
              <a:lnSpc>
                <a:spcPct val="100000"/>
              </a:lnSpc>
              <a:spcBef>
                <a:spcPts val="625"/>
              </a:spcBef>
            </a:pPr>
            <a:r>
              <a:rPr dirty="0" sz="2600">
                <a:latin typeface="Times New Roman"/>
                <a:cs typeface="Times New Roman"/>
              </a:rPr>
              <a:t>/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R3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Wingdings"/>
                <a:cs typeface="Wingdings"/>
              </a:rPr>
              <a:t>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R1</a:t>
            </a:r>
            <a:r>
              <a:rPr dirty="0" sz="2600" spc="6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-</a:t>
            </a:r>
            <a:r>
              <a:rPr dirty="0" sz="2600" spc="62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R2</a:t>
            </a:r>
            <a:endParaRPr sz="2600">
              <a:latin typeface="Times New Roman"/>
              <a:cs typeface="Times New Roman"/>
            </a:endParaRPr>
          </a:p>
          <a:p>
            <a:pPr marL="281305">
              <a:lnSpc>
                <a:spcPct val="100000"/>
              </a:lnSpc>
              <a:spcBef>
                <a:spcPts val="645"/>
              </a:spcBef>
            </a:pPr>
            <a:r>
              <a:rPr dirty="0" sz="2600">
                <a:latin typeface="Times New Roman"/>
                <a:cs typeface="Times New Roman"/>
              </a:rPr>
              <a:t>/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if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R3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&gt;=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0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goto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target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0964" y="4734864"/>
            <a:ext cx="2902585" cy="98298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750"/>
              </a:spcBef>
              <a:tabLst>
                <a:tab pos="1070610" algn="l"/>
                <a:tab pos="1787525" algn="l"/>
                <a:tab pos="2504440" algn="l"/>
              </a:tabLst>
            </a:pPr>
            <a:r>
              <a:rPr dirty="0" sz="2600" spc="-25">
                <a:latin typeface="Times New Roman"/>
                <a:cs typeface="Times New Roman"/>
              </a:rPr>
              <a:t>SUB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R3,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R1,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R2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1124585" algn="l"/>
              </a:tabLst>
            </a:pPr>
            <a:r>
              <a:rPr dirty="0" sz="2600" spc="-20">
                <a:latin typeface="Times New Roman"/>
                <a:cs typeface="Times New Roman"/>
              </a:rPr>
              <a:t>BGEZ</a:t>
            </a:r>
            <a:r>
              <a:rPr dirty="0" sz="2600">
                <a:latin typeface="Times New Roman"/>
                <a:cs typeface="Times New Roman"/>
              </a:rPr>
              <a:t>	R3,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target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1116" y="5772403"/>
            <a:ext cx="435165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>
                <a:latin typeface="Times New Roman"/>
                <a:cs typeface="Times New Roman"/>
              </a:rPr>
              <a:t>Problem: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Possibility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overflow</a:t>
            </a:r>
            <a:endParaRPr sz="26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23900" y="1156716"/>
          <a:ext cx="8726805" cy="1694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2265"/>
                <a:gridCol w="2069464"/>
                <a:gridCol w="2169795"/>
                <a:gridCol w="2770504"/>
              </a:tblGrid>
              <a:tr h="5054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Mnemonics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Example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Meaning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91440" marR="114300">
                        <a:lnSpc>
                          <a:spcPts val="2620"/>
                        </a:lnSpc>
                        <a:spcBef>
                          <a:spcPts val="425"/>
                        </a:spcBef>
                      </a:pPr>
                      <a:r>
                        <a:rPr dirty="0" sz="2200" spc="-10">
                          <a:latin typeface="Arial MT"/>
                          <a:cs typeface="Arial MT"/>
                        </a:rPr>
                        <a:t>Conditional Branch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5397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911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BEQ,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BNE,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BGEZ,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BLEZ,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BLTZ,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BGTZ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BLTZ</a:t>
                      </a:r>
                      <a:r>
                        <a:rPr dirty="0" sz="2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R2,</a:t>
                      </a:r>
                      <a:r>
                        <a:rPr dirty="0" sz="2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16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R2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0,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-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16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11556"/>
            <a:ext cx="626618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5"/>
              <a:t>MIPS</a:t>
            </a:r>
            <a:r>
              <a:rPr dirty="0" spc="-100"/>
              <a:t> </a:t>
            </a:r>
            <a:r>
              <a:rPr dirty="0" spc="-375"/>
              <a:t>1</a:t>
            </a:r>
            <a:r>
              <a:rPr dirty="0" spc="-105"/>
              <a:t> </a:t>
            </a:r>
            <a:r>
              <a:rPr dirty="0" spc="-340"/>
              <a:t>Compare</a:t>
            </a:r>
            <a:r>
              <a:rPr dirty="0" spc="-95"/>
              <a:t> </a:t>
            </a:r>
            <a:r>
              <a:rPr dirty="0" spc="-145"/>
              <a:t>Instructions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116" y="3029204"/>
            <a:ext cx="562102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87780" algn="l"/>
                <a:tab pos="3820160" algn="l"/>
              </a:tabLst>
            </a:pPr>
            <a:r>
              <a:rPr dirty="0" sz="2600">
                <a:latin typeface="Times New Roman"/>
                <a:cs typeface="Times New Roman"/>
              </a:rPr>
              <a:t>S: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Set,</a:t>
            </a:r>
            <a:r>
              <a:rPr dirty="0" sz="2600">
                <a:latin typeface="Times New Roman"/>
                <a:cs typeface="Times New Roman"/>
              </a:rPr>
              <a:t>	LT: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If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less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than;</a:t>
            </a:r>
            <a:r>
              <a:rPr dirty="0" sz="2600">
                <a:latin typeface="Times New Roman"/>
                <a:cs typeface="Times New Roman"/>
              </a:rPr>
              <a:t>	I: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Immediate;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4066" y="3029204"/>
            <a:ext cx="170370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>
                <a:latin typeface="Times New Roman"/>
                <a:cs typeface="Times New Roman"/>
              </a:rPr>
              <a:t>U: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Unsigned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1116" y="3424224"/>
            <a:ext cx="3752215" cy="145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3365">
              <a:lnSpc>
                <a:spcPct val="120000"/>
              </a:lnSpc>
              <a:spcBef>
                <a:spcPts val="100"/>
              </a:spcBef>
              <a:tabLst>
                <a:tab pos="463550" algn="l"/>
                <a:tab pos="1742439" algn="l"/>
              </a:tabLst>
            </a:pPr>
            <a:r>
              <a:rPr dirty="0" sz="2600" spc="-25">
                <a:latin typeface="Times New Roman"/>
                <a:cs typeface="Times New Roman"/>
              </a:rPr>
              <a:t>if</a:t>
            </a:r>
            <a:r>
              <a:rPr dirty="0" sz="2600">
                <a:latin typeface="Times New Roman"/>
                <a:cs typeface="Times New Roman"/>
              </a:rPr>
              <a:t>	(R1</a:t>
            </a:r>
            <a:r>
              <a:rPr dirty="0" sz="2600" spc="60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&gt;=</a:t>
            </a:r>
            <a:r>
              <a:rPr dirty="0" sz="2600">
                <a:latin typeface="Times New Roman"/>
                <a:cs typeface="Times New Roman"/>
              </a:rPr>
              <a:t>	R2)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3A802E"/>
                </a:solidFill>
                <a:latin typeface="Times New Roman"/>
                <a:cs typeface="Times New Roman"/>
              </a:rPr>
              <a:t>thenpart</a:t>
            </a:r>
            <a:r>
              <a:rPr dirty="0" sz="2600" spc="-10">
                <a:latin typeface="Times New Roman"/>
                <a:cs typeface="Times New Roman"/>
              </a:rPr>
              <a:t>; </a:t>
            </a:r>
            <a:r>
              <a:rPr dirty="0" sz="2600">
                <a:latin typeface="Times New Roman"/>
                <a:cs typeface="Times New Roman"/>
              </a:rPr>
              <a:t>else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3A802E"/>
                </a:solidFill>
                <a:latin typeface="Times New Roman"/>
                <a:cs typeface="Times New Roman"/>
              </a:rPr>
              <a:t>elsepart</a:t>
            </a:r>
            <a:endParaRPr sz="2600">
              <a:latin typeface="Times New Roman"/>
              <a:cs typeface="Times New Roman"/>
            </a:endParaRPr>
          </a:p>
          <a:p>
            <a:pPr marL="1249680">
              <a:lnSpc>
                <a:spcPct val="100000"/>
              </a:lnSpc>
              <a:spcBef>
                <a:spcPts val="650"/>
              </a:spcBef>
              <a:tabLst>
                <a:tab pos="2085339" algn="l"/>
              </a:tabLst>
            </a:pPr>
            <a:r>
              <a:rPr dirty="0" sz="2600" spc="-25">
                <a:latin typeface="Times New Roman"/>
                <a:cs typeface="Times New Roman"/>
              </a:rPr>
              <a:t>SLT</a:t>
            </a:r>
            <a:r>
              <a:rPr dirty="0" sz="2600">
                <a:latin typeface="Times New Roman"/>
                <a:cs typeface="Times New Roman"/>
              </a:rPr>
              <a:t>	R3,</a:t>
            </a:r>
            <a:r>
              <a:rPr dirty="0" sz="2600" spc="6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R1,</a:t>
            </a:r>
            <a:r>
              <a:rPr dirty="0" sz="2600" spc="62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R2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9652" y="4378248"/>
            <a:ext cx="3739515" cy="97663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725"/>
              </a:spcBef>
            </a:pPr>
            <a:r>
              <a:rPr dirty="0" sz="2600">
                <a:latin typeface="Times New Roman"/>
                <a:cs typeface="Times New Roman"/>
              </a:rPr>
              <a:t>/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R3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Wingdings"/>
                <a:cs typeface="Wingdings"/>
              </a:rPr>
              <a:t>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1</a:t>
            </a:r>
            <a:r>
              <a:rPr dirty="0" sz="2600" spc="6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if</a:t>
            </a:r>
            <a:r>
              <a:rPr dirty="0" sz="2600" spc="6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R1</a:t>
            </a:r>
            <a:r>
              <a:rPr dirty="0" sz="2600" spc="6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&lt;</a:t>
            </a:r>
            <a:r>
              <a:rPr dirty="0" sz="2600" spc="63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R2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600">
                <a:latin typeface="Times New Roman"/>
                <a:cs typeface="Times New Roman"/>
              </a:rPr>
              <a:t>/ if</a:t>
            </a:r>
            <a:r>
              <a:rPr dirty="0" sz="2600" spc="6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R3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=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=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0</a:t>
            </a:r>
            <a:r>
              <a:rPr dirty="0" sz="2600" spc="6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goto</a:t>
            </a:r>
            <a:r>
              <a:rPr dirty="0" sz="2600" spc="61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thenpart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38604" y="5409691"/>
            <a:ext cx="327914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20750" algn="l"/>
              </a:tabLst>
            </a:pPr>
            <a:r>
              <a:rPr dirty="0" sz="2600" spc="-25">
                <a:latin typeface="Times New Roman"/>
                <a:cs typeface="Times New Roman"/>
              </a:rPr>
              <a:t>BEQ</a:t>
            </a:r>
            <a:r>
              <a:rPr dirty="0" sz="2600">
                <a:latin typeface="Times New Roman"/>
                <a:cs typeface="Times New Roman"/>
              </a:rPr>
              <a:t>	R3,</a:t>
            </a:r>
            <a:r>
              <a:rPr dirty="0" sz="2600" spc="6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R0,</a:t>
            </a:r>
            <a:r>
              <a:rPr dirty="0" sz="2600" spc="605"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3A802E"/>
                </a:solidFill>
                <a:latin typeface="Times New Roman"/>
                <a:cs typeface="Times New Roman"/>
              </a:rPr>
              <a:t>thenpart</a:t>
            </a:r>
            <a:endParaRPr sz="26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23900" y="1226820"/>
          <a:ext cx="8726805" cy="1401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9535"/>
                <a:gridCol w="1960244"/>
                <a:gridCol w="2539365"/>
                <a:gridCol w="2764790"/>
              </a:tblGrid>
              <a:tr h="5086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Mnemonics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Example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Meaning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200" spc="-10">
                          <a:latin typeface="Arial MT"/>
                          <a:cs typeface="Arial MT"/>
                        </a:rPr>
                        <a:t>Compare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8415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SLT,</a:t>
                      </a:r>
                      <a:r>
                        <a:rPr dirty="0" sz="2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SLTU,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SLTI,</a:t>
                      </a:r>
                      <a:r>
                        <a:rPr dirty="0" sz="2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SLTIU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SLT</a:t>
                      </a:r>
                      <a:r>
                        <a:rPr dirty="0" sz="2400" spc="-30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R1,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R2,</a:t>
                      </a:r>
                      <a:r>
                        <a:rPr dirty="0" sz="2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R3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7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R1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R2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&lt;</a:t>
                      </a:r>
                      <a:r>
                        <a:rPr dirty="0" sz="2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R3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algn="r" marR="38036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otherwise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5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5"/>
              <a:t>MIPS</a:t>
            </a:r>
            <a:r>
              <a:rPr dirty="0" spc="-90"/>
              <a:t> </a:t>
            </a:r>
            <a:r>
              <a:rPr dirty="0" spc="-375"/>
              <a:t>1</a:t>
            </a:r>
            <a:r>
              <a:rPr dirty="0" spc="-90"/>
              <a:t> </a:t>
            </a:r>
            <a:r>
              <a:rPr dirty="0" spc="-215"/>
              <a:t>Floating</a:t>
            </a:r>
            <a:r>
              <a:rPr dirty="0" spc="-105"/>
              <a:t> </a:t>
            </a:r>
            <a:r>
              <a:rPr dirty="0" spc="-114"/>
              <a:t>Point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60652"/>
            <a:ext cx="8003540" cy="4599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Assume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that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there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is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separate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floating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point </a:t>
            </a:r>
            <a:r>
              <a:rPr dirty="0" sz="3000" spc="-1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register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 spc="-20">
                <a:latin typeface="Arial MT"/>
                <a:cs typeface="Arial MT"/>
              </a:rPr>
              <a:t>file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32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32b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floating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point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registers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30">
                <a:latin typeface="Arial MT"/>
                <a:cs typeface="Arial MT"/>
              </a:rPr>
              <a:t>F0-</a:t>
            </a:r>
            <a:r>
              <a:rPr dirty="0" sz="2600" spc="-25">
                <a:latin typeface="Arial MT"/>
                <a:cs typeface="Arial MT"/>
              </a:rPr>
              <a:t>F31</a:t>
            </a:r>
            <a:endParaRPr sz="2600">
              <a:latin typeface="Arial MT"/>
              <a:cs typeface="Arial MT"/>
            </a:endParaRPr>
          </a:p>
          <a:p>
            <a:pPr lvl="1" marL="683260" marR="525145" indent="-326390">
              <a:lnSpc>
                <a:spcPct val="100000"/>
              </a:lnSpc>
              <a:spcBef>
                <a:spcPts val="62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double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(64b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floating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point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value)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occupies</a:t>
            </a:r>
            <a:r>
              <a:rPr dirty="0" sz="2600" spc="630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2 </a:t>
            </a:r>
            <a:r>
              <a:rPr dirty="0" sz="2600" spc="-10">
                <a:latin typeface="Arial MT"/>
                <a:cs typeface="Arial MT"/>
              </a:rPr>
              <a:t>registers</a:t>
            </a:r>
            <a:endParaRPr sz="2600">
              <a:latin typeface="Arial MT"/>
              <a:cs typeface="Arial MT"/>
            </a:endParaRPr>
          </a:p>
          <a:p>
            <a:pPr lvl="2" marL="1033144" indent="-349885">
              <a:lnSpc>
                <a:spcPct val="100000"/>
              </a:lnSpc>
              <a:spcBef>
                <a:spcPts val="520"/>
              </a:spcBef>
              <a:buClr>
                <a:srgbClr val="CC9900"/>
              </a:buClr>
              <a:buSzPct val="63636"/>
              <a:buFont typeface="Wingdings"/>
              <a:buChar char=""/>
              <a:tabLst>
                <a:tab pos="1033144" algn="l"/>
              </a:tabLst>
            </a:pPr>
            <a:r>
              <a:rPr dirty="0" sz="2200" spc="-20">
                <a:latin typeface="Arial MT"/>
                <a:cs typeface="Arial MT"/>
              </a:rPr>
              <a:t>Even-</a:t>
            </a:r>
            <a:r>
              <a:rPr dirty="0" sz="2200">
                <a:latin typeface="Arial MT"/>
                <a:cs typeface="Arial MT"/>
              </a:rPr>
              <a:t>odd pair,</a:t>
            </a:r>
            <a:r>
              <a:rPr dirty="0" sz="2200" spc="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such as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F0,F1</a:t>
            </a:r>
            <a:endParaRPr sz="2200">
              <a:latin typeface="Arial MT"/>
              <a:cs typeface="Arial MT"/>
            </a:endParaRPr>
          </a:p>
          <a:p>
            <a:pPr lvl="2" marL="1033144" indent="-349885">
              <a:lnSpc>
                <a:spcPct val="100000"/>
              </a:lnSpc>
              <a:spcBef>
                <a:spcPts val="530"/>
              </a:spcBef>
              <a:buClr>
                <a:srgbClr val="CC9900"/>
              </a:buClr>
              <a:buSzPct val="63636"/>
              <a:buFont typeface="Wingdings"/>
              <a:buChar char=""/>
              <a:tabLst>
                <a:tab pos="1033144" algn="l"/>
              </a:tabLst>
            </a:pPr>
            <a:r>
              <a:rPr dirty="0" sz="2200">
                <a:latin typeface="Arial MT"/>
                <a:cs typeface="Arial MT"/>
              </a:rPr>
              <a:t>Addressed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as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F0</a:t>
            </a:r>
            <a:endParaRPr sz="22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68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Additional</a:t>
            </a:r>
            <a:r>
              <a:rPr dirty="0" sz="3000" spc="-9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instructions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6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Loads: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LF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(load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float),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LD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(load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double)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5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Arithmetic: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ADDF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(add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float),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ADDD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(add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double)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5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95"/>
              <a:t>Rationale</a:t>
            </a:r>
            <a:r>
              <a:rPr dirty="0" spc="-110"/>
              <a:t> </a:t>
            </a:r>
            <a:r>
              <a:rPr dirty="0"/>
              <a:t>for</a:t>
            </a:r>
            <a:r>
              <a:rPr dirty="0" spc="-120"/>
              <a:t> </a:t>
            </a:r>
            <a:r>
              <a:rPr dirty="0" spc="-430"/>
              <a:t>Separate</a:t>
            </a:r>
            <a:r>
              <a:rPr dirty="0" spc="-110"/>
              <a:t> </a:t>
            </a:r>
            <a:r>
              <a:rPr dirty="0" spc="-330"/>
              <a:t>FP</a:t>
            </a:r>
            <a:r>
              <a:rPr dirty="0" spc="-130"/>
              <a:t> </a:t>
            </a:r>
            <a:r>
              <a:rPr dirty="0" spc="-325"/>
              <a:t>Register</a:t>
            </a:r>
            <a:r>
              <a:rPr dirty="0" spc="-120"/>
              <a:t> </a:t>
            </a:r>
            <a:r>
              <a:rPr dirty="0" spc="-340"/>
              <a:t>File?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55036" y="1574292"/>
            <a:ext cx="441959" cy="1088390"/>
            <a:chOff x="2955036" y="1574292"/>
            <a:chExt cx="441959" cy="1088390"/>
          </a:xfrm>
        </p:grpSpPr>
        <p:sp>
          <p:nvSpPr>
            <p:cNvPr id="4" name="object 4"/>
            <p:cNvSpPr/>
            <p:nvPr/>
          </p:nvSpPr>
          <p:spPr>
            <a:xfrm>
              <a:off x="2959608" y="1578864"/>
              <a:ext cx="433070" cy="1079500"/>
            </a:xfrm>
            <a:custGeom>
              <a:avLst/>
              <a:gdLst/>
              <a:ahLst/>
              <a:cxnLst/>
              <a:rect l="l" t="t" r="r" b="b"/>
              <a:pathLst>
                <a:path w="433070" h="1079500">
                  <a:moveTo>
                    <a:pt x="0" y="0"/>
                  </a:moveTo>
                  <a:lnTo>
                    <a:pt x="0" y="1078991"/>
                  </a:lnTo>
                  <a:lnTo>
                    <a:pt x="432816" y="807720"/>
                  </a:lnTo>
                  <a:lnTo>
                    <a:pt x="432816" y="268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959608" y="1578864"/>
              <a:ext cx="433070" cy="1079500"/>
            </a:xfrm>
            <a:custGeom>
              <a:avLst/>
              <a:gdLst/>
              <a:ahLst/>
              <a:cxnLst/>
              <a:rect l="l" t="t" r="r" b="b"/>
              <a:pathLst>
                <a:path w="433070" h="1079500">
                  <a:moveTo>
                    <a:pt x="0" y="0"/>
                  </a:moveTo>
                  <a:lnTo>
                    <a:pt x="432816" y="268224"/>
                  </a:lnTo>
                  <a:lnTo>
                    <a:pt x="432816" y="807720"/>
                  </a:lnTo>
                  <a:lnTo>
                    <a:pt x="0" y="1078991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974339" y="1992883"/>
            <a:ext cx="40005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25" b="1">
                <a:latin typeface="Times New Roman"/>
                <a:cs typeface="Times New Roman"/>
              </a:rPr>
              <a:t>ALU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9607" y="3483864"/>
            <a:ext cx="1386840" cy="375285"/>
          </a:xfrm>
          <a:prstGeom prst="rect">
            <a:avLst/>
          </a:prstGeom>
          <a:solidFill>
            <a:srgbClr val="FF6600"/>
          </a:solidFill>
          <a:ln w="9142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335"/>
              </a:spcBef>
            </a:pPr>
            <a:r>
              <a:rPr dirty="0" sz="1800">
                <a:latin typeface="Arial MT"/>
                <a:cs typeface="Arial MT"/>
              </a:rPr>
              <a:t>FP </a:t>
            </a:r>
            <a:r>
              <a:rPr dirty="0" sz="1800" spc="-10">
                <a:latin typeface="Arial MT"/>
                <a:cs typeface="Arial MT"/>
              </a:rPr>
              <a:t>Adder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9607" y="4367784"/>
            <a:ext cx="1603375" cy="378460"/>
          </a:xfrm>
          <a:prstGeom prst="rect">
            <a:avLst/>
          </a:prstGeom>
          <a:solidFill>
            <a:srgbClr val="FF6600"/>
          </a:solidFill>
          <a:ln w="9142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360"/>
              </a:spcBef>
            </a:pPr>
            <a:r>
              <a:rPr dirty="0" sz="1800">
                <a:latin typeface="Arial MT"/>
                <a:cs typeface="Arial MT"/>
              </a:rPr>
              <a:t>FP </a:t>
            </a:r>
            <a:r>
              <a:rPr dirty="0" sz="1800" spc="-10">
                <a:latin typeface="Arial MT"/>
                <a:cs typeface="Arial MT"/>
              </a:rPr>
              <a:t>Multiplier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8783" y="1859279"/>
            <a:ext cx="1323340" cy="2685415"/>
          </a:xfrm>
          <a:prstGeom prst="rect">
            <a:avLst/>
          </a:prstGeom>
          <a:solidFill>
            <a:srgbClr val="CC9900"/>
          </a:solidFill>
          <a:ln w="9142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800" spc="-25" b="1">
                <a:latin typeface="Arial"/>
                <a:cs typeface="Arial"/>
              </a:rPr>
              <a:t>64</a:t>
            </a:r>
            <a:endParaRPr sz="18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1800" spc="-10" b="1">
                <a:latin typeface="Arial"/>
                <a:cs typeface="Arial"/>
              </a:rPr>
              <a:t>Registers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83352" y="1859279"/>
            <a:ext cx="1320165" cy="1438910"/>
          </a:xfrm>
          <a:prstGeom prst="rect">
            <a:avLst/>
          </a:prstGeom>
          <a:solidFill>
            <a:srgbClr val="996600"/>
          </a:solidFill>
          <a:ln w="9142">
            <a:solidFill>
              <a:srgbClr val="000000"/>
            </a:solidFill>
          </a:ln>
        </p:spPr>
        <p:txBody>
          <a:bodyPr wrap="square" lIns="0" tIns="255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10"/>
              </a:spcBef>
            </a:pPr>
            <a:endParaRPr sz="1800">
              <a:latin typeface="Times New Roman"/>
              <a:cs typeface="Times New Roman"/>
            </a:endParaRPr>
          </a:p>
          <a:p>
            <a:pPr marL="137160" marR="111125" indent="-18415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32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Integer Registers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83352" y="3648455"/>
            <a:ext cx="1320165" cy="1438910"/>
          </a:xfrm>
          <a:prstGeom prst="rect">
            <a:avLst/>
          </a:prstGeom>
          <a:solidFill>
            <a:srgbClr val="AEBE38"/>
          </a:solidFill>
          <a:ln w="9142">
            <a:solidFill>
              <a:srgbClr val="000000"/>
            </a:solidFill>
          </a:ln>
        </p:spPr>
        <p:txBody>
          <a:bodyPr wrap="square" lIns="0" tIns="1758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8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32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FP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800" spc="-10" b="1">
                <a:latin typeface="Arial"/>
                <a:cs typeface="Arial"/>
              </a:rPr>
              <a:t>Registers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813548" y="1559052"/>
            <a:ext cx="441959" cy="1088390"/>
            <a:chOff x="7813548" y="1559052"/>
            <a:chExt cx="441959" cy="1088390"/>
          </a:xfrm>
        </p:grpSpPr>
        <p:sp>
          <p:nvSpPr>
            <p:cNvPr id="13" name="object 13"/>
            <p:cNvSpPr/>
            <p:nvPr/>
          </p:nvSpPr>
          <p:spPr>
            <a:xfrm>
              <a:off x="7818120" y="1563623"/>
              <a:ext cx="433070" cy="1079500"/>
            </a:xfrm>
            <a:custGeom>
              <a:avLst/>
              <a:gdLst/>
              <a:ahLst/>
              <a:cxnLst/>
              <a:rect l="l" t="t" r="r" b="b"/>
              <a:pathLst>
                <a:path w="433070" h="1079500">
                  <a:moveTo>
                    <a:pt x="0" y="0"/>
                  </a:moveTo>
                  <a:lnTo>
                    <a:pt x="0" y="1078991"/>
                  </a:lnTo>
                  <a:lnTo>
                    <a:pt x="432815" y="810767"/>
                  </a:lnTo>
                  <a:lnTo>
                    <a:pt x="432815" y="27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818120" y="1563623"/>
              <a:ext cx="433070" cy="1079500"/>
            </a:xfrm>
            <a:custGeom>
              <a:avLst/>
              <a:gdLst/>
              <a:ahLst/>
              <a:cxnLst/>
              <a:rect l="l" t="t" r="r" b="b"/>
              <a:pathLst>
                <a:path w="433070" h="1079500">
                  <a:moveTo>
                    <a:pt x="0" y="0"/>
                  </a:moveTo>
                  <a:lnTo>
                    <a:pt x="432815" y="271272"/>
                  </a:lnTo>
                  <a:lnTo>
                    <a:pt x="432815" y="810767"/>
                  </a:lnTo>
                  <a:lnTo>
                    <a:pt x="0" y="1078991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832852" y="1977644"/>
            <a:ext cx="40005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25" b="1">
                <a:latin typeface="Times New Roman"/>
                <a:cs typeface="Times New Roman"/>
              </a:rPr>
              <a:t>ALU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18119" y="3468623"/>
            <a:ext cx="1386840" cy="375285"/>
          </a:xfrm>
          <a:prstGeom prst="rect">
            <a:avLst/>
          </a:prstGeom>
          <a:solidFill>
            <a:srgbClr val="FF6600"/>
          </a:solidFill>
          <a:ln w="9142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360"/>
              </a:spcBef>
            </a:pPr>
            <a:r>
              <a:rPr dirty="0" sz="1800">
                <a:latin typeface="Arial MT"/>
                <a:cs typeface="Arial MT"/>
              </a:rPr>
              <a:t>FP </a:t>
            </a:r>
            <a:r>
              <a:rPr dirty="0" sz="1800" spc="-10">
                <a:latin typeface="Arial MT"/>
                <a:cs typeface="Arial MT"/>
              </a:rPr>
              <a:t>Adder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18119" y="4355591"/>
            <a:ext cx="1603375" cy="375285"/>
          </a:xfrm>
          <a:prstGeom prst="rect">
            <a:avLst/>
          </a:prstGeom>
          <a:solidFill>
            <a:srgbClr val="FF6600"/>
          </a:solidFill>
          <a:ln w="9142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335"/>
              </a:spcBef>
            </a:pPr>
            <a:r>
              <a:rPr dirty="0" sz="1800">
                <a:latin typeface="Arial MT"/>
                <a:cs typeface="Arial MT"/>
              </a:rPr>
              <a:t>FP </a:t>
            </a:r>
            <a:r>
              <a:rPr dirty="0" sz="1800" spc="-10">
                <a:latin typeface="Arial MT"/>
                <a:cs typeface="Arial MT"/>
              </a:rPr>
              <a:t>Multiplier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28615" y="1563624"/>
            <a:ext cx="0" cy="3523615"/>
          </a:xfrm>
          <a:custGeom>
            <a:avLst/>
            <a:gdLst/>
            <a:ahLst/>
            <a:cxnLst/>
            <a:rect l="l" t="t" r="r" b="b"/>
            <a:pathLst>
              <a:path w="0" h="3523615">
                <a:moveTo>
                  <a:pt x="0" y="0"/>
                </a:moveTo>
                <a:lnTo>
                  <a:pt x="0" y="3523488"/>
                </a:lnTo>
              </a:path>
            </a:pathLst>
          </a:custGeom>
          <a:ln w="579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5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5"/>
              <a:t>MIPS</a:t>
            </a:r>
            <a:r>
              <a:rPr dirty="0" spc="-90"/>
              <a:t> </a:t>
            </a:r>
            <a:r>
              <a:rPr dirty="0" spc="-375"/>
              <a:t>1</a:t>
            </a:r>
            <a:r>
              <a:rPr dirty="0" spc="-95"/>
              <a:t> </a:t>
            </a:r>
            <a:r>
              <a:rPr dirty="0" spc="-215"/>
              <a:t>Floating</a:t>
            </a:r>
            <a:r>
              <a:rPr dirty="0" spc="-105"/>
              <a:t> </a:t>
            </a:r>
            <a:r>
              <a:rPr dirty="0" spc="-175"/>
              <a:t>Point</a:t>
            </a:r>
            <a:r>
              <a:rPr dirty="0" spc="-95"/>
              <a:t> </a:t>
            </a:r>
            <a:r>
              <a:rPr dirty="0" spc="-360"/>
              <a:t>Code</a:t>
            </a:r>
            <a:r>
              <a:rPr dirty="0" spc="-90"/>
              <a:t> </a:t>
            </a:r>
            <a:r>
              <a:rPr dirty="0" spc="-290"/>
              <a:t>Example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7563" y="1586280"/>
            <a:ext cx="5366385" cy="97663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600">
                <a:latin typeface="Arial MT"/>
                <a:cs typeface="Arial MT"/>
              </a:rPr>
              <a:t>double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A[1024],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B[1024];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(i=0;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i&lt;1024;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i++)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A[i]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=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A[i]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+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B[i];</a:t>
            </a:r>
            <a:endParaRPr sz="26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56386" y="3025056"/>
          <a:ext cx="4255135" cy="79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/>
                <a:gridCol w="1183640"/>
                <a:gridCol w="1243964"/>
                <a:gridCol w="878205"/>
              </a:tblGrid>
              <a:tr h="398780">
                <a:tc>
                  <a:txBody>
                    <a:bodyPr/>
                    <a:lstStyle/>
                    <a:p>
                      <a:pPr marL="31750">
                        <a:lnSpc>
                          <a:spcPts val="2655"/>
                        </a:lnSpc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Loop: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655"/>
                        </a:lnSpc>
                      </a:pPr>
                      <a:r>
                        <a:rPr dirty="0" sz="2400" spc="-25">
                          <a:latin typeface="Arial MT"/>
                          <a:cs typeface="Arial MT"/>
                        </a:rPr>
                        <a:t>LD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6200">
                        <a:lnSpc>
                          <a:spcPts val="2655"/>
                        </a:lnSpc>
                      </a:pPr>
                      <a:r>
                        <a:rPr dirty="0" sz="2400" spc="-25">
                          <a:latin typeface="Arial MT"/>
                          <a:cs typeface="Arial MT"/>
                        </a:rPr>
                        <a:t>F0,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69">
                        <a:lnSpc>
                          <a:spcPts val="2655"/>
                        </a:lnSpc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0(R1)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810"/>
                        </a:lnSpc>
                        <a:spcBef>
                          <a:spcPts val="229"/>
                        </a:spcBef>
                      </a:pPr>
                      <a:r>
                        <a:rPr dirty="0" sz="2400" spc="-25">
                          <a:latin typeface="Arial MT"/>
                          <a:cs typeface="Arial MT"/>
                        </a:rPr>
                        <a:t>LD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29209"/>
                </a:tc>
                <a:tc>
                  <a:txBody>
                    <a:bodyPr/>
                    <a:lstStyle/>
                    <a:p>
                      <a:pPr algn="r" marR="76200">
                        <a:lnSpc>
                          <a:spcPts val="2810"/>
                        </a:lnSpc>
                        <a:spcBef>
                          <a:spcPts val="229"/>
                        </a:spcBef>
                      </a:pPr>
                      <a:r>
                        <a:rPr dirty="0" sz="2400" spc="-25">
                          <a:latin typeface="Arial MT"/>
                          <a:cs typeface="Arial MT"/>
                        </a:rPr>
                        <a:t>F2,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29209"/>
                </a:tc>
                <a:tc>
                  <a:txBody>
                    <a:bodyPr/>
                    <a:lstStyle/>
                    <a:p>
                      <a:pPr algn="ctr" marL="52069">
                        <a:lnSpc>
                          <a:spcPts val="2810"/>
                        </a:lnSpc>
                        <a:spcBef>
                          <a:spcPts val="229"/>
                        </a:spcBef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0(R2)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29209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953260" y="3846067"/>
            <a:ext cx="925830" cy="26377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36195">
              <a:lnSpc>
                <a:spcPct val="147100"/>
              </a:lnSpc>
              <a:spcBef>
                <a:spcPts val="110"/>
              </a:spcBef>
            </a:pPr>
            <a:r>
              <a:rPr dirty="0" sz="2400" spc="-20">
                <a:latin typeface="Arial MT"/>
                <a:cs typeface="Arial MT"/>
              </a:rPr>
              <a:t>ADDD </a:t>
            </a:r>
            <a:r>
              <a:rPr dirty="0" sz="2400" spc="-25">
                <a:latin typeface="Arial MT"/>
                <a:cs typeface="Arial MT"/>
              </a:rPr>
              <a:t>SD </a:t>
            </a:r>
            <a:r>
              <a:rPr dirty="0" sz="2400" spc="-20">
                <a:latin typeface="Arial MT"/>
                <a:cs typeface="Arial MT"/>
              </a:rPr>
              <a:t>ADDI</a:t>
            </a:r>
            <a:endParaRPr sz="2400">
              <a:latin typeface="Arial MT"/>
              <a:cs typeface="Arial MT"/>
            </a:endParaRPr>
          </a:p>
          <a:p>
            <a:pPr marL="12700" marR="177165">
              <a:lnSpc>
                <a:spcPct val="125000"/>
              </a:lnSpc>
              <a:spcBef>
                <a:spcPts val="650"/>
              </a:spcBef>
            </a:pPr>
            <a:r>
              <a:rPr dirty="0" sz="2400" spc="-20">
                <a:latin typeface="Arial MT"/>
                <a:cs typeface="Arial MT"/>
              </a:rPr>
              <a:t>ADDI </a:t>
            </a:r>
            <a:r>
              <a:rPr dirty="0" sz="2400" spc="-25">
                <a:latin typeface="Arial MT"/>
                <a:cs typeface="Arial MT"/>
              </a:rPr>
              <a:t>BNE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2059" y="3846067"/>
            <a:ext cx="2074545" cy="26377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443230" indent="36195">
              <a:lnSpc>
                <a:spcPct val="147100"/>
              </a:lnSpc>
              <a:spcBef>
                <a:spcPts val="110"/>
              </a:spcBef>
            </a:pPr>
            <a:r>
              <a:rPr dirty="0" sz="2400">
                <a:latin typeface="Arial MT"/>
                <a:cs typeface="Arial MT"/>
              </a:rPr>
              <a:t>F4,</a:t>
            </a:r>
            <a:r>
              <a:rPr dirty="0" sz="2400" spc="-20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F0,</a:t>
            </a:r>
            <a:r>
              <a:rPr dirty="0" sz="2400" spc="-20">
                <a:latin typeface="Arial MT"/>
                <a:cs typeface="Arial MT"/>
              </a:rPr>
              <a:t>  </a:t>
            </a:r>
            <a:r>
              <a:rPr dirty="0" sz="2400" spc="-25">
                <a:latin typeface="Arial MT"/>
                <a:cs typeface="Arial MT"/>
              </a:rPr>
              <a:t>F2 </a:t>
            </a:r>
            <a:r>
              <a:rPr dirty="0" sz="2400">
                <a:latin typeface="Arial MT"/>
                <a:cs typeface="Arial MT"/>
              </a:rPr>
              <a:t>0(R1),</a:t>
            </a:r>
            <a:r>
              <a:rPr dirty="0" sz="2400" spc="59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F4 </a:t>
            </a:r>
            <a:r>
              <a:rPr dirty="0" sz="2400">
                <a:latin typeface="Arial MT"/>
                <a:cs typeface="Arial MT"/>
              </a:rPr>
              <a:t>R1,</a:t>
            </a:r>
            <a:r>
              <a:rPr dirty="0" sz="2400" spc="-20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R1,</a:t>
            </a:r>
            <a:r>
              <a:rPr dirty="0" sz="2400" spc="-30">
                <a:latin typeface="Arial MT"/>
                <a:cs typeface="Arial MT"/>
              </a:rPr>
              <a:t>  </a:t>
            </a:r>
            <a:r>
              <a:rPr dirty="0" sz="2400" spc="-50">
                <a:latin typeface="Arial MT"/>
                <a:cs typeface="Arial MT"/>
              </a:rPr>
              <a:t>8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2400">
                <a:latin typeface="Arial MT"/>
                <a:cs typeface="Arial MT"/>
              </a:rPr>
              <a:t>R2,</a:t>
            </a:r>
            <a:r>
              <a:rPr dirty="0" sz="2400" spc="-20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R2,</a:t>
            </a:r>
            <a:r>
              <a:rPr dirty="0" sz="2400" spc="-30">
                <a:latin typeface="Arial MT"/>
                <a:cs typeface="Arial MT"/>
              </a:rPr>
              <a:t>  </a:t>
            </a:r>
            <a:r>
              <a:rPr dirty="0" sz="2400" spc="-50">
                <a:latin typeface="Arial MT"/>
                <a:cs typeface="Arial MT"/>
              </a:rPr>
              <a:t>8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1383030" algn="l"/>
              </a:tabLst>
            </a:pPr>
            <a:r>
              <a:rPr dirty="0" sz="2400">
                <a:latin typeface="Arial MT"/>
                <a:cs typeface="Arial MT"/>
              </a:rPr>
              <a:t>R1,</a:t>
            </a:r>
            <a:r>
              <a:rPr dirty="0" sz="2400" spc="-20">
                <a:latin typeface="Arial MT"/>
                <a:cs typeface="Arial MT"/>
              </a:rPr>
              <a:t>  </a:t>
            </a:r>
            <a:r>
              <a:rPr dirty="0" sz="2400" spc="-25">
                <a:latin typeface="Arial MT"/>
                <a:cs typeface="Arial MT"/>
              </a:rPr>
              <a:t>R3,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20">
                <a:latin typeface="Arial MT"/>
                <a:cs typeface="Arial MT"/>
              </a:rPr>
              <a:t>Loop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5"/>
              <a:t>Basic</a:t>
            </a:r>
            <a:r>
              <a:rPr dirty="0" spc="-80"/>
              <a:t> </a:t>
            </a:r>
            <a:r>
              <a:rPr dirty="0" spc="-250"/>
              <a:t>Computer</a:t>
            </a:r>
            <a:r>
              <a:rPr dirty="0" spc="-90"/>
              <a:t> </a:t>
            </a:r>
            <a:r>
              <a:rPr dirty="0" spc="-195"/>
              <a:t>Organization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752600" y="2209800"/>
            <a:ext cx="2971800" cy="1905000"/>
          </a:xfrm>
          <a:custGeom>
            <a:avLst/>
            <a:gdLst/>
            <a:ahLst/>
            <a:cxnLst/>
            <a:rect l="l" t="t" r="r" b="b"/>
            <a:pathLst>
              <a:path w="2971800" h="1905000">
                <a:moveTo>
                  <a:pt x="0" y="0"/>
                </a:moveTo>
                <a:lnTo>
                  <a:pt x="0" y="1905000"/>
                </a:lnTo>
                <a:lnTo>
                  <a:pt x="2971800" y="1905000"/>
                </a:lnTo>
                <a:lnTo>
                  <a:pt x="2971800" y="0"/>
                </a:lnTo>
                <a:lnTo>
                  <a:pt x="0" y="0"/>
                </a:lnTo>
                <a:close/>
              </a:path>
            </a:pathLst>
          </a:custGeom>
          <a:ln w="57910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33800" y="3581400"/>
            <a:ext cx="914400" cy="457200"/>
          </a:xfrm>
          <a:prstGeom prst="rect">
            <a:avLst/>
          </a:prstGeom>
          <a:ln w="9142">
            <a:solidFill>
              <a:srgbClr val="CC3300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525"/>
              </a:spcBef>
            </a:pPr>
            <a:r>
              <a:rPr dirty="0" sz="1800" spc="-10" b="1">
                <a:solidFill>
                  <a:srgbClr val="5E5E5E"/>
                </a:solidFill>
                <a:latin typeface="Arial"/>
                <a:cs typeface="Arial"/>
              </a:rPr>
              <a:t>Cache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34029" y="4100829"/>
            <a:ext cx="2999740" cy="485140"/>
            <a:chOff x="3034029" y="4100829"/>
            <a:chExt cx="2999740" cy="485140"/>
          </a:xfrm>
        </p:grpSpPr>
        <p:sp>
          <p:nvSpPr>
            <p:cNvPr id="6" name="object 6"/>
            <p:cNvSpPr/>
            <p:nvPr/>
          </p:nvSpPr>
          <p:spPr>
            <a:xfrm>
              <a:off x="3047999" y="4114799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0" y="91439"/>
                  </a:lnTo>
                  <a:lnTo>
                    <a:pt x="57912" y="91439"/>
                  </a:lnTo>
                  <a:lnTo>
                    <a:pt x="57912" y="365760"/>
                  </a:lnTo>
                  <a:lnTo>
                    <a:pt x="0" y="365760"/>
                  </a:lnTo>
                  <a:lnTo>
                    <a:pt x="112775" y="457200"/>
                  </a:lnTo>
                  <a:lnTo>
                    <a:pt x="228600" y="365760"/>
                  </a:lnTo>
                  <a:lnTo>
                    <a:pt x="170687" y="365760"/>
                  </a:lnTo>
                  <a:lnTo>
                    <a:pt x="170687" y="91439"/>
                  </a:lnTo>
                  <a:lnTo>
                    <a:pt x="228600" y="91439"/>
                  </a:lnTo>
                  <a:lnTo>
                    <a:pt x="112775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47999" y="4114799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228600" y="91439"/>
                  </a:lnTo>
                  <a:lnTo>
                    <a:pt x="170687" y="91439"/>
                  </a:lnTo>
                  <a:lnTo>
                    <a:pt x="170687" y="365760"/>
                  </a:lnTo>
                  <a:lnTo>
                    <a:pt x="228600" y="365760"/>
                  </a:lnTo>
                  <a:lnTo>
                    <a:pt x="112775" y="457200"/>
                  </a:lnTo>
                  <a:lnTo>
                    <a:pt x="0" y="365760"/>
                  </a:lnTo>
                  <a:lnTo>
                    <a:pt x="57912" y="365760"/>
                  </a:lnTo>
                  <a:lnTo>
                    <a:pt x="57912" y="91439"/>
                  </a:lnTo>
                  <a:lnTo>
                    <a:pt x="0" y="91439"/>
                  </a:lnTo>
                  <a:lnTo>
                    <a:pt x="112775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791200" y="4114799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0" y="91439"/>
                  </a:lnTo>
                  <a:lnTo>
                    <a:pt x="57912" y="91439"/>
                  </a:lnTo>
                  <a:lnTo>
                    <a:pt x="57912" y="365760"/>
                  </a:lnTo>
                  <a:lnTo>
                    <a:pt x="0" y="365760"/>
                  </a:lnTo>
                  <a:lnTo>
                    <a:pt x="112775" y="457200"/>
                  </a:lnTo>
                  <a:lnTo>
                    <a:pt x="228600" y="365760"/>
                  </a:lnTo>
                  <a:lnTo>
                    <a:pt x="170687" y="365760"/>
                  </a:lnTo>
                  <a:lnTo>
                    <a:pt x="170687" y="91439"/>
                  </a:lnTo>
                  <a:lnTo>
                    <a:pt x="228600" y="91439"/>
                  </a:lnTo>
                  <a:lnTo>
                    <a:pt x="112775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791200" y="4114799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228600" y="91439"/>
                  </a:lnTo>
                  <a:lnTo>
                    <a:pt x="170687" y="91439"/>
                  </a:lnTo>
                  <a:lnTo>
                    <a:pt x="170687" y="365760"/>
                  </a:lnTo>
                  <a:lnTo>
                    <a:pt x="228600" y="365760"/>
                  </a:lnTo>
                  <a:lnTo>
                    <a:pt x="112775" y="457200"/>
                  </a:lnTo>
                  <a:lnTo>
                    <a:pt x="0" y="365760"/>
                  </a:lnTo>
                  <a:lnTo>
                    <a:pt x="57912" y="365760"/>
                  </a:lnTo>
                  <a:lnTo>
                    <a:pt x="57912" y="91439"/>
                  </a:lnTo>
                  <a:lnTo>
                    <a:pt x="0" y="91439"/>
                  </a:lnTo>
                  <a:lnTo>
                    <a:pt x="112775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105400" y="2971800"/>
            <a:ext cx="1572895" cy="1115695"/>
          </a:xfrm>
          <a:prstGeom prst="rect">
            <a:avLst/>
          </a:prstGeom>
          <a:ln w="57910">
            <a:solidFill>
              <a:srgbClr val="CC3300"/>
            </a:solidFill>
          </a:ln>
        </p:spPr>
        <p:txBody>
          <a:bodyPr wrap="square" lIns="0" tIns="161290" rIns="0" bIns="0" rtlCol="0" vert="horz">
            <a:spAutoFit/>
          </a:bodyPr>
          <a:lstStyle/>
          <a:p>
            <a:pPr marL="200660" marR="191135" indent="237490">
              <a:lnSpc>
                <a:spcPct val="100000"/>
              </a:lnSpc>
              <a:spcBef>
                <a:spcPts val="1270"/>
              </a:spcBef>
            </a:pPr>
            <a:r>
              <a:rPr dirty="0" sz="2400" spc="-20" b="1">
                <a:solidFill>
                  <a:srgbClr val="5E5E5E"/>
                </a:solidFill>
                <a:latin typeface="Arial"/>
                <a:cs typeface="Arial"/>
              </a:rPr>
              <a:t>Main </a:t>
            </a:r>
            <a:r>
              <a:rPr dirty="0" sz="2400" spc="-10" b="1">
                <a:solidFill>
                  <a:srgbClr val="5E5E5E"/>
                </a:solidFill>
                <a:latin typeface="Arial"/>
                <a:cs typeface="Arial"/>
              </a:rPr>
              <a:t>Memory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6983" y="5419344"/>
            <a:ext cx="1045844" cy="905510"/>
          </a:xfrm>
          <a:prstGeom prst="rect">
            <a:avLst/>
          </a:prstGeom>
          <a:ln w="57910">
            <a:solidFill>
              <a:srgbClr val="CC3300"/>
            </a:solidFill>
          </a:ln>
        </p:spPr>
        <p:txBody>
          <a:bodyPr wrap="square" lIns="0" tIns="237490" rIns="0" bIns="0" rtlCol="0" vert="horz">
            <a:spAutoFit/>
          </a:bodyPr>
          <a:lstStyle/>
          <a:p>
            <a:pPr marL="320040">
              <a:lnSpc>
                <a:spcPct val="100000"/>
              </a:lnSpc>
              <a:spcBef>
                <a:spcPts val="1870"/>
              </a:spcBef>
            </a:pPr>
            <a:r>
              <a:rPr dirty="0" sz="2400" spc="-25" b="1">
                <a:solidFill>
                  <a:srgbClr val="5E5E5E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6630" y="4497070"/>
            <a:ext cx="6047740" cy="518795"/>
            <a:chOff x="976630" y="4497070"/>
            <a:chExt cx="6047740" cy="518795"/>
          </a:xfrm>
        </p:grpSpPr>
        <p:sp>
          <p:nvSpPr>
            <p:cNvPr id="13" name="object 13"/>
            <p:cNvSpPr/>
            <p:nvPr/>
          </p:nvSpPr>
          <p:spPr>
            <a:xfrm>
              <a:off x="990600" y="4511040"/>
              <a:ext cx="6019800" cy="490855"/>
            </a:xfrm>
            <a:custGeom>
              <a:avLst/>
              <a:gdLst/>
              <a:ahLst/>
              <a:cxnLst/>
              <a:rect l="l" t="t" r="r" b="b"/>
              <a:pathLst>
                <a:path w="6019800" h="490854">
                  <a:moveTo>
                    <a:pt x="5678424" y="0"/>
                  </a:moveTo>
                  <a:lnTo>
                    <a:pt x="5678424" y="91440"/>
                  </a:lnTo>
                  <a:lnTo>
                    <a:pt x="341375" y="91440"/>
                  </a:lnTo>
                  <a:lnTo>
                    <a:pt x="341375" y="0"/>
                  </a:lnTo>
                  <a:lnTo>
                    <a:pt x="0" y="243840"/>
                  </a:lnTo>
                  <a:lnTo>
                    <a:pt x="341375" y="490728"/>
                  </a:lnTo>
                  <a:lnTo>
                    <a:pt x="341375" y="399288"/>
                  </a:lnTo>
                  <a:lnTo>
                    <a:pt x="5678424" y="399288"/>
                  </a:lnTo>
                  <a:lnTo>
                    <a:pt x="5678424" y="490728"/>
                  </a:lnTo>
                  <a:lnTo>
                    <a:pt x="6019800" y="243840"/>
                  </a:lnTo>
                  <a:lnTo>
                    <a:pt x="5678424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90600" y="4511040"/>
              <a:ext cx="6019800" cy="490855"/>
            </a:xfrm>
            <a:custGeom>
              <a:avLst/>
              <a:gdLst/>
              <a:ahLst/>
              <a:cxnLst/>
              <a:rect l="l" t="t" r="r" b="b"/>
              <a:pathLst>
                <a:path w="6019800" h="490854">
                  <a:moveTo>
                    <a:pt x="0" y="243840"/>
                  </a:moveTo>
                  <a:lnTo>
                    <a:pt x="341375" y="490728"/>
                  </a:lnTo>
                  <a:lnTo>
                    <a:pt x="341375" y="399288"/>
                  </a:lnTo>
                  <a:lnTo>
                    <a:pt x="5678424" y="399288"/>
                  </a:lnTo>
                  <a:lnTo>
                    <a:pt x="5678424" y="490728"/>
                  </a:lnTo>
                  <a:lnTo>
                    <a:pt x="6019800" y="243840"/>
                  </a:lnTo>
                  <a:lnTo>
                    <a:pt x="5678424" y="0"/>
                  </a:lnTo>
                  <a:lnTo>
                    <a:pt x="5678424" y="91440"/>
                  </a:lnTo>
                  <a:lnTo>
                    <a:pt x="341375" y="91440"/>
                  </a:lnTo>
                  <a:lnTo>
                    <a:pt x="341375" y="0"/>
                  </a:lnTo>
                  <a:lnTo>
                    <a:pt x="0" y="24384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742435" y="4550155"/>
            <a:ext cx="5187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5E5E5E"/>
                </a:solidFill>
                <a:latin typeface="Times New Roman"/>
                <a:cs typeface="Times New Roman"/>
              </a:rPr>
              <a:t>Bus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76671" y="5419344"/>
            <a:ext cx="1045844" cy="905510"/>
          </a:xfrm>
          <a:prstGeom prst="rect">
            <a:avLst/>
          </a:prstGeom>
          <a:ln w="57910">
            <a:solidFill>
              <a:srgbClr val="CC3300"/>
            </a:solidFill>
          </a:ln>
        </p:spPr>
        <p:txBody>
          <a:bodyPr wrap="square" lIns="0" tIns="237490" rIns="0" bIns="0" rtlCol="0" vert="horz">
            <a:spAutoFit/>
          </a:bodyPr>
          <a:lstStyle/>
          <a:p>
            <a:pPr marL="319405">
              <a:lnSpc>
                <a:spcPct val="100000"/>
              </a:lnSpc>
              <a:spcBef>
                <a:spcPts val="1870"/>
              </a:spcBef>
            </a:pPr>
            <a:r>
              <a:rPr dirty="0" sz="2400" spc="-25" b="1">
                <a:solidFill>
                  <a:srgbClr val="5E5E5E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8832" y="5419344"/>
            <a:ext cx="1045844" cy="905510"/>
          </a:xfrm>
          <a:prstGeom prst="rect">
            <a:avLst/>
          </a:prstGeom>
          <a:ln w="57910">
            <a:solidFill>
              <a:srgbClr val="CC3300"/>
            </a:solidFill>
          </a:ln>
        </p:spPr>
        <p:txBody>
          <a:bodyPr wrap="square" lIns="0" tIns="237490" rIns="0" bIns="0" rtlCol="0" vert="horz">
            <a:spAutoFit/>
          </a:bodyPr>
          <a:lstStyle/>
          <a:p>
            <a:pPr marL="319405">
              <a:lnSpc>
                <a:spcPct val="100000"/>
              </a:lnSpc>
              <a:spcBef>
                <a:spcPts val="1870"/>
              </a:spcBef>
            </a:pPr>
            <a:r>
              <a:rPr dirty="0" sz="2400" spc="-25" b="1">
                <a:solidFill>
                  <a:srgbClr val="5E5E5E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220468" y="4917948"/>
            <a:ext cx="3822700" cy="515620"/>
            <a:chOff x="2220468" y="4917948"/>
            <a:chExt cx="3822700" cy="515620"/>
          </a:xfrm>
        </p:grpSpPr>
        <p:sp>
          <p:nvSpPr>
            <p:cNvPr id="19" name="object 19"/>
            <p:cNvSpPr/>
            <p:nvPr/>
          </p:nvSpPr>
          <p:spPr>
            <a:xfrm>
              <a:off x="2234184" y="4931664"/>
              <a:ext cx="195580" cy="487680"/>
            </a:xfrm>
            <a:custGeom>
              <a:avLst/>
              <a:gdLst/>
              <a:ahLst/>
              <a:cxnLst/>
              <a:rect l="l" t="t" r="r" b="b"/>
              <a:pathLst>
                <a:path w="195580" h="487679">
                  <a:moveTo>
                    <a:pt x="97536" y="0"/>
                  </a:moveTo>
                  <a:lnTo>
                    <a:pt x="0" y="97536"/>
                  </a:lnTo>
                  <a:lnTo>
                    <a:pt x="48768" y="97536"/>
                  </a:lnTo>
                  <a:lnTo>
                    <a:pt x="48768" y="390144"/>
                  </a:lnTo>
                  <a:lnTo>
                    <a:pt x="0" y="390144"/>
                  </a:lnTo>
                  <a:lnTo>
                    <a:pt x="97536" y="487680"/>
                  </a:lnTo>
                  <a:lnTo>
                    <a:pt x="195072" y="390144"/>
                  </a:lnTo>
                  <a:lnTo>
                    <a:pt x="146304" y="390144"/>
                  </a:lnTo>
                  <a:lnTo>
                    <a:pt x="146304" y="97536"/>
                  </a:lnTo>
                  <a:lnTo>
                    <a:pt x="195072" y="97536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234184" y="4931664"/>
              <a:ext cx="195580" cy="487680"/>
            </a:xfrm>
            <a:custGeom>
              <a:avLst/>
              <a:gdLst/>
              <a:ahLst/>
              <a:cxnLst/>
              <a:rect l="l" t="t" r="r" b="b"/>
              <a:pathLst>
                <a:path w="195580" h="487679">
                  <a:moveTo>
                    <a:pt x="97536" y="0"/>
                  </a:moveTo>
                  <a:lnTo>
                    <a:pt x="195072" y="97536"/>
                  </a:lnTo>
                  <a:lnTo>
                    <a:pt x="146304" y="97536"/>
                  </a:lnTo>
                  <a:lnTo>
                    <a:pt x="146304" y="390144"/>
                  </a:lnTo>
                  <a:lnTo>
                    <a:pt x="195072" y="390144"/>
                  </a:lnTo>
                  <a:lnTo>
                    <a:pt x="97536" y="487680"/>
                  </a:lnTo>
                  <a:lnTo>
                    <a:pt x="0" y="390144"/>
                  </a:lnTo>
                  <a:lnTo>
                    <a:pt x="48768" y="390144"/>
                  </a:lnTo>
                  <a:lnTo>
                    <a:pt x="48768" y="97536"/>
                  </a:lnTo>
                  <a:lnTo>
                    <a:pt x="0" y="97536"/>
                  </a:lnTo>
                  <a:lnTo>
                    <a:pt x="97536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833872" y="4931664"/>
              <a:ext cx="195580" cy="487680"/>
            </a:xfrm>
            <a:custGeom>
              <a:avLst/>
              <a:gdLst/>
              <a:ahLst/>
              <a:cxnLst/>
              <a:rect l="l" t="t" r="r" b="b"/>
              <a:pathLst>
                <a:path w="195579" h="487679">
                  <a:moveTo>
                    <a:pt x="97536" y="0"/>
                  </a:moveTo>
                  <a:lnTo>
                    <a:pt x="0" y="97536"/>
                  </a:lnTo>
                  <a:lnTo>
                    <a:pt x="48767" y="97536"/>
                  </a:lnTo>
                  <a:lnTo>
                    <a:pt x="48767" y="390144"/>
                  </a:lnTo>
                  <a:lnTo>
                    <a:pt x="0" y="390144"/>
                  </a:lnTo>
                  <a:lnTo>
                    <a:pt x="97536" y="487680"/>
                  </a:lnTo>
                  <a:lnTo>
                    <a:pt x="195072" y="390144"/>
                  </a:lnTo>
                  <a:lnTo>
                    <a:pt x="146303" y="390144"/>
                  </a:lnTo>
                  <a:lnTo>
                    <a:pt x="146303" y="97536"/>
                  </a:lnTo>
                  <a:lnTo>
                    <a:pt x="195072" y="97536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833872" y="4931664"/>
              <a:ext cx="195580" cy="487680"/>
            </a:xfrm>
            <a:custGeom>
              <a:avLst/>
              <a:gdLst/>
              <a:ahLst/>
              <a:cxnLst/>
              <a:rect l="l" t="t" r="r" b="b"/>
              <a:pathLst>
                <a:path w="195579" h="487679">
                  <a:moveTo>
                    <a:pt x="97536" y="0"/>
                  </a:moveTo>
                  <a:lnTo>
                    <a:pt x="195072" y="97536"/>
                  </a:lnTo>
                  <a:lnTo>
                    <a:pt x="146303" y="97536"/>
                  </a:lnTo>
                  <a:lnTo>
                    <a:pt x="146303" y="390144"/>
                  </a:lnTo>
                  <a:lnTo>
                    <a:pt x="195072" y="390144"/>
                  </a:lnTo>
                  <a:lnTo>
                    <a:pt x="97536" y="487680"/>
                  </a:lnTo>
                  <a:lnTo>
                    <a:pt x="0" y="390144"/>
                  </a:lnTo>
                  <a:lnTo>
                    <a:pt x="48767" y="390144"/>
                  </a:lnTo>
                  <a:lnTo>
                    <a:pt x="48767" y="97536"/>
                  </a:lnTo>
                  <a:lnTo>
                    <a:pt x="0" y="97536"/>
                  </a:lnTo>
                  <a:lnTo>
                    <a:pt x="97536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066032" y="4931664"/>
              <a:ext cx="195580" cy="487680"/>
            </a:xfrm>
            <a:custGeom>
              <a:avLst/>
              <a:gdLst/>
              <a:ahLst/>
              <a:cxnLst/>
              <a:rect l="l" t="t" r="r" b="b"/>
              <a:pathLst>
                <a:path w="195579" h="487679">
                  <a:moveTo>
                    <a:pt x="97535" y="0"/>
                  </a:moveTo>
                  <a:lnTo>
                    <a:pt x="0" y="97536"/>
                  </a:lnTo>
                  <a:lnTo>
                    <a:pt x="48767" y="97536"/>
                  </a:lnTo>
                  <a:lnTo>
                    <a:pt x="48767" y="390144"/>
                  </a:lnTo>
                  <a:lnTo>
                    <a:pt x="0" y="390144"/>
                  </a:lnTo>
                  <a:lnTo>
                    <a:pt x="97535" y="487680"/>
                  </a:lnTo>
                  <a:lnTo>
                    <a:pt x="195071" y="390144"/>
                  </a:lnTo>
                  <a:lnTo>
                    <a:pt x="146303" y="390144"/>
                  </a:lnTo>
                  <a:lnTo>
                    <a:pt x="146303" y="97536"/>
                  </a:lnTo>
                  <a:lnTo>
                    <a:pt x="195071" y="97536"/>
                  </a:lnTo>
                  <a:lnTo>
                    <a:pt x="97535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066032" y="4931664"/>
              <a:ext cx="195580" cy="487680"/>
            </a:xfrm>
            <a:custGeom>
              <a:avLst/>
              <a:gdLst/>
              <a:ahLst/>
              <a:cxnLst/>
              <a:rect l="l" t="t" r="r" b="b"/>
              <a:pathLst>
                <a:path w="195579" h="487679">
                  <a:moveTo>
                    <a:pt x="97535" y="0"/>
                  </a:moveTo>
                  <a:lnTo>
                    <a:pt x="195071" y="97536"/>
                  </a:lnTo>
                  <a:lnTo>
                    <a:pt x="146303" y="97536"/>
                  </a:lnTo>
                  <a:lnTo>
                    <a:pt x="146303" y="390144"/>
                  </a:lnTo>
                  <a:lnTo>
                    <a:pt x="195071" y="390144"/>
                  </a:lnTo>
                  <a:lnTo>
                    <a:pt x="97535" y="487680"/>
                  </a:lnTo>
                  <a:lnTo>
                    <a:pt x="0" y="390144"/>
                  </a:lnTo>
                  <a:lnTo>
                    <a:pt x="48767" y="390144"/>
                  </a:lnTo>
                  <a:lnTo>
                    <a:pt x="48767" y="97536"/>
                  </a:lnTo>
                  <a:lnTo>
                    <a:pt x="0" y="97536"/>
                  </a:lnTo>
                  <a:lnTo>
                    <a:pt x="97535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828800" y="3505200"/>
            <a:ext cx="914400" cy="533400"/>
          </a:xfrm>
          <a:prstGeom prst="rect">
            <a:avLst/>
          </a:prstGeom>
          <a:ln w="9142">
            <a:solidFill>
              <a:srgbClr val="CC3300"/>
            </a:solidFill>
          </a:ln>
        </p:spPr>
        <p:txBody>
          <a:bodyPr wrap="square" lIns="0" tIns="1035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815"/>
              </a:spcBef>
            </a:pPr>
            <a:r>
              <a:rPr dirty="0" sz="1800" spc="-25" b="1">
                <a:solidFill>
                  <a:srgbClr val="5E5E5E"/>
                </a:solidFill>
                <a:latin typeface="Arial"/>
                <a:cs typeface="Arial"/>
              </a:rPr>
              <a:t>MMU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10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828800" y="2286000"/>
            <a:ext cx="914400" cy="533400"/>
          </a:xfrm>
          <a:prstGeom prst="rect">
            <a:avLst/>
          </a:prstGeom>
          <a:ln w="9142">
            <a:solidFill>
              <a:srgbClr val="CC3300"/>
            </a:solidFill>
          </a:ln>
        </p:spPr>
        <p:txBody>
          <a:bodyPr wrap="square" lIns="0" tIns="103505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815"/>
              </a:spcBef>
            </a:pPr>
            <a:r>
              <a:rPr dirty="0" sz="1800" spc="-25" b="1">
                <a:solidFill>
                  <a:srgbClr val="5E5E5E"/>
                </a:solidFill>
                <a:latin typeface="Arial"/>
                <a:cs typeface="Arial"/>
              </a:rPr>
              <a:t>ALU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04615" y="2286000"/>
            <a:ext cx="1219200" cy="533400"/>
          </a:xfrm>
          <a:prstGeom prst="rect">
            <a:avLst/>
          </a:prstGeom>
          <a:ln w="9142">
            <a:solidFill>
              <a:srgbClr val="CC3300"/>
            </a:solidFill>
          </a:ln>
        </p:spPr>
        <p:txBody>
          <a:bodyPr wrap="square" lIns="0" tIns="10350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815"/>
              </a:spcBef>
            </a:pPr>
            <a:r>
              <a:rPr dirty="0" sz="1800" spc="-10" b="1">
                <a:solidFill>
                  <a:srgbClr val="5E5E5E"/>
                </a:solidFill>
                <a:latin typeface="Arial"/>
                <a:cs typeface="Arial"/>
              </a:rPr>
              <a:t>Registers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93211" y="1813052"/>
            <a:ext cx="6699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5E5E5E"/>
                </a:solidFill>
                <a:latin typeface="Arial"/>
                <a:cs typeface="Arial"/>
              </a:rPr>
              <a:t>CPU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43200" y="2895600"/>
            <a:ext cx="914400" cy="457200"/>
          </a:xfrm>
          <a:prstGeom prst="rect">
            <a:avLst/>
          </a:prstGeom>
          <a:ln w="9142">
            <a:solidFill>
              <a:srgbClr val="CC3300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525"/>
              </a:spcBef>
            </a:pPr>
            <a:r>
              <a:rPr dirty="0" sz="1800" spc="-10" b="1">
                <a:solidFill>
                  <a:srgbClr val="5E5E5E"/>
                </a:solidFill>
                <a:latin typeface="Arial"/>
                <a:cs typeface="Arial"/>
              </a:rPr>
              <a:t>Control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11556"/>
            <a:ext cx="643255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30"/>
              <a:t>Steps</a:t>
            </a:r>
            <a:r>
              <a:rPr dirty="0" spc="-114"/>
              <a:t> </a:t>
            </a:r>
            <a:r>
              <a:rPr dirty="0" spc="-30"/>
              <a:t>in</a:t>
            </a:r>
            <a:r>
              <a:rPr dirty="0" spc="-190"/>
              <a:t> </a:t>
            </a:r>
            <a:r>
              <a:rPr dirty="0" spc="-130"/>
              <a:t>Instruction</a:t>
            </a:r>
            <a:r>
              <a:rPr dirty="0" spc="-160"/>
              <a:t> </a:t>
            </a:r>
            <a:r>
              <a:rPr dirty="0" spc="-355"/>
              <a:t>Processing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260534"/>
            <a:ext cx="7984490" cy="44811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695"/>
              </a:spcBef>
              <a:buClr>
                <a:srgbClr val="CC9900"/>
              </a:buClr>
              <a:buSzPct val="65384"/>
              <a:buAutoNum type="arabicPeriod"/>
              <a:tabLst>
                <a:tab pos="585470" algn="l"/>
              </a:tabLst>
            </a:pP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Fetch</a:t>
            </a:r>
            <a:r>
              <a:rPr dirty="0" sz="2600" spc="-4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instruction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Memory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CPU</a:t>
            </a:r>
            <a:endParaRPr sz="2600">
              <a:latin typeface="Arial MT"/>
              <a:cs typeface="Arial MT"/>
            </a:endParaRPr>
          </a:p>
          <a:p>
            <a:pPr lvl="1" marL="853440" marR="5080" indent="-497205">
              <a:lnSpc>
                <a:spcPct val="100000"/>
              </a:lnSpc>
              <a:spcBef>
                <a:spcPts val="56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Get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instruction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whose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address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PC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memory </a:t>
            </a:r>
            <a:r>
              <a:rPr dirty="0" sz="2400">
                <a:latin typeface="Arial MT"/>
                <a:cs typeface="Arial MT"/>
              </a:rPr>
              <a:t>into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IR</a:t>
            </a:r>
            <a:endParaRPr sz="2400">
              <a:latin typeface="Arial MT"/>
              <a:cs typeface="Arial MT"/>
            </a:endParaRPr>
          </a:p>
          <a:p>
            <a:pPr lvl="1" marL="853440" indent="-496570">
              <a:lnSpc>
                <a:spcPct val="100000"/>
              </a:lnSpc>
              <a:spcBef>
                <a:spcPts val="55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Increment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35">
                <a:latin typeface="Arial MT"/>
                <a:cs typeface="Arial MT"/>
              </a:rPr>
              <a:t>PC</a:t>
            </a:r>
            <a:endParaRPr sz="2400">
              <a:latin typeface="Arial MT"/>
              <a:cs typeface="Arial MT"/>
            </a:endParaRPr>
          </a:p>
          <a:p>
            <a:pPr marL="585470" indent="-572770">
              <a:lnSpc>
                <a:spcPct val="100000"/>
              </a:lnSpc>
              <a:spcBef>
                <a:spcPts val="665"/>
              </a:spcBef>
              <a:buClr>
                <a:srgbClr val="CC9900"/>
              </a:buClr>
              <a:buSzPct val="65384"/>
              <a:buAutoNum type="arabicPeriod"/>
              <a:tabLst>
                <a:tab pos="585470" algn="l"/>
              </a:tabLst>
            </a:pP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Decode</a:t>
            </a:r>
            <a:r>
              <a:rPr dirty="0" sz="2600" spc="-7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instruction</a:t>
            </a:r>
            <a:endParaRPr sz="2600">
              <a:latin typeface="Arial MT"/>
              <a:cs typeface="Arial MT"/>
            </a:endParaRPr>
          </a:p>
          <a:p>
            <a:pPr lvl="1" marL="853440" indent="-496570">
              <a:lnSpc>
                <a:spcPct val="100000"/>
              </a:lnSpc>
              <a:spcBef>
                <a:spcPts val="53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Understand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instruction,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addressing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modes,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etc</a:t>
            </a:r>
            <a:endParaRPr sz="2400">
              <a:latin typeface="Arial MT"/>
              <a:cs typeface="Arial MT"/>
            </a:endParaRPr>
          </a:p>
          <a:p>
            <a:pPr lvl="1" marL="853440" indent="-496570">
              <a:lnSpc>
                <a:spcPct val="100000"/>
              </a:lnSpc>
              <a:spcBef>
                <a:spcPts val="57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Calculate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memory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addresses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fetch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operands</a:t>
            </a:r>
            <a:endParaRPr sz="2400">
              <a:latin typeface="Arial MT"/>
              <a:cs typeface="Arial MT"/>
            </a:endParaRPr>
          </a:p>
          <a:p>
            <a:pPr marL="585470" indent="-572770">
              <a:lnSpc>
                <a:spcPct val="100000"/>
              </a:lnSpc>
              <a:spcBef>
                <a:spcPts val="640"/>
              </a:spcBef>
              <a:buClr>
                <a:srgbClr val="CC9900"/>
              </a:buClr>
              <a:buSzPct val="65384"/>
              <a:buAutoNum type="arabicPeriod"/>
              <a:tabLst>
                <a:tab pos="585470" algn="l"/>
              </a:tabLst>
            </a:pP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Execute</a:t>
            </a:r>
            <a:r>
              <a:rPr dirty="0" sz="2600" spc="-7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required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operation</a:t>
            </a:r>
            <a:endParaRPr sz="2600">
              <a:latin typeface="Arial MT"/>
              <a:cs typeface="Arial MT"/>
            </a:endParaRPr>
          </a:p>
          <a:p>
            <a:pPr lvl="1" marL="853440" indent="-496570">
              <a:lnSpc>
                <a:spcPct val="100000"/>
              </a:lnSpc>
              <a:spcBef>
                <a:spcPts val="56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Do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required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operation</a:t>
            </a:r>
            <a:endParaRPr sz="2400">
              <a:latin typeface="Arial MT"/>
              <a:cs typeface="Arial MT"/>
            </a:endParaRPr>
          </a:p>
          <a:p>
            <a:pPr marL="585470" indent="-572770">
              <a:lnSpc>
                <a:spcPct val="100000"/>
              </a:lnSpc>
              <a:spcBef>
                <a:spcPts val="640"/>
              </a:spcBef>
              <a:buClr>
                <a:srgbClr val="CC9900"/>
              </a:buClr>
              <a:buSzPct val="65384"/>
              <a:buAutoNum type="arabicPeriod"/>
              <a:tabLst>
                <a:tab pos="585470" algn="l"/>
              </a:tabLst>
            </a:pP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Write</a:t>
            </a:r>
            <a:r>
              <a:rPr dirty="0" sz="2600" spc="-4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result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instruction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5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30"/>
              <a:t>Steps</a:t>
            </a:r>
            <a:r>
              <a:rPr dirty="0" spc="-114"/>
              <a:t> </a:t>
            </a:r>
            <a:r>
              <a:rPr dirty="0" spc="-30"/>
              <a:t>in</a:t>
            </a:r>
            <a:r>
              <a:rPr dirty="0" spc="-190"/>
              <a:t> </a:t>
            </a:r>
            <a:r>
              <a:rPr dirty="0" spc="-130"/>
              <a:t>Instruction</a:t>
            </a:r>
            <a:r>
              <a:rPr dirty="0" spc="-160"/>
              <a:t> </a:t>
            </a:r>
            <a:r>
              <a:rPr dirty="0" spc="-170"/>
              <a:t>Execution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561874"/>
            <a:ext cx="7971790" cy="4613275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7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Fetch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from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memory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processor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65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IR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=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Memory[PC];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Increment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PC</a:t>
            </a:r>
            <a:endParaRPr sz="26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68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Decode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and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get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its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operands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65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Decode;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Operands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registers/memory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ALU</a:t>
            </a:r>
            <a:endParaRPr sz="26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70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Execute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operation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6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Trigger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appropriate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functional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hardware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25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load/store,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send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access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request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68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Write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back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result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65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register/memory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291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Timeline</a:t>
            </a:r>
            <a:r>
              <a:rPr dirty="0" spc="-10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345"/>
              <a:t>events</a:t>
            </a:r>
            <a:r>
              <a:rPr dirty="0" spc="-100"/>
              <a:t> </a:t>
            </a:r>
            <a:r>
              <a:rPr dirty="0" spc="-290"/>
              <a:t>(CISC)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15567" y="2400045"/>
            <a:ext cx="7838440" cy="1270000"/>
            <a:chOff x="1115567" y="2400045"/>
            <a:chExt cx="7838440" cy="1270000"/>
          </a:xfrm>
        </p:grpSpPr>
        <p:sp>
          <p:nvSpPr>
            <p:cNvPr id="4" name="object 4"/>
            <p:cNvSpPr/>
            <p:nvPr/>
          </p:nvSpPr>
          <p:spPr>
            <a:xfrm>
              <a:off x="1152143" y="2429255"/>
              <a:ext cx="7772400" cy="0"/>
            </a:xfrm>
            <a:custGeom>
              <a:avLst/>
              <a:gdLst/>
              <a:ahLst/>
              <a:cxnLst/>
              <a:rect l="l" t="t" r="r" b="b"/>
              <a:pathLst>
                <a:path w="7772400" h="0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ln w="579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15568" y="2429255"/>
              <a:ext cx="1789430" cy="1240790"/>
            </a:xfrm>
            <a:custGeom>
              <a:avLst/>
              <a:gdLst/>
              <a:ahLst/>
              <a:cxnLst/>
              <a:rect l="l" t="t" r="r" b="b"/>
              <a:pathLst>
                <a:path w="1789430" h="1240789">
                  <a:moveTo>
                    <a:pt x="76200" y="76200"/>
                  </a:moveTo>
                  <a:lnTo>
                    <a:pt x="68275" y="60960"/>
                  </a:lnTo>
                  <a:lnTo>
                    <a:pt x="36576" y="0"/>
                  </a:lnTo>
                  <a:lnTo>
                    <a:pt x="0" y="76200"/>
                  </a:lnTo>
                  <a:lnTo>
                    <a:pt x="33528" y="76200"/>
                  </a:lnTo>
                  <a:lnTo>
                    <a:pt x="33528" y="557784"/>
                  </a:lnTo>
                  <a:lnTo>
                    <a:pt x="39611" y="557784"/>
                  </a:lnTo>
                  <a:lnTo>
                    <a:pt x="42672" y="554736"/>
                  </a:lnTo>
                  <a:lnTo>
                    <a:pt x="42672" y="76200"/>
                  </a:lnTo>
                  <a:lnTo>
                    <a:pt x="76200" y="76200"/>
                  </a:lnTo>
                  <a:close/>
                </a:path>
                <a:path w="1789430" h="1240789">
                  <a:moveTo>
                    <a:pt x="1789176" y="76200"/>
                  </a:moveTo>
                  <a:lnTo>
                    <a:pt x="1781860" y="60960"/>
                  </a:lnTo>
                  <a:lnTo>
                    <a:pt x="1752600" y="0"/>
                  </a:lnTo>
                  <a:lnTo>
                    <a:pt x="1712976" y="76200"/>
                  </a:lnTo>
                  <a:lnTo>
                    <a:pt x="1746504" y="76200"/>
                  </a:lnTo>
                  <a:lnTo>
                    <a:pt x="1746504" y="1237488"/>
                  </a:lnTo>
                  <a:lnTo>
                    <a:pt x="1749552" y="1240536"/>
                  </a:lnTo>
                  <a:lnTo>
                    <a:pt x="1752600" y="1240536"/>
                  </a:lnTo>
                  <a:lnTo>
                    <a:pt x="1755648" y="1237488"/>
                  </a:lnTo>
                  <a:lnTo>
                    <a:pt x="1755648" y="76200"/>
                  </a:lnTo>
                  <a:lnTo>
                    <a:pt x="1789176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86460" y="3690620"/>
            <a:ext cx="203771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Instruction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IR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32760" y="2429255"/>
            <a:ext cx="76200" cy="2024380"/>
          </a:xfrm>
          <a:custGeom>
            <a:avLst/>
            <a:gdLst/>
            <a:ahLst/>
            <a:cxnLst/>
            <a:rect l="l" t="t" r="r" b="b"/>
            <a:pathLst>
              <a:path w="76200" h="2024379">
                <a:moveTo>
                  <a:pt x="42671" y="60960"/>
                </a:moveTo>
                <a:lnTo>
                  <a:pt x="33527" y="60960"/>
                </a:lnTo>
                <a:lnTo>
                  <a:pt x="33527" y="2023872"/>
                </a:lnTo>
                <a:lnTo>
                  <a:pt x="39623" y="2023872"/>
                </a:lnTo>
                <a:lnTo>
                  <a:pt x="42671" y="2020824"/>
                </a:lnTo>
                <a:lnTo>
                  <a:pt x="42671" y="60960"/>
                </a:lnTo>
                <a:close/>
              </a:path>
              <a:path w="76200" h="2024379">
                <a:moveTo>
                  <a:pt x="36575" y="0"/>
                </a:moveTo>
                <a:lnTo>
                  <a:pt x="0" y="76200"/>
                </a:lnTo>
                <a:lnTo>
                  <a:pt x="33527" y="76200"/>
                </a:lnTo>
                <a:lnTo>
                  <a:pt x="33527" y="60960"/>
                </a:lnTo>
                <a:lnTo>
                  <a:pt x="68275" y="60960"/>
                </a:lnTo>
                <a:lnTo>
                  <a:pt x="36575" y="0"/>
                </a:lnTo>
                <a:close/>
              </a:path>
              <a:path w="76200" h="2024379">
                <a:moveTo>
                  <a:pt x="68275" y="60960"/>
                </a:moveTo>
                <a:lnTo>
                  <a:pt x="42671" y="60960"/>
                </a:lnTo>
                <a:lnTo>
                  <a:pt x="42671" y="76200"/>
                </a:lnTo>
                <a:lnTo>
                  <a:pt x="76200" y="76200"/>
                </a:lnTo>
                <a:lnTo>
                  <a:pt x="68275" y="60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30883" y="4470907"/>
            <a:ext cx="1831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PC++;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33928" y="2429255"/>
            <a:ext cx="2009139" cy="3606165"/>
          </a:xfrm>
          <a:custGeom>
            <a:avLst/>
            <a:gdLst/>
            <a:ahLst/>
            <a:cxnLst/>
            <a:rect l="l" t="t" r="r" b="b"/>
            <a:pathLst>
              <a:path w="2009139" h="3606165">
                <a:moveTo>
                  <a:pt x="76200" y="76200"/>
                </a:moveTo>
                <a:lnTo>
                  <a:pt x="68872" y="60960"/>
                </a:lnTo>
                <a:lnTo>
                  <a:pt x="39624" y="0"/>
                </a:lnTo>
                <a:lnTo>
                  <a:pt x="0" y="76200"/>
                </a:lnTo>
                <a:lnTo>
                  <a:pt x="33515" y="76200"/>
                </a:lnTo>
                <a:lnTo>
                  <a:pt x="33515" y="2761488"/>
                </a:lnTo>
                <a:lnTo>
                  <a:pt x="36563" y="2764536"/>
                </a:lnTo>
                <a:lnTo>
                  <a:pt x="42672" y="2764536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  <a:path w="2009139" h="3606165">
                <a:moveTo>
                  <a:pt x="1773936" y="76200"/>
                </a:moveTo>
                <a:lnTo>
                  <a:pt x="1766620" y="60960"/>
                </a:lnTo>
                <a:lnTo>
                  <a:pt x="1737360" y="0"/>
                </a:lnTo>
                <a:lnTo>
                  <a:pt x="1697736" y="76200"/>
                </a:lnTo>
                <a:lnTo>
                  <a:pt x="1731264" y="76200"/>
                </a:lnTo>
                <a:lnTo>
                  <a:pt x="1731264" y="3602736"/>
                </a:lnTo>
                <a:lnTo>
                  <a:pt x="1734312" y="3605784"/>
                </a:lnTo>
                <a:lnTo>
                  <a:pt x="1740408" y="3605784"/>
                </a:lnTo>
                <a:lnTo>
                  <a:pt x="1740408" y="76200"/>
                </a:lnTo>
                <a:lnTo>
                  <a:pt x="1773936" y="76200"/>
                </a:lnTo>
                <a:close/>
              </a:path>
              <a:path w="2009139" h="3606165">
                <a:moveTo>
                  <a:pt x="2008632" y="76200"/>
                </a:moveTo>
                <a:lnTo>
                  <a:pt x="2000707" y="60960"/>
                </a:lnTo>
                <a:lnTo>
                  <a:pt x="1969008" y="0"/>
                </a:lnTo>
                <a:lnTo>
                  <a:pt x="1932432" y="76200"/>
                </a:lnTo>
                <a:lnTo>
                  <a:pt x="1965960" y="76200"/>
                </a:lnTo>
                <a:lnTo>
                  <a:pt x="1965960" y="3221736"/>
                </a:lnTo>
                <a:lnTo>
                  <a:pt x="1972056" y="3221736"/>
                </a:lnTo>
                <a:lnTo>
                  <a:pt x="1975104" y="3218688"/>
                </a:lnTo>
                <a:lnTo>
                  <a:pt x="1975104" y="76200"/>
                </a:lnTo>
                <a:lnTo>
                  <a:pt x="200863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53516" y="5156707"/>
            <a:ext cx="7285355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7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Op1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address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calculation</a:t>
            </a:r>
            <a:endParaRPr sz="2400">
              <a:latin typeface="Times New Roman"/>
              <a:cs typeface="Times New Roman"/>
            </a:endParaRPr>
          </a:p>
          <a:p>
            <a:pPr marL="4343400">
              <a:lnSpc>
                <a:spcPts val="2570"/>
              </a:lnSpc>
            </a:pPr>
            <a:r>
              <a:rPr dirty="0" sz="2400">
                <a:latin typeface="Times New Roman"/>
                <a:cs typeface="Times New Roman"/>
              </a:rPr>
              <a:t>Op2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address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calculation</a:t>
            </a:r>
            <a:endParaRPr sz="2400">
              <a:latin typeface="Times New Roman"/>
              <a:cs typeface="Times New Roman"/>
            </a:endParaRPr>
          </a:p>
          <a:p>
            <a:pPr marL="2411095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latin typeface="Times New Roman"/>
                <a:cs typeface="Times New Roman"/>
              </a:rPr>
              <a:t>Op1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fetched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74523" y="2429255"/>
            <a:ext cx="2200910" cy="2481580"/>
          </a:xfrm>
          <a:custGeom>
            <a:avLst/>
            <a:gdLst/>
            <a:ahLst/>
            <a:cxnLst/>
            <a:rect l="l" t="t" r="r" b="b"/>
            <a:pathLst>
              <a:path w="2200909" h="2481579">
                <a:moveTo>
                  <a:pt x="76200" y="76200"/>
                </a:moveTo>
                <a:lnTo>
                  <a:pt x="68275" y="60960"/>
                </a:lnTo>
                <a:lnTo>
                  <a:pt x="36576" y="0"/>
                </a:lnTo>
                <a:lnTo>
                  <a:pt x="0" y="76200"/>
                </a:lnTo>
                <a:lnTo>
                  <a:pt x="33540" y="76200"/>
                </a:lnTo>
                <a:lnTo>
                  <a:pt x="33540" y="2481072"/>
                </a:lnTo>
                <a:lnTo>
                  <a:pt x="39624" y="2481072"/>
                </a:lnTo>
                <a:lnTo>
                  <a:pt x="42672" y="2478024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  <a:path w="2200909" h="2481579">
                <a:moveTo>
                  <a:pt x="408444" y="76200"/>
                </a:moveTo>
                <a:lnTo>
                  <a:pt x="401129" y="60960"/>
                </a:lnTo>
                <a:lnTo>
                  <a:pt x="371868" y="0"/>
                </a:lnTo>
                <a:lnTo>
                  <a:pt x="332244" y="76200"/>
                </a:lnTo>
                <a:lnTo>
                  <a:pt x="365772" y="76200"/>
                </a:lnTo>
                <a:lnTo>
                  <a:pt x="365772" y="1694688"/>
                </a:lnTo>
                <a:lnTo>
                  <a:pt x="368820" y="1697736"/>
                </a:lnTo>
                <a:lnTo>
                  <a:pt x="371868" y="1697736"/>
                </a:lnTo>
                <a:lnTo>
                  <a:pt x="374916" y="1694688"/>
                </a:lnTo>
                <a:lnTo>
                  <a:pt x="374916" y="76200"/>
                </a:lnTo>
                <a:lnTo>
                  <a:pt x="408444" y="76200"/>
                </a:lnTo>
                <a:close/>
              </a:path>
              <a:path w="2200909" h="2481579">
                <a:moveTo>
                  <a:pt x="2200668" y="76200"/>
                </a:moveTo>
                <a:lnTo>
                  <a:pt x="2193353" y="60960"/>
                </a:lnTo>
                <a:lnTo>
                  <a:pt x="2164092" y="0"/>
                </a:lnTo>
                <a:lnTo>
                  <a:pt x="2124468" y="76200"/>
                </a:lnTo>
                <a:lnTo>
                  <a:pt x="2157996" y="76200"/>
                </a:lnTo>
                <a:lnTo>
                  <a:pt x="2157996" y="1237488"/>
                </a:lnTo>
                <a:lnTo>
                  <a:pt x="2161044" y="1240536"/>
                </a:lnTo>
                <a:lnTo>
                  <a:pt x="2164092" y="1240536"/>
                </a:lnTo>
                <a:lnTo>
                  <a:pt x="2167140" y="1237488"/>
                </a:lnTo>
                <a:lnTo>
                  <a:pt x="2167140" y="76200"/>
                </a:lnTo>
                <a:lnTo>
                  <a:pt x="2200668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689852" y="4699507"/>
            <a:ext cx="15214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Op2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fetched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40371" y="3379723"/>
            <a:ext cx="1790064" cy="934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6865">
              <a:lnSpc>
                <a:spcPct val="1242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Write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result </a:t>
            </a:r>
            <a:r>
              <a:rPr dirty="0" sz="2400">
                <a:latin typeface="Times New Roman"/>
                <a:cs typeface="Times New Roman"/>
              </a:rPr>
              <a:t>Op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done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3516" y="1810003"/>
            <a:ext cx="8134984" cy="159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Processor/Memory</a:t>
            </a:r>
            <a:r>
              <a:rPr dirty="0" sz="24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Speed</a:t>
            </a:r>
            <a:r>
              <a:rPr dirty="0" sz="24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disparity</a:t>
            </a:r>
            <a:r>
              <a:rPr dirty="0" sz="2400" spc="-8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~2</a:t>
            </a:r>
            <a:r>
              <a:rPr dirty="0" sz="2400" spc="-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orders</a:t>
            </a:r>
            <a:r>
              <a:rPr dirty="0" sz="2400" spc="-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2400" spc="-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magnitude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PC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7616" y="658368"/>
            <a:ext cx="8634730" cy="0"/>
          </a:xfrm>
          <a:custGeom>
            <a:avLst/>
            <a:gdLst/>
            <a:ahLst/>
            <a:cxnLst/>
            <a:rect l="l" t="t" r="r" b="b"/>
            <a:pathLst>
              <a:path w="8634730" h="0">
                <a:moveTo>
                  <a:pt x="0" y="0"/>
                </a:moveTo>
                <a:lnTo>
                  <a:pt x="8634603" y="0"/>
                </a:lnTo>
              </a:path>
            </a:pathLst>
          </a:custGeom>
          <a:ln w="12192">
            <a:solidFill>
              <a:srgbClr val="99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30579" y="600202"/>
            <a:ext cx="542861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>
                <a:latin typeface="Lucida Sans Unicode"/>
                <a:cs typeface="Lucida Sans Unicode"/>
              </a:rPr>
              <a:t>T</a:t>
            </a:r>
            <a:r>
              <a:rPr dirty="0" spc="-275">
                <a:latin typeface="Lucida Sans Unicode"/>
                <a:cs typeface="Lucida Sans Unicode"/>
              </a:rPr>
              <a:t>i</a:t>
            </a:r>
            <a:r>
              <a:rPr dirty="0" spc="-530">
                <a:latin typeface="Lucida Sans Unicode"/>
                <a:cs typeface="Lucida Sans Unicode"/>
              </a:rPr>
              <a:t>m</a:t>
            </a:r>
            <a:r>
              <a:rPr dirty="0" spc="-355">
                <a:latin typeface="Lucida Sans Unicode"/>
                <a:cs typeface="Lucida Sans Unicode"/>
              </a:rPr>
              <a:t>eli</a:t>
            </a:r>
            <a:r>
              <a:rPr dirty="0" spc="-595">
                <a:latin typeface="Lucida Sans Unicode"/>
                <a:cs typeface="Lucida Sans Unicode"/>
              </a:rPr>
              <a:t>n</a:t>
            </a:r>
            <a:r>
              <a:rPr dirty="0" spc="-15">
                <a:latin typeface="Lucida Sans Unicode"/>
                <a:cs typeface="Lucida Sans Unicode"/>
              </a:rPr>
              <a:t>e</a:t>
            </a:r>
            <a:r>
              <a:rPr dirty="0" spc="-835">
                <a:latin typeface="Lucida Sans Unicode"/>
                <a:cs typeface="Lucida Sans Unicode"/>
              </a:rPr>
              <a:t> </a:t>
            </a:r>
            <a:r>
              <a:rPr dirty="0" spc="-240">
                <a:latin typeface="Lucida Sans Unicode"/>
                <a:cs typeface="Lucida Sans Unicode"/>
              </a:rPr>
              <a:t>of</a:t>
            </a:r>
            <a:r>
              <a:rPr dirty="0" spc="-440">
                <a:latin typeface="Lucida Sans Unicode"/>
                <a:cs typeface="Lucida Sans Unicode"/>
              </a:rPr>
              <a:t> </a:t>
            </a:r>
            <a:r>
              <a:rPr dirty="0" spc="-420">
                <a:latin typeface="Lucida Sans Unicode"/>
                <a:cs typeface="Lucida Sans Unicode"/>
              </a:rPr>
              <a:t>e</a:t>
            </a:r>
            <a:r>
              <a:rPr dirty="0" spc="-405">
                <a:latin typeface="Lucida Sans Unicode"/>
                <a:cs typeface="Lucida Sans Unicode"/>
              </a:rPr>
              <a:t>v</a:t>
            </a:r>
            <a:r>
              <a:rPr dirty="0" spc="-505">
                <a:latin typeface="Lucida Sans Unicode"/>
                <a:cs typeface="Lucida Sans Unicode"/>
              </a:rPr>
              <a:t>e</a:t>
            </a:r>
            <a:r>
              <a:rPr dirty="0" spc="-585">
                <a:latin typeface="Lucida Sans Unicode"/>
                <a:cs typeface="Lucida Sans Unicode"/>
              </a:rPr>
              <a:t>n</a:t>
            </a:r>
            <a:r>
              <a:rPr dirty="0" spc="-365">
                <a:latin typeface="Lucida Sans Unicode"/>
                <a:cs typeface="Lucida Sans Unicode"/>
              </a:rPr>
              <a:t>t</a:t>
            </a:r>
            <a:r>
              <a:rPr dirty="0" spc="-10">
                <a:latin typeface="Lucida Sans Unicode"/>
                <a:cs typeface="Lucida Sans Unicode"/>
              </a:rPr>
              <a:t>s</a:t>
            </a:r>
            <a:r>
              <a:rPr dirty="0" spc="-875">
                <a:latin typeface="Lucida Sans Unicode"/>
                <a:cs typeface="Lucida Sans Unicode"/>
              </a:rPr>
              <a:t> </a:t>
            </a:r>
            <a:r>
              <a:rPr dirty="0" spc="-50">
                <a:latin typeface="Lucida Sans Unicode"/>
                <a:cs typeface="Lucida Sans Unicode"/>
              </a:rPr>
              <a:t>(RISC)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09217" y="2400045"/>
            <a:ext cx="2812415" cy="587375"/>
            <a:chOff x="1109217" y="2400045"/>
            <a:chExt cx="2812415" cy="587375"/>
          </a:xfrm>
        </p:grpSpPr>
        <p:sp>
          <p:nvSpPr>
            <p:cNvPr id="5" name="object 5"/>
            <p:cNvSpPr/>
            <p:nvPr/>
          </p:nvSpPr>
          <p:spPr>
            <a:xfrm>
              <a:off x="1138427" y="2429255"/>
              <a:ext cx="2753995" cy="0"/>
            </a:xfrm>
            <a:custGeom>
              <a:avLst/>
              <a:gdLst/>
              <a:ahLst/>
              <a:cxnLst/>
              <a:rect l="l" t="t" r="r" b="b"/>
              <a:pathLst>
                <a:path w="2753995" h="0">
                  <a:moveTo>
                    <a:pt x="0" y="0"/>
                  </a:moveTo>
                  <a:lnTo>
                    <a:pt x="2753487" y="0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15568" y="2429255"/>
              <a:ext cx="47625" cy="558165"/>
            </a:xfrm>
            <a:custGeom>
              <a:avLst/>
              <a:gdLst/>
              <a:ahLst/>
              <a:cxnLst/>
              <a:rect l="l" t="t" r="r" b="b"/>
              <a:pathLst>
                <a:path w="47625" h="558164">
                  <a:moveTo>
                    <a:pt x="47244" y="76200"/>
                  </a:moveTo>
                  <a:lnTo>
                    <a:pt x="42329" y="60960"/>
                  </a:lnTo>
                  <a:lnTo>
                    <a:pt x="26454" y="11709"/>
                  </a:lnTo>
                  <a:lnTo>
                    <a:pt x="26454" y="60960"/>
                  </a:lnTo>
                  <a:lnTo>
                    <a:pt x="26454" y="61214"/>
                  </a:lnTo>
                  <a:lnTo>
                    <a:pt x="20789" y="61214"/>
                  </a:lnTo>
                  <a:lnTo>
                    <a:pt x="20789" y="60960"/>
                  </a:lnTo>
                  <a:lnTo>
                    <a:pt x="26454" y="60960"/>
                  </a:lnTo>
                  <a:lnTo>
                    <a:pt x="26454" y="11709"/>
                  </a:lnTo>
                  <a:lnTo>
                    <a:pt x="22682" y="0"/>
                  </a:lnTo>
                  <a:lnTo>
                    <a:pt x="0" y="76200"/>
                  </a:lnTo>
                  <a:lnTo>
                    <a:pt x="20789" y="76200"/>
                  </a:lnTo>
                  <a:lnTo>
                    <a:pt x="20789" y="553974"/>
                  </a:lnTo>
                  <a:lnTo>
                    <a:pt x="20789" y="557784"/>
                  </a:lnTo>
                  <a:lnTo>
                    <a:pt x="25501" y="557784"/>
                  </a:lnTo>
                  <a:lnTo>
                    <a:pt x="25501" y="553974"/>
                  </a:lnTo>
                  <a:lnTo>
                    <a:pt x="26454" y="553974"/>
                  </a:lnTo>
                  <a:lnTo>
                    <a:pt x="26454" y="76200"/>
                  </a:lnTo>
                  <a:lnTo>
                    <a:pt x="47244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53211" y="3000883"/>
            <a:ext cx="179006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PC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28544" y="2429255"/>
            <a:ext cx="76200" cy="1240155"/>
          </a:xfrm>
          <a:custGeom>
            <a:avLst/>
            <a:gdLst/>
            <a:ahLst/>
            <a:cxnLst/>
            <a:rect l="l" t="t" r="r" b="b"/>
            <a:pathLst>
              <a:path w="76200" h="1240154">
                <a:moveTo>
                  <a:pt x="76200" y="76200"/>
                </a:moveTo>
                <a:lnTo>
                  <a:pt x="68834" y="60960"/>
                </a:lnTo>
                <a:lnTo>
                  <a:pt x="42672" y="6362"/>
                </a:lnTo>
                <a:lnTo>
                  <a:pt x="42672" y="60960"/>
                </a:lnTo>
                <a:lnTo>
                  <a:pt x="42672" y="61214"/>
                </a:lnTo>
                <a:lnTo>
                  <a:pt x="33528" y="61214"/>
                </a:lnTo>
                <a:lnTo>
                  <a:pt x="33528" y="60960"/>
                </a:lnTo>
                <a:lnTo>
                  <a:pt x="42672" y="60960"/>
                </a:lnTo>
                <a:lnTo>
                  <a:pt x="42672" y="6362"/>
                </a:lnTo>
                <a:lnTo>
                  <a:pt x="39624" y="0"/>
                </a:lnTo>
                <a:lnTo>
                  <a:pt x="0" y="76200"/>
                </a:lnTo>
                <a:lnTo>
                  <a:pt x="33528" y="76200"/>
                </a:lnTo>
                <a:lnTo>
                  <a:pt x="33528" y="1237234"/>
                </a:lnTo>
                <a:lnTo>
                  <a:pt x="34785" y="1237234"/>
                </a:lnTo>
                <a:lnTo>
                  <a:pt x="34785" y="1239774"/>
                </a:lnTo>
                <a:lnTo>
                  <a:pt x="41402" y="1239774"/>
                </a:lnTo>
                <a:lnTo>
                  <a:pt x="41402" y="1237234"/>
                </a:lnTo>
                <a:lnTo>
                  <a:pt x="42672" y="1237234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86155" y="3680840"/>
            <a:ext cx="2020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Instruction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IR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32760" y="2429255"/>
            <a:ext cx="878205" cy="2480945"/>
          </a:xfrm>
          <a:custGeom>
            <a:avLst/>
            <a:gdLst/>
            <a:ahLst/>
            <a:cxnLst/>
            <a:rect l="l" t="t" r="r" b="b"/>
            <a:pathLst>
              <a:path w="878204" h="2480945">
                <a:moveTo>
                  <a:pt x="76200" y="76200"/>
                </a:moveTo>
                <a:lnTo>
                  <a:pt x="68326" y="60960"/>
                </a:lnTo>
                <a:lnTo>
                  <a:pt x="42672" y="11709"/>
                </a:lnTo>
                <a:lnTo>
                  <a:pt x="42672" y="60960"/>
                </a:lnTo>
                <a:lnTo>
                  <a:pt x="42672" y="61214"/>
                </a:lnTo>
                <a:lnTo>
                  <a:pt x="33528" y="61214"/>
                </a:lnTo>
                <a:lnTo>
                  <a:pt x="33528" y="60960"/>
                </a:lnTo>
                <a:lnTo>
                  <a:pt x="42672" y="60960"/>
                </a:lnTo>
                <a:lnTo>
                  <a:pt x="42672" y="11709"/>
                </a:lnTo>
                <a:lnTo>
                  <a:pt x="36576" y="0"/>
                </a:lnTo>
                <a:lnTo>
                  <a:pt x="0" y="76200"/>
                </a:lnTo>
                <a:lnTo>
                  <a:pt x="33528" y="76200"/>
                </a:lnTo>
                <a:lnTo>
                  <a:pt x="33528" y="2020824"/>
                </a:lnTo>
                <a:lnTo>
                  <a:pt x="33528" y="2023364"/>
                </a:lnTo>
                <a:lnTo>
                  <a:pt x="40894" y="2023364"/>
                </a:lnTo>
                <a:lnTo>
                  <a:pt x="40894" y="2020824"/>
                </a:lnTo>
                <a:lnTo>
                  <a:pt x="42672" y="2020824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  <a:path w="878204" h="2480945">
                <a:moveTo>
                  <a:pt x="496824" y="76200"/>
                </a:moveTo>
                <a:lnTo>
                  <a:pt x="457200" y="0"/>
                </a:lnTo>
                <a:lnTo>
                  <a:pt x="420624" y="76200"/>
                </a:lnTo>
                <a:lnTo>
                  <a:pt x="454152" y="76200"/>
                </a:lnTo>
                <a:lnTo>
                  <a:pt x="454152" y="2480564"/>
                </a:lnTo>
                <a:lnTo>
                  <a:pt x="460248" y="2480564"/>
                </a:lnTo>
                <a:lnTo>
                  <a:pt x="463296" y="2477516"/>
                </a:lnTo>
                <a:lnTo>
                  <a:pt x="463296" y="76200"/>
                </a:lnTo>
                <a:lnTo>
                  <a:pt x="496824" y="76200"/>
                </a:lnTo>
                <a:close/>
              </a:path>
              <a:path w="878204" h="2480945">
                <a:moveTo>
                  <a:pt x="685800" y="76200"/>
                </a:moveTo>
                <a:lnTo>
                  <a:pt x="649224" y="0"/>
                </a:lnTo>
                <a:lnTo>
                  <a:pt x="609600" y="76200"/>
                </a:lnTo>
                <a:lnTo>
                  <a:pt x="643128" y="76200"/>
                </a:lnTo>
                <a:lnTo>
                  <a:pt x="643128" y="1694307"/>
                </a:lnTo>
                <a:lnTo>
                  <a:pt x="646176" y="1697355"/>
                </a:lnTo>
                <a:lnTo>
                  <a:pt x="649224" y="1697355"/>
                </a:lnTo>
                <a:lnTo>
                  <a:pt x="652272" y="1694307"/>
                </a:lnTo>
                <a:lnTo>
                  <a:pt x="652272" y="76200"/>
                </a:lnTo>
                <a:lnTo>
                  <a:pt x="685800" y="76200"/>
                </a:lnTo>
                <a:close/>
              </a:path>
              <a:path w="878204" h="2480945">
                <a:moveTo>
                  <a:pt x="877824" y="76200"/>
                </a:moveTo>
                <a:lnTo>
                  <a:pt x="841248" y="0"/>
                </a:lnTo>
                <a:lnTo>
                  <a:pt x="801624" y="76200"/>
                </a:lnTo>
                <a:lnTo>
                  <a:pt x="835152" y="76200"/>
                </a:lnTo>
                <a:lnTo>
                  <a:pt x="835152" y="1237234"/>
                </a:lnTo>
                <a:lnTo>
                  <a:pt x="838200" y="1240282"/>
                </a:lnTo>
                <a:lnTo>
                  <a:pt x="841248" y="1240282"/>
                </a:lnTo>
                <a:lnTo>
                  <a:pt x="844296" y="1237234"/>
                </a:lnTo>
                <a:lnTo>
                  <a:pt x="844296" y="76200"/>
                </a:lnTo>
                <a:lnTo>
                  <a:pt x="877824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30579" y="4461129"/>
            <a:ext cx="3721735" cy="109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PC++;</a:t>
            </a:r>
            <a:r>
              <a:rPr dirty="0" sz="2400" spc="-1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Decode</a:t>
            </a:r>
            <a:endParaRPr sz="2400">
              <a:latin typeface="Times New Roman"/>
              <a:cs typeface="Times New Roman"/>
            </a:endParaRPr>
          </a:p>
          <a:p>
            <a:pPr marL="2219960">
              <a:lnSpc>
                <a:spcPts val="2725"/>
              </a:lnSpc>
              <a:spcBef>
                <a:spcPts val="75"/>
              </a:spcBef>
            </a:pPr>
            <a:r>
              <a:rPr dirty="0" sz="2400">
                <a:latin typeface="Times New Roman"/>
                <a:cs typeface="Times New Roman"/>
              </a:rPr>
              <a:t>Op2</a:t>
            </a:r>
            <a:r>
              <a:rPr dirty="0" sz="2400" spc="-114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fetched</a:t>
            </a:r>
            <a:endParaRPr sz="2400">
              <a:latin typeface="Times New Roman"/>
              <a:cs typeface="Times New Roman"/>
            </a:endParaRPr>
          </a:p>
          <a:p>
            <a:pPr marL="763270">
              <a:lnSpc>
                <a:spcPts val="2725"/>
              </a:lnSpc>
            </a:pPr>
            <a:r>
              <a:rPr dirty="0" sz="2400">
                <a:latin typeface="Times New Roman"/>
                <a:cs typeface="Times New Roman"/>
              </a:rPr>
              <a:t>Op1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fetched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7467" y="3648201"/>
            <a:ext cx="1609725" cy="934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1290">
              <a:lnSpc>
                <a:spcPct val="124200"/>
              </a:lnSpc>
              <a:spcBef>
                <a:spcPts val="100"/>
              </a:spcBef>
            </a:pPr>
            <a:r>
              <a:rPr dirty="0" sz="2400" spc="-20">
                <a:latin typeface="Times New Roman"/>
                <a:cs typeface="Times New Roman"/>
              </a:rPr>
              <a:t>Write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result </a:t>
            </a:r>
            <a:r>
              <a:rPr dirty="0" sz="2400">
                <a:latin typeface="Times New Roman"/>
                <a:cs typeface="Times New Roman"/>
              </a:rPr>
              <a:t>Op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done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24783" y="2409444"/>
            <a:ext cx="5699760" cy="2680970"/>
            <a:chOff x="3224783" y="2409444"/>
            <a:chExt cx="5699760" cy="2680970"/>
          </a:xfrm>
        </p:grpSpPr>
        <p:sp>
          <p:nvSpPr>
            <p:cNvPr id="14" name="object 14"/>
            <p:cNvSpPr/>
            <p:nvPr/>
          </p:nvSpPr>
          <p:spPr>
            <a:xfrm>
              <a:off x="3892295" y="2438400"/>
              <a:ext cx="5032375" cy="0"/>
            </a:xfrm>
            <a:custGeom>
              <a:avLst/>
              <a:gdLst/>
              <a:ahLst/>
              <a:cxnLst/>
              <a:rect l="l" t="t" r="r" b="b"/>
              <a:pathLst>
                <a:path w="5032375" h="0">
                  <a:moveTo>
                    <a:pt x="0" y="0"/>
                  </a:moveTo>
                  <a:lnTo>
                    <a:pt x="5031867" y="0"/>
                  </a:lnTo>
                </a:path>
              </a:pathLst>
            </a:custGeom>
            <a:ln w="57912">
              <a:solidFill>
                <a:srgbClr val="DCDC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267710" y="2518409"/>
              <a:ext cx="12065" cy="2571750"/>
            </a:xfrm>
            <a:custGeom>
              <a:avLst/>
              <a:gdLst/>
              <a:ahLst/>
              <a:cxnLst/>
              <a:rect l="l" t="t" r="r" b="b"/>
              <a:pathLst>
                <a:path w="12064" h="2571750">
                  <a:moveTo>
                    <a:pt x="11684" y="0"/>
                  </a:moveTo>
                  <a:lnTo>
                    <a:pt x="0" y="0"/>
                  </a:lnTo>
                  <a:lnTo>
                    <a:pt x="0" y="2566670"/>
                  </a:lnTo>
                  <a:lnTo>
                    <a:pt x="0" y="2571750"/>
                  </a:lnTo>
                  <a:lnTo>
                    <a:pt x="9588" y="2571750"/>
                  </a:lnTo>
                  <a:lnTo>
                    <a:pt x="9588" y="2566670"/>
                  </a:lnTo>
                  <a:lnTo>
                    <a:pt x="11684" y="2566670"/>
                  </a:lnTo>
                  <a:lnTo>
                    <a:pt x="116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783" y="2438400"/>
              <a:ext cx="97536" cy="9982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900921" y="6914095"/>
            <a:ext cx="12192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5"/>
              </a:lnSpc>
            </a:pPr>
            <a:r>
              <a:rPr dirty="0" sz="1200" spc="-50"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29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5"/>
              <a:t>Aside:</a:t>
            </a:r>
            <a:r>
              <a:rPr dirty="0" spc="-114"/>
              <a:t> </a:t>
            </a:r>
            <a:r>
              <a:rPr dirty="0" spc="-325"/>
              <a:t>CISC</a:t>
            </a:r>
            <a:r>
              <a:rPr dirty="0" spc="-110"/>
              <a:t> </a:t>
            </a:r>
            <a:r>
              <a:rPr dirty="0" spc="-360"/>
              <a:t>vs</a:t>
            </a:r>
            <a:r>
              <a:rPr dirty="0" spc="-130"/>
              <a:t> </a:t>
            </a:r>
            <a:r>
              <a:rPr dirty="0" spc="-335"/>
              <a:t>RISC</a:t>
            </a:r>
            <a:r>
              <a:rPr dirty="0" spc="-105"/>
              <a:t> </a:t>
            </a:r>
            <a:r>
              <a:rPr dirty="0" spc="-140"/>
              <a:t>Instructions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15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5839" y="3042606"/>
          <a:ext cx="3430270" cy="3220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7290"/>
                <a:gridCol w="775970"/>
                <a:gridCol w="946785"/>
                <a:gridCol w="454660"/>
              </a:tblGrid>
              <a:tr h="718185">
                <a:tc gridSpan="2">
                  <a:txBody>
                    <a:bodyPr/>
                    <a:lstStyle/>
                    <a:p>
                      <a:pPr marL="344170" marR="129539" indent="-344805">
                        <a:lnSpc>
                          <a:spcPts val="2810"/>
                        </a:lnSpc>
                        <a:tabLst>
                          <a:tab pos="1302385" algn="l"/>
                        </a:tabLst>
                      </a:pPr>
                      <a:r>
                        <a:rPr dirty="0" sz="2600">
                          <a:solidFill>
                            <a:srgbClr val="CC0000"/>
                          </a:solidFill>
                          <a:latin typeface="Arial MT"/>
                          <a:cs typeface="Arial MT"/>
                        </a:rPr>
                        <a:t>RISC</a:t>
                      </a:r>
                      <a:r>
                        <a:rPr dirty="0" sz="2600" spc="-80">
                          <a:solidFill>
                            <a:srgbClr val="CC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00" spc="-10">
                          <a:solidFill>
                            <a:srgbClr val="CC0000"/>
                          </a:solidFill>
                          <a:latin typeface="Arial MT"/>
                          <a:cs typeface="Arial MT"/>
                        </a:rPr>
                        <a:t>Code: </a:t>
                      </a:r>
                      <a:r>
                        <a:rPr dirty="0" sz="2600" spc="-25">
                          <a:latin typeface="Arial MT"/>
                          <a:cs typeface="Arial MT"/>
                        </a:rPr>
                        <a:t>LW</a:t>
                      </a:r>
                      <a:r>
                        <a:rPr dirty="0" sz="2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600" spc="-25">
                          <a:latin typeface="Arial MT"/>
                          <a:cs typeface="Arial MT"/>
                        </a:rPr>
                        <a:t>R1,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r">
                        <a:lnSpc>
                          <a:spcPts val="2885"/>
                        </a:lnSpc>
                        <a:spcBef>
                          <a:spcPts val="145"/>
                        </a:spcBef>
                      </a:pPr>
                      <a:r>
                        <a:rPr dirty="0" sz="2800" spc="-50" b="1">
                          <a:solidFill>
                            <a:srgbClr val="3A802E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ts val="2530"/>
                        </a:lnSpc>
                      </a:pPr>
                      <a:r>
                        <a:rPr dirty="0" sz="2600" spc="-10">
                          <a:latin typeface="Arial MT"/>
                          <a:cs typeface="Arial MT"/>
                        </a:rPr>
                        <a:t>0(R3)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1841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950">
                <a:tc>
                  <a:txBody>
                    <a:bodyPr/>
                    <a:lstStyle/>
                    <a:p>
                      <a:pPr marL="344170">
                        <a:lnSpc>
                          <a:spcPts val="2750"/>
                        </a:lnSpc>
                      </a:pPr>
                      <a:r>
                        <a:rPr dirty="0" sz="2600" spc="-25">
                          <a:latin typeface="Arial MT"/>
                          <a:cs typeface="Arial MT"/>
                        </a:rPr>
                        <a:t>LW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2750"/>
                        </a:lnSpc>
                      </a:pPr>
                      <a:r>
                        <a:rPr dirty="0" sz="2600" spc="-25">
                          <a:latin typeface="Arial MT"/>
                          <a:cs typeface="Arial MT"/>
                        </a:rPr>
                        <a:t>R2,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2750"/>
                        </a:lnSpc>
                      </a:pPr>
                      <a:r>
                        <a:rPr dirty="0" sz="2600" spc="-10">
                          <a:latin typeface="Arial MT"/>
                          <a:cs typeface="Arial MT"/>
                        </a:rPr>
                        <a:t>0(R4)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0520">
                <a:tc>
                  <a:txBody>
                    <a:bodyPr/>
                    <a:lstStyle/>
                    <a:p>
                      <a:pPr marL="344170">
                        <a:lnSpc>
                          <a:spcPts val="2750"/>
                        </a:lnSpc>
                      </a:pPr>
                      <a:r>
                        <a:rPr dirty="0" sz="2600" spc="-25">
                          <a:latin typeface="Arial MT"/>
                          <a:cs typeface="Arial MT"/>
                        </a:rPr>
                        <a:t>ADD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ts val="2750"/>
                        </a:lnSpc>
                        <a:tabLst>
                          <a:tab pos="930275" algn="l"/>
                        </a:tabLst>
                      </a:pPr>
                      <a:r>
                        <a:rPr dirty="0" sz="2600" spc="-25">
                          <a:latin typeface="Arial MT"/>
                          <a:cs typeface="Arial MT"/>
                        </a:rPr>
                        <a:t>R5,</a:t>
                      </a:r>
                      <a:r>
                        <a:rPr dirty="0" sz="2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600" spc="-25">
                          <a:latin typeface="Arial MT"/>
                          <a:cs typeface="Arial MT"/>
                        </a:rPr>
                        <a:t>R1,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750"/>
                        </a:lnSpc>
                      </a:pPr>
                      <a:r>
                        <a:rPr dirty="0" sz="2600" spc="-25">
                          <a:latin typeface="Arial MT"/>
                          <a:cs typeface="Arial MT"/>
                        </a:rPr>
                        <a:t>R2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356235">
                <a:tc>
                  <a:txBody>
                    <a:bodyPr/>
                    <a:lstStyle/>
                    <a:p>
                      <a:pPr marL="344170">
                        <a:lnSpc>
                          <a:spcPts val="2710"/>
                        </a:lnSpc>
                      </a:pPr>
                      <a:r>
                        <a:rPr dirty="0" sz="2600" spc="-20">
                          <a:latin typeface="Arial MT"/>
                          <a:cs typeface="Arial MT"/>
                        </a:rPr>
                        <a:t>SUBI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21920">
                        <a:lnSpc>
                          <a:spcPts val="2710"/>
                        </a:lnSpc>
                        <a:tabLst>
                          <a:tab pos="911860" algn="l"/>
                        </a:tabLst>
                      </a:pPr>
                      <a:r>
                        <a:rPr dirty="0" sz="2600" spc="-25">
                          <a:latin typeface="Arial MT"/>
                          <a:cs typeface="Arial MT"/>
                        </a:rPr>
                        <a:t>R2,</a:t>
                      </a:r>
                      <a:r>
                        <a:rPr dirty="0" sz="2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600" spc="-25">
                          <a:latin typeface="Arial MT"/>
                          <a:cs typeface="Arial MT"/>
                        </a:rPr>
                        <a:t>R2,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710"/>
                        </a:lnSpc>
                      </a:pPr>
                      <a:r>
                        <a:rPr dirty="0" sz="2600" spc="-50">
                          <a:latin typeface="Arial MT"/>
                          <a:cs typeface="Arial MT"/>
                        </a:rPr>
                        <a:t>1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357505">
                <a:tc>
                  <a:txBody>
                    <a:bodyPr/>
                    <a:lstStyle/>
                    <a:p>
                      <a:pPr marL="344170">
                        <a:lnSpc>
                          <a:spcPts val="2720"/>
                        </a:lnSpc>
                      </a:pPr>
                      <a:r>
                        <a:rPr dirty="0" sz="2600" spc="-25">
                          <a:latin typeface="Arial MT"/>
                          <a:cs typeface="Arial MT"/>
                        </a:rPr>
                        <a:t>SW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2720"/>
                        </a:lnSpc>
                      </a:pPr>
                      <a:r>
                        <a:rPr dirty="0" sz="2600">
                          <a:latin typeface="Arial MT"/>
                          <a:cs typeface="Arial MT"/>
                        </a:rPr>
                        <a:t>0(R3),</a:t>
                      </a:r>
                      <a:r>
                        <a:rPr dirty="0" sz="2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00" spc="-25">
                          <a:latin typeface="Arial MT"/>
                          <a:cs typeface="Arial MT"/>
                        </a:rPr>
                        <a:t>R5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8140">
                <a:tc>
                  <a:txBody>
                    <a:bodyPr/>
                    <a:lstStyle/>
                    <a:p>
                      <a:pPr marL="344170">
                        <a:lnSpc>
                          <a:spcPts val="2720"/>
                        </a:lnSpc>
                      </a:pPr>
                      <a:r>
                        <a:rPr dirty="0" sz="2600" spc="-25">
                          <a:latin typeface="Arial MT"/>
                          <a:cs typeface="Arial MT"/>
                        </a:rPr>
                        <a:t>SW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02870">
                        <a:lnSpc>
                          <a:spcPts val="2720"/>
                        </a:lnSpc>
                      </a:pPr>
                      <a:r>
                        <a:rPr dirty="0" sz="2600">
                          <a:latin typeface="Arial MT"/>
                          <a:cs typeface="Arial MT"/>
                        </a:rPr>
                        <a:t>0(R4),</a:t>
                      </a:r>
                      <a:r>
                        <a:rPr dirty="0" sz="2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00" spc="-25">
                          <a:latin typeface="Arial MT"/>
                          <a:cs typeface="Arial MT"/>
                        </a:rPr>
                        <a:t>R2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6235">
                <a:tc>
                  <a:txBody>
                    <a:bodyPr/>
                    <a:lstStyle/>
                    <a:p>
                      <a:pPr marL="344170">
                        <a:lnSpc>
                          <a:spcPts val="2710"/>
                        </a:lnSpc>
                      </a:pPr>
                      <a:r>
                        <a:rPr dirty="0" sz="2600" spc="-20">
                          <a:latin typeface="Arial MT"/>
                          <a:cs typeface="Arial MT"/>
                        </a:rPr>
                        <a:t>ADDI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2710"/>
                        </a:lnSpc>
                        <a:tabLst>
                          <a:tab pos="930275" algn="l"/>
                        </a:tabLst>
                      </a:pPr>
                      <a:r>
                        <a:rPr dirty="0" sz="2600" spc="-25">
                          <a:latin typeface="Arial MT"/>
                          <a:cs typeface="Arial MT"/>
                        </a:rPr>
                        <a:t>R3,</a:t>
                      </a:r>
                      <a:r>
                        <a:rPr dirty="0" sz="2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600" spc="-25">
                          <a:latin typeface="Arial MT"/>
                          <a:cs typeface="Arial MT"/>
                        </a:rPr>
                        <a:t>R3,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710"/>
                        </a:lnSpc>
                      </a:pPr>
                      <a:r>
                        <a:rPr dirty="0" sz="2600" spc="-50">
                          <a:latin typeface="Arial MT"/>
                          <a:cs typeface="Arial MT"/>
                        </a:rPr>
                        <a:t>4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361950">
                <a:tc>
                  <a:txBody>
                    <a:bodyPr/>
                    <a:lstStyle/>
                    <a:p>
                      <a:pPr marL="344170">
                        <a:lnSpc>
                          <a:spcPts val="2750"/>
                        </a:lnSpc>
                      </a:pPr>
                      <a:r>
                        <a:rPr dirty="0" sz="2600" spc="-20">
                          <a:latin typeface="Arial MT"/>
                          <a:cs typeface="Arial MT"/>
                        </a:rPr>
                        <a:t>SUBI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21920">
                        <a:lnSpc>
                          <a:spcPts val="2750"/>
                        </a:lnSpc>
                        <a:tabLst>
                          <a:tab pos="911860" algn="l"/>
                        </a:tabLst>
                      </a:pPr>
                      <a:r>
                        <a:rPr dirty="0" sz="2600" spc="-25">
                          <a:latin typeface="Arial MT"/>
                          <a:cs typeface="Arial MT"/>
                        </a:rPr>
                        <a:t>R4,</a:t>
                      </a:r>
                      <a:r>
                        <a:rPr dirty="0" sz="2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600" spc="-25">
                          <a:latin typeface="Arial MT"/>
                          <a:cs typeface="Arial MT"/>
                        </a:rPr>
                        <a:t>R4,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750"/>
                        </a:lnSpc>
                      </a:pPr>
                      <a:r>
                        <a:rPr dirty="0" sz="2600" spc="-50">
                          <a:latin typeface="Arial MT"/>
                          <a:cs typeface="Arial MT"/>
                        </a:rPr>
                        <a:t>4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184140" y="1666748"/>
            <a:ext cx="188023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>
                <a:solidFill>
                  <a:srgbClr val="CC0000"/>
                </a:solidFill>
                <a:latin typeface="Arial MT"/>
                <a:cs typeface="Arial MT"/>
              </a:rPr>
              <a:t>CISC</a:t>
            </a:r>
            <a:r>
              <a:rPr dirty="0" sz="2600" spc="64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CC0000"/>
                </a:solidFill>
                <a:latin typeface="Arial MT"/>
                <a:cs typeface="Arial MT"/>
              </a:rPr>
              <a:t>Code: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8564" y="2067864"/>
            <a:ext cx="3340735" cy="89725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838835" algn="l"/>
              </a:tabLst>
            </a:pPr>
            <a:r>
              <a:rPr dirty="0" sz="2600" spc="-25">
                <a:latin typeface="Arial MT"/>
                <a:cs typeface="Arial MT"/>
              </a:rPr>
              <a:t>add</a:t>
            </a:r>
            <a:r>
              <a:rPr dirty="0" sz="2600">
                <a:latin typeface="Arial MT"/>
                <a:cs typeface="Arial MT"/>
              </a:rPr>
              <a:t>	(R3)+,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(R3),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(R4)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912494" algn="l"/>
              </a:tabLst>
            </a:pPr>
            <a:r>
              <a:rPr dirty="0" sz="2600" spc="-25">
                <a:latin typeface="Arial MT"/>
                <a:cs typeface="Arial MT"/>
              </a:rPr>
              <a:t>sub</a:t>
            </a:r>
            <a:r>
              <a:rPr dirty="0" sz="2600">
                <a:latin typeface="Arial MT"/>
                <a:cs typeface="Arial MT"/>
              </a:rPr>
              <a:t>	(R4)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-,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(R4),</a:t>
            </a:r>
            <a:r>
              <a:rPr dirty="0" sz="2600" spc="-5">
                <a:latin typeface="Arial MT"/>
                <a:cs typeface="Arial MT"/>
              </a:rPr>
              <a:t>  </a:t>
            </a:r>
            <a:r>
              <a:rPr dirty="0" sz="2600" spc="-50">
                <a:latin typeface="Arial MT"/>
                <a:cs typeface="Arial MT"/>
              </a:rPr>
              <a:t>1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1324" y="1645412"/>
            <a:ext cx="3608704" cy="1136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A[</a:t>
            </a:r>
            <a:r>
              <a:rPr dirty="0" sz="2800" spc="-1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i++</a:t>
            </a:r>
            <a:r>
              <a:rPr dirty="0" sz="2800" spc="-1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]</a:t>
            </a:r>
            <a:r>
              <a:rPr dirty="0" sz="2800" spc="-1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A[</a:t>
            </a:r>
            <a:r>
              <a:rPr dirty="0" sz="2800" spc="-1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]</a:t>
            </a:r>
            <a:r>
              <a:rPr dirty="0" sz="2800" spc="-1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+</a:t>
            </a:r>
            <a:r>
              <a:rPr dirty="0" sz="2800" spc="-1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B[</a:t>
            </a:r>
            <a:r>
              <a:rPr dirty="0" sz="2800" spc="-3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3A802E"/>
                </a:solidFill>
                <a:latin typeface="Times New Roman"/>
                <a:cs typeface="Times New Roman"/>
              </a:rPr>
              <a:t>];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B[</a:t>
            </a:r>
            <a:r>
              <a:rPr dirty="0" sz="2800" spc="-1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i ]</a:t>
            </a:r>
            <a:r>
              <a:rPr dirty="0" sz="2800" spc="68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B[</a:t>
            </a:r>
            <a:r>
              <a:rPr dirty="0" sz="2800" spc="-10" b="1">
                <a:solidFill>
                  <a:srgbClr val="3A802E"/>
                </a:solidFill>
                <a:latin typeface="Times New Roman"/>
                <a:cs typeface="Times New Roman"/>
              </a:rPr>
              <a:t> i-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-</a:t>
            </a:r>
            <a:r>
              <a:rPr dirty="0" sz="2800" spc="-1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]</a:t>
            </a:r>
            <a:r>
              <a:rPr dirty="0" sz="2800" spc="68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-</a:t>
            </a:r>
            <a:r>
              <a:rPr dirty="0" sz="2800" spc="-1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3A802E"/>
                </a:solidFill>
                <a:latin typeface="Times New Roman"/>
                <a:cs typeface="Times New Roman"/>
              </a:rPr>
              <a:t>1;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4235" y="3047492"/>
            <a:ext cx="2719705" cy="12217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190"/>
              </a:lnSpc>
              <a:spcBef>
                <a:spcPts val="105"/>
              </a:spcBef>
            </a:pP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Memory</a:t>
            </a:r>
            <a:r>
              <a:rPr dirty="0" sz="2800" spc="-4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3A802E"/>
                </a:solidFill>
                <a:latin typeface="Times New Roman"/>
                <a:cs typeface="Times New Roman"/>
              </a:rPr>
              <a:t>Accesses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ts val="3025"/>
              </a:lnSpc>
            </a:pP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RISC</a:t>
            </a:r>
            <a:r>
              <a:rPr dirty="0" sz="2800" spc="-4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-</a:t>
            </a:r>
            <a:r>
              <a:rPr dirty="0" sz="2800" spc="-1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spc="-50" b="1">
                <a:solidFill>
                  <a:srgbClr val="3A802E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ts val="3190"/>
              </a:lnSpc>
            </a:pP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CISC</a:t>
            </a:r>
            <a:r>
              <a:rPr dirty="0" sz="2800" spc="-4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-</a:t>
            </a:r>
            <a:r>
              <a:rPr dirty="0" sz="2800" spc="-1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spc="-50" b="1">
                <a:solidFill>
                  <a:srgbClr val="3A802E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5834" y="3047492"/>
            <a:ext cx="2124710" cy="12217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190"/>
              </a:lnSpc>
              <a:spcBef>
                <a:spcPts val="105"/>
              </a:spcBef>
            </a:pPr>
            <a:r>
              <a:rPr dirty="0" sz="2800" spc="-10" b="1">
                <a:solidFill>
                  <a:srgbClr val="3A802E"/>
                </a:solidFill>
                <a:latin typeface="Times New Roman"/>
                <a:cs typeface="Times New Roman"/>
              </a:rPr>
              <a:t>nstructions</a:t>
            </a:r>
            <a:endParaRPr sz="2800">
              <a:latin typeface="Times New Roman"/>
              <a:cs typeface="Times New Roman"/>
            </a:endParaRPr>
          </a:p>
          <a:p>
            <a:pPr marL="786765">
              <a:lnSpc>
                <a:spcPts val="3025"/>
              </a:lnSpc>
            </a:pP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RISC</a:t>
            </a:r>
            <a:r>
              <a:rPr dirty="0" sz="2800" spc="-4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-</a:t>
            </a:r>
            <a:r>
              <a:rPr dirty="0" sz="2800" spc="-1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spc="-50" b="1">
                <a:solidFill>
                  <a:srgbClr val="3A802E"/>
                </a:solidFill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  <a:p>
            <a:pPr marL="786765">
              <a:lnSpc>
                <a:spcPts val="3190"/>
              </a:lnSpc>
            </a:pP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CISC</a:t>
            </a:r>
            <a:r>
              <a:rPr dirty="0" sz="2800" spc="-4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A802E"/>
                </a:solidFill>
                <a:latin typeface="Times New Roman"/>
                <a:cs typeface="Times New Roman"/>
              </a:rPr>
              <a:t>-</a:t>
            </a:r>
            <a:r>
              <a:rPr dirty="0" sz="2800" spc="-1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2800" spc="-50" b="1">
                <a:solidFill>
                  <a:srgbClr val="3A802E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26795"/>
            <a:ext cx="481266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34"/>
              <a:t>We</a:t>
            </a:r>
            <a:r>
              <a:rPr dirty="0" spc="-114"/>
              <a:t> </a:t>
            </a:r>
            <a:r>
              <a:rPr dirty="0" spc="-10"/>
              <a:t>will</a:t>
            </a:r>
            <a:r>
              <a:rPr dirty="0" spc="-195"/>
              <a:t> </a:t>
            </a:r>
            <a:r>
              <a:rPr dirty="0" spc="-495"/>
              <a:t>assume</a:t>
            </a:r>
            <a:r>
              <a:rPr dirty="0" spc="-114"/>
              <a:t> </a:t>
            </a:r>
            <a:r>
              <a:rPr dirty="0" spc="-195"/>
              <a:t>that</a:t>
            </a:r>
            <a:r>
              <a:rPr dirty="0" spc="-120"/>
              <a:t> </a:t>
            </a:r>
            <a:r>
              <a:rPr dirty="0" spc="-50"/>
              <a:t>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175190"/>
            <a:ext cx="7869555" cy="472376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695"/>
              </a:spcBef>
              <a:buClr>
                <a:srgbClr val="CC9900"/>
              </a:buClr>
              <a:buAutoNum type="arabicPeriod"/>
              <a:tabLst>
                <a:tab pos="585470" algn="l"/>
              </a:tabLst>
            </a:pPr>
            <a:r>
              <a:rPr dirty="0" sz="2600">
                <a:latin typeface="Arial MT"/>
                <a:cs typeface="Arial MT"/>
              </a:rPr>
              <a:t>Activity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overlapped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where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possible</a:t>
            </a:r>
            <a:endParaRPr sz="2600">
              <a:latin typeface="Arial MT"/>
              <a:cs typeface="Arial MT"/>
            </a:endParaRPr>
          </a:p>
          <a:p>
            <a:pPr lvl="1" marL="853440" indent="-496570">
              <a:lnSpc>
                <a:spcPct val="100000"/>
              </a:lnSpc>
              <a:spcBef>
                <a:spcPts val="560"/>
              </a:spcBef>
              <a:buClr>
                <a:srgbClr val="3A802E"/>
              </a:buClr>
              <a:buChar char="•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PC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increment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instruction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fetch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memory?</a:t>
            </a:r>
            <a:endParaRPr sz="2400">
              <a:latin typeface="Arial MT"/>
              <a:cs typeface="Arial MT"/>
            </a:endParaRPr>
          </a:p>
          <a:p>
            <a:pPr lvl="1" marL="853440" indent="-496570">
              <a:lnSpc>
                <a:spcPct val="100000"/>
              </a:lnSpc>
              <a:spcBef>
                <a:spcPts val="555"/>
              </a:spcBef>
              <a:buClr>
                <a:srgbClr val="3A802E"/>
              </a:buClr>
              <a:buChar char="•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Instruction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decode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effective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address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calculation</a:t>
            </a:r>
            <a:endParaRPr sz="2400">
              <a:latin typeface="Arial MT"/>
              <a:cs typeface="Arial MT"/>
            </a:endParaRPr>
          </a:p>
          <a:p>
            <a:pPr marL="585470" marR="600075" indent="-573405">
              <a:lnSpc>
                <a:spcPct val="100000"/>
              </a:lnSpc>
              <a:spcBef>
                <a:spcPts val="665"/>
              </a:spcBef>
              <a:buClr>
                <a:srgbClr val="CC9900"/>
              </a:buClr>
              <a:buAutoNum type="arabicPeriod"/>
              <a:tabLst>
                <a:tab pos="585470" algn="l"/>
              </a:tabLst>
            </a:pPr>
            <a:r>
              <a:rPr dirty="0" sz="2600" spc="-20">
                <a:latin typeface="Arial MT"/>
                <a:cs typeface="Arial MT"/>
              </a:rPr>
              <a:t>Load-</a:t>
            </a:r>
            <a:r>
              <a:rPr dirty="0" sz="2600">
                <a:latin typeface="Arial MT"/>
                <a:cs typeface="Arial MT"/>
              </a:rPr>
              <a:t>store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ISA: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only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instructions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take </a:t>
            </a:r>
            <a:r>
              <a:rPr dirty="0" sz="2600">
                <a:latin typeface="Arial MT"/>
                <a:cs typeface="Arial MT"/>
              </a:rPr>
              <a:t>operands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memory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loads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&amp;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stores</a:t>
            </a:r>
            <a:endParaRPr sz="2600">
              <a:latin typeface="Arial MT"/>
              <a:cs typeface="Arial MT"/>
            </a:endParaRPr>
          </a:p>
          <a:p>
            <a:pPr marL="585470" marR="37465" indent="-573405">
              <a:lnSpc>
                <a:spcPct val="100000"/>
              </a:lnSpc>
              <a:spcBef>
                <a:spcPts val="620"/>
              </a:spcBef>
              <a:buClr>
                <a:srgbClr val="CC9900"/>
              </a:buClr>
              <a:buAutoNum type="arabicPeriod"/>
              <a:tabLst>
                <a:tab pos="585470" algn="l"/>
              </a:tabLst>
            </a:pP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memory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delays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typically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seen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by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 spc="-10">
                <a:latin typeface="Arial MT"/>
                <a:cs typeface="Arial MT"/>
              </a:rPr>
              <a:t>processor</a:t>
            </a:r>
            <a:endParaRPr sz="2600">
              <a:latin typeface="Arial MT"/>
              <a:cs typeface="Arial MT"/>
            </a:endParaRPr>
          </a:p>
          <a:p>
            <a:pPr lvl="1" marL="853440" indent="-496570">
              <a:lnSpc>
                <a:spcPct val="100000"/>
              </a:lnSpc>
              <a:spcBef>
                <a:spcPts val="560"/>
              </a:spcBef>
              <a:buClr>
                <a:srgbClr val="3A802E"/>
              </a:buClr>
              <a:buSzPct val="58333"/>
              <a:buChar char="•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Otherwise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timeline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dominated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them</a:t>
            </a:r>
            <a:endParaRPr sz="2400">
              <a:latin typeface="Arial MT"/>
              <a:cs typeface="Arial MT"/>
            </a:endParaRPr>
          </a:p>
          <a:p>
            <a:pPr lvl="1" marL="853440" marR="95250" indent="-497205">
              <a:lnSpc>
                <a:spcPct val="99600"/>
              </a:lnSpc>
              <a:spcBef>
                <a:spcPts val="590"/>
              </a:spcBef>
              <a:buClr>
                <a:srgbClr val="3A802E"/>
              </a:buClr>
              <a:buSzPct val="58333"/>
              <a:buChar char="•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some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hardware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mechanism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through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which </a:t>
            </a:r>
            <a:r>
              <a:rPr dirty="0" sz="2400">
                <a:latin typeface="Arial MT"/>
                <a:cs typeface="Arial MT"/>
              </a:rPr>
              <a:t>most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memory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access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requests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satisfied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at </a:t>
            </a:r>
            <a:r>
              <a:rPr dirty="0" sz="2400">
                <a:latin typeface="Arial MT"/>
                <a:cs typeface="Arial MT"/>
              </a:rPr>
              <a:t>processor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speeds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>
                <a:solidFill>
                  <a:srgbClr val="0066FF"/>
                </a:solidFill>
                <a:latin typeface="Arial MT"/>
                <a:cs typeface="Arial MT"/>
              </a:rPr>
              <a:t>cache</a:t>
            </a:r>
            <a:r>
              <a:rPr dirty="0" sz="2400" spc="-7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66FF"/>
                </a:solidFill>
                <a:latin typeface="Arial MT"/>
                <a:cs typeface="Arial MT"/>
              </a:rPr>
              <a:t>memory</a:t>
            </a:r>
            <a:r>
              <a:rPr dirty="0" sz="2400" spc="-1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2026-09-03T04:13:15Z</dcterms:created>
  <dcterms:modified xsi:type="dcterms:W3CDTF">2026-09-03T04:13:15Z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2026-09-03T00:00:00Z</vt:filetime>
  </property>
  <property fmtid="{D5CDD505-2E9C-101B-9397-08002B2CF9AE}" pid="4" name="LastSaved">
    <vt:filetime>2026-09-03T00:00:00Z</vt:filetime>
  </property>
  <property fmtid="{D5CDD505-2E9C-101B-9397-08002B2CF9AE}" pid="5" name="Producer">
    <vt:lpwstr>iLovePDF</vt:lpwstr>
  </property>
</Properties>
</file>