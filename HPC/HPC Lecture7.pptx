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7620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4382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2844" y="729183"/>
            <a:ext cx="663575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7616" y="658368"/>
            <a:ext cx="8635365" cy="0"/>
          </a:xfrm>
          <a:custGeom>
            <a:avLst/>
            <a:gdLst/>
            <a:ahLst/>
            <a:cxnLst/>
            <a:rect l="l" t="t" r="r" b="b"/>
            <a:pathLst>
              <a:path w="8635365" h="0">
                <a:moveTo>
                  <a:pt x="0" y="0"/>
                </a:moveTo>
                <a:lnTo>
                  <a:pt x="8634984" y="0"/>
                </a:lnTo>
              </a:path>
            </a:pathLst>
          </a:custGeom>
          <a:ln w="12190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724915"/>
            <a:ext cx="8020684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633219"/>
            <a:ext cx="5652770" cy="1589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99652" y="6917648"/>
            <a:ext cx="20574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0285" marR="5080" indent="-2268220">
              <a:lnSpc>
                <a:spcPct val="120000"/>
              </a:lnSpc>
              <a:spcBef>
                <a:spcPts val="95"/>
              </a:spcBef>
            </a:pPr>
            <a:r>
              <a:rPr dirty="0" sz="4000" b="1">
                <a:solidFill>
                  <a:srgbClr val="3A802E"/>
                </a:solidFill>
                <a:latin typeface="Times New Roman"/>
                <a:cs typeface="Times New Roman"/>
              </a:rPr>
              <a:t>High</a:t>
            </a:r>
            <a:r>
              <a:rPr dirty="0" sz="4000" spc="-6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4000" b="1">
                <a:solidFill>
                  <a:srgbClr val="3A802E"/>
                </a:solidFill>
                <a:latin typeface="Times New Roman"/>
                <a:cs typeface="Times New Roman"/>
              </a:rPr>
              <a:t>Performance</a:t>
            </a:r>
            <a:r>
              <a:rPr dirty="0" sz="4000" spc="-7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3A802E"/>
                </a:solidFill>
                <a:latin typeface="Times New Roman"/>
                <a:cs typeface="Times New Roman"/>
              </a:rPr>
              <a:t>Computing </a:t>
            </a:r>
            <a:r>
              <a:rPr dirty="0" sz="4000" b="1">
                <a:solidFill>
                  <a:srgbClr val="3A802E"/>
                </a:solidFill>
                <a:latin typeface="Times New Roman"/>
                <a:cs typeface="Times New Roman"/>
              </a:rPr>
              <a:t>Lecture</a:t>
            </a:r>
            <a:r>
              <a:rPr dirty="0" sz="4000" spc="-6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4000" spc="-50" b="1">
                <a:solidFill>
                  <a:srgbClr val="3A802E"/>
                </a:solidFill>
                <a:latin typeface="Times New Roman"/>
                <a:cs typeface="Times New Roman"/>
              </a:rPr>
              <a:t>7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88284" y="3218179"/>
            <a:ext cx="35153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882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Matthew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Jacob </a:t>
            </a:r>
            <a:r>
              <a:rPr dirty="0" sz="2400">
                <a:latin typeface="Arial MT"/>
                <a:cs typeface="Arial MT"/>
              </a:rPr>
              <a:t>Indian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Institute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Science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20"/>
              <a:t>Recall:</a:t>
            </a:r>
            <a:r>
              <a:rPr dirty="0" spc="-125"/>
              <a:t> </a:t>
            </a:r>
            <a:r>
              <a:rPr dirty="0" spc="-395"/>
              <a:t>C</a:t>
            </a:r>
            <a:r>
              <a:rPr dirty="0" spc="-120"/>
              <a:t> </a:t>
            </a:r>
            <a:r>
              <a:rPr dirty="0" spc="-300"/>
              <a:t>Program</a:t>
            </a:r>
            <a:r>
              <a:rPr dirty="0" spc="-120"/>
              <a:t> </a:t>
            </a:r>
            <a:r>
              <a:rPr dirty="0"/>
              <a:t>to</a:t>
            </a:r>
            <a:r>
              <a:rPr dirty="0" spc="-235"/>
              <a:t> </a:t>
            </a:r>
            <a:r>
              <a:rPr dirty="0" spc="-280"/>
              <a:t>a.out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569212"/>
            <a:ext cx="7894955" cy="258572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3000">
                <a:latin typeface="Arial MT"/>
                <a:cs typeface="Arial MT"/>
              </a:rPr>
              <a:t>%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gcc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program.c</a:t>
            </a:r>
            <a:endParaRPr sz="30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program.c: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containing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written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in </a:t>
            </a:r>
            <a:r>
              <a:rPr dirty="0" sz="3000" spc="-25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programming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language</a:t>
            </a:r>
            <a:endParaRPr sz="3000">
              <a:latin typeface="Arial MT"/>
              <a:cs typeface="Arial MT"/>
            </a:endParaRPr>
          </a:p>
          <a:p>
            <a:pPr marL="355600" marR="13017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a.out:</a:t>
            </a:r>
            <a:r>
              <a:rPr dirty="0" sz="3000" spc="7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containing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executable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equivalent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program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machine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language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496316"/>
            <a:ext cx="247078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Steps</a:t>
            </a:r>
            <a:r>
              <a:rPr dirty="0" spc="-114"/>
              <a:t> </a:t>
            </a:r>
            <a:r>
              <a:rPr dirty="0" spc="-30"/>
              <a:t>in</a:t>
            </a:r>
            <a:r>
              <a:rPr dirty="0" spc="-240"/>
              <a:t> </a:t>
            </a:r>
            <a:r>
              <a:rPr dirty="0" spc="-425"/>
              <a:t>gcc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6855" y="2101405"/>
            <a:ext cx="1928495" cy="540385"/>
            <a:chOff x="2276855" y="2101405"/>
            <a:chExt cx="1928495" cy="540385"/>
          </a:xfrm>
        </p:grpSpPr>
        <p:sp>
          <p:nvSpPr>
            <p:cNvPr id="4" name="object 4"/>
            <p:cNvSpPr/>
            <p:nvPr/>
          </p:nvSpPr>
          <p:spPr>
            <a:xfrm>
              <a:off x="2276855" y="2325623"/>
              <a:ext cx="789940" cy="76200"/>
            </a:xfrm>
            <a:custGeom>
              <a:avLst/>
              <a:gdLst/>
              <a:ahLst/>
              <a:cxnLst/>
              <a:rect l="l" t="t" r="r" b="b"/>
              <a:pathLst>
                <a:path w="789939" h="76200">
                  <a:moveTo>
                    <a:pt x="713232" y="0"/>
                  </a:moveTo>
                  <a:lnTo>
                    <a:pt x="713232" y="76200"/>
                  </a:lnTo>
                  <a:lnTo>
                    <a:pt x="777708" y="42672"/>
                  </a:lnTo>
                  <a:lnTo>
                    <a:pt x="728471" y="42672"/>
                  </a:lnTo>
                  <a:lnTo>
                    <a:pt x="731519" y="39624"/>
                  </a:lnTo>
                  <a:lnTo>
                    <a:pt x="731519" y="36575"/>
                  </a:lnTo>
                  <a:lnTo>
                    <a:pt x="728471" y="33527"/>
                  </a:lnTo>
                  <a:lnTo>
                    <a:pt x="783081" y="33527"/>
                  </a:lnTo>
                  <a:lnTo>
                    <a:pt x="713232" y="0"/>
                  </a:lnTo>
                  <a:close/>
                </a:path>
                <a:path w="789939" h="76200">
                  <a:moveTo>
                    <a:pt x="713232" y="33527"/>
                  </a:moveTo>
                  <a:lnTo>
                    <a:pt x="3048" y="33527"/>
                  </a:lnTo>
                  <a:lnTo>
                    <a:pt x="0" y="36575"/>
                  </a:lnTo>
                  <a:lnTo>
                    <a:pt x="0" y="39624"/>
                  </a:lnTo>
                  <a:lnTo>
                    <a:pt x="3048" y="42672"/>
                  </a:lnTo>
                  <a:lnTo>
                    <a:pt x="713232" y="42672"/>
                  </a:lnTo>
                  <a:lnTo>
                    <a:pt x="713232" y="33527"/>
                  </a:lnTo>
                  <a:close/>
                </a:path>
                <a:path w="789939" h="76200">
                  <a:moveTo>
                    <a:pt x="783081" y="33527"/>
                  </a:moveTo>
                  <a:lnTo>
                    <a:pt x="728471" y="33527"/>
                  </a:lnTo>
                  <a:lnTo>
                    <a:pt x="731519" y="36575"/>
                  </a:lnTo>
                  <a:lnTo>
                    <a:pt x="731519" y="39624"/>
                  </a:lnTo>
                  <a:lnTo>
                    <a:pt x="728471" y="42672"/>
                  </a:lnTo>
                  <a:lnTo>
                    <a:pt x="777708" y="42672"/>
                  </a:lnTo>
                  <a:lnTo>
                    <a:pt x="789432" y="36575"/>
                  </a:lnTo>
                  <a:lnTo>
                    <a:pt x="783081" y="335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6628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1133856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133856" y="530351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6628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0" y="0"/>
                  </a:moveTo>
                  <a:lnTo>
                    <a:pt x="0" y="530352"/>
                  </a:lnTo>
                  <a:lnTo>
                    <a:pt x="1133856" y="530352"/>
                  </a:lnTo>
                  <a:lnTo>
                    <a:pt x="113385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349244" y="2166620"/>
            <a:ext cx="568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cpp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00144" y="2101405"/>
            <a:ext cx="2590800" cy="3022600"/>
            <a:chOff x="4200144" y="2101405"/>
            <a:chExt cx="2590800" cy="3022600"/>
          </a:xfrm>
        </p:grpSpPr>
        <p:sp>
          <p:nvSpPr>
            <p:cNvPr id="9" name="object 9"/>
            <p:cNvSpPr/>
            <p:nvPr/>
          </p:nvSpPr>
          <p:spPr>
            <a:xfrm>
              <a:off x="4200144" y="2325623"/>
              <a:ext cx="2590800" cy="2798445"/>
            </a:xfrm>
            <a:custGeom>
              <a:avLst/>
              <a:gdLst/>
              <a:ahLst/>
              <a:cxnLst/>
              <a:rect l="l" t="t" r="r" b="b"/>
              <a:pathLst>
                <a:path w="2590800" h="2798445">
                  <a:moveTo>
                    <a:pt x="786384" y="36576"/>
                  </a:moveTo>
                  <a:lnTo>
                    <a:pt x="780034" y="33528"/>
                  </a:lnTo>
                  <a:lnTo>
                    <a:pt x="710184" y="0"/>
                  </a:lnTo>
                  <a:lnTo>
                    <a:pt x="710184" y="33528"/>
                  </a:lnTo>
                  <a:lnTo>
                    <a:pt x="0" y="33528"/>
                  </a:lnTo>
                  <a:lnTo>
                    <a:pt x="0" y="42672"/>
                  </a:lnTo>
                  <a:lnTo>
                    <a:pt x="710184" y="42672"/>
                  </a:lnTo>
                  <a:lnTo>
                    <a:pt x="710184" y="76200"/>
                  </a:lnTo>
                  <a:lnTo>
                    <a:pt x="774649" y="42672"/>
                  </a:lnTo>
                  <a:lnTo>
                    <a:pt x="786384" y="36576"/>
                  </a:lnTo>
                  <a:close/>
                </a:path>
                <a:path w="2590800" h="2798445">
                  <a:moveTo>
                    <a:pt x="2590800" y="2755392"/>
                  </a:moveTo>
                  <a:lnTo>
                    <a:pt x="1996440" y="2755392"/>
                  </a:lnTo>
                  <a:lnTo>
                    <a:pt x="1996440" y="2721864"/>
                  </a:lnTo>
                  <a:lnTo>
                    <a:pt x="1920240" y="2758440"/>
                  </a:lnTo>
                  <a:lnTo>
                    <a:pt x="1996440" y="2798064"/>
                  </a:lnTo>
                  <a:lnTo>
                    <a:pt x="1996440" y="2764536"/>
                  </a:lnTo>
                  <a:lnTo>
                    <a:pt x="2587752" y="2764536"/>
                  </a:lnTo>
                  <a:lnTo>
                    <a:pt x="2590800" y="2761488"/>
                  </a:lnTo>
                  <a:lnTo>
                    <a:pt x="2590800" y="2755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98652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1133855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133855" y="530351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8652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0" y="0"/>
                  </a:moveTo>
                  <a:lnTo>
                    <a:pt x="0" y="530352"/>
                  </a:lnTo>
                  <a:lnTo>
                    <a:pt x="1133856" y="530352"/>
                  </a:lnTo>
                  <a:lnTo>
                    <a:pt x="113385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19403" y="2114803"/>
            <a:ext cx="1399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program.c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7771" y="2166620"/>
            <a:ext cx="535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cc1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64573" y="3777805"/>
            <a:ext cx="1143635" cy="540385"/>
            <a:chOff x="3064573" y="3777805"/>
            <a:chExt cx="1143635" cy="540385"/>
          </a:xfrm>
        </p:grpSpPr>
        <p:sp>
          <p:nvSpPr>
            <p:cNvPr id="15" name="object 15"/>
            <p:cNvSpPr/>
            <p:nvPr/>
          </p:nvSpPr>
          <p:spPr>
            <a:xfrm>
              <a:off x="3069335" y="37825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1133856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133856" y="530351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69335" y="37825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0" y="0"/>
                  </a:moveTo>
                  <a:lnTo>
                    <a:pt x="0" y="530352"/>
                  </a:lnTo>
                  <a:lnTo>
                    <a:pt x="1133855" y="530352"/>
                  </a:lnTo>
                  <a:lnTo>
                    <a:pt x="1133855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455923" y="3843020"/>
            <a:ext cx="365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37688" y="2368295"/>
            <a:ext cx="3517900" cy="2998470"/>
            <a:chOff x="2837688" y="2368295"/>
            <a:chExt cx="3517900" cy="2998470"/>
          </a:xfrm>
        </p:grpSpPr>
        <p:sp>
          <p:nvSpPr>
            <p:cNvPr id="19" name="object 19"/>
            <p:cNvSpPr/>
            <p:nvPr/>
          </p:nvSpPr>
          <p:spPr>
            <a:xfrm>
              <a:off x="2837688" y="2368295"/>
              <a:ext cx="3517900" cy="1719580"/>
            </a:xfrm>
            <a:custGeom>
              <a:avLst/>
              <a:gdLst/>
              <a:ahLst/>
              <a:cxnLst/>
              <a:rect l="l" t="t" r="r" b="b"/>
              <a:pathLst>
                <a:path w="3517900" h="1719579">
                  <a:moveTo>
                    <a:pt x="155448" y="1642871"/>
                  </a:moveTo>
                  <a:lnTo>
                    <a:pt x="155448" y="1719071"/>
                  </a:lnTo>
                  <a:lnTo>
                    <a:pt x="219924" y="1685543"/>
                  </a:lnTo>
                  <a:lnTo>
                    <a:pt x="170687" y="1685543"/>
                  </a:lnTo>
                  <a:lnTo>
                    <a:pt x="173736" y="1682495"/>
                  </a:lnTo>
                  <a:lnTo>
                    <a:pt x="173736" y="1676400"/>
                  </a:lnTo>
                  <a:lnTo>
                    <a:pt x="225298" y="1676400"/>
                  </a:lnTo>
                  <a:lnTo>
                    <a:pt x="155448" y="1642871"/>
                  </a:lnTo>
                  <a:close/>
                </a:path>
                <a:path w="3517900" h="1719579">
                  <a:moveTo>
                    <a:pt x="3508248" y="835151"/>
                  </a:moveTo>
                  <a:lnTo>
                    <a:pt x="0" y="835151"/>
                  </a:lnTo>
                  <a:lnTo>
                    <a:pt x="0" y="1685543"/>
                  </a:lnTo>
                  <a:lnTo>
                    <a:pt x="155448" y="1685543"/>
                  </a:lnTo>
                  <a:lnTo>
                    <a:pt x="155448" y="1679448"/>
                  </a:lnTo>
                  <a:lnTo>
                    <a:pt x="9143" y="1679448"/>
                  </a:lnTo>
                  <a:lnTo>
                    <a:pt x="3048" y="1676400"/>
                  </a:lnTo>
                  <a:lnTo>
                    <a:pt x="9143" y="1676400"/>
                  </a:lnTo>
                  <a:lnTo>
                    <a:pt x="9143" y="844295"/>
                  </a:lnTo>
                  <a:lnTo>
                    <a:pt x="3048" y="844295"/>
                  </a:lnTo>
                  <a:lnTo>
                    <a:pt x="9143" y="841248"/>
                  </a:lnTo>
                  <a:lnTo>
                    <a:pt x="3508248" y="841248"/>
                  </a:lnTo>
                  <a:lnTo>
                    <a:pt x="3508248" y="835151"/>
                  </a:lnTo>
                  <a:close/>
                </a:path>
                <a:path w="3517900" h="1719579">
                  <a:moveTo>
                    <a:pt x="225298" y="1676400"/>
                  </a:moveTo>
                  <a:lnTo>
                    <a:pt x="173736" y="1676400"/>
                  </a:lnTo>
                  <a:lnTo>
                    <a:pt x="173736" y="1682495"/>
                  </a:lnTo>
                  <a:lnTo>
                    <a:pt x="170687" y="1685543"/>
                  </a:lnTo>
                  <a:lnTo>
                    <a:pt x="219924" y="1685543"/>
                  </a:lnTo>
                  <a:lnTo>
                    <a:pt x="231648" y="1679448"/>
                  </a:lnTo>
                  <a:lnTo>
                    <a:pt x="225298" y="1676400"/>
                  </a:lnTo>
                  <a:close/>
                </a:path>
                <a:path w="3517900" h="1719579">
                  <a:moveTo>
                    <a:pt x="9143" y="1676400"/>
                  </a:moveTo>
                  <a:lnTo>
                    <a:pt x="3048" y="1676400"/>
                  </a:lnTo>
                  <a:lnTo>
                    <a:pt x="9143" y="1679448"/>
                  </a:lnTo>
                  <a:lnTo>
                    <a:pt x="9143" y="1676400"/>
                  </a:lnTo>
                  <a:close/>
                </a:path>
                <a:path w="3517900" h="1719579">
                  <a:moveTo>
                    <a:pt x="155448" y="1676400"/>
                  </a:moveTo>
                  <a:lnTo>
                    <a:pt x="9143" y="1676400"/>
                  </a:lnTo>
                  <a:lnTo>
                    <a:pt x="9143" y="1679448"/>
                  </a:lnTo>
                  <a:lnTo>
                    <a:pt x="155448" y="1679448"/>
                  </a:lnTo>
                  <a:lnTo>
                    <a:pt x="155448" y="1676400"/>
                  </a:lnTo>
                  <a:close/>
                </a:path>
                <a:path w="3517900" h="1719579">
                  <a:moveTo>
                    <a:pt x="9143" y="841248"/>
                  </a:moveTo>
                  <a:lnTo>
                    <a:pt x="3048" y="844295"/>
                  </a:lnTo>
                  <a:lnTo>
                    <a:pt x="9143" y="844295"/>
                  </a:lnTo>
                  <a:lnTo>
                    <a:pt x="9143" y="841248"/>
                  </a:lnTo>
                  <a:close/>
                </a:path>
                <a:path w="3517900" h="1719579">
                  <a:moveTo>
                    <a:pt x="3517391" y="835151"/>
                  </a:moveTo>
                  <a:lnTo>
                    <a:pt x="3511296" y="835151"/>
                  </a:lnTo>
                  <a:lnTo>
                    <a:pt x="3508248" y="841248"/>
                  </a:lnTo>
                  <a:lnTo>
                    <a:pt x="9143" y="841248"/>
                  </a:lnTo>
                  <a:lnTo>
                    <a:pt x="9143" y="844295"/>
                  </a:lnTo>
                  <a:lnTo>
                    <a:pt x="3514344" y="844295"/>
                  </a:lnTo>
                  <a:lnTo>
                    <a:pt x="3517391" y="841248"/>
                  </a:lnTo>
                  <a:lnTo>
                    <a:pt x="3517391" y="835151"/>
                  </a:lnTo>
                  <a:close/>
                </a:path>
                <a:path w="3517900" h="1719579">
                  <a:moveTo>
                    <a:pt x="3508248" y="3048"/>
                  </a:moveTo>
                  <a:lnTo>
                    <a:pt x="3508248" y="841248"/>
                  </a:lnTo>
                  <a:lnTo>
                    <a:pt x="3511296" y="835151"/>
                  </a:lnTo>
                  <a:lnTo>
                    <a:pt x="3517391" y="835151"/>
                  </a:lnTo>
                  <a:lnTo>
                    <a:pt x="3517391" y="9143"/>
                  </a:lnTo>
                  <a:lnTo>
                    <a:pt x="3511296" y="9143"/>
                  </a:lnTo>
                  <a:lnTo>
                    <a:pt x="3508248" y="3048"/>
                  </a:lnTo>
                  <a:close/>
                </a:path>
                <a:path w="3517900" h="1719579">
                  <a:moveTo>
                    <a:pt x="3517391" y="0"/>
                  </a:moveTo>
                  <a:lnTo>
                    <a:pt x="3279648" y="0"/>
                  </a:lnTo>
                  <a:lnTo>
                    <a:pt x="3279648" y="9143"/>
                  </a:lnTo>
                  <a:lnTo>
                    <a:pt x="3508248" y="9143"/>
                  </a:lnTo>
                  <a:lnTo>
                    <a:pt x="3508248" y="3048"/>
                  </a:lnTo>
                  <a:lnTo>
                    <a:pt x="3517391" y="3048"/>
                  </a:lnTo>
                  <a:lnTo>
                    <a:pt x="3517391" y="0"/>
                  </a:lnTo>
                  <a:close/>
                </a:path>
                <a:path w="3517900" h="1719579">
                  <a:moveTo>
                    <a:pt x="3517391" y="3048"/>
                  </a:moveTo>
                  <a:lnTo>
                    <a:pt x="3508248" y="3048"/>
                  </a:lnTo>
                  <a:lnTo>
                    <a:pt x="3511296" y="9143"/>
                  </a:lnTo>
                  <a:lnTo>
                    <a:pt x="3517391" y="9143"/>
                  </a:lnTo>
                  <a:lnTo>
                    <a:pt x="3517391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86527" y="4828031"/>
              <a:ext cx="1134110" cy="533400"/>
            </a:xfrm>
            <a:custGeom>
              <a:avLst/>
              <a:gdLst/>
              <a:ahLst/>
              <a:cxnLst/>
              <a:rect l="l" t="t" r="r" b="b"/>
              <a:pathLst>
                <a:path w="1134110" h="533400">
                  <a:moveTo>
                    <a:pt x="1133855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133855" y="533400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86527" y="4828031"/>
              <a:ext cx="1134110" cy="533400"/>
            </a:xfrm>
            <a:custGeom>
              <a:avLst/>
              <a:gdLst/>
              <a:ahLst/>
              <a:cxnLst/>
              <a:rect l="l" t="t" r="r" b="b"/>
              <a:pathLst>
                <a:path w="1134110" h="533400">
                  <a:moveTo>
                    <a:pt x="0" y="0"/>
                  </a:moveTo>
                  <a:lnTo>
                    <a:pt x="0" y="533400"/>
                  </a:lnTo>
                  <a:lnTo>
                    <a:pt x="1133856" y="533400"/>
                  </a:lnTo>
                  <a:lnTo>
                    <a:pt x="113385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406644" y="4888483"/>
            <a:ext cx="297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ld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9268" y="2044700"/>
            <a:ext cx="9093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hello.s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61635" y="3614420"/>
            <a:ext cx="14166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program.o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00144" y="4044695"/>
            <a:ext cx="1396365" cy="1706880"/>
          </a:xfrm>
          <a:custGeom>
            <a:avLst/>
            <a:gdLst/>
            <a:ahLst/>
            <a:cxnLst/>
            <a:rect l="l" t="t" r="r" b="b"/>
            <a:pathLst>
              <a:path w="1396364" h="1706879">
                <a:moveTo>
                  <a:pt x="1392936" y="707136"/>
                </a:moveTo>
                <a:lnTo>
                  <a:pt x="1359408" y="707136"/>
                </a:lnTo>
                <a:lnTo>
                  <a:pt x="1359408" y="9144"/>
                </a:lnTo>
                <a:lnTo>
                  <a:pt x="1359408" y="3048"/>
                </a:lnTo>
                <a:lnTo>
                  <a:pt x="1359408" y="0"/>
                </a:lnTo>
                <a:lnTo>
                  <a:pt x="0" y="0"/>
                </a:lnTo>
                <a:lnTo>
                  <a:pt x="0" y="9144"/>
                </a:lnTo>
                <a:lnTo>
                  <a:pt x="1350264" y="9144"/>
                </a:lnTo>
                <a:lnTo>
                  <a:pt x="1350264" y="707136"/>
                </a:lnTo>
                <a:lnTo>
                  <a:pt x="1316736" y="707136"/>
                </a:lnTo>
                <a:lnTo>
                  <a:pt x="1353312" y="783336"/>
                </a:lnTo>
                <a:lnTo>
                  <a:pt x="1383423" y="725424"/>
                </a:lnTo>
                <a:lnTo>
                  <a:pt x="1392936" y="707136"/>
                </a:lnTo>
                <a:close/>
              </a:path>
              <a:path w="1396364" h="1706879">
                <a:moveTo>
                  <a:pt x="1395984" y="1630680"/>
                </a:moveTo>
                <a:lnTo>
                  <a:pt x="1362456" y="1630680"/>
                </a:lnTo>
                <a:lnTo>
                  <a:pt x="1362456" y="1310640"/>
                </a:lnTo>
                <a:lnTo>
                  <a:pt x="1356360" y="1310640"/>
                </a:lnTo>
                <a:lnTo>
                  <a:pt x="1353312" y="1313688"/>
                </a:lnTo>
                <a:lnTo>
                  <a:pt x="1353312" y="1630680"/>
                </a:lnTo>
                <a:lnTo>
                  <a:pt x="1319784" y="1630680"/>
                </a:lnTo>
                <a:lnTo>
                  <a:pt x="1359408" y="1706880"/>
                </a:lnTo>
                <a:lnTo>
                  <a:pt x="1387195" y="1648968"/>
                </a:lnTo>
                <a:lnTo>
                  <a:pt x="1395984" y="1630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199379" y="5775452"/>
            <a:ext cx="704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a.out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10019" y="4851907"/>
            <a:ext cx="29368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Library</a:t>
            </a:r>
            <a:r>
              <a:rPr dirty="0" sz="24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files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e.g.,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math.o,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math </a:t>
            </a:r>
            <a:r>
              <a:rPr dirty="0" sz="1800" spc="-10">
                <a:latin typeface="Arial MT"/>
                <a:cs typeface="Arial MT"/>
              </a:rPr>
              <a:t>library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57547" y="895604"/>
            <a:ext cx="47053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These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are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text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files</a:t>
            </a:r>
            <a:r>
              <a:rPr dirty="0" sz="2400" spc="-2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–</a:t>
            </a:r>
            <a:r>
              <a:rPr dirty="0" sz="2400" spc="-2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you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can</a:t>
            </a:r>
            <a:r>
              <a:rPr dirty="0" sz="2400" spc="-4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3A802E"/>
                </a:solidFill>
                <a:latin typeface="Arial MT"/>
                <a:cs typeface="Arial MT"/>
              </a:rPr>
              <a:t>read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or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write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them</a:t>
            </a:r>
            <a:r>
              <a:rPr dirty="0" sz="2400" spc="-3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with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text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editor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76856" y="1432559"/>
            <a:ext cx="4520565" cy="688975"/>
          </a:xfrm>
          <a:custGeom>
            <a:avLst/>
            <a:gdLst/>
            <a:ahLst/>
            <a:cxnLst/>
            <a:rect l="l" t="t" r="r" b="b"/>
            <a:pathLst>
              <a:path w="4520565" h="688975">
                <a:moveTo>
                  <a:pt x="1901952" y="15240"/>
                </a:moveTo>
                <a:lnTo>
                  <a:pt x="1773936" y="0"/>
                </a:lnTo>
                <a:lnTo>
                  <a:pt x="1786445" y="33693"/>
                </a:lnTo>
                <a:lnTo>
                  <a:pt x="0" y="655320"/>
                </a:lnTo>
                <a:lnTo>
                  <a:pt x="12192" y="688848"/>
                </a:lnTo>
                <a:lnTo>
                  <a:pt x="1799856" y="69811"/>
                </a:lnTo>
                <a:lnTo>
                  <a:pt x="1813560" y="106680"/>
                </a:lnTo>
                <a:lnTo>
                  <a:pt x="1890166" y="27432"/>
                </a:lnTo>
                <a:lnTo>
                  <a:pt x="1901952" y="15240"/>
                </a:lnTo>
                <a:close/>
              </a:path>
              <a:path w="4520565" h="688975">
                <a:moveTo>
                  <a:pt x="4520184" y="649224"/>
                </a:moveTo>
                <a:lnTo>
                  <a:pt x="4048595" y="263131"/>
                </a:lnTo>
                <a:lnTo>
                  <a:pt x="4059504" y="249936"/>
                </a:lnTo>
                <a:lnTo>
                  <a:pt x="4072128" y="234696"/>
                </a:lnTo>
                <a:lnTo>
                  <a:pt x="3947160" y="204216"/>
                </a:lnTo>
                <a:lnTo>
                  <a:pt x="3998976" y="323088"/>
                </a:lnTo>
                <a:lnTo>
                  <a:pt x="4023715" y="293192"/>
                </a:lnTo>
                <a:lnTo>
                  <a:pt x="4495800" y="679704"/>
                </a:lnTo>
                <a:lnTo>
                  <a:pt x="4520184" y="649224"/>
                </a:lnTo>
                <a:close/>
              </a:path>
            </a:pathLst>
          </a:custGeom>
          <a:solidFill>
            <a:srgbClr val="3A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93139" y="5580379"/>
            <a:ext cx="3194050" cy="1120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These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dirty="0" sz="24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object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files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(binary)</a:t>
            </a:r>
            <a:r>
              <a:rPr dirty="0" sz="24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dirty="0" sz="2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write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programs</a:t>
            </a:r>
            <a:r>
              <a:rPr dirty="0" sz="24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read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them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78808" y="5946647"/>
            <a:ext cx="810895" cy="113030"/>
          </a:xfrm>
          <a:custGeom>
            <a:avLst/>
            <a:gdLst/>
            <a:ahLst/>
            <a:cxnLst/>
            <a:rect l="l" t="t" r="r" b="b"/>
            <a:pathLst>
              <a:path w="810895" h="113029">
                <a:moveTo>
                  <a:pt x="112775" y="0"/>
                </a:moveTo>
                <a:lnTo>
                  <a:pt x="0" y="60959"/>
                </a:lnTo>
                <a:lnTo>
                  <a:pt x="115824" y="112775"/>
                </a:lnTo>
                <a:lnTo>
                  <a:pt x="114835" y="76200"/>
                </a:lnTo>
                <a:lnTo>
                  <a:pt x="94487" y="76200"/>
                </a:lnTo>
                <a:lnTo>
                  <a:pt x="94487" y="39624"/>
                </a:lnTo>
                <a:lnTo>
                  <a:pt x="113829" y="38962"/>
                </a:lnTo>
                <a:lnTo>
                  <a:pt x="112775" y="0"/>
                </a:lnTo>
                <a:close/>
              </a:path>
              <a:path w="810895" h="113029">
                <a:moveTo>
                  <a:pt x="113829" y="38962"/>
                </a:moveTo>
                <a:lnTo>
                  <a:pt x="94487" y="39624"/>
                </a:lnTo>
                <a:lnTo>
                  <a:pt x="94487" y="76200"/>
                </a:lnTo>
                <a:lnTo>
                  <a:pt x="114819" y="75594"/>
                </a:lnTo>
                <a:lnTo>
                  <a:pt x="113846" y="39624"/>
                </a:lnTo>
                <a:lnTo>
                  <a:pt x="113829" y="38962"/>
                </a:lnTo>
                <a:close/>
              </a:path>
              <a:path w="810895" h="113029">
                <a:moveTo>
                  <a:pt x="114819" y="75594"/>
                </a:moveTo>
                <a:lnTo>
                  <a:pt x="94487" y="76200"/>
                </a:lnTo>
                <a:lnTo>
                  <a:pt x="114835" y="76200"/>
                </a:lnTo>
                <a:lnTo>
                  <a:pt x="114819" y="75594"/>
                </a:lnTo>
                <a:close/>
              </a:path>
              <a:path w="810895" h="113029">
                <a:moveTo>
                  <a:pt x="807719" y="15239"/>
                </a:moveTo>
                <a:lnTo>
                  <a:pt x="113829" y="38962"/>
                </a:lnTo>
                <a:lnTo>
                  <a:pt x="114819" y="75594"/>
                </a:lnTo>
                <a:lnTo>
                  <a:pt x="810767" y="54863"/>
                </a:lnTo>
                <a:lnTo>
                  <a:pt x="807719" y="152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86200" y="4035551"/>
            <a:ext cx="2905125" cy="1743710"/>
          </a:xfrm>
          <a:custGeom>
            <a:avLst/>
            <a:gdLst/>
            <a:ahLst/>
            <a:cxnLst/>
            <a:rect l="l" t="t" r="r" b="b"/>
            <a:pathLst>
              <a:path w="2905125" h="1743710">
                <a:moveTo>
                  <a:pt x="1115568" y="24384"/>
                </a:moveTo>
                <a:lnTo>
                  <a:pt x="1085088" y="0"/>
                </a:lnTo>
                <a:lnTo>
                  <a:pt x="50634" y="1417472"/>
                </a:lnTo>
                <a:lnTo>
                  <a:pt x="21336" y="1395984"/>
                </a:lnTo>
                <a:lnTo>
                  <a:pt x="0" y="1520952"/>
                </a:lnTo>
                <a:lnTo>
                  <a:pt x="112776" y="1463040"/>
                </a:lnTo>
                <a:lnTo>
                  <a:pt x="100304" y="1453896"/>
                </a:lnTo>
                <a:lnTo>
                  <a:pt x="80645" y="1439481"/>
                </a:lnTo>
                <a:lnTo>
                  <a:pt x="1115568" y="24384"/>
                </a:lnTo>
                <a:close/>
              </a:path>
              <a:path w="2905125" h="1743710">
                <a:moveTo>
                  <a:pt x="2904744" y="1066800"/>
                </a:moveTo>
                <a:lnTo>
                  <a:pt x="2892552" y="1030224"/>
                </a:lnTo>
                <a:lnTo>
                  <a:pt x="397484" y="1669135"/>
                </a:lnTo>
                <a:lnTo>
                  <a:pt x="387096" y="1630680"/>
                </a:lnTo>
                <a:lnTo>
                  <a:pt x="292608" y="1716024"/>
                </a:lnTo>
                <a:lnTo>
                  <a:pt x="417576" y="1743456"/>
                </a:lnTo>
                <a:lnTo>
                  <a:pt x="408508" y="1709928"/>
                </a:lnTo>
                <a:lnTo>
                  <a:pt x="407314" y="1705533"/>
                </a:lnTo>
                <a:lnTo>
                  <a:pt x="2904744" y="1066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052857"/>
            <a:ext cx="8103870" cy="461137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7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cpp:</a:t>
            </a:r>
            <a:r>
              <a:rPr dirty="0" sz="3000" spc="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pre-processor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 spc="-25">
                <a:latin typeface="Arial MT"/>
                <a:cs typeface="Arial MT"/>
              </a:rPr>
              <a:t>Pre-</a:t>
            </a:r>
            <a:r>
              <a:rPr dirty="0" sz="2600">
                <a:latin typeface="Arial MT"/>
                <a:cs typeface="Arial MT"/>
              </a:rPr>
              <a:t>processing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#include,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#define,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…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Output: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expanded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program</a:t>
            </a:r>
            <a:endParaRPr sz="26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0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cc1:</a:t>
            </a:r>
            <a:r>
              <a:rPr dirty="0" sz="3000" spc="-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</a:t>
            </a:r>
            <a:r>
              <a:rPr dirty="0" sz="3000" spc="-10">
                <a:latin typeface="Arial MT"/>
                <a:cs typeface="Arial MT"/>
              </a:rPr>
              <a:t> compiler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Output: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equivalent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assembly</a:t>
            </a:r>
            <a:r>
              <a:rPr dirty="0" sz="2600" spc="-9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language</a:t>
            </a:r>
            <a:r>
              <a:rPr dirty="0" sz="2600" spc="-6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program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Almost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like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machine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language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readable</a:t>
            </a:r>
            <a:endParaRPr sz="26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6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as:</a:t>
            </a:r>
            <a:r>
              <a:rPr dirty="0" sz="3000" spc="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Assembler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9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Output: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equivalent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machine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language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program</a:t>
            </a:r>
            <a:endParaRPr sz="26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6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ld: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Linkage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editor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3139" y="496316"/>
            <a:ext cx="247078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Steps</a:t>
            </a:r>
            <a:r>
              <a:rPr dirty="0" spc="-114"/>
              <a:t> </a:t>
            </a:r>
            <a:r>
              <a:rPr dirty="0" spc="-30"/>
              <a:t>in</a:t>
            </a:r>
            <a:r>
              <a:rPr dirty="0" spc="-240"/>
              <a:t> </a:t>
            </a:r>
            <a:r>
              <a:rPr dirty="0" spc="-425"/>
              <a:t>gcc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20"/>
              <a:t>Sample</a:t>
            </a:r>
            <a:r>
              <a:rPr dirty="0" spc="-120"/>
              <a:t> </a:t>
            </a:r>
            <a:r>
              <a:rPr dirty="0" spc="-285"/>
              <a:t>program.c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590548"/>
            <a:ext cx="4380865" cy="4847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31035">
              <a:lnSpc>
                <a:spcPct val="11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#include&lt;stdio.h&gt; #include&lt;math.h&gt;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float</a:t>
            </a:r>
            <a:r>
              <a:rPr dirty="0" sz="2400" spc="-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a[100];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main</a:t>
            </a:r>
            <a:r>
              <a:rPr dirty="0" sz="2400">
                <a:latin typeface="Arial MT"/>
                <a:cs typeface="Arial MT"/>
              </a:rPr>
              <a:t>()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{</a:t>
            </a:r>
            <a:endParaRPr sz="24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Arial MT"/>
                <a:cs typeface="Arial MT"/>
              </a:rPr>
              <a:t>int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i;</a:t>
            </a:r>
            <a:endParaRPr sz="24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265"/>
              </a:spcBef>
            </a:pPr>
            <a:r>
              <a:rPr dirty="0" sz="2400">
                <a:latin typeface="Arial MT"/>
                <a:cs typeface="Arial MT"/>
              </a:rPr>
              <a:t>float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sum;</a:t>
            </a:r>
            <a:endParaRPr sz="2400">
              <a:latin typeface="Arial MT"/>
              <a:cs typeface="Arial MT"/>
            </a:endParaRPr>
          </a:p>
          <a:p>
            <a:pPr marL="771525" marR="5080" indent="-421005">
              <a:lnSpc>
                <a:spcPct val="110000"/>
              </a:lnSpc>
            </a:pPr>
            <a:r>
              <a:rPr dirty="0" sz="2400">
                <a:latin typeface="Arial MT"/>
                <a:cs typeface="Arial MT"/>
              </a:rPr>
              <a:t>for(i=0,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sum=0.0;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i&lt;100;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i++)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{ </a:t>
            </a:r>
            <a:r>
              <a:rPr dirty="0" sz="2400">
                <a:latin typeface="Arial MT"/>
                <a:cs typeface="Arial MT"/>
              </a:rPr>
              <a:t>a[i]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sqrt(a[i]);</a:t>
            </a:r>
            <a:endParaRPr sz="2400">
              <a:latin typeface="Arial MT"/>
              <a:cs typeface="Arial MT"/>
            </a:endParaRPr>
          </a:p>
          <a:p>
            <a:pPr marL="77152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a[i];</a:t>
            </a:r>
            <a:endParaRPr sz="24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260"/>
              </a:spcBef>
            </a:pPr>
            <a:r>
              <a:rPr dirty="0" sz="2400" spc="-50">
                <a:latin typeface="Arial MT"/>
                <a:cs typeface="Arial MT"/>
              </a:rPr>
              <a:t>}</a:t>
            </a:r>
            <a:endParaRPr sz="24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Arial MT"/>
                <a:cs typeface="Arial MT"/>
              </a:rPr>
              <a:t>printf("sum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%4.2f\n",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sum);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2400" spc="-50">
                <a:latin typeface="Arial MT"/>
                <a:cs typeface="Arial MT"/>
              </a:rPr>
              <a:t>}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Corresponding</a:t>
            </a:r>
            <a:r>
              <a:rPr dirty="0" spc="-95"/>
              <a:t> </a:t>
            </a:r>
            <a:r>
              <a:rPr dirty="0" spc="-310"/>
              <a:t>program.s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610664"/>
            <a:ext cx="3887470" cy="6959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340"/>
              </a:spcBef>
            </a:pPr>
            <a:r>
              <a:rPr dirty="0" sz="2000">
                <a:latin typeface="Arial MT"/>
                <a:cs typeface="Arial MT"/>
              </a:rPr>
              <a:t>.section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.bss,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8,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0x00000003,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0,</a:t>
            </a:r>
            <a:r>
              <a:rPr dirty="0" sz="2000" spc="-50">
                <a:latin typeface="Arial MT"/>
                <a:cs typeface="Arial MT"/>
              </a:rPr>
              <a:t> 8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spc="-10">
                <a:latin typeface="Arial MT"/>
                <a:cs typeface="Arial MT"/>
              </a:rPr>
              <a:t>.bss: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3972" y="2645156"/>
            <a:ext cx="3745229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latin typeface="Arial MT"/>
                <a:cs typeface="Arial MT"/>
              </a:rPr>
              <a:t>.section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.lit8,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1,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0x30000002,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8,</a:t>
            </a:r>
            <a:r>
              <a:rPr dirty="0" sz="2000" spc="-50">
                <a:latin typeface="Arial MT"/>
                <a:cs typeface="Arial MT"/>
              </a:rPr>
              <a:t> 8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980436"/>
            <a:ext cx="4698365" cy="3008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Arial MT"/>
                <a:cs typeface="Arial MT"/>
              </a:rPr>
              <a:t>.lit8: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.section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.rodata,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1,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0x00000002,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8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spc="-10">
                <a:latin typeface="Arial MT"/>
                <a:cs typeface="Arial MT"/>
              </a:rPr>
              <a:t>.rodata: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.section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.bss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.origin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0x0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.align</a:t>
            </a:r>
            <a:r>
              <a:rPr dirty="0" sz="2000" spc="47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0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Arial MT"/>
                <a:cs typeface="Arial MT"/>
              </a:rPr>
              <a:t>.globl</a:t>
            </a:r>
            <a:r>
              <a:rPr dirty="0" sz="2000" spc="459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3972" y="5963208"/>
            <a:ext cx="572135" cy="6959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000" spc="-10">
                <a:latin typeface="Arial MT"/>
                <a:cs typeface="Arial MT"/>
              </a:rPr>
              <a:t>.type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 spc="-10">
                <a:latin typeface="Arial MT"/>
                <a:cs typeface="Arial MT"/>
              </a:rPr>
              <a:t>.size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3370" y="5963208"/>
            <a:ext cx="141859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70">
              <a:lnSpc>
                <a:spcPct val="110000"/>
              </a:lnSpc>
              <a:spcBef>
                <a:spcPts val="100"/>
              </a:spcBef>
            </a:pPr>
            <a:r>
              <a:rPr dirty="0" sz="2000">
                <a:latin typeface="Arial MT"/>
                <a:cs typeface="Arial MT"/>
              </a:rPr>
              <a:t>a,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stt_object </a:t>
            </a:r>
            <a:r>
              <a:rPr dirty="0" sz="2000">
                <a:latin typeface="Arial MT"/>
                <a:cs typeface="Arial MT"/>
              </a:rPr>
              <a:t>a,</a:t>
            </a:r>
            <a:r>
              <a:rPr dirty="0" sz="2000" spc="-25">
                <a:latin typeface="Arial MT"/>
                <a:cs typeface="Arial MT"/>
              </a:rPr>
              <a:t> 400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0940" y="2614676"/>
            <a:ext cx="28390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Assembler</a:t>
            </a:r>
            <a:r>
              <a:rPr dirty="0" sz="24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directives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20"/>
              <a:t>Assembly</a:t>
            </a:r>
            <a:r>
              <a:rPr dirty="0" spc="-90"/>
              <a:t> </a:t>
            </a:r>
            <a:r>
              <a:rPr dirty="0" spc="-305"/>
              <a:t>Representation.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610664"/>
            <a:ext cx="2008505" cy="13639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643890" algn="l"/>
              </a:tabLst>
            </a:pPr>
            <a:r>
              <a:rPr dirty="0" sz="2000" spc="-25">
                <a:latin typeface="Arial MT"/>
                <a:cs typeface="Arial MT"/>
              </a:rPr>
              <a:t>a:</a:t>
            </a:r>
            <a:r>
              <a:rPr dirty="0" sz="2000">
                <a:latin typeface="Arial MT"/>
                <a:cs typeface="Arial MT"/>
              </a:rPr>
              <a:t>	#</a:t>
            </a:r>
            <a:r>
              <a:rPr dirty="0" sz="2000" spc="-25">
                <a:latin typeface="Arial MT"/>
                <a:cs typeface="Arial MT"/>
              </a:rPr>
              <a:t> 0x0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.dynsym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.space</a:t>
            </a:r>
            <a:r>
              <a:rPr dirty="0" sz="2000" spc="49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400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Arial MT"/>
                <a:cs typeface="Arial MT"/>
              </a:rPr>
              <a:t>.section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.text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6844" y="1977644"/>
            <a:ext cx="126492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0">
                <a:latin typeface="Arial MT"/>
                <a:cs typeface="Arial MT"/>
              </a:rPr>
              <a:t>sto_default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3284016"/>
            <a:ext cx="3669665" cy="337566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340"/>
              </a:spcBef>
            </a:pP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Program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Unit: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main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  <a:tabLst>
                <a:tab pos="1271270" algn="l"/>
              </a:tabLst>
            </a:pPr>
            <a:r>
              <a:rPr dirty="0" sz="2000" spc="-20">
                <a:latin typeface="Arial MT"/>
                <a:cs typeface="Arial MT"/>
              </a:rPr>
              <a:t>.ent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20">
                <a:latin typeface="Arial MT"/>
                <a:cs typeface="Arial MT"/>
              </a:rPr>
              <a:t>main</a:t>
            </a:r>
            <a:endParaRPr sz="2000">
              <a:latin typeface="Arial MT"/>
              <a:cs typeface="Arial MT"/>
            </a:endParaRPr>
          </a:p>
          <a:p>
            <a:pPr marL="12700" marR="1791335" indent="560705">
              <a:lnSpc>
                <a:spcPct val="110000"/>
              </a:lnSpc>
              <a:tabLst>
                <a:tab pos="845185" algn="l"/>
              </a:tabLst>
            </a:pPr>
            <a:r>
              <a:rPr dirty="0" sz="2000">
                <a:latin typeface="Arial MT"/>
                <a:cs typeface="Arial MT"/>
              </a:rPr>
              <a:t>.globl</a:t>
            </a:r>
            <a:r>
              <a:rPr dirty="0" sz="2000" spc="459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main </a:t>
            </a:r>
            <a:r>
              <a:rPr dirty="0" sz="2000" spc="-10">
                <a:latin typeface="Arial MT"/>
                <a:cs typeface="Arial MT"/>
              </a:rPr>
              <a:t>main:</a:t>
            </a:r>
            <a:r>
              <a:rPr dirty="0" sz="2000">
                <a:latin typeface="Arial MT"/>
                <a:cs typeface="Arial MT"/>
              </a:rPr>
              <a:t>	#</a:t>
            </a:r>
            <a:r>
              <a:rPr dirty="0" sz="2000" spc="-25">
                <a:latin typeface="Arial MT"/>
                <a:cs typeface="Arial MT"/>
              </a:rPr>
              <a:t> 0x0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  <a:tabLst>
                <a:tab pos="2414270" algn="l"/>
              </a:tabLst>
            </a:pPr>
            <a:r>
              <a:rPr dirty="0" sz="2000">
                <a:latin typeface="Arial MT"/>
                <a:cs typeface="Arial MT"/>
              </a:rPr>
              <a:t>.dynsym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main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sto_default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.frame</a:t>
            </a:r>
            <a:r>
              <a:rPr dirty="0" sz="2000" spc="48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$sp,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16,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$31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240"/>
              </a:spcBef>
              <a:tabLst>
                <a:tab pos="1460500" algn="l"/>
              </a:tabLst>
            </a:pPr>
            <a:r>
              <a:rPr dirty="0" sz="2000" spc="-10">
                <a:latin typeface="Arial MT"/>
                <a:cs typeface="Arial MT"/>
              </a:rPr>
              <a:t>.mask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0x80000000,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-</a:t>
            </a:r>
            <a:r>
              <a:rPr dirty="0" sz="2000" spc="-50">
                <a:latin typeface="Arial MT"/>
                <a:cs typeface="Arial MT"/>
              </a:rPr>
              <a:t>8</a:t>
            </a:r>
            <a:endParaRPr sz="2000">
              <a:latin typeface="Arial MT"/>
              <a:cs typeface="Arial MT"/>
            </a:endParaRPr>
          </a:p>
          <a:p>
            <a:pPr marL="573405" marR="512445">
              <a:lnSpc>
                <a:spcPts val="264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-10">
                <a:latin typeface="Arial MT"/>
                <a:cs typeface="Arial MT"/>
              </a:rPr>
              <a:t> gra_spill_temp_0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=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0 </a:t>
            </a: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-10">
                <a:latin typeface="Arial MT"/>
                <a:cs typeface="Arial MT"/>
              </a:rPr>
              <a:t> gra_spill_temp_1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=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8</a:t>
            </a:r>
            <a:endParaRPr sz="2000">
              <a:latin typeface="Arial MT"/>
              <a:cs typeface="Arial MT"/>
            </a:endParaRPr>
          </a:p>
          <a:p>
            <a:pPr marL="573405">
              <a:lnSpc>
                <a:spcPct val="100000"/>
              </a:lnSpc>
              <a:spcBef>
                <a:spcPts val="110"/>
              </a:spcBef>
              <a:tabLst>
                <a:tab pos="1247775" algn="l"/>
              </a:tabLst>
            </a:pPr>
            <a:r>
              <a:rPr dirty="0" sz="2000" spc="-20">
                <a:latin typeface="Arial MT"/>
                <a:cs typeface="Arial MT"/>
              </a:rPr>
              <a:t>.loc</a:t>
            </a:r>
            <a:r>
              <a:rPr dirty="0" sz="2000">
                <a:latin typeface="Arial MT"/>
                <a:cs typeface="Arial MT"/>
              </a:rPr>
              <a:t>	1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4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8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20"/>
              <a:t>Assembly</a:t>
            </a:r>
            <a:r>
              <a:rPr dirty="0" spc="-90"/>
              <a:t> </a:t>
            </a:r>
            <a:r>
              <a:rPr dirty="0" spc="-305"/>
              <a:t>Representation..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063244" y="1610664"/>
            <a:ext cx="2678430" cy="13639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363220" algn="l"/>
              </a:tabLst>
            </a:pPr>
            <a:r>
              <a:rPr dirty="0" sz="2000" spc="-50">
                <a:latin typeface="Arial MT"/>
                <a:cs typeface="Arial MT"/>
              </a:rPr>
              <a:t>#</a:t>
            </a:r>
            <a:r>
              <a:rPr dirty="0" sz="2000">
                <a:latin typeface="Arial MT"/>
                <a:cs typeface="Arial MT"/>
              </a:rPr>
              <a:t>	1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 spc="-10">
                <a:latin typeface="Arial MT"/>
                <a:cs typeface="Arial MT"/>
              </a:rPr>
              <a:t>#include&lt;stdio.h&gt;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0000"/>
              </a:lnSpc>
              <a:tabLst>
                <a:tab pos="363220" algn="l"/>
              </a:tabLst>
            </a:pPr>
            <a:r>
              <a:rPr dirty="0" sz="2000" spc="-50">
                <a:latin typeface="Arial MT"/>
                <a:cs typeface="Arial MT"/>
              </a:rPr>
              <a:t>#</a:t>
            </a:r>
            <a:r>
              <a:rPr dirty="0" sz="2000">
                <a:latin typeface="Arial MT"/>
                <a:cs typeface="Arial MT"/>
              </a:rPr>
              <a:t>	2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 spc="-10">
                <a:latin typeface="Arial MT"/>
                <a:cs typeface="Arial MT"/>
              </a:rPr>
              <a:t>#include&lt;math.h&gt; </a:t>
            </a:r>
            <a:r>
              <a:rPr dirty="0" sz="2000" spc="-50">
                <a:latin typeface="Arial MT"/>
                <a:cs typeface="Arial MT"/>
              </a:rPr>
              <a:t>#</a:t>
            </a:r>
            <a:r>
              <a:rPr dirty="0" sz="2000">
                <a:latin typeface="Arial MT"/>
                <a:cs typeface="Arial MT"/>
              </a:rPr>
              <a:t>	3</a:t>
            </a:r>
            <a:r>
              <a:rPr dirty="0" sz="2000" spc="-20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float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a[100];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363220" algn="l"/>
              </a:tabLst>
            </a:pPr>
            <a:r>
              <a:rPr dirty="0" sz="2000" spc="-50">
                <a:latin typeface="Arial MT"/>
                <a:cs typeface="Arial MT"/>
              </a:rPr>
              <a:t>#</a:t>
            </a:r>
            <a:r>
              <a:rPr dirty="0" sz="2000">
                <a:latin typeface="Arial MT"/>
                <a:cs typeface="Arial MT"/>
              </a:rPr>
              <a:t>	4</a:t>
            </a:r>
            <a:r>
              <a:rPr dirty="0" sz="2000" spc="48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main()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4089" y="3017100"/>
          <a:ext cx="7261859" cy="1287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4430"/>
                <a:gridCol w="3336925"/>
                <a:gridCol w="1424304"/>
              </a:tblGrid>
              <a:tr h="308610">
                <a:tc>
                  <a:txBody>
                    <a:bodyPr/>
                    <a:lstStyle/>
                    <a:p>
                      <a:pPr algn="r" marR="102235">
                        <a:lnSpc>
                          <a:spcPts val="2205"/>
                        </a:lnSpc>
                        <a:tabLst>
                          <a:tab pos="1662430" algn="l"/>
                        </a:tabLst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.BB1.main:</a:t>
                      </a:r>
                      <a:r>
                        <a:rPr dirty="0" sz="2000">
                          <a:latin typeface="Arial MT"/>
                          <a:cs typeface="Arial MT"/>
                        </a:rPr>
                        <a:t>	#</a:t>
                      </a:r>
                      <a:r>
                        <a:rPr dirty="0" sz="2000" spc="-25">
                          <a:latin typeface="Arial MT"/>
                          <a:cs typeface="Arial MT"/>
                        </a:rPr>
                        <a:t> 0x0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4645">
                <a:tc>
                  <a:txBody>
                    <a:bodyPr/>
                    <a:lstStyle/>
                    <a:p>
                      <a:pPr algn="r" marR="4762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56285" algn="l"/>
                        </a:tabLst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.type</a:t>
                      </a:r>
                      <a:r>
                        <a:rPr dirty="0" sz="2000">
                          <a:latin typeface="Arial MT"/>
                          <a:cs typeface="Arial MT"/>
                        </a:rPr>
                        <a:t>	main,</a:t>
                      </a:r>
                      <a:r>
                        <a:rPr dirty="0" sz="20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 spc="-10">
                          <a:latin typeface="Arial MT"/>
                          <a:cs typeface="Arial MT"/>
                        </a:rPr>
                        <a:t>stt_func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5280">
                <a:tc>
                  <a:txBody>
                    <a:bodyPr/>
                    <a:lstStyle/>
                    <a:p>
                      <a:pPr marL="59245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1859914" algn="l"/>
                        </a:tabLst>
                      </a:pPr>
                      <a:r>
                        <a:rPr dirty="0" sz="2000" spc="-25">
                          <a:latin typeface="Arial MT"/>
                          <a:cs typeface="Arial MT"/>
                        </a:rPr>
                        <a:t>lui</a:t>
                      </a:r>
                      <a:r>
                        <a:rPr dirty="0" sz="20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000" spc="-25">
                          <a:latin typeface="Arial MT"/>
                          <a:cs typeface="Arial MT"/>
                        </a:rPr>
                        <a:t>$1,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%hi(%neg(%gp_rel(main)))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2000">
                          <a:latin typeface="Arial MT"/>
                          <a:cs typeface="Arial MT"/>
                        </a:rPr>
                        <a:t>#</a:t>
                      </a:r>
                      <a:r>
                        <a:rPr dirty="0" sz="20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latin typeface="Arial MT"/>
                          <a:cs typeface="Arial MT"/>
                        </a:rPr>
                        <a:t>[0]</a:t>
                      </a:r>
                      <a:r>
                        <a:rPr dirty="0" sz="2000" spc="4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 spc="-20">
                          <a:latin typeface="Arial MT"/>
                          <a:cs typeface="Arial MT"/>
                        </a:rPr>
                        <a:t>main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</a:tr>
              <a:tr h="308610">
                <a:tc>
                  <a:txBody>
                    <a:bodyPr/>
                    <a:lstStyle/>
                    <a:p>
                      <a:pPr algn="r" marR="76835">
                        <a:lnSpc>
                          <a:spcPts val="2320"/>
                        </a:lnSpc>
                        <a:spcBef>
                          <a:spcPts val="10"/>
                        </a:spcBef>
                        <a:tabLst>
                          <a:tab pos="1267460" algn="l"/>
                        </a:tabLst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addiu</a:t>
                      </a:r>
                      <a:r>
                        <a:rPr dirty="0" sz="20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000" spc="-20">
                          <a:latin typeface="Arial MT"/>
                          <a:cs typeface="Arial MT"/>
                        </a:rPr>
                        <a:t>$sp,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320"/>
                        </a:lnSpc>
                        <a:spcBef>
                          <a:spcPts val="10"/>
                        </a:spcBef>
                        <a:tabLst>
                          <a:tab pos="953769" algn="l"/>
                        </a:tabLst>
                      </a:pPr>
                      <a:r>
                        <a:rPr dirty="0" sz="2000" spc="-20">
                          <a:latin typeface="Arial MT"/>
                          <a:cs typeface="Arial MT"/>
                        </a:rPr>
                        <a:t>$sp,</a:t>
                      </a:r>
                      <a:r>
                        <a:rPr dirty="0" sz="2000">
                          <a:latin typeface="Arial MT"/>
                          <a:cs typeface="Arial MT"/>
                        </a:rPr>
                        <a:t>	-</a:t>
                      </a:r>
                      <a:r>
                        <a:rPr dirty="0" sz="2000" spc="-25">
                          <a:latin typeface="Arial MT"/>
                          <a:cs typeface="Arial MT"/>
                        </a:rPr>
                        <a:t>16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ts val="2320"/>
                        </a:lnSpc>
                        <a:spcBef>
                          <a:spcPts val="10"/>
                        </a:spcBef>
                      </a:pPr>
                      <a:r>
                        <a:rPr dirty="0" sz="2000">
                          <a:latin typeface="Arial MT"/>
                          <a:cs typeface="Arial MT"/>
                        </a:rPr>
                        <a:t>#</a:t>
                      </a:r>
                      <a:r>
                        <a:rPr dirty="0" sz="2000" spc="-25">
                          <a:latin typeface="Arial MT"/>
                          <a:cs typeface="Arial MT"/>
                        </a:rPr>
                        <a:t> [0]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21939" y="4289856"/>
            <a:ext cx="1435100" cy="10312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643890" algn="l"/>
              </a:tabLst>
            </a:pPr>
            <a:r>
              <a:rPr dirty="0" sz="2000" spc="-25">
                <a:latin typeface="Arial MT"/>
                <a:cs typeface="Arial MT"/>
              </a:rPr>
              <a:t>$1,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25">
                <a:latin typeface="Arial MT"/>
                <a:cs typeface="Arial MT"/>
              </a:rPr>
              <a:t>$1,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$gp,</a:t>
            </a:r>
            <a:r>
              <a:rPr dirty="0" sz="2000" spc="4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0($sp)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$gp,</a:t>
            </a:r>
            <a:r>
              <a:rPr dirty="0" sz="2000" spc="4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$25,$1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3972" y="4289856"/>
            <a:ext cx="1262380" cy="1699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21665">
              <a:lnSpc>
                <a:spcPct val="110000"/>
              </a:lnSpc>
              <a:spcBef>
                <a:spcPts val="100"/>
              </a:spcBef>
            </a:pPr>
            <a:r>
              <a:rPr dirty="0" sz="2000" spc="-20">
                <a:latin typeface="Arial MT"/>
                <a:cs typeface="Arial MT"/>
              </a:rPr>
              <a:t>addiu </a:t>
            </a:r>
            <a:r>
              <a:rPr dirty="0" sz="2000" spc="-25">
                <a:latin typeface="Arial MT"/>
                <a:cs typeface="Arial MT"/>
              </a:rPr>
              <a:t>sf </a:t>
            </a:r>
            <a:r>
              <a:rPr dirty="0" sz="2000" spc="-20">
                <a:latin typeface="Arial MT"/>
                <a:cs typeface="Arial MT"/>
              </a:rPr>
              <a:t>addu </a:t>
            </a:r>
            <a:r>
              <a:rPr dirty="0" sz="2000" spc="-25">
                <a:latin typeface="Arial MT"/>
                <a:cs typeface="Arial MT"/>
              </a:rPr>
              <a:t>lw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686435" algn="l"/>
              </a:tabLst>
            </a:pPr>
            <a:r>
              <a:rPr dirty="0" sz="2000" spc="-20">
                <a:latin typeface="Arial MT"/>
                <a:cs typeface="Arial MT"/>
              </a:rPr>
              <a:t>.loc</a:t>
            </a:r>
            <a:r>
              <a:rPr dirty="0" sz="2000">
                <a:latin typeface="Arial MT"/>
                <a:cs typeface="Arial MT"/>
              </a:rPr>
              <a:t>	1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7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5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6197" y="4321555"/>
            <a:ext cx="454850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53435" algn="l"/>
              </a:tabLst>
            </a:pPr>
            <a:r>
              <a:rPr dirty="0" sz="2000" spc="-10">
                <a:latin typeface="Arial MT"/>
                <a:cs typeface="Arial MT"/>
              </a:rPr>
              <a:t>%lo(%neg(%gp_rel(main)))</a:t>
            </a:r>
            <a:r>
              <a:rPr dirty="0" sz="2000">
                <a:latin typeface="Arial MT"/>
                <a:cs typeface="Arial MT"/>
              </a:rPr>
              <a:t>	#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[1]</a:t>
            </a:r>
            <a:r>
              <a:rPr dirty="0" sz="2000" spc="4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main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2189" y="4625137"/>
            <a:ext cx="2627630" cy="10312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[1]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 spc="-10">
                <a:latin typeface="Arial MT"/>
                <a:cs typeface="Arial MT"/>
              </a:rPr>
              <a:t>gra_spill_temp_0</a:t>
            </a:r>
            <a:endParaRPr sz="2000">
              <a:latin typeface="Arial MT"/>
              <a:cs typeface="Arial MT"/>
            </a:endParaRPr>
          </a:p>
          <a:p>
            <a:pPr marL="3365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-25">
                <a:latin typeface="Arial MT"/>
                <a:cs typeface="Arial MT"/>
              </a:rPr>
              <a:t> [2]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[3]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 spc="-5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1939" y="5327395"/>
            <a:ext cx="27438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3890" algn="l"/>
              </a:tabLst>
            </a:pPr>
            <a:r>
              <a:rPr dirty="0" sz="2000" spc="-25">
                <a:latin typeface="Arial MT"/>
                <a:cs typeface="Arial MT"/>
              </a:rPr>
              <a:t>$5,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%got_disp(a)($gp)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1556"/>
            <a:ext cx="73710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95"/>
              <a:t> </a:t>
            </a:r>
            <a:r>
              <a:rPr dirty="0" spc="-185"/>
              <a:t>Function</a:t>
            </a:r>
            <a:r>
              <a:rPr dirty="0" spc="-95"/>
              <a:t> </a:t>
            </a:r>
            <a:r>
              <a:rPr dirty="0" spc="-254"/>
              <a:t>Call</a:t>
            </a:r>
            <a:r>
              <a:rPr dirty="0" spc="-85"/>
              <a:t> </a:t>
            </a:r>
            <a:r>
              <a:rPr dirty="0" spc="-365"/>
              <a:t>and</a:t>
            </a:r>
            <a:r>
              <a:rPr dirty="0" spc="-85"/>
              <a:t> </a:t>
            </a:r>
            <a:r>
              <a:rPr dirty="0" spc="-185"/>
              <a:t>Return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52244" y="1409700"/>
            <a:ext cx="4349750" cy="5602605"/>
            <a:chOff x="1952244" y="1409700"/>
            <a:chExt cx="4349750" cy="5602605"/>
          </a:xfrm>
        </p:grpSpPr>
        <p:sp>
          <p:nvSpPr>
            <p:cNvPr id="4" name="object 4"/>
            <p:cNvSpPr/>
            <p:nvPr/>
          </p:nvSpPr>
          <p:spPr>
            <a:xfrm>
              <a:off x="1956815" y="1414272"/>
              <a:ext cx="4340860" cy="5593080"/>
            </a:xfrm>
            <a:custGeom>
              <a:avLst/>
              <a:gdLst/>
              <a:ahLst/>
              <a:cxnLst/>
              <a:rect l="l" t="t" r="r" b="b"/>
              <a:pathLst>
                <a:path w="4340860" h="5593080">
                  <a:moveTo>
                    <a:pt x="4340352" y="0"/>
                  </a:moveTo>
                  <a:lnTo>
                    <a:pt x="0" y="0"/>
                  </a:lnTo>
                  <a:lnTo>
                    <a:pt x="0" y="5593080"/>
                  </a:lnTo>
                  <a:lnTo>
                    <a:pt x="4340352" y="5593080"/>
                  </a:lnTo>
                  <a:lnTo>
                    <a:pt x="434035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56815" y="1414272"/>
              <a:ext cx="4340860" cy="5593080"/>
            </a:xfrm>
            <a:custGeom>
              <a:avLst/>
              <a:gdLst/>
              <a:ahLst/>
              <a:cxnLst/>
              <a:rect l="l" t="t" r="r" b="b"/>
              <a:pathLst>
                <a:path w="4340860" h="5593080">
                  <a:moveTo>
                    <a:pt x="0" y="0"/>
                  </a:moveTo>
                  <a:lnTo>
                    <a:pt x="0" y="5593080"/>
                  </a:lnTo>
                  <a:lnTo>
                    <a:pt x="4340352" y="5593080"/>
                  </a:lnTo>
                  <a:lnTo>
                    <a:pt x="4340352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292095" y="1508760"/>
            <a:ext cx="3447415" cy="2649220"/>
          </a:xfrm>
          <a:prstGeom prst="rect">
            <a:avLst/>
          </a:prstGeom>
          <a:solidFill>
            <a:srgbClr val="CC9900"/>
          </a:solidFill>
        </p:spPr>
        <p:txBody>
          <a:bodyPr wrap="square" lIns="0" tIns="3619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dirty="0" sz="2400" b="1">
                <a:latin typeface="Arial"/>
                <a:cs typeface="Arial"/>
              </a:rPr>
              <a:t>void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A()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005840" marR="1740535" indent="85090">
              <a:lnSpc>
                <a:spcPts val="4320"/>
              </a:lnSpc>
              <a:spcBef>
                <a:spcPts val="360"/>
              </a:spcBef>
            </a:pPr>
            <a:r>
              <a:rPr dirty="0" sz="2400" spc="-50" b="1">
                <a:latin typeface="Arial"/>
                <a:cs typeface="Arial"/>
              </a:rPr>
              <a:t>… </a:t>
            </a:r>
            <a:r>
              <a:rPr dirty="0" sz="2400" spc="-20" b="1">
                <a:latin typeface="Arial"/>
                <a:cs typeface="Arial"/>
              </a:rPr>
              <a:t>B(5);</a:t>
            </a:r>
            <a:endParaRPr sz="2400">
              <a:latin typeface="Arial"/>
              <a:cs typeface="Arial"/>
            </a:endParaRPr>
          </a:p>
          <a:p>
            <a:pPr marL="1005840">
              <a:lnSpc>
                <a:spcPct val="100000"/>
              </a:lnSpc>
              <a:spcBef>
                <a:spcPts val="1060"/>
              </a:spcBef>
            </a:pPr>
            <a:r>
              <a:rPr dirty="0" sz="2400" spc="-5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415"/>
              </a:spcBef>
            </a:pPr>
            <a:r>
              <a:rPr dirty="0" sz="2400" spc="-50" b="1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2292095" y="4273296"/>
            <a:ext cx="3447415" cy="2646045"/>
          </a:xfrm>
          <a:prstGeom prst="rect">
            <a:avLst/>
          </a:prstGeom>
          <a:solidFill>
            <a:srgbClr val="BFBFBF"/>
          </a:solidFill>
        </p:spPr>
        <p:txBody>
          <a:bodyPr wrap="square" lIns="0" tIns="3302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dirty="0" sz="2400" b="1">
                <a:latin typeface="Arial"/>
                <a:cs typeface="Arial"/>
              </a:rPr>
              <a:t>void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(int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x)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005840">
              <a:lnSpc>
                <a:spcPct val="100000"/>
              </a:lnSpc>
              <a:spcBef>
                <a:spcPts val="1445"/>
              </a:spcBef>
            </a:pPr>
            <a:r>
              <a:rPr dirty="0" sz="2400" b="1">
                <a:latin typeface="Arial"/>
                <a:cs typeface="Arial"/>
              </a:rPr>
              <a:t>int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a,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b;</a:t>
            </a:r>
            <a:endParaRPr sz="2400">
              <a:latin typeface="Arial"/>
              <a:cs typeface="Arial"/>
            </a:endParaRPr>
          </a:p>
          <a:p>
            <a:pPr marL="1090930" marR="1164590" indent="-85725">
              <a:lnSpc>
                <a:spcPct val="150000"/>
              </a:lnSpc>
            </a:pPr>
            <a:r>
              <a:rPr dirty="0" sz="2400" spc="-50" b="1">
                <a:latin typeface="Arial"/>
                <a:cs typeface="Arial"/>
              </a:rPr>
              <a:t>… </a:t>
            </a:r>
            <a:r>
              <a:rPr dirty="0" sz="2400" spc="-10" b="1">
                <a:latin typeface="Arial"/>
                <a:cs typeface="Arial"/>
              </a:rPr>
              <a:t>return();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415"/>
              </a:spcBef>
            </a:pPr>
            <a:r>
              <a:rPr dirty="0" sz="2400" spc="-50" b="1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395" y="1840483"/>
            <a:ext cx="88582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Caller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395" y="4355083"/>
            <a:ext cx="95948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Callee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5571" y="1991665"/>
            <a:ext cx="2285365" cy="311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27305">
              <a:lnSpc>
                <a:spcPct val="123500"/>
              </a:lnSpc>
              <a:spcBef>
                <a:spcPts val="85"/>
              </a:spcBef>
            </a:pP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Parameter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Function</a:t>
            </a:r>
            <a:r>
              <a:rPr dirty="0" sz="2600" spc="-8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0066FF"/>
                </a:solidFill>
                <a:latin typeface="Arial MT"/>
                <a:cs typeface="Arial MT"/>
              </a:rPr>
              <a:t>call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Return</a:t>
            </a:r>
            <a:r>
              <a:rPr dirty="0" sz="2600" spc="-7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address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600">
              <a:latin typeface="Arial MT"/>
              <a:cs typeface="Arial MT"/>
            </a:endParaRPr>
          </a:p>
          <a:p>
            <a:pPr marL="40005" marR="62230" indent="-27940">
              <a:lnSpc>
                <a:spcPct val="145400"/>
              </a:lnSpc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Local</a:t>
            </a:r>
            <a:r>
              <a:rPr dirty="0" sz="2600" spc="-3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0066FF"/>
                </a:solidFill>
                <a:latin typeface="Arial MT"/>
                <a:cs typeface="Arial MT"/>
              </a:rPr>
              <a:t>variables Return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95"/>
              <a:t> </a:t>
            </a:r>
            <a:r>
              <a:rPr dirty="0" spc="-185"/>
              <a:t>Function</a:t>
            </a:r>
            <a:r>
              <a:rPr dirty="0" spc="-95"/>
              <a:t> </a:t>
            </a:r>
            <a:r>
              <a:rPr dirty="0" spc="-254"/>
              <a:t>Call</a:t>
            </a:r>
            <a:r>
              <a:rPr dirty="0" spc="-85"/>
              <a:t> </a:t>
            </a:r>
            <a:r>
              <a:rPr dirty="0" spc="-365"/>
              <a:t>and</a:t>
            </a:r>
            <a:r>
              <a:rPr dirty="0" spc="-85"/>
              <a:t> </a:t>
            </a:r>
            <a:r>
              <a:rPr dirty="0" spc="-195"/>
              <a:t>Return.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must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done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function</a:t>
            </a:r>
            <a:r>
              <a:rPr dirty="0" spc="-40"/>
              <a:t> </a:t>
            </a:r>
            <a:r>
              <a:rPr dirty="0" spc="-10"/>
              <a:t>call?</a:t>
            </a:r>
          </a:p>
          <a:p>
            <a:pPr>
              <a:lnSpc>
                <a:spcPct val="100000"/>
              </a:lnSpc>
              <a:spcBef>
                <a:spcPts val="160"/>
              </a:spcBef>
            </a:pPr>
          </a:p>
          <a:p>
            <a:pPr marL="682625" indent="-325755">
              <a:lnSpc>
                <a:spcPct val="100000"/>
              </a:lnSpc>
              <a:spcBef>
                <a:spcPts val="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000000"/>
                </a:solidFill>
              </a:rPr>
              <a:t>Transfer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control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to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start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function</a:t>
            </a:r>
            <a:endParaRPr sz="2400"/>
          </a:p>
          <a:p>
            <a:pPr marL="682625" indent="-325755">
              <a:lnSpc>
                <a:spcPct val="100000"/>
              </a:lnSpc>
              <a:spcBef>
                <a:spcPts val="28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000000"/>
                </a:solidFill>
              </a:rPr>
              <a:t>Remember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return</a:t>
            </a:r>
            <a:r>
              <a:rPr dirty="0" sz="2400" spc="-8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address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63700" y="3419349"/>
            <a:ext cx="1784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>
                <a:solidFill>
                  <a:srgbClr val="CC9900"/>
                </a:solidFill>
                <a:latin typeface="Wingdings"/>
                <a:cs typeface="Wingdings"/>
              </a:rPr>
              <a:t>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3318763"/>
            <a:ext cx="8144509" cy="158178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033144">
              <a:lnSpc>
                <a:spcPct val="100000"/>
              </a:lnSpc>
              <a:spcBef>
                <a:spcPts val="290"/>
              </a:spcBef>
            </a:pPr>
            <a:r>
              <a:rPr dirty="0" baseline="4629" sz="3600">
                <a:latin typeface="Arial MT"/>
                <a:cs typeface="Arial MT"/>
              </a:rPr>
              <a:t>Where?</a:t>
            </a:r>
            <a:r>
              <a:rPr dirty="0" baseline="4629" sz="3600" spc="-6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In</a:t>
            </a:r>
            <a:r>
              <a:rPr dirty="0" sz="2400" spc="-3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General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Purpose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Register?</a:t>
            </a:r>
            <a:endParaRPr sz="2400">
              <a:latin typeface="Arial MT"/>
              <a:cs typeface="Arial MT"/>
            </a:endParaRPr>
          </a:p>
          <a:p>
            <a:pPr marL="2179320" marR="5080">
              <a:lnSpc>
                <a:spcPts val="2860"/>
              </a:lnSpc>
              <a:spcBef>
                <a:spcPts val="305"/>
              </a:spcBef>
            </a:pP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No.</a:t>
            </a:r>
            <a:r>
              <a:rPr dirty="0" sz="2400" spc="-7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The</a:t>
            </a:r>
            <a:r>
              <a:rPr dirty="0" sz="2400" spc="-7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callee</a:t>
            </a:r>
            <a:r>
              <a:rPr dirty="0" sz="2400" spc="-7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might</a:t>
            </a:r>
            <a:r>
              <a:rPr dirty="0" sz="2400" spc="-5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have</a:t>
            </a:r>
            <a:r>
              <a:rPr dirty="0" sz="2400" spc="-5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been</a:t>
            </a:r>
            <a:r>
              <a:rPr dirty="0" sz="2400" spc="-5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compiled</a:t>
            </a:r>
            <a:r>
              <a:rPr dirty="0" sz="2400" spc="-5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A40020"/>
                </a:solidFill>
                <a:latin typeface="Arial MT"/>
                <a:cs typeface="Arial MT"/>
              </a:rPr>
              <a:t>to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use</a:t>
            </a:r>
            <a:r>
              <a:rPr dirty="0" sz="2400" spc="-2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that</a:t>
            </a:r>
            <a:r>
              <a:rPr dirty="0" sz="2400" spc="-4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register</a:t>
            </a:r>
            <a:r>
              <a:rPr dirty="0" sz="2400" spc="-4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for</a:t>
            </a:r>
            <a:r>
              <a:rPr dirty="0" sz="2400" spc="-25">
                <a:solidFill>
                  <a:srgbClr val="A40020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its</a:t>
            </a:r>
            <a:r>
              <a:rPr dirty="0" sz="2400" spc="-4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A40020"/>
                </a:solidFill>
                <a:latin typeface="Arial MT"/>
                <a:cs typeface="Arial MT"/>
              </a:rPr>
              <a:t>variables.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return?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7563" y="6013196"/>
            <a:ext cx="5607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33845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95"/>
              <a:t> </a:t>
            </a:r>
            <a:r>
              <a:rPr dirty="0" spc="-185"/>
              <a:t>Function</a:t>
            </a:r>
            <a:r>
              <a:rPr dirty="0" spc="-95"/>
              <a:t> </a:t>
            </a:r>
            <a:r>
              <a:rPr dirty="0" spc="-254"/>
              <a:t>Call</a:t>
            </a:r>
            <a:r>
              <a:rPr dirty="0" spc="-85"/>
              <a:t> </a:t>
            </a:r>
            <a:r>
              <a:rPr dirty="0" spc="-365"/>
              <a:t>and</a:t>
            </a:r>
            <a:r>
              <a:rPr dirty="0" spc="-85"/>
              <a:t> </a:t>
            </a:r>
            <a:r>
              <a:rPr dirty="0" spc="-200"/>
              <a:t>Return..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must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done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function</a:t>
            </a:r>
            <a:r>
              <a:rPr dirty="0" spc="-40"/>
              <a:t> </a:t>
            </a:r>
            <a:r>
              <a:rPr dirty="0" spc="-10"/>
              <a:t>call?</a:t>
            </a:r>
          </a:p>
          <a:p>
            <a:pPr>
              <a:lnSpc>
                <a:spcPct val="100000"/>
              </a:lnSpc>
              <a:spcBef>
                <a:spcPts val="160"/>
              </a:spcBef>
            </a:pPr>
          </a:p>
          <a:p>
            <a:pPr marL="682625" indent="-325755">
              <a:lnSpc>
                <a:spcPct val="100000"/>
              </a:lnSpc>
              <a:spcBef>
                <a:spcPts val="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000000"/>
                </a:solidFill>
              </a:rPr>
              <a:t>Transfer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control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to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start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function</a:t>
            </a:r>
            <a:endParaRPr sz="2400"/>
          </a:p>
          <a:p>
            <a:pPr marL="682625" indent="-325755">
              <a:lnSpc>
                <a:spcPct val="100000"/>
              </a:lnSpc>
              <a:spcBef>
                <a:spcPts val="28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000000"/>
                </a:solidFill>
              </a:rPr>
              <a:t>Remember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return</a:t>
            </a:r>
            <a:r>
              <a:rPr dirty="0" sz="2400" spc="-8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address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63700" y="3419349"/>
            <a:ext cx="1784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>
                <a:solidFill>
                  <a:srgbClr val="CC9900"/>
                </a:solidFill>
                <a:latin typeface="Wingdings"/>
                <a:cs typeface="Wingdings"/>
              </a:rPr>
              <a:t>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3318763"/>
            <a:ext cx="7279640" cy="158178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033144">
              <a:lnSpc>
                <a:spcPct val="100000"/>
              </a:lnSpc>
              <a:spcBef>
                <a:spcPts val="290"/>
              </a:spcBef>
            </a:pPr>
            <a:r>
              <a:rPr dirty="0" baseline="4629" sz="3600" spc="-15">
                <a:latin typeface="Arial MT"/>
                <a:cs typeface="Arial MT"/>
              </a:rPr>
              <a:t>Where?</a:t>
            </a:r>
            <a:r>
              <a:rPr dirty="0" baseline="4629" sz="3600" spc="-307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In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variable</a:t>
            </a:r>
            <a:r>
              <a:rPr dirty="0" sz="2400" spc="-3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(main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memory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location)?</a:t>
            </a:r>
            <a:endParaRPr sz="2400">
              <a:latin typeface="Arial MT"/>
              <a:cs typeface="Arial MT"/>
            </a:endParaRPr>
          </a:p>
          <a:p>
            <a:pPr marL="2179320" marR="192405">
              <a:lnSpc>
                <a:spcPts val="2860"/>
              </a:lnSpc>
              <a:spcBef>
                <a:spcPts val="305"/>
              </a:spcBef>
            </a:pP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No.</a:t>
            </a:r>
            <a:r>
              <a:rPr dirty="0" sz="2400" spc="-8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That</a:t>
            </a:r>
            <a:r>
              <a:rPr dirty="0" sz="2400" spc="-5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wouldn’t</a:t>
            </a:r>
            <a:r>
              <a:rPr dirty="0" sz="2400" spc="-5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work</a:t>
            </a:r>
            <a:r>
              <a:rPr dirty="0" sz="2400" spc="-6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for</a:t>
            </a:r>
            <a:r>
              <a:rPr dirty="0" sz="2400" spc="-6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nested</a:t>
            </a:r>
            <a:r>
              <a:rPr dirty="0" sz="2400" spc="-5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A40020"/>
                </a:solidFill>
                <a:latin typeface="Arial MT"/>
                <a:cs typeface="Arial MT"/>
              </a:rPr>
              <a:t>or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recursive</a:t>
            </a:r>
            <a:r>
              <a:rPr dirty="0" sz="2400" spc="-85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A40020"/>
                </a:solidFill>
                <a:latin typeface="Arial MT"/>
                <a:cs typeface="Arial MT"/>
              </a:rPr>
              <a:t>function</a:t>
            </a:r>
            <a:r>
              <a:rPr dirty="0" sz="2400" spc="-6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A40020"/>
                </a:solidFill>
                <a:latin typeface="Arial MT"/>
                <a:cs typeface="Arial MT"/>
              </a:rPr>
              <a:t>calls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return?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7563" y="6013196"/>
            <a:ext cx="5607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33845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8820" y="3227323"/>
            <a:ext cx="527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203" sz="3600" spc="-15">
                <a:latin typeface="Arial MT"/>
                <a:cs typeface="Arial MT"/>
              </a:rPr>
              <a:t>Where?</a:t>
            </a:r>
            <a:r>
              <a:rPr dirty="0" baseline="-16203" sz="3600" spc="-45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On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</a:t>
            </a:r>
            <a:r>
              <a:rPr dirty="0" sz="2400" spc="-3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stack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(in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main</a:t>
            </a:r>
            <a:r>
              <a:rPr dirty="0" sz="2400" spc="-3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memory)?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95"/>
              <a:t> </a:t>
            </a:r>
            <a:r>
              <a:rPr dirty="0" spc="-185"/>
              <a:t>Function</a:t>
            </a:r>
            <a:r>
              <a:rPr dirty="0" spc="-95"/>
              <a:t> </a:t>
            </a:r>
            <a:r>
              <a:rPr dirty="0" spc="-254"/>
              <a:t>Call</a:t>
            </a:r>
            <a:r>
              <a:rPr dirty="0" spc="-85"/>
              <a:t> </a:t>
            </a:r>
            <a:r>
              <a:rPr dirty="0" spc="-365"/>
              <a:t>and</a:t>
            </a:r>
            <a:r>
              <a:rPr dirty="0" spc="-85"/>
              <a:t> </a:t>
            </a:r>
            <a:r>
              <a:rPr dirty="0" spc="-160"/>
              <a:t>Return…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must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done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function</a:t>
            </a:r>
            <a:r>
              <a:rPr dirty="0" spc="-40"/>
              <a:t> </a:t>
            </a:r>
            <a:r>
              <a:rPr dirty="0" spc="-10"/>
              <a:t>call?</a:t>
            </a:r>
          </a:p>
          <a:p>
            <a:pPr>
              <a:lnSpc>
                <a:spcPct val="100000"/>
              </a:lnSpc>
              <a:spcBef>
                <a:spcPts val="160"/>
              </a:spcBef>
            </a:pPr>
          </a:p>
          <a:p>
            <a:pPr marL="682625" indent="-325755">
              <a:lnSpc>
                <a:spcPct val="100000"/>
              </a:lnSpc>
              <a:spcBef>
                <a:spcPts val="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000000"/>
                </a:solidFill>
              </a:rPr>
              <a:t>Transfer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control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to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start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6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function</a:t>
            </a:r>
            <a:endParaRPr sz="2400"/>
          </a:p>
          <a:p>
            <a:pPr marL="682625" indent="-325755">
              <a:lnSpc>
                <a:spcPct val="100000"/>
              </a:lnSpc>
              <a:spcBef>
                <a:spcPts val="28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solidFill>
                  <a:srgbClr val="000000"/>
                </a:solidFill>
              </a:rPr>
              <a:t>Remember</a:t>
            </a:r>
            <a:r>
              <a:rPr dirty="0" sz="2400" spc="-8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return</a:t>
            </a:r>
            <a:r>
              <a:rPr dirty="0" sz="2400" spc="-8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address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663700" y="3419349"/>
            <a:ext cx="1784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>
                <a:solidFill>
                  <a:srgbClr val="CC9900"/>
                </a:solidFill>
                <a:latin typeface="Wingdings"/>
                <a:cs typeface="Wingdings"/>
              </a:rPr>
              <a:t>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4480051"/>
            <a:ext cx="602170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return?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7563" y="6013196"/>
            <a:ext cx="5607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33845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0267" y="3516884"/>
            <a:ext cx="56026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We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could</a:t>
            </a:r>
            <a:r>
              <a:rPr dirty="0" sz="2400" spc="-2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use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the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same</a:t>
            </a:r>
            <a:r>
              <a:rPr dirty="0" sz="2400" spc="-2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stack</a:t>
            </a:r>
            <a:r>
              <a:rPr dirty="0" sz="2400" spc="-7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for</a:t>
            </a:r>
            <a:r>
              <a:rPr dirty="0" sz="2400" spc="-3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stack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allocation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of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space</a:t>
            </a:r>
            <a:r>
              <a:rPr dirty="0" sz="2400" spc="-6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for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local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variables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0267" y="4245355"/>
            <a:ext cx="35674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parameters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of</a:t>
            </a:r>
            <a:r>
              <a:rPr dirty="0" sz="2400" spc="-7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the</a:t>
            </a:r>
            <a:r>
              <a:rPr dirty="0" sz="2400" spc="-8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/>
              <a:t>Aside:</a:t>
            </a:r>
            <a:r>
              <a:rPr dirty="0" spc="-125"/>
              <a:t> </a:t>
            </a:r>
            <a:r>
              <a:rPr dirty="0" spc="-270"/>
              <a:t>What</a:t>
            </a:r>
            <a:r>
              <a:rPr dirty="0" spc="-114"/>
              <a:t> </a:t>
            </a:r>
            <a:r>
              <a:rPr dirty="0" spc="-275"/>
              <a:t>is</a:t>
            </a:r>
            <a:r>
              <a:rPr dirty="0" spc="-130"/>
              <a:t> </a:t>
            </a:r>
            <a:r>
              <a:rPr dirty="0" spc="-635"/>
              <a:t>a</a:t>
            </a:r>
            <a:r>
              <a:rPr dirty="0" spc="-114"/>
              <a:t> </a:t>
            </a:r>
            <a:r>
              <a:rPr dirty="0" spc="-465"/>
              <a:t>Stack?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1"/>
            <a:ext cx="610362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3990" indent="-170180">
              <a:lnSpc>
                <a:spcPct val="100000"/>
              </a:lnSpc>
              <a:spcBef>
                <a:spcPts val="105"/>
              </a:spcBef>
              <a:buSzPct val="96428"/>
              <a:buFont typeface="Wingdings"/>
              <a:buChar char=""/>
              <a:tabLst>
                <a:tab pos="17399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structure;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like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stack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books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2085542"/>
            <a:ext cx="4303395" cy="2592070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73990" indent="-170180">
              <a:lnSpc>
                <a:spcPct val="100000"/>
              </a:lnSpc>
              <a:spcBef>
                <a:spcPts val="1800"/>
              </a:spcBef>
              <a:buSzPct val="96428"/>
              <a:buFont typeface="Wingdings"/>
              <a:buChar char=""/>
              <a:tabLst>
                <a:tab pos="173990" algn="l"/>
              </a:tabLst>
            </a:pPr>
            <a:r>
              <a:rPr dirty="0" sz="2800" spc="-10">
                <a:latin typeface="Arial MT"/>
                <a:cs typeface="Arial MT"/>
              </a:rPr>
              <a:t>Operations:</a:t>
            </a:r>
            <a:endParaRPr sz="2800">
              <a:latin typeface="Arial MT"/>
              <a:cs typeface="Arial MT"/>
            </a:endParaRPr>
          </a:p>
          <a:p>
            <a:pPr marL="926465" marR="5080">
              <a:lnSpc>
                <a:spcPct val="150000"/>
              </a:lnSpc>
              <a:spcBef>
                <a:spcPts val="25"/>
              </a:spcBef>
            </a:pPr>
            <a:r>
              <a:rPr dirty="0" sz="2800">
                <a:latin typeface="Arial MT"/>
                <a:cs typeface="Arial MT"/>
              </a:rPr>
              <a:t>Push: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Insert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onto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top </a:t>
            </a:r>
            <a:r>
              <a:rPr dirty="0" sz="2800">
                <a:latin typeface="Arial MT"/>
                <a:cs typeface="Arial MT"/>
              </a:rPr>
              <a:t>Pop:</a:t>
            </a:r>
            <a:r>
              <a:rPr dirty="0" sz="2800" spc="-5">
                <a:latin typeface="Arial MT"/>
                <a:cs typeface="Arial MT"/>
              </a:rPr>
              <a:t>  </a:t>
            </a:r>
            <a:r>
              <a:rPr dirty="0" sz="2800">
                <a:latin typeface="Arial MT"/>
                <a:cs typeface="Arial MT"/>
              </a:rPr>
              <a:t>Delete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top</a:t>
            </a:r>
            <a:endParaRPr sz="2800">
              <a:latin typeface="Arial MT"/>
              <a:cs typeface="Arial MT"/>
            </a:endParaRPr>
          </a:p>
          <a:p>
            <a:pPr marL="173990" indent="-170180">
              <a:lnSpc>
                <a:spcPct val="100000"/>
              </a:lnSpc>
              <a:spcBef>
                <a:spcPts val="1680"/>
              </a:spcBef>
              <a:buSzPct val="96428"/>
              <a:buFont typeface="Wingdings"/>
              <a:buChar char=""/>
              <a:tabLst>
                <a:tab pos="173990" algn="l"/>
              </a:tabLst>
            </a:pPr>
            <a:r>
              <a:rPr dirty="0" sz="2800">
                <a:latin typeface="Arial MT"/>
                <a:cs typeface="Arial MT"/>
              </a:rPr>
              <a:t>Last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First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Out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(LIFO)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867148"/>
            <a:ext cx="699452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-8890">
              <a:lnSpc>
                <a:spcPct val="100000"/>
              </a:lnSpc>
              <a:spcBef>
                <a:spcPts val="105"/>
              </a:spcBef>
              <a:buSzPct val="96428"/>
              <a:buFont typeface="Wingdings"/>
              <a:buChar char=""/>
              <a:tabLst>
                <a:tab pos="173990" algn="l"/>
              </a:tabLst>
            </a:pPr>
            <a:r>
              <a:rPr dirty="0" sz="2800"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SP: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Stack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Pointer,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keeps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track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>
                <a:latin typeface="Arial MT"/>
                <a:cs typeface="Arial MT"/>
              </a:rPr>
              <a:t>current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top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stack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element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661404" y="2473452"/>
          <a:ext cx="1115695" cy="190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710"/>
              </a:tblGrid>
              <a:tr h="1094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328930">
                        <a:lnSpc>
                          <a:spcPts val="2060"/>
                        </a:lnSpc>
                        <a:spcBef>
                          <a:spcPts val="310"/>
                        </a:spcBef>
                      </a:pPr>
                      <a:r>
                        <a:rPr dirty="0" sz="1800" spc="-25">
                          <a:latin typeface="Arial MT"/>
                          <a:cs typeface="Arial MT"/>
                        </a:rPr>
                        <a:t>47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9554">
                <a:tc>
                  <a:txBody>
                    <a:bodyPr/>
                    <a:lstStyle/>
                    <a:p>
                      <a:pPr marL="337820">
                        <a:lnSpc>
                          <a:spcPts val="1870"/>
                        </a:lnSpc>
                      </a:pPr>
                      <a:r>
                        <a:rPr dirty="0" sz="18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800" spc="-5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algn="ctr" marL="17145">
                        <a:lnSpc>
                          <a:spcPts val="1845"/>
                        </a:lnSpc>
                      </a:pPr>
                      <a:r>
                        <a:rPr dirty="0" sz="1800" spc="-5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7159" y="3983735"/>
            <a:ext cx="246888" cy="853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8016" y="3745991"/>
            <a:ext cx="246887" cy="8534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787131" y="3044444"/>
            <a:ext cx="1117600" cy="50419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 marR="5080" indent="12065">
              <a:lnSpc>
                <a:spcPct val="74400"/>
              </a:lnSpc>
              <a:spcBef>
                <a:spcPts val="650"/>
              </a:spcBef>
            </a:pPr>
            <a:r>
              <a:rPr dirty="0" sz="1800">
                <a:latin typeface="Arial MT"/>
                <a:cs typeface="Arial MT"/>
              </a:rPr>
              <a:t>PUSH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35">
                <a:latin typeface="Arial MT"/>
                <a:cs typeface="Arial MT"/>
              </a:rPr>
              <a:t>47 </a:t>
            </a:r>
            <a:r>
              <a:rPr dirty="0" sz="1800">
                <a:latin typeface="Arial MT"/>
                <a:cs typeface="Arial MT"/>
              </a:rPr>
              <a:t>POP;</a:t>
            </a:r>
            <a:r>
              <a:rPr dirty="0" sz="1800" spc="-25">
                <a:latin typeface="Arial MT"/>
                <a:cs typeface="Arial MT"/>
              </a:rPr>
              <a:t> POP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7159" y="4187952"/>
            <a:ext cx="237744" cy="8534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95"/>
              <a:t> </a:t>
            </a:r>
            <a:r>
              <a:rPr dirty="0" spc="-185"/>
              <a:t>Function</a:t>
            </a:r>
            <a:r>
              <a:rPr dirty="0" spc="-95"/>
              <a:t> </a:t>
            </a:r>
            <a:r>
              <a:rPr dirty="0" spc="-254"/>
              <a:t>Call</a:t>
            </a:r>
            <a:r>
              <a:rPr dirty="0" spc="-85"/>
              <a:t> </a:t>
            </a:r>
            <a:r>
              <a:rPr dirty="0" spc="-365"/>
              <a:t>and</a:t>
            </a:r>
            <a:r>
              <a:rPr dirty="0" spc="-85"/>
              <a:t> </a:t>
            </a:r>
            <a:r>
              <a:rPr dirty="0" spc="-170"/>
              <a:t>Return….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599692"/>
            <a:ext cx="6360795" cy="4561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call?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ts val="2870"/>
              </a:lnSpc>
              <a:spcBef>
                <a:spcPts val="1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Pass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parameters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7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start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Remember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  <a:p>
            <a:pPr lvl="1" marL="1033144" indent="-34988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033144" algn="l"/>
              </a:tabLst>
            </a:pPr>
            <a:r>
              <a:rPr dirty="0" sz="2400" spc="-10">
                <a:latin typeface="Arial MT"/>
                <a:cs typeface="Arial MT"/>
              </a:rPr>
              <a:t>Where?</a:t>
            </a:r>
            <a:r>
              <a:rPr dirty="0" sz="2400" spc="-20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stack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(in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memory)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Clr>
                <a:srgbClr val="CC9900"/>
              </a:buClr>
              <a:buFont typeface="Wingdings"/>
              <a:buChar char=""/>
            </a:pP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75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Allocate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space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local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115"/>
              </a:lnSpc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return?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Pass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(through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stack)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3A802E"/>
              </a:buClr>
              <a:buFont typeface="Wingdings"/>
              <a:buChar char=""/>
            </a:pP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Clean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up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Problem:</a:t>
            </a:r>
            <a:r>
              <a:rPr dirty="0" spc="-100"/>
              <a:t> </a:t>
            </a:r>
            <a:r>
              <a:rPr dirty="0" spc="-430"/>
              <a:t>Separate</a:t>
            </a:r>
            <a:r>
              <a:rPr dirty="0" spc="-85"/>
              <a:t> </a:t>
            </a:r>
            <a:r>
              <a:rPr dirty="0" spc="-160"/>
              <a:t>Compilation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392427"/>
            <a:ext cx="7745730" cy="449072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just" marL="355600" marR="638810" indent="-343535">
              <a:lnSpc>
                <a:spcPts val="2810"/>
              </a:lnSpc>
              <a:spcBef>
                <a:spcPts val="44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Arial MT"/>
                <a:cs typeface="Arial MT"/>
              </a:rPr>
              <a:t>Consider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our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simple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example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compiling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C </a:t>
            </a:r>
            <a:r>
              <a:rPr dirty="0" sz="2600" spc="-50">
                <a:latin typeface="Arial MT"/>
                <a:cs typeface="Arial MT"/>
              </a:rPr>
              <a:t>	</a:t>
            </a:r>
            <a:r>
              <a:rPr dirty="0" sz="2600">
                <a:latin typeface="Arial MT"/>
                <a:cs typeface="Arial MT"/>
              </a:rPr>
              <a:t>program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program.c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calls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math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library 	function</a:t>
            </a:r>
            <a:endParaRPr sz="2600">
              <a:latin typeface="Arial MT"/>
              <a:cs typeface="Arial MT"/>
            </a:endParaRPr>
          </a:p>
          <a:p>
            <a:pPr algn="just" marL="356235" indent="-343535">
              <a:lnSpc>
                <a:spcPct val="100000"/>
              </a:lnSpc>
              <a:spcBef>
                <a:spcPts val="27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235" algn="l"/>
              </a:tabLst>
            </a:pPr>
            <a:r>
              <a:rPr dirty="0" sz="2600">
                <a:latin typeface="Arial MT"/>
                <a:cs typeface="Arial MT"/>
              </a:rPr>
              <a:t>%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gcc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program.c</a:t>
            </a:r>
            <a:endParaRPr sz="2600">
              <a:latin typeface="Arial MT"/>
              <a:cs typeface="Arial MT"/>
            </a:endParaRPr>
          </a:p>
          <a:p>
            <a:pPr lvl="1" marL="683260" marR="46990" indent="-326390">
              <a:lnSpc>
                <a:spcPts val="2590"/>
              </a:lnSpc>
              <a:spcBef>
                <a:spcPts val="60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3260" algn="l"/>
              </a:tabLst>
            </a:pPr>
            <a:r>
              <a:rPr dirty="0" sz="2400">
                <a:latin typeface="Arial MT"/>
                <a:cs typeface="Arial MT"/>
              </a:rPr>
              <a:t>cc1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might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general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purpose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registers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R3-</a:t>
            </a:r>
            <a:r>
              <a:rPr dirty="0" sz="2400">
                <a:latin typeface="Arial MT"/>
                <a:cs typeface="Arial MT"/>
              </a:rPr>
              <a:t>R10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frequently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variables</a:t>
            </a:r>
            <a:endParaRPr sz="2400">
              <a:latin typeface="Arial MT"/>
              <a:cs typeface="Arial MT"/>
            </a:endParaRPr>
          </a:p>
          <a:p>
            <a:pPr lvl="1" marL="683260" marR="518159" indent="-326390">
              <a:lnSpc>
                <a:spcPts val="2570"/>
              </a:lnSpc>
              <a:spcBef>
                <a:spcPts val="59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3260" algn="l"/>
              </a:tabLst>
            </a:pPr>
            <a:r>
              <a:rPr dirty="0" sz="2400">
                <a:latin typeface="Arial MT"/>
                <a:cs typeface="Arial MT"/>
              </a:rPr>
              <a:t>But,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registers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math </a:t>
            </a:r>
            <a:r>
              <a:rPr dirty="0" sz="2400">
                <a:latin typeface="Arial MT"/>
                <a:cs typeface="Arial MT"/>
              </a:rPr>
              <a:t>function,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compiled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previously?</a:t>
            </a:r>
            <a:endParaRPr sz="2400">
              <a:latin typeface="Arial MT"/>
              <a:cs typeface="Arial MT"/>
            </a:endParaRPr>
          </a:p>
          <a:p>
            <a:pPr lvl="1" marL="683260" marR="186055" indent="-326390">
              <a:lnSpc>
                <a:spcPts val="2590"/>
              </a:lnSpc>
              <a:spcBef>
                <a:spcPts val="58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3260" algn="l"/>
              </a:tabLst>
            </a:pPr>
            <a:r>
              <a:rPr dirty="0" sz="2400">
                <a:latin typeface="Arial MT"/>
                <a:cs typeface="Arial MT"/>
              </a:rPr>
              <a:t>When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R3-</a:t>
            </a:r>
            <a:r>
              <a:rPr dirty="0" sz="2400">
                <a:latin typeface="Arial MT"/>
                <a:cs typeface="Arial MT"/>
              </a:rPr>
              <a:t>R10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would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over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written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therefore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lost</a:t>
            </a:r>
            <a:endParaRPr sz="2400">
              <a:latin typeface="Arial MT"/>
              <a:cs typeface="Arial MT"/>
            </a:endParaRPr>
          </a:p>
          <a:p>
            <a:pPr lvl="1" marL="683260" marR="5080" indent="-326390">
              <a:lnSpc>
                <a:spcPts val="2590"/>
              </a:lnSpc>
              <a:spcBef>
                <a:spcPts val="58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3260" algn="l"/>
              </a:tabLst>
            </a:pPr>
            <a:r>
              <a:rPr dirty="0" sz="2400">
                <a:latin typeface="Arial MT"/>
                <a:cs typeface="Arial MT"/>
              </a:rPr>
              <a:t>Unless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save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those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registers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part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call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73710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95"/>
              <a:t> </a:t>
            </a:r>
            <a:r>
              <a:rPr dirty="0" spc="-185"/>
              <a:t>Function</a:t>
            </a:r>
            <a:r>
              <a:rPr dirty="0" spc="-95"/>
              <a:t> </a:t>
            </a:r>
            <a:r>
              <a:rPr dirty="0" spc="-254"/>
              <a:t>Call</a:t>
            </a:r>
            <a:r>
              <a:rPr dirty="0" spc="-85"/>
              <a:t> </a:t>
            </a:r>
            <a:r>
              <a:rPr dirty="0" spc="-365"/>
              <a:t>and</a:t>
            </a:r>
            <a:r>
              <a:rPr dirty="0" spc="-85"/>
              <a:t> </a:t>
            </a:r>
            <a:r>
              <a:rPr dirty="0" spc="-185"/>
              <a:t>Return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599692"/>
            <a:ext cx="6360795" cy="4561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call?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ts val="2870"/>
              </a:lnSpc>
              <a:spcBef>
                <a:spcPts val="1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Pass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parameters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7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start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Remember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  <a:p>
            <a:pPr lvl="1" marL="1033144" indent="-34988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033144" algn="l"/>
              </a:tabLst>
            </a:pPr>
            <a:r>
              <a:rPr dirty="0" sz="2400" spc="-10">
                <a:latin typeface="Arial MT"/>
                <a:cs typeface="Arial MT"/>
              </a:rPr>
              <a:t>Where?</a:t>
            </a:r>
            <a:r>
              <a:rPr dirty="0" sz="2400" spc="-20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stack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(in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memory)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30"/>
              </a:lnSpc>
              <a:spcBef>
                <a:spcPts val="21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baseline="2314" sz="3600">
                <a:latin typeface="Arial MT"/>
                <a:cs typeface="Arial MT"/>
              </a:rPr>
              <a:t>Save</a:t>
            </a:r>
            <a:r>
              <a:rPr dirty="0" baseline="2314" sz="3600" spc="-67">
                <a:latin typeface="Arial MT"/>
                <a:cs typeface="Arial MT"/>
              </a:rPr>
              <a:t> </a:t>
            </a:r>
            <a:r>
              <a:rPr dirty="0" baseline="2314" sz="3600">
                <a:latin typeface="Arial MT"/>
                <a:cs typeface="Arial MT"/>
              </a:rPr>
              <a:t>register</a:t>
            </a:r>
            <a:r>
              <a:rPr dirty="0" baseline="2314" sz="3600" spc="-82">
                <a:latin typeface="Arial MT"/>
                <a:cs typeface="Arial MT"/>
              </a:rPr>
              <a:t> </a:t>
            </a:r>
            <a:r>
              <a:rPr dirty="0" baseline="2314" sz="3600">
                <a:latin typeface="Arial MT"/>
                <a:cs typeface="Arial MT"/>
              </a:rPr>
              <a:t>values</a:t>
            </a:r>
            <a:r>
              <a:rPr dirty="0" baseline="2314" sz="3600" spc="772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3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Allocate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space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local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115"/>
              </a:lnSpc>
            </a:pP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What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must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done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26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6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dirty="0" sz="26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Arial MT"/>
                <a:cs typeface="Arial MT"/>
              </a:rPr>
              <a:t>return?</a:t>
            </a:r>
            <a:endParaRPr sz="26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spcBef>
                <a:spcPts val="1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Pass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(through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stack)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55"/>
              </a:lnSpc>
              <a:spcBef>
                <a:spcPts val="2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Restore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register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</a:t>
            </a:r>
            <a:r>
              <a:rPr dirty="0" sz="2400" spc="4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ts val="2855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Clean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up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stack</a:t>
            </a:r>
            <a:endParaRPr sz="2400">
              <a:latin typeface="Arial MT"/>
              <a:cs typeface="Arial MT"/>
            </a:endParaRPr>
          </a:p>
          <a:p>
            <a:pPr marL="682625" indent="-325755">
              <a:lnSpc>
                <a:spcPct val="100000"/>
              </a:lnSpc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Arial MT"/>
                <a:cs typeface="Arial MT"/>
              </a:rPr>
              <a:t>Transfer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control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2026-08-20T03:55:50Z</dcterms:created>
  <dcterms:modified xsi:type="dcterms:W3CDTF">2026-08-20T03:55:50Z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2011-08-29T00:00:00Z</vt:filetime>
  </property>
  <property fmtid="{D5CDD505-2E9C-101B-9397-08002B2CF9AE}" pid="4" name="Producer">
    <vt:lpwstr>doPDF Ver 7.2 Build 370 (Windows XP Professional Edition  (SP 2) - Version: 5.1.2600 (x86))</vt:lpwstr>
  </property>
  <property fmtid="{D5CDD505-2E9C-101B-9397-08002B2CF9AE}" pid="5" name="LastSaved">
    <vt:filetime>2011-08-29T00:00:00Z</vt:filetime>
  </property>
</Properties>
</file>