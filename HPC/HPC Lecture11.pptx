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82550">
              <a:lnSpc>
                <a:spcPts val="142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82550">
              <a:lnSpc>
                <a:spcPts val="142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82550">
              <a:lnSpc>
                <a:spcPts val="142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4400" y="762000"/>
            <a:ext cx="7924800" cy="914400"/>
          </a:xfrm>
          <a:custGeom>
            <a:avLst/>
            <a:gdLst/>
            <a:ahLst/>
            <a:cxnLst/>
            <a:rect l="l" t="t" r="r" b="b"/>
            <a:pathLst>
              <a:path w="7924800" h="914400">
                <a:moveTo>
                  <a:pt x="0" y="914400"/>
                </a:moveTo>
                <a:lnTo>
                  <a:pt x="0" y="0"/>
                </a:lnTo>
                <a:lnTo>
                  <a:pt x="7924800" y="0"/>
                </a:lnTo>
              </a:path>
            </a:pathLst>
          </a:custGeom>
          <a:ln w="24384">
            <a:solidFill>
              <a:srgbClr val="CC99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82550">
              <a:lnSpc>
                <a:spcPts val="142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82550">
              <a:lnSpc>
                <a:spcPts val="142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7616" y="658368"/>
            <a:ext cx="8635365" cy="0"/>
          </a:xfrm>
          <a:custGeom>
            <a:avLst/>
            <a:gdLst/>
            <a:ahLst/>
            <a:cxnLst/>
            <a:rect l="l" t="t" r="r" b="b"/>
            <a:pathLst>
              <a:path w="8635365" h="0">
                <a:moveTo>
                  <a:pt x="0" y="0"/>
                </a:moveTo>
                <a:lnTo>
                  <a:pt x="8634984" y="0"/>
                </a:lnTo>
              </a:path>
            </a:pathLst>
          </a:custGeom>
          <a:ln w="12190">
            <a:solidFill>
              <a:srgbClr val="99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139" y="724915"/>
            <a:ext cx="800354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1660652"/>
            <a:ext cx="7750175" cy="4629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899652" y="6917648"/>
            <a:ext cx="20574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82550">
              <a:lnSpc>
                <a:spcPts val="142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png"/><Relationship Id="rId20" Type="http://schemas.openxmlformats.org/officeDocument/2006/relationships/image" Target="../media/image2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6145" y="2890923"/>
            <a:ext cx="6616065" cy="14884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52650" marR="5080" indent="-2140585">
              <a:lnSpc>
                <a:spcPct val="120000"/>
              </a:lnSpc>
              <a:spcBef>
                <a:spcPts val="95"/>
              </a:spcBef>
            </a:pPr>
            <a:r>
              <a:rPr dirty="0" sz="4000" b="1">
                <a:solidFill>
                  <a:srgbClr val="39802D"/>
                </a:solidFill>
                <a:latin typeface="Times New Roman"/>
                <a:cs typeface="Times New Roman"/>
              </a:rPr>
              <a:t>High</a:t>
            </a:r>
            <a:r>
              <a:rPr dirty="0" sz="4000" spc="-200" b="1">
                <a:solidFill>
                  <a:srgbClr val="39802D"/>
                </a:solidFill>
                <a:latin typeface="Times New Roman"/>
                <a:cs typeface="Times New Roman"/>
              </a:rPr>
              <a:t> </a:t>
            </a:r>
            <a:r>
              <a:rPr dirty="0" sz="4000" b="1">
                <a:solidFill>
                  <a:srgbClr val="39802D"/>
                </a:solidFill>
                <a:latin typeface="Times New Roman"/>
                <a:cs typeface="Times New Roman"/>
              </a:rPr>
              <a:t>Performance</a:t>
            </a:r>
            <a:r>
              <a:rPr dirty="0" sz="4000" spc="-165" b="1">
                <a:solidFill>
                  <a:srgbClr val="39802D"/>
                </a:solidFill>
                <a:latin typeface="Times New Roman"/>
                <a:cs typeface="Times New Roman"/>
              </a:rPr>
              <a:t> </a:t>
            </a:r>
            <a:r>
              <a:rPr dirty="0" sz="4000" spc="-10" b="1">
                <a:solidFill>
                  <a:srgbClr val="39802D"/>
                </a:solidFill>
                <a:latin typeface="Times New Roman"/>
                <a:cs typeface="Times New Roman"/>
              </a:rPr>
              <a:t>Computing </a:t>
            </a:r>
            <a:r>
              <a:rPr dirty="0" sz="4000" b="1">
                <a:solidFill>
                  <a:srgbClr val="39802D"/>
                </a:solidFill>
                <a:latin typeface="Times New Roman"/>
                <a:cs typeface="Times New Roman"/>
              </a:rPr>
              <a:t>Lecture</a:t>
            </a:r>
            <a:r>
              <a:rPr dirty="0" sz="4000" spc="-150" b="1">
                <a:solidFill>
                  <a:srgbClr val="39802D"/>
                </a:solidFill>
                <a:latin typeface="Times New Roman"/>
                <a:cs typeface="Times New Roman"/>
              </a:rPr>
              <a:t> </a:t>
            </a:r>
            <a:r>
              <a:rPr dirty="0" sz="4000" spc="-25" b="1">
                <a:solidFill>
                  <a:srgbClr val="39802D"/>
                </a:solidFill>
                <a:latin typeface="Times New Roman"/>
                <a:cs typeface="Times New Roman"/>
              </a:rPr>
              <a:t>11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3139" y="724915"/>
            <a:ext cx="413766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5"/>
              <a:t>Parallel</a:t>
            </a:r>
            <a:r>
              <a:rPr dirty="0" spc="950"/>
              <a:t> </a:t>
            </a:r>
            <a:r>
              <a:rPr dirty="0" spc="-200"/>
              <a:t>Computing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2550">
              <a:lnSpc>
                <a:spcPts val="1425"/>
              </a:lnSpc>
            </a:pPr>
            <a:r>
              <a:rPr dirty="0" spc="-5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569212"/>
            <a:ext cx="6541770" cy="112268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8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Parallel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Architecture</a:t>
            </a:r>
            <a:endParaRPr sz="30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Introduction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to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Parallel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Programming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39" y="1660652"/>
            <a:ext cx="758063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Parallel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computer: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computer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system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 spc="-20">
                <a:latin typeface="Arial MT"/>
                <a:cs typeface="Arial MT"/>
              </a:rPr>
              <a:t>with </a:t>
            </a:r>
            <a:r>
              <a:rPr dirty="0" sz="3000" spc="-20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more</a:t>
            </a:r>
            <a:r>
              <a:rPr dirty="0" sz="3000" spc="-2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than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one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processor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5"/>
              <a:t>Parallel</a:t>
            </a:r>
            <a:r>
              <a:rPr dirty="0" spc="-95"/>
              <a:t> </a:t>
            </a:r>
            <a:r>
              <a:rPr dirty="0" spc="-175"/>
              <a:t>Architecture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836166" y="4990846"/>
            <a:ext cx="4859020" cy="381635"/>
            <a:chOff x="1836166" y="4990846"/>
            <a:chExt cx="4859020" cy="381635"/>
          </a:xfrm>
        </p:grpSpPr>
        <p:sp>
          <p:nvSpPr>
            <p:cNvPr id="5" name="object 5"/>
            <p:cNvSpPr/>
            <p:nvPr/>
          </p:nvSpPr>
          <p:spPr>
            <a:xfrm>
              <a:off x="1850136" y="5017008"/>
              <a:ext cx="177165" cy="341630"/>
            </a:xfrm>
            <a:custGeom>
              <a:avLst/>
              <a:gdLst/>
              <a:ahLst/>
              <a:cxnLst/>
              <a:rect l="l" t="t" r="r" b="b"/>
              <a:pathLst>
                <a:path w="177164" h="341629">
                  <a:moveTo>
                    <a:pt x="88391" y="0"/>
                  </a:moveTo>
                  <a:lnTo>
                    <a:pt x="0" y="70104"/>
                  </a:lnTo>
                  <a:lnTo>
                    <a:pt x="42671" y="70104"/>
                  </a:lnTo>
                  <a:lnTo>
                    <a:pt x="42671" y="271272"/>
                  </a:lnTo>
                  <a:lnTo>
                    <a:pt x="0" y="271272"/>
                  </a:lnTo>
                  <a:lnTo>
                    <a:pt x="88391" y="341376"/>
                  </a:lnTo>
                  <a:lnTo>
                    <a:pt x="176783" y="271272"/>
                  </a:lnTo>
                  <a:lnTo>
                    <a:pt x="131063" y="271272"/>
                  </a:lnTo>
                  <a:lnTo>
                    <a:pt x="131063" y="70104"/>
                  </a:lnTo>
                  <a:lnTo>
                    <a:pt x="176783" y="70104"/>
                  </a:lnTo>
                  <a:lnTo>
                    <a:pt x="88391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850136" y="5017008"/>
              <a:ext cx="177165" cy="341630"/>
            </a:xfrm>
            <a:custGeom>
              <a:avLst/>
              <a:gdLst/>
              <a:ahLst/>
              <a:cxnLst/>
              <a:rect l="l" t="t" r="r" b="b"/>
              <a:pathLst>
                <a:path w="177164" h="341629">
                  <a:moveTo>
                    <a:pt x="88391" y="0"/>
                  </a:moveTo>
                  <a:lnTo>
                    <a:pt x="176783" y="70104"/>
                  </a:lnTo>
                  <a:lnTo>
                    <a:pt x="131063" y="70104"/>
                  </a:lnTo>
                  <a:lnTo>
                    <a:pt x="131063" y="271272"/>
                  </a:lnTo>
                  <a:lnTo>
                    <a:pt x="176783" y="271272"/>
                  </a:lnTo>
                  <a:lnTo>
                    <a:pt x="88391" y="341376"/>
                  </a:lnTo>
                  <a:lnTo>
                    <a:pt x="0" y="271272"/>
                  </a:lnTo>
                  <a:lnTo>
                    <a:pt x="42671" y="271272"/>
                  </a:lnTo>
                  <a:lnTo>
                    <a:pt x="42671" y="70104"/>
                  </a:lnTo>
                  <a:lnTo>
                    <a:pt x="0" y="70104"/>
                  </a:lnTo>
                  <a:lnTo>
                    <a:pt x="88391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504431" y="5004816"/>
              <a:ext cx="177165" cy="338455"/>
            </a:xfrm>
            <a:custGeom>
              <a:avLst/>
              <a:gdLst/>
              <a:ahLst/>
              <a:cxnLst/>
              <a:rect l="l" t="t" r="r" b="b"/>
              <a:pathLst>
                <a:path w="177165" h="338454">
                  <a:moveTo>
                    <a:pt x="88392" y="0"/>
                  </a:moveTo>
                  <a:lnTo>
                    <a:pt x="0" y="67055"/>
                  </a:lnTo>
                  <a:lnTo>
                    <a:pt x="42672" y="67055"/>
                  </a:lnTo>
                  <a:lnTo>
                    <a:pt x="42672" y="271271"/>
                  </a:lnTo>
                  <a:lnTo>
                    <a:pt x="0" y="271271"/>
                  </a:lnTo>
                  <a:lnTo>
                    <a:pt x="88392" y="338327"/>
                  </a:lnTo>
                  <a:lnTo>
                    <a:pt x="176784" y="271271"/>
                  </a:lnTo>
                  <a:lnTo>
                    <a:pt x="131064" y="271271"/>
                  </a:lnTo>
                  <a:lnTo>
                    <a:pt x="131064" y="67055"/>
                  </a:lnTo>
                  <a:lnTo>
                    <a:pt x="176784" y="67055"/>
                  </a:lnTo>
                  <a:lnTo>
                    <a:pt x="88392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504431" y="5004816"/>
              <a:ext cx="177165" cy="338455"/>
            </a:xfrm>
            <a:custGeom>
              <a:avLst/>
              <a:gdLst/>
              <a:ahLst/>
              <a:cxnLst/>
              <a:rect l="l" t="t" r="r" b="b"/>
              <a:pathLst>
                <a:path w="177165" h="338454">
                  <a:moveTo>
                    <a:pt x="88392" y="0"/>
                  </a:moveTo>
                  <a:lnTo>
                    <a:pt x="176784" y="67055"/>
                  </a:lnTo>
                  <a:lnTo>
                    <a:pt x="131064" y="67055"/>
                  </a:lnTo>
                  <a:lnTo>
                    <a:pt x="131064" y="271271"/>
                  </a:lnTo>
                  <a:lnTo>
                    <a:pt x="176784" y="271271"/>
                  </a:lnTo>
                  <a:lnTo>
                    <a:pt x="88392" y="338327"/>
                  </a:lnTo>
                  <a:lnTo>
                    <a:pt x="0" y="271271"/>
                  </a:lnTo>
                  <a:lnTo>
                    <a:pt x="42672" y="271271"/>
                  </a:lnTo>
                  <a:lnTo>
                    <a:pt x="42672" y="67055"/>
                  </a:lnTo>
                  <a:lnTo>
                    <a:pt x="0" y="67055"/>
                  </a:lnTo>
                  <a:lnTo>
                    <a:pt x="88392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974079" y="4151376"/>
            <a:ext cx="1229360" cy="832485"/>
          </a:xfrm>
          <a:prstGeom prst="rect">
            <a:avLst/>
          </a:prstGeom>
          <a:ln w="27430">
            <a:solidFill>
              <a:srgbClr val="CC3300"/>
            </a:solidFill>
          </a:ln>
        </p:spPr>
        <p:txBody>
          <a:bodyPr wrap="square" lIns="0" tIns="2038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5"/>
              </a:spcBef>
            </a:pPr>
            <a:r>
              <a:rPr dirty="0" sz="2400" spc="55" b="1">
                <a:solidFill>
                  <a:srgbClr val="3A802E"/>
                </a:solidFill>
                <a:latin typeface="Arial"/>
                <a:cs typeface="Arial"/>
              </a:rPr>
              <a:t>Memory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9592" y="5974079"/>
            <a:ext cx="810895" cy="676910"/>
          </a:xfrm>
          <a:prstGeom prst="rect">
            <a:avLst/>
          </a:prstGeom>
          <a:ln w="27430">
            <a:solidFill>
              <a:srgbClr val="CC3300"/>
            </a:solidFill>
          </a:ln>
        </p:spPr>
        <p:txBody>
          <a:bodyPr wrap="square" lIns="0" tIns="127635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005"/>
              </a:spcBef>
            </a:pPr>
            <a:r>
              <a:rPr dirty="0" sz="2400" spc="170" b="1">
                <a:solidFill>
                  <a:srgbClr val="3A802E"/>
                </a:solidFill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81558" y="5256021"/>
            <a:ext cx="6352540" cy="421640"/>
            <a:chOff x="781558" y="5256021"/>
            <a:chExt cx="6352540" cy="421640"/>
          </a:xfrm>
        </p:grpSpPr>
        <p:sp>
          <p:nvSpPr>
            <p:cNvPr id="12" name="object 12"/>
            <p:cNvSpPr/>
            <p:nvPr/>
          </p:nvSpPr>
          <p:spPr>
            <a:xfrm>
              <a:off x="795528" y="5269991"/>
              <a:ext cx="6324600" cy="393700"/>
            </a:xfrm>
            <a:custGeom>
              <a:avLst/>
              <a:gdLst/>
              <a:ahLst/>
              <a:cxnLst/>
              <a:rect l="l" t="t" r="r" b="b"/>
              <a:pathLst>
                <a:path w="6324600" h="393700">
                  <a:moveTo>
                    <a:pt x="5964936" y="0"/>
                  </a:moveTo>
                  <a:lnTo>
                    <a:pt x="5964936" y="73151"/>
                  </a:lnTo>
                  <a:lnTo>
                    <a:pt x="356616" y="73151"/>
                  </a:lnTo>
                  <a:lnTo>
                    <a:pt x="356616" y="0"/>
                  </a:lnTo>
                  <a:lnTo>
                    <a:pt x="0" y="198119"/>
                  </a:lnTo>
                  <a:lnTo>
                    <a:pt x="356616" y="393191"/>
                  </a:lnTo>
                  <a:lnTo>
                    <a:pt x="356616" y="320039"/>
                  </a:lnTo>
                  <a:lnTo>
                    <a:pt x="5964936" y="320039"/>
                  </a:lnTo>
                  <a:lnTo>
                    <a:pt x="5964936" y="393191"/>
                  </a:lnTo>
                  <a:lnTo>
                    <a:pt x="6324600" y="198119"/>
                  </a:lnTo>
                  <a:lnTo>
                    <a:pt x="5964936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95528" y="5269991"/>
              <a:ext cx="6324600" cy="393700"/>
            </a:xfrm>
            <a:custGeom>
              <a:avLst/>
              <a:gdLst/>
              <a:ahLst/>
              <a:cxnLst/>
              <a:rect l="l" t="t" r="r" b="b"/>
              <a:pathLst>
                <a:path w="6324600" h="393700">
                  <a:moveTo>
                    <a:pt x="0" y="198119"/>
                  </a:moveTo>
                  <a:lnTo>
                    <a:pt x="356616" y="393191"/>
                  </a:lnTo>
                  <a:lnTo>
                    <a:pt x="356616" y="320039"/>
                  </a:lnTo>
                  <a:lnTo>
                    <a:pt x="5964936" y="320039"/>
                  </a:lnTo>
                  <a:lnTo>
                    <a:pt x="5964936" y="393191"/>
                  </a:lnTo>
                  <a:lnTo>
                    <a:pt x="6324600" y="198119"/>
                  </a:lnTo>
                  <a:lnTo>
                    <a:pt x="5964936" y="0"/>
                  </a:lnTo>
                  <a:lnTo>
                    <a:pt x="5964936" y="73151"/>
                  </a:lnTo>
                  <a:lnTo>
                    <a:pt x="356616" y="73151"/>
                  </a:lnTo>
                  <a:lnTo>
                    <a:pt x="356616" y="0"/>
                  </a:lnTo>
                  <a:lnTo>
                    <a:pt x="0" y="198119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699764" y="5263388"/>
            <a:ext cx="5187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3A802E"/>
                </a:solidFill>
                <a:latin typeface="Times New Roman"/>
                <a:cs typeface="Times New Roman"/>
              </a:rPr>
              <a:t>Bus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52415" y="5974079"/>
            <a:ext cx="810895" cy="676910"/>
          </a:xfrm>
          <a:prstGeom prst="rect">
            <a:avLst/>
          </a:prstGeom>
          <a:ln w="27430">
            <a:solidFill>
              <a:srgbClr val="CC3300"/>
            </a:solidFill>
          </a:ln>
        </p:spPr>
        <p:txBody>
          <a:bodyPr wrap="square" lIns="0" tIns="127635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005"/>
              </a:spcBef>
            </a:pPr>
            <a:r>
              <a:rPr dirty="0" sz="2400" spc="170" b="1">
                <a:solidFill>
                  <a:srgbClr val="3A802E"/>
                </a:solidFill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86911" y="5974079"/>
            <a:ext cx="807720" cy="676910"/>
          </a:xfrm>
          <a:prstGeom prst="rect">
            <a:avLst/>
          </a:prstGeom>
          <a:ln w="27430">
            <a:solidFill>
              <a:srgbClr val="CC3300"/>
            </a:solidFill>
          </a:ln>
        </p:spPr>
        <p:txBody>
          <a:bodyPr wrap="square" lIns="0" tIns="127635" rIns="0" bIns="0" rtlCol="0" vert="horz">
            <a:spAutoFit/>
          </a:bodyPr>
          <a:lstStyle/>
          <a:p>
            <a:pPr marL="161290">
              <a:lnSpc>
                <a:spcPct val="100000"/>
              </a:lnSpc>
              <a:spcBef>
                <a:spcPts val="1005"/>
              </a:spcBef>
            </a:pPr>
            <a:r>
              <a:rPr dirty="0" sz="2400" spc="170" b="1">
                <a:solidFill>
                  <a:srgbClr val="3A802E"/>
                </a:solidFill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78509" y="3570478"/>
            <a:ext cx="4594225" cy="2418080"/>
            <a:chOff x="778509" y="3570478"/>
            <a:chExt cx="4594225" cy="2418080"/>
          </a:xfrm>
        </p:grpSpPr>
        <p:sp>
          <p:nvSpPr>
            <p:cNvPr id="18" name="object 18"/>
            <p:cNvSpPr/>
            <p:nvPr/>
          </p:nvSpPr>
          <p:spPr>
            <a:xfrm>
              <a:off x="2423159" y="5611368"/>
              <a:ext cx="152400" cy="363220"/>
            </a:xfrm>
            <a:custGeom>
              <a:avLst/>
              <a:gdLst/>
              <a:ahLst/>
              <a:cxnLst/>
              <a:rect l="l" t="t" r="r" b="b"/>
              <a:pathLst>
                <a:path w="152400" h="363220">
                  <a:moveTo>
                    <a:pt x="76200" y="0"/>
                  </a:moveTo>
                  <a:lnTo>
                    <a:pt x="0" y="73151"/>
                  </a:lnTo>
                  <a:lnTo>
                    <a:pt x="39623" y="73151"/>
                  </a:lnTo>
                  <a:lnTo>
                    <a:pt x="39623" y="292607"/>
                  </a:lnTo>
                  <a:lnTo>
                    <a:pt x="0" y="292607"/>
                  </a:lnTo>
                  <a:lnTo>
                    <a:pt x="76200" y="362711"/>
                  </a:lnTo>
                  <a:lnTo>
                    <a:pt x="152400" y="292607"/>
                  </a:lnTo>
                  <a:lnTo>
                    <a:pt x="115823" y="292607"/>
                  </a:lnTo>
                  <a:lnTo>
                    <a:pt x="115823" y="73151"/>
                  </a:lnTo>
                  <a:lnTo>
                    <a:pt x="152400" y="7315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423159" y="5611368"/>
              <a:ext cx="152400" cy="363220"/>
            </a:xfrm>
            <a:custGeom>
              <a:avLst/>
              <a:gdLst/>
              <a:ahLst/>
              <a:cxnLst/>
              <a:rect l="l" t="t" r="r" b="b"/>
              <a:pathLst>
                <a:path w="152400" h="363220">
                  <a:moveTo>
                    <a:pt x="76200" y="0"/>
                  </a:moveTo>
                  <a:lnTo>
                    <a:pt x="152400" y="73151"/>
                  </a:lnTo>
                  <a:lnTo>
                    <a:pt x="115823" y="73151"/>
                  </a:lnTo>
                  <a:lnTo>
                    <a:pt x="115823" y="292607"/>
                  </a:lnTo>
                  <a:lnTo>
                    <a:pt x="152400" y="292607"/>
                  </a:lnTo>
                  <a:lnTo>
                    <a:pt x="76200" y="362711"/>
                  </a:lnTo>
                  <a:lnTo>
                    <a:pt x="0" y="292607"/>
                  </a:lnTo>
                  <a:lnTo>
                    <a:pt x="39623" y="292607"/>
                  </a:lnTo>
                  <a:lnTo>
                    <a:pt x="39623" y="73151"/>
                  </a:lnTo>
                  <a:lnTo>
                    <a:pt x="0" y="73151"/>
                  </a:lnTo>
                  <a:lnTo>
                    <a:pt x="76200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205983" y="5611368"/>
              <a:ext cx="152400" cy="363220"/>
            </a:xfrm>
            <a:custGeom>
              <a:avLst/>
              <a:gdLst/>
              <a:ahLst/>
              <a:cxnLst/>
              <a:rect l="l" t="t" r="r" b="b"/>
              <a:pathLst>
                <a:path w="152400" h="363220">
                  <a:moveTo>
                    <a:pt x="76200" y="0"/>
                  </a:moveTo>
                  <a:lnTo>
                    <a:pt x="0" y="73151"/>
                  </a:lnTo>
                  <a:lnTo>
                    <a:pt x="39624" y="73151"/>
                  </a:lnTo>
                  <a:lnTo>
                    <a:pt x="39624" y="292607"/>
                  </a:lnTo>
                  <a:lnTo>
                    <a:pt x="0" y="292607"/>
                  </a:lnTo>
                  <a:lnTo>
                    <a:pt x="76200" y="362711"/>
                  </a:lnTo>
                  <a:lnTo>
                    <a:pt x="152400" y="292607"/>
                  </a:lnTo>
                  <a:lnTo>
                    <a:pt x="115824" y="292607"/>
                  </a:lnTo>
                  <a:lnTo>
                    <a:pt x="115824" y="73151"/>
                  </a:lnTo>
                  <a:lnTo>
                    <a:pt x="152400" y="7315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205983" y="5611368"/>
              <a:ext cx="152400" cy="363220"/>
            </a:xfrm>
            <a:custGeom>
              <a:avLst/>
              <a:gdLst/>
              <a:ahLst/>
              <a:cxnLst/>
              <a:rect l="l" t="t" r="r" b="b"/>
              <a:pathLst>
                <a:path w="152400" h="363220">
                  <a:moveTo>
                    <a:pt x="76200" y="0"/>
                  </a:moveTo>
                  <a:lnTo>
                    <a:pt x="152400" y="73151"/>
                  </a:lnTo>
                  <a:lnTo>
                    <a:pt x="115824" y="73151"/>
                  </a:lnTo>
                  <a:lnTo>
                    <a:pt x="115824" y="292607"/>
                  </a:lnTo>
                  <a:lnTo>
                    <a:pt x="152400" y="292607"/>
                  </a:lnTo>
                  <a:lnTo>
                    <a:pt x="76200" y="362711"/>
                  </a:lnTo>
                  <a:lnTo>
                    <a:pt x="0" y="292607"/>
                  </a:lnTo>
                  <a:lnTo>
                    <a:pt x="39624" y="292607"/>
                  </a:lnTo>
                  <a:lnTo>
                    <a:pt x="39624" y="73151"/>
                  </a:lnTo>
                  <a:lnTo>
                    <a:pt x="0" y="73151"/>
                  </a:lnTo>
                  <a:lnTo>
                    <a:pt x="76200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840480" y="5611368"/>
              <a:ext cx="152400" cy="363220"/>
            </a:xfrm>
            <a:custGeom>
              <a:avLst/>
              <a:gdLst/>
              <a:ahLst/>
              <a:cxnLst/>
              <a:rect l="l" t="t" r="r" b="b"/>
              <a:pathLst>
                <a:path w="152400" h="363220">
                  <a:moveTo>
                    <a:pt x="76200" y="0"/>
                  </a:moveTo>
                  <a:lnTo>
                    <a:pt x="0" y="73151"/>
                  </a:lnTo>
                  <a:lnTo>
                    <a:pt x="36575" y="73151"/>
                  </a:lnTo>
                  <a:lnTo>
                    <a:pt x="36575" y="292607"/>
                  </a:lnTo>
                  <a:lnTo>
                    <a:pt x="0" y="292607"/>
                  </a:lnTo>
                  <a:lnTo>
                    <a:pt x="76200" y="362711"/>
                  </a:lnTo>
                  <a:lnTo>
                    <a:pt x="152400" y="292607"/>
                  </a:lnTo>
                  <a:lnTo>
                    <a:pt x="112775" y="292607"/>
                  </a:lnTo>
                  <a:lnTo>
                    <a:pt x="112775" y="73151"/>
                  </a:lnTo>
                  <a:lnTo>
                    <a:pt x="152400" y="7315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840480" y="5611368"/>
              <a:ext cx="152400" cy="363220"/>
            </a:xfrm>
            <a:custGeom>
              <a:avLst/>
              <a:gdLst/>
              <a:ahLst/>
              <a:cxnLst/>
              <a:rect l="l" t="t" r="r" b="b"/>
              <a:pathLst>
                <a:path w="152400" h="363220">
                  <a:moveTo>
                    <a:pt x="76200" y="0"/>
                  </a:moveTo>
                  <a:lnTo>
                    <a:pt x="152400" y="73151"/>
                  </a:lnTo>
                  <a:lnTo>
                    <a:pt x="112775" y="73151"/>
                  </a:lnTo>
                  <a:lnTo>
                    <a:pt x="112775" y="292607"/>
                  </a:lnTo>
                  <a:lnTo>
                    <a:pt x="152400" y="292607"/>
                  </a:lnTo>
                  <a:lnTo>
                    <a:pt x="76200" y="362711"/>
                  </a:lnTo>
                  <a:lnTo>
                    <a:pt x="0" y="292607"/>
                  </a:lnTo>
                  <a:lnTo>
                    <a:pt x="36575" y="292607"/>
                  </a:lnTo>
                  <a:lnTo>
                    <a:pt x="36575" y="73151"/>
                  </a:lnTo>
                  <a:lnTo>
                    <a:pt x="0" y="73151"/>
                  </a:lnTo>
                  <a:lnTo>
                    <a:pt x="76200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92479" y="3584448"/>
              <a:ext cx="2301240" cy="1420495"/>
            </a:xfrm>
            <a:custGeom>
              <a:avLst/>
              <a:gdLst/>
              <a:ahLst/>
              <a:cxnLst/>
              <a:rect l="l" t="t" r="r" b="b"/>
              <a:pathLst>
                <a:path w="2301240" h="1420495">
                  <a:moveTo>
                    <a:pt x="2301240" y="0"/>
                  </a:moveTo>
                  <a:lnTo>
                    <a:pt x="0" y="0"/>
                  </a:lnTo>
                  <a:lnTo>
                    <a:pt x="0" y="1420368"/>
                  </a:lnTo>
                  <a:lnTo>
                    <a:pt x="2301240" y="1420368"/>
                  </a:lnTo>
                  <a:lnTo>
                    <a:pt x="230124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92479" y="3584448"/>
              <a:ext cx="2301240" cy="1420495"/>
            </a:xfrm>
            <a:custGeom>
              <a:avLst/>
              <a:gdLst/>
              <a:ahLst/>
              <a:cxnLst/>
              <a:rect l="l" t="t" r="r" b="b"/>
              <a:pathLst>
                <a:path w="2301240" h="1420495">
                  <a:moveTo>
                    <a:pt x="0" y="0"/>
                  </a:moveTo>
                  <a:lnTo>
                    <a:pt x="0" y="1420368"/>
                  </a:lnTo>
                  <a:lnTo>
                    <a:pt x="2301240" y="1420368"/>
                  </a:lnTo>
                  <a:lnTo>
                    <a:pt x="2301240" y="0"/>
                  </a:lnTo>
                  <a:lnTo>
                    <a:pt x="0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2313432" y="4605528"/>
            <a:ext cx="707390" cy="341630"/>
          </a:xfrm>
          <a:prstGeom prst="rect">
            <a:avLst/>
          </a:prstGeom>
          <a:solidFill>
            <a:srgbClr val="FFFFCC"/>
          </a:solidFill>
          <a:ln w="27430">
            <a:solidFill>
              <a:srgbClr val="CC3300"/>
            </a:solidFill>
          </a:ln>
        </p:spPr>
        <p:txBody>
          <a:bodyPr wrap="square" lIns="0" tIns="3111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245"/>
              </a:spcBef>
            </a:pPr>
            <a:r>
              <a:rPr dirty="0" sz="1600" spc="90" b="1">
                <a:solidFill>
                  <a:srgbClr val="3A802E"/>
                </a:solidFill>
                <a:latin typeface="Arial"/>
                <a:cs typeface="Arial"/>
              </a:rPr>
              <a:t>Cache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200" y="4550664"/>
            <a:ext cx="707390" cy="396240"/>
          </a:xfrm>
          <a:custGeom>
            <a:avLst/>
            <a:gdLst/>
            <a:ahLst/>
            <a:cxnLst/>
            <a:rect l="l" t="t" r="r" b="b"/>
            <a:pathLst>
              <a:path w="707390" h="396239">
                <a:moveTo>
                  <a:pt x="0" y="0"/>
                </a:moveTo>
                <a:lnTo>
                  <a:pt x="0" y="396240"/>
                </a:lnTo>
                <a:lnTo>
                  <a:pt x="707136" y="396240"/>
                </a:lnTo>
                <a:lnTo>
                  <a:pt x="707136" y="0"/>
                </a:lnTo>
                <a:lnTo>
                  <a:pt x="0" y="0"/>
                </a:lnTo>
                <a:close/>
              </a:path>
            </a:pathLst>
          </a:custGeom>
          <a:ln w="27430">
            <a:solidFill>
              <a:srgbClr val="CC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838200" y="4595877"/>
            <a:ext cx="69342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6680">
              <a:lnSpc>
                <a:spcPct val="100000"/>
              </a:lnSpc>
              <a:spcBef>
                <a:spcPts val="105"/>
              </a:spcBef>
            </a:pPr>
            <a:r>
              <a:rPr dirty="0" sz="1600" spc="-25" b="1">
                <a:solidFill>
                  <a:srgbClr val="3A802E"/>
                </a:solidFill>
                <a:latin typeface="Arial"/>
                <a:cs typeface="Arial"/>
              </a:rPr>
              <a:t>MMU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20444" y="3166364"/>
            <a:ext cx="6515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Times New Roman"/>
                <a:cs typeface="Times New Roman"/>
              </a:rPr>
              <a:t>CPU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58246" y="3212252"/>
            <a:ext cx="153035" cy="337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20"/>
              </a:lnSpc>
            </a:pPr>
            <a:r>
              <a:rPr dirty="0" sz="2400" spc="-50" b="1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824484" y="3628644"/>
          <a:ext cx="2283460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2630"/>
                <a:gridCol w="530859"/>
                <a:gridCol w="207644"/>
                <a:gridCol w="719455"/>
              </a:tblGrid>
              <a:tr h="403860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1600" spc="-25" b="1">
                          <a:solidFill>
                            <a:srgbClr val="3A802E"/>
                          </a:solidFill>
                          <a:latin typeface="Arial"/>
                          <a:cs typeface="Arial"/>
                        </a:rPr>
                        <a:t>ALU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R w="28575">
                      <a:solidFill>
                        <a:srgbClr val="CC3300"/>
                      </a:solidFill>
                      <a:prstDash val="solid"/>
                    </a:lnR>
                    <a:lnT w="28575">
                      <a:solidFill>
                        <a:srgbClr val="CC3300"/>
                      </a:solidFill>
                      <a:prstDash val="solid"/>
                    </a:lnT>
                    <a:lnB w="28575">
                      <a:solidFill>
                        <a:srgbClr val="CC33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CC3300"/>
                      </a:solidFill>
                      <a:prstDash val="solid"/>
                    </a:lnL>
                    <a:lnR w="28575">
                      <a:solidFill>
                        <a:srgbClr val="CC3300"/>
                      </a:solidFill>
                      <a:prstDash val="solid"/>
                    </a:lnR>
                    <a:lnB w="28575">
                      <a:solidFill>
                        <a:srgbClr val="CC33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048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dirty="0" sz="1600" spc="-40" b="1">
                          <a:solidFill>
                            <a:srgbClr val="3A802E"/>
                          </a:solidFill>
                          <a:latin typeface="Arial"/>
                          <a:cs typeface="Arial"/>
                        </a:rPr>
                        <a:t>Registers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59054">
                    <a:lnL w="28575">
                      <a:solidFill>
                        <a:srgbClr val="CC3300"/>
                      </a:solidFill>
                      <a:prstDash val="solid"/>
                    </a:lnL>
                    <a:lnR w="28575">
                      <a:solidFill>
                        <a:srgbClr val="CC3300"/>
                      </a:solidFill>
                      <a:prstDash val="solid"/>
                    </a:lnR>
                    <a:lnT w="28575">
                      <a:solidFill>
                        <a:srgbClr val="CC3300"/>
                      </a:solidFill>
                      <a:prstDash val="solid"/>
                    </a:lnT>
                    <a:lnB w="57150">
                      <a:solidFill>
                        <a:srgbClr val="CC33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CC3300"/>
                      </a:solidFill>
                      <a:prstDash val="solid"/>
                    </a:lnR>
                    <a:lnT w="28575">
                      <a:solidFill>
                        <a:srgbClr val="CC33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dirty="0" sz="1600" spc="-10" b="1">
                          <a:solidFill>
                            <a:srgbClr val="3A802E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72390">
                    <a:lnL w="28575">
                      <a:solidFill>
                        <a:srgbClr val="CC3300"/>
                      </a:solidFill>
                      <a:prstDash val="solid"/>
                    </a:lnL>
                    <a:lnR w="28575">
                      <a:solidFill>
                        <a:srgbClr val="CC3300"/>
                      </a:solidFill>
                      <a:prstDash val="solid"/>
                    </a:lnR>
                    <a:lnT w="57150">
                      <a:solidFill>
                        <a:srgbClr val="CC3300"/>
                      </a:solidFill>
                      <a:prstDash val="solid"/>
                    </a:lnT>
                    <a:lnB w="28575">
                      <a:solidFill>
                        <a:srgbClr val="CC33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CC3300"/>
                      </a:solidFill>
                      <a:prstDash val="solid"/>
                    </a:lnL>
                    <a:lnT w="28575">
                      <a:solidFill>
                        <a:srgbClr val="CC33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pSp>
        <p:nvGrpSpPr>
          <p:cNvPr id="32" name="object 32"/>
          <p:cNvGrpSpPr/>
          <p:nvPr/>
        </p:nvGrpSpPr>
        <p:grpSpPr>
          <a:xfrm>
            <a:off x="3402838" y="3549141"/>
            <a:ext cx="2326640" cy="1817370"/>
            <a:chOff x="3402838" y="3549141"/>
            <a:chExt cx="2326640" cy="1817370"/>
          </a:xfrm>
        </p:grpSpPr>
        <p:sp>
          <p:nvSpPr>
            <p:cNvPr id="33" name="object 33"/>
            <p:cNvSpPr/>
            <p:nvPr/>
          </p:nvSpPr>
          <p:spPr>
            <a:xfrm>
              <a:off x="4514088" y="5010911"/>
              <a:ext cx="180340" cy="341630"/>
            </a:xfrm>
            <a:custGeom>
              <a:avLst/>
              <a:gdLst/>
              <a:ahLst/>
              <a:cxnLst/>
              <a:rect l="l" t="t" r="r" b="b"/>
              <a:pathLst>
                <a:path w="180339" h="341629">
                  <a:moveTo>
                    <a:pt x="88391" y="0"/>
                  </a:moveTo>
                  <a:lnTo>
                    <a:pt x="0" y="70104"/>
                  </a:lnTo>
                  <a:lnTo>
                    <a:pt x="45720" y="70104"/>
                  </a:lnTo>
                  <a:lnTo>
                    <a:pt x="45720" y="271271"/>
                  </a:lnTo>
                  <a:lnTo>
                    <a:pt x="0" y="271271"/>
                  </a:lnTo>
                  <a:lnTo>
                    <a:pt x="88391" y="341375"/>
                  </a:lnTo>
                  <a:lnTo>
                    <a:pt x="179832" y="271271"/>
                  </a:lnTo>
                  <a:lnTo>
                    <a:pt x="134112" y="271271"/>
                  </a:lnTo>
                  <a:lnTo>
                    <a:pt x="134112" y="70104"/>
                  </a:lnTo>
                  <a:lnTo>
                    <a:pt x="179832" y="70104"/>
                  </a:lnTo>
                  <a:lnTo>
                    <a:pt x="88391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514088" y="5010911"/>
              <a:ext cx="180340" cy="341630"/>
            </a:xfrm>
            <a:custGeom>
              <a:avLst/>
              <a:gdLst/>
              <a:ahLst/>
              <a:cxnLst/>
              <a:rect l="l" t="t" r="r" b="b"/>
              <a:pathLst>
                <a:path w="180339" h="341629">
                  <a:moveTo>
                    <a:pt x="88391" y="0"/>
                  </a:moveTo>
                  <a:lnTo>
                    <a:pt x="179832" y="70104"/>
                  </a:lnTo>
                  <a:lnTo>
                    <a:pt x="134112" y="70104"/>
                  </a:lnTo>
                  <a:lnTo>
                    <a:pt x="134112" y="271271"/>
                  </a:lnTo>
                  <a:lnTo>
                    <a:pt x="179832" y="271271"/>
                  </a:lnTo>
                  <a:lnTo>
                    <a:pt x="88391" y="341375"/>
                  </a:lnTo>
                  <a:lnTo>
                    <a:pt x="0" y="271271"/>
                  </a:lnTo>
                  <a:lnTo>
                    <a:pt x="45720" y="271271"/>
                  </a:lnTo>
                  <a:lnTo>
                    <a:pt x="45720" y="70104"/>
                  </a:lnTo>
                  <a:lnTo>
                    <a:pt x="0" y="70104"/>
                  </a:lnTo>
                  <a:lnTo>
                    <a:pt x="88391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416808" y="3563111"/>
              <a:ext cx="2298700" cy="1420495"/>
            </a:xfrm>
            <a:custGeom>
              <a:avLst/>
              <a:gdLst/>
              <a:ahLst/>
              <a:cxnLst/>
              <a:rect l="l" t="t" r="r" b="b"/>
              <a:pathLst>
                <a:path w="2298700" h="1420495">
                  <a:moveTo>
                    <a:pt x="2298191" y="0"/>
                  </a:moveTo>
                  <a:lnTo>
                    <a:pt x="0" y="0"/>
                  </a:lnTo>
                  <a:lnTo>
                    <a:pt x="0" y="1420368"/>
                  </a:lnTo>
                  <a:lnTo>
                    <a:pt x="2298191" y="1420368"/>
                  </a:lnTo>
                  <a:lnTo>
                    <a:pt x="2298191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416808" y="3563111"/>
              <a:ext cx="2298700" cy="1420495"/>
            </a:xfrm>
            <a:custGeom>
              <a:avLst/>
              <a:gdLst/>
              <a:ahLst/>
              <a:cxnLst/>
              <a:rect l="l" t="t" r="r" b="b"/>
              <a:pathLst>
                <a:path w="2298700" h="1420495">
                  <a:moveTo>
                    <a:pt x="0" y="0"/>
                  </a:moveTo>
                  <a:lnTo>
                    <a:pt x="0" y="1420368"/>
                  </a:lnTo>
                  <a:lnTo>
                    <a:pt x="2298191" y="1420368"/>
                  </a:lnTo>
                  <a:lnTo>
                    <a:pt x="2298191" y="0"/>
                  </a:lnTo>
                  <a:lnTo>
                    <a:pt x="0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4934711" y="4587240"/>
            <a:ext cx="707390" cy="338455"/>
          </a:xfrm>
          <a:prstGeom prst="rect">
            <a:avLst/>
          </a:prstGeom>
          <a:solidFill>
            <a:srgbClr val="FFFFCC"/>
          </a:solidFill>
          <a:ln w="27430">
            <a:solidFill>
              <a:srgbClr val="CC3300"/>
            </a:solidFill>
          </a:ln>
        </p:spPr>
        <p:txBody>
          <a:bodyPr wrap="square" lIns="0" tIns="2857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225"/>
              </a:spcBef>
            </a:pPr>
            <a:r>
              <a:rPr dirty="0" sz="1600" spc="90" b="1">
                <a:solidFill>
                  <a:srgbClr val="3A802E"/>
                </a:solidFill>
                <a:latin typeface="Arial"/>
                <a:cs typeface="Arial"/>
              </a:rPr>
              <a:t>Cache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459479" y="4529328"/>
            <a:ext cx="710565" cy="396240"/>
          </a:xfrm>
          <a:custGeom>
            <a:avLst/>
            <a:gdLst/>
            <a:ahLst/>
            <a:cxnLst/>
            <a:rect l="l" t="t" r="r" b="b"/>
            <a:pathLst>
              <a:path w="710564" h="396239">
                <a:moveTo>
                  <a:pt x="0" y="0"/>
                </a:moveTo>
                <a:lnTo>
                  <a:pt x="0" y="396240"/>
                </a:lnTo>
                <a:lnTo>
                  <a:pt x="710184" y="396240"/>
                </a:lnTo>
                <a:lnTo>
                  <a:pt x="710184" y="0"/>
                </a:lnTo>
                <a:lnTo>
                  <a:pt x="0" y="0"/>
                </a:lnTo>
                <a:close/>
              </a:path>
            </a:pathLst>
          </a:custGeom>
          <a:ln w="27430">
            <a:solidFill>
              <a:srgbClr val="CC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3459479" y="4574541"/>
            <a:ext cx="69659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6680">
              <a:lnSpc>
                <a:spcPct val="100000"/>
              </a:lnSpc>
              <a:spcBef>
                <a:spcPts val="105"/>
              </a:spcBef>
            </a:pPr>
            <a:r>
              <a:rPr dirty="0" sz="1600" spc="-25" b="1">
                <a:solidFill>
                  <a:srgbClr val="3A802E"/>
                </a:solidFill>
                <a:latin typeface="Arial"/>
                <a:cs typeface="Arial"/>
              </a:rPr>
              <a:t>MMU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459479" y="3621023"/>
            <a:ext cx="710565" cy="396240"/>
          </a:xfrm>
          <a:custGeom>
            <a:avLst/>
            <a:gdLst/>
            <a:ahLst/>
            <a:cxnLst/>
            <a:rect l="l" t="t" r="r" b="b"/>
            <a:pathLst>
              <a:path w="710564" h="396239">
                <a:moveTo>
                  <a:pt x="0" y="0"/>
                </a:moveTo>
                <a:lnTo>
                  <a:pt x="0" y="396239"/>
                </a:lnTo>
                <a:lnTo>
                  <a:pt x="710184" y="396239"/>
                </a:lnTo>
                <a:lnTo>
                  <a:pt x="710184" y="0"/>
                </a:lnTo>
                <a:lnTo>
                  <a:pt x="0" y="0"/>
                </a:lnTo>
                <a:close/>
              </a:path>
            </a:pathLst>
          </a:custGeom>
          <a:ln w="27430">
            <a:solidFill>
              <a:srgbClr val="CC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459479" y="3666237"/>
            <a:ext cx="69659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105"/>
              </a:spcBef>
            </a:pPr>
            <a:r>
              <a:rPr dirty="0" sz="1600" spc="-25" b="1">
                <a:solidFill>
                  <a:srgbClr val="3A802E"/>
                </a:solidFill>
                <a:latin typeface="Arial"/>
                <a:cs typeface="Arial"/>
              </a:rPr>
              <a:t>ALU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745735" y="3605784"/>
            <a:ext cx="881380" cy="411480"/>
          </a:xfrm>
          <a:prstGeom prst="rect">
            <a:avLst/>
          </a:prstGeom>
          <a:solidFill>
            <a:srgbClr val="FFFFCC"/>
          </a:solidFill>
          <a:ln w="27430">
            <a:solidFill>
              <a:srgbClr val="CC3300"/>
            </a:solidFill>
          </a:ln>
        </p:spPr>
        <p:txBody>
          <a:bodyPr wrap="square" lIns="0" tIns="67945" rIns="0" bIns="0" rtlCol="0" vert="horz">
            <a:spAutoFit/>
          </a:bodyPr>
          <a:lstStyle/>
          <a:p>
            <a:pPr marL="5715">
              <a:lnSpc>
                <a:spcPct val="100000"/>
              </a:lnSpc>
              <a:spcBef>
                <a:spcPts val="535"/>
              </a:spcBef>
            </a:pPr>
            <a:r>
              <a:rPr dirty="0" sz="1600" spc="-55" b="1">
                <a:solidFill>
                  <a:srgbClr val="3A802E"/>
                </a:solidFill>
                <a:latin typeface="Arial"/>
                <a:cs typeface="Arial"/>
              </a:rPr>
              <a:t>Registers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26484" y="3145028"/>
            <a:ext cx="8032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latin typeface="Times New Roman"/>
                <a:cs typeface="Times New Roman"/>
              </a:rPr>
              <a:t>CPU2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169664" y="4075176"/>
            <a:ext cx="762000" cy="338455"/>
          </a:xfrm>
          <a:prstGeom prst="rect">
            <a:avLst/>
          </a:prstGeom>
          <a:solidFill>
            <a:srgbClr val="FFFFCC"/>
          </a:solidFill>
          <a:ln w="27430">
            <a:solidFill>
              <a:srgbClr val="CC3300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220"/>
              </a:spcBef>
            </a:pPr>
            <a:r>
              <a:rPr dirty="0" sz="1600" spc="-10" b="1">
                <a:solidFill>
                  <a:srgbClr val="3A802E"/>
                </a:solidFill>
                <a:latin typeface="Arial"/>
                <a:cs typeface="Arial"/>
              </a:rPr>
              <a:t>Control</a:t>
            </a:r>
            <a:endParaRPr sz="16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167127" y="3005327"/>
            <a:ext cx="494030" cy="524510"/>
          </a:xfrm>
          <a:custGeom>
            <a:avLst/>
            <a:gdLst/>
            <a:ahLst/>
            <a:cxnLst/>
            <a:rect l="l" t="t" r="r" b="b"/>
            <a:pathLst>
              <a:path w="494030" h="524510">
                <a:moveTo>
                  <a:pt x="493775" y="0"/>
                </a:moveTo>
                <a:lnTo>
                  <a:pt x="0" y="0"/>
                </a:lnTo>
                <a:lnTo>
                  <a:pt x="0" y="524256"/>
                </a:lnTo>
                <a:lnTo>
                  <a:pt x="493775" y="524256"/>
                </a:lnTo>
                <a:lnTo>
                  <a:pt x="4937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2550">
              <a:lnSpc>
                <a:spcPts val="1425"/>
              </a:lnSpc>
            </a:pPr>
            <a:r>
              <a:rPr dirty="0" spc="-50"/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5"/>
              <a:t>Parallel</a:t>
            </a:r>
            <a:r>
              <a:rPr dirty="0" spc="-95"/>
              <a:t> </a:t>
            </a:r>
            <a:r>
              <a:rPr dirty="0" spc="-175"/>
              <a:t>Architecture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2550">
              <a:lnSpc>
                <a:spcPts val="1425"/>
              </a:lnSpc>
            </a:pPr>
            <a:r>
              <a:rPr dirty="0" spc="-5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60652"/>
            <a:ext cx="7936865" cy="432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marR="175260" indent="-344805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Arial MT"/>
                <a:cs typeface="Arial MT"/>
              </a:rPr>
              <a:t>Question: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Is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network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of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computers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parallel computer?</a:t>
            </a:r>
            <a:endParaRPr sz="3000">
              <a:latin typeface="Arial MT"/>
              <a:cs typeface="Arial MT"/>
            </a:endParaRPr>
          </a:p>
          <a:p>
            <a:pPr marL="683260" marR="567055" indent="-326390">
              <a:lnSpc>
                <a:spcPct val="100000"/>
              </a:lnSpc>
              <a:spcBef>
                <a:spcPts val="720"/>
              </a:spcBef>
              <a:buClr>
                <a:srgbClr val="3A802E"/>
              </a:buClr>
              <a:buSzPct val="60000"/>
              <a:buFont typeface="Wingdings"/>
              <a:buChar char=""/>
              <a:tabLst>
                <a:tab pos="683260" algn="l"/>
              </a:tabLst>
            </a:pPr>
            <a:r>
              <a:rPr dirty="0" sz="3000">
                <a:latin typeface="Arial MT"/>
                <a:cs typeface="Arial MT"/>
              </a:rPr>
              <a:t>Yes,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but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time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involved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interaction </a:t>
            </a:r>
            <a:r>
              <a:rPr dirty="0" sz="3000">
                <a:latin typeface="Arial MT"/>
                <a:cs typeface="Arial MT"/>
              </a:rPr>
              <a:t>(communication)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might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be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high,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as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 spc="-25">
                <a:latin typeface="Arial MT"/>
                <a:cs typeface="Arial MT"/>
              </a:rPr>
              <a:t>the </a:t>
            </a:r>
            <a:r>
              <a:rPr dirty="0" sz="3000">
                <a:latin typeface="Arial MT"/>
                <a:cs typeface="Arial MT"/>
              </a:rPr>
              <a:t>system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is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designed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assuming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that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 spc="-25">
                <a:latin typeface="Arial MT"/>
                <a:cs typeface="Arial MT"/>
              </a:rPr>
              <a:t>the </a:t>
            </a:r>
            <a:r>
              <a:rPr dirty="0" sz="3000">
                <a:latin typeface="Arial MT"/>
                <a:cs typeface="Arial MT"/>
              </a:rPr>
              <a:t>machines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are</a:t>
            </a:r>
            <a:r>
              <a:rPr dirty="0" sz="3000" spc="-2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more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or</a:t>
            </a:r>
            <a:r>
              <a:rPr dirty="0" sz="3000" spc="-2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less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independent</a:t>
            </a:r>
            <a:endParaRPr sz="3000">
              <a:latin typeface="Arial MT"/>
              <a:cs typeface="Arial MT"/>
            </a:endParaRPr>
          </a:p>
          <a:p>
            <a:pPr marL="683260" marR="5080" indent="-326390">
              <a:lnSpc>
                <a:spcPct val="100000"/>
              </a:lnSpc>
              <a:spcBef>
                <a:spcPts val="720"/>
              </a:spcBef>
              <a:buClr>
                <a:srgbClr val="3A802E"/>
              </a:buClr>
              <a:buSzPct val="60000"/>
              <a:buFont typeface="Wingdings"/>
              <a:buChar char=""/>
              <a:tabLst>
                <a:tab pos="683260" algn="l"/>
              </a:tabLst>
            </a:pPr>
            <a:r>
              <a:rPr dirty="0" sz="3000">
                <a:latin typeface="Arial MT"/>
                <a:cs typeface="Arial MT"/>
              </a:rPr>
              <a:t>Special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parallel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machines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would</a:t>
            </a:r>
            <a:r>
              <a:rPr dirty="0" sz="3000" spc="-75">
                <a:latin typeface="Arial MT"/>
                <a:cs typeface="Arial MT"/>
              </a:rPr>
              <a:t> </a:t>
            </a:r>
            <a:r>
              <a:rPr dirty="0" sz="3000" spc="-25">
                <a:latin typeface="Arial MT"/>
                <a:cs typeface="Arial MT"/>
              </a:rPr>
              <a:t>be </a:t>
            </a:r>
            <a:r>
              <a:rPr dirty="0" sz="3000">
                <a:latin typeface="Arial MT"/>
                <a:cs typeface="Arial MT"/>
              </a:rPr>
              <a:t>designed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to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make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this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interaction</a:t>
            </a:r>
            <a:r>
              <a:rPr dirty="0" sz="3000" spc="-15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overhead </a:t>
            </a:r>
            <a:r>
              <a:rPr dirty="0" sz="3000" spc="-20">
                <a:latin typeface="Arial MT"/>
                <a:cs typeface="Arial MT"/>
              </a:rPr>
              <a:t>less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39" y="1660652"/>
            <a:ext cx="8035925" cy="454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5470" marR="231775" indent="-57340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585470" algn="l"/>
              </a:tabLst>
            </a:pPr>
            <a:r>
              <a:rPr dirty="0" sz="3000">
                <a:solidFill>
                  <a:srgbClr val="B1B1B1"/>
                </a:solidFill>
                <a:latin typeface="Arial MT"/>
                <a:cs typeface="Arial MT"/>
              </a:rPr>
              <a:t>Parallel</a:t>
            </a:r>
            <a:r>
              <a:rPr dirty="0" sz="3000" spc="-6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B1B1B1"/>
                </a:solidFill>
                <a:latin typeface="Arial MT"/>
                <a:cs typeface="Arial MT"/>
              </a:rPr>
              <a:t>computer:</a:t>
            </a:r>
            <a:r>
              <a:rPr dirty="0" sz="3000" spc="-6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B1B1B1"/>
                </a:solidFill>
                <a:latin typeface="Arial MT"/>
                <a:cs typeface="Arial MT"/>
              </a:rPr>
              <a:t>A</a:t>
            </a:r>
            <a:r>
              <a:rPr dirty="0" sz="3000" spc="-5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B1B1B1"/>
                </a:solidFill>
                <a:latin typeface="Arial MT"/>
                <a:cs typeface="Arial MT"/>
              </a:rPr>
              <a:t>computer</a:t>
            </a:r>
            <a:r>
              <a:rPr dirty="0" sz="3000" spc="-3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B1B1B1"/>
                </a:solidFill>
                <a:latin typeface="Arial MT"/>
                <a:cs typeface="Arial MT"/>
              </a:rPr>
              <a:t>system</a:t>
            </a:r>
            <a:r>
              <a:rPr dirty="0" sz="3000" spc="-5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3000" spc="-20">
                <a:solidFill>
                  <a:srgbClr val="B1B1B1"/>
                </a:solidFill>
                <a:latin typeface="Arial MT"/>
                <a:cs typeface="Arial MT"/>
              </a:rPr>
              <a:t>with </a:t>
            </a:r>
            <a:r>
              <a:rPr dirty="0" sz="3000">
                <a:solidFill>
                  <a:srgbClr val="B1B1B1"/>
                </a:solidFill>
                <a:latin typeface="Arial MT"/>
                <a:cs typeface="Arial MT"/>
              </a:rPr>
              <a:t>more</a:t>
            </a:r>
            <a:r>
              <a:rPr dirty="0" sz="3000" spc="-2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B1B1B1"/>
                </a:solidFill>
                <a:latin typeface="Arial MT"/>
                <a:cs typeface="Arial MT"/>
              </a:rPr>
              <a:t>than</a:t>
            </a:r>
            <a:r>
              <a:rPr dirty="0" sz="3000" spc="-45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B1B1B1"/>
                </a:solidFill>
                <a:latin typeface="Arial MT"/>
                <a:cs typeface="Arial MT"/>
              </a:rPr>
              <a:t>one</a:t>
            </a:r>
            <a:r>
              <a:rPr dirty="0" sz="3000" spc="-4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B1B1B1"/>
                </a:solidFill>
                <a:latin typeface="Arial MT"/>
                <a:cs typeface="Arial MT"/>
              </a:rPr>
              <a:t>processor</a:t>
            </a:r>
            <a:endParaRPr sz="3000">
              <a:latin typeface="Arial MT"/>
              <a:cs typeface="Arial MT"/>
            </a:endParaRPr>
          </a:p>
          <a:p>
            <a:pPr marL="585470" indent="-572770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585470" algn="l"/>
              </a:tabLst>
            </a:pPr>
            <a:r>
              <a:rPr dirty="0" sz="3000">
                <a:latin typeface="Arial MT"/>
                <a:cs typeface="Arial MT"/>
              </a:rPr>
              <a:t>Question: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Why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use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parallel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computers?</a:t>
            </a:r>
            <a:endParaRPr sz="3000">
              <a:latin typeface="Arial MT"/>
              <a:cs typeface="Arial MT"/>
            </a:endParaRPr>
          </a:p>
          <a:p>
            <a:pPr lvl="1" marL="853440" marR="157480" indent="-497205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1538"/>
              <a:buAutoNum type="arabicPeriod"/>
              <a:tabLst>
                <a:tab pos="853440" algn="l"/>
              </a:tabLst>
            </a:pP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two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processors,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twice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many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instructions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executed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given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amount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time</a:t>
            </a:r>
            <a:endParaRPr sz="2600">
              <a:latin typeface="Arial MT"/>
              <a:cs typeface="Arial MT"/>
            </a:endParaRPr>
          </a:p>
          <a:p>
            <a:pPr lvl="2" marL="1103630" marR="806450" indent="-421005">
              <a:lnSpc>
                <a:spcPct val="100000"/>
              </a:lnSpc>
              <a:spcBef>
                <a:spcPts val="56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1103630" algn="l"/>
              </a:tabLst>
            </a:pPr>
            <a:r>
              <a:rPr dirty="0" sz="2400">
                <a:latin typeface="Arial MT"/>
                <a:cs typeface="Arial MT"/>
              </a:rPr>
              <a:t>i.e.,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improved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performance,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reduced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program </a:t>
            </a:r>
            <a:r>
              <a:rPr dirty="0" sz="2400">
                <a:latin typeface="Arial MT"/>
                <a:cs typeface="Arial MT"/>
              </a:rPr>
              <a:t>execution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time</a:t>
            </a:r>
            <a:endParaRPr sz="2400">
              <a:latin typeface="Arial MT"/>
              <a:cs typeface="Arial MT"/>
            </a:endParaRPr>
          </a:p>
          <a:p>
            <a:pPr lvl="1" marL="853440" marR="5080" indent="-497205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0714"/>
              <a:buAutoNum type="arabicPeriod"/>
              <a:tabLst>
                <a:tab pos="853440" algn="l"/>
              </a:tabLst>
            </a:pP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computer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continue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operate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even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if </a:t>
            </a:r>
            <a:r>
              <a:rPr dirty="0" sz="2800">
                <a:latin typeface="Arial MT"/>
                <a:cs typeface="Arial MT"/>
              </a:rPr>
              <a:t>one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processors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fails</a:t>
            </a:r>
            <a:endParaRPr sz="2800">
              <a:latin typeface="Arial MT"/>
              <a:cs typeface="Arial MT"/>
            </a:endParaRPr>
          </a:p>
          <a:p>
            <a:pPr lvl="2" marL="1103630" indent="-420370">
              <a:lnSpc>
                <a:spcPct val="100000"/>
              </a:lnSpc>
              <a:spcBef>
                <a:spcPts val="59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1103630" algn="l"/>
              </a:tabLst>
            </a:pPr>
            <a:r>
              <a:rPr dirty="0" sz="2400">
                <a:latin typeface="Arial MT"/>
                <a:cs typeface="Arial MT"/>
              </a:rPr>
              <a:t>i.e.,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fault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tolerance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2550">
              <a:lnSpc>
                <a:spcPts val="1425"/>
              </a:lnSpc>
            </a:pPr>
            <a:r>
              <a:rPr dirty="0" spc="-50"/>
              <a:t>6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5"/>
              <a:t>Parallel</a:t>
            </a:r>
            <a:r>
              <a:rPr dirty="0" spc="-95"/>
              <a:t> </a:t>
            </a:r>
            <a:r>
              <a:rPr dirty="0" spc="-175"/>
              <a:t>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40"/>
              <a:t>Classification</a:t>
            </a:r>
            <a:r>
              <a:rPr dirty="0" spc="-105"/>
              <a:t> </a:t>
            </a:r>
            <a:r>
              <a:rPr dirty="0"/>
              <a:t>of</a:t>
            </a:r>
            <a:r>
              <a:rPr dirty="0" spc="-105"/>
              <a:t> </a:t>
            </a:r>
            <a:r>
              <a:rPr dirty="0" spc="-285"/>
              <a:t>Parallel</a:t>
            </a:r>
            <a:r>
              <a:rPr dirty="0" spc="-90"/>
              <a:t> </a:t>
            </a:r>
            <a:r>
              <a:rPr dirty="0" spc="-290"/>
              <a:t>Computers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2550">
              <a:lnSpc>
                <a:spcPts val="1425"/>
              </a:lnSpc>
            </a:pPr>
            <a:r>
              <a:rPr dirty="0" spc="-5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578355"/>
            <a:ext cx="8012430" cy="488632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3000">
                <a:solidFill>
                  <a:srgbClr val="0000FF"/>
                </a:solidFill>
                <a:latin typeface="Arial MT"/>
                <a:cs typeface="Arial MT"/>
              </a:rPr>
              <a:t>Flynn’s</a:t>
            </a:r>
            <a:r>
              <a:rPr dirty="0" sz="3000" spc="-5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0000FF"/>
                </a:solidFill>
                <a:latin typeface="Arial MT"/>
                <a:cs typeface="Arial MT"/>
              </a:rPr>
              <a:t>Classification</a:t>
            </a:r>
            <a:endParaRPr sz="3000">
              <a:latin typeface="Arial MT"/>
              <a:cs typeface="Arial MT"/>
            </a:endParaRPr>
          </a:p>
          <a:p>
            <a:pPr marL="355600" marR="74930" indent="-343535">
              <a:lnSpc>
                <a:spcPts val="3240"/>
              </a:lnSpc>
              <a:spcBef>
                <a:spcPts val="76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In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terms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of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number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of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Instruction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streams </a:t>
            </a:r>
            <a:r>
              <a:rPr dirty="0" sz="3000" spc="-10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and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Data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streams</a:t>
            </a:r>
            <a:endParaRPr sz="3000">
              <a:latin typeface="Arial MT"/>
              <a:cs typeface="Arial MT"/>
            </a:endParaRPr>
          </a:p>
          <a:p>
            <a:pPr marL="355600" marR="1009015" indent="-343535">
              <a:lnSpc>
                <a:spcPts val="324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Instruction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stream: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path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to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instruction </a:t>
            </a:r>
            <a:r>
              <a:rPr dirty="0" sz="3000" spc="-10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memory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(i.e.,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</a:t>
            </a:r>
            <a:r>
              <a:rPr dirty="0" sz="3000" spc="-1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program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counter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or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 spc="-25">
                <a:latin typeface="Arial MT"/>
                <a:cs typeface="Arial MT"/>
              </a:rPr>
              <a:t>PC)</a:t>
            </a:r>
            <a:endParaRPr sz="30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31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Data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stream:</a:t>
            </a:r>
            <a:r>
              <a:rPr dirty="0" sz="3000" spc="-2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path</a:t>
            </a:r>
            <a:r>
              <a:rPr dirty="0" sz="3000" spc="-2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to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data</a:t>
            </a:r>
            <a:r>
              <a:rPr dirty="0" sz="3000" spc="-2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32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SISD: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single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instruction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stream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single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data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stream</a:t>
            </a:r>
            <a:endParaRPr sz="2600">
              <a:latin typeface="Arial MT"/>
              <a:cs typeface="Arial MT"/>
            </a:endParaRPr>
          </a:p>
          <a:p>
            <a:pPr lvl="1" marL="683260" marR="779145" indent="-326390">
              <a:lnSpc>
                <a:spcPts val="2810"/>
              </a:lnSpc>
              <a:spcBef>
                <a:spcPts val="66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SIMD: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single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instruction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stream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multiple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data </a:t>
            </a:r>
            <a:r>
              <a:rPr dirty="0" sz="2600" spc="-10">
                <a:latin typeface="Arial MT"/>
                <a:cs typeface="Arial MT"/>
              </a:rPr>
              <a:t>streams</a:t>
            </a:r>
            <a:endParaRPr sz="2600">
              <a:latin typeface="Arial MT"/>
              <a:cs typeface="Arial MT"/>
            </a:endParaRPr>
          </a:p>
          <a:p>
            <a:pPr lvl="1" marL="683260" marR="450215" indent="-326390">
              <a:lnSpc>
                <a:spcPts val="2830"/>
              </a:lnSpc>
              <a:spcBef>
                <a:spcPts val="60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MIMD: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multiple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instruction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stream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multiple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data </a:t>
            </a:r>
            <a:r>
              <a:rPr dirty="0" sz="2600" spc="-10">
                <a:latin typeface="Arial MT"/>
                <a:cs typeface="Arial MT"/>
              </a:rPr>
              <a:t>streams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69756" y="6903211"/>
            <a:ext cx="971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37616" y="658368"/>
            <a:ext cx="8635365" cy="0"/>
          </a:xfrm>
          <a:custGeom>
            <a:avLst/>
            <a:gdLst/>
            <a:ahLst/>
            <a:cxnLst/>
            <a:rect l="l" t="t" r="r" b="b"/>
            <a:pathLst>
              <a:path w="8635365" h="0">
                <a:moveTo>
                  <a:pt x="0" y="0"/>
                </a:moveTo>
                <a:lnTo>
                  <a:pt x="8634984" y="0"/>
                </a:lnTo>
              </a:path>
            </a:pathLst>
          </a:custGeom>
          <a:ln w="12190">
            <a:solidFill>
              <a:srgbClr val="99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/>
              <a:t>Flynn’s</a:t>
            </a:r>
            <a:r>
              <a:rPr dirty="0" spc="-50"/>
              <a:t> </a:t>
            </a:r>
            <a:r>
              <a:rPr dirty="0" spc="-240"/>
              <a:t>Classification:</a:t>
            </a:r>
            <a:r>
              <a:rPr dirty="0" spc="-60"/>
              <a:t> </a:t>
            </a:r>
            <a:r>
              <a:rPr dirty="0" spc="-300"/>
              <a:t>SISD</a:t>
            </a:r>
          </a:p>
        </p:txBody>
      </p:sp>
      <p:sp>
        <p:nvSpPr>
          <p:cNvPr id="5" name="object 5"/>
          <p:cNvSpPr/>
          <p:nvPr/>
        </p:nvSpPr>
        <p:spPr>
          <a:xfrm>
            <a:off x="2173223" y="5132832"/>
            <a:ext cx="2407920" cy="957580"/>
          </a:xfrm>
          <a:custGeom>
            <a:avLst/>
            <a:gdLst/>
            <a:ahLst/>
            <a:cxnLst/>
            <a:rect l="l" t="t" r="r" b="b"/>
            <a:pathLst>
              <a:path w="2407920" h="957579">
                <a:moveTo>
                  <a:pt x="0" y="0"/>
                </a:moveTo>
                <a:lnTo>
                  <a:pt x="0" y="957072"/>
                </a:lnTo>
                <a:lnTo>
                  <a:pt x="2407920" y="957072"/>
                </a:lnTo>
                <a:lnTo>
                  <a:pt x="2407920" y="0"/>
                </a:lnTo>
                <a:lnTo>
                  <a:pt x="0" y="0"/>
                </a:lnTo>
                <a:close/>
              </a:path>
            </a:pathLst>
          </a:custGeom>
          <a:ln w="27430">
            <a:solidFill>
              <a:srgbClr val="CC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76471" y="5821679"/>
            <a:ext cx="766445" cy="228600"/>
          </a:xfrm>
          <a:prstGeom prst="rect">
            <a:avLst/>
          </a:prstGeom>
          <a:ln w="27430">
            <a:solidFill>
              <a:srgbClr val="CC33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 spc="100" b="1">
                <a:solidFill>
                  <a:srgbClr val="3A802E"/>
                </a:solidFill>
                <a:latin typeface="Arial"/>
                <a:cs typeface="Arial"/>
              </a:rPr>
              <a:t>Cache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07766" y="6075934"/>
            <a:ext cx="2435860" cy="256540"/>
            <a:chOff x="3207766" y="6075934"/>
            <a:chExt cx="2435860" cy="2565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1736" y="6089904"/>
              <a:ext cx="185927" cy="2285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21736" y="6089904"/>
              <a:ext cx="186055" cy="228600"/>
            </a:xfrm>
            <a:custGeom>
              <a:avLst/>
              <a:gdLst/>
              <a:ahLst/>
              <a:cxnLst/>
              <a:rect l="l" t="t" r="r" b="b"/>
              <a:pathLst>
                <a:path w="186054" h="228600">
                  <a:moveTo>
                    <a:pt x="91439" y="0"/>
                  </a:moveTo>
                  <a:lnTo>
                    <a:pt x="185927" y="45720"/>
                  </a:lnTo>
                  <a:lnTo>
                    <a:pt x="140208" y="45720"/>
                  </a:lnTo>
                  <a:lnTo>
                    <a:pt x="140208" y="182880"/>
                  </a:lnTo>
                  <a:lnTo>
                    <a:pt x="185927" y="182880"/>
                  </a:lnTo>
                  <a:lnTo>
                    <a:pt x="91439" y="228600"/>
                  </a:lnTo>
                  <a:lnTo>
                    <a:pt x="0" y="182880"/>
                  </a:lnTo>
                  <a:lnTo>
                    <a:pt x="45719" y="182880"/>
                  </a:lnTo>
                  <a:lnTo>
                    <a:pt x="45719" y="45720"/>
                  </a:lnTo>
                  <a:lnTo>
                    <a:pt x="0" y="45720"/>
                  </a:lnTo>
                  <a:lnTo>
                    <a:pt x="91439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3727" y="6089904"/>
              <a:ext cx="185927" cy="2285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443727" y="6089904"/>
              <a:ext cx="186055" cy="228600"/>
            </a:xfrm>
            <a:custGeom>
              <a:avLst/>
              <a:gdLst/>
              <a:ahLst/>
              <a:cxnLst/>
              <a:rect l="l" t="t" r="r" b="b"/>
              <a:pathLst>
                <a:path w="186054" h="228600">
                  <a:moveTo>
                    <a:pt x="91439" y="0"/>
                  </a:moveTo>
                  <a:lnTo>
                    <a:pt x="185927" y="45720"/>
                  </a:lnTo>
                  <a:lnTo>
                    <a:pt x="140208" y="45720"/>
                  </a:lnTo>
                  <a:lnTo>
                    <a:pt x="140208" y="182880"/>
                  </a:lnTo>
                  <a:lnTo>
                    <a:pt x="185927" y="182880"/>
                  </a:lnTo>
                  <a:lnTo>
                    <a:pt x="91439" y="228600"/>
                  </a:lnTo>
                  <a:lnTo>
                    <a:pt x="0" y="182880"/>
                  </a:lnTo>
                  <a:lnTo>
                    <a:pt x="45720" y="182880"/>
                  </a:lnTo>
                  <a:lnTo>
                    <a:pt x="45720" y="45720"/>
                  </a:lnTo>
                  <a:lnTo>
                    <a:pt x="0" y="45720"/>
                  </a:lnTo>
                  <a:lnTo>
                    <a:pt x="91439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888991" y="5513832"/>
            <a:ext cx="1271270" cy="563880"/>
          </a:xfrm>
          <a:prstGeom prst="rect">
            <a:avLst/>
          </a:prstGeom>
          <a:ln w="27430">
            <a:solidFill>
              <a:srgbClr val="CC3300"/>
            </a:solidFill>
          </a:ln>
        </p:spPr>
        <p:txBody>
          <a:bodyPr wrap="square" lIns="0" tIns="6985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550"/>
              </a:spcBef>
            </a:pPr>
            <a:r>
              <a:rPr dirty="0" sz="2400" spc="55" b="1">
                <a:solidFill>
                  <a:srgbClr val="3A802E"/>
                </a:solidFill>
                <a:latin typeface="Arial"/>
                <a:cs typeface="Arial"/>
              </a:rPr>
              <a:t>Memory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91511" y="6745223"/>
            <a:ext cx="847725" cy="454659"/>
          </a:xfrm>
          <a:prstGeom prst="rect">
            <a:avLst/>
          </a:prstGeom>
          <a:ln w="27430">
            <a:solidFill>
              <a:srgbClr val="CC3300"/>
            </a:solidFill>
          </a:ln>
        </p:spPr>
        <p:txBody>
          <a:bodyPr wrap="square" lIns="0" tIns="15240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20"/>
              </a:spcBef>
            </a:pPr>
            <a:r>
              <a:rPr dirty="0" sz="2400" spc="170" b="1">
                <a:solidFill>
                  <a:srgbClr val="3A802E"/>
                </a:solidFill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540510" y="6277102"/>
            <a:ext cx="4904740" cy="271780"/>
            <a:chOff x="1540510" y="6277102"/>
            <a:chExt cx="4904740" cy="271780"/>
          </a:xfrm>
        </p:grpSpPr>
        <p:sp>
          <p:nvSpPr>
            <p:cNvPr id="15" name="object 15"/>
            <p:cNvSpPr/>
            <p:nvPr/>
          </p:nvSpPr>
          <p:spPr>
            <a:xfrm>
              <a:off x="1554480" y="6291072"/>
              <a:ext cx="4876800" cy="243840"/>
            </a:xfrm>
            <a:custGeom>
              <a:avLst/>
              <a:gdLst/>
              <a:ahLst/>
              <a:cxnLst/>
              <a:rect l="l" t="t" r="r" b="b"/>
              <a:pathLst>
                <a:path w="4876800" h="243840">
                  <a:moveTo>
                    <a:pt x="4599432" y="0"/>
                  </a:moveTo>
                  <a:lnTo>
                    <a:pt x="4599432" y="42671"/>
                  </a:lnTo>
                  <a:lnTo>
                    <a:pt x="277368" y="42671"/>
                  </a:lnTo>
                  <a:lnTo>
                    <a:pt x="277368" y="0"/>
                  </a:lnTo>
                  <a:lnTo>
                    <a:pt x="0" y="121919"/>
                  </a:lnTo>
                  <a:lnTo>
                    <a:pt x="277368" y="243839"/>
                  </a:lnTo>
                  <a:lnTo>
                    <a:pt x="277368" y="198119"/>
                  </a:lnTo>
                  <a:lnTo>
                    <a:pt x="4599432" y="198119"/>
                  </a:lnTo>
                  <a:lnTo>
                    <a:pt x="4599432" y="243839"/>
                  </a:lnTo>
                  <a:lnTo>
                    <a:pt x="4876800" y="121919"/>
                  </a:lnTo>
                  <a:lnTo>
                    <a:pt x="4599432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554480" y="6291072"/>
              <a:ext cx="4876800" cy="243840"/>
            </a:xfrm>
            <a:custGeom>
              <a:avLst/>
              <a:gdLst/>
              <a:ahLst/>
              <a:cxnLst/>
              <a:rect l="l" t="t" r="r" b="b"/>
              <a:pathLst>
                <a:path w="4876800" h="243840">
                  <a:moveTo>
                    <a:pt x="0" y="121919"/>
                  </a:moveTo>
                  <a:lnTo>
                    <a:pt x="277368" y="243839"/>
                  </a:lnTo>
                  <a:lnTo>
                    <a:pt x="277368" y="198119"/>
                  </a:lnTo>
                  <a:lnTo>
                    <a:pt x="4599432" y="198119"/>
                  </a:lnTo>
                  <a:lnTo>
                    <a:pt x="4599432" y="243839"/>
                  </a:lnTo>
                  <a:lnTo>
                    <a:pt x="4876800" y="121919"/>
                  </a:lnTo>
                  <a:lnTo>
                    <a:pt x="4599432" y="0"/>
                  </a:lnTo>
                  <a:lnTo>
                    <a:pt x="4599432" y="42671"/>
                  </a:lnTo>
                  <a:lnTo>
                    <a:pt x="277368" y="42671"/>
                  </a:lnTo>
                  <a:lnTo>
                    <a:pt x="277368" y="0"/>
                  </a:lnTo>
                  <a:lnTo>
                    <a:pt x="0" y="121919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733291" y="6208267"/>
            <a:ext cx="5187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3A802E"/>
                </a:solidFill>
                <a:latin typeface="Times New Roman"/>
                <a:cs typeface="Times New Roman"/>
              </a:rPr>
              <a:t>Bus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05400" y="6745223"/>
            <a:ext cx="850900" cy="454659"/>
          </a:xfrm>
          <a:prstGeom prst="rect">
            <a:avLst/>
          </a:prstGeom>
          <a:ln w="27430">
            <a:solidFill>
              <a:srgbClr val="CC3300"/>
            </a:solidFill>
          </a:ln>
        </p:spPr>
        <p:txBody>
          <a:bodyPr wrap="square" lIns="0" tIns="15240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120"/>
              </a:spcBef>
            </a:pPr>
            <a:r>
              <a:rPr dirty="0" sz="2400" spc="170" b="1">
                <a:solidFill>
                  <a:srgbClr val="3A802E"/>
                </a:solidFill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75888" y="6745223"/>
            <a:ext cx="847725" cy="454659"/>
          </a:xfrm>
          <a:prstGeom prst="rect">
            <a:avLst/>
          </a:prstGeom>
          <a:ln w="27430">
            <a:solidFill>
              <a:srgbClr val="CC3300"/>
            </a:solidFill>
          </a:ln>
        </p:spPr>
        <p:txBody>
          <a:bodyPr wrap="square" lIns="0" tIns="15240" rIns="0" bIns="0" rtlCol="0" vert="horz">
            <a:spAutoFit/>
          </a:bodyPr>
          <a:lstStyle/>
          <a:p>
            <a:pPr marL="182245">
              <a:lnSpc>
                <a:spcPct val="100000"/>
              </a:lnSpc>
              <a:spcBef>
                <a:spcPts val="120"/>
              </a:spcBef>
            </a:pPr>
            <a:r>
              <a:rPr dirty="0" sz="2400" spc="170" b="1">
                <a:solidFill>
                  <a:srgbClr val="3A802E"/>
                </a:solidFill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220214" y="5768085"/>
            <a:ext cx="3429635" cy="991235"/>
            <a:chOff x="2220214" y="5768085"/>
            <a:chExt cx="3429635" cy="99123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3368" y="6501383"/>
              <a:ext cx="158495" cy="24384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563368" y="6501383"/>
              <a:ext cx="158750" cy="243840"/>
            </a:xfrm>
            <a:custGeom>
              <a:avLst/>
              <a:gdLst/>
              <a:ahLst/>
              <a:cxnLst/>
              <a:rect l="l" t="t" r="r" b="b"/>
              <a:pathLst>
                <a:path w="158750" h="243840">
                  <a:moveTo>
                    <a:pt x="79248" y="0"/>
                  </a:moveTo>
                  <a:lnTo>
                    <a:pt x="158495" y="48767"/>
                  </a:lnTo>
                  <a:lnTo>
                    <a:pt x="118871" y="48767"/>
                  </a:lnTo>
                  <a:lnTo>
                    <a:pt x="118871" y="195071"/>
                  </a:lnTo>
                  <a:lnTo>
                    <a:pt x="158495" y="195071"/>
                  </a:lnTo>
                  <a:lnTo>
                    <a:pt x="79248" y="243839"/>
                  </a:lnTo>
                  <a:lnTo>
                    <a:pt x="0" y="195071"/>
                  </a:lnTo>
                  <a:lnTo>
                    <a:pt x="39624" y="195071"/>
                  </a:lnTo>
                  <a:lnTo>
                    <a:pt x="39624" y="48767"/>
                  </a:lnTo>
                  <a:lnTo>
                    <a:pt x="0" y="48767"/>
                  </a:lnTo>
                  <a:lnTo>
                    <a:pt x="79248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7255" y="6501383"/>
              <a:ext cx="158496" cy="24384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477255" y="6501383"/>
              <a:ext cx="158750" cy="243840"/>
            </a:xfrm>
            <a:custGeom>
              <a:avLst/>
              <a:gdLst/>
              <a:ahLst/>
              <a:cxnLst/>
              <a:rect l="l" t="t" r="r" b="b"/>
              <a:pathLst>
                <a:path w="158750" h="243840">
                  <a:moveTo>
                    <a:pt x="79248" y="0"/>
                  </a:moveTo>
                  <a:lnTo>
                    <a:pt x="158496" y="48767"/>
                  </a:lnTo>
                  <a:lnTo>
                    <a:pt x="118872" y="48767"/>
                  </a:lnTo>
                  <a:lnTo>
                    <a:pt x="118872" y="195071"/>
                  </a:lnTo>
                  <a:lnTo>
                    <a:pt x="158496" y="195071"/>
                  </a:lnTo>
                  <a:lnTo>
                    <a:pt x="79248" y="243839"/>
                  </a:lnTo>
                  <a:lnTo>
                    <a:pt x="0" y="195071"/>
                  </a:lnTo>
                  <a:lnTo>
                    <a:pt x="39624" y="195071"/>
                  </a:lnTo>
                  <a:lnTo>
                    <a:pt x="39624" y="48767"/>
                  </a:lnTo>
                  <a:lnTo>
                    <a:pt x="0" y="48767"/>
                  </a:lnTo>
                  <a:lnTo>
                    <a:pt x="79248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7744" y="6501383"/>
              <a:ext cx="158495" cy="24384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047744" y="6501383"/>
              <a:ext cx="158750" cy="243840"/>
            </a:xfrm>
            <a:custGeom>
              <a:avLst/>
              <a:gdLst/>
              <a:ahLst/>
              <a:cxnLst/>
              <a:rect l="l" t="t" r="r" b="b"/>
              <a:pathLst>
                <a:path w="158750" h="243840">
                  <a:moveTo>
                    <a:pt x="79247" y="0"/>
                  </a:moveTo>
                  <a:lnTo>
                    <a:pt x="158495" y="48767"/>
                  </a:lnTo>
                  <a:lnTo>
                    <a:pt x="118871" y="48767"/>
                  </a:lnTo>
                  <a:lnTo>
                    <a:pt x="118871" y="195071"/>
                  </a:lnTo>
                  <a:lnTo>
                    <a:pt x="158495" y="195071"/>
                  </a:lnTo>
                  <a:lnTo>
                    <a:pt x="79247" y="243839"/>
                  </a:lnTo>
                  <a:lnTo>
                    <a:pt x="0" y="195071"/>
                  </a:lnTo>
                  <a:lnTo>
                    <a:pt x="39623" y="195071"/>
                  </a:lnTo>
                  <a:lnTo>
                    <a:pt x="39623" y="48767"/>
                  </a:lnTo>
                  <a:lnTo>
                    <a:pt x="0" y="48767"/>
                  </a:lnTo>
                  <a:lnTo>
                    <a:pt x="79247" y="0"/>
                  </a:lnTo>
                  <a:close/>
                </a:path>
              </a:pathLst>
            </a:custGeom>
            <a:ln w="27430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234184" y="5782055"/>
              <a:ext cx="741045" cy="268605"/>
            </a:xfrm>
            <a:custGeom>
              <a:avLst/>
              <a:gdLst/>
              <a:ahLst/>
              <a:cxnLst/>
              <a:rect l="l" t="t" r="r" b="b"/>
              <a:pathLst>
                <a:path w="741044" h="268604">
                  <a:moveTo>
                    <a:pt x="0" y="0"/>
                  </a:moveTo>
                  <a:lnTo>
                    <a:pt x="0" y="268224"/>
                  </a:lnTo>
                  <a:lnTo>
                    <a:pt x="740664" y="268224"/>
                  </a:lnTo>
                  <a:lnTo>
                    <a:pt x="740664" y="0"/>
                  </a:lnTo>
                  <a:lnTo>
                    <a:pt x="0" y="0"/>
                  </a:lnTo>
                  <a:close/>
                </a:path>
              </a:pathLst>
            </a:custGeom>
            <a:ln w="27430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325623" y="5748020"/>
            <a:ext cx="5734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3A802E"/>
                </a:solidFill>
                <a:latin typeface="Arial"/>
                <a:cs typeface="Arial"/>
              </a:rPr>
              <a:t>MMU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34183" y="5169408"/>
            <a:ext cx="741045" cy="268605"/>
          </a:xfrm>
          <a:prstGeom prst="rect">
            <a:avLst/>
          </a:prstGeom>
          <a:ln w="27430">
            <a:solidFill>
              <a:srgbClr val="CC33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61290">
              <a:lnSpc>
                <a:spcPts val="1989"/>
              </a:lnSpc>
            </a:pPr>
            <a:r>
              <a:rPr dirty="0" sz="1800" spc="-25" b="1">
                <a:solidFill>
                  <a:srgbClr val="3A802E"/>
                </a:solidFill>
                <a:latin typeface="Arial"/>
                <a:cs typeface="Arial"/>
              </a:rPr>
              <a:t>ALU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53384" y="5184647"/>
            <a:ext cx="1073150" cy="253365"/>
          </a:xfrm>
          <a:prstGeom prst="rect">
            <a:avLst/>
          </a:prstGeom>
          <a:ln w="27430">
            <a:solidFill>
              <a:srgbClr val="CC33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8260">
              <a:lnSpc>
                <a:spcPts val="1920"/>
              </a:lnSpc>
            </a:pPr>
            <a:r>
              <a:rPr dirty="0" sz="1800" spc="-20" b="1">
                <a:solidFill>
                  <a:srgbClr val="3A802E"/>
                </a:solidFill>
                <a:latin typeface="Arial"/>
                <a:cs typeface="Arial"/>
              </a:rPr>
              <a:t>Registers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93139" y="1561874"/>
            <a:ext cx="8026400" cy="3605529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87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>
                <a:latin typeface="Arial MT"/>
                <a:cs typeface="Arial MT"/>
              </a:rPr>
              <a:t>Single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Instruction</a:t>
            </a:r>
            <a:r>
              <a:rPr dirty="0" sz="3000" spc="-7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Stream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Single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Data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Stream</a:t>
            </a:r>
            <a:endParaRPr sz="3000">
              <a:latin typeface="Arial MT"/>
              <a:cs typeface="Arial MT"/>
            </a:endParaRPr>
          </a:p>
          <a:p>
            <a:pPr lvl="1" marL="683260" marR="510540" indent="-326390">
              <a:lnSpc>
                <a:spcPct val="100000"/>
              </a:lnSpc>
              <a:spcBef>
                <a:spcPts val="66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i.e.,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program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counter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path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data </a:t>
            </a:r>
            <a:r>
              <a:rPr dirty="0" sz="2600" spc="-1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lvl="1" marL="683260" marR="641350" indent="-326390">
              <a:lnSpc>
                <a:spcPct val="100400"/>
              </a:lnSpc>
              <a:spcBef>
                <a:spcPts val="61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i.e.,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computer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capable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executing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one </a:t>
            </a:r>
            <a:r>
              <a:rPr dirty="0" sz="2600">
                <a:latin typeface="Arial MT"/>
                <a:cs typeface="Arial MT"/>
              </a:rPr>
              <a:t>instruction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time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operating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piece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35">
                <a:latin typeface="Arial MT"/>
                <a:cs typeface="Arial MT"/>
              </a:rPr>
              <a:t>of </a:t>
            </a:r>
            <a:r>
              <a:rPr dirty="0" sz="2600" spc="-20">
                <a:latin typeface="Arial MT"/>
                <a:cs typeface="Arial MT"/>
              </a:rPr>
              <a:t>data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2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i.e.,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ordinary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(sequential)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computer</a:t>
            </a:r>
            <a:endParaRPr sz="2600">
              <a:latin typeface="Arial MT"/>
              <a:cs typeface="Arial MT"/>
            </a:endParaRPr>
          </a:p>
          <a:p>
            <a:pPr marL="2063750">
              <a:lnSpc>
                <a:spcPct val="100000"/>
              </a:lnSpc>
              <a:spcBef>
                <a:spcPts val="275"/>
              </a:spcBef>
            </a:pPr>
            <a:r>
              <a:rPr dirty="0" sz="2400" spc="-25" b="1">
                <a:solidFill>
                  <a:srgbClr val="3A802E"/>
                </a:solidFill>
                <a:latin typeface="Times New Roman"/>
                <a:cs typeface="Times New Roman"/>
              </a:rPr>
              <a:t>CPU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892551" y="5504688"/>
            <a:ext cx="878205" cy="231775"/>
          </a:xfrm>
          <a:custGeom>
            <a:avLst/>
            <a:gdLst/>
            <a:ahLst/>
            <a:cxnLst/>
            <a:rect l="l" t="t" r="r" b="b"/>
            <a:pathLst>
              <a:path w="878204" h="231775">
                <a:moveTo>
                  <a:pt x="0" y="0"/>
                </a:moveTo>
                <a:lnTo>
                  <a:pt x="0" y="231648"/>
                </a:lnTo>
                <a:lnTo>
                  <a:pt x="877824" y="231648"/>
                </a:lnTo>
                <a:lnTo>
                  <a:pt x="877824" y="0"/>
                </a:lnTo>
                <a:lnTo>
                  <a:pt x="0" y="0"/>
                </a:lnTo>
                <a:close/>
              </a:path>
            </a:pathLst>
          </a:custGeom>
          <a:ln w="27430">
            <a:solidFill>
              <a:srgbClr val="CC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929127" y="5449316"/>
            <a:ext cx="8147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3A802E"/>
                </a:solidFill>
                <a:latin typeface="Arial"/>
                <a:cs typeface="Arial"/>
              </a:rPr>
              <a:t>Control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/>
              <a:t>Flynn’s</a:t>
            </a:r>
            <a:r>
              <a:rPr dirty="0" spc="-50"/>
              <a:t> </a:t>
            </a:r>
            <a:r>
              <a:rPr dirty="0" spc="-240"/>
              <a:t>Classification:</a:t>
            </a:r>
            <a:r>
              <a:rPr dirty="0" spc="-60"/>
              <a:t> </a:t>
            </a:r>
            <a:r>
              <a:rPr dirty="0" spc="-20"/>
              <a:t>SIMD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pc="-25"/>
              <a:t>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60652"/>
            <a:ext cx="7719695" cy="3088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780415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Single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Instruction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Stream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Multiple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 spc="-20">
                <a:latin typeface="Arial MT"/>
                <a:cs typeface="Arial MT"/>
              </a:rPr>
              <a:t>Data </a:t>
            </a:r>
            <a:r>
              <a:rPr dirty="0" sz="3000" spc="-20">
                <a:latin typeface="Arial MT"/>
                <a:cs typeface="Arial MT"/>
              </a:rPr>
              <a:t>	</a:t>
            </a:r>
            <a:r>
              <a:rPr dirty="0" sz="3000" spc="-10">
                <a:latin typeface="Arial MT"/>
                <a:cs typeface="Arial MT"/>
              </a:rPr>
              <a:t>Streams</a:t>
            </a:r>
            <a:endParaRPr sz="3000">
              <a:latin typeface="Arial MT"/>
              <a:cs typeface="Arial MT"/>
            </a:endParaRPr>
          </a:p>
          <a:p>
            <a:pPr lvl="1" marL="683260" marR="5080" indent="-326390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i.e.,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program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counter,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multiple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paths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data </a:t>
            </a:r>
            <a:r>
              <a:rPr dirty="0" sz="2600" spc="-1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lvl="1" marL="683260" marR="297815" indent="-326390">
              <a:lnSpc>
                <a:spcPct val="100400"/>
              </a:lnSpc>
              <a:spcBef>
                <a:spcPts val="61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i.e.,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computer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capable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executing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one </a:t>
            </a:r>
            <a:r>
              <a:rPr dirty="0" sz="2600">
                <a:latin typeface="Arial MT"/>
                <a:cs typeface="Arial MT"/>
              </a:rPr>
              <a:t>instruction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time,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but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operating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different </a:t>
            </a:r>
            <a:r>
              <a:rPr dirty="0" sz="2600">
                <a:latin typeface="Arial MT"/>
                <a:cs typeface="Arial MT"/>
              </a:rPr>
              <a:t>pieces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data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/>
              <a:t>Flynn’s</a:t>
            </a:r>
            <a:r>
              <a:rPr dirty="0" spc="-50"/>
              <a:t> </a:t>
            </a:r>
            <a:r>
              <a:rPr dirty="0" spc="-240"/>
              <a:t>Classification:</a:t>
            </a:r>
            <a:r>
              <a:rPr dirty="0" spc="-60"/>
              <a:t> </a:t>
            </a:r>
            <a:r>
              <a:rPr dirty="0" spc="-20"/>
              <a:t>SIMD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63340" y="3585972"/>
            <a:ext cx="527685" cy="866140"/>
            <a:chOff x="3863340" y="3585972"/>
            <a:chExt cx="527685" cy="866140"/>
          </a:xfrm>
        </p:grpSpPr>
        <p:sp>
          <p:nvSpPr>
            <p:cNvPr id="4" name="object 4"/>
            <p:cNvSpPr/>
            <p:nvPr/>
          </p:nvSpPr>
          <p:spPr>
            <a:xfrm>
              <a:off x="3867911" y="3590543"/>
              <a:ext cx="518159" cy="856615"/>
            </a:xfrm>
            <a:custGeom>
              <a:avLst/>
              <a:gdLst/>
              <a:ahLst/>
              <a:cxnLst/>
              <a:rect l="l" t="t" r="r" b="b"/>
              <a:pathLst>
                <a:path w="518160" h="856614">
                  <a:moveTo>
                    <a:pt x="0" y="0"/>
                  </a:moveTo>
                  <a:lnTo>
                    <a:pt x="0" y="856488"/>
                  </a:lnTo>
                  <a:lnTo>
                    <a:pt x="518160" y="643127"/>
                  </a:lnTo>
                  <a:lnTo>
                    <a:pt x="518160" y="2133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67911" y="3590543"/>
              <a:ext cx="518159" cy="856615"/>
            </a:xfrm>
            <a:custGeom>
              <a:avLst/>
              <a:gdLst/>
              <a:ahLst/>
              <a:cxnLst/>
              <a:rect l="l" t="t" r="r" b="b"/>
              <a:pathLst>
                <a:path w="518160" h="856614">
                  <a:moveTo>
                    <a:pt x="0" y="0"/>
                  </a:moveTo>
                  <a:lnTo>
                    <a:pt x="518160" y="213359"/>
                  </a:lnTo>
                  <a:lnTo>
                    <a:pt x="518160" y="643127"/>
                  </a:lnTo>
                  <a:lnTo>
                    <a:pt x="0" y="856488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876547" y="3861308"/>
            <a:ext cx="508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Times New Roman"/>
                <a:cs typeface="Times New Roman"/>
              </a:rPr>
              <a:t>ALU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39" y="1660652"/>
            <a:ext cx="8049895" cy="215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217804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Example: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computer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with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1024</a:t>
            </a:r>
            <a:r>
              <a:rPr dirty="0" sz="3000" spc="-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ALUs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(each </a:t>
            </a:r>
            <a:r>
              <a:rPr dirty="0" sz="3000" spc="-10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with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separate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data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path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to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memory),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 spc="-25">
                <a:latin typeface="Arial MT"/>
                <a:cs typeface="Arial MT"/>
              </a:rPr>
              <a:t>but </a:t>
            </a:r>
            <a:r>
              <a:rPr dirty="0" sz="3000" spc="-25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only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one</a:t>
            </a:r>
            <a:r>
              <a:rPr dirty="0" sz="3000" spc="-2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program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counter</a:t>
            </a:r>
            <a:r>
              <a:rPr dirty="0" sz="3000" spc="-1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(PC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and</a:t>
            </a:r>
            <a:r>
              <a:rPr dirty="0" sz="3000" spc="-15">
                <a:latin typeface="Arial MT"/>
                <a:cs typeface="Arial MT"/>
              </a:rPr>
              <a:t> </a:t>
            </a:r>
            <a:r>
              <a:rPr dirty="0" sz="3000" spc="-25">
                <a:latin typeface="Arial MT"/>
                <a:cs typeface="Arial MT"/>
              </a:rPr>
              <a:t>IR)</a:t>
            </a:r>
            <a:endParaRPr sz="3000">
              <a:latin typeface="Arial MT"/>
              <a:cs typeface="Arial MT"/>
            </a:endParaRPr>
          </a:p>
          <a:p>
            <a:pPr marL="4173220" marR="5080">
              <a:lnSpc>
                <a:spcPct val="100000"/>
              </a:lnSpc>
              <a:spcBef>
                <a:spcPts val="24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same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instruction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 </a:t>
            </a:r>
            <a:r>
              <a:rPr dirty="0" sz="2400">
                <a:latin typeface="Arial MT"/>
                <a:cs typeface="Arial MT"/>
              </a:rPr>
              <a:t>executed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66388" y="4549140"/>
            <a:ext cx="530860" cy="866140"/>
            <a:chOff x="3866388" y="4549140"/>
            <a:chExt cx="530860" cy="866140"/>
          </a:xfrm>
        </p:grpSpPr>
        <p:sp>
          <p:nvSpPr>
            <p:cNvPr id="9" name="object 9"/>
            <p:cNvSpPr/>
            <p:nvPr/>
          </p:nvSpPr>
          <p:spPr>
            <a:xfrm>
              <a:off x="3870960" y="4553711"/>
              <a:ext cx="521334" cy="856615"/>
            </a:xfrm>
            <a:custGeom>
              <a:avLst/>
              <a:gdLst/>
              <a:ahLst/>
              <a:cxnLst/>
              <a:rect l="l" t="t" r="r" b="b"/>
              <a:pathLst>
                <a:path w="521335" h="856614">
                  <a:moveTo>
                    <a:pt x="0" y="0"/>
                  </a:moveTo>
                  <a:lnTo>
                    <a:pt x="0" y="856488"/>
                  </a:lnTo>
                  <a:lnTo>
                    <a:pt x="521207" y="643127"/>
                  </a:lnTo>
                  <a:lnTo>
                    <a:pt x="521207" y="213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870960" y="4553711"/>
              <a:ext cx="521334" cy="856615"/>
            </a:xfrm>
            <a:custGeom>
              <a:avLst/>
              <a:gdLst/>
              <a:ahLst/>
              <a:cxnLst/>
              <a:rect l="l" t="t" r="r" b="b"/>
              <a:pathLst>
                <a:path w="521335" h="856614">
                  <a:moveTo>
                    <a:pt x="0" y="0"/>
                  </a:moveTo>
                  <a:lnTo>
                    <a:pt x="521207" y="213360"/>
                  </a:lnTo>
                  <a:lnTo>
                    <a:pt x="521207" y="643127"/>
                  </a:lnTo>
                  <a:lnTo>
                    <a:pt x="0" y="856488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3872484" y="6237732"/>
            <a:ext cx="527685" cy="866140"/>
            <a:chOff x="3872484" y="6237732"/>
            <a:chExt cx="527685" cy="866140"/>
          </a:xfrm>
        </p:grpSpPr>
        <p:sp>
          <p:nvSpPr>
            <p:cNvPr id="12" name="object 12"/>
            <p:cNvSpPr/>
            <p:nvPr/>
          </p:nvSpPr>
          <p:spPr>
            <a:xfrm>
              <a:off x="3877055" y="6242304"/>
              <a:ext cx="518159" cy="856615"/>
            </a:xfrm>
            <a:custGeom>
              <a:avLst/>
              <a:gdLst/>
              <a:ahLst/>
              <a:cxnLst/>
              <a:rect l="l" t="t" r="r" b="b"/>
              <a:pathLst>
                <a:path w="518160" h="856615">
                  <a:moveTo>
                    <a:pt x="0" y="0"/>
                  </a:moveTo>
                  <a:lnTo>
                    <a:pt x="0" y="856488"/>
                  </a:lnTo>
                  <a:lnTo>
                    <a:pt x="518160" y="643128"/>
                  </a:lnTo>
                  <a:lnTo>
                    <a:pt x="518160" y="2164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877055" y="6242304"/>
              <a:ext cx="518159" cy="856615"/>
            </a:xfrm>
            <a:custGeom>
              <a:avLst/>
              <a:gdLst/>
              <a:ahLst/>
              <a:cxnLst/>
              <a:rect l="l" t="t" r="r" b="b"/>
              <a:pathLst>
                <a:path w="518160" h="856615">
                  <a:moveTo>
                    <a:pt x="0" y="0"/>
                  </a:moveTo>
                  <a:lnTo>
                    <a:pt x="518160" y="216408"/>
                  </a:lnTo>
                  <a:lnTo>
                    <a:pt x="518160" y="643128"/>
                  </a:lnTo>
                  <a:lnTo>
                    <a:pt x="0" y="856488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809491" y="4771897"/>
            <a:ext cx="636270" cy="2040889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509"/>
              </a:spcBef>
            </a:pPr>
            <a:r>
              <a:rPr dirty="0" sz="1800" spc="-25" b="1">
                <a:latin typeface="Times New Roman"/>
                <a:cs typeface="Times New Roman"/>
              </a:rPr>
              <a:t>ALU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4800" spc="-50">
                <a:latin typeface="Arial MT"/>
                <a:cs typeface="Arial MT"/>
              </a:rPr>
              <a:t>…</a:t>
            </a:r>
            <a:endParaRPr sz="48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4275"/>
              </a:spcBef>
            </a:pPr>
            <a:r>
              <a:rPr dirty="0" sz="1800" spc="-25" b="1">
                <a:latin typeface="Times New Roman"/>
                <a:cs typeface="Times New Roman"/>
              </a:rPr>
              <a:t>ALU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4916" y="3964940"/>
            <a:ext cx="4502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Arial MT"/>
                <a:cs typeface="Arial MT"/>
              </a:rPr>
              <a:t>PC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71016" y="3941064"/>
            <a:ext cx="1755775" cy="421005"/>
          </a:xfrm>
          <a:custGeom>
            <a:avLst/>
            <a:gdLst/>
            <a:ahLst/>
            <a:cxnLst/>
            <a:rect l="l" t="t" r="r" b="b"/>
            <a:pathLst>
              <a:path w="1755775" h="421004">
                <a:moveTo>
                  <a:pt x="0" y="0"/>
                </a:moveTo>
                <a:lnTo>
                  <a:pt x="0" y="420624"/>
                </a:lnTo>
                <a:lnTo>
                  <a:pt x="1755648" y="420624"/>
                </a:lnTo>
                <a:lnTo>
                  <a:pt x="1755648" y="0"/>
                </a:lnTo>
                <a:lnTo>
                  <a:pt x="0" y="0"/>
                </a:lnTo>
                <a:close/>
              </a:path>
            </a:pathLst>
          </a:custGeom>
          <a:ln w="91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18819" y="4729988"/>
            <a:ext cx="331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Arial MT"/>
                <a:cs typeface="Arial MT"/>
              </a:rPr>
              <a:t>IR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pc="-25"/>
              <a:t>10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264919" y="4675632"/>
            <a:ext cx="1783080" cy="451484"/>
          </a:xfrm>
          <a:prstGeom prst="rect">
            <a:avLst/>
          </a:prstGeom>
          <a:ln w="9142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170180">
              <a:lnSpc>
                <a:spcPct val="100000"/>
              </a:lnSpc>
              <a:spcBef>
                <a:spcPts val="215"/>
              </a:spcBef>
            </a:pPr>
            <a:r>
              <a:rPr dirty="0" sz="2400">
                <a:latin typeface="Arial MT"/>
                <a:cs typeface="Arial MT"/>
              </a:rPr>
              <a:t>MUL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baseline="-20833" sz="2400">
                <a:latin typeface="Arial MT"/>
                <a:cs typeface="Arial MT"/>
              </a:rPr>
              <a:t>i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B</a:t>
            </a:r>
            <a:r>
              <a:rPr dirty="0" baseline="-20833" sz="2400" spc="-37">
                <a:latin typeface="Arial MT"/>
                <a:cs typeface="Arial MT"/>
              </a:rPr>
              <a:t>i</a:t>
            </a:r>
            <a:endParaRPr baseline="-20833" sz="2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53659" y="3794252"/>
            <a:ext cx="305879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ALUs,</a:t>
            </a:r>
            <a:r>
              <a:rPr dirty="0" sz="2400" spc="5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different </a:t>
            </a:r>
            <a:r>
              <a:rPr dirty="0" sz="2400">
                <a:latin typeface="Arial MT"/>
                <a:cs typeface="Arial MT"/>
              </a:rPr>
              <a:t>pieces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data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/>
              <a:t>Flynn’s</a:t>
            </a:r>
            <a:r>
              <a:rPr dirty="0" spc="-50"/>
              <a:t> </a:t>
            </a:r>
            <a:r>
              <a:rPr dirty="0" spc="-240"/>
              <a:t>Classification:</a:t>
            </a:r>
            <a:r>
              <a:rPr dirty="0" spc="-60"/>
              <a:t> </a:t>
            </a:r>
            <a:r>
              <a:rPr dirty="0" spc="105"/>
              <a:t>MIMD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pc="-25"/>
              <a:t>11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579120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/>
              <a:t>Multiple</a:t>
            </a:r>
            <a:r>
              <a:rPr dirty="0" spc="-90"/>
              <a:t> </a:t>
            </a:r>
            <a:r>
              <a:rPr dirty="0"/>
              <a:t>Instruction</a:t>
            </a:r>
            <a:r>
              <a:rPr dirty="0" spc="-65"/>
              <a:t> </a:t>
            </a:r>
            <a:r>
              <a:rPr dirty="0"/>
              <a:t>Stream</a:t>
            </a:r>
            <a:r>
              <a:rPr dirty="0" spc="-75"/>
              <a:t> </a:t>
            </a:r>
            <a:r>
              <a:rPr dirty="0"/>
              <a:t>Multiple</a:t>
            </a:r>
            <a:r>
              <a:rPr dirty="0" spc="-90"/>
              <a:t> </a:t>
            </a:r>
            <a:r>
              <a:rPr dirty="0" spc="-20"/>
              <a:t>Data </a:t>
            </a:r>
            <a:r>
              <a:rPr dirty="0" spc="-20"/>
              <a:t>	</a:t>
            </a:r>
            <a:r>
              <a:rPr dirty="0" spc="-10"/>
              <a:t>Stream</a:t>
            </a:r>
          </a:p>
          <a:p>
            <a:pPr lvl="1" marL="683260" marR="131445" indent="-326390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i.e.,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computer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run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multiple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processes </a:t>
            </a:r>
            <a:r>
              <a:rPr dirty="0" sz="2600">
                <a:latin typeface="Arial MT"/>
                <a:cs typeface="Arial MT"/>
              </a:rPr>
              <a:t>or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threads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cooperating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towards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50">
                <a:latin typeface="Arial MT"/>
                <a:cs typeface="Arial MT"/>
              </a:rPr>
              <a:t>a </a:t>
            </a:r>
            <a:r>
              <a:rPr dirty="0" sz="2600">
                <a:latin typeface="Arial MT"/>
                <a:cs typeface="Arial MT"/>
              </a:rPr>
              <a:t>common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objective</a:t>
            </a:r>
            <a:endParaRPr sz="2600">
              <a:latin typeface="Arial MT"/>
              <a:cs typeface="Arial MT"/>
            </a:endParaRPr>
          </a:p>
          <a:p>
            <a:pPr lvl="2" marL="1033144" indent="-349885">
              <a:lnSpc>
                <a:spcPct val="100000"/>
              </a:lnSpc>
              <a:spcBef>
                <a:spcPts val="56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1033144" algn="l"/>
              </a:tabLst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parallel,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just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concurrently</a:t>
            </a:r>
            <a:endParaRPr sz="2400">
              <a:latin typeface="Arial MT"/>
              <a:cs typeface="Arial MT"/>
            </a:endParaRPr>
          </a:p>
          <a:p>
            <a:pPr lvl="1" marL="683260" marR="5080" indent="-326390">
              <a:lnSpc>
                <a:spcPct val="100000"/>
              </a:lnSpc>
              <a:spcBef>
                <a:spcPts val="64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Alternatively,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MIMD</a:t>
            </a:r>
            <a:r>
              <a:rPr dirty="0" sz="2600" spc="6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computer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could</a:t>
            </a:r>
            <a:r>
              <a:rPr dirty="0" sz="2600" spc="-25">
                <a:latin typeface="Arial MT"/>
                <a:cs typeface="Arial MT"/>
              </a:rPr>
              <a:t> run </a:t>
            </a:r>
            <a:r>
              <a:rPr dirty="0" sz="2600">
                <a:latin typeface="Arial MT"/>
                <a:cs typeface="Arial MT"/>
              </a:rPr>
              <a:t>multiple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independent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programs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same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time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83411" y="542035"/>
            <a:ext cx="6736080" cy="11830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800" spc="-150"/>
              <a:t>Another</a:t>
            </a:r>
            <a:r>
              <a:rPr dirty="0" sz="3800" spc="-100"/>
              <a:t> </a:t>
            </a:r>
            <a:r>
              <a:rPr dirty="0" sz="3800" spc="-145"/>
              <a:t>Classification:</a:t>
            </a:r>
            <a:endParaRPr sz="3800"/>
          </a:p>
          <a:p>
            <a:pPr marL="12700">
              <a:lnSpc>
                <a:spcPct val="100000"/>
              </a:lnSpc>
            </a:pPr>
            <a:r>
              <a:rPr dirty="0" sz="3800" spc="-385"/>
              <a:t>Shared</a:t>
            </a:r>
            <a:r>
              <a:rPr dirty="0" sz="3800" spc="-80"/>
              <a:t> </a:t>
            </a:r>
            <a:r>
              <a:rPr dirty="0" sz="3800" spc="-225"/>
              <a:t>Memory</a:t>
            </a:r>
            <a:r>
              <a:rPr dirty="0" sz="3800" spc="-90"/>
              <a:t> </a:t>
            </a:r>
            <a:r>
              <a:rPr dirty="0" sz="3800" spc="-335"/>
              <a:t>vs</a:t>
            </a:r>
            <a:r>
              <a:rPr dirty="0" sz="3800" spc="-75"/>
              <a:t> </a:t>
            </a:r>
            <a:r>
              <a:rPr dirty="0" sz="3800" spc="-455"/>
              <a:t>Message</a:t>
            </a:r>
            <a:r>
              <a:rPr dirty="0" sz="3800" spc="-75"/>
              <a:t> </a:t>
            </a:r>
            <a:r>
              <a:rPr dirty="0" sz="3800" spc="-390"/>
              <a:t>Passing</a:t>
            </a:r>
            <a:endParaRPr sz="3800"/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pc="-25"/>
              <a:t>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6955"/>
            <a:ext cx="7831455" cy="1819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64135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solidFill>
                  <a:srgbClr val="0000FF"/>
                </a:solidFill>
                <a:latin typeface="Arial MT"/>
                <a:cs typeface="Arial MT"/>
              </a:rPr>
              <a:t>Shared</a:t>
            </a:r>
            <a:r>
              <a:rPr dirty="0" sz="3000" spc="-2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0000FF"/>
                </a:solidFill>
                <a:latin typeface="Arial MT"/>
                <a:cs typeface="Arial MT"/>
              </a:rPr>
              <a:t>memory</a:t>
            </a:r>
            <a:r>
              <a:rPr dirty="0" sz="3000" spc="-7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0000FF"/>
                </a:solidFill>
                <a:latin typeface="Arial MT"/>
                <a:cs typeface="Arial MT"/>
              </a:rPr>
              <a:t>machine</a:t>
            </a:r>
            <a:r>
              <a:rPr dirty="0" sz="3000">
                <a:latin typeface="Arial MT"/>
                <a:cs typeface="Arial MT"/>
              </a:rPr>
              <a:t>: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n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processors </a:t>
            </a:r>
            <a:r>
              <a:rPr dirty="0" sz="3000" spc="-10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share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physical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address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space</a:t>
            </a:r>
            <a:endParaRPr sz="3000">
              <a:latin typeface="Arial MT"/>
              <a:cs typeface="Arial MT"/>
            </a:endParaRPr>
          </a:p>
          <a:p>
            <a:pPr lvl="1" marL="683260" marR="5080" indent="-326390">
              <a:lnSpc>
                <a:spcPct val="100800"/>
              </a:lnSpc>
              <a:spcBef>
                <a:spcPts val="64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Communication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done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through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shared memory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5114035"/>
            <a:ext cx="7896859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alternative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is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sometimes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referred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to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as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 spc="-50">
                <a:latin typeface="Arial MT"/>
                <a:cs typeface="Arial MT"/>
              </a:rPr>
              <a:t>a </a:t>
            </a:r>
            <a:r>
              <a:rPr dirty="0" sz="3000" spc="-50">
                <a:latin typeface="Arial MT"/>
                <a:cs typeface="Arial MT"/>
              </a:rPr>
              <a:t>	</a:t>
            </a:r>
            <a:r>
              <a:rPr dirty="0" sz="3000">
                <a:solidFill>
                  <a:srgbClr val="0000FF"/>
                </a:solidFill>
                <a:latin typeface="Arial MT"/>
                <a:cs typeface="Arial MT"/>
              </a:rPr>
              <a:t>message</a:t>
            </a:r>
            <a:r>
              <a:rPr dirty="0" sz="3000" spc="-6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0000FF"/>
                </a:solidFill>
                <a:latin typeface="Arial MT"/>
                <a:cs typeface="Arial MT"/>
              </a:rPr>
              <a:t>passing</a:t>
            </a:r>
            <a:r>
              <a:rPr dirty="0" sz="3000" spc="-5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3000">
                <a:solidFill>
                  <a:srgbClr val="0000FF"/>
                </a:solidFill>
                <a:latin typeface="Arial MT"/>
                <a:cs typeface="Arial MT"/>
              </a:rPr>
              <a:t>machine</a:t>
            </a:r>
            <a:r>
              <a:rPr dirty="0" sz="3000" spc="-1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or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0000FF"/>
                </a:solidFill>
                <a:latin typeface="Arial MT"/>
                <a:cs typeface="Arial MT"/>
              </a:rPr>
              <a:t>distributed </a:t>
            </a:r>
            <a:r>
              <a:rPr dirty="0" sz="3000" spc="-10">
                <a:solidFill>
                  <a:srgbClr val="0000FF"/>
                </a:solidFill>
                <a:latin typeface="Arial MT"/>
                <a:cs typeface="Arial MT"/>
              </a:rPr>
              <a:t>	</a:t>
            </a:r>
            <a:r>
              <a:rPr dirty="0" sz="3000">
                <a:solidFill>
                  <a:srgbClr val="0000FF"/>
                </a:solidFill>
                <a:latin typeface="Arial MT"/>
                <a:cs typeface="Arial MT"/>
              </a:rPr>
              <a:t>memory</a:t>
            </a:r>
            <a:r>
              <a:rPr dirty="0" sz="3000" spc="-4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3000" spc="-10">
                <a:solidFill>
                  <a:srgbClr val="0000FF"/>
                </a:solidFill>
                <a:latin typeface="Arial MT"/>
                <a:cs typeface="Arial MT"/>
              </a:rPr>
              <a:t>machine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20"/>
              <a:t>Shared</a:t>
            </a:r>
            <a:r>
              <a:rPr dirty="0" spc="-85"/>
              <a:t> </a:t>
            </a:r>
            <a:r>
              <a:rPr dirty="0" spc="-250"/>
              <a:t>Memory</a:t>
            </a:r>
            <a:r>
              <a:rPr dirty="0" spc="-80"/>
              <a:t> </a:t>
            </a:r>
            <a:r>
              <a:rPr dirty="0" spc="-335"/>
              <a:t>Machines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pc="-25"/>
              <a:t>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60652"/>
            <a:ext cx="7740650" cy="2212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marR="25400" indent="-344805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shared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memory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could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itself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be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distributed </a:t>
            </a:r>
            <a:r>
              <a:rPr dirty="0" sz="3000">
                <a:latin typeface="Arial MT"/>
                <a:cs typeface="Arial MT"/>
              </a:rPr>
              <a:t>among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the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processor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nodes</a:t>
            </a:r>
            <a:endParaRPr sz="3000">
              <a:latin typeface="Arial MT"/>
              <a:cs typeface="Arial MT"/>
            </a:endParaRPr>
          </a:p>
          <a:p>
            <a:pPr marL="683260" marR="5080" indent="-326390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Each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processor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might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have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some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portion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shared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physical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address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space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physically </a:t>
            </a:r>
            <a:r>
              <a:rPr dirty="0" sz="2600">
                <a:latin typeface="Arial MT"/>
                <a:cs typeface="Arial MT"/>
              </a:rPr>
              <a:t>close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therefore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accessible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less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time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5"/>
              <a:t>Parallel</a:t>
            </a:r>
            <a:r>
              <a:rPr dirty="0" spc="-45"/>
              <a:t> </a:t>
            </a:r>
            <a:r>
              <a:rPr dirty="0" spc="-200"/>
              <a:t>Architecture:</a:t>
            </a:r>
            <a:r>
              <a:rPr dirty="0" spc="-50"/>
              <a:t> </a:t>
            </a:r>
            <a:r>
              <a:rPr dirty="0" spc="-190"/>
              <a:t>Interconnections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pc="-25"/>
              <a:t>14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>
                <a:solidFill>
                  <a:srgbClr val="0000FF"/>
                </a:solidFill>
              </a:rPr>
              <a:t>Indirect</a:t>
            </a:r>
            <a:r>
              <a:rPr dirty="0" spc="-55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interconnects</a:t>
            </a:r>
            <a:r>
              <a:rPr dirty="0"/>
              <a:t>:</a:t>
            </a:r>
            <a:r>
              <a:rPr dirty="0" spc="-75"/>
              <a:t> </a:t>
            </a:r>
            <a:r>
              <a:rPr dirty="0"/>
              <a:t>nodes</a:t>
            </a:r>
            <a:r>
              <a:rPr dirty="0" spc="-65"/>
              <a:t> </a:t>
            </a:r>
            <a:r>
              <a:rPr dirty="0"/>
              <a:t>are</a:t>
            </a:r>
            <a:r>
              <a:rPr dirty="0" spc="-75"/>
              <a:t> </a:t>
            </a:r>
            <a:r>
              <a:rPr dirty="0" spc="-10"/>
              <a:t>connected </a:t>
            </a:r>
            <a:r>
              <a:rPr dirty="0" spc="-10"/>
              <a:t>	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interconnection</a:t>
            </a:r>
            <a:r>
              <a:rPr dirty="0" spc="-70"/>
              <a:t> </a:t>
            </a:r>
            <a:r>
              <a:rPr dirty="0"/>
              <a:t>medium,</a:t>
            </a:r>
            <a:r>
              <a:rPr dirty="0" spc="-70"/>
              <a:t> </a:t>
            </a:r>
            <a:r>
              <a:rPr dirty="0"/>
              <a:t>not</a:t>
            </a:r>
            <a:r>
              <a:rPr dirty="0" spc="-70"/>
              <a:t> </a:t>
            </a:r>
            <a:r>
              <a:rPr dirty="0"/>
              <a:t>directly</a:t>
            </a:r>
            <a:r>
              <a:rPr dirty="0" spc="-90"/>
              <a:t> </a:t>
            </a:r>
            <a:r>
              <a:rPr dirty="0" spc="-25"/>
              <a:t>to </a:t>
            </a:r>
            <a:r>
              <a:rPr dirty="0" spc="-25"/>
              <a:t>	</a:t>
            </a:r>
            <a:r>
              <a:rPr dirty="0"/>
              <a:t>each</a:t>
            </a:r>
            <a:r>
              <a:rPr dirty="0" spc="-45"/>
              <a:t> </a:t>
            </a:r>
            <a:r>
              <a:rPr dirty="0" spc="-10"/>
              <a:t>other</a:t>
            </a:r>
          </a:p>
          <a:p>
            <a:pPr lvl="1" marL="682625" indent="-325755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Shared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bus,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multiple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bus,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crossbar,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MIN</a:t>
            </a:r>
            <a:endParaRPr sz="2600">
              <a:latin typeface="Arial MT"/>
              <a:cs typeface="Arial MT"/>
            </a:endParaRPr>
          </a:p>
          <a:p>
            <a:pPr marL="355600" marR="257810" indent="-343535">
              <a:lnSpc>
                <a:spcPct val="100000"/>
              </a:lnSpc>
              <a:spcBef>
                <a:spcPts val="68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>
                <a:solidFill>
                  <a:srgbClr val="0000FF"/>
                </a:solidFill>
              </a:rPr>
              <a:t>Direct</a:t>
            </a:r>
            <a:r>
              <a:rPr dirty="0" spc="-45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interconnects</a:t>
            </a:r>
            <a:r>
              <a:rPr dirty="0"/>
              <a:t>:</a:t>
            </a:r>
            <a:r>
              <a:rPr dirty="0" spc="-65"/>
              <a:t> </a:t>
            </a:r>
            <a:r>
              <a:rPr dirty="0"/>
              <a:t>nodes</a:t>
            </a:r>
            <a:r>
              <a:rPr dirty="0" spc="-60"/>
              <a:t> </a:t>
            </a:r>
            <a:r>
              <a:rPr dirty="0"/>
              <a:t>are</a:t>
            </a:r>
            <a:r>
              <a:rPr dirty="0" spc="-60"/>
              <a:t> </a:t>
            </a:r>
            <a:r>
              <a:rPr dirty="0" spc="-10"/>
              <a:t>connected </a:t>
            </a:r>
            <a:r>
              <a:rPr dirty="0" spc="-10"/>
              <a:t>	</a:t>
            </a:r>
            <a:r>
              <a:rPr dirty="0"/>
              <a:t>directly</a:t>
            </a:r>
            <a:r>
              <a:rPr dirty="0" spc="-6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each</a:t>
            </a:r>
            <a:r>
              <a:rPr dirty="0" spc="-45"/>
              <a:t> </a:t>
            </a:r>
            <a:r>
              <a:rPr dirty="0" spc="-10"/>
              <a:t>other</a:t>
            </a:r>
          </a:p>
          <a:p>
            <a:pPr lvl="1" marL="683260" marR="1236345" indent="-326390">
              <a:lnSpc>
                <a:spcPct val="100800"/>
              </a:lnSpc>
              <a:spcBef>
                <a:spcPts val="64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Topology: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linear,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ring,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star,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mesh,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torus, hypercube</a:t>
            </a:r>
            <a:endParaRPr sz="2600">
              <a:latin typeface="Arial MT"/>
              <a:cs typeface="Arial MT"/>
            </a:endParaRPr>
          </a:p>
          <a:p>
            <a:pPr lvl="1" marL="683260" marR="140335" indent="-326390">
              <a:lnSpc>
                <a:spcPct val="100000"/>
              </a:lnSpc>
              <a:spcBef>
                <a:spcPts val="62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Routing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techniques: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how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route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taken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by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the </a:t>
            </a:r>
            <a:r>
              <a:rPr dirty="0" sz="2600">
                <a:latin typeface="Arial MT"/>
                <a:cs typeface="Arial MT"/>
              </a:rPr>
              <a:t>message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from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source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destination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decided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80516" y="3217164"/>
            <a:ext cx="2212975" cy="2139950"/>
            <a:chOff x="1080516" y="3217164"/>
            <a:chExt cx="2212975" cy="2139950"/>
          </a:xfrm>
        </p:grpSpPr>
        <p:sp>
          <p:nvSpPr>
            <p:cNvPr id="3" name="object 3"/>
            <p:cNvSpPr/>
            <p:nvPr/>
          </p:nvSpPr>
          <p:spPr>
            <a:xfrm>
              <a:off x="1591055" y="3221736"/>
              <a:ext cx="1697989" cy="1560830"/>
            </a:xfrm>
            <a:custGeom>
              <a:avLst/>
              <a:gdLst/>
              <a:ahLst/>
              <a:cxnLst/>
              <a:rect l="l" t="t" r="r" b="b"/>
              <a:pathLst>
                <a:path w="1697989" h="1560829">
                  <a:moveTo>
                    <a:pt x="1697736" y="0"/>
                  </a:moveTo>
                  <a:lnTo>
                    <a:pt x="0" y="0"/>
                  </a:lnTo>
                  <a:lnTo>
                    <a:pt x="0" y="1560576"/>
                  </a:lnTo>
                  <a:lnTo>
                    <a:pt x="1697736" y="1560576"/>
                  </a:lnTo>
                  <a:lnTo>
                    <a:pt x="1697736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91055" y="3221736"/>
              <a:ext cx="1697989" cy="1560830"/>
            </a:xfrm>
            <a:custGeom>
              <a:avLst/>
              <a:gdLst/>
              <a:ahLst/>
              <a:cxnLst/>
              <a:rect l="l" t="t" r="r" b="b"/>
              <a:pathLst>
                <a:path w="1697989" h="1560829">
                  <a:moveTo>
                    <a:pt x="0" y="0"/>
                  </a:moveTo>
                  <a:lnTo>
                    <a:pt x="0" y="1560576"/>
                  </a:lnTo>
                  <a:lnTo>
                    <a:pt x="1697735" y="1560576"/>
                  </a:lnTo>
                  <a:lnTo>
                    <a:pt x="1697735" y="0"/>
                  </a:lnTo>
                  <a:lnTo>
                    <a:pt x="0" y="0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85087" y="3224784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85087" y="3224784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37744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22831" y="3224784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85087" y="3224784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5"/>
                  </a:moveTo>
                  <a:lnTo>
                    <a:pt x="237744" y="67055"/>
                  </a:lnTo>
                  <a:lnTo>
                    <a:pt x="304800" y="0"/>
                  </a:lnTo>
                </a:path>
                <a:path w="304800" h="268604">
                  <a:moveTo>
                    <a:pt x="237744" y="67055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36775" y="5071872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3"/>
                  </a:lnTo>
                  <a:lnTo>
                    <a:pt x="237744" y="268223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36775" y="5071872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37744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74519" y="5071872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36775" y="5071872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237744" y="268223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5"/>
                  </a:moveTo>
                  <a:lnTo>
                    <a:pt x="237744" y="67055"/>
                  </a:lnTo>
                  <a:lnTo>
                    <a:pt x="304800" y="0"/>
                  </a:lnTo>
                </a:path>
                <a:path w="304800" h="268604">
                  <a:moveTo>
                    <a:pt x="237744" y="67055"/>
                  </a:moveTo>
                  <a:lnTo>
                    <a:pt x="237744" y="268223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85087" y="4495800"/>
              <a:ext cx="307975" cy="271780"/>
            </a:xfrm>
            <a:custGeom>
              <a:avLst/>
              <a:gdLst/>
              <a:ahLst/>
              <a:cxnLst/>
              <a:rect l="l" t="t" r="r" b="b"/>
              <a:pathLst>
                <a:path w="307975" h="271779">
                  <a:moveTo>
                    <a:pt x="307848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71272"/>
                  </a:lnTo>
                  <a:lnTo>
                    <a:pt x="240792" y="271272"/>
                  </a:lnTo>
                  <a:lnTo>
                    <a:pt x="307848" y="204216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85087" y="4495800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40792" y="67056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325879" y="4495800"/>
              <a:ext cx="67310" cy="271780"/>
            </a:xfrm>
            <a:custGeom>
              <a:avLst/>
              <a:gdLst/>
              <a:ahLst/>
              <a:cxnLst/>
              <a:rect l="l" t="t" r="r" b="b"/>
              <a:pathLst>
                <a:path w="67309" h="271779">
                  <a:moveTo>
                    <a:pt x="67056" y="0"/>
                  </a:moveTo>
                  <a:lnTo>
                    <a:pt x="0" y="67056"/>
                  </a:lnTo>
                  <a:lnTo>
                    <a:pt x="0" y="271272"/>
                  </a:lnTo>
                  <a:lnTo>
                    <a:pt x="67056" y="204216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85087" y="4495800"/>
              <a:ext cx="307975" cy="271780"/>
            </a:xfrm>
            <a:custGeom>
              <a:avLst/>
              <a:gdLst/>
              <a:ahLst/>
              <a:cxnLst/>
              <a:rect l="l" t="t" r="r" b="b"/>
              <a:pathLst>
                <a:path w="307975" h="271779">
                  <a:moveTo>
                    <a:pt x="67056" y="0"/>
                  </a:moveTo>
                  <a:lnTo>
                    <a:pt x="0" y="67056"/>
                  </a:lnTo>
                  <a:lnTo>
                    <a:pt x="0" y="271272"/>
                  </a:lnTo>
                  <a:lnTo>
                    <a:pt x="240792" y="271272"/>
                  </a:lnTo>
                  <a:lnTo>
                    <a:pt x="307848" y="204216"/>
                  </a:lnTo>
                  <a:lnTo>
                    <a:pt x="307848" y="0"/>
                  </a:lnTo>
                  <a:lnTo>
                    <a:pt x="67056" y="0"/>
                  </a:lnTo>
                  <a:close/>
                </a:path>
                <a:path w="307975" h="271779">
                  <a:moveTo>
                    <a:pt x="0" y="67056"/>
                  </a:moveTo>
                  <a:lnTo>
                    <a:pt x="240792" y="67056"/>
                  </a:lnTo>
                  <a:lnTo>
                    <a:pt x="307848" y="0"/>
                  </a:lnTo>
                </a:path>
                <a:path w="307975" h="271779">
                  <a:moveTo>
                    <a:pt x="240792" y="67056"/>
                  </a:moveTo>
                  <a:lnTo>
                    <a:pt x="240792" y="271272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85087" y="3651504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8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8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85087" y="3651504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40792" y="67056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325879" y="3651504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85087" y="3651504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8"/>
                  </a:lnTo>
                  <a:lnTo>
                    <a:pt x="307848" y="0"/>
                  </a:lnTo>
                  <a:lnTo>
                    <a:pt x="67056" y="0"/>
                  </a:lnTo>
                  <a:close/>
                </a:path>
                <a:path w="307975" h="268604">
                  <a:moveTo>
                    <a:pt x="0" y="67056"/>
                  </a:moveTo>
                  <a:lnTo>
                    <a:pt x="240792" y="67056"/>
                  </a:lnTo>
                  <a:lnTo>
                    <a:pt x="307848" y="0"/>
                  </a:lnTo>
                </a:path>
                <a:path w="307975" h="268604">
                  <a:moveTo>
                    <a:pt x="240792" y="67056"/>
                  </a:moveTo>
                  <a:lnTo>
                    <a:pt x="240792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85087" y="4087368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8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8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085087" y="4087368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40792" y="67056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325879" y="4087368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85087" y="4087368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8"/>
                  </a:lnTo>
                  <a:lnTo>
                    <a:pt x="307848" y="0"/>
                  </a:lnTo>
                  <a:lnTo>
                    <a:pt x="67056" y="0"/>
                  </a:lnTo>
                  <a:close/>
                </a:path>
                <a:path w="307975" h="268604">
                  <a:moveTo>
                    <a:pt x="0" y="67056"/>
                  </a:moveTo>
                  <a:lnTo>
                    <a:pt x="240792" y="67056"/>
                  </a:lnTo>
                  <a:lnTo>
                    <a:pt x="307848" y="0"/>
                  </a:lnTo>
                </a:path>
                <a:path w="307975" h="268604">
                  <a:moveTo>
                    <a:pt x="240792" y="67056"/>
                  </a:moveTo>
                  <a:lnTo>
                    <a:pt x="240792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795016" y="5077967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7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3"/>
                  </a:lnTo>
                  <a:lnTo>
                    <a:pt x="240791" y="268223"/>
                  </a:lnTo>
                  <a:lnTo>
                    <a:pt x="307847" y="201167"/>
                  </a:lnTo>
                  <a:lnTo>
                    <a:pt x="30784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795016" y="5077967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7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40791" y="67055"/>
                  </a:lnTo>
                  <a:lnTo>
                    <a:pt x="307847" y="0"/>
                  </a:lnTo>
                  <a:close/>
                </a:path>
              </a:pathLst>
            </a:custGeom>
            <a:solidFill>
              <a:srgbClr val="FFF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035807" y="5077967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795016" y="5077967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240791" y="268223"/>
                  </a:lnTo>
                  <a:lnTo>
                    <a:pt x="307847" y="201167"/>
                  </a:lnTo>
                  <a:lnTo>
                    <a:pt x="307847" y="0"/>
                  </a:lnTo>
                  <a:lnTo>
                    <a:pt x="67056" y="0"/>
                  </a:lnTo>
                  <a:close/>
                </a:path>
                <a:path w="307975" h="268604">
                  <a:moveTo>
                    <a:pt x="0" y="67055"/>
                  </a:moveTo>
                  <a:lnTo>
                    <a:pt x="240791" y="67055"/>
                  </a:lnTo>
                  <a:lnTo>
                    <a:pt x="307847" y="0"/>
                  </a:lnTo>
                </a:path>
                <a:path w="307975" h="268604">
                  <a:moveTo>
                    <a:pt x="240791" y="67055"/>
                  </a:moveTo>
                  <a:lnTo>
                    <a:pt x="240791" y="268223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410967" y="5084064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410967" y="5084064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648711" y="5084064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410967" y="5084064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4">
                  <a:moveTo>
                    <a:pt x="237744" y="67056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023872" y="5084064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7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7" y="201168"/>
                  </a:lnTo>
                  <a:lnTo>
                    <a:pt x="30784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023872" y="5084064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7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240791" y="67056"/>
                  </a:lnTo>
                  <a:lnTo>
                    <a:pt x="307847" y="0"/>
                  </a:lnTo>
                  <a:close/>
                </a:path>
              </a:pathLst>
            </a:custGeom>
            <a:solidFill>
              <a:srgbClr val="FFF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264663" y="5084064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023872" y="5084064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7" y="201168"/>
                  </a:lnTo>
                  <a:lnTo>
                    <a:pt x="307847" y="0"/>
                  </a:lnTo>
                  <a:lnTo>
                    <a:pt x="67055" y="0"/>
                  </a:lnTo>
                  <a:close/>
                </a:path>
                <a:path w="307975" h="268604">
                  <a:moveTo>
                    <a:pt x="0" y="67056"/>
                  </a:moveTo>
                  <a:lnTo>
                    <a:pt x="240791" y="67056"/>
                  </a:lnTo>
                  <a:lnTo>
                    <a:pt x="307847" y="0"/>
                  </a:lnTo>
                </a:path>
                <a:path w="307975" h="268604">
                  <a:moveTo>
                    <a:pt x="240791" y="67056"/>
                  </a:moveTo>
                  <a:lnTo>
                    <a:pt x="240791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371599" y="3221736"/>
              <a:ext cx="1917700" cy="1859280"/>
            </a:xfrm>
            <a:custGeom>
              <a:avLst/>
              <a:gdLst/>
              <a:ahLst/>
              <a:cxnLst/>
              <a:rect l="l" t="t" r="r" b="b"/>
              <a:pathLst>
                <a:path w="1917700" h="1859279">
                  <a:moveTo>
                    <a:pt x="18287" y="118872"/>
                  </a:moveTo>
                  <a:lnTo>
                    <a:pt x="1911096" y="118872"/>
                  </a:lnTo>
                </a:path>
                <a:path w="1917700" h="1859279">
                  <a:moveTo>
                    <a:pt x="0" y="530351"/>
                  </a:moveTo>
                  <a:lnTo>
                    <a:pt x="1892808" y="530351"/>
                  </a:lnTo>
                </a:path>
                <a:path w="1917700" h="1859279">
                  <a:moveTo>
                    <a:pt x="12191" y="984503"/>
                  </a:moveTo>
                  <a:lnTo>
                    <a:pt x="1905000" y="984503"/>
                  </a:lnTo>
                </a:path>
                <a:path w="1917700" h="1859279">
                  <a:moveTo>
                    <a:pt x="24384" y="1380744"/>
                  </a:moveTo>
                  <a:lnTo>
                    <a:pt x="1917191" y="1380744"/>
                  </a:lnTo>
                </a:path>
                <a:path w="1917700" h="1859279">
                  <a:moveTo>
                    <a:pt x="411480" y="1850136"/>
                  </a:moveTo>
                  <a:lnTo>
                    <a:pt x="411480" y="3048"/>
                  </a:lnTo>
                </a:path>
                <a:path w="1917700" h="1859279">
                  <a:moveTo>
                    <a:pt x="792480" y="1847088"/>
                  </a:moveTo>
                  <a:lnTo>
                    <a:pt x="792480" y="0"/>
                  </a:lnTo>
                </a:path>
                <a:path w="1917700" h="1859279">
                  <a:moveTo>
                    <a:pt x="1176527" y="1859280"/>
                  </a:moveTo>
                  <a:lnTo>
                    <a:pt x="1176527" y="12191"/>
                  </a:lnTo>
                </a:path>
                <a:path w="1917700" h="1859279">
                  <a:moveTo>
                    <a:pt x="1557527" y="1856232"/>
                  </a:moveTo>
                  <a:lnTo>
                    <a:pt x="1557527" y="9143"/>
                  </a:lnTo>
                </a:path>
              </a:pathLst>
            </a:custGeom>
            <a:ln w="396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3748" y="3336036"/>
              <a:ext cx="176782" cy="17068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77796" y="3332988"/>
              <a:ext cx="173734" cy="17068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6604" y="3345180"/>
              <a:ext cx="176782" cy="17373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33700" y="3345180"/>
              <a:ext cx="176782" cy="17373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90700" y="3759708"/>
              <a:ext cx="176782" cy="17373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74748" y="3756660"/>
              <a:ext cx="173734" cy="17373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43556" y="3771900"/>
              <a:ext cx="176782" cy="17373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30652" y="3771900"/>
              <a:ext cx="176782" cy="17373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90700" y="4204716"/>
              <a:ext cx="176782" cy="17068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74748" y="4201668"/>
              <a:ext cx="173734" cy="17068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43556" y="4213860"/>
              <a:ext cx="176782" cy="17373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30652" y="4213860"/>
              <a:ext cx="176782" cy="17373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90700" y="4604004"/>
              <a:ext cx="176782" cy="17373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74748" y="4600956"/>
              <a:ext cx="173734" cy="17373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43556" y="4616196"/>
              <a:ext cx="176782" cy="17068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30652" y="4616196"/>
              <a:ext cx="176782" cy="170686"/>
            </a:xfrm>
            <a:prstGeom prst="rect">
              <a:avLst/>
            </a:prstGeom>
          </p:spPr>
        </p:pic>
      </p:grpSp>
      <p:sp>
        <p:nvSpPr>
          <p:cNvPr id="54" name="object 54" descr="$PPTXTitle"/>
          <p:cNvSpPr txBox="1">
            <a:spLocks noGrp="1"/>
          </p:cNvSpPr>
          <p:nvPr>
            <p:ph type="title"/>
          </p:nvPr>
        </p:nvSpPr>
        <p:spPr>
          <a:xfrm>
            <a:off x="846836" y="535940"/>
            <a:ext cx="463740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Indirect </a:t>
            </a:r>
            <a:r>
              <a:rPr dirty="0" spc="-210"/>
              <a:t>Interconnects</a:t>
            </a:r>
          </a:p>
        </p:txBody>
      </p:sp>
      <p:grpSp>
        <p:nvGrpSpPr>
          <p:cNvPr id="55" name="object 55"/>
          <p:cNvGrpSpPr/>
          <p:nvPr/>
        </p:nvGrpSpPr>
        <p:grpSpPr>
          <a:xfrm>
            <a:off x="1091183" y="1348740"/>
            <a:ext cx="1729739" cy="1039494"/>
            <a:chOff x="1091183" y="1348740"/>
            <a:chExt cx="1729739" cy="1039494"/>
          </a:xfrm>
        </p:grpSpPr>
        <p:sp>
          <p:nvSpPr>
            <p:cNvPr id="56" name="object 56"/>
            <p:cNvSpPr/>
            <p:nvPr/>
          </p:nvSpPr>
          <p:spPr>
            <a:xfrm>
              <a:off x="1127759" y="1353312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307848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127759" y="1353312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09">
                  <a:moveTo>
                    <a:pt x="307848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40792" y="6705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368551" y="1353312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127759" y="1353312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7"/>
                  </a:lnTo>
                  <a:lnTo>
                    <a:pt x="307848" y="0"/>
                  </a:lnTo>
                  <a:lnTo>
                    <a:pt x="67056" y="0"/>
                  </a:lnTo>
                  <a:close/>
                </a:path>
                <a:path w="307975" h="268605">
                  <a:moveTo>
                    <a:pt x="0" y="67055"/>
                  </a:moveTo>
                  <a:lnTo>
                    <a:pt x="240792" y="67055"/>
                  </a:lnTo>
                  <a:lnTo>
                    <a:pt x="307848" y="0"/>
                  </a:lnTo>
                </a:path>
                <a:path w="307975" h="268605">
                  <a:moveTo>
                    <a:pt x="240792" y="67055"/>
                  </a:moveTo>
                  <a:lnTo>
                    <a:pt x="240792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591055" y="1353312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591055" y="1353312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09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37744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828800" y="1353312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591055" y="1353312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5">
                  <a:moveTo>
                    <a:pt x="0" y="67055"/>
                  </a:moveTo>
                  <a:lnTo>
                    <a:pt x="237744" y="67055"/>
                  </a:lnTo>
                  <a:lnTo>
                    <a:pt x="304800" y="0"/>
                  </a:lnTo>
                </a:path>
                <a:path w="304800" h="268605">
                  <a:moveTo>
                    <a:pt x="237744" y="67055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051303" y="1353312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051303" y="1353312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09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37744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289047" y="1353312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051303" y="1353312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5">
                  <a:moveTo>
                    <a:pt x="0" y="67055"/>
                  </a:moveTo>
                  <a:lnTo>
                    <a:pt x="237744" y="67055"/>
                  </a:lnTo>
                  <a:lnTo>
                    <a:pt x="304800" y="0"/>
                  </a:lnTo>
                </a:path>
                <a:path w="304800" h="268605">
                  <a:moveTo>
                    <a:pt x="237744" y="67055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511551" y="1353312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511551" y="1353312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09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37744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749295" y="1353312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511551" y="1353312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5">
                  <a:moveTo>
                    <a:pt x="0" y="67055"/>
                  </a:moveTo>
                  <a:lnTo>
                    <a:pt x="237744" y="67055"/>
                  </a:lnTo>
                  <a:lnTo>
                    <a:pt x="304800" y="0"/>
                  </a:lnTo>
                </a:path>
                <a:path w="304800" h="268605">
                  <a:moveTo>
                    <a:pt x="237744" y="67055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091183" y="15666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6575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88719" y="1618488"/>
              <a:ext cx="76200" cy="23469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48967" y="1618488"/>
              <a:ext cx="76200" cy="23469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12263" y="1618488"/>
              <a:ext cx="76200" cy="234696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72511" y="1618488"/>
              <a:ext cx="76200" cy="234696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1112519" y="1853184"/>
              <a:ext cx="1704339" cy="0"/>
            </a:xfrm>
            <a:custGeom>
              <a:avLst/>
              <a:gdLst/>
              <a:ahLst/>
              <a:cxnLst/>
              <a:rect l="l" t="t" r="r" b="b"/>
              <a:pathLst>
                <a:path w="1704339" h="0">
                  <a:moveTo>
                    <a:pt x="0" y="0"/>
                  </a:moveTo>
                  <a:lnTo>
                    <a:pt x="1703832" y="0"/>
                  </a:lnTo>
                </a:path>
              </a:pathLst>
            </a:custGeom>
            <a:ln w="579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127759" y="2075687"/>
              <a:ext cx="1539240" cy="307975"/>
            </a:xfrm>
            <a:custGeom>
              <a:avLst/>
              <a:gdLst/>
              <a:ahLst/>
              <a:cxnLst/>
              <a:rect l="l" t="t" r="r" b="b"/>
              <a:pathLst>
                <a:path w="1539239" h="307975">
                  <a:moveTo>
                    <a:pt x="1539240" y="0"/>
                  </a:moveTo>
                  <a:lnTo>
                    <a:pt x="79248" y="0"/>
                  </a:lnTo>
                  <a:lnTo>
                    <a:pt x="0" y="76200"/>
                  </a:lnTo>
                  <a:lnTo>
                    <a:pt x="0" y="307848"/>
                  </a:lnTo>
                  <a:lnTo>
                    <a:pt x="1463040" y="307848"/>
                  </a:lnTo>
                  <a:lnTo>
                    <a:pt x="1539240" y="228600"/>
                  </a:lnTo>
                  <a:lnTo>
                    <a:pt x="153924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127759" y="2075687"/>
              <a:ext cx="1539240" cy="76200"/>
            </a:xfrm>
            <a:custGeom>
              <a:avLst/>
              <a:gdLst/>
              <a:ahLst/>
              <a:cxnLst/>
              <a:rect l="l" t="t" r="r" b="b"/>
              <a:pathLst>
                <a:path w="1539239" h="76200">
                  <a:moveTo>
                    <a:pt x="1539240" y="0"/>
                  </a:moveTo>
                  <a:lnTo>
                    <a:pt x="79248" y="0"/>
                  </a:lnTo>
                  <a:lnTo>
                    <a:pt x="0" y="76200"/>
                  </a:lnTo>
                  <a:lnTo>
                    <a:pt x="1463040" y="76200"/>
                  </a:lnTo>
                  <a:lnTo>
                    <a:pt x="153924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590800" y="2075687"/>
              <a:ext cx="76200" cy="307975"/>
            </a:xfrm>
            <a:custGeom>
              <a:avLst/>
              <a:gdLst/>
              <a:ahLst/>
              <a:cxnLst/>
              <a:rect l="l" t="t" r="r" b="b"/>
              <a:pathLst>
                <a:path w="76200" h="307975">
                  <a:moveTo>
                    <a:pt x="76200" y="0"/>
                  </a:moveTo>
                  <a:lnTo>
                    <a:pt x="0" y="76200"/>
                  </a:lnTo>
                  <a:lnTo>
                    <a:pt x="0" y="307848"/>
                  </a:lnTo>
                  <a:lnTo>
                    <a:pt x="76200" y="228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127759" y="2075687"/>
              <a:ext cx="1539240" cy="307975"/>
            </a:xfrm>
            <a:custGeom>
              <a:avLst/>
              <a:gdLst/>
              <a:ahLst/>
              <a:cxnLst/>
              <a:rect l="l" t="t" r="r" b="b"/>
              <a:pathLst>
                <a:path w="1539239" h="307975">
                  <a:moveTo>
                    <a:pt x="79248" y="0"/>
                  </a:moveTo>
                  <a:lnTo>
                    <a:pt x="0" y="76200"/>
                  </a:lnTo>
                  <a:lnTo>
                    <a:pt x="0" y="307848"/>
                  </a:lnTo>
                  <a:lnTo>
                    <a:pt x="1463040" y="307848"/>
                  </a:lnTo>
                  <a:lnTo>
                    <a:pt x="1539240" y="228600"/>
                  </a:lnTo>
                  <a:lnTo>
                    <a:pt x="1539240" y="0"/>
                  </a:lnTo>
                  <a:lnTo>
                    <a:pt x="79248" y="0"/>
                  </a:lnTo>
                  <a:close/>
                </a:path>
                <a:path w="1539239" h="307975">
                  <a:moveTo>
                    <a:pt x="0" y="76200"/>
                  </a:moveTo>
                  <a:lnTo>
                    <a:pt x="1463040" y="76200"/>
                  </a:lnTo>
                  <a:lnTo>
                    <a:pt x="1539240" y="0"/>
                  </a:lnTo>
                </a:path>
                <a:path w="1539239" h="307975">
                  <a:moveTo>
                    <a:pt x="1463040" y="76200"/>
                  </a:moveTo>
                  <a:lnTo>
                    <a:pt x="1463040" y="307848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59279" y="1853184"/>
              <a:ext cx="76200" cy="219455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2885948" y="1575308"/>
            <a:ext cx="15881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Shared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bus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244588" y="1730755"/>
            <a:ext cx="16554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Multiple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bus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5474208" y="1360932"/>
            <a:ext cx="1729739" cy="1304925"/>
            <a:chOff x="5474208" y="1360932"/>
            <a:chExt cx="1729739" cy="1304925"/>
          </a:xfrm>
        </p:grpSpPr>
        <p:sp>
          <p:nvSpPr>
            <p:cNvPr id="86" name="object 86"/>
            <p:cNvSpPr/>
            <p:nvPr/>
          </p:nvSpPr>
          <p:spPr>
            <a:xfrm>
              <a:off x="5510784" y="1365503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307848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8" y="201168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5510784" y="1365503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09">
                  <a:moveTo>
                    <a:pt x="307848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240791" y="67056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5751576" y="1365503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5510784" y="1365503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8" y="201168"/>
                  </a:lnTo>
                  <a:lnTo>
                    <a:pt x="307848" y="0"/>
                  </a:lnTo>
                  <a:lnTo>
                    <a:pt x="67055" y="0"/>
                  </a:lnTo>
                  <a:close/>
                </a:path>
                <a:path w="307975" h="268605">
                  <a:moveTo>
                    <a:pt x="0" y="67056"/>
                  </a:moveTo>
                  <a:lnTo>
                    <a:pt x="240791" y="67056"/>
                  </a:lnTo>
                  <a:lnTo>
                    <a:pt x="307848" y="0"/>
                  </a:lnTo>
                </a:path>
                <a:path w="307975" h="268605">
                  <a:moveTo>
                    <a:pt x="240791" y="67056"/>
                  </a:moveTo>
                  <a:lnTo>
                    <a:pt x="240791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5974080" y="1365503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5974080" y="1365503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09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211824" y="1365503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5" y="201168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5974080" y="1365503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5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5">
                  <a:moveTo>
                    <a:pt x="237744" y="67056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434328" y="1365503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434328" y="1365503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09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6672072" y="1365503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5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5" y="201168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6434328" y="1365503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5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5">
                  <a:moveTo>
                    <a:pt x="237744" y="67056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6894576" y="1365503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6894576" y="1365503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09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7132320" y="1365503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5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5" y="201168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6894576" y="1365503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5" y="0"/>
                  </a:lnTo>
                  <a:close/>
                </a:path>
                <a:path w="304800" h="268605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5">
                  <a:moveTo>
                    <a:pt x="237744" y="67056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5474208" y="15758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6575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71744" y="1627631"/>
              <a:ext cx="76200" cy="234695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31992" y="1627631"/>
              <a:ext cx="76200" cy="234695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495288" y="1627631"/>
              <a:ext cx="76200" cy="234695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955536" y="1627631"/>
              <a:ext cx="76200" cy="234695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5495544" y="1862327"/>
              <a:ext cx="1704339" cy="192405"/>
            </a:xfrm>
            <a:custGeom>
              <a:avLst/>
              <a:gdLst/>
              <a:ahLst/>
              <a:cxnLst/>
              <a:rect l="l" t="t" r="r" b="b"/>
              <a:pathLst>
                <a:path w="1704340" h="192405">
                  <a:moveTo>
                    <a:pt x="0" y="0"/>
                  </a:moveTo>
                  <a:lnTo>
                    <a:pt x="1703831" y="0"/>
                  </a:lnTo>
                </a:path>
                <a:path w="1704340" h="192405">
                  <a:moveTo>
                    <a:pt x="0" y="192024"/>
                  </a:moveTo>
                  <a:lnTo>
                    <a:pt x="1703831" y="192024"/>
                  </a:lnTo>
                </a:path>
              </a:pathLst>
            </a:custGeom>
            <a:ln w="579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5681472" y="1627631"/>
              <a:ext cx="1442085" cy="439420"/>
            </a:xfrm>
            <a:custGeom>
              <a:avLst/>
              <a:gdLst/>
              <a:ahLst/>
              <a:cxnLst/>
              <a:rect l="l" t="t" r="r" b="b"/>
              <a:pathLst>
                <a:path w="1442084" h="439419">
                  <a:moveTo>
                    <a:pt x="76200" y="350520"/>
                  </a:moveTo>
                  <a:lnTo>
                    <a:pt x="42672" y="350520"/>
                  </a:lnTo>
                  <a:lnTo>
                    <a:pt x="42672" y="3048"/>
                  </a:lnTo>
                  <a:lnTo>
                    <a:pt x="39624" y="0"/>
                  </a:lnTo>
                  <a:lnTo>
                    <a:pt x="33528" y="0"/>
                  </a:lnTo>
                  <a:lnTo>
                    <a:pt x="30480" y="3048"/>
                  </a:lnTo>
                  <a:lnTo>
                    <a:pt x="30480" y="350520"/>
                  </a:lnTo>
                  <a:lnTo>
                    <a:pt x="0" y="350520"/>
                  </a:lnTo>
                  <a:lnTo>
                    <a:pt x="36576" y="426720"/>
                  </a:lnTo>
                  <a:lnTo>
                    <a:pt x="66687" y="368808"/>
                  </a:lnTo>
                  <a:lnTo>
                    <a:pt x="76200" y="350520"/>
                  </a:lnTo>
                  <a:close/>
                </a:path>
                <a:path w="1442084" h="439419">
                  <a:moveTo>
                    <a:pt x="515112" y="362712"/>
                  </a:moveTo>
                  <a:lnTo>
                    <a:pt x="481584" y="362712"/>
                  </a:lnTo>
                  <a:lnTo>
                    <a:pt x="481584" y="15240"/>
                  </a:lnTo>
                  <a:lnTo>
                    <a:pt x="478536" y="12192"/>
                  </a:lnTo>
                  <a:lnTo>
                    <a:pt x="472440" y="12192"/>
                  </a:lnTo>
                  <a:lnTo>
                    <a:pt x="472440" y="362712"/>
                  </a:lnTo>
                  <a:lnTo>
                    <a:pt x="438912" y="362712"/>
                  </a:lnTo>
                  <a:lnTo>
                    <a:pt x="475488" y="438912"/>
                  </a:lnTo>
                  <a:lnTo>
                    <a:pt x="505599" y="381000"/>
                  </a:lnTo>
                  <a:lnTo>
                    <a:pt x="515112" y="362712"/>
                  </a:lnTo>
                  <a:close/>
                </a:path>
                <a:path w="1442084" h="439419">
                  <a:moveTo>
                    <a:pt x="984504" y="362712"/>
                  </a:moveTo>
                  <a:lnTo>
                    <a:pt x="954024" y="362712"/>
                  </a:lnTo>
                  <a:lnTo>
                    <a:pt x="954024" y="15240"/>
                  </a:lnTo>
                  <a:lnTo>
                    <a:pt x="950976" y="12192"/>
                  </a:lnTo>
                  <a:lnTo>
                    <a:pt x="944880" y="12192"/>
                  </a:lnTo>
                  <a:lnTo>
                    <a:pt x="941832" y="15240"/>
                  </a:lnTo>
                  <a:lnTo>
                    <a:pt x="941832" y="362712"/>
                  </a:lnTo>
                  <a:lnTo>
                    <a:pt x="908304" y="362712"/>
                  </a:lnTo>
                  <a:lnTo>
                    <a:pt x="947928" y="438912"/>
                  </a:lnTo>
                  <a:lnTo>
                    <a:pt x="975715" y="381000"/>
                  </a:lnTo>
                  <a:lnTo>
                    <a:pt x="984504" y="362712"/>
                  </a:lnTo>
                  <a:close/>
                </a:path>
                <a:path w="1442084" h="439419">
                  <a:moveTo>
                    <a:pt x="1441704" y="362712"/>
                  </a:moveTo>
                  <a:lnTo>
                    <a:pt x="1411224" y="362712"/>
                  </a:lnTo>
                  <a:lnTo>
                    <a:pt x="1411224" y="15240"/>
                  </a:lnTo>
                  <a:lnTo>
                    <a:pt x="1408176" y="12192"/>
                  </a:lnTo>
                  <a:lnTo>
                    <a:pt x="1402080" y="12192"/>
                  </a:lnTo>
                  <a:lnTo>
                    <a:pt x="1399032" y="15240"/>
                  </a:lnTo>
                  <a:lnTo>
                    <a:pt x="1399032" y="362712"/>
                  </a:lnTo>
                  <a:lnTo>
                    <a:pt x="1365504" y="362712"/>
                  </a:lnTo>
                  <a:lnTo>
                    <a:pt x="1405128" y="438912"/>
                  </a:lnTo>
                  <a:lnTo>
                    <a:pt x="1432915" y="381000"/>
                  </a:lnTo>
                  <a:lnTo>
                    <a:pt x="1441704" y="3627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5596128" y="2353055"/>
              <a:ext cx="1539240" cy="307975"/>
            </a:xfrm>
            <a:custGeom>
              <a:avLst/>
              <a:gdLst/>
              <a:ahLst/>
              <a:cxnLst/>
              <a:rect l="l" t="t" r="r" b="b"/>
              <a:pathLst>
                <a:path w="1539240" h="307975">
                  <a:moveTo>
                    <a:pt x="1539240" y="0"/>
                  </a:moveTo>
                  <a:lnTo>
                    <a:pt x="79248" y="0"/>
                  </a:lnTo>
                  <a:lnTo>
                    <a:pt x="0" y="79248"/>
                  </a:lnTo>
                  <a:lnTo>
                    <a:pt x="0" y="307848"/>
                  </a:lnTo>
                  <a:lnTo>
                    <a:pt x="1463040" y="307848"/>
                  </a:lnTo>
                  <a:lnTo>
                    <a:pt x="1539240" y="231648"/>
                  </a:lnTo>
                  <a:lnTo>
                    <a:pt x="153924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5596128" y="2353055"/>
              <a:ext cx="1539240" cy="79375"/>
            </a:xfrm>
            <a:custGeom>
              <a:avLst/>
              <a:gdLst/>
              <a:ahLst/>
              <a:cxnLst/>
              <a:rect l="l" t="t" r="r" b="b"/>
              <a:pathLst>
                <a:path w="1539240" h="79375">
                  <a:moveTo>
                    <a:pt x="1539240" y="0"/>
                  </a:moveTo>
                  <a:lnTo>
                    <a:pt x="79248" y="0"/>
                  </a:lnTo>
                  <a:lnTo>
                    <a:pt x="0" y="79248"/>
                  </a:lnTo>
                  <a:lnTo>
                    <a:pt x="1463040" y="79248"/>
                  </a:lnTo>
                  <a:lnTo>
                    <a:pt x="153924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7059168" y="2353055"/>
              <a:ext cx="76200" cy="307975"/>
            </a:xfrm>
            <a:custGeom>
              <a:avLst/>
              <a:gdLst/>
              <a:ahLst/>
              <a:cxnLst/>
              <a:rect l="l" t="t" r="r" b="b"/>
              <a:pathLst>
                <a:path w="76200" h="307975">
                  <a:moveTo>
                    <a:pt x="76200" y="0"/>
                  </a:moveTo>
                  <a:lnTo>
                    <a:pt x="0" y="79248"/>
                  </a:lnTo>
                  <a:lnTo>
                    <a:pt x="0" y="307848"/>
                  </a:lnTo>
                  <a:lnTo>
                    <a:pt x="76200" y="231648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5596128" y="2353055"/>
              <a:ext cx="1539240" cy="307975"/>
            </a:xfrm>
            <a:custGeom>
              <a:avLst/>
              <a:gdLst/>
              <a:ahLst/>
              <a:cxnLst/>
              <a:rect l="l" t="t" r="r" b="b"/>
              <a:pathLst>
                <a:path w="1539240" h="307975">
                  <a:moveTo>
                    <a:pt x="79248" y="0"/>
                  </a:moveTo>
                  <a:lnTo>
                    <a:pt x="0" y="79248"/>
                  </a:lnTo>
                  <a:lnTo>
                    <a:pt x="0" y="307848"/>
                  </a:lnTo>
                  <a:lnTo>
                    <a:pt x="1463040" y="307848"/>
                  </a:lnTo>
                  <a:lnTo>
                    <a:pt x="1539240" y="231648"/>
                  </a:lnTo>
                  <a:lnTo>
                    <a:pt x="1539240" y="0"/>
                  </a:lnTo>
                  <a:lnTo>
                    <a:pt x="79248" y="0"/>
                  </a:lnTo>
                  <a:close/>
                </a:path>
                <a:path w="1539240" h="307975">
                  <a:moveTo>
                    <a:pt x="0" y="79248"/>
                  </a:moveTo>
                  <a:lnTo>
                    <a:pt x="1463040" y="79248"/>
                  </a:lnTo>
                  <a:lnTo>
                    <a:pt x="1539240" y="0"/>
                  </a:lnTo>
                </a:path>
                <a:path w="1539240" h="307975">
                  <a:moveTo>
                    <a:pt x="1463040" y="79248"/>
                  </a:moveTo>
                  <a:lnTo>
                    <a:pt x="1463040" y="307848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5946648" y="1853183"/>
              <a:ext cx="524510" cy="506095"/>
            </a:xfrm>
            <a:custGeom>
              <a:avLst/>
              <a:gdLst/>
              <a:ahLst/>
              <a:cxnLst/>
              <a:rect l="l" t="t" r="r" b="b"/>
              <a:pathLst>
                <a:path w="524510" h="506094">
                  <a:moveTo>
                    <a:pt x="76200" y="76200"/>
                  </a:moveTo>
                  <a:lnTo>
                    <a:pt x="67411" y="57912"/>
                  </a:lnTo>
                  <a:lnTo>
                    <a:pt x="39624" y="0"/>
                  </a:lnTo>
                  <a:lnTo>
                    <a:pt x="0" y="76200"/>
                  </a:lnTo>
                  <a:lnTo>
                    <a:pt x="33528" y="76200"/>
                  </a:lnTo>
                  <a:lnTo>
                    <a:pt x="33528" y="502920"/>
                  </a:lnTo>
                  <a:lnTo>
                    <a:pt x="36576" y="505968"/>
                  </a:lnTo>
                  <a:lnTo>
                    <a:pt x="39624" y="505968"/>
                  </a:lnTo>
                  <a:lnTo>
                    <a:pt x="42672" y="502920"/>
                  </a:lnTo>
                  <a:lnTo>
                    <a:pt x="42672" y="76200"/>
                  </a:lnTo>
                  <a:lnTo>
                    <a:pt x="76200" y="76200"/>
                  </a:lnTo>
                  <a:close/>
                </a:path>
                <a:path w="524510" h="506094">
                  <a:moveTo>
                    <a:pt x="524256" y="289560"/>
                  </a:moveTo>
                  <a:lnTo>
                    <a:pt x="515467" y="271272"/>
                  </a:lnTo>
                  <a:lnTo>
                    <a:pt x="487680" y="213360"/>
                  </a:lnTo>
                  <a:lnTo>
                    <a:pt x="448056" y="289560"/>
                  </a:lnTo>
                  <a:lnTo>
                    <a:pt x="481584" y="289560"/>
                  </a:lnTo>
                  <a:lnTo>
                    <a:pt x="481584" y="502920"/>
                  </a:lnTo>
                  <a:lnTo>
                    <a:pt x="484632" y="505968"/>
                  </a:lnTo>
                  <a:lnTo>
                    <a:pt x="490728" y="505968"/>
                  </a:lnTo>
                  <a:lnTo>
                    <a:pt x="490728" y="289560"/>
                  </a:lnTo>
                  <a:lnTo>
                    <a:pt x="524256" y="2895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4" name="object 114"/>
          <p:cNvGrpSpPr/>
          <p:nvPr/>
        </p:nvGrpSpPr>
        <p:grpSpPr>
          <a:xfrm>
            <a:off x="4524756" y="3147060"/>
            <a:ext cx="3804285" cy="2654935"/>
            <a:chOff x="4524756" y="3147060"/>
            <a:chExt cx="3804285" cy="2654935"/>
          </a:xfrm>
        </p:grpSpPr>
        <p:sp>
          <p:nvSpPr>
            <p:cNvPr id="115" name="object 115"/>
            <p:cNvSpPr/>
            <p:nvPr/>
          </p:nvSpPr>
          <p:spPr>
            <a:xfrm>
              <a:off x="8019288" y="3197351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8019288" y="3197351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237743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8257032" y="3197351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8019288" y="3197351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5" y="0"/>
                  </a:lnTo>
                  <a:close/>
                </a:path>
                <a:path w="304800" h="268604">
                  <a:moveTo>
                    <a:pt x="0" y="67056"/>
                  </a:moveTo>
                  <a:lnTo>
                    <a:pt x="237743" y="67056"/>
                  </a:lnTo>
                  <a:lnTo>
                    <a:pt x="304800" y="0"/>
                  </a:lnTo>
                </a:path>
                <a:path w="304800" h="268604">
                  <a:moveTo>
                    <a:pt x="237743" y="67056"/>
                  </a:moveTo>
                  <a:lnTo>
                    <a:pt x="237743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8016240" y="3523487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8016240" y="3523487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237743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8253984" y="3523487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8016240" y="3523487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5" y="0"/>
                  </a:lnTo>
                  <a:close/>
                </a:path>
                <a:path w="304800" h="268604">
                  <a:moveTo>
                    <a:pt x="0" y="67056"/>
                  </a:moveTo>
                  <a:lnTo>
                    <a:pt x="237743" y="67056"/>
                  </a:lnTo>
                  <a:lnTo>
                    <a:pt x="304800" y="0"/>
                  </a:lnTo>
                </a:path>
                <a:path w="304800" h="268604">
                  <a:moveTo>
                    <a:pt x="237743" y="67056"/>
                  </a:moveTo>
                  <a:lnTo>
                    <a:pt x="237743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8016240" y="3867911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8016240" y="3867911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237743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8253984" y="3867911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8016240" y="3867911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5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5" y="0"/>
                  </a:lnTo>
                  <a:close/>
                </a:path>
                <a:path w="304800" h="268604">
                  <a:moveTo>
                    <a:pt x="0" y="67055"/>
                  </a:moveTo>
                  <a:lnTo>
                    <a:pt x="237743" y="67055"/>
                  </a:lnTo>
                  <a:lnTo>
                    <a:pt x="304800" y="0"/>
                  </a:lnTo>
                </a:path>
                <a:path w="304800" h="268604">
                  <a:moveTo>
                    <a:pt x="237743" y="67055"/>
                  </a:moveTo>
                  <a:lnTo>
                    <a:pt x="237743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8016240" y="4197095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8016240" y="4197095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237743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8253984" y="4197095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8016240" y="4197095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5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5" y="0"/>
                  </a:lnTo>
                  <a:close/>
                </a:path>
                <a:path w="304800" h="268604">
                  <a:moveTo>
                    <a:pt x="0" y="67055"/>
                  </a:moveTo>
                  <a:lnTo>
                    <a:pt x="237743" y="67055"/>
                  </a:lnTo>
                  <a:lnTo>
                    <a:pt x="304800" y="0"/>
                  </a:lnTo>
                </a:path>
                <a:path w="304800" h="268604">
                  <a:moveTo>
                    <a:pt x="237743" y="67055"/>
                  </a:moveTo>
                  <a:lnTo>
                    <a:pt x="237743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8016240" y="4523231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8016240" y="4523231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237743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8253984" y="4523231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8016240" y="4523231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5" y="0"/>
                  </a:lnTo>
                  <a:close/>
                </a:path>
                <a:path w="304800" h="268604">
                  <a:moveTo>
                    <a:pt x="0" y="67056"/>
                  </a:moveTo>
                  <a:lnTo>
                    <a:pt x="237743" y="67056"/>
                  </a:lnTo>
                  <a:lnTo>
                    <a:pt x="304800" y="0"/>
                  </a:lnTo>
                </a:path>
                <a:path w="304800" h="268604">
                  <a:moveTo>
                    <a:pt x="237743" y="67056"/>
                  </a:moveTo>
                  <a:lnTo>
                    <a:pt x="237743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8013192" y="4849367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0" y="268223"/>
                  </a:lnTo>
                  <a:lnTo>
                    <a:pt x="237743" y="268223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8013192" y="4849367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237743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8250936" y="4849367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8013192" y="4849367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5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237743" y="268223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5" y="0"/>
                  </a:lnTo>
                  <a:close/>
                </a:path>
                <a:path w="304800" h="268604">
                  <a:moveTo>
                    <a:pt x="0" y="67055"/>
                  </a:moveTo>
                  <a:lnTo>
                    <a:pt x="237743" y="67055"/>
                  </a:lnTo>
                  <a:lnTo>
                    <a:pt x="304800" y="0"/>
                  </a:lnTo>
                </a:path>
                <a:path w="304800" h="268604">
                  <a:moveTo>
                    <a:pt x="237743" y="67055"/>
                  </a:moveTo>
                  <a:lnTo>
                    <a:pt x="237743" y="268223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9" name="object 13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24756" y="3147060"/>
              <a:ext cx="3797806" cy="2654806"/>
            </a:xfrm>
            <a:prstGeom prst="rect">
              <a:avLst/>
            </a:prstGeom>
          </p:spPr>
        </p:pic>
      </p:grpSp>
      <p:sp>
        <p:nvSpPr>
          <p:cNvPr id="140" name="object 140"/>
          <p:cNvSpPr txBox="1"/>
          <p:nvPr/>
        </p:nvSpPr>
        <p:spPr>
          <a:xfrm>
            <a:off x="1179067" y="5379211"/>
            <a:ext cx="7749540" cy="1037590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400">
                <a:latin typeface="Arial MT"/>
                <a:cs typeface="Arial MT"/>
              </a:rPr>
              <a:t>Crossbar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switch</a:t>
            </a:r>
            <a:endParaRPr sz="2400">
              <a:latin typeface="Arial MT"/>
              <a:cs typeface="Arial MT"/>
            </a:endParaRPr>
          </a:p>
          <a:p>
            <a:pPr marL="2974975">
              <a:lnSpc>
                <a:spcPct val="100000"/>
              </a:lnSpc>
              <a:spcBef>
                <a:spcPts val="1105"/>
              </a:spcBef>
            </a:pPr>
            <a:r>
              <a:rPr dirty="0" sz="2400">
                <a:latin typeface="Arial MT"/>
                <a:cs typeface="Arial MT"/>
              </a:rPr>
              <a:t>Multistage</a:t>
            </a:r>
            <a:r>
              <a:rPr dirty="0" sz="2400" spc="-1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Interconnection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Network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2" name="object 1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pc="-25"/>
              <a:t>15</a:t>
            </a:r>
          </a:p>
        </p:txBody>
      </p:sp>
      <p:sp>
        <p:nvSpPr>
          <p:cNvPr id="141" name="object 141"/>
          <p:cNvSpPr txBox="1"/>
          <p:nvPr/>
        </p:nvSpPr>
        <p:spPr>
          <a:xfrm>
            <a:off x="4952491" y="2861565"/>
            <a:ext cx="128270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b="1">
                <a:latin typeface="Arial"/>
                <a:cs typeface="Arial"/>
              </a:rPr>
              <a:t>2x2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crossbar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"/>
              <a:t>Direct </a:t>
            </a:r>
            <a:r>
              <a:rPr dirty="0" spc="-200"/>
              <a:t>Interconnect</a:t>
            </a:r>
            <a:r>
              <a:rPr dirty="0" spc="-105"/>
              <a:t> </a:t>
            </a:r>
            <a:r>
              <a:rPr dirty="0" spc="-220"/>
              <a:t>Topologies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10996" y="1601724"/>
            <a:ext cx="2346960" cy="277495"/>
            <a:chOff x="1110996" y="1601724"/>
            <a:chExt cx="2346960" cy="277495"/>
          </a:xfrm>
        </p:grpSpPr>
        <p:sp>
          <p:nvSpPr>
            <p:cNvPr id="4" name="object 4"/>
            <p:cNvSpPr/>
            <p:nvPr/>
          </p:nvSpPr>
          <p:spPr>
            <a:xfrm>
              <a:off x="1115567" y="1606295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15567" y="1606295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37744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A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53311" y="1606295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7A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15567" y="1606295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5">
                  <a:moveTo>
                    <a:pt x="0" y="67055"/>
                  </a:moveTo>
                  <a:lnTo>
                    <a:pt x="237744" y="67055"/>
                  </a:lnTo>
                  <a:lnTo>
                    <a:pt x="304800" y="0"/>
                  </a:lnTo>
                </a:path>
                <a:path w="304800" h="268605">
                  <a:moveTo>
                    <a:pt x="237744" y="67055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48584" y="1606295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48584" y="1606295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37744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A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86327" y="1606295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7A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48584" y="1606295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5">
                  <a:moveTo>
                    <a:pt x="0" y="67055"/>
                  </a:moveTo>
                  <a:lnTo>
                    <a:pt x="237744" y="67055"/>
                  </a:lnTo>
                  <a:lnTo>
                    <a:pt x="304800" y="0"/>
                  </a:lnTo>
                </a:path>
                <a:path w="304800" h="268605">
                  <a:moveTo>
                    <a:pt x="237744" y="67055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59736" y="1606295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59736" y="1606295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37744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A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697480" y="1606295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7A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459736" y="1606295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5">
                  <a:moveTo>
                    <a:pt x="0" y="67055"/>
                  </a:moveTo>
                  <a:lnTo>
                    <a:pt x="237744" y="67055"/>
                  </a:lnTo>
                  <a:lnTo>
                    <a:pt x="304800" y="0"/>
                  </a:lnTo>
                </a:path>
                <a:path w="304800" h="268605">
                  <a:moveTo>
                    <a:pt x="237744" y="67055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780031" y="1606295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307848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780031" y="1606295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40792" y="6705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A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020824" y="1606295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7A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780031" y="1606295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7"/>
                  </a:lnTo>
                  <a:lnTo>
                    <a:pt x="307848" y="0"/>
                  </a:lnTo>
                  <a:lnTo>
                    <a:pt x="67056" y="0"/>
                  </a:lnTo>
                  <a:close/>
                </a:path>
                <a:path w="307975" h="268605">
                  <a:moveTo>
                    <a:pt x="0" y="67055"/>
                  </a:moveTo>
                  <a:lnTo>
                    <a:pt x="240792" y="67055"/>
                  </a:lnTo>
                  <a:lnTo>
                    <a:pt x="307848" y="0"/>
                  </a:lnTo>
                </a:path>
                <a:path w="307975" h="268605">
                  <a:moveTo>
                    <a:pt x="240792" y="67055"/>
                  </a:moveTo>
                  <a:lnTo>
                    <a:pt x="240792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420367" y="1743455"/>
              <a:ext cx="1716405" cy="3175"/>
            </a:xfrm>
            <a:custGeom>
              <a:avLst/>
              <a:gdLst/>
              <a:ahLst/>
              <a:cxnLst/>
              <a:rect l="l" t="t" r="r" b="b"/>
              <a:pathLst>
                <a:path w="1716405" h="3175">
                  <a:moveTo>
                    <a:pt x="0" y="3048"/>
                  </a:moveTo>
                  <a:lnTo>
                    <a:pt x="359663" y="3048"/>
                  </a:lnTo>
                </a:path>
                <a:path w="1716405" h="3175">
                  <a:moveTo>
                    <a:pt x="667512" y="0"/>
                  </a:moveTo>
                  <a:lnTo>
                    <a:pt x="1030224" y="0"/>
                  </a:lnTo>
                </a:path>
                <a:path w="1716405" h="3175">
                  <a:moveTo>
                    <a:pt x="1353312" y="0"/>
                  </a:moveTo>
                  <a:lnTo>
                    <a:pt x="1716024" y="0"/>
                  </a:lnTo>
                </a:path>
              </a:pathLst>
            </a:custGeom>
            <a:ln w="396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3936492" y="1598676"/>
            <a:ext cx="1591310" cy="1536700"/>
            <a:chOff x="3936492" y="1598676"/>
            <a:chExt cx="1591310" cy="1536700"/>
          </a:xfrm>
        </p:grpSpPr>
        <p:sp>
          <p:nvSpPr>
            <p:cNvPr id="22" name="object 22"/>
            <p:cNvSpPr/>
            <p:nvPr/>
          </p:nvSpPr>
          <p:spPr>
            <a:xfrm>
              <a:off x="4096512" y="1737360"/>
              <a:ext cx="1259205" cy="1259205"/>
            </a:xfrm>
            <a:custGeom>
              <a:avLst/>
              <a:gdLst/>
              <a:ahLst/>
              <a:cxnLst/>
              <a:rect l="l" t="t" r="r" b="b"/>
              <a:pathLst>
                <a:path w="1259204" h="1259205">
                  <a:moveTo>
                    <a:pt x="313943" y="0"/>
                  </a:moveTo>
                  <a:lnTo>
                    <a:pt x="0" y="630936"/>
                  </a:lnTo>
                  <a:lnTo>
                    <a:pt x="313943" y="1258824"/>
                  </a:lnTo>
                  <a:lnTo>
                    <a:pt x="944879" y="1258824"/>
                  </a:lnTo>
                  <a:lnTo>
                    <a:pt x="1258824" y="630936"/>
                  </a:lnTo>
                  <a:lnTo>
                    <a:pt x="944879" y="0"/>
                  </a:lnTo>
                  <a:lnTo>
                    <a:pt x="313943" y="0"/>
                  </a:lnTo>
                  <a:close/>
                </a:path>
              </a:pathLst>
            </a:custGeom>
            <a:ln w="396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300728" y="2862072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307848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99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300728" y="2862072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40792" y="6705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AC83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541520" y="2862072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5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5" y="201167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7A51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300728" y="2862072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7"/>
                  </a:lnTo>
                  <a:lnTo>
                    <a:pt x="307848" y="0"/>
                  </a:lnTo>
                  <a:lnTo>
                    <a:pt x="67056" y="0"/>
                  </a:lnTo>
                  <a:close/>
                </a:path>
                <a:path w="307975" h="268605">
                  <a:moveTo>
                    <a:pt x="0" y="67055"/>
                  </a:moveTo>
                  <a:lnTo>
                    <a:pt x="240792" y="67055"/>
                  </a:lnTo>
                  <a:lnTo>
                    <a:pt x="307848" y="0"/>
                  </a:lnTo>
                </a:path>
                <a:path w="307975" h="268605">
                  <a:moveTo>
                    <a:pt x="240792" y="67055"/>
                  </a:moveTo>
                  <a:lnTo>
                    <a:pt x="240792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837176" y="1603248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307848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8" y="20116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99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837176" y="1603248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40791" y="6705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AC83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077968" y="1603248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7A51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837176" y="1603248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8" y="201167"/>
                  </a:lnTo>
                  <a:lnTo>
                    <a:pt x="307848" y="0"/>
                  </a:lnTo>
                  <a:lnTo>
                    <a:pt x="67056" y="0"/>
                  </a:lnTo>
                  <a:close/>
                </a:path>
                <a:path w="307975" h="268605">
                  <a:moveTo>
                    <a:pt x="0" y="67055"/>
                  </a:moveTo>
                  <a:lnTo>
                    <a:pt x="240791" y="67055"/>
                  </a:lnTo>
                  <a:lnTo>
                    <a:pt x="307848" y="0"/>
                  </a:lnTo>
                </a:path>
                <a:path w="307975" h="268605">
                  <a:moveTo>
                    <a:pt x="240791" y="67055"/>
                  </a:moveTo>
                  <a:lnTo>
                    <a:pt x="240791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215127" y="2240280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307848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8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99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215127" y="2240280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40792" y="67056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AC83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455920" y="2240280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5" y="201168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7A51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215127" y="2240280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8"/>
                  </a:lnTo>
                  <a:lnTo>
                    <a:pt x="307848" y="0"/>
                  </a:lnTo>
                  <a:lnTo>
                    <a:pt x="67056" y="0"/>
                  </a:lnTo>
                  <a:close/>
                </a:path>
                <a:path w="307975" h="268605">
                  <a:moveTo>
                    <a:pt x="0" y="67056"/>
                  </a:moveTo>
                  <a:lnTo>
                    <a:pt x="240792" y="67056"/>
                  </a:lnTo>
                  <a:lnTo>
                    <a:pt x="307848" y="0"/>
                  </a:lnTo>
                </a:path>
                <a:path w="307975" h="268605">
                  <a:moveTo>
                    <a:pt x="240792" y="67056"/>
                  </a:moveTo>
                  <a:lnTo>
                    <a:pt x="240792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910327" y="2862072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99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910327" y="2862072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37744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AC83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148072" y="2862072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5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5" y="201167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7A51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910327" y="2862072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5">
                  <a:moveTo>
                    <a:pt x="0" y="67055"/>
                  </a:moveTo>
                  <a:lnTo>
                    <a:pt x="237744" y="67055"/>
                  </a:lnTo>
                  <a:lnTo>
                    <a:pt x="304800" y="0"/>
                  </a:lnTo>
                </a:path>
                <a:path w="304800" h="268605">
                  <a:moveTo>
                    <a:pt x="237744" y="67055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300728" y="1603248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307848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99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300728" y="1603248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40792" y="6705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AC83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541520" y="1603248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5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5" y="201167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7A51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300728" y="1603248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7"/>
                  </a:lnTo>
                  <a:lnTo>
                    <a:pt x="307848" y="0"/>
                  </a:lnTo>
                  <a:lnTo>
                    <a:pt x="67056" y="0"/>
                  </a:lnTo>
                  <a:close/>
                </a:path>
                <a:path w="307975" h="268605">
                  <a:moveTo>
                    <a:pt x="0" y="67055"/>
                  </a:moveTo>
                  <a:lnTo>
                    <a:pt x="240792" y="67055"/>
                  </a:lnTo>
                  <a:lnTo>
                    <a:pt x="307848" y="0"/>
                  </a:lnTo>
                </a:path>
                <a:path w="307975" h="268605">
                  <a:moveTo>
                    <a:pt x="240792" y="67055"/>
                  </a:moveTo>
                  <a:lnTo>
                    <a:pt x="240792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941064" y="2240280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307848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8" y="201168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99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941064" y="2240280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40791" y="67056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AC83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181856" y="2240280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7A51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941064" y="2240280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8" y="201168"/>
                  </a:lnTo>
                  <a:lnTo>
                    <a:pt x="307848" y="0"/>
                  </a:lnTo>
                  <a:lnTo>
                    <a:pt x="67056" y="0"/>
                  </a:lnTo>
                  <a:close/>
                </a:path>
                <a:path w="307975" h="268605">
                  <a:moveTo>
                    <a:pt x="0" y="67056"/>
                  </a:moveTo>
                  <a:lnTo>
                    <a:pt x="240791" y="67056"/>
                  </a:lnTo>
                  <a:lnTo>
                    <a:pt x="307848" y="0"/>
                  </a:lnTo>
                </a:path>
                <a:path w="307975" h="268605">
                  <a:moveTo>
                    <a:pt x="240791" y="67056"/>
                  </a:moveTo>
                  <a:lnTo>
                    <a:pt x="240791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/>
          <p:cNvGrpSpPr/>
          <p:nvPr/>
        </p:nvGrpSpPr>
        <p:grpSpPr>
          <a:xfrm>
            <a:off x="6554724" y="1543812"/>
            <a:ext cx="2072639" cy="1728470"/>
            <a:chOff x="6554724" y="1543812"/>
            <a:chExt cx="2072639" cy="1728470"/>
          </a:xfrm>
        </p:grpSpPr>
        <p:sp>
          <p:nvSpPr>
            <p:cNvPr id="48" name="object 48"/>
            <p:cNvSpPr/>
            <p:nvPr/>
          </p:nvSpPr>
          <p:spPr>
            <a:xfrm>
              <a:off x="8260080" y="2913888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260080" y="2913888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497824" y="2913888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5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5" y="201167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260080" y="2913888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5" y="0"/>
                  </a:lnTo>
                  <a:close/>
                </a:path>
                <a:path w="304800" h="268605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5">
                  <a:moveTo>
                    <a:pt x="237744" y="67056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440168" y="2999232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0" y="268223"/>
                  </a:lnTo>
                  <a:lnTo>
                    <a:pt x="240791" y="268223"/>
                  </a:lnTo>
                  <a:lnTo>
                    <a:pt x="307848" y="20116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7440168" y="2999232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240791" y="6705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680960" y="2999232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440168" y="2999232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5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240791" y="268223"/>
                  </a:lnTo>
                  <a:lnTo>
                    <a:pt x="307848" y="201167"/>
                  </a:lnTo>
                  <a:lnTo>
                    <a:pt x="307848" y="0"/>
                  </a:lnTo>
                  <a:lnTo>
                    <a:pt x="67055" y="0"/>
                  </a:lnTo>
                  <a:close/>
                </a:path>
                <a:path w="307975" h="268604">
                  <a:moveTo>
                    <a:pt x="0" y="67055"/>
                  </a:moveTo>
                  <a:lnTo>
                    <a:pt x="240791" y="67055"/>
                  </a:lnTo>
                  <a:lnTo>
                    <a:pt x="307848" y="0"/>
                  </a:lnTo>
                </a:path>
                <a:path w="307975" h="268604">
                  <a:moveTo>
                    <a:pt x="240791" y="67055"/>
                  </a:moveTo>
                  <a:lnTo>
                    <a:pt x="240791" y="268223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809232" y="1682496"/>
              <a:ext cx="1564005" cy="1316990"/>
            </a:xfrm>
            <a:custGeom>
              <a:avLst/>
              <a:gdLst/>
              <a:ahLst/>
              <a:cxnLst/>
              <a:rect l="l" t="t" r="r" b="b"/>
              <a:pathLst>
                <a:path w="1564004" h="1316989">
                  <a:moveTo>
                    <a:pt x="173736" y="1316736"/>
                  </a:moveTo>
                  <a:lnTo>
                    <a:pt x="1450848" y="0"/>
                  </a:lnTo>
                </a:path>
                <a:path w="1564004" h="1316989">
                  <a:moveTo>
                    <a:pt x="57912" y="149351"/>
                  </a:moveTo>
                  <a:lnTo>
                    <a:pt x="1508760" y="1231391"/>
                  </a:lnTo>
                </a:path>
                <a:path w="1564004" h="1316989">
                  <a:moveTo>
                    <a:pt x="786384" y="0"/>
                  </a:moveTo>
                  <a:lnTo>
                    <a:pt x="786384" y="1316736"/>
                  </a:lnTo>
                </a:path>
                <a:path w="1564004" h="1316989">
                  <a:moveTo>
                    <a:pt x="0" y="707136"/>
                  </a:moveTo>
                  <a:lnTo>
                    <a:pt x="1563624" y="707136"/>
                  </a:lnTo>
                </a:path>
              </a:pathLst>
            </a:custGeom>
            <a:ln w="396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6559296" y="2255520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559296" y="2255520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240792" y="6705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800088" y="2255520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5">
                  <a:moveTo>
                    <a:pt x="67055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5" y="201167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559296" y="2255520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67055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7"/>
                  </a:lnTo>
                  <a:lnTo>
                    <a:pt x="307848" y="0"/>
                  </a:lnTo>
                  <a:lnTo>
                    <a:pt x="67055" y="0"/>
                  </a:lnTo>
                  <a:close/>
                </a:path>
                <a:path w="307975" h="268605">
                  <a:moveTo>
                    <a:pt x="0" y="67055"/>
                  </a:moveTo>
                  <a:lnTo>
                    <a:pt x="240792" y="67055"/>
                  </a:lnTo>
                  <a:lnTo>
                    <a:pt x="307848" y="0"/>
                  </a:lnTo>
                </a:path>
                <a:path w="307975" h="268605">
                  <a:moveTo>
                    <a:pt x="240792" y="67055"/>
                  </a:moveTo>
                  <a:lnTo>
                    <a:pt x="240792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6675120" y="1588008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8" y="20116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6675120" y="1588008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240791" y="6705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915912" y="1588008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675120" y="1588008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67055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8" y="201167"/>
                  </a:lnTo>
                  <a:lnTo>
                    <a:pt x="307848" y="0"/>
                  </a:lnTo>
                  <a:lnTo>
                    <a:pt x="67055" y="0"/>
                  </a:lnTo>
                  <a:close/>
                </a:path>
                <a:path w="307975" h="268605">
                  <a:moveTo>
                    <a:pt x="0" y="67055"/>
                  </a:moveTo>
                  <a:lnTo>
                    <a:pt x="240791" y="67055"/>
                  </a:lnTo>
                  <a:lnTo>
                    <a:pt x="307848" y="0"/>
                  </a:lnTo>
                </a:path>
                <a:path w="307975" h="268605">
                  <a:moveTo>
                    <a:pt x="240791" y="67055"/>
                  </a:moveTo>
                  <a:lnTo>
                    <a:pt x="240791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7440168" y="2255520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8" y="20116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7440168" y="2255520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240791" y="6705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7680960" y="2255520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7440168" y="2255520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67055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8" y="201167"/>
                  </a:lnTo>
                  <a:lnTo>
                    <a:pt x="307848" y="0"/>
                  </a:lnTo>
                  <a:lnTo>
                    <a:pt x="67055" y="0"/>
                  </a:lnTo>
                  <a:close/>
                </a:path>
                <a:path w="307975" h="268605">
                  <a:moveTo>
                    <a:pt x="0" y="67055"/>
                  </a:moveTo>
                  <a:lnTo>
                    <a:pt x="240791" y="67055"/>
                  </a:lnTo>
                  <a:lnTo>
                    <a:pt x="307848" y="0"/>
                  </a:lnTo>
                </a:path>
                <a:path w="307975" h="268605">
                  <a:moveTo>
                    <a:pt x="240791" y="67055"/>
                  </a:moveTo>
                  <a:lnTo>
                    <a:pt x="240791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440168" y="1548384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8" y="20116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7440168" y="1548384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09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240791" y="6705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7680960" y="1548384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7440168" y="1548384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67055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8" y="201167"/>
                  </a:lnTo>
                  <a:lnTo>
                    <a:pt x="307848" y="0"/>
                  </a:lnTo>
                  <a:lnTo>
                    <a:pt x="67055" y="0"/>
                  </a:lnTo>
                  <a:close/>
                </a:path>
                <a:path w="307975" h="268605">
                  <a:moveTo>
                    <a:pt x="0" y="67055"/>
                  </a:moveTo>
                  <a:lnTo>
                    <a:pt x="240791" y="67055"/>
                  </a:lnTo>
                  <a:lnTo>
                    <a:pt x="307848" y="0"/>
                  </a:lnTo>
                </a:path>
                <a:path w="307975" h="268605">
                  <a:moveTo>
                    <a:pt x="240791" y="67055"/>
                  </a:moveTo>
                  <a:lnTo>
                    <a:pt x="240791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8317992" y="2255520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304800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8317992" y="2255520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237743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8555736" y="2255520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317992" y="2255520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67055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5" y="0"/>
                  </a:lnTo>
                  <a:close/>
                </a:path>
                <a:path w="304800" h="268605">
                  <a:moveTo>
                    <a:pt x="0" y="67055"/>
                  </a:moveTo>
                  <a:lnTo>
                    <a:pt x="237743" y="67055"/>
                  </a:lnTo>
                  <a:lnTo>
                    <a:pt x="304800" y="0"/>
                  </a:lnTo>
                </a:path>
                <a:path w="304800" h="268605">
                  <a:moveTo>
                    <a:pt x="237743" y="67055"/>
                  </a:moveTo>
                  <a:lnTo>
                    <a:pt x="237743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8162544" y="1548384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8" y="20116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8162544" y="1548384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09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240791" y="6705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8403336" y="1548384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5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8162544" y="1548384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67055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8" y="201167"/>
                  </a:lnTo>
                  <a:lnTo>
                    <a:pt x="307848" y="0"/>
                  </a:lnTo>
                  <a:lnTo>
                    <a:pt x="67055" y="0"/>
                  </a:lnTo>
                  <a:close/>
                </a:path>
                <a:path w="307975" h="268605">
                  <a:moveTo>
                    <a:pt x="0" y="67055"/>
                  </a:moveTo>
                  <a:lnTo>
                    <a:pt x="240791" y="67055"/>
                  </a:lnTo>
                  <a:lnTo>
                    <a:pt x="307848" y="0"/>
                  </a:lnTo>
                </a:path>
                <a:path w="307975" h="268605">
                  <a:moveTo>
                    <a:pt x="240791" y="67055"/>
                  </a:moveTo>
                  <a:lnTo>
                    <a:pt x="240791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809232" y="2913888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809232" y="2913888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046976" y="2913888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5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5" y="201167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809232" y="2913888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5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5">
                  <a:moveTo>
                    <a:pt x="237744" y="67056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5" name="object 85"/>
          <p:cNvGrpSpPr/>
          <p:nvPr/>
        </p:nvGrpSpPr>
        <p:grpSpPr>
          <a:xfrm>
            <a:off x="964691" y="2482596"/>
            <a:ext cx="1789430" cy="1746885"/>
            <a:chOff x="964691" y="2482596"/>
            <a:chExt cx="1789430" cy="1746885"/>
          </a:xfrm>
        </p:grpSpPr>
        <p:sp>
          <p:nvSpPr>
            <p:cNvPr id="86" name="object 86"/>
            <p:cNvSpPr/>
            <p:nvPr/>
          </p:nvSpPr>
          <p:spPr>
            <a:xfrm>
              <a:off x="1103376" y="2621280"/>
              <a:ext cx="1506220" cy="1481455"/>
            </a:xfrm>
            <a:custGeom>
              <a:avLst/>
              <a:gdLst/>
              <a:ahLst/>
              <a:cxnLst/>
              <a:rect l="l" t="t" r="r" b="b"/>
              <a:pathLst>
                <a:path w="1506220" h="1481454">
                  <a:moveTo>
                    <a:pt x="24384" y="18287"/>
                  </a:moveTo>
                  <a:lnTo>
                    <a:pt x="1493520" y="30480"/>
                  </a:lnTo>
                </a:path>
                <a:path w="1506220" h="1481454">
                  <a:moveTo>
                    <a:pt x="0" y="740664"/>
                  </a:moveTo>
                  <a:lnTo>
                    <a:pt x="1505712" y="768096"/>
                  </a:lnTo>
                </a:path>
                <a:path w="1506220" h="1481454">
                  <a:moveTo>
                    <a:pt x="9143" y="1469136"/>
                  </a:moveTo>
                  <a:lnTo>
                    <a:pt x="1493520" y="1469136"/>
                  </a:lnTo>
                </a:path>
                <a:path w="1506220" h="1481454">
                  <a:moveTo>
                    <a:pt x="24384" y="18287"/>
                  </a:moveTo>
                  <a:lnTo>
                    <a:pt x="24384" y="1469136"/>
                  </a:lnTo>
                </a:path>
                <a:path w="1506220" h="1481454">
                  <a:moveTo>
                    <a:pt x="777240" y="30480"/>
                  </a:moveTo>
                  <a:lnTo>
                    <a:pt x="777240" y="1481328"/>
                  </a:lnTo>
                </a:path>
                <a:path w="1506220" h="1481454">
                  <a:moveTo>
                    <a:pt x="1493520" y="0"/>
                  </a:moveTo>
                  <a:lnTo>
                    <a:pt x="1493520" y="1450848"/>
                  </a:lnTo>
                </a:path>
              </a:pathLst>
            </a:custGeom>
            <a:ln w="396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972312" y="2487168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307847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7" y="201168"/>
                  </a:lnTo>
                  <a:lnTo>
                    <a:pt x="3078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972312" y="2487168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7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40791" y="67056"/>
                  </a:lnTo>
                  <a:lnTo>
                    <a:pt x="307847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213104" y="2487168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5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972312" y="2487168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5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40791" y="268224"/>
                  </a:lnTo>
                  <a:lnTo>
                    <a:pt x="307847" y="201168"/>
                  </a:lnTo>
                  <a:lnTo>
                    <a:pt x="307847" y="0"/>
                  </a:lnTo>
                  <a:lnTo>
                    <a:pt x="67056" y="0"/>
                  </a:lnTo>
                  <a:close/>
                </a:path>
                <a:path w="307975" h="268605">
                  <a:moveTo>
                    <a:pt x="0" y="67056"/>
                  </a:moveTo>
                  <a:lnTo>
                    <a:pt x="240791" y="67056"/>
                  </a:lnTo>
                  <a:lnTo>
                    <a:pt x="307847" y="0"/>
                  </a:lnTo>
                </a:path>
                <a:path w="307975" h="268605">
                  <a:moveTo>
                    <a:pt x="240791" y="67056"/>
                  </a:moveTo>
                  <a:lnTo>
                    <a:pt x="240791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728216" y="2505456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728216" y="2505456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965960" y="2505456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5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728216" y="2505456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5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5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5">
                  <a:moveTo>
                    <a:pt x="237744" y="67056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2441448" y="2514600"/>
              <a:ext cx="307975" cy="271780"/>
            </a:xfrm>
            <a:custGeom>
              <a:avLst/>
              <a:gdLst/>
              <a:ahLst/>
              <a:cxnLst/>
              <a:rect l="l" t="t" r="r" b="b"/>
              <a:pathLst>
                <a:path w="307975" h="271780">
                  <a:moveTo>
                    <a:pt x="307847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71272"/>
                  </a:lnTo>
                  <a:lnTo>
                    <a:pt x="240791" y="271272"/>
                  </a:lnTo>
                  <a:lnTo>
                    <a:pt x="307847" y="204215"/>
                  </a:lnTo>
                  <a:lnTo>
                    <a:pt x="3078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2441448" y="2514600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7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40791" y="67055"/>
                  </a:lnTo>
                  <a:lnTo>
                    <a:pt x="307847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2682240" y="2514600"/>
              <a:ext cx="67310" cy="271780"/>
            </a:xfrm>
            <a:custGeom>
              <a:avLst/>
              <a:gdLst/>
              <a:ahLst/>
              <a:cxnLst/>
              <a:rect l="l" t="t" r="r" b="b"/>
              <a:pathLst>
                <a:path w="67310" h="271780">
                  <a:moveTo>
                    <a:pt x="67056" y="0"/>
                  </a:moveTo>
                  <a:lnTo>
                    <a:pt x="0" y="67055"/>
                  </a:lnTo>
                  <a:lnTo>
                    <a:pt x="0" y="271272"/>
                  </a:lnTo>
                  <a:lnTo>
                    <a:pt x="67056" y="204215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2441448" y="2514600"/>
              <a:ext cx="307975" cy="271780"/>
            </a:xfrm>
            <a:custGeom>
              <a:avLst/>
              <a:gdLst/>
              <a:ahLst/>
              <a:cxnLst/>
              <a:rect l="l" t="t" r="r" b="b"/>
              <a:pathLst>
                <a:path w="307975" h="271780">
                  <a:moveTo>
                    <a:pt x="67056" y="0"/>
                  </a:moveTo>
                  <a:lnTo>
                    <a:pt x="0" y="67055"/>
                  </a:lnTo>
                  <a:lnTo>
                    <a:pt x="0" y="271272"/>
                  </a:lnTo>
                  <a:lnTo>
                    <a:pt x="240791" y="271272"/>
                  </a:lnTo>
                  <a:lnTo>
                    <a:pt x="307847" y="204215"/>
                  </a:lnTo>
                  <a:lnTo>
                    <a:pt x="307847" y="0"/>
                  </a:lnTo>
                  <a:lnTo>
                    <a:pt x="67056" y="0"/>
                  </a:lnTo>
                  <a:close/>
                </a:path>
                <a:path w="307975" h="271780">
                  <a:moveTo>
                    <a:pt x="0" y="67055"/>
                  </a:moveTo>
                  <a:lnTo>
                    <a:pt x="240791" y="67055"/>
                  </a:lnTo>
                  <a:lnTo>
                    <a:pt x="307847" y="0"/>
                  </a:lnTo>
                </a:path>
                <a:path w="307975" h="271780">
                  <a:moveTo>
                    <a:pt x="240791" y="67055"/>
                  </a:moveTo>
                  <a:lnTo>
                    <a:pt x="240791" y="271272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969262" y="3212592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9" y="0"/>
                  </a:moveTo>
                  <a:lnTo>
                    <a:pt x="67057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40793" y="268224"/>
                  </a:lnTo>
                  <a:lnTo>
                    <a:pt x="307849" y="201168"/>
                  </a:lnTo>
                  <a:lnTo>
                    <a:pt x="30784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969262" y="3212592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9" y="0"/>
                  </a:moveTo>
                  <a:lnTo>
                    <a:pt x="67057" y="0"/>
                  </a:lnTo>
                  <a:lnTo>
                    <a:pt x="0" y="67056"/>
                  </a:lnTo>
                  <a:lnTo>
                    <a:pt x="240793" y="67056"/>
                  </a:lnTo>
                  <a:lnTo>
                    <a:pt x="307849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1210056" y="3212592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69262" y="3212592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7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40793" y="268224"/>
                  </a:lnTo>
                  <a:lnTo>
                    <a:pt x="307849" y="201168"/>
                  </a:lnTo>
                  <a:lnTo>
                    <a:pt x="307849" y="0"/>
                  </a:lnTo>
                  <a:lnTo>
                    <a:pt x="67057" y="0"/>
                  </a:lnTo>
                  <a:close/>
                </a:path>
                <a:path w="307975" h="268604">
                  <a:moveTo>
                    <a:pt x="0" y="67056"/>
                  </a:moveTo>
                  <a:lnTo>
                    <a:pt x="240793" y="67056"/>
                  </a:lnTo>
                  <a:lnTo>
                    <a:pt x="307849" y="0"/>
                  </a:lnTo>
                </a:path>
                <a:path w="307975" h="268604">
                  <a:moveTo>
                    <a:pt x="240793" y="67056"/>
                  </a:moveTo>
                  <a:lnTo>
                    <a:pt x="240793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1725168" y="3230880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725168" y="3230880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962912" y="3230880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725168" y="3230880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4">
                  <a:moveTo>
                    <a:pt x="237744" y="67056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2438400" y="3243072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2438400" y="3243072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37744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2676144" y="3243072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2438400" y="3243072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5"/>
                  </a:moveTo>
                  <a:lnTo>
                    <a:pt x="237744" y="67055"/>
                  </a:lnTo>
                  <a:lnTo>
                    <a:pt x="304800" y="0"/>
                  </a:lnTo>
                </a:path>
                <a:path w="304800" h="268604">
                  <a:moveTo>
                    <a:pt x="237744" y="67055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969262" y="3928872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9" y="0"/>
                  </a:moveTo>
                  <a:lnTo>
                    <a:pt x="67057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40793" y="268224"/>
                  </a:lnTo>
                  <a:lnTo>
                    <a:pt x="307849" y="201167"/>
                  </a:lnTo>
                  <a:lnTo>
                    <a:pt x="30784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969262" y="3928872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9" y="0"/>
                  </a:moveTo>
                  <a:lnTo>
                    <a:pt x="67057" y="0"/>
                  </a:lnTo>
                  <a:lnTo>
                    <a:pt x="0" y="67055"/>
                  </a:lnTo>
                  <a:lnTo>
                    <a:pt x="240793" y="67055"/>
                  </a:lnTo>
                  <a:lnTo>
                    <a:pt x="307849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10056" y="3928872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969262" y="3928872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7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40793" y="268224"/>
                  </a:lnTo>
                  <a:lnTo>
                    <a:pt x="307849" y="201167"/>
                  </a:lnTo>
                  <a:lnTo>
                    <a:pt x="307849" y="0"/>
                  </a:lnTo>
                  <a:lnTo>
                    <a:pt x="67057" y="0"/>
                  </a:lnTo>
                  <a:close/>
                </a:path>
                <a:path w="307975" h="268604">
                  <a:moveTo>
                    <a:pt x="0" y="67055"/>
                  </a:moveTo>
                  <a:lnTo>
                    <a:pt x="240793" y="67055"/>
                  </a:lnTo>
                  <a:lnTo>
                    <a:pt x="307849" y="0"/>
                  </a:lnTo>
                </a:path>
                <a:path w="307975" h="268604">
                  <a:moveTo>
                    <a:pt x="240793" y="67055"/>
                  </a:moveTo>
                  <a:lnTo>
                    <a:pt x="240793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725168" y="3944112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725168" y="3944112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37744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962912" y="3944112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725168" y="3944112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5"/>
                  </a:moveTo>
                  <a:lnTo>
                    <a:pt x="237744" y="67055"/>
                  </a:lnTo>
                  <a:lnTo>
                    <a:pt x="304800" y="0"/>
                  </a:lnTo>
                </a:path>
                <a:path w="304800" h="268604">
                  <a:moveTo>
                    <a:pt x="237744" y="67055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2438400" y="3956304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2438400" y="3956304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2676144" y="3956304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2438400" y="3956304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4">
                  <a:moveTo>
                    <a:pt x="237744" y="67056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3" name="object 123"/>
          <p:cNvGrpSpPr/>
          <p:nvPr/>
        </p:nvGrpSpPr>
        <p:grpSpPr>
          <a:xfrm>
            <a:off x="733044" y="4719828"/>
            <a:ext cx="2014855" cy="1892935"/>
            <a:chOff x="733044" y="4719828"/>
            <a:chExt cx="2014855" cy="1892935"/>
          </a:xfrm>
        </p:grpSpPr>
        <p:sp>
          <p:nvSpPr>
            <p:cNvPr id="124" name="object 124"/>
            <p:cNvSpPr/>
            <p:nvPr/>
          </p:nvSpPr>
          <p:spPr>
            <a:xfrm>
              <a:off x="1100328" y="5004815"/>
              <a:ext cx="1506220" cy="1481455"/>
            </a:xfrm>
            <a:custGeom>
              <a:avLst/>
              <a:gdLst/>
              <a:ahLst/>
              <a:cxnLst/>
              <a:rect l="l" t="t" r="r" b="b"/>
              <a:pathLst>
                <a:path w="1506220" h="1481454">
                  <a:moveTo>
                    <a:pt x="24384" y="18287"/>
                  </a:moveTo>
                  <a:lnTo>
                    <a:pt x="1490472" y="30479"/>
                  </a:lnTo>
                </a:path>
                <a:path w="1506220" h="1481454">
                  <a:moveTo>
                    <a:pt x="0" y="740663"/>
                  </a:moveTo>
                  <a:lnTo>
                    <a:pt x="1505711" y="768095"/>
                  </a:lnTo>
                </a:path>
                <a:path w="1506220" h="1481454">
                  <a:moveTo>
                    <a:pt x="9143" y="1469135"/>
                  </a:moveTo>
                  <a:lnTo>
                    <a:pt x="1490472" y="1469135"/>
                  </a:lnTo>
                </a:path>
                <a:path w="1506220" h="1481454">
                  <a:moveTo>
                    <a:pt x="24384" y="18287"/>
                  </a:moveTo>
                  <a:lnTo>
                    <a:pt x="24384" y="1469135"/>
                  </a:lnTo>
                </a:path>
                <a:path w="1506220" h="1481454">
                  <a:moveTo>
                    <a:pt x="777240" y="30479"/>
                  </a:moveTo>
                  <a:lnTo>
                    <a:pt x="777240" y="1481327"/>
                  </a:lnTo>
                </a:path>
                <a:path w="1506220" h="1481454">
                  <a:moveTo>
                    <a:pt x="1490472" y="0"/>
                  </a:moveTo>
                  <a:lnTo>
                    <a:pt x="1490472" y="1450847"/>
                  </a:lnTo>
                </a:path>
              </a:pathLst>
            </a:custGeom>
            <a:ln w="396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969262" y="4870703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9" y="0"/>
                  </a:moveTo>
                  <a:lnTo>
                    <a:pt x="67057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40793" y="268224"/>
                  </a:lnTo>
                  <a:lnTo>
                    <a:pt x="307849" y="201168"/>
                  </a:lnTo>
                  <a:lnTo>
                    <a:pt x="30784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969262" y="4870703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9" y="0"/>
                  </a:moveTo>
                  <a:lnTo>
                    <a:pt x="67057" y="0"/>
                  </a:lnTo>
                  <a:lnTo>
                    <a:pt x="0" y="67056"/>
                  </a:lnTo>
                  <a:lnTo>
                    <a:pt x="240793" y="67056"/>
                  </a:lnTo>
                  <a:lnTo>
                    <a:pt x="307849" y="0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210056" y="4870703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969262" y="4870703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7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40793" y="268224"/>
                  </a:lnTo>
                  <a:lnTo>
                    <a:pt x="307849" y="201168"/>
                  </a:lnTo>
                  <a:lnTo>
                    <a:pt x="307849" y="0"/>
                  </a:lnTo>
                  <a:lnTo>
                    <a:pt x="67057" y="0"/>
                  </a:lnTo>
                  <a:close/>
                </a:path>
                <a:path w="307975" h="268604">
                  <a:moveTo>
                    <a:pt x="0" y="67056"/>
                  </a:moveTo>
                  <a:lnTo>
                    <a:pt x="240793" y="67056"/>
                  </a:lnTo>
                  <a:lnTo>
                    <a:pt x="307849" y="0"/>
                  </a:lnTo>
                </a:path>
                <a:path w="307975" h="268604">
                  <a:moveTo>
                    <a:pt x="240793" y="67056"/>
                  </a:moveTo>
                  <a:lnTo>
                    <a:pt x="240793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2438400" y="4898135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2438400" y="4898135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2676144" y="4898135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2438400" y="4898135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4">
                  <a:moveTo>
                    <a:pt x="237744" y="67056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966215" y="5596127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7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7" y="201168"/>
                  </a:lnTo>
                  <a:lnTo>
                    <a:pt x="30784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966215" y="5596127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7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40792" y="67056"/>
                  </a:lnTo>
                  <a:lnTo>
                    <a:pt x="307847" y="0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207008" y="5596127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5" y="201168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966215" y="5596127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7" y="201168"/>
                  </a:lnTo>
                  <a:lnTo>
                    <a:pt x="307847" y="0"/>
                  </a:lnTo>
                  <a:lnTo>
                    <a:pt x="67056" y="0"/>
                  </a:lnTo>
                  <a:close/>
                </a:path>
                <a:path w="307975" h="268604">
                  <a:moveTo>
                    <a:pt x="0" y="67056"/>
                  </a:moveTo>
                  <a:lnTo>
                    <a:pt x="240792" y="67056"/>
                  </a:lnTo>
                  <a:lnTo>
                    <a:pt x="307847" y="0"/>
                  </a:lnTo>
                </a:path>
                <a:path w="307975" h="268604">
                  <a:moveTo>
                    <a:pt x="240792" y="67056"/>
                  </a:moveTo>
                  <a:lnTo>
                    <a:pt x="240792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1722120" y="5614415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3"/>
                  </a:lnTo>
                  <a:lnTo>
                    <a:pt x="237744" y="268223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1722120" y="5614415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37744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959864" y="5614415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1722120" y="5614415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237744" y="268223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5"/>
                  </a:moveTo>
                  <a:lnTo>
                    <a:pt x="237744" y="67055"/>
                  </a:lnTo>
                  <a:lnTo>
                    <a:pt x="304800" y="0"/>
                  </a:lnTo>
                </a:path>
                <a:path w="304800" h="268604">
                  <a:moveTo>
                    <a:pt x="237744" y="67055"/>
                  </a:moveTo>
                  <a:lnTo>
                    <a:pt x="237744" y="268223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435351" y="5623559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3"/>
                  </a:lnTo>
                  <a:lnTo>
                    <a:pt x="237744" y="268223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435351" y="5623559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673095" y="5623559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3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435351" y="5623559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3"/>
                  </a:lnTo>
                  <a:lnTo>
                    <a:pt x="237744" y="268223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4">
                  <a:moveTo>
                    <a:pt x="237744" y="67056"/>
                  </a:moveTo>
                  <a:lnTo>
                    <a:pt x="237744" y="268223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966215" y="6309359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7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3"/>
                  </a:lnTo>
                  <a:lnTo>
                    <a:pt x="240792" y="268223"/>
                  </a:lnTo>
                  <a:lnTo>
                    <a:pt x="307847" y="201167"/>
                  </a:lnTo>
                  <a:lnTo>
                    <a:pt x="30784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966215" y="6309359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7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40792" y="67055"/>
                  </a:lnTo>
                  <a:lnTo>
                    <a:pt x="307847" y="0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1207008" y="6309359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5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67055" y="201167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966215" y="6309359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240792" y="268223"/>
                  </a:lnTo>
                  <a:lnTo>
                    <a:pt x="307847" y="201167"/>
                  </a:lnTo>
                  <a:lnTo>
                    <a:pt x="307847" y="0"/>
                  </a:lnTo>
                  <a:lnTo>
                    <a:pt x="67056" y="0"/>
                  </a:lnTo>
                  <a:close/>
                </a:path>
                <a:path w="307975" h="268604">
                  <a:moveTo>
                    <a:pt x="0" y="67055"/>
                  </a:moveTo>
                  <a:lnTo>
                    <a:pt x="240792" y="67055"/>
                  </a:lnTo>
                  <a:lnTo>
                    <a:pt x="307847" y="0"/>
                  </a:lnTo>
                </a:path>
                <a:path w="307975" h="268604">
                  <a:moveTo>
                    <a:pt x="240792" y="67055"/>
                  </a:moveTo>
                  <a:lnTo>
                    <a:pt x="240792" y="268223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722120" y="6327647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3"/>
                  </a:lnTo>
                  <a:lnTo>
                    <a:pt x="237744" y="268223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722120" y="6327647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37744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959864" y="6327647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1722120" y="6327647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237744" y="268223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5"/>
                  </a:moveTo>
                  <a:lnTo>
                    <a:pt x="237744" y="67055"/>
                  </a:lnTo>
                  <a:lnTo>
                    <a:pt x="304800" y="0"/>
                  </a:lnTo>
                </a:path>
                <a:path w="304800" h="268604">
                  <a:moveTo>
                    <a:pt x="237744" y="67055"/>
                  </a:moveTo>
                  <a:lnTo>
                    <a:pt x="237744" y="268223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435351" y="6339839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435351" y="6339839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673095" y="6339839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9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435351" y="6339839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9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4">
                  <a:moveTo>
                    <a:pt x="237744" y="67056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752856" y="4739639"/>
              <a:ext cx="1844039" cy="1689100"/>
            </a:xfrm>
            <a:custGeom>
              <a:avLst/>
              <a:gdLst/>
              <a:ahLst/>
              <a:cxnLst/>
              <a:rect l="l" t="t" r="r" b="b"/>
              <a:pathLst>
                <a:path w="1844039" h="1689100">
                  <a:moveTo>
                    <a:pt x="527304" y="152400"/>
                  </a:moveTo>
                  <a:lnTo>
                    <a:pt x="572620" y="129144"/>
                  </a:lnTo>
                  <a:lnTo>
                    <a:pt x="617290" y="108091"/>
                  </a:lnTo>
                  <a:lnTo>
                    <a:pt x="661558" y="89154"/>
                  </a:lnTo>
                  <a:lnTo>
                    <a:pt x="705668" y="72248"/>
                  </a:lnTo>
                  <a:lnTo>
                    <a:pt x="749862" y="57291"/>
                  </a:lnTo>
                  <a:lnTo>
                    <a:pt x="794385" y="44196"/>
                  </a:lnTo>
                  <a:lnTo>
                    <a:pt x="839478" y="32878"/>
                  </a:lnTo>
                  <a:lnTo>
                    <a:pt x="885387" y="23255"/>
                  </a:lnTo>
                  <a:lnTo>
                    <a:pt x="932354" y="15239"/>
                  </a:lnTo>
                  <a:lnTo>
                    <a:pt x="980623" y="8748"/>
                  </a:lnTo>
                  <a:lnTo>
                    <a:pt x="1030437" y="3697"/>
                  </a:lnTo>
                  <a:lnTo>
                    <a:pt x="1082039" y="0"/>
                  </a:lnTo>
                  <a:lnTo>
                    <a:pt x="1134069" y="1274"/>
                  </a:lnTo>
                  <a:lnTo>
                    <a:pt x="1185915" y="1780"/>
                  </a:lnTo>
                  <a:lnTo>
                    <a:pt x="1237579" y="2029"/>
                  </a:lnTo>
                  <a:lnTo>
                    <a:pt x="1289060" y="2535"/>
                  </a:lnTo>
                  <a:lnTo>
                    <a:pt x="1340358" y="3810"/>
                  </a:lnTo>
                  <a:lnTo>
                    <a:pt x="1391472" y="6364"/>
                  </a:lnTo>
                  <a:lnTo>
                    <a:pt x="1442405" y="10710"/>
                  </a:lnTo>
                  <a:lnTo>
                    <a:pt x="1493154" y="17361"/>
                  </a:lnTo>
                  <a:lnTo>
                    <a:pt x="1543720" y="26828"/>
                  </a:lnTo>
                  <a:lnTo>
                    <a:pt x="1594104" y="39624"/>
                  </a:lnTo>
                  <a:lnTo>
                    <a:pt x="1656207" y="65912"/>
                  </a:lnTo>
                  <a:lnTo>
                    <a:pt x="1685401" y="81200"/>
                  </a:lnTo>
                  <a:lnTo>
                    <a:pt x="1716024" y="94487"/>
                  </a:lnTo>
                  <a:lnTo>
                    <a:pt x="1748790" y="126873"/>
                  </a:lnTo>
                  <a:lnTo>
                    <a:pt x="1786127" y="152400"/>
                  </a:lnTo>
                  <a:lnTo>
                    <a:pt x="1818751" y="166116"/>
                  </a:lnTo>
                  <a:lnTo>
                    <a:pt x="1827657" y="166116"/>
                  </a:lnTo>
                  <a:lnTo>
                    <a:pt x="1830276" y="166116"/>
                  </a:lnTo>
                  <a:lnTo>
                    <a:pt x="1844039" y="179832"/>
                  </a:lnTo>
                </a:path>
                <a:path w="1844039" h="1689100">
                  <a:moveTo>
                    <a:pt x="512063" y="844296"/>
                  </a:moveTo>
                  <a:lnTo>
                    <a:pt x="557307" y="831437"/>
                  </a:lnTo>
                  <a:lnTo>
                    <a:pt x="601979" y="816863"/>
                  </a:lnTo>
                  <a:lnTo>
                    <a:pt x="646652" y="802290"/>
                  </a:lnTo>
                  <a:lnTo>
                    <a:pt x="691896" y="789432"/>
                  </a:lnTo>
                  <a:lnTo>
                    <a:pt x="735090" y="765668"/>
                  </a:lnTo>
                  <a:lnTo>
                    <a:pt x="779384" y="750711"/>
                  </a:lnTo>
                  <a:lnTo>
                    <a:pt x="824865" y="742188"/>
                  </a:lnTo>
                  <a:lnTo>
                    <a:pt x="871615" y="737728"/>
                  </a:lnTo>
                  <a:lnTo>
                    <a:pt x="919719" y="734963"/>
                  </a:lnTo>
                  <a:lnTo>
                    <a:pt x="969263" y="731520"/>
                  </a:lnTo>
                  <a:lnTo>
                    <a:pt x="1022213" y="733181"/>
                  </a:lnTo>
                  <a:lnTo>
                    <a:pt x="1075017" y="734568"/>
                  </a:lnTo>
                  <a:lnTo>
                    <a:pt x="1127711" y="735771"/>
                  </a:lnTo>
                  <a:lnTo>
                    <a:pt x="1180331" y="736884"/>
                  </a:lnTo>
                  <a:lnTo>
                    <a:pt x="1232916" y="737997"/>
                  </a:lnTo>
                  <a:lnTo>
                    <a:pt x="1285500" y="739200"/>
                  </a:lnTo>
                  <a:lnTo>
                    <a:pt x="1338120" y="740587"/>
                  </a:lnTo>
                  <a:lnTo>
                    <a:pt x="1390814" y="742248"/>
                  </a:lnTo>
                  <a:lnTo>
                    <a:pt x="1443618" y="744275"/>
                  </a:lnTo>
                  <a:lnTo>
                    <a:pt x="1496568" y="746760"/>
                  </a:lnTo>
                  <a:lnTo>
                    <a:pt x="1541044" y="755733"/>
                  </a:lnTo>
                  <a:lnTo>
                    <a:pt x="1586106" y="775386"/>
                  </a:lnTo>
                  <a:lnTo>
                    <a:pt x="1630875" y="800307"/>
                  </a:lnTo>
                  <a:lnTo>
                    <a:pt x="1674473" y="825081"/>
                  </a:lnTo>
                  <a:lnTo>
                    <a:pt x="1716024" y="844296"/>
                  </a:lnTo>
                  <a:lnTo>
                    <a:pt x="1734931" y="862060"/>
                  </a:lnTo>
                  <a:lnTo>
                    <a:pt x="1743837" y="869823"/>
                  </a:lnTo>
                  <a:lnTo>
                    <a:pt x="1753314" y="874728"/>
                  </a:lnTo>
                  <a:lnTo>
                    <a:pt x="1773936" y="883920"/>
                  </a:lnTo>
                </a:path>
                <a:path w="1844039" h="1689100">
                  <a:moveTo>
                    <a:pt x="527304" y="1606296"/>
                  </a:moveTo>
                  <a:lnTo>
                    <a:pt x="573267" y="1585984"/>
                  </a:lnTo>
                  <a:lnTo>
                    <a:pt x="617037" y="1560112"/>
                  </a:lnTo>
                  <a:lnTo>
                    <a:pt x="660074" y="1531900"/>
                  </a:lnTo>
                  <a:lnTo>
                    <a:pt x="703844" y="1504565"/>
                  </a:lnTo>
                  <a:lnTo>
                    <a:pt x="749807" y="1481328"/>
                  </a:lnTo>
                  <a:lnTo>
                    <a:pt x="800873" y="1461885"/>
                  </a:lnTo>
                  <a:lnTo>
                    <a:pt x="851439" y="1444656"/>
                  </a:lnTo>
                  <a:lnTo>
                    <a:pt x="901862" y="1429571"/>
                  </a:lnTo>
                  <a:lnTo>
                    <a:pt x="952500" y="1416558"/>
                  </a:lnTo>
                  <a:lnTo>
                    <a:pt x="1003708" y="1405544"/>
                  </a:lnTo>
                  <a:lnTo>
                    <a:pt x="1055846" y="1396460"/>
                  </a:lnTo>
                  <a:lnTo>
                    <a:pt x="1109269" y="1389233"/>
                  </a:lnTo>
                  <a:lnTo>
                    <a:pt x="1164336" y="1383792"/>
                  </a:lnTo>
                  <a:lnTo>
                    <a:pt x="1217958" y="1391031"/>
                  </a:lnTo>
                  <a:lnTo>
                    <a:pt x="1267177" y="1398016"/>
                  </a:lnTo>
                  <a:lnTo>
                    <a:pt x="1313688" y="1405509"/>
                  </a:lnTo>
                  <a:lnTo>
                    <a:pt x="1359182" y="1414272"/>
                  </a:lnTo>
                  <a:lnTo>
                    <a:pt x="1405353" y="1425067"/>
                  </a:lnTo>
                  <a:lnTo>
                    <a:pt x="1453895" y="1438656"/>
                  </a:lnTo>
                  <a:lnTo>
                    <a:pt x="1497710" y="1452372"/>
                  </a:lnTo>
                  <a:lnTo>
                    <a:pt x="1539239" y="1466088"/>
                  </a:lnTo>
                  <a:lnTo>
                    <a:pt x="1550574" y="1471041"/>
                  </a:lnTo>
                  <a:lnTo>
                    <a:pt x="1563624" y="1475994"/>
                  </a:lnTo>
                  <a:lnTo>
                    <a:pt x="1574387" y="1479804"/>
                  </a:lnTo>
                  <a:lnTo>
                    <a:pt x="1578864" y="1481328"/>
                  </a:lnTo>
                  <a:lnTo>
                    <a:pt x="1605057" y="1501902"/>
                  </a:lnTo>
                  <a:lnTo>
                    <a:pt x="1630679" y="1515618"/>
                  </a:lnTo>
                  <a:lnTo>
                    <a:pt x="1658588" y="1525905"/>
                  </a:lnTo>
                  <a:lnTo>
                    <a:pt x="1691639" y="1536192"/>
                  </a:lnTo>
                  <a:lnTo>
                    <a:pt x="1712404" y="1555051"/>
                  </a:lnTo>
                  <a:lnTo>
                    <a:pt x="1734311" y="1568196"/>
                  </a:lnTo>
                  <a:lnTo>
                    <a:pt x="1758505" y="1579054"/>
                  </a:lnTo>
                  <a:lnTo>
                    <a:pt x="1786127" y="1591056"/>
                  </a:lnTo>
                </a:path>
                <a:path w="1844039" h="1689100">
                  <a:moveTo>
                    <a:pt x="222503" y="344424"/>
                  </a:moveTo>
                  <a:lnTo>
                    <a:pt x="182710" y="386291"/>
                  </a:lnTo>
                  <a:lnTo>
                    <a:pt x="150029" y="429429"/>
                  </a:lnTo>
                  <a:lnTo>
                    <a:pt x="121919" y="473583"/>
                  </a:lnTo>
                  <a:lnTo>
                    <a:pt x="95842" y="518498"/>
                  </a:lnTo>
                  <a:lnTo>
                    <a:pt x="69257" y="563922"/>
                  </a:lnTo>
                  <a:lnTo>
                    <a:pt x="39623" y="609600"/>
                  </a:lnTo>
                  <a:lnTo>
                    <a:pt x="27003" y="653557"/>
                  </a:lnTo>
                  <a:lnTo>
                    <a:pt x="16382" y="696087"/>
                  </a:lnTo>
                  <a:lnTo>
                    <a:pt x="7477" y="740330"/>
                  </a:lnTo>
                  <a:lnTo>
                    <a:pt x="0" y="789432"/>
                  </a:lnTo>
                  <a:lnTo>
                    <a:pt x="293" y="814428"/>
                  </a:lnTo>
                  <a:lnTo>
                    <a:pt x="259" y="846832"/>
                  </a:lnTo>
                  <a:lnTo>
                    <a:pt x="139" y="885698"/>
                  </a:lnTo>
                  <a:lnTo>
                    <a:pt x="176" y="930080"/>
                  </a:lnTo>
                  <a:lnTo>
                    <a:pt x="611" y="979033"/>
                  </a:lnTo>
                  <a:lnTo>
                    <a:pt x="1686" y="1031613"/>
                  </a:lnTo>
                  <a:lnTo>
                    <a:pt x="3643" y="1086872"/>
                  </a:lnTo>
                  <a:lnTo>
                    <a:pt x="6725" y="1143866"/>
                  </a:lnTo>
                  <a:lnTo>
                    <a:pt x="11172" y="1201649"/>
                  </a:lnTo>
                  <a:lnTo>
                    <a:pt x="17228" y="1259275"/>
                  </a:lnTo>
                  <a:lnTo>
                    <a:pt x="25134" y="1315800"/>
                  </a:lnTo>
                  <a:lnTo>
                    <a:pt x="35131" y="1370277"/>
                  </a:lnTo>
                  <a:lnTo>
                    <a:pt x="47463" y="1421762"/>
                  </a:lnTo>
                  <a:lnTo>
                    <a:pt x="62370" y="1469309"/>
                  </a:lnTo>
                  <a:lnTo>
                    <a:pt x="80096" y="1511971"/>
                  </a:lnTo>
                  <a:lnTo>
                    <a:pt x="100881" y="1548805"/>
                  </a:lnTo>
                  <a:lnTo>
                    <a:pt x="124968" y="1578864"/>
                  </a:lnTo>
                  <a:lnTo>
                    <a:pt x="134826" y="1608010"/>
                  </a:lnTo>
                  <a:lnTo>
                    <a:pt x="179831" y="1661160"/>
                  </a:lnTo>
                  <a:lnTo>
                    <a:pt x="217550" y="1686020"/>
                  </a:lnTo>
                  <a:lnTo>
                    <a:pt x="222503" y="1688592"/>
                  </a:lnTo>
                </a:path>
                <a:path w="1844039" h="1689100">
                  <a:moveTo>
                    <a:pt x="1011936" y="359664"/>
                  </a:moveTo>
                  <a:lnTo>
                    <a:pt x="992421" y="388798"/>
                  </a:lnTo>
                  <a:lnTo>
                    <a:pt x="983837" y="401859"/>
                  </a:lnTo>
                  <a:lnTo>
                    <a:pt x="982253" y="403919"/>
                  </a:lnTo>
                  <a:lnTo>
                    <a:pt x="983742" y="400050"/>
                  </a:lnTo>
                  <a:lnTo>
                    <a:pt x="984373" y="395323"/>
                  </a:lnTo>
                  <a:lnTo>
                    <a:pt x="980217" y="394811"/>
                  </a:lnTo>
                  <a:lnTo>
                    <a:pt x="941832" y="426720"/>
                  </a:lnTo>
                  <a:lnTo>
                    <a:pt x="914400" y="461771"/>
                  </a:lnTo>
                  <a:lnTo>
                    <a:pt x="901541" y="479869"/>
                  </a:lnTo>
                  <a:lnTo>
                    <a:pt x="886968" y="496824"/>
                  </a:lnTo>
                  <a:lnTo>
                    <a:pt x="882872" y="508206"/>
                  </a:lnTo>
                  <a:lnTo>
                    <a:pt x="879347" y="519303"/>
                  </a:lnTo>
                  <a:lnTo>
                    <a:pt x="875823" y="529828"/>
                  </a:lnTo>
                  <a:lnTo>
                    <a:pt x="851582" y="569499"/>
                  </a:lnTo>
                  <a:lnTo>
                    <a:pt x="844296" y="579120"/>
                  </a:lnTo>
                  <a:lnTo>
                    <a:pt x="834866" y="604027"/>
                  </a:lnTo>
                  <a:lnTo>
                    <a:pt x="826007" y="632079"/>
                  </a:lnTo>
                  <a:lnTo>
                    <a:pt x="819435" y="654986"/>
                  </a:lnTo>
                  <a:lnTo>
                    <a:pt x="816863" y="664464"/>
                  </a:lnTo>
                  <a:lnTo>
                    <a:pt x="813023" y="713667"/>
                  </a:lnTo>
                  <a:lnTo>
                    <a:pt x="808817" y="762560"/>
                  </a:lnTo>
                  <a:lnTo>
                    <a:pt x="804245" y="811197"/>
                  </a:lnTo>
                  <a:lnTo>
                    <a:pt x="799307" y="859633"/>
                  </a:lnTo>
                  <a:lnTo>
                    <a:pt x="794004" y="907923"/>
                  </a:lnTo>
                  <a:lnTo>
                    <a:pt x="788334" y="956121"/>
                  </a:lnTo>
                  <a:lnTo>
                    <a:pt x="782299" y="1004282"/>
                  </a:lnTo>
                  <a:lnTo>
                    <a:pt x="775898" y="1052462"/>
                  </a:lnTo>
                  <a:lnTo>
                    <a:pt x="769132" y="1100715"/>
                  </a:lnTo>
                  <a:lnTo>
                    <a:pt x="762000" y="1149096"/>
                  </a:lnTo>
                  <a:lnTo>
                    <a:pt x="764641" y="1194585"/>
                  </a:lnTo>
                  <a:lnTo>
                    <a:pt x="767332" y="1240749"/>
                  </a:lnTo>
                  <a:lnTo>
                    <a:pt x="770665" y="1287179"/>
                  </a:lnTo>
                  <a:lnTo>
                    <a:pt x="775229" y="1333468"/>
                  </a:lnTo>
                  <a:lnTo>
                    <a:pt x="781617" y="1379208"/>
                  </a:lnTo>
                  <a:lnTo>
                    <a:pt x="790418" y="1423990"/>
                  </a:lnTo>
                  <a:lnTo>
                    <a:pt x="802224" y="1467407"/>
                  </a:lnTo>
                  <a:lnTo>
                    <a:pt x="817627" y="1509051"/>
                  </a:lnTo>
                  <a:lnTo>
                    <a:pt x="837216" y="1548514"/>
                  </a:lnTo>
                  <a:lnTo>
                    <a:pt x="861583" y="1585388"/>
                  </a:lnTo>
                  <a:lnTo>
                    <a:pt x="891320" y="1619266"/>
                  </a:lnTo>
                  <a:lnTo>
                    <a:pt x="927016" y="1649739"/>
                  </a:lnTo>
                  <a:lnTo>
                    <a:pt x="969263" y="1676400"/>
                  </a:lnTo>
                </a:path>
                <a:path w="1844039" h="1689100">
                  <a:moveTo>
                    <a:pt x="1676400" y="414528"/>
                  </a:moveTo>
                  <a:lnTo>
                    <a:pt x="1652479" y="457443"/>
                  </a:lnTo>
                  <a:lnTo>
                    <a:pt x="1625486" y="498896"/>
                  </a:lnTo>
                  <a:lnTo>
                    <a:pt x="1596737" y="539617"/>
                  </a:lnTo>
                  <a:lnTo>
                    <a:pt x="1567549" y="580339"/>
                  </a:lnTo>
                  <a:lnTo>
                    <a:pt x="1539239" y="621792"/>
                  </a:lnTo>
                  <a:lnTo>
                    <a:pt x="1522285" y="658272"/>
                  </a:lnTo>
                  <a:lnTo>
                    <a:pt x="1511045" y="703326"/>
                  </a:lnTo>
                  <a:lnTo>
                    <a:pt x="1503235" y="749522"/>
                  </a:lnTo>
                  <a:lnTo>
                    <a:pt x="1496568" y="789432"/>
                  </a:lnTo>
                  <a:lnTo>
                    <a:pt x="1499178" y="839738"/>
                  </a:lnTo>
                  <a:lnTo>
                    <a:pt x="1501196" y="890128"/>
                  </a:lnTo>
                  <a:lnTo>
                    <a:pt x="1503045" y="940689"/>
                  </a:lnTo>
                  <a:lnTo>
                    <a:pt x="1505147" y="991503"/>
                  </a:lnTo>
                  <a:lnTo>
                    <a:pt x="1507927" y="1042655"/>
                  </a:lnTo>
                  <a:lnTo>
                    <a:pt x="1511808" y="1094232"/>
                  </a:lnTo>
                  <a:lnTo>
                    <a:pt x="1518321" y="1146305"/>
                  </a:lnTo>
                  <a:lnTo>
                    <a:pt x="1529207" y="1198059"/>
                  </a:lnTo>
                  <a:lnTo>
                    <a:pt x="1543238" y="1249546"/>
                  </a:lnTo>
                  <a:lnTo>
                    <a:pt x="1559189" y="1300820"/>
                  </a:lnTo>
                  <a:lnTo>
                    <a:pt x="1575833" y="1351934"/>
                  </a:lnTo>
                  <a:lnTo>
                    <a:pt x="1591944" y="1402941"/>
                  </a:lnTo>
                  <a:lnTo>
                    <a:pt x="1606295" y="1453896"/>
                  </a:lnTo>
                  <a:lnTo>
                    <a:pt x="1626315" y="1491325"/>
                  </a:lnTo>
                  <a:lnTo>
                    <a:pt x="1658185" y="1529486"/>
                  </a:lnTo>
                  <a:lnTo>
                    <a:pt x="1692542" y="1566915"/>
                  </a:lnTo>
                  <a:lnTo>
                    <a:pt x="1720022" y="1602150"/>
                  </a:lnTo>
                  <a:lnTo>
                    <a:pt x="1731264" y="1633728"/>
                  </a:lnTo>
                </a:path>
              </a:pathLst>
            </a:custGeom>
            <a:ln w="396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725168" y="4888991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3"/>
                  </a:lnTo>
                  <a:lnTo>
                    <a:pt x="237744" y="268223"/>
                  </a:lnTo>
                  <a:lnTo>
                    <a:pt x="304800" y="201167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725168" y="4888991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37744" y="67055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1962912" y="4888991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1725168" y="4888991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237744" y="268223"/>
                  </a:lnTo>
                  <a:lnTo>
                    <a:pt x="304800" y="201167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5"/>
                  </a:moveTo>
                  <a:lnTo>
                    <a:pt x="237744" y="67055"/>
                  </a:lnTo>
                  <a:lnTo>
                    <a:pt x="304800" y="0"/>
                  </a:lnTo>
                </a:path>
                <a:path w="304800" h="268604">
                  <a:moveTo>
                    <a:pt x="237744" y="67055"/>
                  </a:moveTo>
                  <a:lnTo>
                    <a:pt x="237744" y="268223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2" name="object 162"/>
          <p:cNvSpPr txBox="1"/>
          <p:nvPr/>
        </p:nvSpPr>
        <p:spPr>
          <a:xfrm>
            <a:off x="1828292" y="1855723"/>
            <a:ext cx="876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 MT"/>
                <a:cs typeface="Arial MT"/>
              </a:rPr>
              <a:t>Linear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5226811" y="1697228"/>
            <a:ext cx="6527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Arial MT"/>
                <a:cs typeface="Arial MT"/>
              </a:rPr>
              <a:t>Ring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8515604" y="1480820"/>
            <a:ext cx="5867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Arial MT"/>
                <a:cs typeface="Arial MT"/>
              </a:rPr>
              <a:t>Star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4732020" y="4591812"/>
            <a:ext cx="1024255" cy="957580"/>
            <a:chOff x="4732020" y="4591812"/>
            <a:chExt cx="1024255" cy="957580"/>
          </a:xfrm>
        </p:grpSpPr>
        <p:sp>
          <p:nvSpPr>
            <p:cNvPr id="166" name="object 166"/>
            <p:cNvSpPr/>
            <p:nvPr/>
          </p:nvSpPr>
          <p:spPr>
            <a:xfrm>
              <a:off x="5446775" y="4608576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5446775" y="4608576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AD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5684519" y="4608576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5" y="201168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28A3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5446775" y="4608576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4">
                  <a:moveTo>
                    <a:pt x="237744" y="67056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4739639" y="4596384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8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8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4739639" y="4596384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40792" y="67056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5AD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4980431" y="4596384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5" y="201168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28A3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4739639" y="4596384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8"/>
                  </a:lnTo>
                  <a:lnTo>
                    <a:pt x="307848" y="0"/>
                  </a:lnTo>
                  <a:lnTo>
                    <a:pt x="67056" y="0"/>
                  </a:lnTo>
                  <a:close/>
                </a:path>
                <a:path w="307975" h="268604">
                  <a:moveTo>
                    <a:pt x="0" y="67056"/>
                  </a:moveTo>
                  <a:lnTo>
                    <a:pt x="240792" y="67056"/>
                  </a:lnTo>
                  <a:lnTo>
                    <a:pt x="307848" y="0"/>
                  </a:lnTo>
                </a:path>
                <a:path w="307975" h="268604">
                  <a:moveTo>
                    <a:pt x="240792" y="67056"/>
                  </a:moveTo>
                  <a:lnTo>
                    <a:pt x="240792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443727" y="5276088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443727" y="5276088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6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AD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5681471" y="5276088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5" y="201168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28A3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5443727" y="5276088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6" y="0"/>
                  </a:lnTo>
                  <a:close/>
                </a:path>
                <a:path w="304800" h="268604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4">
                  <a:moveTo>
                    <a:pt x="237744" y="67056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4736591" y="5263896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8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0" y="268223"/>
                  </a:lnTo>
                  <a:lnTo>
                    <a:pt x="240792" y="268223"/>
                  </a:lnTo>
                  <a:lnTo>
                    <a:pt x="307848" y="20116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4736591" y="5263896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6" y="0"/>
                  </a:lnTo>
                  <a:lnTo>
                    <a:pt x="0" y="67055"/>
                  </a:lnTo>
                  <a:lnTo>
                    <a:pt x="240792" y="6705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5AD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4977383" y="5263896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10" h="268604">
                  <a:moveTo>
                    <a:pt x="67055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67055" y="201167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28A3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4736591" y="5263896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240792" y="268223"/>
                  </a:lnTo>
                  <a:lnTo>
                    <a:pt x="307848" y="201167"/>
                  </a:lnTo>
                  <a:lnTo>
                    <a:pt x="307848" y="0"/>
                  </a:lnTo>
                  <a:lnTo>
                    <a:pt x="67056" y="0"/>
                  </a:lnTo>
                  <a:close/>
                </a:path>
                <a:path w="307975" h="268604">
                  <a:moveTo>
                    <a:pt x="0" y="67055"/>
                  </a:moveTo>
                  <a:lnTo>
                    <a:pt x="240792" y="67055"/>
                  </a:lnTo>
                  <a:lnTo>
                    <a:pt x="307848" y="0"/>
                  </a:lnTo>
                </a:path>
                <a:path w="307975" h="268604">
                  <a:moveTo>
                    <a:pt x="240792" y="67055"/>
                  </a:moveTo>
                  <a:lnTo>
                    <a:pt x="240792" y="268223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4837175" y="4730496"/>
              <a:ext cx="771525" cy="741045"/>
            </a:xfrm>
            <a:custGeom>
              <a:avLst/>
              <a:gdLst/>
              <a:ahLst/>
              <a:cxnLst/>
              <a:rect l="l" t="t" r="r" b="b"/>
              <a:pathLst>
                <a:path w="771525" h="741045">
                  <a:moveTo>
                    <a:pt x="207263" y="0"/>
                  </a:moveTo>
                  <a:lnTo>
                    <a:pt x="606551" y="0"/>
                  </a:lnTo>
                </a:path>
                <a:path w="771525" h="741045">
                  <a:moveTo>
                    <a:pt x="207263" y="740663"/>
                  </a:moveTo>
                  <a:lnTo>
                    <a:pt x="606551" y="740663"/>
                  </a:lnTo>
                </a:path>
                <a:path w="771525" h="741045">
                  <a:moveTo>
                    <a:pt x="0" y="134111"/>
                  </a:moveTo>
                  <a:lnTo>
                    <a:pt x="0" y="533399"/>
                  </a:lnTo>
                </a:path>
                <a:path w="771525" h="741045">
                  <a:moveTo>
                    <a:pt x="771144" y="146303"/>
                  </a:moveTo>
                  <a:lnTo>
                    <a:pt x="771144" y="545591"/>
                  </a:lnTo>
                </a:path>
              </a:pathLst>
            </a:custGeom>
            <a:ln w="396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3" name="object 183"/>
          <p:cNvSpPr txBox="1"/>
          <p:nvPr/>
        </p:nvSpPr>
        <p:spPr>
          <a:xfrm>
            <a:off x="2770123" y="3041396"/>
            <a:ext cx="5100955" cy="2881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">
              <a:lnSpc>
                <a:spcPts val="2580"/>
              </a:lnSpc>
              <a:spcBef>
                <a:spcPts val="100"/>
              </a:spcBef>
            </a:pPr>
            <a:r>
              <a:rPr dirty="0" sz="2400" spc="-25">
                <a:latin typeface="Arial MT"/>
                <a:cs typeface="Arial MT"/>
              </a:rPr>
              <a:t>2D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580"/>
              </a:lnSpc>
            </a:pPr>
            <a:r>
              <a:rPr dirty="0" sz="2400" spc="-20">
                <a:latin typeface="Arial MT"/>
                <a:cs typeface="Arial MT"/>
              </a:rPr>
              <a:t>Mesh</a:t>
            </a:r>
            <a:endParaRPr sz="2400">
              <a:latin typeface="Arial MT"/>
              <a:cs typeface="Arial MT"/>
            </a:endParaRPr>
          </a:p>
          <a:p>
            <a:pPr marL="1533525">
              <a:lnSpc>
                <a:spcPct val="100000"/>
              </a:lnSpc>
              <a:spcBef>
                <a:spcPts val="885"/>
              </a:spcBef>
            </a:pPr>
            <a:r>
              <a:rPr dirty="0" sz="2400" spc="-20">
                <a:latin typeface="Arial MT"/>
                <a:cs typeface="Arial MT"/>
              </a:rPr>
              <a:t>Hypercube</a:t>
            </a:r>
            <a:r>
              <a:rPr dirty="0" sz="2400" spc="-4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(binary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n-cube)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400">
              <a:latin typeface="Arial MT"/>
              <a:cs typeface="Arial MT"/>
            </a:endParaRPr>
          </a:p>
          <a:p>
            <a:pPr algn="ctr" marL="217804">
              <a:lnSpc>
                <a:spcPct val="100000"/>
              </a:lnSpc>
              <a:spcBef>
                <a:spcPts val="5"/>
              </a:spcBef>
              <a:tabLst>
                <a:tab pos="2427605" algn="l"/>
              </a:tabLst>
            </a:pPr>
            <a:r>
              <a:rPr dirty="0" sz="1800" spc="-25" b="1">
                <a:latin typeface="Arial"/>
                <a:cs typeface="Arial"/>
              </a:rPr>
              <a:t>n=2</a:t>
            </a:r>
            <a:r>
              <a:rPr dirty="0" sz="1800" b="1">
                <a:latin typeface="Arial"/>
                <a:cs typeface="Arial"/>
              </a:rPr>
              <a:t>	</a:t>
            </a:r>
            <a:r>
              <a:rPr dirty="0" sz="1800" spc="-25" b="1">
                <a:latin typeface="Arial"/>
                <a:cs typeface="Arial"/>
              </a:rPr>
              <a:t>n=3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8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</a:pPr>
            <a:r>
              <a:rPr dirty="0" sz="2400" spc="-10">
                <a:latin typeface="Arial MT"/>
                <a:cs typeface="Arial MT"/>
              </a:rPr>
              <a:t>Torus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6944868" y="4213860"/>
            <a:ext cx="1408430" cy="1332230"/>
            <a:chOff x="6944868" y="4213860"/>
            <a:chExt cx="1408430" cy="1332230"/>
          </a:xfrm>
        </p:grpSpPr>
        <p:sp>
          <p:nvSpPr>
            <p:cNvPr id="185" name="object 185"/>
            <p:cNvSpPr/>
            <p:nvPr/>
          </p:nvSpPr>
          <p:spPr>
            <a:xfrm>
              <a:off x="7656575" y="4605527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8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8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7656575" y="4605527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240792" y="67056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5AD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7897367" y="4605527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5" y="201168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28A3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7656575" y="4605527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8"/>
                  </a:lnTo>
                  <a:lnTo>
                    <a:pt x="307848" y="0"/>
                  </a:lnTo>
                  <a:lnTo>
                    <a:pt x="67055" y="0"/>
                  </a:lnTo>
                  <a:close/>
                </a:path>
                <a:path w="307975" h="268604">
                  <a:moveTo>
                    <a:pt x="0" y="67056"/>
                  </a:moveTo>
                  <a:lnTo>
                    <a:pt x="240792" y="67056"/>
                  </a:lnTo>
                  <a:lnTo>
                    <a:pt x="307848" y="0"/>
                  </a:lnTo>
                </a:path>
                <a:path w="307975" h="268604">
                  <a:moveTo>
                    <a:pt x="240792" y="67056"/>
                  </a:moveTo>
                  <a:lnTo>
                    <a:pt x="240792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6952487" y="4593335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6952487" y="4593335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237743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AD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7190231" y="4593335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28A3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6952487" y="4593335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5" y="0"/>
                  </a:lnTo>
                  <a:close/>
                </a:path>
                <a:path w="304800" h="268604">
                  <a:moveTo>
                    <a:pt x="0" y="67056"/>
                  </a:moveTo>
                  <a:lnTo>
                    <a:pt x="237743" y="67056"/>
                  </a:lnTo>
                  <a:lnTo>
                    <a:pt x="304800" y="0"/>
                  </a:lnTo>
                </a:path>
                <a:path w="304800" h="268604">
                  <a:moveTo>
                    <a:pt x="237743" y="67056"/>
                  </a:moveTo>
                  <a:lnTo>
                    <a:pt x="237743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7653527" y="5273039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8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8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7653527" y="5273039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240792" y="67056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5AD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7894319" y="5273039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5" y="201168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28A3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7653527" y="5273039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8"/>
                  </a:lnTo>
                  <a:lnTo>
                    <a:pt x="307848" y="0"/>
                  </a:lnTo>
                  <a:lnTo>
                    <a:pt x="67055" y="0"/>
                  </a:lnTo>
                  <a:close/>
                </a:path>
                <a:path w="307975" h="268604">
                  <a:moveTo>
                    <a:pt x="0" y="67056"/>
                  </a:moveTo>
                  <a:lnTo>
                    <a:pt x="240792" y="67056"/>
                  </a:lnTo>
                  <a:lnTo>
                    <a:pt x="307848" y="0"/>
                  </a:lnTo>
                </a:path>
                <a:path w="307975" h="268604">
                  <a:moveTo>
                    <a:pt x="240792" y="67056"/>
                  </a:moveTo>
                  <a:lnTo>
                    <a:pt x="240792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6949439" y="5260847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6949439" y="5260847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237743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AD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7187183" y="5260847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6" y="201168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28A3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6949439" y="5260847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3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5" y="0"/>
                  </a:lnTo>
                  <a:close/>
                </a:path>
                <a:path w="304800" h="268604">
                  <a:moveTo>
                    <a:pt x="0" y="67056"/>
                  </a:moveTo>
                  <a:lnTo>
                    <a:pt x="237743" y="67056"/>
                  </a:lnTo>
                  <a:lnTo>
                    <a:pt x="304800" y="0"/>
                  </a:lnTo>
                </a:path>
                <a:path w="304800" h="268604">
                  <a:moveTo>
                    <a:pt x="237743" y="67056"/>
                  </a:moveTo>
                  <a:lnTo>
                    <a:pt x="237743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7050023" y="4727447"/>
              <a:ext cx="771525" cy="741045"/>
            </a:xfrm>
            <a:custGeom>
              <a:avLst/>
              <a:gdLst/>
              <a:ahLst/>
              <a:cxnLst/>
              <a:rect l="l" t="t" r="r" b="b"/>
              <a:pathLst>
                <a:path w="771525" h="741045">
                  <a:moveTo>
                    <a:pt x="204216" y="0"/>
                  </a:moveTo>
                  <a:lnTo>
                    <a:pt x="603503" y="0"/>
                  </a:lnTo>
                </a:path>
                <a:path w="771525" h="741045">
                  <a:moveTo>
                    <a:pt x="204216" y="740663"/>
                  </a:moveTo>
                  <a:lnTo>
                    <a:pt x="603503" y="740663"/>
                  </a:lnTo>
                </a:path>
                <a:path w="771525" h="741045">
                  <a:moveTo>
                    <a:pt x="0" y="134112"/>
                  </a:moveTo>
                  <a:lnTo>
                    <a:pt x="0" y="533400"/>
                  </a:lnTo>
                </a:path>
                <a:path w="771525" h="741045">
                  <a:moveTo>
                    <a:pt x="771144" y="146303"/>
                  </a:moveTo>
                  <a:lnTo>
                    <a:pt x="771144" y="545591"/>
                  </a:lnTo>
                </a:path>
              </a:pathLst>
            </a:custGeom>
            <a:ln w="396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8040623" y="4230623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8040623" y="4230623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240792" y="6705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5AD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8281415" y="4230623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5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67055" y="201167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28A3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8040623" y="4230623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5" y="0"/>
                  </a:moveTo>
                  <a:lnTo>
                    <a:pt x="0" y="67055"/>
                  </a:lnTo>
                  <a:lnTo>
                    <a:pt x="0" y="268224"/>
                  </a:lnTo>
                  <a:lnTo>
                    <a:pt x="240792" y="268224"/>
                  </a:lnTo>
                  <a:lnTo>
                    <a:pt x="307848" y="201167"/>
                  </a:lnTo>
                  <a:lnTo>
                    <a:pt x="307848" y="0"/>
                  </a:lnTo>
                  <a:lnTo>
                    <a:pt x="67055" y="0"/>
                  </a:lnTo>
                  <a:close/>
                </a:path>
                <a:path w="307975" h="268604">
                  <a:moveTo>
                    <a:pt x="0" y="67055"/>
                  </a:moveTo>
                  <a:lnTo>
                    <a:pt x="240792" y="67055"/>
                  </a:lnTo>
                  <a:lnTo>
                    <a:pt x="307848" y="0"/>
                  </a:lnTo>
                </a:path>
                <a:path w="307975" h="268604">
                  <a:moveTo>
                    <a:pt x="240792" y="67055"/>
                  </a:moveTo>
                  <a:lnTo>
                    <a:pt x="240792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7333487" y="4218431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7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0" y="268223"/>
                  </a:lnTo>
                  <a:lnTo>
                    <a:pt x="240791" y="268223"/>
                  </a:lnTo>
                  <a:lnTo>
                    <a:pt x="307847" y="201167"/>
                  </a:lnTo>
                  <a:lnTo>
                    <a:pt x="307847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7333487" y="4218431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7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240791" y="67055"/>
                  </a:lnTo>
                  <a:lnTo>
                    <a:pt x="307847" y="0"/>
                  </a:lnTo>
                  <a:close/>
                </a:path>
              </a:pathLst>
            </a:custGeom>
            <a:solidFill>
              <a:srgbClr val="5AD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7574279" y="4218431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5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67055" y="201167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28A3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333487" y="4218431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5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240791" y="268223"/>
                  </a:lnTo>
                  <a:lnTo>
                    <a:pt x="307847" y="201167"/>
                  </a:lnTo>
                  <a:lnTo>
                    <a:pt x="307847" y="0"/>
                  </a:lnTo>
                  <a:lnTo>
                    <a:pt x="67055" y="0"/>
                  </a:lnTo>
                  <a:close/>
                </a:path>
                <a:path w="307975" h="268604">
                  <a:moveTo>
                    <a:pt x="0" y="67055"/>
                  </a:moveTo>
                  <a:lnTo>
                    <a:pt x="240791" y="67055"/>
                  </a:lnTo>
                  <a:lnTo>
                    <a:pt x="307847" y="0"/>
                  </a:lnTo>
                </a:path>
                <a:path w="307975" h="268604">
                  <a:moveTo>
                    <a:pt x="240791" y="67055"/>
                  </a:moveTo>
                  <a:lnTo>
                    <a:pt x="240791" y="268223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8037575" y="4898136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8037575" y="4898136"/>
              <a:ext cx="304800" cy="67310"/>
            </a:xfrm>
            <a:custGeom>
              <a:avLst/>
              <a:gdLst/>
              <a:ahLst/>
              <a:cxnLst/>
              <a:rect l="l" t="t" r="r" b="b"/>
              <a:pathLst>
                <a:path w="304800" h="67310">
                  <a:moveTo>
                    <a:pt x="304800" y="0"/>
                  </a:moveTo>
                  <a:lnTo>
                    <a:pt x="67055" y="0"/>
                  </a:lnTo>
                  <a:lnTo>
                    <a:pt x="0" y="67056"/>
                  </a:lnTo>
                  <a:lnTo>
                    <a:pt x="237744" y="67056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5AD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8275319" y="4898136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67055" y="201168"/>
                  </a:lnTo>
                  <a:lnTo>
                    <a:pt x="67055" y="0"/>
                  </a:lnTo>
                  <a:close/>
                </a:path>
              </a:pathLst>
            </a:custGeom>
            <a:solidFill>
              <a:srgbClr val="28A3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8037575" y="4898136"/>
              <a:ext cx="304800" cy="268605"/>
            </a:xfrm>
            <a:custGeom>
              <a:avLst/>
              <a:gdLst/>
              <a:ahLst/>
              <a:cxnLst/>
              <a:rect l="l" t="t" r="r" b="b"/>
              <a:pathLst>
                <a:path w="304800" h="268604">
                  <a:moveTo>
                    <a:pt x="67055" y="0"/>
                  </a:moveTo>
                  <a:lnTo>
                    <a:pt x="0" y="67056"/>
                  </a:lnTo>
                  <a:lnTo>
                    <a:pt x="0" y="268224"/>
                  </a:lnTo>
                  <a:lnTo>
                    <a:pt x="237744" y="268224"/>
                  </a:lnTo>
                  <a:lnTo>
                    <a:pt x="304800" y="201168"/>
                  </a:lnTo>
                  <a:lnTo>
                    <a:pt x="304800" y="0"/>
                  </a:lnTo>
                  <a:lnTo>
                    <a:pt x="67055" y="0"/>
                  </a:lnTo>
                  <a:close/>
                </a:path>
                <a:path w="304800" h="268604">
                  <a:moveTo>
                    <a:pt x="0" y="67056"/>
                  </a:moveTo>
                  <a:lnTo>
                    <a:pt x="237744" y="67056"/>
                  </a:lnTo>
                  <a:lnTo>
                    <a:pt x="304800" y="0"/>
                  </a:lnTo>
                </a:path>
                <a:path w="304800" h="268604">
                  <a:moveTo>
                    <a:pt x="237744" y="67056"/>
                  </a:moveTo>
                  <a:lnTo>
                    <a:pt x="237744" y="268224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7330439" y="4885943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0" y="268223"/>
                  </a:lnTo>
                  <a:lnTo>
                    <a:pt x="240791" y="268223"/>
                  </a:lnTo>
                  <a:lnTo>
                    <a:pt x="307848" y="201167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7330439" y="4885943"/>
              <a:ext cx="307975" cy="67310"/>
            </a:xfrm>
            <a:custGeom>
              <a:avLst/>
              <a:gdLst/>
              <a:ahLst/>
              <a:cxnLst/>
              <a:rect l="l" t="t" r="r" b="b"/>
              <a:pathLst>
                <a:path w="307975" h="67310">
                  <a:moveTo>
                    <a:pt x="307848" y="0"/>
                  </a:moveTo>
                  <a:lnTo>
                    <a:pt x="67055" y="0"/>
                  </a:lnTo>
                  <a:lnTo>
                    <a:pt x="0" y="67055"/>
                  </a:lnTo>
                  <a:lnTo>
                    <a:pt x="240791" y="67055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5AD5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7571231" y="4885943"/>
              <a:ext cx="67310" cy="268605"/>
            </a:xfrm>
            <a:custGeom>
              <a:avLst/>
              <a:gdLst/>
              <a:ahLst/>
              <a:cxnLst/>
              <a:rect l="l" t="t" r="r" b="b"/>
              <a:pathLst>
                <a:path w="67309" h="268604">
                  <a:moveTo>
                    <a:pt x="67056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67056" y="201167"/>
                  </a:lnTo>
                  <a:lnTo>
                    <a:pt x="67056" y="0"/>
                  </a:lnTo>
                  <a:close/>
                </a:path>
              </a:pathLst>
            </a:custGeom>
            <a:solidFill>
              <a:srgbClr val="28A3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7330439" y="4885943"/>
              <a:ext cx="307975" cy="268605"/>
            </a:xfrm>
            <a:custGeom>
              <a:avLst/>
              <a:gdLst/>
              <a:ahLst/>
              <a:cxnLst/>
              <a:rect l="l" t="t" r="r" b="b"/>
              <a:pathLst>
                <a:path w="307975" h="268604">
                  <a:moveTo>
                    <a:pt x="67055" y="0"/>
                  </a:moveTo>
                  <a:lnTo>
                    <a:pt x="0" y="67055"/>
                  </a:lnTo>
                  <a:lnTo>
                    <a:pt x="0" y="268223"/>
                  </a:lnTo>
                  <a:lnTo>
                    <a:pt x="240791" y="268223"/>
                  </a:lnTo>
                  <a:lnTo>
                    <a:pt x="307848" y="201167"/>
                  </a:lnTo>
                  <a:lnTo>
                    <a:pt x="307848" y="0"/>
                  </a:lnTo>
                  <a:lnTo>
                    <a:pt x="67055" y="0"/>
                  </a:lnTo>
                  <a:close/>
                </a:path>
                <a:path w="307975" h="268604">
                  <a:moveTo>
                    <a:pt x="0" y="67055"/>
                  </a:moveTo>
                  <a:lnTo>
                    <a:pt x="240791" y="67055"/>
                  </a:lnTo>
                  <a:lnTo>
                    <a:pt x="307848" y="0"/>
                  </a:lnTo>
                </a:path>
                <a:path w="307975" h="268604">
                  <a:moveTo>
                    <a:pt x="240791" y="67055"/>
                  </a:moveTo>
                  <a:lnTo>
                    <a:pt x="240791" y="268223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7135367" y="4352543"/>
              <a:ext cx="1066800" cy="923925"/>
            </a:xfrm>
            <a:custGeom>
              <a:avLst/>
              <a:gdLst/>
              <a:ahLst/>
              <a:cxnLst/>
              <a:rect l="l" t="t" r="r" b="b"/>
              <a:pathLst>
                <a:path w="1066800" h="923925">
                  <a:moveTo>
                    <a:pt x="502920" y="0"/>
                  </a:moveTo>
                  <a:lnTo>
                    <a:pt x="902207" y="0"/>
                  </a:lnTo>
                </a:path>
                <a:path w="1066800" h="923925">
                  <a:moveTo>
                    <a:pt x="502920" y="740663"/>
                  </a:moveTo>
                  <a:lnTo>
                    <a:pt x="902207" y="740663"/>
                  </a:lnTo>
                </a:path>
                <a:path w="1066800" h="923925">
                  <a:moveTo>
                    <a:pt x="298703" y="134111"/>
                  </a:moveTo>
                  <a:lnTo>
                    <a:pt x="298703" y="533399"/>
                  </a:lnTo>
                </a:path>
                <a:path w="1066800" h="923925">
                  <a:moveTo>
                    <a:pt x="1066800" y="146303"/>
                  </a:moveTo>
                  <a:lnTo>
                    <a:pt x="1066800" y="545591"/>
                  </a:lnTo>
                </a:path>
                <a:path w="1066800" h="923925">
                  <a:moveTo>
                    <a:pt x="829055" y="923543"/>
                  </a:moveTo>
                  <a:lnTo>
                    <a:pt x="1002791" y="813815"/>
                  </a:lnTo>
                </a:path>
                <a:path w="1066800" h="923925">
                  <a:moveTo>
                    <a:pt x="121920" y="911351"/>
                  </a:moveTo>
                  <a:lnTo>
                    <a:pt x="207263" y="813815"/>
                  </a:lnTo>
                </a:path>
                <a:path w="1066800" h="923925">
                  <a:moveTo>
                    <a:pt x="0" y="234695"/>
                  </a:moveTo>
                  <a:lnTo>
                    <a:pt x="207263" y="149351"/>
                  </a:lnTo>
                </a:path>
                <a:path w="1066800" h="923925">
                  <a:moveTo>
                    <a:pt x="728472" y="243839"/>
                  </a:moveTo>
                  <a:lnTo>
                    <a:pt x="947927" y="134111"/>
                  </a:lnTo>
                </a:path>
              </a:pathLst>
            </a:custGeom>
            <a:ln w="396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9" name="object 2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pc="-25"/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5125" y="5277421"/>
            <a:ext cx="6968490" cy="1338580"/>
            <a:chOff x="1385125" y="5277421"/>
            <a:chExt cx="6968490" cy="1338580"/>
          </a:xfrm>
        </p:grpSpPr>
        <p:sp>
          <p:nvSpPr>
            <p:cNvPr id="3" name="object 3"/>
            <p:cNvSpPr/>
            <p:nvPr/>
          </p:nvSpPr>
          <p:spPr>
            <a:xfrm>
              <a:off x="1389888" y="5282184"/>
              <a:ext cx="6958965" cy="1329055"/>
            </a:xfrm>
            <a:custGeom>
              <a:avLst/>
              <a:gdLst/>
              <a:ahLst/>
              <a:cxnLst/>
              <a:rect l="l" t="t" r="r" b="b"/>
              <a:pathLst>
                <a:path w="6958965" h="1329054">
                  <a:moveTo>
                    <a:pt x="6958584" y="0"/>
                  </a:moveTo>
                  <a:lnTo>
                    <a:pt x="332231" y="0"/>
                  </a:lnTo>
                  <a:lnTo>
                    <a:pt x="0" y="332232"/>
                  </a:lnTo>
                  <a:lnTo>
                    <a:pt x="0" y="1328928"/>
                  </a:lnTo>
                  <a:lnTo>
                    <a:pt x="6623304" y="1328928"/>
                  </a:lnTo>
                  <a:lnTo>
                    <a:pt x="6958584" y="996696"/>
                  </a:lnTo>
                  <a:lnTo>
                    <a:pt x="69585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89888" y="5282184"/>
              <a:ext cx="6958965" cy="332740"/>
            </a:xfrm>
            <a:custGeom>
              <a:avLst/>
              <a:gdLst/>
              <a:ahLst/>
              <a:cxnLst/>
              <a:rect l="l" t="t" r="r" b="b"/>
              <a:pathLst>
                <a:path w="6958965" h="332739">
                  <a:moveTo>
                    <a:pt x="6958584" y="0"/>
                  </a:moveTo>
                  <a:lnTo>
                    <a:pt x="332231" y="0"/>
                  </a:lnTo>
                  <a:lnTo>
                    <a:pt x="0" y="332232"/>
                  </a:lnTo>
                  <a:lnTo>
                    <a:pt x="6623304" y="332232"/>
                  </a:lnTo>
                  <a:lnTo>
                    <a:pt x="6958584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013192" y="5282184"/>
              <a:ext cx="335280" cy="1329055"/>
            </a:xfrm>
            <a:custGeom>
              <a:avLst/>
              <a:gdLst/>
              <a:ahLst/>
              <a:cxnLst/>
              <a:rect l="l" t="t" r="r" b="b"/>
              <a:pathLst>
                <a:path w="335279" h="1329054">
                  <a:moveTo>
                    <a:pt x="335279" y="0"/>
                  </a:moveTo>
                  <a:lnTo>
                    <a:pt x="0" y="332232"/>
                  </a:lnTo>
                  <a:lnTo>
                    <a:pt x="0" y="1328928"/>
                  </a:lnTo>
                  <a:lnTo>
                    <a:pt x="335279" y="996696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89888" y="5282184"/>
              <a:ext cx="6958965" cy="1329055"/>
            </a:xfrm>
            <a:custGeom>
              <a:avLst/>
              <a:gdLst/>
              <a:ahLst/>
              <a:cxnLst/>
              <a:rect l="l" t="t" r="r" b="b"/>
              <a:pathLst>
                <a:path w="6958965" h="1329054">
                  <a:moveTo>
                    <a:pt x="332231" y="0"/>
                  </a:moveTo>
                  <a:lnTo>
                    <a:pt x="0" y="332232"/>
                  </a:lnTo>
                  <a:lnTo>
                    <a:pt x="0" y="1328928"/>
                  </a:lnTo>
                  <a:lnTo>
                    <a:pt x="6623304" y="1328928"/>
                  </a:lnTo>
                  <a:lnTo>
                    <a:pt x="6958584" y="996696"/>
                  </a:lnTo>
                  <a:lnTo>
                    <a:pt x="6958584" y="0"/>
                  </a:lnTo>
                  <a:lnTo>
                    <a:pt x="332231" y="0"/>
                  </a:lnTo>
                  <a:close/>
                </a:path>
                <a:path w="6958965" h="1329054">
                  <a:moveTo>
                    <a:pt x="0" y="332232"/>
                  </a:moveTo>
                  <a:lnTo>
                    <a:pt x="6623304" y="332232"/>
                  </a:lnTo>
                  <a:lnTo>
                    <a:pt x="6958584" y="0"/>
                  </a:lnTo>
                </a:path>
                <a:path w="6958965" h="1329054">
                  <a:moveTo>
                    <a:pt x="6623304" y="332232"/>
                  </a:moveTo>
                  <a:lnTo>
                    <a:pt x="6623304" y="1328928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608067" y="5952235"/>
            <a:ext cx="585470" cy="662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1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X:</a:t>
            </a:r>
            <a:r>
              <a:rPr dirty="0" sz="2400" spc="-5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510"/>
              </a:lnSpc>
            </a:pPr>
            <a:r>
              <a:rPr dirty="0" sz="2400" b="1">
                <a:latin typeface="Arial"/>
                <a:cs typeface="Arial"/>
              </a:rPr>
              <a:t>X:</a:t>
            </a:r>
            <a:r>
              <a:rPr dirty="0" sz="2400" spc="-5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80362" y="612140"/>
            <a:ext cx="774573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20"/>
              <a:t>Shared</a:t>
            </a:r>
            <a:r>
              <a:rPr dirty="0" spc="-60"/>
              <a:t> </a:t>
            </a:r>
            <a:r>
              <a:rPr dirty="0" spc="-250"/>
              <a:t>Memory</a:t>
            </a:r>
            <a:r>
              <a:rPr dirty="0" spc="-60"/>
              <a:t> </a:t>
            </a:r>
            <a:r>
              <a:rPr dirty="0" spc="-200"/>
              <a:t>Architecture:</a:t>
            </a:r>
            <a:r>
              <a:rPr dirty="0" spc="-65"/>
              <a:t> </a:t>
            </a:r>
            <a:r>
              <a:rPr dirty="0" spc="-475"/>
              <a:t>Caches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1310639" y="2162556"/>
            <a:ext cx="7722234" cy="3083560"/>
            <a:chOff x="1310639" y="2162556"/>
            <a:chExt cx="7722234" cy="3083560"/>
          </a:xfrm>
        </p:grpSpPr>
        <p:sp>
          <p:nvSpPr>
            <p:cNvPr id="10" name="object 10"/>
            <p:cNvSpPr/>
            <p:nvPr/>
          </p:nvSpPr>
          <p:spPr>
            <a:xfrm>
              <a:off x="1389887" y="2167127"/>
              <a:ext cx="1386840" cy="1158240"/>
            </a:xfrm>
            <a:custGeom>
              <a:avLst/>
              <a:gdLst/>
              <a:ahLst/>
              <a:cxnLst/>
              <a:rect l="l" t="t" r="r" b="b"/>
              <a:pathLst>
                <a:path w="1386839" h="1158239">
                  <a:moveTo>
                    <a:pt x="1386839" y="0"/>
                  </a:moveTo>
                  <a:lnTo>
                    <a:pt x="289560" y="0"/>
                  </a:lnTo>
                  <a:lnTo>
                    <a:pt x="0" y="289560"/>
                  </a:lnTo>
                  <a:lnTo>
                    <a:pt x="0" y="1158239"/>
                  </a:lnTo>
                  <a:lnTo>
                    <a:pt x="1097280" y="1158239"/>
                  </a:lnTo>
                  <a:lnTo>
                    <a:pt x="1386839" y="868680"/>
                  </a:lnTo>
                  <a:lnTo>
                    <a:pt x="138683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389887" y="2167127"/>
              <a:ext cx="1386840" cy="289560"/>
            </a:xfrm>
            <a:custGeom>
              <a:avLst/>
              <a:gdLst/>
              <a:ahLst/>
              <a:cxnLst/>
              <a:rect l="l" t="t" r="r" b="b"/>
              <a:pathLst>
                <a:path w="1386839" h="289560">
                  <a:moveTo>
                    <a:pt x="1386839" y="0"/>
                  </a:moveTo>
                  <a:lnTo>
                    <a:pt x="289560" y="0"/>
                  </a:lnTo>
                  <a:lnTo>
                    <a:pt x="0" y="289560"/>
                  </a:lnTo>
                  <a:lnTo>
                    <a:pt x="1097280" y="289560"/>
                  </a:lnTo>
                  <a:lnTo>
                    <a:pt x="1386839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87167" y="2167127"/>
              <a:ext cx="289560" cy="1158240"/>
            </a:xfrm>
            <a:custGeom>
              <a:avLst/>
              <a:gdLst/>
              <a:ahLst/>
              <a:cxnLst/>
              <a:rect l="l" t="t" r="r" b="b"/>
              <a:pathLst>
                <a:path w="289560" h="1158239">
                  <a:moveTo>
                    <a:pt x="289559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289559" y="868680"/>
                  </a:lnTo>
                  <a:lnTo>
                    <a:pt x="289559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89887" y="2167127"/>
              <a:ext cx="1386840" cy="1158240"/>
            </a:xfrm>
            <a:custGeom>
              <a:avLst/>
              <a:gdLst/>
              <a:ahLst/>
              <a:cxnLst/>
              <a:rect l="l" t="t" r="r" b="b"/>
              <a:pathLst>
                <a:path w="1386839" h="1158239">
                  <a:moveTo>
                    <a:pt x="289560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1097280" y="1158239"/>
                  </a:lnTo>
                  <a:lnTo>
                    <a:pt x="1386839" y="868680"/>
                  </a:lnTo>
                  <a:lnTo>
                    <a:pt x="1386839" y="0"/>
                  </a:lnTo>
                  <a:lnTo>
                    <a:pt x="289560" y="0"/>
                  </a:lnTo>
                  <a:close/>
                </a:path>
                <a:path w="1386839" h="1158239">
                  <a:moveTo>
                    <a:pt x="0" y="289560"/>
                  </a:moveTo>
                  <a:lnTo>
                    <a:pt x="1097280" y="289560"/>
                  </a:lnTo>
                  <a:lnTo>
                    <a:pt x="1386839" y="0"/>
                  </a:lnTo>
                </a:path>
                <a:path w="1386839" h="1158239">
                  <a:moveTo>
                    <a:pt x="1097280" y="289560"/>
                  </a:moveTo>
                  <a:lnTo>
                    <a:pt x="1097280" y="1158239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480816" y="2167127"/>
              <a:ext cx="1384300" cy="1158240"/>
            </a:xfrm>
            <a:custGeom>
              <a:avLst/>
              <a:gdLst/>
              <a:ahLst/>
              <a:cxnLst/>
              <a:rect l="l" t="t" r="r" b="b"/>
              <a:pathLst>
                <a:path w="1384300" h="1158239">
                  <a:moveTo>
                    <a:pt x="1383792" y="0"/>
                  </a:moveTo>
                  <a:lnTo>
                    <a:pt x="289560" y="0"/>
                  </a:lnTo>
                  <a:lnTo>
                    <a:pt x="0" y="289560"/>
                  </a:lnTo>
                  <a:lnTo>
                    <a:pt x="0" y="1158239"/>
                  </a:lnTo>
                  <a:lnTo>
                    <a:pt x="1094232" y="1158239"/>
                  </a:lnTo>
                  <a:lnTo>
                    <a:pt x="1383792" y="868680"/>
                  </a:lnTo>
                  <a:lnTo>
                    <a:pt x="138379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480816" y="2167127"/>
              <a:ext cx="1384300" cy="289560"/>
            </a:xfrm>
            <a:custGeom>
              <a:avLst/>
              <a:gdLst/>
              <a:ahLst/>
              <a:cxnLst/>
              <a:rect l="l" t="t" r="r" b="b"/>
              <a:pathLst>
                <a:path w="1384300" h="289560">
                  <a:moveTo>
                    <a:pt x="1383792" y="0"/>
                  </a:moveTo>
                  <a:lnTo>
                    <a:pt x="289560" y="0"/>
                  </a:lnTo>
                  <a:lnTo>
                    <a:pt x="0" y="289560"/>
                  </a:lnTo>
                  <a:lnTo>
                    <a:pt x="1094232" y="289560"/>
                  </a:lnTo>
                  <a:lnTo>
                    <a:pt x="1383792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75048" y="2167127"/>
              <a:ext cx="289560" cy="1158240"/>
            </a:xfrm>
            <a:custGeom>
              <a:avLst/>
              <a:gdLst/>
              <a:ahLst/>
              <a:cxnLst/>
              <a:rect l="l" t="t" r="r" b="b"/>
              <a:pathLst>
                <a:path w="289560" h="1158239">
                  <a:moveTo>
                    <a:pt x="289560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289560" y="868680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480816" y="2167127"/>
              <a:ext cx="1384300" cy="1158240"/>
            </a:xfrm>
            <a:custGeom>
              <a:avLst/>
              <a:gdLst/>
              <a:ahLst/>
              <a:cxnLst/>
              <a:rect l="l" t="t" r="r" b="b"/>
              <a:pathLst>
                <a:path w="1384300" h="1158239">
                  <a:moveTo>
                    <a:pt x="289560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1094232" y="1158239"/>
                  </a:lnTo>
                  <a:lnTo>
                    <a:pt x="1383792" y="868680"/>
                  </a:lnTo>
                  <a:lnTo>
                    <a:pt x="1383792" y="0"/>
                  </a:lnTo>
                  <a:lnTo>
                    <a:pt x="289560" y="0"/>
                  </a:lnTo>
                  <a:close/>
                </a:path>
                <a:path w="1384300" h="1158239">
                  <a:moveTo>
                    <a:pt x="0" y="289560"/>
                  </a:moveTo>
                  <a:lnTo>
                    <a:pt x="1094232" y="289560"/>
                  </a:lnTo>
                  <a:lnTo>
                    <a:pt x="1383792" y="0"/>
                  </a:lnTo>
                </a:path>
                <a:path w="1384300" h="1158239">
                  <a:moveTo>
                    <a:pt x="1094232" y="289560"/>
                  </a:moveTo>
                  <a:lnTo>
                    <a:pt x="1094232" y="1158239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559551" y="2167127"/>
              <a:ext cx="1386840" cy="1158240"/>
            </a:xfrm>
            <a:custGeom>
              <a:avLst/>
              <a:gdLst/>
              <a:ahLst/>
              <a:cxnLst/>
              <a:rect l="l" t="t" r="r" b="b"/>
              <a:pathLst>
                <a:path w="1386840" h="1158239">
                  <a:moveTo>
                    <a:pt x="1386840" y="0"/>
                  </a:moveTo>
                  <a:lnTo>
                    <a:pt x="292608" y="0"/>
                  </a:lnTo>
                  <a:lnTo>
                    <a:pt x="0" y="289560"/>
                  </a:lnTo>
                  <a:lnTo>
                    <a:pt x="0" y="1158239"/>
                  </a:lnTo>
                  <a:lnTo>
                    <a:pt x="1097279" y="1158239"/>
                  </a:lnTo>
                  <a:lnTo>
                    <a:pt x="1386840" y="868680"/>
                  </a:lnTo>
                  <a:lnTo>
                    <a:pt x="138684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559551" y="2167127"/>
              <a:ext cx="1386840" cy="289560"/>
            </a:xfrm>
            <a:custGeom>
              <a:avLst/>
              <a:gdLst/>
              <a:ahLst/>
              <a:cxnLst/>
              <a:rect l="l" t="t" r="r" b="b"/>
              <a:pathLst>
                <a:path w="1386840" h="289560">
                  <a:moveTo>
                    <a:pt x="1386840" y="0"/>
                  </a:moveTo>
                  <a:lnTo>
                    <a:pt x="292608" y="0"/>
                  </a:lnTo>
                  <a:lnTo>
                    <a:pt x="0" y="289560"/>
                  </a:lnTo>
                  <a:lnTo>
                    <a:pt x="1097279" y="289560"/>
                  </a:lnTo>
                  <a:lnTo>
                    <a:pt x="138684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656831" y="2167127"/>
              <a:ext cx="289560" cy="1158240"/>
            </a:xfrm>
            <a:custGeom>
              <a:avLst/>
              <a:gdLst/>
              <a:ahLst/>
              <a:cxnLst/>
              <a:rect l="l" t="t" r="r" b="b"/>
              <a:pathLst>
                <a:path w="289559" h="1158239">
                  <a:moveTo>
                    <a:pt x="289560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289560" y="868680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559551" y="2167127"/>
              <a:ext cx="1386840" cy="1158240"/>
            </a:xfrm>
            <a:custGeom>
              <a:avLst/>
              <a:gdLst/>
              <a:ahLst/>
              <a:cxnLst/>
              <a:rect l="l" t="t" r="r" b="b"/>
              <a:pathLst>
                <a:path w="1386840" h="1158239">
                  <a:moveTo>
                    <a:pt x="292608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1097279" y="1158239"/>
                  </a:lnTo>
                  <a:lnTo>
                    <a:pt x="1386840" y="868680"/>
                  </a:lnTo>
                  <a:lnTo>
                    <a:pt x="1386840" y="0"/>
                  </a:lnTo>
                  <a:lnTo>
                    <a:pt x="292608" y="0"/>
                  </a:lnTo>
                  <a:close/>
                </a:path>
                <a:path w="1386840" h="1158239">
                  <a:moveTo>
                    <a:pt x="0" y="289560"/>
                  </a:moveTo>
                  <a:lnTo>
                    <a:pt x="1097279" y="289560"/>
                  </a:lnTo>
                  <a:lnTo>
                    <a:pt x="1386840" y="0"/>
                  </a:lnTo>
                </a:path>
                <a:path w="1386840" h="1158239">
                  <a:moveTo>
                    <a:pt x="1097279" y="289560"/>
                  </a:moveTo>
                  <a:lnTo>
                    <a:pt x="1097279" y="1158239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644383" y="2167127"/>
              <a:ext cx="1384300" cy="1158240"/>
            </a:xfrm>
            <a:custGeom>
              <a:avLst/>
              <a:gdLst/>
              <a:ahLst/>
              <a:cxnLst/>
              <a:rect l="l" t="t" r="r" b="b"/>
              <a:pathLst>
                <a:path w="1384300" h="1158239">
                  <a:moveTo>
                    <a:pt x="1383792" y="0"/>
                  </a:moveTo>
                  <a:lnTo>
                    <a:pt x="289560" y="0"/>
                  </a:lnTo>
                  <a:lnTo>
                    <a:pt x="0" y="289560"/>
                  </a:lnTo>
                  <a:lnTo>
                    <a:pt x="0" y="1158239"/>
                  </a:lnTo>
                  <a:lnTo>
                    <a:pt x="1094232" y="1158239"/>
                  </a:lnTo>
                  <a:lnTo>
                    <a:pt x="1383792" y="868680"/>
                  </a:lnTo>
                  <a:lnTo>
                    <a:pt x="138379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644383" y="2167127"/>
              <a:ext cx="1384300" cy="289560"/>
            </a:xfrm>
            <a:custGeom>
              <a:avLst/>
              <a:gdLst/>
              <a:ahLst/>
              <a:cxnLst/>
              <a:rect l="l" t="t" r="r" b="b"/>
              <a:pathLst>
                <a:path w="1384300" h="289560">
                  <a:moveTo>
                    <a:pt x="1383792" y="0"/>
                  </a:moveTo>
                  <a:lnTo>
                    <a:pt x="289560" y="0"/>
                  </a:lnTo>
                  <a:lnTo>
                    <a:pt x="0" y="289560"/>
                  </a:lnTo>
                  <a:lnTo>
                    <a:pt x="1094232" y="289560"/>
                  </a:lnTo>
                  <a:lnTo>
                    <a:pt x="1383792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738616" y="2167127"/>
              <a:ext cx="289560" cy="1158240"/>
            </a:xfrm>
            <a:custGeom>
              <a:avLst/>
              <a:gdLst/>
              <a:ahLst/>
              <a:cxnLst/>
              <a:rect l="l" t="t" r="r" b="b"/>
              <a:pathLst>
                <a:path w="289559" h="1158239">
                  <a:moveTo>
                    <a:pt x="289559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289559" y="868680"/>
                  </a:lnTo>
                  <a:lnTo>
                    <a:pt x="289559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644383" y="2167127"/>
              <a:ext cx="1384300" cy="1158240"/>
            </a:xfrm>
            <a:custGeom>
              <a:avLst/>
              <a:gdLst/>
              <a:ahLst/>
              <a:cxnLst/>
              <a:rect l="l" t="t" r="r" b="b"/>
              <a:pathLst>
                <a:path w="1384300" h="1158239">
                  <a:moveTo>
                    <a:pt x="289560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1094232" y="1158239"/>
                  </a:lnTo>
                  <a:lnTo>
                    <a:pt x="1383792" y="868680"/>
                  </a:lnTo>
                  <a:lnTo>
                    <a:pt x="1383792" y="0"/>
                  </a:lnTo>
                  <a:lnTo>
                    <a:pt x="289560" y="0"/>
                  </a:lnTo>
                  <a:close/>
                </a:path>
                <a:path w="1384300" h="1158239">
                  <a:moveTo>
                    <a:pt x="0" y="289560"/>
                  </a:moveTo>
                  <a:lnTo>
                    <a:pt x="1094232" y="289560"/>
                  </a:lnTo>
                  <a:lnTo>
                    <a:pt x="1383792" y="0"/>
                  </a:lnTo>
                </a:path>
                <a:path w="1384300" h="1158239">
                  <a:moveTo>
                    <a:pt x="1094232" y="289560"/>
                  </a:moveTo>
                  <a:lnTo>
                    <a:pt x="1094232" y="1158239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770888" y="3325367"/>
              <a:ext cx="6385560" cy="996950"/>
            </a:xfrm>
            <a:custGeom>
              <a:avLst/>
              <a:gdLst/>
              <a:ahLst/>
              <a:cxnLst/>
              <a:rect l="l" t="t" r="r" b="b"/>
              <a:pathLst>
                <a:path w="6385559" h="996950">
                  <a:moveTo>
                    <a:pt x="131064" y="112776"/>
                  </a:moveTo>
                  <a:lnTo>
                    <a:pt x="128016" y="106680"/>
                  </a:lnTo>
                  <a:lnTo>
                    <a:pt x="80467" y="27432"/>
                  </a:lnTo>
                  <a:lnTo>
                    <a:pt x="64008" y="0"/>
                  </a:lnTo>
                  <a:lnTo>
                    <a:pt x="3048" y="106680"/>
                  </a:lnTo>
                  <a:lnTo>
                    <a:pt x="88" y="111734"/>
                  </a:lnTo>
                  <a:lnTo>
                    <a:pt x="0" y="117360"/>
                  </a:lnTo>
                  <a:lnTo>
                    <a:pt x="2184" y="122974"/>
                  </a:lnTo>
                  <a:lnTo>
                    <a:pt x="6096" y="128016"/>
                  </a:lnTo>
                  <a:lnTo>
                    <a:pt x="15240" y="131064"/>
                  </a:lnTo>
                  <a:lnTo>
                    <a:pt x="21336" y="128016"/>
                  </a:lnTo>
                  <a:lnTo>
                    <a:pt x="27432" y="121920"/>
                  </a:lnTo>
                  <a:lnTo>
                    <a:pt x="48768" y="84582"/>
                  </a:lnTo>
                  <a:lnTo>
                    <a:pt x="48768" y="912114"/>
                  </a:lnTo>
                  <a:lnTo>
                    <a:pt x="27432" y="874776"/>
                  </a:lnTo>
                  <a:lnTo>
                    <a:pt x="21336" y="868680"/>
                  </a:lnTo>
                  <a:lnTo>
                    <a:pt x="15240" y="865632"/>
                  </a:lnTo>
                  <a:lnTo>
                    <a:pt x="6096" y="868680"/>
                  </a:lnTo>
                  <a:lnTo>
                    <a:pt x="2184" y="872020"/>
                  </a:lnTo>
                  <a:lnTo>
                    <a:pt x="0" y="877062"/>
                  </a:lnTo>
                  <a:lnTo>
                    <a:pt x="88" y="883259"/>
                  </a:lnTo>
                  <a:lnTo>
                    <a:pt x="3048" y="890016"/>
                  </a:lnTo>
                  <a:lnTo>
                    <a:pt x="64008" y="996696"/>
                  </a:lnTo>
                  <a:lnTo>
                    <a:pt x="82296" y="966216"/>
                  </a:lnTo>
                  <a:lnTo>
                    <a:pt x="128016" y="890016"/>
                  </a:lnTo>
                  <a:lnTo>
                    <a:pt x="131064" y="880872"/>
                  </a:lnTo>
                  <a:lnTo>
                    <a:pt x="128104" y="872020"/>
                  </a:lnTo>
                  <a:lnTo>
                    <a:pt x="128016" y="871728"/>
                  </a:lnTo>
                  <a:lnTo>
                    <a:pt x="115824" y="865632"/>
                  </a:lnTo>
                  <a:lnTo>
                    <a:pt x="106680" y="868680"/>
                  </a:lnTo>
                  <a:lnTo>
                    <a:pt x="100584" y="874776"/>
                  </a:lnTo>
                  <a:lnTo>
                    <a:pt x="79248" y="912114"/>
                  </a:lnTo>
                  <a:lnTo>
                    <a:pt x="79248" y="84582"/>
                  </a:lnTo>
                  <a:lnTo>
                    <a:pt x="100584" y="121920"/>
                  </a:lnTo>
                  <a:lnTo>
                    <a:pt x="106680" y="128016"/>
                  </a:lnTo>
                  <a:lnTo>
                    <a:pt x="115824" y="131064"/>
                  </a:lnTo>
                  <a:lnTo>
                    <a:pt x="121920" y="128016"/>
                  </a:lnTo>
                  <a:lnTo>
                    <a:pt x="128016" y="121920"/>
                  </a:lnTo>
                  <a:lnTo>
                    <a:pt x="131064" y="112776"/>
                  </a:lnTo>
                  <a:close/>
                </a:path>
                <a:path w="6385559" h="996950">
                  <a:moveTo>
                    <a:pt x="2212848" y="112776"/>
                  </a:moveTo>
                  <a:lnTo>
                    <a:pt x="2209800" y="106680"/>
                  </a:lnTo>
                  <a:lnTo>
                    <a:pt x="2162238" y="27432"/>
                  </a:lnTo>
                  <a:lnTo>
                    <a:pt x="2145792" y="0"/>
                  </a:lnTo>
                  <a:lnTo>
                    <a:pt x="2084832" y="106680"/>
                  </a:lnTo>
                  <a:lnTo>
                    <a:pt x="2081784" y="112776"/>
                  </a:lnTo>
                  <a:lnTo>
                    <a:pt x="2081784" y="121920"/>
                  </a:lnTo>
                  <a:lnTo>
                    <a:pt x="2090928" y="128016"/>
                  </a:lnTo>
                  <a:lnTo>
                    <a:pt x="2097024" y="131064"/>
                  </a:lnTo>
                  <a:lnTo>
                    <a:pt x="2106168" y="128016"/>
                  </a:lnTo>
                  <a:lnTo>
                    <a:pt x="2109216" y="121920"/>
                  </a:lnTo>
                  <a:lnTo>
                    <a:pt x="2133600" y="79260"/>
                  </a:lnTo>
                  <a:lnTo>
                    <a:pt x="2133600" y="917460"/>
                  </a:lnTo>
                  <a:lnTo>
                    <a:pt x="2109216" y="874776"/>
                  </a:lnTo>
                  <a:lnTo>
                    <a:pt x="2106168" y="868680"/>
                  </a:lnTo>
                  <a:lnTo>
                    <a:pt x="2097024" y="865632"/>
                  </a:lnTo>
                  <a:lnTo>
                    <a:pt x="2090928" y="868680"/>
                  </a:lnTo>
                  <a:lnTo>
                    <a:pt x="2081784" y="871728"/>
                  </a:lnTo>
                  <a:lnTo>
                    <a:pt x="2081784" y="880872"/>
                  </a:lnTo>
                  <a:lnTo>
                    <a:pt x="2084832" y="890016"/>
                  </a:lnTo>
                  <a:lnTo>
                    <a:pt x="2145792" y="996696"/>
                  </a:lnTo>
                  <a:lnTo>
                    <a:pt x="2164080" y="966216"/>
                  </a:lnTo>
                  <a:lnTo>
                    <a:pt x="2209800" y="890016"/>
                  </a:lnTo>
                  <a:lnTo>
                    <a:pt x="2212848" y="880872"/>
                  </a:lnTo>
                  <a:lnTo>
                    <a:pt x="2209800" y="871728"/>
                  </a:lnTo>
                  <a:lnTo>
                    <a:pt x="2197608" y="865632"/>
                  </a:lnTo>
                  <a:lnTo>
                    <a:pt x="2188464" y="868680"/>
                  </a:lnTo>
                  <a:lnTo>
                    <a:pt x="2185416" y="874776"/>
                  </a:lnTo>
                  <a:lnTo>
                    <a:pt x="2161032" y="914946"/>
                  </a:lnTo>
                  <a:lnTo>
                    <a:pt x="2161032" y="939431"/>
                  </a:lnTo>
                  <a:lnTo>
                    <a:pt x="2161032" y="960120"/>
                  </a:lnTo>
                  <a:lnTo>
                    <a:pt x="2157984" y="960120"/>
                  </a:lnTo>
                  <a:lnTo>
                    <a:pt x="2133600" y="960120"/>
                  </a:lnTo>
                  <a:lnTo>
                    <a:pt x="2146160" y="939431"/>
                  </a:lnTo>
                  <a:lnTo>
                    <a:pt x="2161032" y="939431"/>
                  </a:lnTo>
                  <a:lnTo>
                    <a:pt x="2161032" y="914946"/>
                  </a:lnTo>
                  <a:lnTo>
                    <a:pt x="2161032" y="81762"/>
                  </a:lnTo>
                  <a:lnTo>
                    <a:pt x="2185416" y="121920"/>
                  </a:lnTo>
                  <a:lnTo>
                    <a:pt x="2188464" y="128016"/>
                  </a:lnTo>
                  <a:lnTo>
                    <a:pt x="2197608" y="131064"/>
                  </a:lnTo>
                  <a:lnTo>
                    <a:pt x="2203704" y="128016"/>
                  </a:lnTo>
                  <a:lnTo>
                    <a:pt x="2209800" y="121920"/>
                  </a:lnTo>
                  <a:lnTo>
                    <a:pt x="2212848" y="112776"/>
                  </a:lnTo>
                  <a:close/>
                </a:path>
                <a:path w="6385559" h="996950">
                  <a:moveTo>
                    <a:pt x="4300728" y="117348"/>
                  </a:moveTo>
                  <a:lnTo>
                    <a:pt x="4300626" y="111734"/>
                  </a:lnTo>
                  <a:lnTo>
                    <a:pt x="4297680" y="106680"/>
                  </a:lnTo>
                  <a:lnTo>
                    <a:pt x="4252392" y="27432"/>
                  </a:lnTo>
                  <a:lnTo>
                    <a:pt x="4236720" y="0"/>
                  </a:lnTo>
                  <a:lnTo>
                    <a:pt x="4172712" y="106680"/>
                  </a:lnTo>
                  <a:lnTo>
                    <a:pt x="4169664" y="112776"/>
                  </a:lnTo>
                  <a:lnTo>
                    <a:pt x="4172712" y="121920"/>
                  </a:lnTo>
                  <a:lnTo>
                    <a:pt x="4178808" y="128016"/>
                  </a:lnTo>
                  <a:lnTo>
                    <a:pt x="4184904" y="131064"/>
                  </a:lnTo>
                  <a:lnTo>
                    <a:pt x="4194048" y="128016"/>
                  </a:lnTo>
                  <a:lnTo>
                    <a:pt x="4197096" y="121920"/>
                  </a:lnTo>
                  <a:lnTo>
                    <a:pt x="4221480" y="81762"/>
                  </a:lnTo>
                  <a:lnTo>
                    <a:pt x="4221480" y="914946"/>
                  </a:lnTo>
                  <a:lnTo>
                    <a:pt x="4197096" y="874776"/>
                  </a:lnTo>
                  <a:lnTo>
                    <a:pt x="4194048" y="868680"/>
                  </a:lnTo>
                  <a:lnTo>
                    <a:pt x="4184904" y="865632"/>
                  </a:lnTo>
                  <a:lnTo>
                    <a:pt x="4172712" y="871728"/>
                  </a:lnTo>
                  <a:lnTo>
                    <a:pt x="4169664" y="880872"/>
                  </a:lnTo>
                  <a:lnTo>
                    <a:pt x="4172712" y="890016"/>
                  </a:lnTo>
                  <a:lnTo>
                    <a:pt x="4236720" y="996696"/>
                  </a:lnTo>
                  <a:lnTo>
                    <a:pt x="4254131" y="966216"/>
                  </a:lnTo>
                  <a:lnTo>
                    <a:pt x="4297680" y="890016"/>
                  </a:lnTo>
                  <a:lnTo>
                    <a:pt x="4300626" y="883259"/>
                  </a:lnTo>
                  <a:lnTo>
                    <a:pt x="4300728" y="877062"/>
                  </a:lnTo>
                  <a:lnTo>
                    <a:pt x="4298531" y="872020"/>
                  </a:lnTo>
                  <a:lnTo>
                    <a:pt x="4294632" y="868680"/>
                  </a:lnTo>
                  <a:lnTo>
                    <a:pt x="4285488" y="865632"/>
                  </a:lnTo>
                  <a:lnTo>
                    <a:pt x="4276344" y="868680"/>
                  </a:lnTo>
                  <a:lnTo>
                    <a:pt x="4273296" y="874776"/>
                  </a:lnTo>
                  <a:lnTo>
                    <a:pt x="4248912" y="917460"/>
                  </a:lnTo>
                  <a:lnTo>
                    <a:pt x="4248912" y="79260"/>
                  </a:lnTo>
                  <a:lnTo>
                    <a:pt x="4273296" y="121920"/>
                  </a:lnTo>
                  <a:lnTo>
                    <a:pt x="4276344" y="128016"/>
                  </a:lnTo>
                  <a:lnTo>
                    <a:pt x="4285488" y="131064"/>
                  </a:lnTo>
                  <a:lnTo>
                    <a:pt x="4294632" y="128016"/>
                  </a:lnTo>
                  <a:lnTo>
                    <a:pt x="4298531" y="122974"/>
                  </a:lnTo>
                  <a:lnTo>
                    <a:pt x="4300728" y="117348"/>
                  </a:lnTo>
                  <a:close/>
                </a:path>
                <a:path w="6385559" h="996950">
                  <a:moveTo>
                    <a:pt x="6385560" y="112776"/>
                  </a:moveTo>
                  <a:lnTo>
                    <a:pt x="6382512" y="106680"/>
                  </a:lnTo>
                  <a:lnTo>
                    <a:pt x="6334963" y="27432"/>
                  </a:lnTo>
                  <a:lnTo>
                    <a:pt x="6318504" y="0"/>
                  </a:lnTo>
                  <a:lnTo>
                    <a:pt x="6257544" y="106680"/>
                  </a:lnTo>
                  <a:lnTo>
                    <a:pt x="6254585" y="111734"/>
                  </a:lnTo>
                  <a:lnTo>
                    <a:pt x="6254496" y="117360"/>
                  </a:lnTo>
                  <a:lnTo>
                    <a:pt x="6256680" y="122974"/>
                  </a:lnTo>
                  <a:lnTo>
                    <a:pt x="6260592" y="128016"/>
                  </a:lnTo>
                  <a:lnTo>
                    <a:pt x="6269736" y="131064"/>
                  </a:lnTo>
                  <a:lnTo>
                    <a:pt x="6275832" y="128016"/>
                  </a:lnTo>
                  <a:lnTo>
                    <a:pt x="6281928" y="121920"/>
                  </a:lnTo>
                  <a:lnTo>
                    <a:pt x="6303264" y="84594"/>
                  </a:lnTo>
                  <a:lnTo>
                    <a:pt x="6303264" y="912126"/>
                  </a:lnTo>
                  <a:lnTo>
                    <a:pt x="6281928" y="874776"/>
                  </a:lnTo>
                  <a:lnTo>
                    <a:pt x="6275832" y="868680"/>
                  </a:lnTo>
                  <a:lnTo>
                    <a:pt x="6269736" y="865632"/>
                  </a:lnTo>
                  <a:lnTo>
                    <a:pt x="6260592" y="868680"/>
                  </a:lnTo>
                  <a:lnTo>
                    <a:pt x="6256680" y="872020"/>
                  </a:lnTo>
                  <a:lnTo>
                    <a:pt x="6254496" y="877062"/>
                  </a:lnTo>
                  <a:lnTo>
                    <a:pt x="6254585" y="883259"/>
                  </a:lnTo>
                  <a:lnTo>
                    <a:pt x="6257544" y="890016"/>
                  </a:lnTo>
                  <a:lnTo>
                    <a:pt x="6318504" y="996696"/>
                  </a:lnTo>
                  <a:lnTo>
                    <a:pt x="6336792" y="966216"/>
                  </a:lnTo>
                  <a:lnTo>
                    <a:pt x="6382512" y="890016"/>
                  </a:lnTo>
                  <a:lnTo>
                    <a:pt x="6385560" y="880872"/>
                  </a:lnTo>
                  <a:lnTo>
                    <a:pt x="6382601" y="872020"/>
                  </a:lnTo>
                  <a:lnTo>
                    <a:pt x="6382512" y="871728"/>
                  </a:lnTo>
                  <a:lnTo>
                    <a:pt x="6370320" y="865632"/>
                  </a:lnTo>
                  <a:lnTo>
                    <a:pt x="6361176" y="868680"/>
                  </a:lnTo>
                  <a:lnTo>
                    <a:pt x="6355080" y="874776"/>
                  </a:lnTo>
                  <a:lnTo>
                    <a:pt x="6333744" y="912126"/>
                  </a:lnTo>
                  <a:lnTo>
                    <a:pt x="6333744" y="84594"/>
                  </a:lnTo>
                  <a:lnTo>
                    <a:pt x="6355080" y="121920"/>
                  </a:lnTo>
                  <a:lnTo>
                    <a:pt x="6361176" y="128016"/>
                  </a:lnTo>
                  <a:lnTo>
                    <a:pt x="6370320" y="131064"/>
                  </a:lnTo>
                  <a:lnTo>
                    <a:pt x="6376416" y="128016"/>
                  </a:lnTo>
                  <a:lnTo>
                    <a:pt x="6382512" y="121920"/>
                  </a:lnTo>
                  <a:lnTo>
                    <a:pt x="6385560" y="1127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310639" y="4322063"/>
              <a:ext cx="7717790" cy="0"/>
            </a:xfrm>
            <a:custGeom>
              <a:avLst/>
              <a:gdLst/>
              <a:ahLst/>
              <a:cxnLst/>
              <a:rect l="l" t="t" r="r" b="b"/>
              <a:pathLst>
                <a:path w="7717790" h="0">
                  <a:moveTo>
                    <a:pt x="0" y="0"/>
                  </a:moveTo>
                  <a:lnTo>
                    <a:pt x="7717535" y="0"/>
                  </a:lnTo>
                </a:path>
              </a:pathLst>
            </a:custGeom>
            <a:ln w="579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800599" y="4322063"/>
              <a:ext cx="131445" cy="923925"/>
            </a:xfrm>
            <a:custGeom>
              <a:avLst/>
              <a:gdLst/>
              <a:ahLst/>
              <a:cxnLst/>
              <a:rect l="l" t="t" r="r" b="b"/>
              <a:pathLst>
                <a:path w="131445" h="923925">
                  <a:moveTo>
                    <a:pt x="15239" y="792480"/>
                  </a:moveTo>
                  <a:lnTo>
                    <a:pt x="9144" y="798576"/>
                  </a:lnTo>
                  <a:lnTo>
                    <a:pt x="0" y="801624"/>
                  </a:lnTo>
                  <a:lnTo>
                    <a:pt x="0" y="810768"/>
                  </a:lnTo>
                  <a:lnTo>
                    <a:pt x="3048" y="816863"/>
                  </a:lnTo>
                  <a:lnTo>
                    <a:pt x="64008" y="923544"/>
                  </a:lnTo>
                  <a:lnTo>
                    <a:pt x="80467" y="896112"/>
                  </a:lnTo>
                  <a:lnTo>
                    <a:pt x="51815" y="896112"/>
                  </a:lnTo>
                  <a:lnTo>
                    <a:pt x="51815" y="845819"/>
                  </a:lnTo>
                  <a:lnTo>
                    <a:pt x="27432" y="801624"/>
                  </a:lnTo>
                  <a:lnTo>
                    <a:pt x="24384" y="795528"/>
                  </a:lnTo>
                  <a:lnTo>
                    <a:pt x="15239" y="792480"/>
                  </a:lnTo>
                  <a:close/>
                </a:path>
                <a:path w="131445" h="923925">
                  <a:moveTo>
                    <a:pt x="79248" y="843220"/>
                  </a:moveTo>
                  <a:lnTo>
                    <a:pt x="64377" y="868587"/>
                  </a:lnTo>
                  <a:lnTo>
                    <a:pt x="76200" y="890016"/>
                  </a:lnTo>
                  <a:lnTo>
                    <a:pt x="51815" y="890016"/>
                  </a:lnTo>
                  <a:lnTo>
                    <a:pt x="51815" y="896112"/>
                  </a:lnTo>
                  <a:lnTo>
                    <a:pt x="79248" y="896112"/>
                  </a:lnTo>
                  <a:lnTo>
                    <a:pt x="79248" y="890016"/>
                  </a:lnTo>
                  <a:lnTo>
                    <a:pt x="76200" y="890016"/>
                  </a:lnTo>
                  <a:lnTo>
                    <a:pt x="64377" y="868587"/>
                  </a:lnTo>
                  <a:lnTo>
                    <a:pt x="79248" y="868587"/>
                  </a:lnTo>
                  <a:lnTo>
                    <a:pt x="79248" y="843220"/>
                  </a:lnTo>
                  <a:close/>
                </a:path>
                <a:path w="131445" h="923925">
                  <a:moveTo>
                    <a:pt x="115824" y="792480"/>
                  </a:moveTo>
                  <a:lnTo>
                    <a:pt x="106679" y="795528"/>
                  </a:lnTo>
                  <a:lnTo>
                    <a:pt x="103632" y="801624"/>
                  </a:lnTo>
                  <a:lnTo>
                    <a:pt x="79248" y="843220"/>
                  </a:lnTo>
                  <a:lnTo>
                    <a:pt x="79248" y="896112"/>
                  </a:lnTo>
                  <a:lnTo>
                    <a:pt x="80467" y="896112"/>
                  </a:lnTo>
                  <a:lnTo>
                    <a:pt x="128015" y="816863"/>
                  </a:lnTo>
                  <a:lnTo>
                    <a:pt x="131063" y="810768"/>
                  </a:lnTo>
                  <a:lnTo>
                    <a:pt x="128015" y="801624"/>
                  </a:lnTo>
                  <a:lnTo>
                    <a:pt x="121920" y="798576"/>
                  </a:lnTo>
                  <a:lnTo>
                    <a:pt x="115824" y="792480"/>
                  </a:lnTo>
                  <a:close/>
                </a:path>
                <a:path w="131445" h="923925">
                  <a:moveTo>
                    <a:pt x="51815" y="845819"/>
                  </a:moveTo>
                  <a:lnTo>
                    <a:pt x="51815" y="890016"/>
                  </a:lnTo>
                  <a:lnTo>
                    <a:pt x="64377" y="868587"/>
                  </a:lnTo>
                  <a:lnTo>
                    <a:pt x="51815" y="845819"/>
                  </a:lnTo>
                  <a:close/>
                </a:path>
                <a:path w="131445" h="923925">
                  <a:moveTo>
                    <a:pt x="64377" y="54956"/>
                  </a:moveTo>
                  <a:lnTo>
                    <a:pt x="51815" y="77724"/>
                  </a:lnTo>
                  <a:lnTo>
                    <a:pt x="51815" y="845819"/>
                  </a:lnTo>
                  <a:lnTo>
                    <a:pt x="64377" y="868587"/>
                  </a:lnTo>
                  <a:lnTo>
                    <a:pt x="79248" y="843220"/>
                  </a:lnTo>
                  <a:lnTo>
                    <a:pt x="79248" y="80323"/>
                  </a:lnTo>
                  <a:lnTo>
                    <a:pt x="64377" y="54956"/>
                  </a:lnTo>
                  <a:close/>
                </a:path>
                <a:path w="131445" h="923925">
                  <a:moveTo>
                    <a:pt x="64008" y="0"/>
                  </a:moveTo>
                  <a:lnTo>
                    <a:pt x="3048" y="106680"/>
                  </a:lnTo>
                  <a:lnTo>
                    <a:pt x="0" y="112775"/>
                  </a:lnTo>
                  <a:lnTo>
                    <a:pt x="0" y="121920"/>
                  </a:lnTo>
                  <a:lnTo>
                    <a:pt x="9144" y="124968"/>
                  </a:lnTo>
                  <a:lnTo>
                    <a:pt x="15239" y="131063"/>
                  </a:lnTo>
                  <a:lnTo>
                    <a:pt x="24384" y="128015"/>
                  </a:lnTo>
                  <a:lnTo>
                    <a:pt x="27432" y="121920"/>
                  </a:lnTo>
                  <a:lnTo>
                    <a:pt x="51815" y="77724"/>
                  </a:lnTo>
                  <a:lnTo>
                    <a:pt x="51815" y="27432"/>
                  </a:lnTo>
                  <a:lnTo>
                    <a:pt x="80467" y="27432"/>
                  </a:lnTo>
                  <a:lnTo>
                    <a:pt x="64008" y="0"/>
                  </a:lnTo>
                  <a:close/>
                </a:path>
                <a:path w="131445" h="923925">
                  <a:moveTo>
                    <a:pt x="80467" y="27432"/>
                  </a:moveTo>
                  <a:lnTo>
                    <a:pt x="79248" y="27432"/>
                  </a:lnTo>
                  <a:lnTo>
                    <a:pt x="79248" y="80323"/>
                  </a:lnTo>
                  <a:lnTo>
                    <a:pt x="103632" y="121920"/>
                  </a:lnTo>
                  <a:lnTo>
                    <a:pt x="106679" y="128015"/>
                  </a:lnTo>
                  <a:lnTo>
                    <a:pt x="115824" y="131063"/>
                  </a:lnTo>
                  <a:lnTo>
                    <a:pt x="121920" y="124968"/>
                  </a:lnTo>
                  <a:lnTo>
                    <a:pt x="128015" y="121920"/>
                  </a:lnTo>
                  <a:lnTo>
                    <a:pt x="131063" y="112775"/>
                  </a:lnTo>
                  <a:lnTo>
                    <a:pt x="128015" y="106680"/>
                  </a:lnTo>
                  <a:lnTo>
                    <a:pt x="80467" y="27432"/>
                  </a:lnTo>
                  <a:close/>
                </a:path>
                <a:path w="131445" h="923925">
                  <a:moveTo>
                    <a:pt x="79248" y="33527"/>
                  </a:moveTo>
                  <a:lnTo>
                    <a:pt x="76200" y="33527"/>
                  </a:lnTo>
                  <a:lnTo>
                    <a:pt x="64377" y="54956"/>
                  </a:lnTo>
                  <a:lnTo>
                    <a:pt x="79248" y="80323"/>
                  </a:lnTo>
                  <a:lnTo>
                    <a:pt x="79248" y="33527"/>
                  </a:lnTo>
                  <a:close/>
                </a:path>
                <a:path w="131445" h="923925">
                  <a:moveTo>
                    <a:pt x="51815" y="33527"/>
                  </a:moveTo>
                  <a:lnTo>
                    <a:pt x="51815" y="77724"/>
                  </a:lnTo>
                  <a:lnTo>
                    <a:pt x="64377" y="54956"/>
                  </a:lnTo>
                  <a:lnTo>
                    <a:pt x="51815" y="33527"/>
                  </a:lnTo>
                  <a:close/>
                </a:path>
                <a:path w="131445" h="923925">
                  <a:moveTo>
                    <a:pt x="79248" y="27432"/>
                  </a:moveTo>
                  <a:lnTo>
                    <a:pt x="51815" y="27432"/>
                  </a:lnTo>
                  <a:lnTo>
                    <a:pt x="51815" y="33527"/>
                  </a:lnTo>
                  <a:lnTo>
                    <a:pt x="64377" y="54956"/>
                  </a:lnTo>
                  <a:lnTo>
                    <a:pt x="76200" y="33527"/>
                  </a:lnTo>
                  <a:lnTo>
                    <a:pt x="79248" y="33527"/>
                  </a:lnTo>
                  <a:lnTo>
                    <a:pt x="79248" y="274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748020" y="2962147"/>
            <a:ext cx="585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X:</a:t>
            </a:r>
            <a:r>
              <a:rPr dirty="0" sz="2400" spc="-5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63116" y="2462276"/>
            <a:ext cx="594360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X:</a:t>
            </a:r>
            <a:r>
              <a:rPr dirty="0" sz="2400" spc="-5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dirty="0" sz="2400" b="1">
                <a:latin typeface="Arial"/>
                <a:cs typeface="Arial"/>
              </a:rPr>
              <a:t>X:</a:t>
            </a:r>
            <a:r>
              <a:rPr dirty="0" sz="2400" spc="-5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37708" y="2447035"/>
            <a:ext cx="14363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Cache</a:t>
            </a:r>
            <a:r>
              <a:rPr dirty="0" sz="18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FF0000"/>
                </a:solidFill>
                <a:latin typeface="Arial"/>
                <a:cs typeface="Arial"/>
              </a:rPr>
              <a:t>hit: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Wrong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 data!!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729740" y="1397508"/>
            <a:ext cx="988060" cy="441959"/>
            <a:chOff x="1729740" y="1397508"/>
            <a:chExt cx="988060" cy="441959"/>
          </a:xfrm>
        </p:grpSpPr>
        <p:sp>
          <p:nvSpPr>
            <p:cNvPr id="33" name="object 33"/>
            <p:cNvSpPr/>
            <p:nvPr/>
          </p:nvSpPr>
          <p:spPr>
            <a:xfrm>
              <a:off x="1734311" y="1402079"/>
              <a:ext cx="978535" cy="433070"/>
            </a:xfrm>
            <a:custGeom>
              <a:avLst/>
              <a:gdLst/>
              <a:ahLst/>
              <a:cxnLst/>
              <a:rect l="l" t="t" r="r" b="b"/>
              <a:pathLst>
                <a:path w="978535" h="433069">
                  <a:moveTo>
                    <a:pt x="490727" y="0"/>
                  </a:moveTo>
                  <a:lnTo>
                    <a:pt x="424086" y="1987"/>
                  </a:lnTo>
                  <a:lnTo>
                    <a:pt x="360186" y="7775"/>
                  </a:lnTo>
                  <a:lnTo>
                    <a:pt x="299608" y="17097"/>
                  </a:lnTo>
                  <a:lnTo>
                    <a:pt x="242936" y="29689"/>
                  </a:lnTo>
                  <a:lnTo>
                    <a:pt x="190752" y="45287"/>
                  </a:lnTo>
                  <a:lnTo>
                    <a:pt x="143637" y="63626"/>
                  </a:lnTo>
                  <a:lnTo>
                    <a:pt x="102173" y="84442"/>
                  </a:lnTo>
                  <a:lnTo>
                    <a:pt x="66943" y="107470"/>
                  </a:lnTo>
                  <a:lnTo>
                    <a:pt x="17511" y="159102"/>
                  </a:lnTo>
                  <a:lnTo>
                    <a:pt x="0" y="216408"/>
                  </a:lnTo>
                  <a:lnTo>
                    <a:pt x="4474" y="245637"/>
                  </a:lnTo>
                  <a:lnTo>
                    <a:pt x="38528" y="300370"/>
                  </a:lnTo>
                  <a:lnTo>
                    <a:pt x="102173" y="348373"/>
                  </a:lnTo>
                  <a:lnTo>
                    <a:pt x="143637" y="369189"/>
                  </a:lnTo>
                  <a:lnTo>
                    <a:pt x="190752" y="387528"/>
                  </a:lnTo>
                  <a:lnTo>
                    <a:pt x="242936" y="403126"/>
                  </a:lnTo>
                  <a:lnTo>
                    <a:pt x="299608" y="415718"/>
                  </a:lnTo>
                  <a:lnTo>
                    <a:pt x="360186" y="425040"/>
                  </a:lnTo>
                  <a:lnTo>
                    <a:pt x="424086" y="430828"/>
                  </a:lnTo>
                  <a:lnTo>
                    <a:pt x="490727" y="432816"/>
                  </a:lnTo>
                  <a:lnTo>
                    <a:pt x="556669" y="430828"/>
                  </a:lnTo>
                  <a:lnTo>
                    <a:pt x="619985" y="425040"/>
                  </a:lnTo>
                  <a:lnTo>
                    <a:pt x="680084" y="415718"/>
                  </a:lnTo>
                  <a:lnTo>
                    <a:pt x="736374" y="403126"/>
                  </a:lnTo>
                  <a:lnTo>
                    <a:pt x="788260" y="387528"/>
                  </a:lnTo>
                  <a:lnTo>
                    <a:pt x="835151" y="369189"/>
                  </a:lnTo>
                  <a:lnTo>
                    <a:pt x="876455" y="348373"/>
                  </a:lnTo>
                  <a:lnTo>
                    <a:pt x="911577" y="325345"/>
                  </a:lnTo>
                  <a:lnTo>
                    <a:pt x="960910" y="273713"/>
                  </a:lnTo>
                  <a:lnTo>
                    <a:pt x="978407" y="216408"/>
                  </a:lnTo>
                  <a:lnTo>
                    <a:pt x="973934" y="187178"/>
                  </a:lnTo>
                  <a:lnTo>
                    <a:pt x="939926" y="132445"/>
                  </a:lnTo>
                  <a:lnTo>
                    <a:pt x="876455" y="84442"/>
                  </a:lnTo>
                  <a:lnTo>
                    <a:pt x="835151" y="63626"/>
                  </a:lnTo>
                  <a:lnTo>
                    <a:pt x="788260" y="45287"/>
                  </a:lnTo>
                  <a:lnTo>
                    <a:pt x="736374" y="29689"/>
                  </a:lnTo>
                  <a:lnTo>
                    <a:pt x="680085" y="17097"/>
                  </a:lnTo>
                  <a:lnTo>
                    <a:pt x="619985" y="7775"/>
                  </a:lnTo>
                  <a:lnTo>
                    <a:pt x="556669" y="1987"/>
                  </a:lnTo>
                  <a:lnTo>
                    <a:pt x="49072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734311" y="1402079"/>
              <a:ext cx="978535" cy="433070"/>
            </a:xfrm>
            <a:custGeom>
              <a:avLst/>
              <a:gdLst/>
              <a:ahLst/>
              <a:cxnLst/>
              <a:rect l="l" t="t" r="r" b="b"/>
              <a:pathLst>
                <a:path w="978535" h="433069">
                  <a:moveTo>
                    <a:pt x="490727" y="0"/>
                  </a:moveTo>
                  <a:lnTo>
                    <a:pt x="424086" y="1987"/>
                  </a:lnTo>
                  <a:lnTo>
                    <a:pt x="360186" y="7775"/>
                  </a:lnTo>
                  <a:lnTo>
                    <a:pt x="299608" y="17097"/>
                  </a:lnTo>
                  <a:lnTo>
                    <a:pt x="242936" y="29689"/>
                  </a:lnTo>
                  <a:lnTo>
                    <a:pt x="190752" y="45287"/>
                  </a:lnTo>
                  <a:lnTo>
                    <a:pt x="143637" y="63626"/>
                  </a:lnTo>
                  <a:lnTo>
                    <a:pt x="102173" y="84442"/>
                  </a:lnTo>
                  <a:lnTo>
                    <a:pt x="66943" y="107470"/>
                  </a:lnTo>
                  <a:lnTo>
                    <a:pt x="17511" y="159102"/>
                  </a:lnTo>
                  <a:lnTo>
                    <a:pt x="0" y="216408"/>
                  </a:lnTo>
                  <a:lnTo>
                    <a:pt x="4474" y="245637"/>
                  </a:lnTo>
                  <a:lnTo>
                    <a:pt x="38528" y="300370"/>
                  </a:lnTo>
                  <a:lnTo>
                    <a:pt x="102173" y="348373"/>
                  </a:lnTo>
                  <a:lnTo>
                    <a:pt x="143637" y="369189"/>
                  </a:lnTo>
                  <a:lnTo>
                    <a:pt x="190752" y="387528"/>
                  </a:lnTo>
                  <a:lnTo>
                    <a:pt x="242936" y="403126"/>
                  </a:lnTo>
                  <a:lnTo>
                    <a:pt x="299608" y="415718"/>
                  </a:lnTo>
                  <a:lnTo>
                    <a:pt x="360186" y="425040"/>
                  </a:lnTo>
                  <a:lnTo>
                    <a:pt x="424086" y="430828"/>
                  </a:lnTo>
                  <a:lnTo>
                    <a:pt x="490727" y="432816"/>
                  </a:lnTo>
                  <a:lnTo>
                    <a:pt x="556669" y="430828"/>
                  </a:lnTo>
                  <a:lnTo>
                    <a:pt x="619985" y="425040"/>
                  </a:lnTo>
                  <a:lnTo>
                    <a:pt x="680084" y="415718"/>
                  </a:lnTo>
                  <a:lnTo>
                    <a:pt x="736374" y="403126"/>
                  </a:lnTo>
                  <a:lnTo>
                    <a:pt x="788260" y="387528"/>
                  </a:lnTo>
                  <a:lnTo>
                    <a:pt x="835151" y="369189"/>
                  </a:lnTo>
                  <a:lnTo>
                    <a:pt x="876455" y="348373"/>
                  </a:lnTo>
                  <a:lnTo>
                    <a:pt x="911577" y="325345"/>
                  </a:lnTo>
                  <a:lnTo>
                    <a:pt x="960910" y="273713"/>
                  </a:lnTo>
                  <a:lnTo>
                    <a:pt x="978407" y="216408"/>
                  </a:lnTo>
                  <a:lnTo>
                    <a:pt x="973934" y="187178"/>
                  </a:lnTo>
                  <a:lnTo>
                    <a:pt x="939926" y="132445"/>
                  </a:lnTo>
                  <a:lnTo>
                    <a:pt x="876455" y="84442"/>
                  </a:lnTo>
                  <a:lnTo>
                    <a:pt x="835151" y="63626"/>
                  </a:lnTo>
                  <a:lnTo>
                    <a:pt x="788260" y="45287"/>
                  </a:lnTo>
                  <a:lnTo>
                    <a:pt x="736374" y="29689"/>
                  </a:lnTo>
                  <a:lnTo>
                    <a:pt x="680085" y="17097"/>
                  </a:lnTo>
                  <a:lnTo>
                    <a:pt x="619985" y="7775"/>
                  </a:lnTo>
                  <a:lnTo>
                    <a:pt x="556669" y="1987"/>
                  </a:lnTo>
                  <a:lnTo>
                    <a:pt x="490727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5969508" y="1379220"/>
            <a:ext cx="988060" cy="441959"/>
            <a:chOff x="5969508" y="1379220"/>
            <a:chExt cx="988060" cy="441959"/>
          </a:xfrm>
        </p:grpSpPr>
        <p:sp>
          <p:nvSpPr>
            <p:cNvPr id="36" name="object 36"/>
            <p:cNvSpPr/>
            <p:nvPr/>
          </p:nvSpPr>
          <p:spPr>
            <a:xfrm>
              <a:off x="5974079" y="1383792"/>
              <a:ext cx="978535" cy="433070"/>
            </a:xfrm>
            <a:custGeom>
              <a:avLst/>
              <a:gdLst/>
              <a:ahLst/>
              <a:cxnLst/>
              <a:rect l="l" t="t" r="r" b="b"/>
              <a:pathLst>
                <a:path w="978534" h="433069">
                  <a:moveTo>
                    <a:pt x="490728" y="0"/>
                  </a:moveTo>
                  <a:lnTo>
                    <a:pt x="424086" y="1987"/>
                  </a:lnTo>
                  <a:lnTo>
                    <a:pt x="360186" y="7775"/>
                  </a:lnTo>
                  <a:lnTo>
                    <a:pt x="299608" y="17097"/>
                  </a:lnTo>
                  <a:lnTo>
                    <a:pt x="242936" y="29689"/>
                  </a:lnTo>
                  <a:lnTo>
                    <a:pt x="190752" y="45287"/>
                  </a:lnTo>
                  <a:lnTo>
                    <a:pt x="143636" y="63626"/>
                  </a:lnTo>
                  <a:lnTo>
                    <a:pt x="102173" y="84442"/>
                  </a:lnTo>
                  <a:lnTo>
                    <a:pt x="66943" y="107470"/>
                  </a:lnTo>
                  <a:lnTo>
                    <a:pt x="17511" y="159102"/>
                  </a:lnTo>
                  <a:lnTo>
                    <a:pt x="0" y="216408"/>
                  </a:lnTo>
                  <a:lnTo>
                    <a:pt x="4474" y="245637"/>
                  </a:lnTo>
                  <a:lnTo>
                    <a:pt x="38528" y="300370"/>
                  </a:lnTo>
                  <a:lnTo>
                    <a:pt x="102173" y="348373"/>
                  </a:lnTo>
                  <a:lnTo>
                    <a:pt x="143637" y="369189"/>
                  </a:lnTo>
                  <a:lnTo>
                    <a:pt x="190752" y="387528"/>
                  </a:lnTo>
                  <a:lnTo>
                    <a:pt x="242936" y="403126"/>
                  </a:lnTo>
                  <a:lnTo>
                    <a:pt x="299608" y="415718"/>
                  </a:lnTo>
                  <a:lnTo>
                    <a:pt x="360186" y="425040"/>
                  </a:lnTo>
                  <a:lnTo>
                    <a:pt x="424086" y="430828"/>
                  </a:lnTo>
                  <a:lnTo>
                    <a:pt x="490728" y="432816"/>
                  </a:lnTo>
                  <a:lnTo>
                    <a:pt x="556669" y="430828"/>
                  </a:lnTo>
                  <a:lnTo>
                    <a:pt x="619985" y="425040"/>
                  </a:lnTo>
                  <a:lnTo>
                    <a:pt x="680084" y="415718"/>
                  </a:lnTo>
                  <a:lnTo>
                    <a:pt x="736374" y="403126"/>
                  </a:lnTo>
                  <a:lnTo>
                    <a:pt x="788260" y="387528"/>
                  </a:lnTo>
                  <a:lnTo>
                    <a:pt x="835151" y="369189"/>
                  </a:lnTo>
                  <a:lnTo>
                    <a:pt x="876455" y="348373"/>
                  </a:lnTo>
                  <a:lnTo>
                    <a:pt x="911577" y="325345"/>
                  </a:lnTo>
                  <a:lnTo>
                    <a:pt x="960910" y="273713"/>
                  </a:lnTo>
                  <a:lnTo>
                    <a:pt x="978408" y="216408"/>
                  </a:lnTo>
                  <a:lnTo>
                    <a:pt x="973934" y="187178"/>
                  </a:lnTo>
                  <a:lnTo>
                    <a:pt x="939927" y="132445"/>
                  </a:lnTo>
                  <a:lnTo>
                    <a:pt x="876455" y="84442"/>
                  </a:lnTo>
                  <a:lnTo>
                    <a:pt x="835151" y="63626"/>
                  </a:lnTo>
                  <a:lnTo>
                    <a:pt x="788260" y="45287"/>
                  </a:lnTo>
                  <a:lnTo>
                    <a:pt x="736374" y="29689"/>
                  </a:lnTo>
                  <a:lnTo>
                    <a:pt x="680085" y="17097"/>
                  </a:lnTo>
                  <a:lnTo>
                    <a:pt x="619985" y="7775"/>
                  </a:lnTo>
                  <a:lnTo>
                    <a:pt x="556669" y="1987"/>
                  </a:lnTo>
                  <a:lnTo>
                    <a:pt x="490728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974079" y="1383792"/>
              <a:ext cx="978535" cy="433070"/>
            </a:xfrm>
            <a:custGeom>
              <a:avLst/>
              <a:gdLst/>
              <a:ahLst/>
              <a:cxnLst/>
              <a:rect l="l" t="t" r="r" b="b"/>
              <a:pathLst>
                <a:path w="978534" h="433069">
                  <a:moveTo>
                    <a:pt x="490728" y="0"/>
                  </a:moveTo>
                  <a:lnTo>
                    <a:pt x="424086" y="1987"/>
                  </a:lnTo>
                  <a:lnTo>
                    <a:pt x="360186" y="7775"/>
                  </a:lnTo>
                  <a:lnTo>
                    <a:pt x="299608" y="17097"/>
                  </a:lnTo>
                  <a:lnTo>
                    <a:pt x="242936" y="29689"/>
                  </a:lnTo>
                  <a:lnTo>
                    <a:pt x="190752" y="45287"/>
                  </a:lnTo>
                  <a:lnTo>
                    <a:pt x="143636" y="63626"/>
                  </a:lnTo>
                  <a:lnTo>
                    <a:pt x="102173" y="84442"/>
                  </a:lnTo>
                  <a:lnTo>
                    <a:pt x="66943" y="107470"/>
                  </a:lnTo>
                  <a:lnTo>
                    <a:pt x="17511" y="159102"/>
                  </a:lnTo>
                  <a:lnTo>
                    <a:pt x="0" y="216408"/>
                  </a:lnTo>
                  <a:lnTo>
                    <a:pt x="4474" y="245637"/>
                  </a:lnTo>
                  <a:lnTo>
                    <a:pt x="38528" y="300370"/>
                  </a:lnTo>
                  <a:lnTo>
                    <a:pt x="102173" y="348373"/>
                  </a:lnTo>
                  <a:lnTo>
                    <a:pt x="143637" y="369189"/>
                  </a:lnTo>
                  <a:lnTo>
                    <a:pt x="190752" y="387528"/>
                  </a:lnTo>
                  <a:lnTo>
                    <a:pt x="242936" y="403126"/>
                  </a:lnTo>
                  <a:lnTo>
                    <a:pt x="299608" y="415718"/>
                  </a:lnTo>
                  <a:lnTo>
                    <a:pt x="360186" y="425040"/>
                  </a:lnTo>
                  <a:lnTo>
                    <a:pt x="424086" y="430828"/>
                  </a:lnTo>
                  <a:lnTo>
                    <a:pt x="490728" y="432816"/>
                  </a:lnTo>
                  <a:lnTo>
                    <a:pt x="556669" y="430828"/>
                  </a:lnTo>
                  <a:lnTo>
                    <a:pt x="619985" y="425040"/>
                  </a:lnTo>
                  <a:lnTo>
                    <a:pt x="680084" y="415718"/>
                  </a:lnTo>
                  <a:lnTo>
                    <a:pt x="736374" y="403126"/>
                  </a:lnTo>
                  <a:lnTo>
                    <a:pt x="788260" y="387528"/>
                  </a:lnTo>
                  <a:lnTo>
                    <a:pt x="835151" y="369189"/>
                  </a:lnTo>
                  <a:lnTo>
                    <a:pt x="876455" y="348373"/>
                  </a:lnTo>
                  <a:lnTo>
                    <a:pt x="911577" y="325345"/>
                  </a:lnTo>
                  <a:lnTo>
                    <a:pt x="960910" y="273713"/>
                  </a:lnTo>
                  <a:lnTo>
                    <a:pt x="978408" y="216408"/>
                  </a:lnTo>
                  <a:lnTo>
                    <a:pt x="973934" y="187178"/>
                  </a:lnTo>
                  <a:lnTo>
                    <a:pt x="939927" y="132445"/>
                  </a:lnTo>
                  <a:lnTo>
                    <a:pt x="876455" y="84442"/>
                  </a:lnTo>
                  <a:lnTo>
                    <a:pt x="835151" y="63626"/>
                  </a:lnTo>
                  <a:lnTo>
                    <a:pt x="788260" y="45287"/>
                  </a:lnTo>
                  <a:lnTo>
                    <a:pt x="736374" y="29689"/>
                  </a:lnTo>
                  <a:lnTo>
                    <a:pt x="680085" y="17097"/>
                  </a:lnTo>
                  <a:lnTo>
                    <a:pt x="619985" y="7775"/>
                  </a:lnTo>
                  <a:lnTo>
                    <a:pt x="556669" y="1987"/>
                  </a:lnTo>
                  <a:lnTo>
                    <a:pt x="490728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865124" y="1364996"/>
            <a:ext cx="2633345" cy="81788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ctr" marL="118745">
              <a:lnSpc>
                <a:spcPct val="100000"/>
              </a:lnSpc>
              <a:spcBef>
                <a:spcPts val="340"/>
              </a:spcBef>
            </a:pPr>
            <a:r>
              <a:rPr dirty="0" sz="2400" spc="-25">
                <a:latin typeface="Arial MT"/>
                <a:cs typeface="Arial MT"/>
              </a:rPr>
              <a:t>P1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400" b="1">
                <a:latin typeface="Arial"/>
                <a:cs typeface="Arial"/>
              </a:rPr>
              <a:t>Read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X  Write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spc="-25" b="1">
                <a:latin typeface="Arial"/>
                <a:cs typeface="Arial"/>
              </a:rPr>
              <a:t>X=1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pc="-25"/>
              <a:t>17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5906515" y="1349756"/>
            <a:ext cx="1061085" cy="842644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ctr" marL="63500">
              <a:lnSpc>
                <a:spcPct val="100000"/>
              </a:lnSpc>
              <a:spcBef>
                <a:spcPts val="434"/>
              </a:spcBef>
            </a:pPr>
            <a:r>
              <a:rPr dirty="0" sz="2400" spc="-25">
                <a:latin typeface="Arial MT"/>
                <a:cs typeface="Arial MT"/>
              </a:rPr>
              <a:t>P2</a:t>
            </a: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2400" b="1">
                <a:latin typeface="Arial"/>
                <a:cs typeface="Arial"/>
              </a:rPr>
              <a:t>Read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40"/>
              <a:t>Cache</a:t>
            </a:r>
            <a:r>
              <a:rPr dirty="0" spc="-110"/>
              <a:t> </a:t>
            </a:r>
            <a:r>
              <a:rPr dirty="0" spc="-355"/>
              <a:t>Coherence</a:t>
            </a:r>
            <a:r>
              <a:rPr dirty="0" spc="-105"/>
              <a:t> </a:t>
            </a:r>
            <a:r>
              <a:rPr dirty="0" spc="-265"/>
              <a:t>Problem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pc="-25"/>
              <a:t>18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60652"/>
            <a:ext cx="8004809" cy="4800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If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each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processor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</a:t>
            </a:r>
            <a:r>
              <a:rPr dirty="0" sz="3000" spc="-2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shared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memory </a:t>
            </a:r>
            <a:r>
              <a:rPr dirty="0" sz="3000" spc="-10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multiple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processor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machine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has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data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cache</a:t>
            </a:r>
            <a:endParaRPr sz="3000">
              <a:latin typeface="Arial MT"/>
              <a:cs typeface="Arial MT"/>
            </a:endParaRPr>
          </a:p>
          <a:p>
            <a:pPr lvl="1" marL="683260" marR="563880" indent="-326390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Potential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data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consistency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problem: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cache </a:t>
            </a:r>
            <a:r>
              <a:rPr dirty="0" sz="2600">
                <a:latin typeface="Arial MT"/>
                <a:cs typeface="Arial MT"/>
              </a:rPr>
              <a:t>coherence</a:t>
            </a:r>
            <a:r>
              <a:rPr dirty="0" sz="2600" spc="-11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problem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2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Shared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variable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modification,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private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cache</a:t>
            </a:r>
            <a:endParaRPr sz="2600">
              <a:latin typeface="Arial MT"/>
              <a:cs typeface="Arial MT"/>
            </a:endParaRPr>
          </a:p>
          <a:p>
            <a:pPr marL="355600" marR="489584" indent="-343535">
              <a:lnSpc>
                <a:spcPct val="100000"/>
              </a:lnSpc>
              <a:spcBef>
                <a:spcPts val="705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Objective: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processes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shouldn’t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read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`stale’ </a:t>
            </a:r>
            <a:r>
              <a:rPr dirty="0" sz="3000" spc="-10">
                <a:latin typeface="Arial MT"/>
                <a:cs typeface="Arial MT"/>
              </a:rPr>
              <a:t>	</a:t>
            </a:r>
            <a:r>
              <a:rPr dirty="0" sz="3000" spc="-20">
                <a:latin typeface="Arial MT"/>
                <a:cs typeface="Arial MT"/>
              </a:rPr>
              <a:t>data</a:t>
            </a:r>
            <a:endParaRPr sz="30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72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235" algn="l"/>
              </a:tabLst>
            </a:pPr>
            <a:r>
              <a:rPr dirty="0" sz="3000" spc="-10">
                <a:latin typeface="Arial MT"/>
                <a:cs typeface="Arial MT"/>
              </a:rPr>
              <a:t>Solutions</a:t>
            </a:r>
            <a:endParaRPr sz="30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6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Hardware: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cache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coherence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mechanisms</a:t>
            </a:r>
            <a:endParaRPr sz="26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25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Software: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compiler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assisted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cache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coherence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0"/>
              <a:t>Example:</a:t>
            </a:r>
            <a:r>
              <a:rPr dirty="0" spc="-100"/>
              <a:t> </a:t>
            </a:r>
            <a:r>
              <a:rPr dirty="0" spc="-160"/>
              <a:t>Write</a:t>
            </a:r>
            <a:r>
              <a:rPr dirty="0" spc="-90"/>
              <a:t> </a:t>
            </a:r>
            <a:r>
              <a:rPr dirty="0" spc="-295"/>
              <a:t>Once</a:t>
            </a:r>
            <a:r>
              <a:rPr dirty="0" spc="-90"/>
              <a:t> </a:t>
            </a:r>
            <a:r>
              <a:rPr dirty="0" spc="-140"/>
              <a:t>Protocol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pc="-25"/>
              <a:t>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60652"/>
            <a:ext cx="7832090" cy="4215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64769" indent="-343535">
              <a:lnSpc>
                <a:spcPct val="100000"/>
              </a:lnSpc>
              <a:spcBef>
                <a:spcPts val="10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Assumption:</a:t>
            </a:r>
            <a:r>
              <a:rPr dirty="0" sz="3000" spc="-8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shared</a:t>
            </a:r>
            <a:r>
              <a:rPr dirty="0" sz="3000" spc="-7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bus</a:t>
            </a:r>
            <a:r>
              <a:rPr dirty="0" sz="3000" spc="-5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interconnect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where </a:t>
            </a:r>
            <a:r>
              <a:rPr dirty="0" sz="3000" spc="-10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all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cache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controllers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monitor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all</a:t>
            </a:r>
            <a:r>
              <a:rPr dirty="0" sz="3000" spc="-6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bus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activity</a:t>
            </a:r>
            <a:endParaRPr sz="3000">
              <a:latin typeface="Arial MT"/>
              <a:cs typeface="Arial MT"/>
            </a:endParaRPr>
          </a:p>
          <a:p>
            <a:pPr lvl="1" marL="682625" indent="-325755">
              <a:lnSpc>
                <a:spcPct val="100000"/>
              </a:lnSpc>
              <a:spcBef>
                <a:spcPts val="66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2625" algn="l"/>
              </a:tabLst>
            </a:pPr>
            <a:r>
              <a:rPr dirty="0" sz="2600">
                <a:latin typeface="Arial MT"/>
                <a:cs typeface="Arial MT"/>
              </a:rPr>
              <a:t>Called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0000FF"/>
                </a:solidFill>
                <a:latin typeface="Arial MT"/>
                <a:cs typeface="Arial MT"/>
              </a:rPr>
              <a:t>snooping</a:t>
            </a:r>
            <a:endParaRPr sz="260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680"/>
              </a:spcBef>
              <a:buClr>
                <a:srgbClr val="CC9900"/>
              </a:buClr>
              <a:buSzPct val="66666"/>
              <a:buFont typeface="Wingdings"/>
              <a:buChar char=""/>
              <a:tabLst>
                <a:tab pos="356870" algn="l"/>
              </a:tabLst>
            </a:pPr>
            <a:r>
              <a:rPr dirty="0" sz="3000">
                <a:latin typeface="Arial MT"/>
                <a:cs typeface="Arial MT"/>
              </a:rPr>
              <a:t>There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is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only</a:t>
            </a:r>
            <a:r>
              <a:rPr dirty="0" sz="3000" spc="-6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one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operation</a:t>
            </a:r>
            <a:r>
              <a:rPr dirty="0" sz="3000" spc="-2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through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bus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at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 spc="-50">
                <a:latin typeface="Arial MT"/>
                <a:cs typeface="Arial MT"/>
              </a:rPr>
              <a:t>a </a:t>
            </a:r>
            <a:r>
              <a:rPr dirty="0" sz="3000" spc="-50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time;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cache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controllers</a:t>
            </a:r>
            <a:r>
              <a:rPr dirty="0" sz="3000" spc="-4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can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be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built</a:t>
            </a:r>
            <a:r>
              <a:rPr dirty="0" sz="3000" spc="-5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to</a:t>
            </a:r>
            <a:r>
              <a:rPr dirty="0" sz="3000" spc="-20">
                <a:latin typeface="Arial MT"/>
                <a:cs typeface="Arial MT"/>
              </a:rPr>
              <a:t> take </a:t>
            </a:r>
            <a:r>
              <a:rPr dirty="0" sz="3000" spc="-20">
                <a:latin typeface="Arial MT"/>
                <a:cs typeface="Arial MT"/>
              </a:rPr>
              <a:t>	</a:t>
            </a:r>
            <a:r>
              <a:rPr dirty="0" sz="3000">
                <a:latin typeface="Arial MT"/>
                <a:cs typeface="Arial MT"/>
              </a:rPr>
              <a:t>corrective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action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and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enforce</a:t>
            </a:r>
            <a:r>
              <a:rPr dirty="0" sz="3000" spc="-7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coherence</a:t>
            </a:r>
            <a:r>
              <a:rPr dirty="0" sz="3000" spc="-45">
                <a:latin typeface="Arial MT"/>
                <a:cs typeface="Arial MT"/>
              </a:rPr>
              <a:t> </a:t>
            </a:r>
            <a:r>
              <a:rPr dirty="0" sz="3000" spc="-25">
                <a:latin typeface="Arial MT"/>
                <a:cs typeface="Arial MT"/>
              </a:rPr>
              <a:t>in </a:t>
            </a:r>
            <a:r>
              <a:rPr dirty="0" sz="3000" spc="-25">
                <a:latin typeface="Arial MT"/>
                <a:cs typeface="Arial MT"/>
              </a:rPr>
              <a:t>	</a:t>
            </a:r>
            <a:r>
              <a:rPr dirty="0" sz="3000" spc="-10">
                <a:latin typeface="Arial MT"/>
                <a:cs typeface="Arial MT"/>
              </a:rPr>
              <a:t>caches</a:t>
            </a:r>
            <a:endParaRPr sz="3000">
              <a:latin typeface="Arial MT"/>
              <a:cs typeface="Arial MT"/>
            </a:endParaRPr>
          </a:p>
          <a:p>
            <a:pPr lvl="1" marL="683260" marR="907415" indent="-326390">
              <a:lnSpc>
                <a:spcPct val="100800"/>
              </a:lnSpc>
              <a:spcBef>
                <a:spcPts val="640"/>
              </a:spcBef>
              <a:buClr>
                <a:srgbClr val="3A802E"/>
              </a:buClr>
              <a:buSzPct val="61538"/>
              <a:buFont typeface="Wingdings"/>
              <a:buChar char=""/>
              <a:tabLst>
                <a:tab pos="683260" algn="l"/>
              </a:tabLst>
            </a:pPr>
            <a:r>
              <a:rPr dirty="0" sz="2600">
                <a:latin typeface="Arial MT"/>
                <a:cs typeface="Arial MT"/>
              </a:rPr>
              <a:t>Corrective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action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could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involve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3A802E"/>
                </a:solidFill>
                <a:latin typeface="Arial MT"/>
                <a:cs typeface="Arial MT"/>
              </a:rPr>
              <a:t>updating</a:t>
            </a:r>
            <a:r>
              <a:rPr dirty="0" sz="2600" spc="-7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or </a:t>
            </a:r>
            <a:r>
              <a:rPr dirty="0" sz="2600">
                <a:solidFill>
                  <a:srgbClr val="3A802E"/>
                </a:solidFill>
                <a:latin typeface="Arial MT"/>
                <a:cs typeface="Arial MT"/>
              </a:rPr>
              <a:t>invalidating</a:t>
            </a:r>
            <a:r>
              <a:rPr dirty="0" sz="2600" spc="-85">
                <a:solidFill>
                  <a:srgbClr val="3A802E"/>
                </a:solidFill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cache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block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5125" y="5277421"/>
            <a:ext cx="6968490" cy="1338580"/>
            <a:chOff x="1385125" y="5277421"/>
            <a:chExt cx="6968490" cy="1338580"/>
          </a:xfrm>
        </p:grpSpPr>
        <p:sp>
          <p:nvSpPr>
            <p:cNvPr id="3" name="object 3"/>
            <p:cNvSpPr/>
            <p:nvPr/>
          </p:nvSpPr>
          <p:spPr>
            <a:xfrm>
              <a:off x="1389888" y="5282184"/>
              <a:ext cx="6958965" cy="1329055"/>
            </a:xfrm>
            <a:custGeom>
              <a:avLst/>
              <a:gdLst/>
              <a:ahLst/>
              <a:cxnLst/>
              <a:rect l="l" t="t" r="r" b="b"/>
              <a:pathLst>
                <a:path w="6958965" h="1329054">
                  <a:moveTo>
                    <a:pt x="6958584" y="0"/>
                  </a:moveTo>
                  <a:lnTo>
                    <a:pt x="332231" y="0"/>
                  </a:lnTo>
                  <a:lnTo>
                    <a:pt x="0" y="332232"/>
                  </a:lnTo>
                  <a:lnTo>
                    <a:pt x="0" y="1328928"/>
                  </a:lnTo>
                  <a:lnTo>
                    <a:pt x="6623304" y="1328928"/>
                  </a:lnTo>
                  <a:lnTo>
                    <a:pt x="6958584" y="996696"/>
                  </a:lnTo>
                  <a:lnTo>
                    <a:pt x="695858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89888" y="5282184"/>
              <a:ext cx="6958965" cy="332740"/>
            </a:xfrm>
            <a:custGeom>
              <a:avLst/>
              <a:gdLst/>
              <a:ahLst/>
              <a:cxnLst/>
              <a:rect l="l" t="t" r="r" b="b"/>
              <a:pathLst>
                <a:path w="6958965" h="332739">
                  <a:moveTo>
                    <a:pt x="6958584" y="0"/>
                  </a:moveTo>
                  <a:lnTo>
                    <a:pt x="332231" y="0"/>
                  </a:lnTo>
                  <a:lnTo>
                    <a:pt x="0" y="332232"/>
                  </a:lnTo>
                  <a:lnTo>
                    <a:pt x="6623304" y="332232"/>
                  </a:lnTo>
                  <a:lnTo>
                    <a:pt x="6958584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013192" y="5282184"/>
              <a:ext cx="335280" cy="1329055"/>
            </a:xfrm>
            <a:custGeom>
              <a:avLst/>
              <a:gdLst/>
              <a:ahLst/>
              <a:cxnLst/>
              <a:rect l="l" t="t" r="r" b="b"/>
              <a:pathLst>
                <a:path w="335279" h="1329054">
                  <a:moveTo>
                    <a:pt x="335279" y="0"/>
                  </a:moveTo>
                  <a:lnTo>
                    <a:pt x="0" y="332232"/>
                  </a:lnTo>
                  <a:lnTo>
                    <a:pt x="0" y="1328928"/>
                  </a:lnTo>
                  <a:lnTo>
                    <a:pt x="335279" y="996696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89888" y="5282184"/>
              <a:ext cx="6958965" cy="1329055"/>
            </a:xfrm>
            <a:custGeom>
              <a:avLst/>
              <a:gdLst/>
              <a:ahLst/>
              <a:cxnLst/>
              <a:rect l="l" t="t" r="r" b="b"/>
              <a:pathLst>
                <a:path w="6958965" h="1329054">
                  <a:moveTo>
                    <a:pt x="332231" y="0"/>
                  </a:moveTo>
                  <a:lnTo>
                    <a:pt x="0" y="332232"/>
                  </a:lnTo>
                  <a:lnTo>
                    <a:pt x="0" y="1328928"/>
                  </a:lnTo>
                  <a:lnTo>
                    <a:pt x="6623304" y="1328928"/>
                  </a:lnTo>
                  <a:lnTo>
                    <a:pt x="6958584" y="996696"/>
                  </a:lnTo>
                  <a:lnTo>
                    <a:pt x="6958584" y="0"/>
                  </a:lnTo>
                  <a:lnTo>
                    <a:pt x="332231" y="0"/>
                  </a:lnTo>
                  <a:close/>
                </a:path>
                <a:path w="6958965" h="1329054">
                  <a:moveTo>
                    <a:pt x="0" y="332232"/>
                  </a:moveTo>
                  <a:lnTo>
                    <a:pt x="6623304" y="332232"/>
                  </a:lnTo>
                  <a:lnTo>
                    <a:pt x="6958584" y="0"/>
                  </a:lnTo>
                </a:path>
                <a:path w="6958965" h="1329054">
                  <a:moveTo>
                    <a:pt x="6623304" y="332232"/>
                  </a:moveTo>
                  <a:lnTo>
                    <a:pt x="6623304" y="1328928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534915" y="5665723"/>
            <a:ext cx="615950" cy="89725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43180">
              <a:lnSpc>
                <a:spcPct val="100000"/>
              </a:lnSpc>
              <a:spcBef>
                <a:spcPts val="650"/>
              </a:spcBef>
            </a:pPr>
            <a:r>
              <a:rPr dirty="0" sz="2400" b="1">
                <a:latin typeface="Arial"/>
                <a:cs typeface="Arial"/>
              </a:rPr>
              <a:t>X:</a:t>
            </a:r>
            <a:r>
              <a:rPr dirty="0" sz="2400" spc="-5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400" b="1">
                <a:latin typeface="Arial"/>
                <a:cs typeface="Arial"/>
              </a:rPr>
              <a:t>X:</a:t>
            </a:r>
            <a:r>
              <a:rPr dirty="0" sz="2400" spc="-5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10639" y="2162556"/>
            <a:ext cx="7722234" cy="3083560"/>
            <a:chOff x="1310639" y="2162556"/>
            <a:chExt cx="7722234" cy="3083560"/>
          </a:xfrm>
        </p:grpSpPr>
        <p:sp>
          <p:nvSpPr>
            <p:cNvPr id="9" name="object 9"/>
            <p:cNvSpPr/>
            <p:nvPr/>
          </p:nvSpPr>
          <p:spPr>
            <a:xfrm>
              <a:off x="1389887" y="2167127"/>
              <a:ext cx="1386840" cy="1158240"/>
            </a:xfrm>
            <a:custGeom>
              <a:avLst/>
              <a:gdLst/>
              <a:ahLst/>
              <a:cxnLst/>
              <a:rect l="l" t="t" r="r" b="b"/>
              <a:pathLst>
                <a:path w="1386839" h="1158239">
                  <a:moveTo>
                    <a:pt x="1386839" y="0"/>
                  </a:moveTo>
                  <a:lnTo>
                    <a:pt x="289560" y="0"/>
                  </a:lnTo>
                  <a:lnTo>
                    <a:pt x="0" y="289560"/>
                  </a:lnTo>
                  <a:lnTo>
                    <a:pt x="0" y="1158239"/>
                  </a:lnTo>
                  <a:lnTo>
                    <a:pt x="1097280" y="1158239"/>
                  </a:lnTo>
                  <a:lnTo>
                    <a:pt x="1386839" y="868680"/>
                  </a:lnTo>
                  <a:lnTo>
                    <a:pt x="138683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89887" y="2167127"/>
              <a:ext cx="1386840" cy="289560"/>
            </a:xfrm>
            <a:custGeom>
              <a:avLst/>
              <a:gdLst/>
              <a:ahLst/>
              <a:cxnLst/>
              <a:rect l="l" t="t" r="r" b="b"/>
              <a:pathLst>
                <a:path w="1386839" h="289560">
                  <a:moveTo>
                    <a:pt x="1386839" y="0"/>
                  </a:moveTo>
                  <a:lnTo>
                    <a:pt x="289560" y="0"/>
                  </a:lnTo>
                  <a:lnTo>
                    <a:pt x="0" y="289560"/>
                  </a:lnTo>
                  <a:lnTo>
                    <a:pt x="1097280" y="289560"/>
                  </a:lnTo>
                  <a:lnTo>
                    <a:pt x="1386839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487167" y="2167127"/>
              <a:ext cx="289560" cy="1158240"/>
            </a:xfrm>
            <a:custGeom>
              <a:avLst/>
              <a:gdLst/>
              <a:ahLst/>
              <a:cxnLst/>
              <a:rect l="l" t="t" r="r" b="b"/>
              <a:pathLst>
                <a:path w="289560" h="1158239">
                  <a:moveTo>
                    <a:pt x="289559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289559" y="868680"/>
                  </a:lnTo>
                  <a:lnTo>
                    <a:pt x="289559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389887" y="2167127"/>
              <a:ext cx="1386840" cy="1158240"/>
            </a:xfrm>
            <a:custGeom>
              <a:avLst/>
              <a:gdLst/>
              <a:ahLst/>
              <a:cxnLst/>
              <a:rect l="l" t="t" r="r" b="b"/>
              <a:pathLst>
                <a:path w="1386839" h="1158239">
                  <a:moveTo>
                    <a:pt x="289560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1097280" y="1158239"/>
                  </a:lnTo>
                  <a:lnTo>
                    <a:pt x="1386839" y="868680"/>
                  </a:lnTo>
                  <a:lnTo>
                    <a:pt x="1386839" y="0"/>
                  </a:lnTo>
                  <a:lnTo>
                    <a:pt x="289560" y="0"/>
                  </a:lnTo>
                  <a:close/>
                </a:path>
                <a:path w="1386839" h="1158239">
                  <a:moveTo>
                    <a:pt x="0" y="289560"/>
                  </a:moveTo>
                  <a:lnTo>
                    <a:pt x="1097280" y="289560"/>
                  </a:lnTo>
                  <a:lnTo>
                    <a:pt x="1386839" y="0"/>
                  </a:lnTo>
                </a:path>
                <a:path w="1386839" h="1158239">
                  <a:moveTo>
                    <a:pt x="1097280" y="289560"/>
                  </a:moveTo>
                  <a:lnTo>
                    <a:pt x="1097280" y="1158239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480816" y="2167127"/>
              <a:ext cx="1384300" cy="1158240"/>
            </a:xfrm>
            <a:custGeom>
              <a:avLst/>
              <a:gdLst/>
              <a:ahLst/>
              <a:cxnLst/>
              <a:rect l="l" t="t" r="r" b="b"/>
              <a:pathLst>
                <a:path w="1384300" h="1158239">
                  <a:moveTo>
                    <a:pt x="1383792" y="0"/>
                  </a:moveTo>
                  <a:lnTo>
                    <a:pt x="289560" y="0"/>
                  </a:lnTo>
                  <a:lnTo>
                    <a:pt x="0" y="289560"/>
                  </a:lnTo>
                  <a:lnTo>
                    <a:pt x="0" y="1158239"/>
                  </a:lnTo>
                  <a:lnTo>
                    <a:pt x="1094232" y="1158239"/>
                  </a:lnTo>
                  <a:lnTo>
                    <a:pt x="1383792" y="868680"/>
                  </a:lnTo>
                  <a:lnTo>
                    <a:pt x="138379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480816" y="2167127"/>
              <a:ext cx="1384300" cy="289560"/>
            </a:xfrm>
            <a:custGeom>
              <a:avLst/>
              <a:gdLst/>
              <a:ahLst/>
              <a:cxnLst/>
              <a:rect l="l" t="t" r="r" b="b"/>
              <a:pathLst>
                <a:path w="1384300" h="289560">
                  <a:moveTo>
                    <a:pt x="1383792" y="0"/>
                  </a:moveTo>
                  <a:lnTo>
                    <a:pt x="289560" y="0"/>
                  </a:lnTo>
                  <a:lnTo>
                    <a:pt x="0" y="289560"/>
                  </a:lnTo>
                  <a:lnTo>
                    <a:pt x="1094232" y="289560"/>
                  </a:lnTo>
                  <a:lnTo>
                    <a:pt x="1383792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75048" y="2167127"/>
              <a:ext cx="289560" cy="1158240"/>
            </a:xfrm>
            <a:custGeom>
              <a:avLst/>
              <a:gdLst/>
              <a:ahLst/>
              <a:cxnLst/>
              <a:rect l="l" t="t" r="r" b="b"/>
              <a:pathLst>
                <a:path w="289560" h="1158239">
                  <a:moveTo>
                    <a:pt x="289560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289560" y="868680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480816" y="2167127"/>
              <a:ext cx="1384300" cy="1158240"/>
            </a:xfrm>
            <a:custGeom>
              <a:avLst/>
              <a:gdLst/>
              <a:ahLst/>
              <a:cxnLst/>
              <a:rect l="l" t="t" r="r" b="b"/>
              <a:pathLst>
                <a:path w="1384300" h="1158239">
                  <a:moveTo>
                    <a:pt x="289560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1094232" y="1158239"/>
                  </a:lnTo>
                  <a:lnTo>
                    <a:pt x="1383792" y="868680"/>
                  </a:lnTo>
                  <a:lnTo>
                    <a:pt x="1383792" y="0"/>
                  </a:lnTo>
                  <a:lnTo>
                    <a:pt x="289560" y="0"/>
                  </a:lnTo>
                  <a:close/>
                </a:path>
                <a:path w="1384300" h="1158239">
                  <a:moveTo>
                    <a:pt x="0" y="289560"/>
                  </a:moveTo>
                  <a:lnTo>
                    <a:pt x="1094232" y="289560"/>
                  </a:lnTo>
                  <a:lnTo>
                    <a:pt x="1383792" y="0"/>
                  </a:lnTo>
                </a:path>
                <a:path w="1384300" h="1158239">
                  <a:moveTo>
                    <a:pt x="1094232" y="289560"/>
                  </a:moveTo>
                  <a:lnTo>
                    <a:pt x="1094232" y="1158239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559551" y="2167127"/>
              <a:ext cx="1386840" cy="1158240"/>
            </a:xfrm>
            <a:custGeom>
              <a:avLst/>
              <a:gdLst/>
              <a:ahLst/>
              <a:cxnLst/>
              <a:rect l="l" t="t" r="r" b="b"/>
              <a:pathLst>
                <a:path w="1386840" h="1158239">
                  <a:moveTo>
                    <a:pt x="1386840" y="0"/>
                  </a:moveTo>
                  <a:lnTo>
                    <a:pt x="292608" y="0"/>
                  </a:lnTo>
                  <a:lnTo>
                    <a:pt x="0" y="289560"/>
                  </a:lnTo>
                  <a:lnTo>
                    <a:pt x="0" y="1158239"/>
                  </a:lnTo>
                  <a:lnTo>
                    <a:pt x="1097279" y="1158239"/>
                  </a:lnTo>
                  <a:lnTo>
                    <a:pt x="1386840" y="868680"/>
                  </a:lnTo>
                  <a:lnTo>
                    <a:pt x="138684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559551" y="2167127"/>
              <a:ext cx="1386840" cy="289560"/>
            </a:xfrm>
            <a:custGeom>
              <a:avLst/>
              <a:gdLst/>
              <a:ahLst/>
              <a:cxnLst/>
              <a:rect l="l" t="t" r="r" b="b"/>
              <a:pathLst>
                <a:path w="1386840" h="289560">
                  <a:moveTo>
                    <a:pt x="1386840" y="0"/>
                  </a:moveTo>
                  <a:lnTo>
                    <a:pt x="292608" y="0"/>
                  </a:lnTo>
                  <a:lnTo>
                    <a:pt x="0" y="289560"/>
                  </a:lnTo>
                  <a:lnTo>
                    <a:pt x="1097279" y="289560"/>
                  </a:lnTo>
                  <a:lnTo>
                    <a:pt x="1386840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656831" y="2167127"/>
              <a:ext cx="289560" cy="1158240"/>
            </a:xfrm>
            <a:custGeom>
              <a:avLst/>
              <a:gdLst/>
              <a:ahLst/>
              <a:cxnLst/>
              <a:rect l="l" t="t" r="r" b="b"/>
              <a:pathLst>
                <a:path w="289559" h="1158239">
                  <a:moveTo>
                    <a:pt x="289560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289560" y="868680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559551" y="2167127"/>
              <a:ext cx="1386840" cy="1158240"/>
            </a:xfrm>
            <a:custGeom>
              <a:avLst/>
              <a:gdLst/>
              <a:ahLst/>
              <a:cxnLst/>
              <a:rect l="l" t="t" r="r" b="b"/>
              <a:pathLst>
                <a:path w="1386840" h="1158239">
                  <a:moveTo>
                    <a:pt x="292608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1097279" y="1158239"/>
                  </a:lnTo>
                  <a:lnTo>
                    <a:pt x="1386840" y="868680"/>
                  </a:lnTo>
                  <a:lnTo>
                    <a:pt x="1386840" y="0"/>
                  </a:lnTo>
                  <a:lnTo>
                    <a:pt x="292608" y="0"/>
                  </a:lnTo>
                  <a:close/>
                </a:path>
                <a:path w="1386840" h="1158239">
                  <a:moveTo>
                    <a:pt x="0" y="289560"/>
                  </a:moveTo>
                  <a:lnTo>
                    <a:pt x="1097279" y="289560"/>
                  </a:lnTo>
                  <a:lnTo>
                    <a:pt x="1386840" y="0"/>
                  </a:lnTo>
                </a:path>
                <a:path w="1386840" h="1158239">
                  <a:moveTo>
                    <a:pt x="1097279" y="289560"/>
                  </a:moveTo>
                  <a:lnTo>
                    <a:pt x="1097279" y="1158239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644383" y="2167127"/>
              <a:ext cx="1384300" cy="1158240"/>
            </a:xfrm>
            <a:custGeom>
              <a:avLst/>
              <a:gdLst/>
              <a:ahLst/>
              <a:cxnLst/>
              <a:rect l="l" t="t" r="r" b="b"/>
              <a:pathLst>
                <a:path w="1384300" h="1158239">
                  <a:moveTo>
                    <a:pt x="1383792" y="0"/>
                  </a:moveTo>
                  <a:lnTo>
                    <a:pt x="289560" y="0"/>
                  </a:lnTo>
                  <a:lnTo>
                    <a:pt x="0" y="289560"/>
                  </a:lnTo>
                  <a:lnTo>
                    <a:pt x="0" y="1158239"/>
                  </a:lnTo>
                  <a:lnTo>
                    <a:pt x="1094232" y="1158239"/>
                  </a:lnTo>
                  <a:lnTo>
                    <a:pt x="1383792" y="868680"/>
                  </a:lnTo>
                  <a:lnTo>
                    <a:pt x="138379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644383" y="2167127"/>
              <a:ext cx="1384300" cy="289560"/>
            </a:xfrm>
            <a:custGeom>
              <a:avLst/>
              <a:gdLst/>
              <a:ahLst/>
              <a:cxnLst/>
              <a:rect l="l" t="t" r="r" b="b"/>
              <a:pathLst>
                <a:path w="1384300" h="289560">
                  <a:moveTo>
                    <a:pt x="1383792" y="0"/>
                  </a:moveTo>
                  <a:lnTo>
                    <a:pt x="289560" y="0"/>
                  </a:lnTo>
                  <a:lnTo>
                    <a:pt x="0" y="289560"/>
                  </a:lnTo>
                  <a:lnTo>
                    <a:pt x="1094232" y="289560"/>
                  </a:lnTo>
                  <a:lnTo>
                    <a:pt x="1383792" y="0"/>
                  </a:lnTo>
                  <a:close/>
                </a:path>
              </a:pathLst>
            </a:custGeom>
            <a:solidFill>
              <a:srgbClr val="FFFF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738616" y="2167127"/>
              <a:ext cx="289560" cy="1158240"/>
            </a:xfrm>
            <a:custGeom>
              <a:avLst/>
              <a:gdLst/>
              <a:ahLst/>
              <a:cxnLst/>
              <a:rect l="l" t="t" r="r" b="b"/>
              <a:pathLst>
                <a:path w="289559" h="1158239">
                  <a:moveTo>
                    <a:pt x="289559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289559" y="868680"/>
                  </a:lnTo>
                  <a:lnTo>
                    <a:pt x="289559" y="0"/>
                  </a:lnTo>
                  <a:close/>
                </a:path>
              </a:pathLst>
            </a:custGeom>
            <a:solidFill>
              <a:srgbClr val="CCCC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644383" y="2167127"/>
              <a:ext cx="1384300" cy="1158240"/>
            </a:xfrm>
            <a:custGeom>
              <a:avLst/>
              <a:gdLst/>
              <a:ahLst/>
              <a:cxnLst/>
              <a:rect l="l" t="t" r="r" b="b"/>
              <a:pathLst>
                <a:path w="1384300" h="1158239">
                  <a:moveTo>
                    <a:pt x="289560" y="0"/>
                  </a:moveTo>
                  <a:lnTo>
                    <a:pt x="0" y="289560"/>
                  </a:lnTo>
                  <a:lnTo>
                    <a:pt x="0" y="1158239"/>
                  </a:lnTo>
                  <a:lnTo>
                    <a:pt x="1094232" y="1158239"/>
                  </a:lnTo>
                  <a:lnTo>
                    <a:pt x="1383792" y="868680"/>
                  </a:lnTo>
                  <a:lnTo>
                    <a:pt x="1383792" y="0"/>
                  </a:lnTo>
                  <a:lnTo>
                    <a:pt x="289560" y="0"/>
                  </a:lnTo>
                  <a:close/>
                </a:path>
                <a:path w="1384300" h="1158239">
                  <a:moveTo>
                    <a:pt x="0" y="289560"/>
                  </a:moveTo>
                  <a:lnTo>
                    <a:pt x="1094232" y="289560"/>
                  </a:lnTo>
                  <a:lnTo>
                    <a:pt x="1383792" y="0"/>
                  </a:lnTo>
                </a:path>
                <a:path w="1384300" h="1158239">
                  <a:moveTo>
                    <a:pt x="1094232" y="289560"/>
                  </a:moveTo>
                  <a:lnTo>
                    <a:pt x="1094232" y="1158239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3311" y="3322319"/>
              <a:ext cx="76200" cy="8534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770888" y="3325367"/>
              <a:ext cx="6385560" cy="996950"/>
            </a:xfrm>
            <a:custGeom>
              <a:avLst/>
              <a:gdLst/>
              <a:ahLst/>
              <a:cxnLst/>
              <a:rect l="l" t="t" r="r" b="b"/>
              <a:pathLst>
                <a:path w="6385559" h="996950">
                  <a:moveTo>
                    <a:pt x="131064" y="112776"/>
                  </a:moveTo>
                  <a:lnTo>
                    <a:pt x="128016" y="106680"/>
                  </a:lnTo>
                  <a:lnTo>
                    <a:pt x="80467" y="27432"/>
                  </a:lnTo>
                  <a:lnTo>
                    <a:pt x="64008" y="0"/>
                  </a:lnTo>
                  <a:lnTo>
                    <a:pt x="3048" y="106680"/>
                  </a:lnTo>
                  <a:lnTo>
                    <a:pt x="88" y="111734"/>
                  </a:lnTo>
                  <a:lnTo>
                    <a:pt x="0" y="117360"/>
                  </a:lnTo>
                  <a:lnTo>
                    <a:pt x="2184" y="122974"/>
                  </a:lnTo>
                  <a:lnTo>
                    <a:pt x="6096" y="128016"/>
                  </a:lnTo>
                  <a:lnTo>
                    <a:pt x="15240" y="131064"/>
                  </a:lnTo>
                  <a:lnTo>
                    <a:pt x="21336" y="128016"/>
                  </a:lnTo>
                  <a:lnTo>
                    <a:pt x="27432" y="121920"/>
                  </a:lnTo>
                  <a:lnTo>
                    <a:pt x="48768" y="84582"/>
                  </a:lnTo>
                  <a:lnTo>
                    <a:pt x="48768" y="912114"/>
                  </a:lnTo>
                  <a:lnTo>
                    <a:pt x="27432" y="874776"/>
                  </a:lnTo>
                  <a:lnTo>
                    <a:pt x="21336" y="868680"/>
                  </a:lnTo>
                  <a:lnTo>
                    <a:pt x="15240" y="865632"/>
                  </a:lnTo>
                  <a:lnTo>
                    <a:pt x="6096" y="868680"/>
                  </a:lnTo>
                  <a:lnTo>
                    <a:pt x="2184" y="872020"/>
                  </a:lnTo>
                  <a:lnTo>
                    <a:pt x="0" y="877062"/>
                  </a:lnTo>
                  <a:lnTo>
                    <a:pt x="88" y="883259"/>
                  </a:lnTo>
                  <a:lnTo>
                    <a:pt x="3048" y="890016"/>
                  </a:lnTo>
                  <a:lnTo>
                    <a:pt x="64008" y="996696"/>
                  </a:lnTo>
                  <a:lnTo>
                    <a:pt x="82296" y="966216"/>
                  </a:lnTo>
                  <a:lnTo>
                    <a:pt x="128016" y="890016"/>
                  </a:lnTo>
                  <a:lnTo>
                    <a:pt x="131064" y="880872"/>
                  </a:lnTo>
                  <a:lnTo>
                    <a:pt x="128104" y="872020"/>
                  </a:lnTo>
                  <a:lnTo>
                    <a:pt x="128016" y="871728"/>
                  </a:lnTo>
                  <a:lnTo>
                    <a:pt x="115824" y="865632"/>
                  </a:lnTo>
                  <a:lnTo>
                    <a:pt x="106680" y="868680"/>
                  </a:lnTo>
                  <a:lnTo>
                    <a:pt x="100584" y="874776"/>
                  </a:lnTo>
                  <a:lnTo>
                    <a:pt x="79248" y="912114"/>
                  </a:lnTo>
                  <a:lnTo>
                    <a:pt x="79248" y="84582"/>
                  </a:lnTo>
                  <a:lnTo>
                    <a:pt x="100584" y="121920"/>
                  </a:lnTo>
                  <a:lnTo>
                    <a:pt x="106680" y="128016"/>
                  </a:lnTo>
                  <a:lnTo>
                    <a:pt x="115824" y="131064"/>
                  </a:lnTo>
                  <a:lnTo>
                    <a:pt x="121920" y="128016"/>
                  </a:lnTo>
                  <a:lnTo>
                    <a:pt x="128016" y="121920"/>
                  </a:lnTo>
                  <a:lnTo>
                    <a:pt x="131064" y="112776"/>
                  </a:lnTo>
                  <a:close/>
                </a:path>
                <a:path w="6385559" h="996950">
                  <a:moveTo>
                    <a:pt x="2212848" y="112776"/>
                  </a:moveTo>
                  <a:lnTo>
                    <a:pt x="2209800" y="106680"/>
                  </a:lnTo>
                  <a:lnTo>
                    <a:pt x="2162238" y="27432"/>
                  </a:lnTo>
                  <a:lnTo>
                    <a:pt x="2145792" y="0"/>
                  </a:lnTo>
                  <a:lnTo>
                    <a:pt x="2084832" y="106680"/>
                  </a:lnTo>
                  <a:lnTo>
                    <a:pt x="2081784" y="112776"/>
                  </a:lnTo>
                  <a:lnTo>
                    <a:pt x="2081784" y="121920"/>
                  </a:lnTo>
                  <a:lnTo>
                    <a:pt x="2090928" y="128016"/>
                  </a:lnTo>
                  <a:lnTo>
                    <a:pt x="2097024" y="131064"/>
                  </a:lnTo>
                  <a:lnTo>
                    <a:pt x="2106168" y="128016"/>
                  </a:lnTo>
                  <a:lnTo>
                    <a:pt x="2109216" y="121920"/>
                  </a:lnTo>
                  <a:lnTo>
                    <a:pt x="2133600" y="79260"/>
                  </a:lnTo>
                  <a:lnTo>
                    <a:pt x="2133600" y="917460"/>
                  </a:lnTo>
                  <a:lnTo>
                    <a:pt x="2109216" y="874776"/>
                  </a:lnTo>
                  <a:lnTo>
                    <a:pt x="2106168" y="868680"/>
                  </a:lnTo>
                  <a:lnTo>
                    <a:pt x="2097024" y="865632"/>
                  </a:lnTo>
                  <a:lnTo>
                    <a:pt x="2090928" y="868680"/>
                  </a:lnTo>
                  <a:lnTo>
                    <a:pt x="2081784" y="871728"/>
                  </a:lnTo>
                  <a:lnTo>
                    <a:pt x="2081784" y="880872"/>
                  </a:lnTo>
                  <a:lnTo>
                    <a:pt x="2084832" y="890016"/>
                  </a:lnTo>
                  <a:lnTo>
                    <a:pt x="2145792" y="996696"/>
                  </a:lnTo>
                  <a:lnTo>
                    <a:pt x="2164080" y="966216"/>
                  </a:lnTo>
                  <a:lnTo>
                    <a:pt x="2209800" y="890016"/>
                  </a:lnTo>
                  <a:lnTo>
                    <a:pt x="2212848" y="880872"/>
                  </a:lnTo>
                  <a:lnTo>
                    <a:pt x="2209800" y="871728"/>
                  </a:lnTo>
                  <a:lnTo>
                    <a:pt x="2197608" y="865632"/>
                  </a:lnTo>
                  <a:lnTo>
                    <a:pt x="2188464" y="868680"/>
                  </a:lnTo>
                  <a:lnTo>
                    <a:pt x="2185416" y="874776"/>
                  </a:lnTo>
                  <a:lnTo>
                    <a:pt x="2161032" y="914946"/>
                  </a:lnTo>
                  <a:lnTo>
                    <a:pt x="2161032" y="939431"/>
                  </a:lnTo>
                  <a:lnTo>
                    <a:pt x="2161032" y="960120"/>
                  </a:lnTo>
                  <a:lnTo>
                    <a:pt x="2157984" y="960120"/>
                  </a:lnTo>
                  <a:lnTo>
                    <a:pt x="2133600" y="960120"/>
                  </a:lnTo>
                  <a:lnTo>
                    <a:pt x="2146160" y="939431"/>
                  </a:lnTo>
                  <a:lnTo>
                    <a:pt x="2161032" y="939431"/>
                  </a:lnTo>
                  <a:lnTo>
                    <a:pt x="2161032" y="914946"/>
                  </a:lnTo>
                  <a:lnTo>
                    <a:pt x="2161032" y="81762"/>
                  </a:lnTo>
                  <a:lnTo>
                    <a:pt x="2185416" y="121920"/>
                  </a:lnTo>
                  <a:lnTo>
                    <a:pt x="2188464" y="128016"/>
                  </a:lnTo>
                  <a:lnTo>
                    <a:pt x="2197608" y="131064"/>
                  </a:lnTo>
                  <a:lnTo>
                    <a:pt x="2203704" y="128016"/>
                  </a:lnTo>
                  <a:lnTo>
                    <a:pt x="2209800" y="121920"/>
                  </a:lnTo>
                  <a:lnTo>
                    <a:pt x="2212848" y="112776"/>
                  </a:lnTo>
                  <a:close/>
                </a:path>
                <a:path w="6385559" h="996950">
                  <a:moveTo>
                    <a:pt x="4300728" y="117348"/>
                  </a:moveTo>
                  <a:lnTo>
                    <a:pt x="4300626" y="111734"/>
                  </a:lnTo>
                  <a:lnTo>
                    <a:pt x="4297680" y="106680"/>
                  </a:lnTo>
                  <a:lnTo>
                    <a:pt x="4252392" y="27432"/>
                  </a:lnTo>
                  <a:lnTo>
                    <a:pt x="4236720" y="0"/>
                  </a:lnTo>
                  <a:lnTo>
                    <a:pt x="4172712" y="106680"/>
                  </a:lnTo>
                  <a:lnTo>
                    <a:pt x="4169664" y="112776"/>
                  </a:lnTo>
                  <a:lnTo>
                    <a:pt x="4172712" y="121920"/>
                  </a:lnTo>
                  <a:lnTo>
                    <a:pt x="4178808" y="128016"/>
                  </a:lnTo>
                  <a:lnTo>
                    <a:pt x="4184904" y="131064"/>
                  </a:lnTo>
                  <a:lnTo>
                    <a:pt x="4194048" y="128016"/>
                  </a:lnTo>
                  <a:lnTo>
                    <a:pt x="4197096" y="121920"/>
                  </a:lnTo>
                  <a:lnTo>
                    <a:pt x="4221480" y="81762"/>
                  </a:lnTo>
                  <a:lnTo>
                    <a:pt x="4221480" y="914946"/>
                  </a:lnTo>
                  <a:lnTo>
                    <a:pt x="4197096" y="874776"/>
                  </a:lnTo>
                  <a:lnTo>
                    <a:pt x="4194048" y="868680"/>
                  </a:lnTo>
                  <a:lnTo>
                    <a:pt x="4184904" y="865632"/>
                  </a:lnTo>
                  <a:lnTo>
                    <a:pt x="4172712" y="871728"/>
                  </a:lnTo>
                  <a:lnTo>
                    <a:pt x="4169664" y="880872"/>
                  </a:lnTo>
                  <a:lnTo>
                    <a:pt x="4172712" y="890016"/>
                  </a:lnTo>
                  <a:lnTo>
                    <a:pt x="4236720" y="996696"/>
                  </a:lnTo>
                  <a:lnTo>
                    <a:pt x="4254131" y="966216"/>
                  </a:lnTo>
                  <a:lnTo>
                    <a:pt x="4297680" y="890016"/>
                  </a:lnTo>
                  <a:lnTo>
                    <a:pt x="4300626" y="883259"/>
                  </a:lnTo>
                  <a:lnTo>
                    <a:pt x="4300728" y="877062"/>
                  </a:lnTo>
                  <a:lnTo>
                    <a:pt x="4298531" y="872020"/>
                  </a:lnTo>
                  <a:lnTo>
                    <a:pt x="4294632" y="868680"/>
                  </a:lnTo>
                  <a:lnTo>
                    <a:pt x="4285488" y="865632"/>
                  </a:lnTo>
                  <a:lnTo>
                    <a:pt x="4276344" y="868680"/>
                  </a:lnTo>
                  <a:lnTo>
                    <a:pt x="4273296" y="874776"/>
                  </a:lnTo>
                  <a:lnTo>
                    <a:pt x="4248912" y="917460"/>
                  </a:lnTo>
                  <a:lnTo>
                    <a:pt x="4248912" y="79260"/>
                  </a:lnTo>
                  <a:lnTo>
                    <a:pt x="4273296" y="121920"/>
                  </a:lnTo>
                  <a:lnTo>
                    <a:pt x="4276344" y="128016"/>
                  </a:lnTo>
                  <a:lnTo>
                    <a:pt x="4285488" y="131064"/>
                  </a:lnTo>
                  <a:lnTo>
                    <a:pt x="4294632" y="128016"/>
                  </a:lnTo>
                  <a:lnTo>
                    <a:pt x="4298531" y="122974"/>
                  </a:lnTo>
                  <a:lnTo>
                    <a:pt x="4300728" y="117348"/>
                  </a:lnTo>
                  <a:close/>
                </a:path>
                <a:path w="6385559" h="996950">
                  <a:moveTo>
                    <a:pt x="6385560" y="112776"/>
                  </a:moveTo>
                  <a:lnTo>
                    <a:pt x="6382512" y="106680"/>
                  </a:lnTo>
                  <a:lnTo>
                    <a:pt x="6334963" y="27432"/>
                  </a:lnTo>
                  <a:lnTo>
                    <a:pt x="6318504" y="0"/>
                  </a:lnTo>
                  <a:lnTo>
                    <a:pt x="6257544" y="106680"/>
                  </a:lnTo>
                  <a:lnTo>
                    <a:pt x="6254585" y="111734"/>
                  </a:lnTo>
                  <a:lnTo>
                    <a:pt x="6254496" y="117360"/>
                  </a:lnTo>
                  <a:lnTo>
                    <a:pt x="6256680" y="122974"/>
                  </a:lnTo>
                  <a:lnTo>
                    <a:pt x="6260592" y="128016"/>
                  </a:lnTo>
                  <a:lnTo>
                    <a:pt x="6269736" y="131064"/>
                  </a:lnTo>
                  <a:lnTo>
                    <a:pt x="6275832" y="128016"/>
                  </a:lnTo>
                  <a:lnTo>
                    <a:pt x="6281928" y="121920"/>
                  </a:lnTo>
                  <a:lnTo>
                    <a:pt x="6303264" y="84594"/>
                  </a:lnTo>
                  <a:lnTo>
                    <a:pt x="6303264" y="912126"/>
                  </a:lnTo>
                  <a:lnTo>
                    <a:pt x="6281928" y="874776"/>
                  </a:lnTo>
                  <a:lnTo>
                    <a:pt x="6275832" y="868680"/>
                  </a:lnTo>
                  <a:lnTo>
                    <a:pt x="6269736" y="865632"/>
                  </a:lnTo>
                  <a:lnTo>
                    <a:pt x="6260592" y="868680"/>
                  </a:lnTo>
                  <a:lnTo>
                    <a:pt x="6256680" y="872020"/>
                  </a:lnTo>
                  <a:lnTo>
                    <a:pt x="6254496" y="877062"/>
                  </a:lnTo>
                  <a:lnTo>
                    <a:pt x="6254585" y="883259"/>
                  </a:lnTo>
                  <a:lnTo>
                    <a:pt x="6257544" y="890016"/>
                  </a:lnTo>
                  <a:lnTo>
                    <a:pt x="6318504" y="996696"/>
                  </a:lnTo>
                  <a:lnTo>
                    <a:pt x="6336792" y="966216"/>
                  </a:lnTo>
                  <a:lnTo>
                    <a:pt x="6382512" y="890016"/>
                  </a:lnTo>
                  <a:lnTo>
                    <a:pt x="6385560" y="880872"/>
                  </a:lnTo>
                  <a:lnTo>
                    <a:pt x="6382601" y="872020"/>
                  </a:lnTo>
                  <a:lnTo>
                    <a:pt x="6382512" y="871728"/>
                  </a:lnTo>
                  <a:lnTo>
                    <a:pt x="6370320" y="865632"/>
                  </a:lnTo>
                  <a:lnTo>
                    <a:pt x="6361176" y="868680"/>
                  </a:lnTo>
                  <a:lnTo>
                    <a:pt x="6355080" y="874776"/>
                  </a:lnTo>
                  <a:lnTo>
                    <a:pt x="6333744" y="912126"/>
                  </a:lnTo>
                  <a:lnTo>
                    <a:pt x="6333744" y="84594"/>
                  </a:lnTo>
                  <a:lnTo>
                    <a:pt x="6355080" y="121920"/>
                  </a:lnTo>
                  <a:lnTo>
                    <a:pt x="6361176" y="128016"/>
                  </a:lnTo>
                  <a:lnTo>
                    <a:pt x="6370320" y="131064"/>
                  </a:lnTo>
                  <a:lnTo>
                    <a:pt x="6376416" y="128016"/>
                  </a:lnTo>
                  <a:lnTo>
                    <a:pt x="6382512" y="121920"/>
                  </a:lnTo>
                  <a:lnTo>
                    <a:pt x="6385560" y="1127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310639" y="4322063"/>
              <a:ext cx="7717790" cy="0"/>
            </a:xfrm>
            <a:custGeom>
              <a:avLst/>
              <a:gdLst/>
              <a:ahLst/>
              <a:cxnLst/>
              <a:rect l="l" t="t" r="r" b="b"/>
              <a:pathLst>
                <a:path w="7717790" h="0">
                  <a:moveTo>
                    <a:pt x="0" y="0"/>
                  </a:moveTo>
                  <a:lnTo>
                    <a:pt x="7717535" y="0"/>
                  </a:lnTo>
                </a:path>
              </a:pathLst>
            </a:custGeom>
            <a:ln w="579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800599" y="4322063"/>
              <a:ext cx="131445" cy="923925"/>
            </a:xfrm>
            <a:custGeom>
              <a:avLst/>
              <a:gdLst/>
              <a:ahLst/>
              <a:cxnLst/>
              <a:rect l="l" t="t" r="r" b="b"/>
              <a:pathLst>
                <a:path w="131445" h="923925">
                  <a:moveTo>
                    <a:pt x="15239" y="792480"/>
                  </a:moveTo>
                  <a:lnTo>
                    <a:pt x="9144" y="798576"/>
                  </a:lnTo>
                  <a:lnTo>
                    <a:pt x="0" y="801624"/>
                  </a:lnTo>
                  <a:lnTo>
                    <a:pt x="0" y="810768"/>
                  </a:lnTo>
                  <a:lnTo>
                    <a:pt x="3048" y="816863"/>
                  </a:lnTo>
                  <a:lnTo>
                    <a:pt x="64008" y="923544"/>
                  </a:lnTo>
                  <a:lnTo>
                    <a:pt x="80467" y="896112"/>
                  </a:lnTo>
                  <a:lnTo>
                    <a:pt x="51815" y="896112"/>
                  </a:lnTo>
                  <a:lnTo>
                    <a:pt x="51815" y="845819"/>
                  </a:lnTo>
                  <a:lnTo>
                    <a:pt x="27432" y="801624"/>
                  </a:lnTo>
                  <a:lnTo>
                    <a:pt x="24384" y="795528"/>
                  </a:lnTo>
                  <a:lnTo>
                    <a:pt x="15239" y="792480"/>
                  </a:lnTo>
                  <a:close/>
                </a:path>
                <a:path w="131445" h="923925">
                  <a:moveTo>
                    <a:pt x="79248" y="843220"/>
                  </a:moveTo>
                  <a:lnTo>
                    <a:pt x="64377" y="868587"/>
                  </a:lnTo>
                  <a:lnTo>
                    <a:pt x="76200" y="890016"/>
                  </a:lnTo>
                  <a:lnTo>
                    <a:pt x="51815" y="890016"/>
                  </a:lnTo>
                  <a:lnTo>
                    <a:pt x="51815" y="896112"/>
                  </a:lnTo>
                  <a:lnTo>
                    <a:pt x="79248" y="896112"/>
                  </a:lnTo>
                  <a:lnTo>
                    <a:pt x="79248" y="890016"/>
                  </a:lnTo>
                  <a:lnTo>
                    <a:pt x="76200" y="890016"/>
                  </a:lnTo>
                  <a:lnTo>
                    <a:pt x="64377" y="868587"/>
                  </a:lnTo>
                  <a:lnTo>
                    <a:pt x="79248" y="868587"/>
                  </a:lnTo>
                  <a:lnTo>
                    <a:pt x="79248" y="843220"/>
                  </a:lnTo>
                  <a:close/>
                </a:path>
                <a:path w="131445" h="923925">
                  <a:moveTo>
                    <a:pt x="115824" y="792480"/>
                  </a:moveTo>
                  <a:lnTo>
                    <a:pt x="106679" y="795528"/>
                  </a:lnTo>
                  <a:lnTo>
                    <a:pt x="103632" y="801624"/>
                  </a:lnTo>
                  <a:lnTo>
                    <a:pt x="79248" y="843220"/>
                  </a:lnTo>
                  <a:lnTo>
                    <a:pt x="79248" y="896112"/>
                  </a:lnTo>
                  <a:lnTo>
                    <a:pt x="80467" y="896112"/>
                  </a:lnTo>
                  <a:lnTo>
                    <a:pt x="128015" y="816863"/>
                  </a:lnTo>
                  <a:lnTo>
                    <a:pt x="131063" y="810768"/>
                  </a:lnTo>
                  <a:lnTo>
                    <a:pt x="128015" y="801624"/>
                  </a:lnTo>
                  <a:lnTo>
                    <a:pt x="121920" y="798576"/>
                  </a:lnTo>
                  <a:lnTo>
                    <a:pt x="115824" y="792480"/>
                  </a:lnTo>
                  <a:close/>
                </a:path>
                <a:path w="131445" h="923925">
                  <a:moveTo>
                    <a:pt x="51815" y="845819"/>
                  </a:moveTo>
                  <a:lnTo>
                    <a:pt x="51815" y="890016"/>
                  </a:lnTo>
                  <a:lnTo>
                    <a:pt x="64377" y="868587"/>
                  </a:lnTo>
                  <a:lnTo>
                    <a:pt x="51815" y="845819"/>
                  </a:lnTo>
                  <a:close/>
                </a:path>
                <a:path w="131445" h="923925">
                  <a:moveTo>
                    <a:pt x="64377" y="54956"/>
                  </a:moveTo>
                  <a:lnTo>
                    <a:pt x="51815" y="77724"/>
                  </a:lnTo>
                  <a:lnTo>
                    <a:pt x="51815" y="845819"/>
                  </a:lnTo>
                  <a:lnTo>
                    <a:pt x="64377" y="868587"/>
                  </a:lnTo>
                  <a:lnTo>
                    <a:pt x="79248" y="843220"/>
                  </a:lnTo>
                  <a:lnTo>
                    <a:pt x="79248" y="80323"/>
                  </a:lnTo>
                  <a:lnTo>
                    <a:pt x="64377" y="54956"/>
                  </a:lnTo>
                  <a:close/>
                </a:path>
                <a:path w="131445" h="923925">
                  <a:moveTo>
                    <a:pt x="64008" y="0"/>
                  </a:moveTo>
                  <a:lnTo>
                    <a:pt x="3048" y="106680"/>
                  </a:lnTo>
                  <a:lnTo>
                    <a:pt x="0" y="112775"/>
                  </a:lnTo>
                  <a:lnTo>
                    <a:pt x="0" y="121920"/>
                  </a:lnTo>
                  <a:lnTo>
                    <a:pt x="9144" y="124968"/>
                  </a:lnTo>
                  <a:lnTo>
                    <a:pt x="15239" y="131063"/>
                  </a:lnTo>
                  <a:lnTo>
                    <a:pt x="24384" y="128015"/>
                  </a:lnTo>
                  <a:lnTo>
                    <a:pt x="27432" y="121920"/>
                  </a:lnTo>
                  <a:lnTo>
                    <a:pt x="51815" y="77724"/>
                  </a:lnTo>
                  <a:lnTo>
                    <a:pt x="51815" y="27432"/>
                  </a:lnTo>
                  <a:lnTo>
                    <a:pt x="80467" y="27432"/>
                  </a:lnTo>
                  <a:lnTo>
                    <a:pt x="64008" y="0"/>
                  </a:lnTo>
                  <a:close/>
                </a:path>
                <a:path w="131445" h="923925">
                  <a:moveTo>
                    <a:pt x="80467" y="27432"/>
                  </a:moveTo>
                  <a:lnTo>
                    <a:pt x="79248" y="27432"/>
                  </a:lnTo>
                  <a:lnTo>
                    <a:pt x="79248" y="80323"/>
                  </a:lnTo>
                  <a:lnTo>
                    <a:pt x="103632" y="121920"/>
                  </a:lnTo>
                  <a:lnTo>
                    <a:pt x="106679" y="128015"/>
                  </a:lnTo>
                  <a:lnTo>
                    <a:pt x="115824" y="131063"/>
                  </a:lnTo>
                  <a:lnTo>
                    <a:pt x="121920" y="124968"/>
                  </a:lnTo>
                  <a:lnTo>
                    <a:pt x="128015" y="121920"/>
                  </a:lnTo>
                  <a:lnTo>
                    <a:pt x="131063" y="112775"/>
                  </a:lnTo>
                  <a:lnTo>
                    <a:pt x="128015" y="106680"/>
                  </a:lnTo>
                  <a:lnTo>
                    <a:pt x="80467" y="27432"/>
                  </a:lnTo>
                  <a:close/>
                </a:path>
                <a:path w="131445" h="923925">
                  <a:moveTo>
                    <a:pt x="79248" y="33527"/>
                  </a:moveTo>
                  <a:lnTo>
                    <a:pt x="76200" y="33527"/>
                  </a:lnTo>
                  <a:lnTo>
                    <a:pt x="64377" y="54956"/>
                  </a:lnTo>
                  <a:lnTo>
                    <a:pt x="79248" y="80323"/>
                  </a:lnTo>
                  <a:lnTo>
                    <a:pt x="79248" y="33527"/>
                  </a:lnTo>
                  <a:close/>
                </a:path>
                <a:path w="131445" h="923925">
                  <a:moveTo>
                    <a:pt x="51815" y="33527"/>
                  </a:moveTo>
                  <a:lnTo>
                    <a:pt x="51815" y="77724"/>
                  </a:lnTo>
                  <a:lnTo>
                    <a:pt x="64377" y="54956"/>
                  </a:lnTo>
                  <a:lnTo>
                    <a:pt x="51815" y="33527"/>
                  </a:lnTo>
                  <a:close/>
                </a:path>
                <a:path w="131445" h="923925">
                  <a:moveTo>
                    <a:pt x="79248" y="27432"/>
                  </a:moveTo>
                  <a:lnTo>
                    <a:pt x="51815" y="27432"/>
                  </a:lnTo>
                  <a:lnTo>
                    <a:pt x="51815" y="33527"/>
                  </a:lnTo>
                  <a:lnTo>
                    <a:pt x="64377" y="54956"/>
                  </a:lnTo>
                  <a:lnTo>
                    <a:pt x="76200" y="33527"/>
                  </a:lnTo>
                  <a:lnTo>
                    <a:pt x="79248" y="33527"/>
                  </a:lnTo>
                  <a:lnTo>
                    <a:pt x="79248" y="274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79195" y="1791715"/>
            <a:ext cx="10610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Read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48020" y="2962147"/>
            <a:ext cx="585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X:</a:t>
            </a:r>
            <a:r>
              <a:rPr dirty="0" sz="2400" spc="-5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71675" y="2514091"/>
            <a:ext cx="646430" cy="693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660">
              <a:lnSpc>
                <a:spcPts val="263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X:</a:t>
            </a:r>
            <a:r>
              <a:rPr dirty="0" sz="2400" spc="-5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630"/>
              </a:lnSpc>
            </a:pPr>
            <a:r>
              <a:rPr dirty="0" sz="2400" b="1">
                <a:latin typeface="Arial"/>
                <a:cs typeface="Arial"/>
              </a:rPr>
              <a:t>X:</a:t>
            </a:r>
            <a:r>
              <a:rPr dirty="0" sz="2400" spc="-5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729740" y="1397508"/>
            <a:ext cx="988060" cy="441959"/>
            <a:chOff x="1729740" y="1397508"/>
            <a:chExt cx="988060" cy="441959"/>
          </a:xfrm>
        </p:grpSpPr>
        <p:sp>
          <p:nvSpPr>
            <p:cNvPr id="33" name="object 33"/>
            <p:cNvSpPr/>
            <p:nvPr/>
          </p:nvSpPr>
          <p:spPr>
            <a:xfrm>
              <a:off x="1734311" y="1402079"/>
              <a:ext cx="978535" cy="433070"/>
            </a:xfrm>
            <a:custGeom>
              <a:avLst/>
              <a:gdLst/>
              <a:ahLst/>
              <a:cxnLst/>
              <a:rect l="l" t="t" r="r" b="b"/>
              <a:pathLst>
                <a:path w="978535" h="433069">
                  <a:moveTo>
                    <a:pt x="490727" y="0"/>
                  </a:moveTo>
                  <a:lnTo>
                    <a:pt x="424086" y="1987"/>
                  </a:lnTo>
                  <a:lnTo>
                    <a:pt x="360186" y="7775"/>
                  </a:lnTo>
                  <a:lnTo>
                    <a:pt x="299608" y="17097"/>
                  </a:lnTo>
                  <a:lnTo>
                    <a:pt x="242936" y="29689"/>
                  </a:lnTo>
                  <a:lnTo>
                    <a:pt x="190752" y="45287"/>
                  </a:lnTo>
                  <a:lnTo>
                    <a:pt x="143637" y="63626"/>
                  </a:lnTo>
                  <a:lnTo>
                    <a:pt x="102173" y="84442"/>
                  </a:lnTo>
                  <a:lnTo>
                    <a:pt x="66943" y="107470"/>
                  </a:lnTo>
                  <a:lnTo>
                    <a:pt x="17511" y="159102"/>
                  </a:lnTo>
                  <a:lnTo>
                    <a:pt x="0" y="216408"/>
                  </a:lnTo>
                  <a:lnTo>
                    <a:pt x="4474" y="245637"/>
                  </a:lnTo>
                  <a:lnTo>
                    <a:pt x="38528" y="300370"/>
                  </a:lnTo>
                  <a:lnTo>
                    <a:pt x="102173" y="348373"/>
                  </a:lnTo>
                  <a:lnTo>
                    <a:pt x="143637" y="369189"/>
                  </a:lnTo>
                  <a:lnTo>
                    <a:pt x="190752" y="387528"/>
                  </a:lnTo>
                  <a:lnTo>
                    <a:pt x="242936" y="403126"/>
                  </a:lnTo>
                  <a:lnTo>
                    <a:pt x="299608" y="415718"/>
                  </a:lnTo>
                  <a:lnTo>
                    <a:pt x="360186" y="425040"/>
                  </a:lnTo>
                  <a:lnTo>
                    <a:pt x="424086" y="430828"/>
                  </a:lnTo>
                  <a:lnTo>
                    <a:pt x="490727" y="432816"/>
                  </a:lnTo>
                  <a:lnTo>
                    <a:pt x="556669" y="430828"/>
                  </a:lnTo>
                  <a:lnTo>
                    <a:pt x="619985" y="425040"/>
                  </a:lnTo>
                  <a:lnTo>
                    <a:pt x="680084" y="415718"/>
                  </a:lnTo>
                  <a:lnTo>
                    <a:pt x="736374" y="403126"/>
                  </a:lnTo>
                  <a:lnTo>
                    <a:pt x="788260" y="387528"/>
                  </a:lnTo>
                  <a:lnTo>
                    <a:pt x="835151" y="369189"/>
                  </a:lnTo>
                  <a:lnTo>
                    <a:pt x="876455" y="348373"/>
                  </a:lnTo>
                  <a:lnTo>
                    <a:pt x="911577" y="325345"/>
                  </a:lnTo>
                  <a:lnTo>
                    <a:pt x="960910" y="273713"/>
                  </a:lnTo>
                  <a:lnTo>
                    <a:pt x="978407" y="216408"/>
                  </a:lnTo>
                  <a:lnTo>
                    <a:pt x="973934" y="187178"/>
                  </a:lnTo>
                  <a:lnTo>
                    <a:pt x="939926" y="132445"/>
                  </a:lnTo>
                  <a:lnTo>
                    <a:pt x="876455" y="84442"/>
                  </a:lnTo>
                  <a:lnTo>
                    <a:pt x="835151" y="63626"/>
                  </a:lnTo>
                  <a:lnTo>
                    <a:pt x="788260" y="45287"/>
                  </a:lnTo>
                  <a:lnTo>
                    <a:pt x="736374" y="29689"/>
                  </a:lnTo>
                  <a:lnTo>
                    <a:pt x="680085" y="17097"/>
                  </a:lnTo>
                  <a:lnTo>
                    <a:pt x="619985" y="7775"/>
                  </a:lnTo>
                  <a:lnTo>
                    <a:pt x="556669" y="1987"/>
                  </a:lnTo>
                  <a:lnTo>
                    <a:pt x="49072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734311" y="1402079"/>
              <a:ext cx="978535" cy="433070"/>
            </a:xfrm>
            <a:custGeom>
              <a:avLst/>
              <a:gdLst/>
              <a:ahLst/>
              <a:cxnLst/>
              <a:rect l="l" t="t" r="r" b="b"/>
              <a:pathLst>
                <a:path w="978535" h="433069">
                  <a:moveTo>
                    <a:pt x="490727" y="0"/>
                  </a:moveTo>
                  <a:lnTo>
                    <a:pt x="424086" y="1987"/>
                  </a:lnTo>
                  <a:lnTo>
                    <a:pt x="360186" y="7775"/>
                  </a:lnTo>
                  <a:lnTo>
                    <a:pt x="299608" y="17097"/>
                  </a:lnTo>
                  <a:lnTo>
                    <a:pt x="242936" y="29689"/>
                  </a:lnTo>
                  <a:lnTo>
                    <a:pt x="190752" y="45287"/>
                  </a:lnTo>
                  <a:lnTo>
                    <a:pt x="143637" y="63626"/>
                  </a:lnTo>
                  <a:lnTo>
                    <a:pt x="102173" y="84442"/>
                  </a:lnTo>
                  <a:lnTo>
                    <a:pt x="66943" y="107470"/>
                  </a:lnTo>
                  <a:lnTo>
                    <a:pt x="17511" y="159102"/>
                  </a:lnTo>
                  <a:lnTo>
                    <a:pt x="0" y="216408"/>
                  </a:lnTo>
                  <a:lnTo>
                    <a:pt x="4474" y="245637"/>
                  </a:lnTo>
                  <a:lnTo>
                    <a:pt x="38528" y="300370"/>
                  </a:lnTo>
                  <a:lnTo>
                    <a:pt x="102173" y="348373"/>
                  </a:lnTo>
                  <a:lnTo>
                    <a:pt x="143637" y="369189"/>
                  </a:lnTo>
                  <a:lnTo>
                    <a:pt x="190752" y="387528"/>
                  </a:lnTo>
                  <a:lnTo>
                    <a:pt x="242936" y="403126"/>
                  </a:lnTo>
                  <a:lnTo>
                    <a:pt x="299608" y="415718"/>
                  </a:lnTo>
                  <a:lnTo>
                    <a:pt x="360186" y="425040"/>
                  </a:lnTo>
                  <a:lnTo>
                    <a:pt x="424086" y="430828"/>
                  </a:lnTo>
                  <a:lnTo>
                    <a:pt x="490727" y="432816"/>
                  </a:lnTo>
                  <a:lnTo>
                    <a:pt x="556669" y="430828"/>
                  </a:lnTo>
                  <a:lnTo>
                    <a:pt x="619985" y="425040"/>
                  </a:lnTo>
                  <a:lnTo>
                    <a:pt x="680084" y="415718"/>
                  </a:lnTo>
                  <a:lnTo>
                    <a:pt x="736374" y="403126"/>
                  </a:lnTo>
                  <a:lnTo>
                    <a:pt x="788260" y="387528"/>
                  </a:lnTo>
                  <a:lnTo>
                    <a:pt x="835151" y="369189"/>
                  </a:lnTo>
                  <a:lnTo>
                    <a:pt x="876455" y="348373"/>
                  </a:lnTo>
                  <a:lnTo>
                    <a:pt x="911577" y="325345"/>
                  </a:lnTo>
                  <a:lnTo>
                    <a:pt x="960910" y="273713"/>
                  </a:lnTo>
                  <a:lnTo>
                    <a:pt x="978407" y="216408"/>
                  </a:lnTo>
                  <a:lnTo>
                    <a:pt x="973934" y="187178"/>
                  </a:lnTo>
                  <a:lnTo>
                    <a:pt x="939926" y="132445"/>
                  </a:lnTo>
                  <a:lnTo>
                    <a:pt x="876455" y="84442"/>
                  </a:lnTo>
                  <a:lnTo>
                    <a:pt x="835151" y="63626"/>
                  </a:lnTo>
                  <a:lnTo>
                    <a:pt x="788260" y="45287"/>
                  </a:lnTo>
                  <a:lnTo>
                    <a:pt x="736374" y="29689"/>
                  </a:lnTo>
                  <a:lnTo>
                    <a:pt x="680085" y="17097"/>
                  </a:lnTo>
                  <a:lnTo>
                    <a:pt x="619985" y="7775"/>
                  </a:lnTo>
                  <a:lnTo>
                    <a:pt x="556669" y="1987"/>
                  </a:lnTo>
                  <a:lnTo>
                    <a:pt x="490727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5969508" y="1379220"/>
            <a:ext cx="988060" cy="441959"/>
            <a:chOff x="5969508" y="1379220"/>
            <a:chExt cx="988060" cy="441959"/>
          </a:xfrm>
        </p:grpSpPr>
        <p:sp>
          <p:nvSpPr>
            <p:cNvPr id="36" name="object 36"/>
            <p:cNvSpPr/>
            <p:nvPr/>
          </p:nvSpPr>
          <p:spPr>
            <a:xfrm>
              <a:off x="5974079" y="1383792"/>
              <a:ext cx="978535" cy="433070"/>
            </a:xfrm>
            <a:custGeom>
              <a:avLst/>
              <a:gdLst/>
              <a:ahLst/>
              <a:cxnLst/>
              <a:rect l="l" t="t" r="r" b="b"/>
              <a:pathLst>
                <a:path w="978534" h="433069">
                  <a:moveTo>
                    <a:pt x="490728" y="0"/>
                  </a:moveTo>
                  <a:lnTo>
                    <a:pt x="424086" y="1987"/>
                  </a:lnTo>
                  <a:lnTo>
                    <a:pt x="360186" y="7775"/>
                  </a:lnTo>
                  <a:lnTo>
                    <a:pt x="299608" y="17097"/>
                  </a:lnTo>
                  <a:lnTo>
                    <a:pt x="242936" y="29689"/>
                  </a:lnTo>
                  <a:lnTo>
                    <a:pt x="190752" y="45287"/>
                  </a:lnTo>
                  <a:lnTo>
                    <a:pt x="143636" y="63626"/>
                  </a:lnTo>
                  <a:lnTo>
                    <a:pt x="102173" y="84442"/>
                  </a:lnTo>
                  <a:lnTo>
                    <a:pt x="66943" y="107470"/>
                  </a:lnTo>
                  <a:lnTo>
                    <a:pt x="17511" y="159102"/>
                  </a:lnTo>
                  <a:lnTo>
                    <a:pt x="0" y="216408"/>
                  </a:lnTo>
                  <a:lnTo>
                    <a:pt x="4474" y="245637"/>
                  </a:lnTo>
                  <a:lnTo>
                    <a:pt x="38528" y="300370"/>
                  </a:lnTo>
                  <a:lnTo>
                    <a:pt x="102173" y="348373"/>
                  </a:lnTo>
                  <a:lnTo>
                    <a:pt x="143637" y="369189"/>
                  </a:lnTo>
                  <a:lnTo>
                    <a:pt x="190752" y="387528"/>
                  </a:lnTo>
                  <a:lnTo>
                    <a:pt x="242936" y="403126"/>
                  </a:lnTo>
                  <a:lnTo>
                    <a:pt x="299608" y="415718"/>
                  </a:lnTo>
                  <a:lnTo>
                    <a:pt x="360186" y="425040"/>
                  </a:lnTo>
                  <a:lnTo>
                    <a:pt x="424086" y="430828"/>
                  </a:lnTo>
                  <a:lnTo>
                    <a:pt x="490728" y="432816"/>
                  </a:lnTo>
                  <a:lnTo>
                    <a:pt x="556669" y="430828"/>
                  </a:lnTo>
                  <a:lnTo>
                    <a:pt x="619985" y="425040"/>
                  </a:lnTo>
                  <a:lnTo>
                    <a:pt x="680084" y="415718"/>
                  </a:lnTo>
                  <a:lnTo>
                    <a:pt x="736374" y="403126"/>
                  </a:lnTo>
                  <a:lnTo>
                    <a:pt x="788260" y="387528"/>
                  </a:lnTo>
                  <a:lnTo>
                    <a:pt x="835151" y="369189"/>
                  </a:lnTo>
                  <a:lnTo>
                    <a:pt x="876455" y="348373"/>
                  </a:lnTo>
                  <a:lnTo>
                    <a:pt x="911577" y="325345"/>
                  </a:lnTo>
                  <a:lnTo>
                    <a:pt x="960910" y="273713"/>
                  </a:lnTo>
                  <a:lnTo>
                    <a:pt x="978408" y="216408"/>
                  </a:lnTo>
                  <a:lnTo>
                    <a:pt x="973934" y="187178"/>
                  </a:lnTo>
                  <a:lnTo>
                    <a:pt x="939927" y="132445"/>
                  </a:lnTo>
                  <a:lnTo>
                    <a:pt x="876455" y="84442"/>
                  </a:lnTo>
                  <a:lnTo>
                    <a:pt x="835151" y="63626"/>
                  </a:lnTo>
                  <a:lnTo>
                    <a:pt x="788260" y="45287"/>
                  </a:lnTo>
                  <a:lnTo>
                    <a:pt x="736374" y="29689"/>
                  </a:lnTo>
                  <a:lnTo>
                    <a:pt x="680085" y="17097"/>
                  </a:lnTo>
                  <a:lnTo>
                    <a:pt x="619985" y="7775"/>
                  </a:lnTo>
                  <a:lnTo>
                    <a:pt x="556669" y="1987"/>
                  </a:lnTo>
                  <a:lnTo>
                    <a:pt x="490728" y="0"/>
                  </a:lnTo>
                  <a:close/>
                </a:path>
              </a:pathLst>
            </a:custGeom>
            <a:solidFill>
              <a:srgbClr val="33C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974079" y="1383792"/>
              <a:ext cx="978535" cy="433070"/>
            </a:xfrm>
            <a:custGeom>
              <a:avLst/>
              <a:gdLst/>
              <a:ahLst/>
              <a:cxnLst/>
              <a:rect l="l" t="t" r="r" b="b"/>
              <a:pathLst>
                <a:path w="978534" h="433069">
                  <a:moveTo>
                    <a:pt x="490728" y="0"/>
                  </a:moveTo>
                  <a:lnTo>
                    <a:pt x="424086" y="1987"/>
                  </a:lnTo>
                  <a:lnTo>
                    <a:pt x="360186" y="7775"/>
                  </a:lnTo>
                  <a:lnTo>
                    <a:pt x="299608" y="17097"/>
                  </a:lnTo>
                  <a:lnTo>
                    <a:pt x="242936" y="29689"/>
                  </a:lnTo>
                  <a:lnTo>
                    <a:pt x="190752" y="45287"/>
                  </a:lnTo>
                  <a:lnTo>
                    <a:pt x="143636" y="63626"/>
                  </a:lnTo>
                  <a:lnTo>
                    <a:pt x="102173" y="84442"/>
                  </a:lnTo>
                  <a:lnTo>
                    <a:pt x="66943" y="107470"/>
                  </a:lnTo>
                  <a:lnTo>
                    <a:pt x="17511" y="159102"/>
                  </a:lnTo>
                  <a:lnTo>
                    <a:pt x="0" y="216408"/>
                  </a:lnTo>
                  <a:lnTo>
                    <a:pt x="4474" y="245637"/>
                  </a:lnTo>
                  <a:lnTo>
                    <a:pt x="38528" y="300370"/>
                  </a:lnTo>
                  <a:lnTo>
                    <a:pt x="102173" y="348373"/>
                  </a:lnTo>
                  <a:lnTo>
                    <a:pt x="143637" y="369189"/>
                  </a:lnTo>
                  <a:lnTo>
                    <a:pt x="190752" y="387528"/>
                  </a:lnTo>
                  <a:lnTo>
                    <a:pt x="242936" y="403126"/>
                  </a:lnTo>
                  <a:lnTo>
                    <a:pt x="299608" y="415718"/>
                  </a:lnTo>
                  <a:lnTo>
                    <a:pt x="360186" y="425040"/>
                  </a:lnTo>
                  <a:lnTo>
                    <a:pt x="424086" y="430828"/>
                  </a:lnTo>
                  <a:lnTo>
                    <a:pt x="490728" y="432816"/>
                  </a:lnTo>
                  <a:lnTo>
                    <a:pt x="556669" y="430828"/>
                  </a:lnTo>
                  <a:lnTo>
                    <a:pt x="619985" y="425040"/>
                  </a:lnTo>
                  <a:lnTo>
                    <a:pt x="680084" y="415718"/>
                  </a:lnTo>
                  <a:lnTo>
                    <a:pt x="736374" y="403126"/>
                  </a:lnTo>
                  <a:lnTo>
                    <a:pt x="788260" y="387528"/>
                  </a:lnTo>
                  <a:lnTo>
                    <a:pt x="835151" y="369189"/>
                  </a:lnTo>
                  <a:lnTo>
                    <a:pt x="876455" y="348373"/>
                  </a:lnTo>
                  <a:lnTo>
                    <a:pt x="911577" y="325345"/>
                  </a:lnTo>
                  <a:lnTo>
                    <a:pt x="960910" y="273713"/>
                  </a:lnTo>
                  <a:lnTo>
                    <a:pt x="978408" y="216408"/>
                  </a:lnTo>
                  <a:lnTo>
                    <a:pt x="973934" y="187178"/>
                  </a:lnTo>
                  <a:lnTo>
                    <a:pt x="939927" y="132445"/>
                  </a:lnTo>
                  <a:lnTo>
                    <a:pt x="876455" y="84442"/>
                  </a:lnTo>
                  <a:lnTo>
                    <a:pt x="835151" y="63626"/>
                  </a:lnTo>
                  <a:lnTo>
                    <a:pt x="788260" y="45287"/>
                  </a:lnTo>
                  <a:lnTo>
                    <a:pt x="736374" y="29689"/>
                  </a:lnTo>
                  <a:lnTo>
                    <a:pt x="680085" y="17097"/>
                  </a:lnTo>
                  <a:lnTo>
                    <a:pt x="619985" y="7775"/>
                  </a:lnTo>
                  <a:lnTo>
                    <a:pt x="556669" y="1987"/>
                  </a:lnTo>
                  <a:lnTo>
                    <a:pt x="490728" y="0"/>
                  </a:lnTo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2041651" y="1368044"/>
            <a:ext cx="1530350" cy="81216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2400" spc="-25">
                <a:latin typeface="Arial MT"/>
                <a:cs typeface="Arial MT"/>
              </a:rPr>
              <a:t>P1</a:t>
            </a:r>
            <a:endParaRPr sz="2400">
              <a:latin typeface="Arial MT"/>
              <a:cs typeface="Arial MT"/>
            </a:endParaRPr>
          </a:p>
          <a:p>
            <a:pPr marL="119380">
              <a:lnSpc>
                <a:spcPct val="100000"/>
              </a:lnSpc>
              <a:spcBef>
                <a:spcPts val="215"/>
              </a:spcBef>
            </a:pPr>
            <a:r>
              <a:rPr dirty="0" sz="2400" b="1">
                <a:latin typeface="Arial"/>
                <a:cs typeface="Arial"/>
              </a:rPr>
              <a:t>Write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spc="-25" b="1">
                <a:latin typeface="Arial"/>
                <a:cs typeface="Arial"/>
              </a:rPr>
              <a:t>X=1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pc="-25"/>
              <a:t>20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5906515" y="1361948"/>
            <a:ext cx="1706245" cy="118110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375285">
              <a:lnSpc>
                <a:spcPct val="100000"/>
              </a:lnSpc>
              <a:spcBef>
                <a:spcPts val="340"/>
              </a:spcBef>
            </a:pPr>
            <a:r>
              <a:rPr dirty="0" sz="2400" spc="-25">
                <a:latin typeface="Arial MT"/>
                <a:cs typeface="Arial MT"/>
              </a:rPr>
              <a:t>P2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ts val="2860"/>
              </a:lnSpc>
              <a:spcBef>
                <a:spcPts val="350"/>
              </a:spcBef>
            </a:pPr>
            <a:r>
              <a:rPr dirty="0" sz="2400" b="1">
                <a:latin typeface="Arial"/>
                <a:cs typeface="Arial"/>
              </a:rPr>
              <a:t>Read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spc="-25" b="1">
                <a:latin typeface="Arial"/>
                <a:cs typeface="Arial"/>
              </a:rPr>
              <a:t>X: </a:t>
            </a:r>
            <a:r>
              <a:rPr dirty="0" sz="2400" b="1">
                <a:latin typeface="Arial"/>
                <a:cs typeface="Arial"/>
              </a:rPr>
              <a:t>Cache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spc="-20" b="1">
                <a:latin typeface="Arial"/>
                <a:cs typeface="Arial"/>
              </a:rPr>
              <a:t>Miss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xfrm>
            <a:off x="993139" y="724915"/>
            <a:ext cx="657542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0"/>
              <a:t>Example:</a:t>
            </a:r>
            <a:r>
              <a:rPr dirty="0" spc="-100"/>
              <a:t> </a:t>
            </a:r>
            <a:r>
              <a:rPr dirty="0" spc="-160"/>
              <a:t>Write</a:t>
            </a:r>
            <a:r>
              <a:rPr dirty="0" spc="-90"/>
              <a:t> </a:t>
            </a:r>
            <a:r>
              <a:rPr dirty="0" spc="-295"/>
              <a:t>Once</a:t>
            </a:r>
            <a:r>
              <a:rPr dirty="0" spc="-90"/>
              <a:t> </a:t>
            </a:r>
            <a:r>
              <a:rPr dirty="0" spc="-150"/>
              <a:t>Protocol.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2026-09-10T03:55:25Z</dcterms:created>
  <dcterms:modified xsi:type="dcterms:W3CDTF">2026-09-10T03:55:25Z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2026-09-10T00:00:00Z</vt:filetime>
  </property>
  <property fmtid="{D5CDD505-2E9C-101B-9397-08002B2CF9AE}" pid="4" name="LastSaved">
    <vt:filetime>2026-09-10T00:00:00Z</vt:filetime>
  </property>
  <property fmtid="{D5CDD505-2E9C-101B-9397-08002B2CF9AE}" pid="5" name="Producer">
    <vt:lpwstr>iLovePDF</vt:lpwstr>
  </property>
</Properties>
</file>