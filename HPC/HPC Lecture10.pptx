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png" ContentType="image/png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37616" y="658368"/>
            <a:ext cx="8634730" cy="0"/>
          </a:xfrm>
          <a:custGeom>
            <a:avLst/>
            <a:gdLst/>
            <a:ahLst/>
            <a:cxnLst/>
            <a:rect l="l" t="t" r="r" b="b"/>
            <a:pathLst>
              <a:path w="8634730" h="0">
                <a:moveTo>
                  <a:pt x="0" y="0"/>
                </a:moveTo>
                <a:lnTo>
                  <a:pt x="8634603" y="0"/>
                </a:lnTo>
              </a:path>
            </a:pathLst>
          </a:custGeom>
          <a:ln w="12192">
            <a:solidFill>
              <a:srgbClr val="99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2835" y="709930"/>
            <a:ext cx="7708265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06907" y="1561465"/>
            <a:ext cx="4299585" cy="2563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875521" y="6911552"/>
            <a:ext cx="21590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2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Relationship Id="rId14" Type="http://schemas.openxmlformats.org/officeDocument/2006/relationships/image" Target="../media/image38.png"/><Relationship Id="rId15" Type="http://schemas.openxmlformats.org/officeDocument/2006/relationships/image" Target="../media/image39.png"/><Relationship Id="rId16" Type="http://schemas.openxmlformats.org/officeDocument/2006/relationships/image" Target="../media/image40.png"/><Relationship Id="rId17" Type="http://schemas.openxmlformats.org/officeDocument/2006/relationships/image" Target="../media/image41.png"/><Relationship Id="rId18" Type="http://schemas.openxmlformats.org/officeDocument/2006/relationships/image" Target="../media/image42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2835" y="511809"/>
            <a:ext cx="4790440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20"/>
              <a:t>We</a:t>
            </a:r>
            <a:r>
              <a:rPr dirty="0" spc="-550"/>
              <a:t> </a:t>
            </a:r>
            <a:r>
              <a:rPr dirty="0"/>
              <a:t>will</a:t>
            </a:r>
            <a:r>
              <a:rPr dirty="0" spc="-235"/>
              <a:t> </a:t>
            </a:r>
            <a:r>
              <a:rPr dirty="0" spc="-430"/>
              <a:t>assume</a:t>
            </a:r>
            <a:r>
              <a:rPr dirty="0" spc="-640"/>
              <a:t> </a:t>
            </a:r>
            <a:r>
              <a:rPr dirty="0" spc="-165"/>
              <a:t>that</a:t>
            </a:r>
            <a:r>
              <a:rPr dirty="0" spc="-335"/>
              <a:t> </a:t>
            </a:r>
            <a:r>
              <a:rPr dirty="0" spc="-50"/>
              <a:t>…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2835" y="1158550"/>
            <a:ext cx="7794625" cy="475678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585470" indent="-572770">
              <a:lnSpc>
                <a:spcPct val="100000"/>
              </a:lnSpc>
              <a:spcBef>
                <a:spcPts val="760"/>
              </a:spcBef>
              <a:buClr>
                <a:srgbClr val="CC9900"/>
              </a:buClr>
              <a:buAutoNum type="arabicPeriod"/>
              <a:tabLst>
                <a:tab pos="585470" algn="l"/>
              </a:tabLst>
            </a:pPr>
            <a:r>
              <a:rPr dirty="0" sz="2600">
                <a:latin typeface="Arial MT"/>
                <a:cs typeface="Arial MT"/>
              </a:rPr>
              <a:t>Activity</a:t>
            </a:r>
            <a:r>
              <a:rPr dirty="0" sz="2600" spc="-1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overlapped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time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where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possible</a:t>
            </a:r>
            <a:endParaRPr sz="2600">
              <a:latin typeface="Arial MT"/>
              <a:cs typeface="Arial MT"/>
            </a:endParaRPr>
          </a:p>
          <a:p>
            <a:pPr lvl="1" marL="853440" indent="-496570">
              <a:lnSpc>
                <a:spcPct val="100000"/>
              </a:lnSpc>
              <a:spcBef>
                <a:spcPts val="605"/>
              </a:spcBef>
              <a:buClr>
                <a:srgbClr val="39802D"/>
              </a:buClr>
              <a:buChar char="•"/>
              <a:tabLst>
                <a:tab pos="853440" algn="l"/>
              </a:tabLst>
            </a:pPr>
            <a:r>
              <a:rPr dirty="0" sz="2400">
                <a:latin typeface="Arial MT"/>
                <a:cs typeface="Arial MT"/>
              </a:rPr>
              <a:t>PC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increment</a:t>
            </a:r>
            <a:r>
              <a:rPr dirty="0" sz="2400" spc="-114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instruction</a:t>
            </a:r>
            <a:r>
              <a:rPr dirty="0" sz="2400" spc="-1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fetch</a:t>
            </a:r>
            <a:r>
              <a:rPr dirty="0" sz="2400" spc="-1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1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memory?</a:t>
            </a:r>
            <a:endParaRPr sz="2400">
              <a:latin typeface="Arial MT"/>
              <a:cs typeface="Arial MT"/>
            </a:endParaRPr>
          </a:p>
          <a:p>
            <a:pPr lvl="1" marL="853440" indent="-496570">
              <a:lnSpc>
                <a:spcPct val="100000"/>
              </a:lnSpc>
              <a:spcBef>
                <a:spcPts val="605"/>
              </a:spcBef>
              <a:buClr>
                <a:srgbClr val="39802D"/>
              </a:buClr>
              <a:buChar char="•"/>
              <a:tabLst>
                <a:tab pos="853440" algn="l"/>
              </a:tabLst>
            </a:pPr>
            <a:r>
              <a:rPr dirty="0" sz="2400">
                <a:latin typeface="Arial MT"/>
                <a:cs typeface="Arial MT"/>
              </a:rPr>
              <a:t>Instruction</a:t>
            </a:r>
            <a:r>
              <a:rPr dirty="0" sz="2400" spc="-12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decode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effective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address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calculation</a:t>
            </a:r>
            <a:endParaRPr sz="2400">
              <a:latin typeface="Arial MT"/>
              <a:cs typeface="Arial MT"/>
            </a:endParaRPr>
          </a:p>
          <a:p>
            <a:pPr marL="585470" marR="577215" indent="-573405">
              <a:lnSpc>
                <a:spcPct val="100000"/>
              </a:lnSpc>
              <a:spcBef>
                <a:spcPts val="685"/>
              </a:spcBef>
              <a:buClr>
                <a:srgbClr val="CC9900"/>
              </a:buClr>
              <a:buAutoNum type="arabicPeriod"/>
              <a:tabLst>
                <a:tab pos="585470" algn="l"/>
              </a:tabLst>
            </a:pPr>
            <a:r>
              <a:rPr dirty="0" sz="2600" spc="-45">
                <a:latin typeface="Arial MT"/>
                <a:cs typeface="Arial MT"/>
              </a:rPr>
              <a:t>Load-</a:t>
            </a:r>
            <a:r>
              <a:rPr dirty="0" sz="2600">
                <a:latin typeface="Arial MT"/>
                <a:cs typeface="Arial MT"/>
              </a:rPr>
              <a:t>store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ISA: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only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instructions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that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take </a:t>
            </a:r>
            <a:r>
              <a:rPr dirty="0" sz="2600">
                <a:latin typeface="Arial MT"/>
                <a:cs typeface="Arial MT"/>
              </a:rPr>
              <a:t>operands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from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memory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are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loads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&amp;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stores</a:t>
            </a:r>
            <a:endParaRPr sz="2600">
              <a:latin typeface="Arial MT"/>
              <a:cs typeface="Arial MT"/>
            </a:endParaRPr>
          </a:p>
          <a:p>
            <a:pPr marL="585470" marR="8890" indent="-573405">
              <a:lnSpc>
                <a:spcPct val="100000"/>
              </a:lnSpc>
              <a:spcBef>
                <a:spcPts val="605"/>
              </a:spcBef>
              <a:buClr>
                <a:srgbClr val="CC9900"/>
              </a:buClr>
              <a:buAutoNum type="arabicPeriod"/>
              <a:tabLst>
                <a:tab pos="585470" algn="l"/>
              </a:tabLst>
            </a:pPr>
            <a:r>
              <a:rPr dirty="0" sz="2600">
                <a:latin typeface="Arial MT"/>
                <a:cs typeface="Arial MT"/>
              </a:rPr>
              <a:t>Main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memory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delays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are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typically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seen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by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 spc="-10">
                <a:latin typeface="Arial MT"/>
                <a:cs typeface="Arial MT"/>
              </a:rPr>
              <a:t>processor</a:t>
            </a:r>
            <a:endParaRPr sz="2600">
              <a:latin typeface="Arial MT"/>
              <a:cs typeface="Arial MT"/>
            </a:endParaRPr>
          </a:p>
          <a:p>
            <a:pPr lvl="1" marL="853440" indent="-496570">
              <a:lnSpc>
                <a:spcPct val="100000"/>
              </a:lnSpc>
              <a:spcBef>
                <a:spcPts val="605"/>
              </a:spcBef>
              <a:buClr>
                <a:srgbClr val="39802D"/>
              </a:buClr>
              <a:buSzPct val="58333"/>
              <a:buChar char="•"/>
              <a:tabLst>
                <a:tab pos="853440" algn="l"/>
              </a:tabLst>
            </a:pPr>
            <a:r>
              <a:rPr dirty="0" sz="2400">
                <a:latin typeface="Arial MT"/>
                <a:cs typeface="Arial MT"/>
              </a:rPr>
              <a:t>Otherwise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13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timeline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dominated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13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them</a:t>
            </a:r>
            <a:endParaRPr sz="2400">
              <a:latin typeface="Arial MT"/>
              <a:cs typeface="Arial MT"/>
            </a:endParaRPr>
          </a:p>
          <a:p>
            <a:pPr lvl="1" marL="853440" marR="80645" indent="-497205">
              <a:lnSpc>
                <a:spcPct val="100000"/>
              </a:lnSpc>
              <a:spcBef>
                <a:spcPts val="600"/>
              </a:spcBef>
              <a:buClr>
                <a:srgbClr val="39802D"/>
              </a:buClr>
              <a:buSzPct val="58333"/>
              <a:buChar char="•"/>
              <a:tabLst>
                <a:tab pos="853440" algn="l"/>
              </a:tabLst>
            </a:pP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114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some</a:t>
            </a:r>
            <a:r>
              <a:rPr dirty="0" sz="2400" spc="-1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hardware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mechanism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through</a:t>
            </a:r>
            <a:r>
              <a:rPr dirty="0" sz="2400" spc="-13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which </a:t>
            </a:r>
            <a:r>
              <a:rPr dirty="0" sz="2400">
                <a:latin typeface="Arial MT"/>
                <a:cs typeface="Arial MT"/>
              </a:rPr>
              <a:t>most</a:t>
            </a:r>
            <a:r>
              <a:rPr dirty="0" sz="2400" spc="-1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memory</a:t>
            </a:r>
            <a:r>
              <a:rPr dirty="0" sz="2400" spc="-1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access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requests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can</a:t>
            </a:r>
            <a:r>
              <a:rPr dirty="0" sz="2400" spc="-1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satisfied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at </a:t>
            </a:r>
            <a:r>
              <a:rPr dirty="0" sz="2400">
                <a:latin typeface="Arial MT"/>
                <a:cs typeface="Arial MT"/>
              </a:rPr>
              <a:t>processor</a:t>
            </a:r>
            <a:r>
              <a:rPr dirty="0" sz="2400" spc="-1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speeds</a:t>
            </a:r>
            <a:r>
              <a:rPr dirty="0" sz="2400" spc="-12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(</a:t>
            </a:r>
            <a:r>
              <a:rPr dirty="0" sz="2400" spc="-10">
                <a:solidFill>
                  <a:srgbClr val="0066FF"/>
                </a:solidFill>
                <a:latin typeface="Arial MT"/>
                <a:cs typeface="Arial MT"/>
              </a:rPr>
              <a:t>cache</a:t>
            </a:r>
            <a:r>
              <a:rPr dirty="0" sz="2400" spc="-150">
                <a:solidFill>
                  <a:srgbClr val="0066FF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0066FF"/>
                </a:solidFill>
                <a:latin typeface="Arial MT"/>
                <a:cs typeface="Arial MT"/>
              </a:rPr>
              <a:t>memory</a:t>
            </a:r>
            <a:r>
              <a:rPr dirty="0" sz="2400" spc="-1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2835" y="1239393"/>
            <a:ext cx="7889875" cy="77787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356870" marR="5080" indent="-344805">
              <a:lnSpc>
                <a:spcPts val="2800"/>
              </a:lnSpc>
              <a:spcBef>
                <a:spcPts val="459"/>
              </a:spcBef>
              <a:buClr>
                <a:srgbClr val="CC9900"/>
              </a:buClr>
              <a:buSzPct val="65384"/>
              <a:buFont typeface="Wingdings"/>
              <a:buChar char=""/>
              <a:tabLst>
                <a:tab pos="356870" algn="l"/>
              </a:tabLst>
            </a:pPr>
            <a:r>
              <a:rPr dirty="0" sz="2600">
                <a:latin typeface="Arial MT"/>
                <a:cs typeface="Arial MT"/>
              </a:rPr>
              <a:t>Unit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timescale</a:t>
            </a:r>
            <a:r>
              <a:rPr dirty="0" sz="2600" spc="-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processor;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time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required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do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 spc="-50">
                <a:latin typeface="Arial MT"/>
                <a:cs typeface="Arial MT"/>
              </a:rPr>
              <a:t>a </a:t>
            </a:r>
            <a:r>
              <a:rPr dirty="0" sz="2600">
                <a:latin typeface="Arial MT"/>
                <a:cs typeface="Arial MT"/>
              </a:rPr>
              <a:t>basic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operation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3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92835" y="511809"/>
            <a:ext cx="5951220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4"/>
              <a:t>Term:</a:t>
            </a:r>
            <a:r>
              <a:rPr dirty="0" spc="-325"/>
              <a:t> </a:t>
            </a:r>
            <a:r>
              <a:rPr dirty="0" spc="-310"/>
              <a:t>Processor</a:t>
            </a:r>
            <a:r>
              <a:rPr dirty="0" spc="-440"/>
              <a:t> </a:t>
            </a:r>
            <a:r>
              <a:rPr dirty="0" spc="-285"/>
              <a:t>Cycle</a:t>
            </a:r>
            <a:r>
              <a:rPr dirty="0" spc="-409"/>
              <a:t> </a:t>
            </a:r>
            <a:r>
              <a:rPr dirty="0" spc="-30"/>
              <a:t>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2835" y="609345"/>
            <a:ext cx="636079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60"/>
              <a:t>Steps</a:t>
            </a:r>
            <a:r>
              <a:rPr dirty="0" spc="-535"/>
              <a:t> </a:t>
            </a:r>
            <a:r>
              <a:rPr dirty="0"/>
              <a:t>in</a:t>
            </a:r>
            <a:r>
              <a:rPr dirty="0" spc="-200"/>
              <a:t> </a:t>
            </a:r>
            <a:r>
              <a:rPr dirty="0" spc="-140"/>
              <a:t>Instruction</a:t>
            </a:r>
            <a:r>
              <a:rPr dirty="0" spc="-280"/>
              <a:t> </a:t>
            </a:r>
            <a:r>
              <a:rPr dirty="0" spc="-125"/>
              <a:t>Execution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2835" y="1318005"/>
            <a:ext cx="767143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 sz="3000">
                <a:solidFill>
                  <a:srgbClr val="DCDCDC"/>
                </a:solidFill>
                <a:latin typeface="Arial MT"/>
                <a:cs typeface="Arial MT"/>
              </a:rPr>
              <a:t>Fetch</a:t>
            </a:r>
            <a:r>
              <a:rPr dirty="0" sz="3000" spc="-85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DCDCDC"/>
                </a:solidFill>
                <a:latin typeface="Arial MT"/>
                <a:cs typeface="Arial MT"/>
              </a:rPr>
              <a:t>instruction</a:t>
            </a:r>
            <a:r>
              <a:rPr dirty="0" sz="3000" spc="-65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DCDCDC"/>
                </a:solidFill>
                <a:latin typeface="Arial MT"/>
                <a:cs typeface="Arial MT"/>
              </a:rPr>
              <a:t>from</a:t>
            </a:r>
            <a:r>
              <a:rPr dirty="0" sz="3000" spc="-55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DCDCDC"/>
                </a:solidFill>
                <a:latin typeface="Arial MT"/>
                <a:cs typeface="Arial MT"/>
              </a:rPr>
              <a:t>memory</a:t>
            </a:r>
            <a:r>
              <a:rPr dirty="0" sz="3000" spc="-90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DCDCDC"/>
                </a:solidFill>
                <a:latin typeface="Arial MT"/>
                <a:cs typeface="Arial MT"/>
              </a:rPr>
              <a:t>to</a:t>
            </a:r>
            <a:r>
              <a:rPr dirty="0" sz="3000" spc="-70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3000" spc="-10">
                <a:solidFill>
                  <a:srgbClr val="DCDCDC"/>
                </a:solidFill>
                <a:latin typeface="Arial MT"/>
                <a:cs typeface="Arial MT"/>
              </a:rPr>
              <a:t>processor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7310" y="1818258"/>
            <a:ext cx="288226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38455" indent="-325755">
              <a:lnSpc>
                <a:spcPct val="100000"/>
              </a:lnSpc>
              <a:spcBef>
                <a:spcPts val="105"/>
              </a:spcBef>
              <a:buSzPct val="61538"/>
              <a:buChar char="•"/>
              <a:tabLst>
                <a:tab pos="338455" algn="l"/>
              </a:tabLst>
            </a:pPr>
            <a:r>
              <a:rPr dirty="0" sz="2600">
                <a:latin typeface="Arial MT"/>
                <a:cs typeface="Arial MT"/>
              </a:rPr>
              <a:t>IR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=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Memory[PC]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7310" y="2253818"/>
            <a:ext cx="2355850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38455" indent="-325755">
              <a:lnSpc>
                <a:spcPct val="100000"/>
              </a:lnSpc>
              <a:spcBef>
                <a:spcPts val="105"/>
              </a:spcBef>
              <a:buSzPct val="61538"/>
              <a:buChar char="•"/>
              <a:tabLst>
                <a:tab pos="338455" algn="l"/>
              </a:tabLst>
            </a:pPr>
            <a:r>
              <a:rPr dirty="0" sz="2600">
                <a:latin typeface="Arial MT"/>
                <a:cs typeface="Arial MT"/>
              </a:rPr>
              <a:t>Increment</a:t>
            </a:r>
            <a:r>
              <a:rPr dirty="0" sz="2600" spc="-15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PC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2835" y="2693034"/>
            <a:ext cx="703389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 sz="3000">
                <a:solidFill>
                  <a:srgbClr val="DCDCDC"/>
                </a:solidFill>
                <a:latin typeface="Arial MT"/>
                <a:cs typeface="Arial MT"/>
              </a:rPr>
              <a:t>Decode</a:t>
            </a:r>
            <a:r>
              <a:rPr dirty="0" sz="3000" spc="-95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DCDCDC"/>
                </a:solidFill>
                <a:latin typeface="Arial MT"/>
                <a:cs typeface="Arial MT"/>
              </a:rPr>
              <a:t>instruction</a:t>
            </a:r>
            <a:r>
              <a:rPr dirty="0" sz="3000" spc="-75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DCDCDC"/>
                </a:solidFill>
                <a:latin typeface="Arial MT"/>
                <a:cs typeface="Arial MT"/>
              </a:rPr>
              <a:t>and</a:t>
            </a:r>
            <a:r>
              <a:rPr dirty="0" sz="3000" spc="-80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DCDCDC"/>
                </a:solidFill>
                <a:latin typeface="Arial MT"/>
                <a:cs typeface="Arial MT"/>
              </a:rPr>
              <a:t>get</a:t>
            </a:r>
            <a:r>
              <a:rPr dirty="0" sz="3000" spc="-60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DCDCDC"/>
                </a:solidFill>
                <a:latin typeface="Arial MT"/>
                <a:cs typeface="Arial MT"/>
              </a:rPr>
              <a:t>its</a:t>
            </a:r>
            <a:r>
              <a:rPr dirty="0" sz="3000" spc="-50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3000" spc="-10">
                <a:solidFill>
                  <a:srgbClr val="DCDCDC"/>
                </a:solidFill>
                <a:latin typeface="Arial MT"/>
                <a:cs typeface="Arial MT"/>
              </a:rPr>
              <a:t>operands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7310" y="3193161"/>
            <a:ext cx="148653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38455" indent="-325755">
              <a:lnSpc>
                <a:spcPct val="100000"/>
              </a:lnSpc>
              <a:spcBef>
                <a:spcPts val="105"/>
              </a:spcBef>
              <a:buSzPct val="61538"/>
              <a:buChar char="•"/>
              <a:tabLst>
                <a:tab pos="338455" algn="l"/>
              </a:tabLst>
            </a:pPr>
            <a:r>
              <a:rPr dirty="0" sz="2600" spc="-10">
                <a:latin typeface="Arial MT"/>
                <a:cs typeface="Arial MT"/>
              </a:rPr>
              <a:t>Decode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37310" y="5949188"/>
            <a:ext cx="524065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8455" indent="-325755">
              <a:lnSpc>
                <a:spcPct val="100000"/>
              </a:lnSpc>
              <a:spcBef>
                <a:spcPts val="100"/>
              </a:spcBef>
              <a:buSzPct val="61538"/>
              <a:buChar char="•"/>
              <a:tabLst>
                <a:tab pos="338455" algn="l"/>
              </a:tabLst>
            </a:pPr>
            <a:r>
              <a:rPr dirty="0" sz="2600">
                <a:latin typeface="Arial MT"/>
                <a:cs typeface="Arial MT"/>
              </a:rPr>
              <a:t>Write</a:t>
            </a:r>
            <a:r>
              <a:rPr dirty="0" sz="2600" spc="-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result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destination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register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32705" y="1854149"/>
            <a:ext cx="303911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cache</a:t>
            </a:r>
            <a:r>
              <a:rPr dirty="0" sz="2400" spc="-9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memory</a:t>
            </a:r>
            <a:r>
              <a:rPr dirty="0" sz="2400" spc="-10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access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28364" y="2266315"/>
            <a:ext cx="31165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(simple)</a:t>
            </a:r>
            <a:r>
              <a:rPr dirty="0" sz="2400" spc="-1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ALU</a:t>
            </a:r>
            <a:r>
              <a:rPr dirty="0" sz="2400" spc="-1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operation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04820" y="3180715"/>
            <a:ext cx="29260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(simple)</a:t>
            </a:r>
            <a:r>
              <a:rPr dirty="0" sz="2400" spc="-15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logic</a:t>
            </a:r>
            <a:r>
              <a:rPr dirty="0" sz="2400" spc="-1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circuitry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04890" y="3653409"/>
            <a:ext cx="20561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register</a:t>
            </a:r>
            <a:r>
              <a:rPr dirty="0" sz="2400" spc="-9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access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2835" y="3601235"/>
            <a:ext cx="8448675" cy="138366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682625" indent="-325755">
              <a:lnSpc>
                <a:spcPct val="100000"/>
              </a:lnSpc>
              <a:spcBef>
                <a:spcPts val="350"/>
              </a:spcBef>
              <a:buSzPct val="61538"/>
              <a:buChar char="•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Get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Operands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from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registers</a:t>
            </a:r>
            <a:endParaRPr sz="26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28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 sz="3000">
                <a:solidFill>
                  <a:srgbClr val="DCDCDC"/>
                </a:solidFill>
                <a:latin typeface="Arial MT"/>
                <a:cs typeface="Arial MT"/>
              </a:rPr>
              <a:t>Execute</a:t>
            </a:r>
            <a:r>
              <a:rPr dirty="0" sz="3000" spc="-70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DCDCDC"/>
                </a:solidFill>
                <a:latin typeface="Arial MT"/>
                <a:cs typeface="Arial MT"/>
              </a:rPr>
              <a:t>the</a:t>
            </a:r>
            <a:r>
              <a:rPr dirty="0" sz="3000" spc="-65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3000" spc="-10">
                <a:solidFill>
                  <a:srgbClr val="DCDCDC"/>
                </a:solidFill>
                <a:latin typeface="Arial MT"/>
                <a:cs typeface="Arial MT"/>
              </a:rPr>
              <a:t>operation</a:t>
            </a:r>
            <a:endParaRPr sz="30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320"/>
              </a:spcBef>
              <a:buSzPct val="61538"/>
              <a:buChar char="•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Trigger</a:t>
            </a:r>
            <a:r>
              <a:rPr dirty="0" sz="2600" spc="-15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appropriate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functional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hardware</a:t>
            </a:r>
            <a:r>
              <a:rPr dirty="0" sz="2600" spc="-175">
                <a:latin typeface="Arial MT"/>
                <a:cs typeface="Arial MT"/>
              </a:rPr>
              <a:t> </a:t>
            </a:r>
            <a:r>
              <a:rPr dirty="0" baseline="1157" sz="3600">
                <a:solidFill>
                  <a:srgbClr val="FF0000"/>
                </a:solidFill>
                <a:latin typeface="Arial MT"/>
                <a:cs typeface="Arial MT"/>
              </a:rPr>
              <a:t>ALU</a:t>
            </a:r>
            <a:r>
              <a:rPr dirty="0" baseline="1157" sz="3600" spc="-127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baseline="1157" sz="3600" spc="-15">
                <a:solidFill>
                  <a:srgbClr val="FF0000"/>
                </a:solidFill>
                <a:latin typeface="Arial MT"/>
                <a:cs typeface="Arial MT"/>
              </a:rPr>
              <a:t>operation</a:t>
            </a:r>
            <a:endParaRPr baseline="1157" sz="3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2835" y="4965469"/>
            <a:ext cx="6451600" cy="94678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682625" indent="-325755">
              <a:lnSpc>
                <a:spcPct val="100000"/>
              </a:lnSpc>
              <a:spcBef>
                <a:spcPts val="350"/>
              </a:spcBef>
              <a:buSzPct val="61538"/>
              <a:buChar char="•"/>
              <a:tabLst>
                <a:tab pos="682625" algn="l"/>
              </a:tabLst>
            </a:pPr>
            <a:r>
              <a:rPr dirty="0" sz="2600" spc="-10">
                <a:latin typeface="Arial MT"/>
                <a:cs typeface="Arial MT"/>
              </a:rPr>
              <a:t>Load/store: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get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data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from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main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memory</a:t>
            </a:r>
            <a:endParaRPr sz="26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28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 sz="3000">
                <a:solidFill>
                  <a:srgbClr val="DCDCDC"/>
                </a:solidFill>
                <a:latin typeface="Arial MT"/>
                <a:cs typeface="Arial MT"/>
              </a:rPr>
              <a:t>Write</a:t>
            </a:r>
            <a:r>
              <a:rPr dirty="0" sz="3000" spc="-55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DCDCDC"/>
                </a:solidFill>
                <a:latin typeface="Arial MT"/>
                <a:cs typeface="Arial MT"/>
              </a:rPr>
              <a:t>back</a:t>
            </a:r>
            <a:r>
              <a:rPr dirty="0" sz="3000" spc="-60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DCDCDC"/>
                </a:solidFill>
                <a:latin typeface="Arial MT"/>
                <a:cs typeface="Arial MT"/>
              </a:rPr>
              <a:t>the</a:t>
            </a:r>
            <a:r>
              <a:rPr dirty="0" sz="3000" spc="-45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3000" spc="-10">
                <a:solidFill>
                  <a:srgbClr val="DCDCDC"/>
                </a:solidFill>
                <a:latin typeface="Arial MT"/>
                <a:cs typeface="Arial MT"/>
              </a:rPr>
              <a:t>result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35367" y="5018023"/>
            <a:ext cx="18618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cache</a:t>
            </a:r>
            <a:r>
              <a:rPr dirty="0" sz="2400" spc="-10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access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58127" y="5955029"/>
            <a:ext cx="20554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register</a:t>
            </a:r>
            <a:r>
              <a:rPr dirty="0" sz="2400" spc="-9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access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2835" y="1239393"/>
            <a:ext cx="7889875" cy="197802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356870" marR="5080" indent="-344805">
              <a:lnSpc>
                <a:spcPts val="2800"/>
              </a:lnSpc>
              <a:spcBef>
                <a:spcPts val="459"/>
              </a:spcBef>
              <a:buClr>
                <a:srgbClr val="CC9900"/>
              </a:buClr>
              <a:buSzPct val="65384"/>
              <a:buFont typeface="Wingdings"/>
              <a:buChar char=""/>
              <a:tabLst>
                <a:tab pos="356870" algn="l"/>
              </a:tabLst>
            </a:pPr>
            <a:r>
              <a:rPr dirty="0" sz="2600">
                <a:latin typeface="Arial MT"/>
                <a:cs typeface="Arial MT"/>
              </a:rPr>
              <a:t>Unit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timescale</a:t>
            </a:r>
            <a:r>
              <a:rPr dirty="0" sz="2600" spc="-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processor;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time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required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do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 spc="-50">
                <a:latin typeface="Arial MT"/>
                <a:cs typeface="Arial MT"/>
              </a:rPr>
              <a:t>a </a:t>
            </a:r>
            <a:r>
              <a:rPr dirty="0" sz="2600">
                <a:latin typeface="Arial MT"/>
                <a:cs typeface="Arial MT"/>
              </a:rPr>
              <a:t>basic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operation</a:t>
            </a:r>
            <a:endParaRPr sz="26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170"/>
              </a:spcBef>
              <a:buClr>
                <a:srgbClr val="39802D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latin typeface="Arial MT"/>
                <a:cs typeface="Arial MT"/>
              </a:rPr>
              <a:t>Cache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memory</a:t>
            </a:r>
            <a:r>
              <a:rPr dirty="0" sz="2400" spc="-1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access</a:t>
            </a:r>
            <a:endParaRPr sz="24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300"/>
              </a:spcBef>
              <a:buClr>
                <a:srgbClr val="39802D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latin typeface="Arial MT"/>
                <a:cs typeface="Arial MT"/>
              </a:rPr>
              <a:t>Register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access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some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logic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(like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decode)</a:t>
            </a:r>
            <a:endParaRPr sz="24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305"/>
              </a:spcBef>
              <a:buClr>
                <a:srgbClr val="39802D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latin typeface="Arial MT"/>
                <a:cs typeface="Arial MT"/>
              </a:rPr>
              <a:t>ALU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operation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5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92835" y="511809"/>
            <a:ext cx="5951220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4"/>
              <a:t>Term:</a:t>
            </a:r>
            <a:r>
              <a:rPr dirty="0" spc="-325"/>
              <a:t> </a:t>
            </a:r>
            <a:r>
              <a:rPr dirty="0" spc="-310"/>
              <a:t>Processor</a:t>
            </a:r>
            <a:r>
              <a:rPr dirty="0" spc="-440"/>
              <a:t> </a:t>
            </a:r>
            <a:r>
              <a:rPr dirty="0" spc="-285"/>
              <a:t>Cycle</a:t>
            </a:r>
            <a:r>
              <a:rPr dirty="0" spc="-409"/>
              <a:t> </a:t>
            </a:r>
            <a:r>
              <a:rPr dirty="0" spc="-30"/>
              <a:t>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2835" y="609345"/>
            <a:ext cx="636079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60"/>
              <a:t>Steps</a:t>
            </a:r>
            <a:r>
              <a:rPr dirty="0" spc="-535"/>
              <a:t> </a:t>
            </a:r>
            <a:r>
              <a:rPr dirty="0"/>
              <a:t>in</a:t>
            </a:r>
            <a:r>
              <a:rPr dirty="0" spc="-200"/>
              <a:t> </a:t>
            </a:r>
            <a:r>
              <a:rPr dirty="0" spc="-140"/>
              <a:t>Instruction</a:t>
            </a:r>
            <a:r>
              <a:rPr dirty="0" spc="-280"/>
              <a:t> </a:t>
            </a:r>
            <a:r>
              <a:rPr dirty="0" spc="-125"/>
              <a:t>Execution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2835" y="1354582"/>
            <a:ext cx="732663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Arial MT"/>
                <a:cs typeface="Arial MT"/>
              </a:rPr>
              <a:t>Fetch</a:t>
            </a:r>
            <a:r>
              <a:rPr dirty="0" sz="3000" spc="-7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instruction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from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memory</a:t>
            </a:r>
            <a:r>
              <a:rPr dirty="0" sz="3000" spc="-8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to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processor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2835" y="1822888"/>
            <a:ext cx="6689090" cy="406400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682625" indent="-325755">
              <a:lnSpc>
                <a:spcPct val="100000"/>
              </a:lnSpc>
              <a:spcBef>
                <a:spcPts val="690"/>
              </a:spcBef>
              <a:buSzPct val="61538"/>
              <a:buChar char="•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IR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=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Memory[PC];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Increment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PC</a:t>
            </a:r>
            <a:endParaRPr sz="26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dirty="0" sz="3000">
                <a:latin typeface="Arial MT"/>
                <a:cs typeface="Arial MT"/>
              </a:rPr>
              <a:t>Decode</a:t>
            </a:r>
            <a:r>
              <a:rPr dirty="0" sz="3000" spc="-10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instruction</a:t>
            </a:r>
            <a:r>
              <a:rPr dirty="0" sz="3000" spc="-8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and</a:t>
            </a:r>
            <a:r>
              <a:rPr dirty="0" sz="3000" spc="-8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get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its</a:t>
            </a:r>
            <a:r>
              <a:rPr dirty="0" sz="3000" spc="-6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operands</a:t>
            </a:r>
            <a:endParaRPr sz="3000">
              <a:latin typeface="Arial MT"/>
              <a:cs typeface="Arial MT"/>
            </a:endParaRPr>
          </a:p>
          <a:p>
            <a:pPr algn="ctr" marL="325755" marR="66040" indent="-325755">
              <a:lnSpc>
                <a:spcPct val="100000"/>
              </a:lnSpc>
              <a:spcBef>
                <a:spcPts val="715"/>
              </a:spcBef>
              <a:buSzPct val="61538"/>
              <a:buChar char="•"/>
              <a:tabLst>
                <a:tab pos="325755" algn="l"/>
              </a:tabLst>
            </a:pPr>
            <a:r>
              <a:rPr dirty="0" sz="2600">
                <a:latin typeface="Arial MT"/>
                <a:cs typeface="Arial MT"/>
              </a:rPr>
              <a:t>Decode;</a:t>
            </a:r>
            <a:r>
              <a:rPr dirty="0" sz="2600" spc="-1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Get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Operands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from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registers</a:t>
            </a:r>
            <a:endParaRPr sz="2600">
              <a:latin typeface="Arial MT"/>
              <a:cs typeface="Arial MT"/>
            </a:endParaRPr>
          </a:p>
          <a:p>
            <a:pPr algn="ctr" marR="2973070">
              <a:lnSpc>
                <a:spcPct val="100000"/>
              </a:lnSpc>
              <a:spcBef>
                <a:spcPts val="695"/>
              </a:spcBef>
            </a:pPr>
            <a:r>
              <a:rPr dirty="0" sz="3000">
                <a:latin typeface="Arial MT"/>
                <a:cs typeface="Arial MT"/>
              </a:rPr>
              <a:t>Execute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the</a:t>
            </a:r>
            <a:r>
              <a:rPr dirty="0" sz="3000" spc="-6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operation</a:t>
            </a:r>
            <a:endParaRPr sz="3000">
              <a:latin typeface="Arial MT"/>
              <a:cs typeface="Arial MT"/>
            </a:endParaRPr>
          </a:p>
          <a:p>
            <a:pPr marL="682625" indent="-325755">
              <a:lnSpc>
                <a:spcPct val="100000"/>
              </a:lnSpc>
              <a:spcBef>
                <a:spcPts val="710"/>
              </a:spcBef>
              <a:buSzPct val="61538"/>
              <a:buChar char="•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Trigger</a:t>
            </a:r>
            <a:r>
              <a:rPr dirty="0" sz="2600" spc="-13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appropriate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functional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hardware</a:t>
            </a:r>
            <a:endParaRPr sz="2600">
              <a:latin typeface="Arial MT"/>
              <a:cs typeface="Arial MT"/>
            </a:endParaRPr>
          </a:p>
          <a:p>
            <a:pPr marL="682625" indent="-325755">
              <a:lnSpc>
                <a:spcPct val="100000"/>
              </a:lnSpc>
              <a:spcBef>
                <a:spcPts val="600"/>
              </a:spcBef>
              <a:buSzPct val="61538"/>
              <a:buChar char="•"/>
              <a:tabLst>
                <a:tab pos="682625" algn="l"/>
              </a:tabLst>
            </a:pPr>
            <a:r>
              <a:rPr dirty="0" sz="2600" spc="-10">
                <a:latin typeface="Arial MT"/>
                <a:cs typeface="Arial MT"/>
              </a:rPr>
              <a:t>Load/store: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get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data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from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main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memory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3000">
                <a:latin typeface="Arial MT"/>
                <a:cs typeface="Arial MT"/>
              </a:rPr>
              <a:t>Write</a:t>
            </a:r>
            <a:r>
              <a:rPr dirty="0" sz="3000" spc="-9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back</a:t>
            </a:r>
            <a:r>
              <a:rPr dirty="0" sz="3000" spc="-8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the</a:t>
            </a:r>
            <a:r>
              <a:rPr dirty="0" sz="3000" spc="-6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result</a:t>
            </a:r>
            <a:endParaRPr sz="3000">
              <a:latin typeface="Arial MT"/>
              <a:cs typeface="Arial MT"/>
            </a:endParaRPr>
          </a:p>
          <a:p>
            <a:pPr marL="682625" indent="-325755">
              <a:lnSpc>
                <a:spcPct val="100000"/>
              </a:lnSpc>
              <a:spcBef>
                <a:spcPts val="710"/>
              </a:spcBef>
              <a:buSzPct val="61538"/>
              <a:buChar char="•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Write</a:t>
            </a:r>
            <a:r>
              <a:rPr dirty="0" sz="2600" spc="-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result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destination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register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06055" y="1909013"/>
            <a:ext cx="9607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dirty="0" sz="24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cycle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06055" y="2912490"/>
            <a:ext cx="96011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dirty="0" sz="24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cycle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06055" y="3866769"/>
            <a:ext cx="972185" cy="95821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89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dirty="0" sz="24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cycle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dirty="0" sz="24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cycle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33486" y="5439917"/>
            <a:ext cx="96011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dirty="0" sz="24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cycle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2835" y="609345"/>
            <a:ext cx="568515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60"/>
              <a:t>Steps</a:t>
            </a:r>
            <a:r>
              <a:rPr dirty="0" spc="-540"/>
              <a:t> </a:t>
            </a:r>
            <a:r>
              <a:rPr dirty="0" spc="-40"/>
              <a:t>in</a:t>
            </a:r>
            <a:r>
              <a:rPr dirty="0" spc="-265"/>
              <a:t> </a:t>
            </a:r>
            <a:r>
              <a:rPr dirty="0" spc="5"/>
              <a:t>E</a:t>
            </a:r>
            <a:r>
              <a:rPr dirty="0" spc="15"/>
              <a:t>x</a:t>
            </a:r>
            <a:r>
              <a:rPr dirty="0" spc="-5"/>
              <a:t>e</a:t>
            </a:r>
            <a:r>
              <a:rPr dirty="0" spc="15"/>
              <a:t>c</a:t>
            </a:r>
            <a:r>
              <a:rPr dirty="0" spc="-5"/>
              <a:t>u</a:t>
            </a:r>
            <a:r>
              <a:rPr dirty="0" spc="5"/>
              <a:t>t</a:t>
            </a:r>
            <a:r>
              <a:rPr dirty="0" spc="15"/>
              <a:t>i</a:t>
            </a:r>
            <a:r>
              <a:rPr dirty="0"/>
              <a:t>o</a:t>
            </a:r>
            <a:r>
              <a:rPr dirty="0" spc="25"/>
              <a:t>n</a:t>
            </a:r>
            <a:r>
              <a:rPr dirty="0" spc="345"/>
              <a:t>:</a:t>
            </a:r>
            <a:r>
              <a:rPr dirty="0" spc="-585"/>
              <a:t>J</a:t>
            </a:r>
            <a:r>
              <a:rPr dirty="0" spc="25"/>
              <a:t>R</a:t>
            </a:r>
            <a:r>
              <a:rPr dirty="0" spc="-5"/>
              <a:t> </a:t>
            </a:r>
            <a:r>
              <a:rPr dirty="0" spc="-484"/>
              <a:t>R6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2835" y="1354582"/>
            <a:ext cx="732663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Arial MT"/>
                <a:cs typeface="Arial MT"/>
              </a:rPr>
              <a:t>Fetch</a:t>
            </a:r>
            <a:r>
              <a:rPr dirty="0" sz="3000" spc="-7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instruction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from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memory</a:t>
            </a:r>
            <a:r>
              <a:rPr dirty="0" sz="3000" spc="-8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to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processor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2835" y="1822888"/>
            <a:ext cx="6689090" cy="406400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682625" indent="-325755">
              <a:lnSpc>
                <a:spcPct val="100000"/>
              </a:lnSpc>
              <a:spcBef>
                <a:spcPts val="690"/>
              </a:spcBef>
              <a:buSzPct val="61538"/>
              <a:buChar char="•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IR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=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Memory[PC];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Increment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PC</a:t>
            </a:r>
            <a:endParaRPr sz="26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dirty="0" sz="3000">
                <a:latin typeface="Arial MT"/>
                <a:cs typeface="Arial MT"/>
              </a:rPr>
              <a:t>Decode</a:t>
            </a:r>
            <a:r>
              <a:rPr dirty="0" sz="3000" spc="-10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instruction</a:t>
            </a:r>
            <a:r>
              <a:rPr dirty="0" sz="3000" spc="-8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and</a:t>
            </a:r>
            <a:r>
              <a:rPr dirty="0" sz="3000" spc="-8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get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its</a:t>
            </a:r>
            <a:r>
              <a:rPr dirty="0" sz="3000" spc="-6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operands</a:t>
            </a:r>
            <a:endParaRPr sz="3000">
              <a:latin typeface="Arial MT"/>
              <a:cs typeface="Arial MT"/>
            </a:endParaRPr>
          </a:p>
          <a:p>
            <a:pPr algn="ctr" marL="325755" marR="66040" indent="-325755">
              <a:lnSpc>
                <a:spcPct val="100000"/>
              </a:lnSpc>
              <a:spcBef>
                <a:spcPts val="715"/>
              </a:spcBef>
              <a:buSzPct val="61538"/>
              <a:buChar char="•"/>
              <a:tabLst>
                <a:tab pos="325755" algn="l"/>
              </a:tabLst>
            </a:pPr>
            <a:r>
              <a:rPr dirty="0" sz="2600">
                <a:latin typeface="Arial MT"/>
                <a:cs typeface="Arial MT"/>
              </a:rPr>
              <a:t>Decode;</a:t>
            </a:r>
            <a:r>
              <a:rPr dirty="0" sz="2600" spc="-1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Get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Operands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from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registers</a:t>
            </a:r>
            <a:endParaRPr sz="2600">
              <a:latin typeface="Arial MT"/>
              <a:cs typeface="Arial MT"/>
            </a:endParaRPr>
          </a:p>
          <a:p>
            <a:pPr algn="ctr" marR="2973070">
              <a:lnSpc>
                <a:spcPct val="100000"/>
              </a:lnSpc>
              <a:spcBef>
                <a:spcPts val="695"/>
              </a:spcBef>
            </a:pPr>
            <a:r>
              <a:rPr dirty="0" sz="3000">
                <a:latin typeface="Arial MT"/>
                <a:cs typeface="Arial MT"/>
              </a:rPr>
              <a:t>Execute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the</a:t>
            </a:r>
            <a:r>
              <a:rPr dirty="0" sz="3000" spc="-6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operation</a:t>
            </a:r>
            <a:endParaRPr sz="3000">
              <a:latin typeface="Arial MT"/>
              <a:cs typeface="Arial MT"/>
            </a:endParaRPr>
          </a:p>
          <a:p>
            <a:pPr marL="682625" indent="-325755">
              <a:lnSpc>
                <a:spcPct val="100000"/>
              </a:lnSpc>
              <a:spcBef>
                <a:spcPts val="710"/>
              </a:spcBef>
              <a:buSzPct val="61538"/>
              <a:buChar char="•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Trigger</a:t>
            </a:r>
            <a:r>
              <a:rPr dirty="0" sz="2600" spc="-13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appropriate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functional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hardware</a:t>
            </a:r>
            <a:endParaRPr sz="2600">
              <a:latin typeface="Arial MT"/>
              <a:cs typeface="Arial MT"/>
            </a:endParaRPr>
          </a:p>
          <a:p>
            <a:pPr marL="682625" indent="-325755">
              <a:lnSpc>
                <a:spcPct val="100000"/>
              </a:lnSpc>
              <a:spcBef>
                <a:spcPts val="600"/>
              </a:spcBef>
              <a:buSzPct val="61538"/>
              <a:buChar char="•"/>
              <a:tabLst>
                <a:tab pos="682625" algn="l"/>
              </a:tabLst>
            </a:pPr>
            <a:r>
              <a:rPr dirty="0" sz="2600" spc="-10">
                <a:latin typeface="Arial MT"/>
                <a:cs typeface="Arial MT"/>
              </a:rPr>
              <a:t>Load/store: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get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data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from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main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memory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3000">
                <a:latin typeface="Arial MT"/>
                <a:cs typeface="Arial MT"/>
              </a:rPr>
              <a:t>Write</a:t>
            </a:r>
            <a:r>
              <a:rPr dirty="0" sz="3000" spc="-9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back</a:t>
            </a:r>
            <a:r>
              <a:rPr dirty="0" sz="3000" spc="-8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the</a:t>
            </a:r>
            <a:r>
              <a:rPr dirty="0" sz="3000" spc="-6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result</a:t>
            </a:r>
            <a:endParaRPr sz="3000">
              <a:latin typeface="Arial MT"/>
              <a:cs typeface="Arial MT"/>
            </a:endParaRPr>
          </a:p>
          <a:p>
            <a:pPr marL="682625" indent="-325755">
              <a:lnSpc>
                <a:spcPct val="100000"/>
              </a:lnSpc>
              <a:spcBef>
                <a:spcPts val="710"/>
              </a:spcBef>
              <a:buSzPct val="61538"/>
              <a:buChar char="•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Write</a:t>
            </a:r>
            <a:r>
              <a:rPr dirty="0" sz="2600" spc="-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result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destination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register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06055" y="1909013"/>
            <a:ext cx="9607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dirty="0" sz="24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cycle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06055" y="2912490"/>
            <a:ext cx="96011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dirty="0" sz="24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cycle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06055" y="3866769"/>
            <a:ext cx="972185" cy="95821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89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dirty="0" sz="24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cycle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dirty="0" sz="24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cycle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33486" y="5439917"/>
            <a:ext cx="96011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dirty="0" sz="24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cycle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2835" y="609345"/>
            <a:ext cx="7713980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60"/>
              <a:t>Steps</a:t>
            </a:r>
            <a:r>
              <a:rPr dirty="0" spc="-535"/>
              <a:t> </a:t>
            </a:r>
            <a:r>
              <a:rPr dirty="0"/>
              <a:t>in</a:t>
            </a:r>
            <a:r>
              <a:rPr dirty="0" spc="-165"/>
              <a:t> </a:t>
            </a:r>
            <a:r>
              <a:rPr dirty="0" spc="-215"/>
              <a:t>Execution:</a:t>
            </a:r>
            <a:r>
              <a:rPr dirty="0" spc="-340"/>
              <a:t> </a:t>
            </a:r>
            <a:r>
              <a:rPr dirty="0" spc="50"/>
              <a:t>ADD</a:t>
            </a:r>
            <a:r>
              <a:rPr dirty="0" spc="35"/>
              <a:t> </a:t>
            </a:r>
            <a:r>
              <a:rPr dirty="0" spc="-260"/>
              <a:t>R1,</a:t>
            </a:r>
            <a:r>
              <a:rPr dirty="0" spc="-450"/>
              <a:t> </a:t>
            </a:r>
            <a:r>
              <a:rPr dirty="0" spc="-260"/>
              <a:t>R2,</a:t>
            </a:r>
            <a:r>
              <a:rPr dirty="0" spc="-470"/>
              <a:t> </a:t>
            </a:r>
            <a:r>
              <a:rPr dirty="0" spc="-484"/>
              <a:t>R3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2835" y="1354582"/>
            <a:ext cx="732663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Arial MT"/>
                <a:cs typeface="Arial MT"/>
              </a:rPr>
              <a:t>Fetch</a:t>
            </a:r>
            <a:r>
              <a:rPr dirty="0" sz="3000" spc="-7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instruction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from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memory</a:t>
            </a:r>
            <a:r>
              <a:rPr dirty="0" sz="3000" spc="-8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to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processor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2835" y="1822888"/>
            <a:ext cx="6689090" cy="406400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682625" indent="-325755">
              <a:lnSpc>
                <a:spcPct val="100000"/>
              </a:lnSpc>
              <a:spcBef>
                <a:spcPts val="690"/>
              </a:spcBef>
              <a:buSzPct val="61538"/>
              <a:buChar char="•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IR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=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Memory[PC];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Increment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PC</a:t>
            </a:r>
            <a:endParaRPr sz="26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dirty="0" sz="3000">
                <a:latin typeface="Arial MT"/>
                <a:cs typeface="Arial MT"/>
              </a:rPr>
              <a:t>Decode</a:t>
            </a:r>
            <a:r>
              <a:rPr dirty="0" sz="3000" spc="-10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instruction</a:t>
            </a:r>
            <a:r>
              <a:rPr dirty="0" sz="3000" spc="-8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and</a:t>
            </a:r>
            <a:r>
              <a:rPr dirty="0" sz="3000" spc="-8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get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its</a:t>
            </a:r>
            <a:r>
              <a:rPr dirty="0" sz="3000" spc="-6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operands</a:t>
            </a:r>
            <a:endParaRPr sz="3000">
              <a:latin typeface="Arial MT"/>
              <a:cs typeface="Arial MT"/>
            </a:endParaRPr>
          </a:p>
          <a:p>
            <a:pPr algn="ctr" marL="325755" marR="66040" indent="-325755">
              <a:lnSpc>
                <a:spcPct val="100000"/>
              </a:lnSpc>
              <a:spcBef>
                <a:spcPts val="715"/>
              </a:spcBef>
              <a:buSzPct val="61538"/>
              <a:buChar char="•"/>
              <a:tabLst>
                <a:tab pos="325755" algn="l"/>
              </a:tabLst>
            </a:pPr>
            <a:r>
              <a:rPr dirty="0" sz="2600">
                <a:latin typeface="Arial MT"/>
                <a:cs typeface="Arial MT"/>
              </a:rPr>
              <a:t>Decode;</a:t>
            </a:r>
            <a:r>
              <a:rPr dirty="0" sz="2600" spc="-1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Get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Operands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from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registers</a:t>
            </a:r>
            <a:endParaRPr sz="2600">
              <a:latin typeface="Arial MT"/>
              <a:cs typeface="Arial MT"/>
            </a:endParaRPr>
          </a:p>
          <a:p>
            <a:pPr algn="ctr" marR="2973070">
              <a:lnSpc>
                <a:spcPct val="100000"/>
              </a:lnSpc>
              <a:spcBef>
                <a:spcPts val="695"/>
              </a:spcBef>
            </a:pPr>
            <a:r>
              <a:rPr dirty="0" sz="3000">
                <a:latin typeface="Arial MT"/>
                <a:cs typeface="Arial MT"/>
              </a:rPr>
              <a:t>Execute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the</a:t>
            </a:r>
            <a:r>
              <a:rPr dirty="0" sz="3000" spc="-6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operation</a:t>
            </a:r>
            <a:endParaRPr sz="3000">
              <a:latin typeface="Arial MT"/>
              <a:cs typeface="Arial MT"/>
            </a:endParaRPr>
          </a:p>
          <a:p>
            <a:pPr marL="682625" indent="-325755">
              <a:lnSpc>
                <a:spcPct val="100000"/>
              </a:lnSpc>
              <a:spcBef>
                <a:spcPts val="710"/>
              </a:spcBef>
              <a:buSzPct val="61538"/>
              <a:buChar char="•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Trigger</a:t>
            </a:r>
            <a:r>
              <a:rPr dirty="0" sz="2600" spc="-13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appropriate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functional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hardware</a:t>
            </a:r>
            <a:endParaRPr sz="2600">
              <a:latin typeface="Arial MT"/>
              <a:cs typeface="Arial MT"/>
            </a:endParaRPr>
          </a:p>
          <a:p>
            <a:pPr marL="682625" indent="-325755">
              <a:lnSpc>
                <a:spcPct val="100000"/>
              </a:lnSpc>
              <a:spcBef>
                <a:spcPts val="600"/>
              </a:spcBef>
              <a:buSzPct val="61538"/>
              <a:buChar char="•"/>
              <a:tabLst>
                <a:tab pos="682625" algn="l"/>
              </a:tabLst>
            </a:pPr>
            <a:r>
              <a:rPr dirty="0" sz="2600" spc="-10">
                <a:latin typeface="Arial MT"/>
                <a:cs typeface="Arial MT"/>
              </a:rPr>
              <a:t>Load/store: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get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data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from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main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memory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3000">
                <a:latin typeface="Arial MT"/>
                <a:cs typeface="Arial MT"/>
              </a:rPr>
              <a:t>Write</a:t>
            </a:r>
            <a:r>
              <a:rPr dirty="0" sz="3000" spc="-9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back</a:t>
            </a:r>
            <a:r>
              <a:rPr dirty="0" sz="3000" spc="-8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the</a:t>
            </a:r>
            <a:r>
              <a:rPr dirty="0" sz="3000" spc="-6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result</a:t>
            </a:r>
            <a:endParaRPr sz="3000">
              <a:latin typeface="Arial MT"/>
              <a:cs typeface="Arial MT"/>
            </a:endParaRPr>
          </a:p>
          <a:p>
            <a:pPr marL="682625" indent="-325755">
              <a:lnSpc>
                <a:spcPct val="100000"/>
              </a:lnSpc>
              <a:spcBef>
                <a:spcPts val="710"/>
              </a:spcBef>
              <a:buSzPct val="61538"/>
              <a:buChar char="•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Write</a:t>
            </a:r>
            <a:r>
              <a:rPr dirty="0" sz="2600" spc="-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result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destination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register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06055" y="1909013"/>
            <a:ext cx="9607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dirty="0" sz="24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cycle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06055" y="2912490"/>
            <a:ext cx="96011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dirty="0" sz="24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cycle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06055" y="3866769"/>
            <a:ext cx="972185" cy="95821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89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dirty="0" sz="24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cycle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dirty="0" sz="24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cycle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33486" y="5439917"/>
            <a:ext cx="96011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dirty="0" sz="24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cycle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2835" y="609345"/>
            <a:ext cx="761809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60"/>
              <a:t>Steps</a:t>
            </a:r>
            <a:r>
              <a:rPr dirty="0" spc="-540"/>
              <a:t> </a:t>
            </a:r>
            <a:r>
              <a:rPr dirty="0"/>
              <a:t>in</a:t>
            </a:r>
            <a:r>
              <a:rPr dirty="0" spc="-195"/>
              <a:t> </a:t>
            </a:r>
            <a:r>
              <a:rPr dirty="0" spc="-215"/>
              <a:t>Execution:</a:t>
            </a:r>
            <a:r>
              <a:rPr dirty="0" spc="-345"/>
              <a:t> </a:t>
            </a:r>
            <a:r>
              <a:rPr dirty="0"/>
              <a:t>LW</a:t>
            </a:r>
            <a:r>
              <a:rPr dirty="0" spc="1005"/>
              <a:t> </a:t>
            </a:r>
            <a:r>
              <a:rPr dirty="0" spc="-260"/>
              <a:t>R1,</a:t>
            </a:r>
            <a:r>
              <a:rPr dirty="0" spc="-484"/>
              <a:t> </a:t>
            </a:r>
            <a:r>
              <a:rPr dirty="0" spc="-114"/>
              <a:t>-</a:t>
            </a:r>
            <a:r>
              <a:rPr dirty="0" spc="-315"/>
              <a:t>8(R29)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2835" y="1354582"/>
            <a:ext cx="732663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Arial MT"/>
                <a:cs typeface="Arial MT"/>
              </a:rPr>
              <a:t>Fetch</a:t>
            </a:r>
            <a:r>
              <a:rPr dirty="0" sz="3000" spc="-7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instruction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from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memory</a:t>
            </a:r>
            <a:r>
              <a:rPr dirty="0" sz="3000" spc="-8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to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processor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2835" y="1822888"/>
            <a:ext cx="6689090" cy="406400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682625" indent="-325755">
              <a:lnSpc>
                <a:spcPct val="100000"/>
              </a:lnSpc>
              <a:spcBef>
                <a:spcPts val="690"/>
              </a:spcBef>
              <a:buSzPct val="61538"/>
              <a:buChar char="•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IR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=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Memory[PC];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Increment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PC</a:t>
            </a:r>
            <a:endParaRPr sz="26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dirty="0" sz="3000">
                <a:latin typeface="Arial MT"/>
                <a:cs typeface="Arial MT"/>
              </a:rPr>
              <a:t>Decode</a:t>
            </a:r>
            <a:r>
              <a:rPr dirty="0" sz="3000" spc="-10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instruction</a:t>
            </a:r>
            <a:r>
              <a:rPr dirty="0" sz="3000" spc="-8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and</a:t>
            </a:r>
            <a:r>
              <a:rPr dirty="0" sz="3000" spc="-8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get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its</a:t>
            </a:r>
            <a:r>
              <a:rPr dirty="0" sz="3000" spc="-6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operands</a:t>
            </a:r>
            <a:endParaRPr sz="3000">
              <a:latin typeface="Arial MT"/>
              <a:cs typeface="Arial MT"/>
            </a:endParaRPr>
          </a:p>
          <a:p>
            <a:pPr algn="ctr" marL="325755" marR="66040" indent="-325755">
              <a:lnSpc>
                <a:spcPct val="100000"/>
              </a:lnSpc>
              <a:spcBef>
                <a:spcPts val="715"/>
              </a:spcBef>
              <a:buSzPct val="61538"/>
              <a:buChar char="•"/>
              <a:tabLst>
                <a:tab pos="325755" algn="l"/>
              </a:tabLst>
            </a:pPr>
            <a:r>
              <a:rPr dirty="0" sz="2600">
                <a:latin typeface="Arial MT"/>
                <a:cs typeface="Arial MT"/>
              </a:rPr>
              <a:t>Decode;</a:t>
            </a:r>
            <a:r>
              <a:rPr dirty="0" sz="2600" spc="-1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Get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Operands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from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registers</a:t>
            </a:r>
            <a:endParaRPr sz="2600">
              <a:latin typeface="Arial MT"/>
              <a:cs typeface="Arial MT"/>
            </a:endParaRPr>
          </a:p>
          <a:p>
            <a:pPr algn="ctr" marR="2973070">
              <a:lnSpc>
                <a:spcPct val="100000"/>
              </a:lnSpc>
              <a:spcBef>
                <a:spcPts val="695"/>
              </a:spcBef>
            </a:pPr>
            <a:r>
              <a:rPr dirty="0" sz="3000">
                <a:latin typeface="Arial MT"/>
                <a:cs typeface="Arial MT"/>
              </a:rPr>
              <a:t>Execute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the</a:t>
            </a:r>
            <a:r>
              <a:rPr dirty="0" sz="3000" spc="-6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operation</a:t>
            </a:r>
            <a:endParaRPr sz="3000">
              <a:latin typeface="Arial MT"/>
              <a:cs typeface="Arial MT"/>
            </a:endParaRPr>
          </a:p>
          <a:p>
            <a:pPr marL="682625" indent="-325755">
              <a:lnSpc>
                <a:spcPct val="100000"/>
              </a:lnSpc>
              <a:spcBef>
                <a:spcPts val="710"/>
              </a:spcBef>
              <a:buSzPct val="61538"/>
              <a:buChar char="•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Trigger</a:t>
            </a:r>
            <a:r>
              <a:rPr dirty="0" sz="2600" spc="-13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appropriate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functional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hardware</a:t>
            </a:r>
            <a:endParaRPr sz="2600">
              <a:latin typeface="Arial MT"/>
              <a:cs typeface="Arial MT"/>
            </a:endParaRPr>
          </a:p>
          <a:p>
            <a:pPr marL="682625" indent="-325755">
              <a:lnSpc>
                <a:spcPct val="100000"/>
              </a:lnSpc>
              <a:spcBef>
                <a:spcPts val="600"/>
              </a:spcBef>
              <a:buSzPct val="61538"/>
              <a:buChar char="•"/>
              <a:tabLst>
                <a:tab pos="682625" algn="l"/>
              </a:tabLst>
            </a:pPr>
            <a:r>
              <a:rPr dirty="0" sz="2600" spc="-10">
                <a:latin typeface="Arial MT"/>
                <a:cs typeface="Arial MT"/>
              </a:rPr>
              <a:t>Load/store: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get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data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from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main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memory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3000">
                <a:latin typeface="Arial MT"/>
                <a:cs typeface="Arial MT"/>
              </a:rPr>
              <a:t>Write</a:t>
            </a:r>
            <a:r>
              <a:rPr dirty="0" sz="3000" spc="-9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back</a:t>
            </a:r>
            <a:r>
              <a:rPr dirty="0" sz="3000" spc="-8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the</a:t>
            </a:r>
            <a:r>
              <a:rPr dirty="0" sz="3000" spc="-6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result</a:t>
            </a:r>
            <a:endParaRPr sz="3000">
              <a:latin typeface="Arial MT"/>
              <a:cs typeface="Arial MT"/>
            </a:endParaRPr>
          </a:p>
          <a:p>
            <a:pPr marL="682625" indent="-325755">
              <a:lnSpc>
                <a:spcPct val="100000"/>
              </a:lnSpc>
              <a:spcBef>
                <a:spcPts val="710"/>
              </a:spcBef>
              <a:buSzPct val="61538"/>
              <a:buChar char="•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Write</a:t>
            </a:r>
            <a:r>
              <a:rPr dirty="0" sz="2600" spc="-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result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destination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register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06055" y="1909013"/>
            <a:ext cx="9607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dirty="0" sz="24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cycle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06055" y="2912490"/>
            <a:ext cx="96011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dirty="0" sz="24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cycle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06055" y="3866769"/>
            <a:ext cx="972185" cy="95821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89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dirty="0" sz="24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cycle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dirty="0" sz="24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cycle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33486" y="5439917"/>
            <a:ext cx="96011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dirty="0" sz="24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cycle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2835" y="1239393"/>
            <a:ext cx="7944484" cy="407035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356870" marR="59055" indent="-344805">
              <a:lnSpc>
                <a:spcPts val="2800"/>
              </a:lnSpc>
              <a:spcBef>
                <a:spcPts val="459"/>
              </a:spcBef>
              <a:buClr>
                <a:srgbClr val="CC9900"/>
              </a:buClr>
              <a:buSzPct val="65384"/>
              <a:buFont typeface="Wingdings"/>
              <a:buChar char=""/>
              <a:tabLst>
                <a:tab pos="356870" algn="l"/>
              </a:tabLst>
            </a:pPr>
            <a:r>
              <a:rPr dirty="0" sz="2600">
                <a:solidFill>
                  <a:srgbClr val="DCDCDC"/>
                </a:solidFill>
                <a:latin typeface="Arial MT"/>
                <a:cs typeface="Arial MT"/>
              </a:rPr>
              <a:t>Unit</a:t>
            </a:r>
            <a:r>
              <a:rPr dirty="0" sz="2600" spc="-80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DCDCDC"/>
                </a:solidFill>
                <a:latin typeface="Arial MT"/>
                <a:cs typeface="Arial MT"/>
              </a:rPr>
              <a:t>of</a:t>
            </a:r>
            <a:r>
              <a:rPr dirty="0" sz="2600" spc="-70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DCDCDC"/>
                </a:solidFill>
                <a:latin typeface="Arial MT"/>
                <a:cs typeface="Arial MT"/>
              </a:rPr>
              <a:t>timescale</a:t>
            </a:r>
            <a:r>
              <a:rPr dirty="0" sz="2600" spc="-120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DCDCDC"/>
                </a:solidFill>
                <a:latin typeface="Arial MT"/>
                <a:cs typeface="Arial MT"/>
              </a:rPr>
              <a:t>of</a:t>
            </a:r>
            <a:r>
              <a:rPr dirty="0" sz="2600" spc="-45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DCDCDC"/>
                </a:solidFill>
                <a:latin typeface="Arial MT"/>
                <a:cs typeface="Arial MT"/>
              </a:rPr>
              <a:t>processor;</a:t>
            </a:r>
            <a:r>
              <a:rPr dirty="0" sz="2600" spc="-95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DCDCDC"/>
                </a:solidFill>
                <a:latin typeface="Arial MT"/>
                <a:cs typeface="Arial MT"/>
              </a:rPr>
              <a:t>time</a:t>
            </a:r>
            <a:r>
              <a:rPr dirty="0" sz="2600" spc="-90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DCDCDC"/>
                </a:solidFill>
                <a:latin typeface="Arial MT"/>
                <a:cs typeface="Arial MT"/>
              </a:rPr>
              <a:t>required</a:t>
            </a:r>
            <a:r>
              <a:rPr dirty="0" sz="2600" spc="-70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DCDCDC"/>
                </a:solidFill>
                <a:latin typeface="Arial MT"/>
                <a:cs typeface="Arial MT"/>
              </a:rPr>
              <a:t>to</a:t>
            </a:r>
            <a:r>
              <a:rPr dirty="0" sz="2600" spc="-70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DCDCDC"/>
                </a:solidFill>
                <a:latin typeface="Arial MT"/>
                <a:cs typeface="Arial MT"/>
              </a:rPr>
              <a:t>do</a:t>
            </a:r>
            <a:r>
              <a:rPr dirty="0" sz="2600" spc="-75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2600" spc="-50">
                <a:solidFill>
                  <a:srgbClr val="DCDCDC"/>
                </a:solidFill>
                <a:latin typeface="Arial MT"/>
                <a:cs typeface="Arial MT"/>
              </a:rPr>
              <a:t>a </a:t>
            </a:r>
            <a:r>
              <a:rPr dirty="0" sz="2600">
                <a:solidFill>
                  <a:srgbClr val="DCDCDC"/>
                </a:solidFill>
                <a:latin typeface="Arial MT"/>
                <a:cs typeface="Arial MT"/>
              </a:rPr>
              <a:t>basic</a:t>
            </a:r>
            <a:r>
              <a:rPr dirty="0" sz="2600" spc="-100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DCDCDC"/>
                </a:solidFill>
                <a:latin typeface="Arial MT"/>
                <a:cs typeface="Arial MT"/>
              </a:rPr>
              <a:t>operation</a:t>
            </a:r>
            <a:endParaRPr sz="26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170"/>
              </a:spcBef>
              <a:buClr>
                <a:srgbClr val="39802D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solidFill>
                  <a:srgbClr val="DCDCDC"/>
                </a:solidFill>
                <a:latin typeface="Arial MT"/>
                <a:cs typeface="Arial MT"/>
              </a:rPr>
              <a:t>Cache</a:t>
            </a:r>
            <a:r>
              <a:rPr dirty="0" sz="2400" spc="-100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DCDCDC"/>
                </a:solidFill>
                <a:latin typeface="Arial MT"/>
                <a:cs typeface="Arial MT"/>
              </a:rPr>
              <a:t>memory</a:t>
            </a:r>
            <a:r>
              <a:rPr dirty="0" sz="2400" spc="-150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DCDCDC"/>
                </a:solidFill>
                <a:latin typeface="Arial MT"/>
                <a:cs typeface="Arial MT"/>
              </a:rPr>
              <a:t>access</a:t>
            </a:r>
            <a:endParaRPr sz="24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300"/>
              </a:spcBef>
              <a:buClr>
                <a:srgbClr val="39802D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solidFill>
                  <a:srgbClr val="DCDCDC"/>
                </a:solidFill>
                <a:latin typeface="Arial MT"/>
                <a:cs typeface="Arial MT"/>
              </a:rPr>
              <a:t>Register</a:t>
            </a:r>
            <a:r>
              <a:rPr dirty="0" sz="2400" spc="-85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DCDCDC"/>
                </a:solidFill>
                <a:latin typeface="Arial MT"/>
                <a:cs typeface="Arial MT"/>
              </a:rPr>
              <a:t>access</a:t>
            </a:r>
            <a:r>
              <a:rPr dirty="0" sz="2400" spc="-75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DCDCDC"/>
                </a:solidFill>
                <a:latin typeface="Arial MT"/>
                <a:cs typeface="Arial MT"/>
              </a:rPr>
              <a:t>+</a:t>
            </a:r>
            <a:r>
              <a:rPr dirty="0" sz="2400" spc="-105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DCDCDC"/>
                </a:solidFill>
                <a:latin typeface="Arial MT"/>
                <a:cs typeface="Arial MT"/>
              </a:rPr>
              <a:t>some</a:t>
            </a:r>
            <a:r>
              <a:rPr dirty="0" sz="2400" spc="-75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DCDCDC"/>
                </a:solidFill>
                <a:latin typeface="Arial MT"/>
                <a:cs typeface="Arial MT"/>
              </a:rPr>
              <a:t>logic</a:t>
            </a:r>
            <a:r>
              <a:rPr dirty="0" sz="2400" spc="-75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DCDCDC"/>
                </a:solidFill>
                <a:latin typeface="Arial MT"/>
                <a:cs typeface="Arial MT"/>
              </a:rPr>
              <a:t>(like</a:t>
            </a:r>
            <a:r>
              <a:rPr dirty="0" sz="2400" spc="-70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DCDCDC"/>
                </a:solidFill>
                <a:latin typeface="Arial MT"/>
                <a:cs typeface="Arial MT"/>
              </a:rPr>
              <a:t>decode)</a:t>
            </a:r>
            <a:endParaRPr sz="24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305"/>
              </a:spcBef>
              <a:buClr>
                <a:srgbClr val="39802D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solidFill>
                  <a:srgbClr val="DCDCDC"/>
                </a:solidFill>
                <a:latin typeface="Arial MT"/>
                <a:cs typeface="Arial MT"/>
              </a:rPr>
              <a:t>ALU</a:t>
            </a:r>
            <a:r>
              <a:rPr dirty="0" sz="2400" spc="-100">
                <a:solidFill>
                  <a:srgbClr val="DCDCDC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DCDCDC"/>
                </a:solidFill>
                <a:latin typeface="Arial MT"/>
                <a:cs typeface="Arial MT"/>
              </a:rPr>
              <a:t>operation</a:t>
            </a: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290"/>
              </a:spcBef>
              <a:buClr>
                <a:srgbClr val="CC9900"/>
              </a:buClr>
              <a:buSzPct val="65384"/>
              <a:buFont typeface="Wingdings"/>
              <a:buChar char=""/>
              <a:tabLst>
                <a:tab pos="356870" algn="l"/>
              </a:tabLst>
            </a:pP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MIPS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1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instruction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can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processed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50">
                <a:latin typeface="Arial MT"/>
                <a:cs typeface="Arial MT"/>
              </a:rPr>
              <a:t>3-</a:t>
            </a:r>
            <a:r>
              <a:rPr dirty="0" sz="2600">
                <a:latin typeface="Arial MT"/>
                <a:cs typeface="Arial MT"/>
              </a:rPr>
              <a:t>5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cycles</a:t>
            </a:r>
            <a:endParaRPr sz="26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310"/>
              </a:spcBef>
              <a:buClr>
                <a:srgbClr val="39802D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latin typeface="Arial MT"/>
                <a:cs typeface="Arial MT"/>
              </a:rPr>
              <a:t>Jump:</a:t>
            </a:r>
            <a:r>
              <a:rPr dirty="0" sz="2400" spc="-1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IFetch,</a:t>
            </a:r>
            <a:r>
              <a:rPr dirty="0" sz="2400" spc="-1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Decode/OpFetch,</a:t>
            </a:r>
            <a:r>
              <a:rPr dirty="0" sz="2400" spc="-1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WriteReg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(3)</a:t>
            </a:r>
            <a:endParaRPr sz="24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300"/>
              </a:spcBef>
              <a:buClr>
                <a:srgbClr val="39802D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latin typeface="Arial MT"/>
                <a:cs typeface="Arial MT"/>
              </a:rPr>
              <a:t>ALU: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IFetch,</a:t>
            </a:r>
            <a:r>
              <a:rPr dirty="0" sz="2400" spc="-114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Decode/OpFetch,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DoOp,</a:t>
            </a:r>
            <a:r>
              <a:rPr dirty="0" sz="2400" spc="-1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WriteReg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(4)</a:t>
            </a:r>
            <a:endParaRPr sz="24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300"/>
              </a:spcBef>
              <a:buClr>
                <a:srgbClr val="39802D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latin typeface="Arial MT"/>
                <a:cs typeface="Arial MT"/>
              </a:rPr>
              <a:t>Load: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IFetch,</a:t>
            </a:r>
            <a:r>
              <a:rPr dirty="0" sz="2400" spc="-114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Decode,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EffAddr,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Cache,</a:t>
            </a:r>
            <a:r>
              <a:rPr dirty="0" sz="2400" spc="-1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WriteReg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(5)</a:t>
            </a: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390"/>
              </a:spcBef>
              <a:buClr>
                <a:srgbClr val="CC9900"/>
              </a:buClr>
              <a:buSzPct val="65384"/>
              <a:buFont typeface="Wingdings"/>
              <a:buChar char=""/>
              <a:tabLst>
                <a:tab pos="356870" algn="l"/>
              </a:tabLst>
            </a:pPr>
            <a:r>
              <a:rPr dirty="0" sz="2600">
                <a:latin typeface="Arial MT"/>
                <a:cs typeface="Arial MT"/>
              </a:rPr>
              <a:t>Addressing</a:t>
            </a:r>
            <a:r>
              <a:rPr dirty="0" sz="2600" spc="-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modes: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(R)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vs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d(R)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10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92835" y="511809"/>
            <a:ext cx="5951220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4"/>
              <a:t>Term:</a:t>
            </a:r>
            <a:r>
              <a:rPr dirty="0" spc="-325"/>
              <a:t> </a:t>
            </a:r>
            <a:r>
              <a:rPr dirty="0" spc="-310"/>
              <a:t>Processor</a:t>
            </a:r>
            <a:r>
              <a:rPr dirty="0" spc="-440"/>
              <a:t> </a:t>
            </a:r>
            <a:r>
              <a:rPr dirty="0" spc="-285"/>
              <a:t>Cycle</a:t>
            </a:r>
            <a:r>
              <a:rPr dirty="0" spc="-409"/>
              <a:t> </a:t>
            </a:r>
            <a:r>
              <a:rPr dirty="0" spc="-30"/>
              <a:t>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Instruction</a:t>
            </a:r>
            <a:r>
              <a:rPr dirty="0" spc="-215"/>
              <a:t> </a:t>
            </a:r>
            <a:r>
              <a:rPr dirty="0" spc="-145"/>
              <a:t>Execution</a:t>
            </a:r>
          </a:p>
        </p:txBody>
      </p:sp>
      <p:sp>
        <p:nvSpPr>
          <p:cNvPr id="3" name="object 3"/>
          <p:cNvSpPr/>
          <p:nvPr/>
        </p:nvSpPr>
        <p:spPr>
          <a:xfrm>
            <a:off x="4951415" y="1901951"/>
            <a:ext cx="0" cy="4724400"/>
          </a:xfrm>
          <a:custGeom>
            <a:avLst/>
            <a:gdLst/>
            <a:ahLst/>
            <a:cxnLst/>
            <a:rect l="l" t="t" r="r" b="b"/>
            <a:pathLst>
              <a:path w="0" h="4724400">
                <a:moveTo>
                  <a:pt x="0" y="0"/>
                </a:moveTo>
                <a:lnTo>
                  <a:pt x="0" y="4724400"/>
                </a:lnTo>
              </a:path>
            </a:pathLst>
          </a:custGeom>
          <a:ln w="31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8458200" y="2761488"/>
            <a:ext cx="381000" cy="115570"/>
            <a:chOff x="8458200" y="2761488"/>
            <a:chExt cx="381000" cy="1155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23375" y="2761488"/>
              <a:ext cx="79248" cy="11544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458200" y="2800984"/>
              <a:ext cx="381000" cy="36830"/>
            </a:xfrm>
            <a:custGeom>
              <a:avLst/>
              <a:gdLst/>
              <a:ahLst/>
              <a:cxnLst/>
              <a:rect l="l" t="t" r="r" b="b"/>
              <a:pathLst>
                <a:path w="381000" h="36830">
                  <a:moveTo>
                    <a:pt x="265176" y="0"/>
                  </a:moveTo>
                  <a:lnTo>
                    <a:pt x="0" y="0"/>
                  </a:lnTo>
                  <a:lnTo>
                    <a:pt x="0" y="36449"/>
                  </a:lnTo>
                  <a:lnTo>
                    <a:pt x="265176" y="36449"/>
                  </a:lnTo>
                  <a:lnTo>
                    <a:pt x="265176" y="0"/>
                  </a:lnTo>
                  <a:close/>
                </a:path>
                <a:path w="381000" h="36830">
                  <a:moveTo>
                    <a:pt x="381000" y="18288"/>
                  </a:moveTo>
                  <a:lnTo>
                    <a:pt x="344424" y="0"/>
                  </a:lnTo>
                  <a:lnTo>
                    <a:pt x="286512" y="0"/>
                  </a:lnTo>
                  <a:lnTo>
                    <a:pt x="286512" y="36449"/>
                  </a:lnTo>
                  <a:lnTo>
                    <a:pt x="344424" y="36449"/>
                  </a:lnTo>
                  <a:lnTo>
                    <a:pt x="381000" y="18288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324600" y="3810000"/>
            <a:ext cx="914400" cy="1447800"/>
          </a:xfrm>
          <a:prstGeom prst="rect">
            <a:avLst/>
          </a:prstGeom>
          <a:solidFill>
            <a:srgbClr val="FFFFCC"/>
          </a:solidFill>
          <a:ln w="9144">
            <a:solidFill>
              <a:srgbClr val="000000"/>
            </a:solidFill>
          </a:ln>
        </p:spPr>
        <p:txBody>
          <a:bodyPr wrap="square" lIns="0" tIns="1847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55"/>
              </a:spcBef>
            </a:pPr>
            <a:endParaRPr sz="2400">
              <a:latin typeface="Times New Roman"/>
              <a:cs typeface="Times New Roman"/>
            </a:endParaRPr>
          </a:p>
          <a:p>
            <a:pPr marL="119380">
              <a:lnSpc>
                <a:spcPct val="100000"/>
              </a:lnSpc>
              <a:spcBef>
                <a:spcPts val="5"/>
              </a:spcBef>
            </a:pPr>
            <a:r>
              <a:rPr dirty="0" sz="2400" spc="-25" b="1">
                <a:latin typeface="Times New Roman"/>
                <a:cs typeface="Times New Roman"/>
              </a:rPr>
              <a:t>Mem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72400" y="3810000"/>
            <a:ext cx="762000" cy="533400"/>
          </a:xfrm>
          <a:prstGeom prst="rect">
            <a:avLst/>
          </a:prstGeom>
          <a:solidFill>
            <a:srgbClr val="FFFFCC"/>
          </a:solidFill>
          <a:ln w="9144">
            <a:solidFill>
              <a:srgbClr val="000000"/>
            </a:solidFill>
          </a:ln>
        </p:spPr>
        <p:txBody>
          <a:bodyPr wrap="square" lIns="0" tIns="97155" rIns="0" bIns="0" rtlCol="0" vert="horz">
            <a:spAutoFit/>
          </a:bodyPr>
          <a:lstStyle/>
          <a:p>
            <a:pPr marL="241935">
              <a:lnSpc>
                <a:spcPct val="100000"/>
              </a:lnSpc>
              <a:spcBef>
                <a:spcPts val="765"/>
              </a:spcBef>
            </a:pPr>
            <a:r>
              <a:rPr dirty="0" sz="2000" spc="-25" b="1">
                <a:latin typeface="Times New Roman"/>
                <a:cs typeface="Times New Roman"/>
              </a:rPr>
              <a:t>IR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91200" y="2205037"/>
            <a:ext cx="1376680" cy="1967864"/>
            <a:chOff x="5791200" y="2205037"/>
            <a:chExt cx="1376680" cy="1967864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08776" y="4056888"/>
              <a:ext cx="79248" cy="11544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791200" y="4096384"/>
              <a:ext cx="533400" cy="36830"/>
            </a:xfrm>
            <a:custGeom>
              <a:avLst/>
              <a:gdLst/>
              <a:ahLst/>
              <a:cxnLst/>
              <a:rect l="l" t="t" r="r" b="b"/>
              <a:pathLst>
                <a:path w="533400" h="36829">
                  <a:moveTo>
                    <a:pt x="417576" y="0"/>
                  </a:moveTo>
                  <a:lnTo>
                    <a:pt x="0" y="0"/>
                  </a:lnTo>
                  <a:lnTo>
                    <a:pt x="0" y="36449"/>
                  </a:lnTo>
                  <a:lnTo>
                    <a:pt x="417576" y="36449"/>
                  </a:lnTo>
                  <a:lnTo>
                    <a:pt x="417576" y="0"/>
                  </a:lnTo>
                  <a:close/>
                </a:path>
                <a:path w="533400" h="36829">
                  <a:moveTo>
                    <a:pt x="533400" y="18288"/>
                  </a:moveTo>
                  <a:lnTo>
                    <a:pt x="496824" y="0"/>
                  </a:lnTo>
                  <a:lnTo>
                    <a:pt x="438912" y="0"/>
                  </a:lnTo>
                  <a:lnTo>
                    <a:pt x="438912" y="36449"/>
                  </a:lnTo>
                  <a:lnTo>
                    <a:pt x="496824" y="36449"/>
                  </a:lnTo>
                  <a:lnTo>
                    <a:pt x="533400" y="18288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477000" y="2209800"/>
              <a:ext cx="685800" cy="1219200"/>
            </a:xfrm>
            <a:custGeom>
              <a:avLst/>
              <a:gdLst/>
              <a:ahLst/>
              <a:cxnLst/>
              <a:rect l="l" t="t" r="r" b="b"/>
              <a:pathLst>
                <a:path w="685800" h="1219200">
                  <a:moveTo>
                    <a:pt x="0" y="0"/>
                  </a:moveTo>
                  <a:lnTo>
                    <a:pt x="0" y="1219200"/>
                  </a:lnTo>
                  <a:lnTo>
                    <a:pt x="685800" y="914400"/>
                  </a:lnTo>
                  <a:lnTo>
                    <a:pt x="68580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477000" y="2209800"/>
              <a:ext cx="685800" cy="1219200"/>
            </a:xfrm>
            <a:custGeom>
              <a:avLst/>
              <a:gdLst/>
              <a:ahLst/>
              <a:cxnLst/>
              <a:rect l="l" t="t" r="r" b="b"/>
              <a:pathLst>
                <a:path w="685800" h="1219200">
                  <a:moveTo>
                    <a:pt x="0" y="0"/>
                  </a:moveTo>
                  <a:lnTo>
                    <a:pt x="685800" y="304800"/>
                  </a:lnTo>
                  <a:lnTo>
                    <a:pt x="685800" y="9144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720585" y="2604642"/>
            <a:ext cx="19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05400" y="3810000"/>
            <a:ext cx="685800" cy="533400"/>
          </a:xfrm>
          <a:prstGeom prst="rect">
            <a:avLst/>
          </a:prstGeom>
          <a:solidFill>
            <a:srgbClr val="FFFFCC"/>
          </a:solidFill>
          <a:ln w="9144">
            <a:solidFill>
              <a:srgbClr val="000000"/>
            </a:solidFill>
          </a:ln>
        </p:spPr>
        <p:txBody>
          <a:bodyPr wrap="square" lIns="0" tIns="97155" rIns="0" bIns="0" rtlCol="0" vert="horz">
            <a:spAutoFit/>
          </a:bodyPr>
          <a:lstStyle/>
          <a:p>
            <a:pPr marL="173990">
              <a:lnSpc>
                <a:spcPct val="100000"/>
              </a:lnSpc>
              <a:spcBef>
                <a:spcPts val="765"/>
              </a:spcBef>
            </a:pPr>
            <a:r>
              <a:rPr dirty="0" sz="2000" spc="-25" b="1">
                <a:latin typeface="Times New Roman"/>
                <a:cs typeface="Times New Roman"/>
              </a:rPr>
              <a:t>PC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96200" y="2590800"/>
            <a:ext cx="762000" cy="533400"/>
          </a:xfrm>
          <a:prstGeom prst="rect">
            <a:avLst/>
          </a:prstGeom>
          <a:solidFill>
            <a:srgbClr val="FFFFCC"/>
          </a:solidFill>
          <a:ln w="9144">
            <a:solidFill>
              <a:srgbClr val="000000"/>
            </a:solidFill>
          </a:ln>
        </p:spPr>
        <p:txBody>
          <a:bodyPr wrap="square" lIns="0" tIns="97155" rIns="0" bIns="0" rtlCol="0" vert="horz">
            <a:spAutoFit/>
          </a:bodyPr>
          <a:lstStyle/>
          <a:p>
            <a:pPr marL="120014">
              <a:lnSpc>
                <a:spcPct val="100000"/>
              </a:lnSpc>
              <a:spcBef>
                <a:spcPts val="765"/>
              </a:spcBef>
            </a:pPr>
            <a:r>
              <a:rPr dirty="0" sz="2000" spc="-25" b="1">
                <a:latin typeface="Times New Roman"/>
                <a:cs typeface="Times New Roman"/>
              </a:rPr>
              <a:t>NPC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34400" y="3980688"/>
            <a:ext cx="304800" cy="115442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5943600" y="2456688"/>
            <a:ext cx="1828800" cy="1658620"/>
            <a:chOff x="5943600" y="2456688"/>
            <a:chExt cx="1828800" cy="1658620"/>
          </a:xfrm>
        </p:grpSpPr>
        <p:sp>
          <p:nvSpPr>
            <p:cNvPr id="19" name="object 19"/>
            <p:cNvSpPr/>
            <p:nvPr/>
          </p:nvSpPr>
          <p:spPr>
            <a:xfrm>
              <a:off x="6019800" y="3048000"/>
              <a:ext cx="0" cy="1066800"/>
            </a:xfrm>
            <a:custGeom>
              <a:avLst/>
              <a:gdLst/>
              <a:ahLst/>
              <a:cxnLst/>
              <a:rect l="l" t="t" r="r" b="b"/>
              <a:pathLst>
                <a:path w="0" h="1066800">
                  <a:moveTo>
                    <a:pt x="0" y="1066800"/>
                  </a:moveTo>
                  <a:lnTo>
                    <a:pt x="0" y="0"/>
                  </a:lnTo>
                </a:path>
              </a:pathLst>
            </a:custGeom>
            <a:ln w="39624">
              <a:solidFill>
                <a:srgbClr val="3980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943600" y="2456687"/>
              <a:ext cx="1828800" cy="1639570"/>
            </a:xfrm>
            <a:custGeom>
              <a:avLst/>
              <a:gdLst/>
              <a:ahLst/>
              <a:cxnLst/>
              <a:rect l="l" t="t" r="r" b="b"/>
              <a:pathLst>
                <a:path w="1828800" h="1639570">
                  <a:moveTo>
                    <a:pt x="533400" y="591185"/>
                  </a:moveTo>
                  <a:lnTo>
                    <a:pt x="417576" y="533273"/>
                  </a:lnTo>
                  <a:lnTo>
                    <a:pt x="417576" y="572897"/>
                  </a:lnTo>
                  <a:lnTo>
                    <a:pt x="76200" y="572897"/>
                  </a:lnTo>
                  <a:lnTo>
                    <a:pt x="76200" y="609473"/>
                  </a:lnTo>
                  <a:lnTo>
                    <a:pt x="417576" y="609473"/>
                  </a:lnTo>
                  <a:lnTo>
                    <a:pt x="417576" y="649097"/>
                  </a:lnTo>
                  <a:lnTo>
                    <a:pt x="533400" y="591185"/>
                  </a:lnTo>
                  <a:close/>
                </a:path>
                <a:path w="1828800" h="1639570">
                  <a:moveTo>
                    <a:pt x="533400" y="57912"/>
                  </a:moveTo>
                  <a:lnTo>
                    <a:pt x="417576" y="0"/>
                  </a:lnTo>
                  <a:lnTo>
                    <a:pt x="417576" y="39624"/>
                  </a:lnTo>
                  <a:lnTo>
                    <a:pt x="0" y="39624"/>
                  </a:lnTo>
                  <a:lnTo>
                    <a:pt x="0" y="76200"/>
                  </a:lnTo>
                  <a:lnTo>
                    <a:pt x="417576" y="76200"/>
                  </a:lnTo>
                  <a:lnTo>
                    <a:pt x="417576" y="115824"/>
                  </a:lnTo>
                  <a:lnTo>
                    <a:pt x="533400" y="57912"/>
                  </a:lnTo>
                  <a:close/>
                </a:path>
                <a:path w="1828800" h="1639570">
                  <a:moveTo>
                    <a:pt x="1752600" y="362585"/>
                  </a:moveTo>
                  <a:lnTo>
                    <a:pt x="1636776" y="304673"/>
                  </a:lnTo>
                  <a:lnTo>
                    <a:pt x="1636776" y="344297"/>
                  </a:lnTo>
                  <a:lnTo>
                    <a:pt x="1219200" y="344297"/>
                  </a:lnTo>
                  <a:lnTo>
                    <a:pt x="1219200" y="380873"/>
                  </a:lnTo>
                  <a:lnTo>
                    <a:pt x="1636776" y="380873"/>
                  </a:lnTo>
                  <a:lnTo>
                    <a:pt x="1636776" y="420497"/>
                  </a:lnTo>
                  <a:lnTo>
                    <a:pt x="1752600" y="362585"/>
                  </a:lnTo>
                  <a:close/>
                </a:path>
                <a:path w="1828800" h="1639570">
                  <a:moveTo>
                    <a:pt x="1828800" y="1581531"/>
                  </a:moveTo>
                  <a:lnTo>
                    <a:pt x="1712976" y="1523619"/>
                  </a:lnTo>
                  <a:lnTo>
                    <a:pt x="1712976" y="1563243"/>
                  </a:lnTo>
                  <a:lnTo>
                    <a:pt x="1295400" y="1563243"/>
                  </a:lnTo>
                  <a:lnTo>
                    <a:pt x="1295400" y="1599819"/>
                  </a:lnTo>
                  <a:lnTo>
                    <a:pt x="1712976" y="1599819"/>
                  </a:lnTo>
                  <a:lnTo>
                    <a:pt x="1712976" y="1639443"/>
                  </a:lnTo>
                  <a:lnTo>
                    <a:pt x="1828800" y="1581531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717794" y="2299842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39802D"/>
                </a:solidFill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2835" y="1915109"/>
            <a:ext cx="3512185" cy="1294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solidFill>
                  <a:srgbClr val="CC3300"/>
                </a:solidFill>
                <a:latin typeface="Arial MT"/>
                <a:cs typeface="Arial MT"/>
              </a:rPr>
              <a:t>Instruction</a:t>
            </a:r>
            <a:r>
              <a:rPr dirty="0" sz="3000" spc="-105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CC3300"/>
                </a:solidFill>
                <a:latin typeface="Arial MT"/>
                <a:cs typeface="Arial MT"/>
              </a:rPr>
              <a:t>Fetch</a:t>
            </a:r>
            <a:r>
              <a:rPr dirty="0" sz="3000" spc="-114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3000" spc="-20">
                <a:solidFill>
                  <a:srgbClr val="CC3300"/>
                </a:solidFill>
                <a:latin typeface="Arial MT"/>
                <a:cs typeface="Arial MT"/>
              </a:rPr>
              <a:t>(IF)</a:t>
            </a:r>
            <a:endParaRPr sz="3000">
              <a:latin typeface="Arial MT"/>
              <a:cs typeface="Arial MT"/>
            </a:endParaRPr>
          </a:p>
          <a:p>
            <a:pPr marL="356870">
              <a:lnSpc>
                <a:spcPct val="100000"/>
              </a:lnSpc>
              <a:spcBef>
                <a:spcPts val="30"/>
              </a:spcBef>
            </a:pP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1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program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memory</a:t>
            </a:r>
            <a:endParaRPr sz="2400">
              <a:latin typeface="Arial MT"/>
              <a:cs typeface="Arial MT"/>
            </a:endParaRPr>
          </a:p>
          <a:p>
            <a:pPr marL="356870">
              <a:lnSpc>
                <a:spcPct val="100000"/>
              </a:lnSpc>
              <a:spcBef>
                <a:spcPts val="600"/>
              </a:spcBef>
            </a:pP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1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instruction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register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63445" y="3637559"/>
            <a:ext cx="2235835" cy="82423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  <a:tabLst>
                <a:tab pos="993775" algn="l"/>
              </a:tabLst>
            </a:pPr>
            <a:r>
              <a:rPr dirty="0" sz="2200" spc="-25">
                <a:latin typeface="Arial MT"/>
                <a:cs typeface="Arial MT"/>
              </a:rPr>
              <a:t>IR</a:t>
            </a:r>
            <a:r>
              <a:rPr dirty="0" sz="2200">
                <a:latin typeface="Arial MT"/>
                <a:cs typeface="Arial MT"/>
              </a:rPr>
              <a:t>	Mem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[PC]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2200">
                <a:latin typeface="Arial MT"/>
                <a:cs typeface="Arial MT"/>
              </a:rPr>
              <a:t>Increment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PC</a:t>
            </a:r>
            <a:endParaRPr sz="22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109216" y="3822191"/>
            <a:ext cx="381000" cy="128270"/>
            <a:chOff x="2109216" y="3822191"/>
            <a:chExt cx="381000" cy="128270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09216" y="3822191"/>
              <a:ext cx="131063" cy="12776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145792" y="3870832"/>
              <a:ext cx="344805" cy="30480"/>
            </a:xfrm>
            <a:custGeom>
              <a:avLst/>
              <a:gdLst/>
              <a:ahLst/>
              <a:cxnLst/>
              <a:rect l="l" t="t" r="r" b="b"/>
              <a:pathLst>
                <a:path w="344805" h="30479">
                  <a:moveTo>
                    <a:pt x="344424" y="0"/>
                  </a:moveTo>
                  <a:lnTo>
                    <a:pt x="48006" y="0"/>
                  </a:lnTo>
                  <a:lnTo>
                    <a:pt x="42672" y="3048"/>
                  </a:lnTo>
                  <a:lnTo>
                    <a:pt x="0" y="3048"/>
                  </a:lnTo>
                  <a:lnTo>
                    <a:pt x="0" y="27432"/>
                  </a:lnTo>
                  <a:lnTo>
                    <a:pt x="42672" y="27432"/>
                  </a:lnTo>
                  <a:lnTo>
                    <a:pt x="48006" y="30480"/>
                  </a:lnTo>
                  <a:lnTo>
                    <a:pt x="344424" y="30480"/>
                  </a:lnTo>
                  <a:lnTo>
                    <a:pt x="3444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053073" y="5595366"/>
            <a:ext cx="14541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Instr</a:t>
            </a:r>
            <a:r>
              <a:rPr dirty="0" sz="2400" spc="-114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20" b="1">
                <a:solidFill>
                  <a:srgbClr val="FF0000"/>
                </a:solidFill>
                <a:latin typeface="Times New Roman"/>
                <a:cs typeface="Times New Roman"/>
              </a:rPr>
              <a:t>Fetch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2835" y="709930"/>
            <a:ext cx="484568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Instruction</a:t>
            </a:r>
            <a:r>
              <a:rPr dirty="0" spc="-220"/>
              <a:t> </a:t>
            </a:r>
            <a:r>
              <a:rPr dirty="0" spc="-165"/>
              <a:t>Execution.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734877" y="3271964"/>
            <a:ext cx="695325" cy="3349625"/>
            <a:chOff x="4734877" y="3271964"/>
            <a:chExt cx="695325" cy="3349625"/>
          </a:xfrm>
        </p:grpSpPr>
        <p:sp>
          <p:nvSpPr>
            <p:cNvPr id="4" name="object 4"/>
            <p:cNvSpPr/>
            <p:nvPr/>
          </p:nvSpPr>
          <p:spPr>
            <a:xfrm>
              <a:off x="4951415" y="3273552"/>
              <a:ext cx="0" cy="3346450"/>
            </a:xfrm>
            <a:custGeom>
              <a:avLst/>
              <a:gdLst/>
              <a:ahLst/>
              <a:cxnLst/>
              <a:rect l="l" t="t" r="r" b="b"/>
              <a:pathLst>
                <a:path w="0" h="3346450">
                  <a:moveTo>
                    <a:pt x="0" y="0"/>
                  </a:moveTo>
                  <a:lnTo>
                    <a:pt x="0" y="3346323"/>
                  </a:lnTo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754880" y="3648456"/>
              <a:ext cx="655320" cy="2273935"/>
            </a:xfrm>
            <a:custGeom>
              <a:avLst/>
              <a:gdLst/>
              <a:ahLst/>
              <a:cxnLst/>
              <a:rect l="l" t="t" r="r" b="b"/>
              <a:pathLst>
                <a:path w="655320" h="2273935">
                  <a:moveTo>
                    <a:pt x="0" y="1304544"/>
                  </a:moveTo>
                  <a:lnTo>
                    <a:pt x="655320" y="1304544"/>
                  </a:lnTo>
                </a:path>
                <a:path w="655320" h="2273935">
                  <a:moveTo>
                    <a:pt x="655320" y="2273681"/>
                  </a:moveTo>
                  <a:lnTo>
                    <a:pt x="655320" y="0"/>
                  </a:lnTo>
                </a:path>
              </a:pathLst>
            </a:custGeom>
            <a:ln w="39624">
              <a:solidFill>
                <a:srgbClr val="39802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364485" y="6323787"/>
            <a:ext cx="14541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Instr</a:t>
            </a:r>
            <a:r>
              <a:rPr dirty="0" sz="2400" spc="-11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20" b="1">
                <a:solidFill>
                  <a:srgbClr val="FF0000"/>
                </a:solidFill>
                <a:latin typeface="Times New Roman"/>
                <a:cs typeface="Times New Roman"/>
              </a:rPr>
              <a:t>Fetch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43600" y="3505200"/>
            <a:ext cx="914400" cy="1637030"/>
          </a:xfrm>
          <a:prstGeom prst="rect">
            <a:avLst/>
          </a:prstGeom>
          <a:solidFill>
            <a:srgbClr val="FFFFCC"/>
          </a:solidFill>
          <a:ln w="9144">
            <a:solidFill>
              <a:srgbClr val="000000"/>
            </a:solidFill>
          </a:ln>
        </p:spPr>
        <p:txBody>
          <a:bodyPr wrap="square" lIns="0" tIns="965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60"/>
              </a:spcBef>
            </a:pPr>
            <a:endParaRPr sz="2400">
              <a:latin typeface="Times New Roman"/>
              <a:cs typeface="Times New Roman"/>
            </a:endParaRPr>
          </a:p>
          <a:p>
            <a:pPr marL="213995" marR="200025" indent="-9525">
              <a:lnSpc>
                <a:spcPct val="100000"/>
              </a:lnSpc>
            </a:pPr>
            <a:r>
              <a:rPr dirty="0" sz="2400" spc="-35" b="1">
                <a:latin typeface="Times New Roman"/>
                <a:cs typeface="Times New Roman"/>
              </a:rPr>
              <a:t>Reg </a:t>
            </a:r>
            <a:r>
              <a:rPr dirty="0" sz="2400" spc="-20" b="1">
                <a:latin typeface="Times New Roman"/>
                <a:cs typeface="Times New Roman"/>
              </a:rPr>
              <a:t>File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410200" y="3590544"/>
            <a:ext cx="1910080" cy="2693035"/>
            <a:chOff x="5410200" y="3590544"/>
            <a:chExt cx="1910080" cy="2693035"/>
          </a:xfrm>
        </p:grpSpPr>
        <p:sp>
          <p:nvSpPr>
            <p:cNvPr id="9" name="object 9"/>
            <p:cNvSpPr/>
            <p:nvPr/>
          </p:nvSpPr>
          <p:spPr>
            <a:xfrm>
              <a:off x="5410200" y="3590543"/>
              <a:ext cx="533400" cy="2389505"/>
            </a:xfrm>
            <a:custGeom>
              <a:avLst/>
              <a:gdLst/>
              <a:ahLst/>
              <a:cxnLst/>
              <a:rect l="l" t="t" r="r" b="b"/>
              <a:pathLst>
                <a:path w="533400" h="2389504">
                  <a:moveTo>
                    <a:pt x="533400" y="2331212"/>
                  </a:moveTo>
                  <a:lnTo>
                    <a:pt x="417576" y="2273300"/>
                  </a:lnTo>
                  <a:lnTo>
                    <a:pt x="417576" y="2312924"/>
                  </a:lnTo>
                  <a:lnTo>
                    <a:pt x="0" y="2312924"/>
                  </a:lnTo>
                  <a:lnTo>
                    <a:pt x="0" y="2349500"/>
                  </a:lnTo>
                  <a:lnTo>
                    <a:pt x="417576" y="2349500"/>
                  </a:lnTo>
                  <a:lnTo>
                    <a:pt x="417576" y="2389124"/>
                  </a:lnTo>
                  <a:lnTo>
                    <a:pt x="533400" y="2331212"/>
                  </a:lnTo>
                  <a:close/>
                </a:path>
                <a:path w="533400" h="2389504">
                  <a:moveTo>
                    <a:pt x="533400" y="1337818"/>
                  </a:moveTo>
                  <a:lnTo>
                    <a:pt x="417576" y="1279906"/>
                  </a:lnTo>
                  <a:lnTo>
                    <a:pt x="417576" y="1316482"/>
                  </a:lnTo>
                  <a:lnTo>
                    <a:pt x="152400" y="1316482"/>
                  </a:lnTo>
                  <a:lnTo>
                    <a:pt x="152400" y="1356106"/>
                  </a:lnTo>
                  <a:lnTo>
                    <a:pt x="417576" y="1356106"/>
                  </a:lnTo>
                  <a:lnTo>
                    <a:pt x="417576" y="1392682"/>
                  </a:lnTo>
                  <a:lnTo>
                    <a:pt x="533400" y="1337818"/>
                  </a:lnTo>
                  <a:close/>
                </a:path>
                <a:path w="533400" h="2389504">
                  <a:moveTo>
                    <a:pt x="533400" y="911237"/>
                  </a:moveTo>
                  <a:lnTo>
                    <a:pt x="417576" y="853325"/>
                  </a:lnTo>
                  <a:lnTo>
                    <a:pt x="417576" y="889901"/>
                  </a:lnTo>
                  <a:lnTo>
                    <a:pt x="0" y="889901"/>
                  </a:lnTo>
                  <a:lnTo>
                    <a:pt x="0" y="929525"/>
                  </a:lnTo>
                  <a:lnTo>
                    <a:pt x="417576" y="929525"/>
                  </a:lnTo>
                  <a:lnTo>
                    <a:pt x="417576" y="965962"/>
                  </a:lnTo>
                  <a:lnTo>
                    <a:pt x="533400" y="911237"/>
                  </a:lnTo>
                  <a:close/>
                </a:path>
                <a:path w="533400" h="2389504">
                  <a:moveTo>
                    <a:pt x="533400" y="414401"/>
                  </a:moveTo>
                  <a:lnTo>
                    <a:pt x="417576" y="356489"/>
                  </a:lnTo>
                  <a:lnTo>
                    <a:pt x="417576" y="393065"/>
                  </a:lnTo>
                  <a:lnTo>
                    <a:pt x="0" y="393065"/>
                  </a:lnTo>
                  <a:lnTo>
                    <a:pt x="0" y="432689"/>
                  </a:lnTo>
                  <a:lnTo>
                    <a:pt x="417576" y="432689"/>
                  </a:lnTo>
                  <a:lnTo>
                    <a:pt x="417576" y="469265"/>
                  </a:lnTo>
                  <a:lnTo>
                    <a:pt x="533400" y="414401"/>
                  </a:lnTo>
                  <a:close/>
                </a:path>
                <a:path w="533400" h="2389504">
                  <a:moveTo>
                    <a:pt x="533400" y="57912"/>
                  </a:moveTo>
                  <a:lnTo>
                    <a:pt x="417576" y="0"/>
                  </a:lnTo>
                  <a:lnTo>
                    <a:pt x="417576" y="39624"/>
                  </a:lnTo>
                  <a:lnTo>
                    <a:pt x="0" y="39624"/>
                  </a:lnTo>
                  <a:lnTo>
                    <a:pt x="0" y="76200"/>
                  </a:lnTo>
                  <a:lnTo>
                    <a:pt x="417576" y="76200"/>
                  </a:lnTo>
                  <a:lnTo>
                    <a:pt x="417576" y="115824"/>
                  </a:lnTo>
                  <a:lnTo>
                    <a:pt x="533400" y="57912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943600" y="5568695"/>
              <a:ext cx="1371600" cy="709930"/>
            </a:xfrm>
            <a:custGeom>
              <a:avLst/>
              <a:gdLst/>
              <a:ahLst/>
              <a:cxnLst/>
              <a:rect l="l" t="t" r="r" b="b"/>
              <a:pathLst>
                <a:path w="1371600" h="709929">
                  <a:moveTo>
                    <a:pt x="685800" y="0"/>
                  </a:moveTo>
                  <a:lnTo>
                    <a:pt x="623443" y="1396"/>
                  </a:lnTo>
                  <a:lnTo>
                    <a:pt x="562736" y="5714"/>
                  </a:lnTo>
                  <a:lnTo>
                    <a:pt x="503809" y="12572"/>
                  </a:lnTo>
                  <a:lnTo>
                    <a:pt x="446786" y="22097"/>
                  </a:lnTo>
                  <a:lnTo>
                    <a:pt x="392175" y="34035"/>
                  </a:lnTo>
                  <a:lnTo>
                    <a:pt x="339978" y="48259"/>
                  </a:lnTo>
                  <a:lnTo>
                    <a:pt x="290702" y="64642"/>
                  </a:lnTo>
                  <a:lnTo>
                    <a:pt x="244221" y="83184"/>
                  </a:lnTo>
                  <a:lnTo>
                    <a:pt x="201167" y="103631"/>
                  </a:lnTo>
                  <a:lnTo>
                    <a:pt x="161544" y="125729"/>
                  </a:lnTo>
                  <a:lnTo>
                    <a:pt x="125729" y="149605"/>
                  </a:lnTo>
                  <a:lnTo>
                    <a:pt x="93852" y="175132"/>
                  </a:lnTo>
                  <a:lnTo>
                    <a:pt x="66166" y="201929"/>
                  </a:lnTo>
                  <a:lnTo>
                    <a:pt x="24511" y="259460"/>
                  </a:lnTo>
                  <a:lnTo>
                    <a:pt x="2794" y="321182"/>
                  </a:lnTo>
                  <a:lnTo>
                    <a:pt x="0" y="353440"/>
                  </a:lnTo>
                  <a:lnTo>
                    <a:pt x="2794" y="385952"/>
                  </a:lnTo>
                  <a:lnTo>
                    <a:pt x="24511" y="448563"/>
                  </a:lnTo>
                  <a:lnTo>
                    <a:pt x="66166" y="506729"/>
                  </a:lnTo>
                  <a:lnTo>
                    <a:pt x="93852" y="533780"/>
                  </a:lnTo>
                  <a:lnTo>
                    <a:pt x="125729" y="559434"/>
                  </a:lnTo>
                  <a:lnTo>
                    <a:pt x="161544" y="583437"/>
                  </a:lnTo>
                  <a:lnTo>
                    <a:pt x="201167" y="605789"/>
                  </a:lnTo>
                  <a:lnTo>
                    <a:pt x="244221" y="626363"/>
                  </a:lnTo>
                  <a:lnTo>
                    <a:pt x="290702" y="644905"/>
                  </a:lnTo>
                  <a:lnTo>
                    <a:pt x="339978" y="661415"/>
                  </a:lnTo>
                  <a:lnTo>
                    <a:pt x="392175" y="675639"/>
                  </a:lnTo>
                  <a:lnTo>
                    <a:pt x="446786" y="687577"/>
                  </a:lnTo>
                  <a:lnTo>
                    <a:pt x="503809" y="697102"/>
                  </a:lnTo>
                  <a:lnTo>
                    <a:pt x="562736" y="704087"/>
                  </a:lnTo>
                  <a:lnTo>
                    <a:pt x="623443" y="708405"/>
                  </a:lnTo>
                  <a:lnTo>
                    <a:pt x="685800" y="709802"/>
                  </a:lnTo>
                  <a:lnTo>
                    <a:pt x="748156" y="708405"/>
                  </a:lnTo>
                  <a:lnTo>
                    <a:pt x="808863" y="704087"/>
                  </a:lnTo>
                  <a:lnTo>
                    <a:pt x="867791" y="697102"/>
                  </a:lnTo>
                  <a:lnTo>
                    <a:pt x="924814" y="687577"/>
                  </a:lnTo>
                  <a:lnTo>
                    <a:pt x="979424" y="675639"/>
                  </a:lnTo>
                  <a:lnTo>
                    <a:pt x="1031621" y="661415"/>
                  </a:lnTo>
                  <a:lnTo>
                    <a:pt x="1080897" y="644905"/>
                  </a:lnTo>
                  <a:lnTo>
                    <a:pt x="1127378" y="626363"/>
                  </a:lnTo>
                  <a:lnTo>
                    <a:pt x="1170431" y="605789"/>
                  </a:lnTo>
                  <a:lnTo>
                    <a:pt x="1210055" y="583437"/>
                  </a:lnTo>
                  <a:lnTo>
                    <a:pt x="1245870" y="559434"/>
                  </a:lnTo>
                  <a:lnTo>
                    <a:pt x="1277747" y="533780"/>
                  </a:lnTo>
                  <a:lnTo>
                    <a:pt x="1305432" y="506729"/>
                  </a:lnTo>
                  <a:lnTo>
                    <a:pt x="1347089" y="448563"/>
                  </a:lnTo>
                  <a:lnTo>
                    <a:pt x="1368805" y="385952"/>
                  </a:lnTo>
                  <a:lnTo>
                    <a:pt x="1371600" y="353440"/>
                  </a:lnTo>
                  <a:lnTo>
                    <a:pt x="1368805" y="321182"/>
                  </a:lnTo>
                  <a:lnTo>
                    <a:pt x="1347089" y="259460"/>
                  </a:lnTo>
                  <a:lnTo>
                    <a:pt x="1305432" y="201929"/>
                  </a:lnTo>
                  <a:lnTo>
                    <a:pt x="1277747" y="175132"/>
                  </a:lnTo>
                  <a:lnTo>
                    <a:pt x="1245870" y="149605"/>
                  </a:lnTo>
                  <a:lnTo>
                    <a:pt x="1210055" y="125729"/>
                  </a:lnTo>
                  <a:lnTo>
                    <a:pt x="1170431" y="103631"/>
                  </a:lnTo>
                  <a:lnTo>
                    <a:pt x="1127378" y="83184"/>
                  </a:lnTo>
                  <a:lnTo>
                    <a:pt x="1080897" y="64642"/>
                  </a:lnTo>
                  <a:lnTo>
                    <a:pt x="1031621" y="48259"/>
                  </a:lnTo>
                  <a:lnTo>
                    <a:pt x="979424" y="34035"/>
                  </a:lnTo>
                  <a:lnTo>
                    <a:pt x="924814" y="22097"/>
                  </a:lnTo>
                  <a:lnTo>
                    <a:pt x="867791" y="12572"/>
                  </a:lnTo>
                  <a:lnTo>
                    <a:pt x="808863" y="5714"/>
                  </a:lnTo>
                  <a:lnTo>
                    <a:pt x="748156" y="1396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943600" y="5568695"/>
              <a:ext cx="1371600" cy="709930"/>
            </a:xfrm>
            <a:custGeom>
              <a:avLst/>
              <a:gdLst/>
              <a:ahLst/>
              <a:cxnLst/>
              <a:rect l="l" t="t" r="r" b="b"/>
              <a:pathLst>
                <a:path w="1371600" h="709929">
                  <a:moveTo>
                    <a:pt x="685800" y="0"/>
                  </a:moveTo>
                  <a:lnTo>
                    <a:pt x="623443" y="1396"/>
                  </a:lnTo>
                  <a:lnTo>
                    <a:pt x="562736" y="5714"/>
                  </a:lnTo>
                  <a:lnTo>
                    <a:pt x="503809" y="12572"/>
                  </a:lnTo>
                  <a:lnTo>
                    <a:pt x="446786" y="22097"/>
                  </a:lnTo>
                  <a:lnTo>
                    <a:pt x="392175" y="34035"/>
                  </a:lnTo>
                  <a:lnTo>
                    <a:pt x="339978" y="48259"/>
                  </a:lnTo>
                  <a:lnTo>
                    <a:pt x="290702" y="64642"/>
                  </a:lnTo>
                  <a:lnTo>
                    <a:pt x="244221" y="83184"/>
                  </a:lnTo>
                  <a:lnTo>
                    <a:pt x="201167" y="103631"/>
                  </a:lnTo>
                  <a:lnTo>
                    <a:pt x="161544" y="125729"/>
                  </a:lnTo>
                  <a:lnTo>
                    <a:pt x="125729" y="149605"/>
                  </a:lnTo>
                  <a:lnTo>
                    <a:pt x="93852" y="175132"/>
                  </a:lnTo>
                  <a:lnTo>
                    <a:pt x="66166" y="201929"/>
                  </a:lnTo>
                  <a:lnTo>
                    <a:pt x="24511" y="259460"/>
                  </a:lnTo>
                  <a:lnTo>
                    <a:pt x="2794" y="321182"/>
                  </a:lnTo>
                  <a:lnTo>
                    <a:pt x="0" y="353440"/>
                  </a:lnTo>
                  <a:lnTo>
                    <a:pt x="2794" y="385952"/>
                  </a:lnTo>
                  <a:lnTo>
                    <a:pt x="24511" y="448563"/>
                  </a:lnTo>
                  <a:lnTo>
                    <a:pt x="66166" y="506729"/>
                  </a:lnTo>
                  <a:lnTo>
                    <a:pt x="93852" y="533780"/>
                  </a:lnTo>
                  <a:lnTo>
                    <a:pt x="125729" y="559434"/>
                  </a:lnTo>
                  <a:lnTo>
                    <a:pt x="161544" y="583437"/>
                  </a:lnTo>
                  <a:lnTo>
                    <a:pt x="201167" y="605789"/>
                  </a:lnTo>
                  <a:lnTo>
                    <a:pt x="244221" y="626363"/>
                  </a:lnTo>
                  <a:lnTo>
                    <a:pt x="290702" y="644905"/>
                  </a:lnTo>
                  <a:lnTo>
                    <a:pt x="339978" y="661415"/>
                  </a:lnTo>
                  <a:lnTo>
                    <a:pt x="392175" y="675639"/>
                  </a:lnTo>
                  <a:lnTo>
                    <a:pt x="446786" y="687577"/>
                  </a:lnTo>
                  <a:lnTo>
                    <a:pt x="503809" y="697102"/>
                  </a:lnTo>
                  <a:lnTo>
                    <a:pt x="562736" y="704087"/>
                  </a:lnTo>
                  <a:lnTo>
                    <a:pt x="623443" y="708405"/>
                  </a:lnTo>
                  <a:lnTo>
                    <a:pt x="685800" y="709802"/>
                  </a:lnTo>
                  <a:lnTo>
                    <a:pt x="748156" y="708405"/>
                  </a:lnTo>
                  <a:lnTo>
                    <a:pt x="808863" y="704087"/>
                  </a:lnTo>
                  <a:lnTo>
                    <a:pt x="867791" y="697102"/>
                  </a:lnTo>
                  <a:lnTo>
                    <a:pt x="924814" y="687577"/>
                  </a:lnTo>
                  <a:lnTo>
                    <a:pt x="979424" y="675639"/>
                  </a:lnTo>
                  <a:lnTo>
                    <a:pt x="1031621" y="661415"/>
                  </a:lnTo>
                  <a:lnTo>
                    <a:pt x="1080897" y="644905"/>
                  </a:lnTo>
                  <a:lnTo>
                    <a:pt x="1127378" y="626363"/>
                  </a:lnTo>
                  <a:lnTo>
                    <a:pt x="1170431" y="605789"/>
                  </a:lnTo>
                  <a:lnTo>
                    <a:pt x="1210055" y="583437"/>
                  </a:lnTo>
                  <a:lnTo>
                    <a:pt x="1245870" y="559434"/>
                  </a:lnTo>
                  <a:lnTo>
                    <a:pt x="1277747" y="533780"/>
                  </a:lnTo>
                  <a:lnTo>
                    <a:pt x="1305432" y="506729"/>
                  </a:lnTo>
                  <a:lnTo>
                    <a:pt x="1347089" y="448563"/>
                  </a:lnTo>
                  <a:lnTo>
                    <a:pt x="1368805" y="385952"/>
                  </a:lnTo>
                  <a:lnTo>
                    <a:pt x="1371600" y="353440"/>
                  </a:lnTo>
                  <a:lnTo>
                    <a:pt x="1368805" y="321182"/>
                  </a:lnTo>
                  <a:lnTo>
                    <a:pt x="1347089" y="259460"/>
                  </a:lnTo>
                  <a:lnTo>
                    <a:pt x="1305432" y="201929"/>
                  </a:lnTo>
                  <a:lnTo>
                    <a:pt x="1277747" y="175132"/>
                  </a:lnTo>
                  <a:lnTo>
                    <a:pt x="1245870" y="149605"/>
                  </a:lnTo>
                  <a:lnTo>
                    <a:pt x="1210055" y="125729"/>
                  </a:lnTo>
                  <a:lnTo>
                    <a:pt x="1170431" y="103631"/>
                  </a:lnTo>
                  <a:lnTo>
                    <a:pt x="1127378" y="83184"/>
                  </a:lnTo>
                  <a:lnTo>
                    <a:pt x="1080897" y="64642"/>
                  </a:lnTo>
                  <a:lnTo>
                    <a:pt x="1031621" y="48259"/>
                  </a:lnTo>
                  <a:lnTo>
                    <a:pt x="979424" y="34035"/>
                  </a:lnTo>
                  <a:lnTo>
                    <a:pt x="924814" y="22097"/>
                  </a:lnTo>
                  <a:lnTo>
                    <a:pt x="867791" y="12572"/>
                  </a:lnTo>
                  <a:lnTo>
                    <a:pt x="808863" y="5714"/>
                  </a:lnTo>
                  <a:lnTo>
                    <a:pt x="748156" y="1396"/>
                  </a:lnTo>
                  <a:lnTo>
                    <a:pt x="6858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184138" y="5525261"/>
            <a:ext cx="88265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7018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latin typeface="Times New Roman"/>
                <a:cs typeface="Times New Roman"/>
              </a:rPr>
              <a:t>sign </a:t>
            </a:r>
            <a:r>
              <a:rPr dirty="0" sz="2400" spc="-15" b="1">
                <a:latin typeface="Times New Roman"/>
                <a:cs typeface="Times New Roman"/>
              </a:rPr>
              <a:t>extend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542597" y="3803903"/>
            <a:ext cx="3316604" cy="2638425"/>
            <a:chOff x="5542597" y="3803903"/>
            <a:chExt cx="3316604" cy="2638425"/>
          </a:xfrm>
        </p:grpSpPr>
        <p:sp>
          <p:nvSpPr>
            <p:cNvPr id="14" name="object 14"/>
            <p:cNvSpPr/>
            <p:nvPr/>
          </p:nvSpPr>
          <p:spPr>
            <a:xfrm>
              <a:off x="5562599" y="4928615"/>
              <a:ext cx="3276600" cy="1493520"/>
            </a:xfrm>
            <a:custGeom>
              <a:avLst/>
              <a:gdLst/>
              <a:ahLst/>
              <a:cxnLst/>
              <a:rect l="l" t="t" r="r" b="b"/>
              <a:pathLst>
                <a:path w="3276600" h="1493520">
                  <a:moveTo>
                    <a:pt x="0" y="1493519"/>
                  </a:moveTo>
                  <a:lnTo>
                    <a:pt x="0" y="0"/>
                  </a:lnTo>
                </a:path>
                <a:path w="3276600" h="1493520">
                  <a:moveTo>
                    <a:pt x="0" y="1493519"/>
                  </a:moveTo>
                  <a:lnTo>
                    <a:pt x="3276600" y="1493519"/>
                  </a:lnTo>
                </a:path>
              </a:pathLst>
            </a:custGeom>
            <a:ln w="39624">
              <a:solidFill>
                <a:srgbClr val="3980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858000" y="3803903"/>
              <a:ext cx="838200" cy="2176145"/>
            </a:xfrm>
            <a:custGeom>
              <a:avLst/>
              <a:gdLst/>
              <a:ahLst/>
              <a:cxnLst/>
              <a:rect l="l" t="t" r="r" b="b"/>
              <a:pathLst>
                <a:path w="838200" h="2176145">
                  <a:moveTo>
                    <a:pt x="838200" y="2117852"/>
                  </a:moveTo>
                  <a:lnTo>
                    <a:pt x="722376" y="2059940"/>
                  </a:lnTo>
                  <a:lnTo>
                    <a:pt x="722376" y="2099564"/>
                  </a:lnTo>
                  <a:lnTo>
                    <a:pt x="457200" y="2099564"/>
                  </a:lnTo>
                  <a:lnTo>
                    <a:pt x="457200" y="2136140"/>
                  </a:lnTo>
                  <a:lnTo>
                    <a:pt x="722376" y="2136140"/>
                  </a:lnTo>
                  <a:lnTo>
                    <a:pt x="722376" y="2175764"/>
                  </a:lnTo>
                  <a:lnTo>
                    <a:pt x="838200" y="2117852"/>
                  </a:lnTo>
                  <a:close/>
                </a:path>
                <a:path w="838200" h="2176145">
                  <a:moveTo>
                    <a:pt x="838200" y="767969"/>
                  </a:moveTo>
                  <a:lnTo>
                    <a:pt x="722376" y="710057"/>
                  </a:lnTo>
                  <a:lnTo>
                    <a:pt x="722376" y="749681"/>
                  </a:lnTo>
                  <a:lnTo>
                    <a:pt x="0" y="749681"/>
                  </a:lnTo>
                  <a:lnTo>
                    <a:pt x="0" y="786257"/>
                  </a:lnTo>
                  <a:lnTo>
                    <a:pt x="722376" y="786257"/>
                  </a:lnTo>
                  <a:lnTo>
                    <a:pt x="722376" y="825754"/>
                  </a:lnTo>
                  <a:lnTo>
                    <a:pt x="838200" y="767969"/>
                  </a:lnTo>
                  <a:close/>
                </a:path>
                <a:path w="838200" h="2176145">
                  <a:moveTo>
                    <a:pt x="838200" y="57912"/>
                  </a:moveTo>
                  <a:lnTo>
                    <a:pt x="722376" y="0"/>
                  </a:lnTo>
                  <a:lnTo>
                    <a:pt x="722376" y="36576"/>
                  </a:lnTo>
                  <a:lnTo>
                    <a:pt x="0" y="36576"/>
                  </a:lnTo>
                  <a:lnTo>
                    <a:pt x="0" y="76200"/>
                  </a:lnTo>
                  <a:lnTo>
                    <a:pt x="722376" y="76200"/>
                  </a:lnTo>
                  <a:lnTo>
                    <a:pt x="722376" y="112776"/>
                  </a:lnTo>
                  <a:lnTo>
                    <a:pt x="838200" y="57912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7696200" y="3575303"/>
            <a:ext cx="685800" cy="497205"/>
          </a:xfrm>
          <a:prstGeom prst="rect">
            <a:avLst/>
          </a:prstGeom>
          <a:solidFill>
            <a:srgbClr val="FFFFCC"/>
          </a:solidFill>
          <a:ln w="9144">
            <a:solidFill>
              <a:srgbClr val="000000"/>
            </a:solidFill>
          </a:ln>
        </p:spPr>
        <p:txBody>
          <a:bodyPr wrap="square" lIns="0" tIns="78740" rIns="0" bIns="0" rtlCol="0" vert="horz">
            <a:spAutoFit/>
          </a:bodyPr>
          <a:lstStyle/>
          <a:p>
            <a:pPr algn="ctr" marL="6350">
              <a:lnSpc>
                <a:spcPct val="100000"/>
              </a:lnSpc>
              <a:spcBef>
                <a:spcPts val="620"/>
              </a:spcBef>
            </a:pPr>
            <a:r>
              <a:rPr dirty="0" sz="2000" spc="-50" b="1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96200" y="5638800"/>
            <a:ext cx="685800" cy="500380"/>
          </a:xfrm>
          <a:prstGeom prst="rect">
            <a:avLst/>
          </a:prstGeom>
          <a:solidFill>
            <a:srgbClr val="FFFFCC"/>
          </a:solidFill>
          <a:ln w="9144">
            <a:solidFill>
              <a:srgbClr val="000000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625"/>
              </a:spcBef>
            </a:pPr>
            <a:r>
              <a:rPr dirty="0" sz="2000" spc="-25" b="1">
                <a:latin typeface="Times New Roman"/>
                <a:cs typeface="Times New Roman"/>
              </a:rPr>
              <a:t>Imm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96200" y="4288535"/>
            <a:ext cx="685800" cy="497205"/>
          </a:xfrm>
          <a:prstGeom prst="rect">
            <a:avLst/>
          </a:prstGeom>
          <a:solidFill>
            <a:srgbClr val="FFFFCC"/>
          </a:solidFill>
          <a:ln w="9144">
            <a:solidFill>
              <a:srgbClr val="000000"/>
            </a:solidFill>
          </a:ln>
        </p:spPr>
        <p:txBody>
          <a:bodyPr wrap="square" lIns="0" tIns="78740" rIns="0" bIns="0" rtlCol="0" vert="horz">
            <a:spAutoFit/>
          </a:bodyPr>
          <a:lstStyle/>
          <a:p>
            <a:pPr algn="ctr" marL="7620">
              <a:lnSpc>
                <a:spcPct val="100000"/>
              </a:lnSpc>
              <a:spcBef>
                <a:spcPts val="620"/>
              </a:spcBef>
            </a:pPr>
            <a:r>
              <a:rPr dirty="0" sz="2000" spc="-50" b="1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2000" y="3803903"/>
            <a:ext cx="381000" cy="2106295"/>
          </a:xfrm>
          <a:custGeom>
            <a:avLst/>
            <a:gdLst/>
            <a:ahLst/>
            <a:cxnLst/>
            <a:rect l="l" t="t" r="r" b="b"/>
            <a:pathLst>
              <a:path w="381000" h="2106295">
                <a:moveTo>
                  <a:pt x="381000" y="2048129"/>
                </a:moveTo>
                <a:lnTo>
                  <a:pt x="265176" y="1993265"/>
                </a:lnTo>
                <a:lnTo>
                  <a:pt x="265176" y="2029841"/>
                </a:lnTo>
                <a:lnTo>
                  <a:pt x="0" y="2029841"/>
                </a:lnTo>
                <a:lnTo>
                  <a:pt x="0" y="2069465"/>
                </a:lnTo>
                <a:lnTo>
                  <a:pt x="265176" y="2069465"/>
                </a:lnTo>
                <a:lnTo>
                  <a:pt x="265176" y="2106041"/>
                </a:lnTo>
                <a:lnTo>
                  <a:pt x="381000" y="2048129"/>
                </a:lnTo>
                <a:close/>
              </a:path>
              <a:path w="381000" h="2106295">
                <a:moveTo>
                  <a:pt x="381000" y="698004"/>
                </a:moveTo>
                <a:lnTo>
                  <a:pt x="265176" y="640092"/>
                </a:lnTo>
                <a:lnTo>
                  <a:pt x="265176" y="676656"/>
                </a:lnTo>
                <a:lnTo>
                  <a:pt x="0" y="676656"/>
                </a:lnTo>
                <a:lnTo>
                  <a:pt x="0" y="716292"/>
                </a:lnTo>
                <a:lnTo>
                  <a:pt x="265176" y="716292"/>
                </a:lnTo>
                <a:lnTo>
                  <a:pt x="265176" y="752856"/>
                </a:lnTo>
                <a:lnTo>
                  <a:pt x="381000" y="698004"/>
                </a:lnTo>
                <a:close/>
              </a:path>
              <a:path w="381000" h="2106295">
                <a:moveTo>
                  <a:pt x="381000" y="57912"/>
                </a:moveTo>
                <a:lnTo>
                  <a:pt x="265176" y="0"/>
                </a:lnTo>
                <a:lnTo>
                  <a:pt x="265176" y="36576"/>
                </a:lnTo>
                <a:lnTo>
                  <a:pt x="0" y="36576"/>
                </a:lnTo>
                <a:lnTo>
                  <a:pt x="0" y="76200"/>
                </a:lnTo>
                <a:lnTo>
                  <a:pt x="265176" y="76200"/>
                </a:lnTo>
                <a:lnTo>
                  <a:pt x="265176" y="112776"/>
                </a:lnTo>
                <a:lnTo>
                  <a:pt x="381000" y="57912"/>
                </a:lnTo>
                <a:close/>
              </a:path>
            </a:pathLst>
          </a:custGeom>
          <a:solidFill>
            <a:srgbClr val="3980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050026" y="6293307"/>
            <a:ext cx="16783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Instr</a:t>
            </a:r>
            <a:r>
              <a:rPr dirty="0" sz="2400" spc="-114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Decode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86455" y="4846320"/>
            <a:ext cx="771525" cy="868680"/>
          </a:xfrm>
          <a:prstGeom prst="rect">
            <a:avLst/>
          </a:prstGeom>
          <a:solidFill>
            <a:srgbClr val="FFFFCC"/>
          </a:solidFill>
          <a:ln w="9144">
            <a:solidFill>
              <a:srgbClr val="000000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marL="48895" marR="42545" indent="80645">
              <a:lnSpc>
                <a:spcPct val="100000"/>
              </a:lnSpc>
              <a:spcBef>
                <a:spcPts val="375"/>
              </a:spcBef>
            </a:pPr>
            <a:r>
              <a:rPr dirty="0" sz="2400" spc="-20" b="1">
                <a:latin typeface="Times New Roman"/>
                <a:cs typeface="Times New Roman"/>
              </a:rPr>
              <a:t>Inst </a:t>
            </a:r>
            <a:r>
              <a:rPr dirty="0" sz="2400" spc="-30" b="1">
                <a:latin typeface="Times New Roman"/>
                <a:cs typeface="Times New Roman"/>
              </a:rPr>
              <a:t>Mem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08703" y="4846320"/>
            <a:ext cx="646430" cy="320040"/>
          </a:xfrm>
          <a:prstGeom prst="rect">
            <a:avLst/>
          </a:prstGeom>
          <a:solidFill>
            <a:srgbClr val="FFFFCC"/>
          </a:solidFill>
          <a:ln w="9144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83515">
              <a:lnSpc>
                <a:spcPts val="2340"/>
              </a:lnSpc>
            </a:pPr>
            <a:r>
              <a:rPr dirty="0" sz="2000" spc="-25" b="1">
                <a:latin typeface="Times New Roman"/>
                <a:cs typeface="Times New Roman"/>
              </a:rPr>
              <a:t>IR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435351" y="3881437"/>
            <a:ext cx="1166495" cy="1205865"/>
            <a:chOff x="2435351" y="3881437"/>
            <a:chExt cx="1166495" cy="1205865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3425" y="4971288"/>
              <a:ext cx="77088" cy="11544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435352" y="5010784"/>
              <a:ext cx="450850" cy="36830"/>
            </a:xfrm>
            <a:custGeom>
              <a:avLst/>
              <a:gdLst/>
              <a:ahLst/>
              <a:cxnLst/>
              <a:rect l="l" t="t" r="r" b="b"/>
              <a:pathLst>
                <a:path w="450850" h="36829">
                  <a:moveTo>
                    <a:pt x="338048" y="0"/>
                  </a:moveTo>
                  <a:lnTo>
                    <a:pt x="0" y="0"/>
                  </a:lnTo>
                  <a:lnTo>
                    <a:pt x="0" y="36449"/>
                  </a:lnTo>
                  <a:lnTo>
                    <a:pt x="338048" y="36449"/>
                  </a:lnTo>
                  <a:lnTo>
                    <a:pt x="338048" y="0"/>
                  </a:lnTo>
                  <a:close/>
                </a:path>
                <a:path w="450850" h="36829">
                  <a:moveTo>
                    <a:pt x="450723" y="18288"/>
                  </a:moveTo>
                  <a:lnTo>
                    <a:pt x="415163" y="0"/>
                  </a:lnTo>
                  <a:lnTo>
                    <a:pt x="356362" y="0"/>
                  </a:lnTo>
                  <a:lnTo>
                    <a:pt x="356362" y="36449"/>
                  </a:lnTo>
                  <a:lnTo>
                    <a:pt x="415163" y="36449"/>
                  </a:lnTo>
                  <a:lnTo>
                    <a:pt x="450723" y="18288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017519" y="3886200"/>
              <a:ext cx="579120" cy="731520"/>
            </a:xfrm>
            <a:custGeom>
              <a:avLst/>
              <a:gdLst/>
              <a:ahLst/>
              <a:cxnLst/>
              <a:rect l="l" t="t" r="r" b="b"/>
              <a:pathLst>
                <a:path w="579120" h="731520">
                  <a:moveTo>
                    <a:pt x="0" y="0"/>
                  </a:moveTo>
                  <a:lnTo>
                    <a:pt x="0" y="731519"/>
                  </a:lnTo>
                  <a:lnTo>
                    <a:pt x="579119" y="548639"/>
                  </a:lnTo>
                  <a:lnTo>
                    <a:pt x="579119" y="1828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017519" y="3886200"/>
              <a:ext cx="579120" cy="731520"/>
            </a:xfrm>
            <a:custGeom>
              <a:avLst/>
              <a:gdLst/>
              <a:ahLst/>
              <a:cxnLst/>
              <a:rect l="l" t="t" r="r" b="b"/>
              <a:pathLst>
                <a:path w="579120" h="731520">
                  <a:moveTo>
                    <a:pt x="0" y="0"/>
                  </a:moveTo>
                  <a:lnTo>
                    <a:pt x="579119" y="182879"/>
                  </a:lnTo>
                  <a:lnTo>
                    <a:pt x="579119" y="548639"/>
                  </a:lnTo>
                  <a:lnTo>
                    <a:pt x="0" y="731519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3205988" y="4040504"/>
            <a:ext cx="19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56232" y="4846320"/>
            <a:ext cx="579120" cy="320040"/>
          </a:xfrm>
          <a:prstGeom prst="rect">
            <a:avLst/>
          </a:prstGeom>
          <a:solidFill>
            <a:srgbClr val="FFFFCC"/>
          </a:solidFill>
          <a:ln w="9144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18745">
              <a:lnSpc>
                <a:spcPts val="2340"/>
              </a:lnSpc>
            </a:pPr>
            <a:r>
              <a:rPr dirty="0" sz="2000" spc="-25" b="1">
                <a:latin typeface="Times New Roman"/>
                <a:cs typeface="Times New Roman"/>
              </a:rPr>
              <a:t>PC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47744" y="4114800"/>
            <a:ext cx="643255" cy="320040"/>
          </a:xfrm>
          <a:prstGeom prst="rect">
            <a:avLst/>
          </a:prstGeom>
          <a:solidFill>
            <a:srgbClr val="FFFFCC"/>
          </a:solidFill>
          <a:ln w="9144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58419">
              <a:lnSpc>
                <a:spcPts val="2340"/>
              </a:lnSpc>
            </a:pPr>
            <a:r>
              <a:rPr dirty="0" sz="2000" spc="-25" b="1">
                <a:latin typeface="Times New Roman"/>
                <a:cs typeface="Times New Roman"/>
              </a:rPr>
              <a:t>NPC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566416" y="4011167"/>
            <a:ext cx="1542415" cy="1029969"/>
            <a:chOff x="2566416" y="4011167"/>
            <a:chExt cx="1542415" cy="1029969"/>
          </a:xfrm>
        </p:grpSpPr>
        <p:sp>
          <p:nvSpPr>
            <p:cNvPr id="32" name="object 32"/>
            <p:cNvSpPr/>
            <p:nvPr/>
          </p:nvSpPr>
          <p:spPr>
            <a:xfrm>
              <a:off x="2630424" y="4389119"/>
              <a:ext cx="0" cy="640080"/>
            </a:xfrm>
            <a:custGeom>
              <a:avLst/>
              <a:gdLst/>
              <a:ahLst/>
              <a:cxnLst/>
              <a:rect l="l" t="t" r="r" b="b"/>
              <a:pathLst>
                <a:path w="0" h="640079">
                  <a:moveTo>
                    <a:pt x="0" y="640079"/>
                  </a:moveTo>
                  <a:lnTo>
                    <a:pt x="0" y="0"/>
                  </a:lnTo>
                </a:path>
              </a:pathLst>
            </a:custGeom>
            <a:ln w="39624">
              <a:solidFill>
                <a:srgbClr val="3980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566416" y="4011167"/>
              <a:ext cx="1542415" cy="1029969"/>
            </a:xfrm>
            <a:custGeom>
              <a:avLst/>
              <a:gdLst/>
              <a:ahLst/>
              <a:cxnLst/>
              <a:rect l="l" t="t" r="r" b="b"/>
              <a:pathLst>
                <a:path w="1542414" h="1029970">
                  <a:moveTo>
                    <a:pt x="451104" y="377825"/>
                  </a:moveTo>
                  <a:lnTo>
                    <a:pt x="335280" y="319913"/>
                  </a:lnTo>
                  <a:lnTo>
                    <a:pt x="335280" y="359537"/>
                  </a:lnTo>
                  <a:lnTo>
                    <a:pt x="64008" y="359537"/>
                  </a:lnTo>
                  <a:lnTo>
                    <a:pt x="64008" y="396113"/>
                  </a:lnTo>
                  <a:lnTo>
                    <a:pt x="335280" y="396113"/>
                  </a:lnTo>
                  <a:lnTo>
                    <a:pt x="335280" y="435737"/>
                  </a:lnTo>
                  <a:lnTo>
                    <a:pt x="451104" y="377825"/>
                  </a:lnTo>
                  <a:close/>
                </a:path>
                <a:path w="1542414" h="1029970">
                  <a:moveTo>
                    <a:pt x="451104" y="57912"/>
                  </a:moveTo>
                  <a:lnTo>
                    <a:pt x="335280" y="0"/>
                  </a:lnTo>
                  <a:lnTo>
                    <a:pt x="335280" y="39624"/>
                  </a:lnTo>
                  <a:lnTo>
                    <a:pt x="0" y="39624"/>
                  </a:lnTo>
                  <a:lnTo>
                    <a:pt x="0" y="76200"/>
                  </a:lnTo>
                  <a:lnTo>
                    <a:pt x="335280" y="76200"/>
                  </a:lnTo>
                  <a:lnTo>
                    <a:pt x="335280" y="115824"/>
                  </a:lnTo>
                  <a:lnTo>
                    <a:pt x="451104" y="57912"/>
                  </a:lnTo>
                  <a:close/>
                </a:path>
                <a:path w="1542414" h="1029970">
                  <a:moveTo>
                    <a:pt x="1481201" y="240665"/>
                  </a:moveTo>
                  <a:lnTo>
                    <a:pt x="1365377" y="182753"/>
                  </a:lnTo>
                  <a:lnTo>
                    <a:pt x="1365377" y="222377"/>
                  </a:lnTo>
                  <a:lnTo>
                    <a:pt x="1030097" y="222377"/>
                  </a:lnTo>
                  <a:lnTo>
                    <a:pt x="1030097" y="258953"/>
                  </a:lnTo>
                  <a:lnTo>
                    <a:pt x="1365377" y="258953"/>
                  </a:lnTo>
                  <a:lnTo>
                    <a:pt x="1365377" y="298577"/>
                  </a:lnTo>
                  <a:lnTo>
                    <a:pt x="1481201" y="240665"/>
                  </a:lnTo>
                  <a:close/>
                </a:path>
                <a:path w="1542414" h="1029970">
                  <a:moveTo>
                    <a:pt x="1542161" y="971931"/>
                  </a:moveTo>
                  <a:lnTo>
                    <a:pt x="1429385" y="914019"/>
                  </a:lnTo>
                  <a:lnTo>
                    <a:pt x="1429385" y="953643"/>
                  </a:lnTo>
                  <a:lnTo>
                    <a:pt x="1091057" y="953643"/>
                  </a:lnTo>
                  <a:lnTo>
                    <a:pt x="1091057" y="990219"/>
                  </a:lnTo>
                  <a:lnTo>
                    <a:pt x="1429385" y="990219"/>
                  </a:lnTo>
                  <a:lnTo>
                    <a:pt x="1429385" y="1029843"/>
                  </a:lnTo>
                  <a:lnTo>
                    <a:pt x="1542161" y="971931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4" name="object 3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0200" y="4925567"/>
            <a:ext cx="255524" cy="115443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4687824" y="4206239"/>
            <a:ext cx="417830" cy="113030"/>
          </a:xfrm>
          <a:custGeom>
            <a:avLst/>
            <a:gdLst/>
            <a:ahLst/>
            <a:cxnLst/>
            <a:rect l="l" t="t" r="r" b="b"/>
            <a:pathLst>
              <a:path w="417829" h="113029">
                <a:moveTo>
                  <a:pt x="383286" y="76073"/>
                </a:moveTo>
                <a:lnTo>
                  <a:pt x="322834" y="76073"/>
                </a:lnTo>
                <a:lnTo>
                  <a:pt x="302514" y="76073"/>
                </a:lnTo>
                <a:lnTo>
                  <a:pt x="301625" y="112522"/>
                </a:lnTo>
                <a:lnTo>
                  <a:pt x="383286" y="76073"/>
                </a:lnTo>
                <a:close/>
              </a:path>
              <a:path w="417829" h="113029">
                <a:moveTo>
                  <a:pt x="417322" y="60833"/>
                </a:moveTo>
                <a:lnTo>
                  <a:pt x="304673" y="0"/>
                </a:lnTo>
                <a:lnTo>
                  <a:pt x="303530" y="38862"/>
                </a:lnTo>
                <a:lnTo>
                  <a:pt x="3048" y="27432"/>
                </a:lnTo>
                <a:lnTo>
                  <a:pt x="0" y="63881"/>
                </a:lnTo>
                <a:lnTo>
                  <a:pt x="302514" y="75311"/>
                </a:lnTo>
                <a:lnTo>
                  <a:pt x="322834" y="76073"/>
                </a:lnTo>
                <a:lnTo>
                  <a:pt x="322834" y="75311"/>
                </a:lnTo>
                <a:lnTo>
                  <a:pt x="384937" y="75311"/>
                </a:lnTo>
                <a:lnTo>
                  <a:pt x="417322" y="60833"/>
                </a:lnTo>
                <a:close/>
              </a:path>
            </a:pathLst>
          </a:custGeom>
          <a:solidFill>
            <a:srgbClr val="3980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2388870" y="3946016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39802D"/>
                </a:solidFill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626870" y="2196845"/>
            <a:ext cx="211454" cy="695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200" spc="-50">
                <a:latin typeface="Arial MT"/>
                <a:cs typeface="Arial MT"/>
              </a:rPr>
              <a:t>A B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26870" y="2867405"/>
            <a:ext cx="56134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25">
                <a:latin typeface="Arial MT"/>
                <a:cs typeface="Arial MT"/>
              </a:rPr>
              <a:t>Imm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491994" y="2196845"/>
            <a:ext cx="2137410" cy="695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dirty="0" sz="2200" spc="-20">
                <a:latin typeface="Arial MT"/>
                <a:cs typeface="Arial MT"/>
              </a:rPr>
              <a:t>RegisterFile[IR</a:t>
            </a:r>
            <a:r>
              <a:rPr dirty="0" baseline="-18518" sz="2250" spc="-30">
                <a:latin typeface="Arial MT"/>
                <a:cs typeface="Arial MT"/>
              </a:rPr>
              <a:t>rs</a:t>
            </a:r>
            <a:r>
              <a:rPr dirty="0" sz="2200" spc="-20">
                <a:latin typeface="Arial MT"/>
                <a:cs typeface="Arial MT"/>
              </a:rPr>
              <a:t>] </a:t>
            </a:r>
            <a:r>
              <a:rPr dirty="0" sz="2200" spc="-10">
                <a:latin typeface="Arial MT"/>
                <a:cs typeface="Arial MT"/>
              </a:rPr>
              <a:t>RegisterFile[IR</a:t>
            </a:r>
            <a:r>
              <a:rPr dirty="0" baseline="-18518" sz="2250" spc="-15">
                <a:latin typeface="Arial MT"/>
                <a:cs typeface="Arial MT"/>
              </a:rPr>
              <a:t>rt</a:t>
            </a:r>
            <a:r>
              <a:rPr dirty="0" sz="2200" spc="-10">
                <a:latin typeface="Arial MT"/>
                <a:cs typeface="Arial MT"/>
              </a:rPr>
              <a:t>]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797810" y="2867405"/>
            <a:ext cx="222377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Arial MT"/>
                <a:cs typeface="Arial MT"/>
              </a:rPr>
              <a:t>sign</a:t>
            </a:r>
            <a:r>
              <a:rPr dirty="0" sz="2200" spc="120">
                <a:latin typeface="Arial MT"/>
                <a:cs typeface="Arial MT"/>
              </a:rPr>
              <a:t> </a:t>
            </a:r>
            <a:r>
              <a:rPr dirty="0" sz="2200" spc="-40">
                <a:latin typeface="Arial MT"/>
                <a:cs typeface="Arial MT"/>
              </a:rPr>
              <a:t>extend(IR</a:t>
            </a:r>
            <a:r>
              <a:rPr dirty="0" sz="1300" spc="-40">
                <a:latin typeface="Arial MT"/>
                <a:cs typeface="Arial MT"/>
              </a:rPr>
              <a:t>15-</a:t>
            </a:r>
            <a:r>
              <a:rPr dirty="0" sz="1300" spc="-25">
                <a:latin typeface="Arial MT"/>
                <a:cs typeface="Arial MT"/>
              </a:rPr>
              <a:t>0</a:t>
            </a:r>
            <a:r>
              <a:rPr dirty="0" sz="2200" spc="-25" b="1"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999488" y="2322576"/>
            <a:ext cx="381000" cy="130810"/>
            <a:chOff x="1999488" y="2322576"/>
            <a:chExt cx="381000" cy="130810"/>
          </a:xfrm>
        </p:grpSpPr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99488" y="2322576"/>
              <a:ext cx="131063" cy="130683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033016" y="2374264"/>
              <a:ext cx="347980" cy="27305"/>
            </a:xfrm>
            <a:custGeom>
              <a:avLst/>
              <a:gdLst/>
              <a:ahLst/>
              <a:cxnLst/>
              <a:rect l="l" t="t" r="r" b="b"/>
              <a:pathLst>
                <a:path w="347980" h="27305">
                  <a:moveTo>
                    <a:pt x="347472" y="0"/>
                  </a:moveTo>
                  <a:lnTo>
                    <a:pt x="44196" y="0"/>
                  </a:lnTo>
                  <a:lnTo>
                    <a:pt x="0" y="0"/>
                  </a:lnTo>
                  <a:lnTo>
                    <a:pt x="0" y="24257"/>
                  </a:lnTo>
                  <a:lnTo>
                    <a:pt x="41541" y="24257"/>
                  </a:lnTo>
                  <a:lnTo>
                    <a:pt x="46736" y="27305"/>
                  </a:lnTo>
                  <a:lnTo>
                    <a:pt x="347472" y="27305"/>
                  </a:lnTo>
                  <a:lnTo>
                    <a:pt x="3474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" name="object 44"/>
          <p:cNvGrpSpPr/>
          <p:nvPr/>
        </p:nvGrpSpPr>
        <p:grpSpPr>
          <a:xfrm>
            <a:off x="1999488" y="2667000"/>
            <a:ext cx="381000" cy="133985"/>
            <a:chOff x="1999488" y="2667000"/>
            <a:chExt cx="381000" cy="133985"/>
          </a:xfrm>
        </p:grpSpPr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99488" y="2667000"/>
              <a:ext cx="131063" cy="133603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033016" y="2718561"/>
              <a:ext cx="347980" cy="30480"/>
            </a:xfrm>
            <a:custGeom>
              <a:avLst/>
              <a:gdLst/>
              <a:ahLst/>
              <a:cxnLst/>
              <a:rect l="l" t="t" r="r" b="b"/>
              <a:pathLst>
                <a:path w="347980" h="30480">
                  <a:moveTo>
                    <a:pt x="347472" y="0"/>
                  </a:moveTo>
                  <a:lnTo>
                    <a:pt x="46736" y="0"/>
                  </a:lnTo>
                  <a:lnTo>
                    <a:pt x="41541" y="3048"/>
                  </a:lnTo>
                  <a:lnTo>
                    <a:pt x="0" y="3048"/>
                  </a:lnTo>
                  <a:lnTo>
                    <a:pt x="0" y="27432"/>
                  </a:lnTo>
                  <a:lnTo>
                    <a:pt x="44145" y="27432"/>
                  </a:lnTo>
                  <a:lnTo>
                    <a:pt x="49657" y="30480"/>
                  </a:lnTo>
                  <a:lnTo>
                    <a:pt x="347472" y="30480"/>
                  </a:lnTo>
                  <a:lnTo>
                    <a:pt x="3474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/>
          <p:cNvGrpSpPr/>
          <p:nvPr/>
        </p:nvGrpSpPr>
        <p:grpSpPr>
          <a:xfrm>
            <a:off x="2304288" y="3014472"/>
            <a:ext cx="381000" cy="130810"/>
            <a:chOff x="2304288" y="3014472"/>
            <a:chExt cx="381000" cy="130810"/>
          </a:xfrm>
        </p:grpSpPr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04288" y="3014472"/>
              <a:ext cx="131063" cy="130682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340864" y="3066160"/>
              <a:ext cx="344805" cy="27305"/>
            </a:xfrm>
            <a:custGeom>
              <a:avLst/>
              <a:gdLst/>
              <a:ahLst/>
              <a:cxnLst/>
              <a:rect l="l" t="t" r="r" b="b"/>
              <a:pathLst>
                <a:path w="344805" h="27305">
                  <a:moveTo>
                    <a:pt x="344424" y="0"/>
                  </a:moveTo>
                  <a:lnTo>
                    <a:pt x="42672" y="0"/>
                  </a:lnTo>
                  <a:lnTo>
                    <a:pt x="0" y="0"/>
                  </a:lnTo>
                  <a:lnTo>
                    <a:pt x="0" y="24257"/>
                  </a:lnTo>
                  <a:lnTo>
                    <a:pt x="40132" y="24257"/>
                  </a:lnTo>
                  <a:lnTo>
                    <a:pt x="20701" y="12446"/>
                  </a:lnTo>
                  <a:lnTo>
                    <a:pt x="45212" y="27305"/>
                  </a:lnTo>
                  <a:lnTo>
                    <a:pt x="344424" y="27305"/>
                  </a:lnTo>
                  <a:lnTo>
                    <a:pt x="3444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992835" y="1366773"/>
            <a:ext cx="690054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solidFill>
                  <a:srgbClr val="CC3300"/>
                </a:solidFill>
                <a:latin typeface="Arial MT"/>
                <a:cs typeface="Arial MT"/>
              </a:rPr>
              <a:t>Instruction</a:t>
            </a:r>
            <a:r>
              <a:rPr dirty="0" sz="3000" spc="-9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CC3300"/>
                </a:solidFill>
                <a:latin typeface="Arial MT"/>
                <a:cs typeface="Arial MT"/>
              </a:rPr>
              <a:t>Decode</a:t>
            </a:r>
            <a:r>
              <a:rPr dirty="0" sz="3000" spc="-11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CC3300"/>
                </a:solidFill>
                <a:latin typeface="Arial MT"/>
                <a:cs typeface="Arial MT"/>
              </a:rPr>
              <a:t>&amp;</a:t>
            </a:r>
            <a:r>
              <a:rPr dirty="0" sz="3000" spc="-10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CC3300"/>
                </a:solidFill>
                <a:latin typeface="Arial MT"/>
                <a:cs typeface="Arial MT"/>
              </a:rPr>
              <a:t>Operand</a:t>
            </a:r>
            <a:r>
              <a:rPr dirty="0" sz="3000" spc="-105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CC3300"/>
                </a:solidFill>
                <a:latin typeface="Arial MT"/>
                <a:cs typeface="Arial MT"/>
              </a:rPr>
              <a:t>Fetch</a:t>
            </a:r>
            <a:r>
              <a:rPr dirty="0" sz="3000" spc="-8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3000" spc="-20">
                <a:solidFill>
                  <a:srgbClr val="CC3300"/>
                </a:solidFill>
                <a:latin typeface="Arial MT"/>
                <a:cs typeface="Arial MT"/>
              </a:rPr>
              <a:t>(ID)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Instruction</a:t>
            </a:r>
            <a:r>
              <a:rPr dirty="0" spc="-215"/>
              <a:t> </a:t>
            </a:r>
            <a:r>
              <a:rPr dirty="0" spc="-165"/>
              <a:t>Execution..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1791" y="1495772"/>
            <a:ext cx="2545715" cy="1099820"/>
          </a:xfrm>
          <a:prstGeom prst="rect">
            <a:avLst/>
          </a:prstGeom>
        </p:spPr>
        <p:txBody>
          <a:bodyPr wrap="square" lIns="0" tIns="13017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25"/>
              </a:spcBef>
            </a:pPr>
            <a:r>
              <a:rPr dirty="0" sz="3000">
                <a:solidFill>
                  <a:srgbClr val="CC3300"/>
                </a:solidFill>
                <a:latin typeface="Arial MT"/>
                <a:cs typeface="Arial MT"/>
              </a:rPr>
              <a:t>Execution</a:t>
            </a:r>
            <a:r>
              <a:rPr dirty="0" sz="3000" spc="-135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3000" spc="-20">
                <a:solidFill>
                  <a:srgbClr val="CC3300"/>
                </a:solidFill>
                <a:latin typeface="Arial MT"/>
                <a:cs typeface="Arial MT"/>
              </a:rPr>
              <a:t>(EX)</a:t>
            </a:r>
            <a:endParaRPr sz="3000">
              <a:latin typeface="Arial MT"/>
              <a:cs typeface="Arial MT"/>
            </a:endParaRPr>
          </a:p>
          <a:p>
            <a:pPr algn="r" marR="13335">
              <a:lnSpc>
                <a:spcPct val="100000"/>
              </a:lnSpc>
              <a:spcBef>
                <a:spcPts val="810"/>
              </a:spcBef>
            </a:pPr>
            <a:r>
              <a:rPr dirty="0" sz="2600">
                <a:solidFill>
                  <a:srgbClr val="39802D"/>
                </a:solidFill>
                <a:latin typeface="Arial MT"/>
                <a:cs typeface="Arial MT"/>
              </a:rPr>
              <a:t>Arithmetic</a:t>
            </a:r>
            <a:r>
              <a:rPr dirty="0" sz="2600" spc="-130">
                <a:solidFill>
                  <a:srgbClr val="39802D"/>
                </a:solidFill>
                <a:latin typeface="Arial MT"/>
                <a:cs typeface="Arial MT"/>
              </a:rPr>
              <a:t> </a:t>
            </a:r>
            <a:r>
              <a:rPr dirty="0" sz="2600" spc="-20">
                <a:solidFill>
                  <a:srgbClr val="39802D"/>
                </a:solidFill>
                <a:latin typeface="Arial MT"/>
                <a:cs typeface="Arial MT"/>
              </a:rPr>
              <a:t>Inst: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7310" y="2546756"/>
            <a:ext cx="1098550" cy="763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2200" spc="-30">
                <a:latin typeface="Arial MT"/>
                <a:cs typeface="Arial MT"/>
              </a:rPr>
              <a:t>ALU-Out ALU-Out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72180" y="2569963"/>
            <a:ext cx="1209040" cy="77216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3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op</a:t>
            </a:r>
            <a:r>
              <a:rPr dirty="0" sz="2200" spc="-20">
                <a:latin typeface="Arial MT"/>
                <a:cs typeface="Arial MT"/>
              </a:rPr>
              <a:t> </a:t>
            </a:r>
            <a:r>
              <a:rPr dirty="0" sz="2200" spc="-50">
                <a:latin typeface="Arial MT"/>
                <a:cs typeface="Arial MT"/>
              </a:rPr>
              <a:t>B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3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op</a:t>
            </a:r>
            <a:r>
              <a:rPr dirty="0" sz="2200" spc="-3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Imm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7310" y="3323294"/>
            <a:ext cx="3099435" cy="162052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 marR="326390">
              <a:lnSpc>
                <a:spcPct val="110400"/>
              </a:lnSpc>
              <a:spcBef>
                <a:spcPts val="25"/>
              </a:spcBef>
              <a:tabLst>
                <a:tab pos="1647825" algn="l"/>
              </a:tabLst>
            </a:pPr>
            <a:r>
              <a:rPr dirty="0" sz="2600" spc="-10">
                <a:solidFill>
                  <a:srgbClr val="39802D"/>
                </a:solidFill>
                <a:latin typeface="Arial MT"/>
                <a:cs typeface="Arial MT"/>
              </a:rPr>
              <a:t>Load/Store</a:t>
            </a:r>
            <a:r>
              <a:rPr dirty="0" sz="2600" spc="-165">
                <a:solidFill>
                  <a:srgbClr val="39802D"/>
                </a:solidFill>
                <a:latin typeface="Arial MT"/>
                <a:cs typeface="Arial MT"/>
              </a:rPr>
              <a:t> </a:t>
            </a:r>
            <a:r>
              <a:rPr dirty="0" sz="2600" spc="-20">
                <a:solidFill>
                  <a:srgbClr val="39802D"/>
                </a:solidFill>
                <a:latin typeface="Arial MT"/>
                <a:cs typeface="Arial MT"/>
              </a:rPr>
              <a:t>Inst: </a:t>
            </a:r>
            <a:r>
              <a:rPr dirty="0" sz="2200" spc="-35">
                <a:latin typeface="Arial MT"/>
                <a:cs typeface="Arial MT"/>
              </a:rPr>
              <a:t>ALU-</a:t>
            </a:r>
            <a:r>
              <a:rPr dirty="0" sz="2200" spc="-25">
                <a:latin typeface="Arial MT"/>
                <a:cs typeface="Arial MT"/>
              </a:rPr>
              <a:t>Out</a:t>
            </a:r>
            <a:r>
              <a:rPr dirty="0" sz="2200">
                <a:latin typeface="Arial MT"/>
                <a:cs typeface="Arial MT"/>
              </a:rPr>
              <a:t>	A</a:t>
            </a:r>
            <a:r>
              <a:rPr dirty="0" sz="2200" spc="-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+</a:t>
            </a:r>
            <a:r>
              <a:rPr dirty="0" sz="2200" spc="-15">
                <a:latin typeface="Arial MT"/>
                <a:cs typeface="Arial MT"/>
              </a:rPr>
              <a:t>  </a:t>
            </a:r>
            <a:r>
              <a:rPr dirty="0" sz="2200" spc="-35">
                <a:latin typeface="Arial MT"/>
                <a:cs typeface="Arial MT"/>
              </a:rPr>
              <a:t>Imm </a:t>
            </a:r>
            <a:r>
              <a:rPr dirty="0" sz="2600">
                <a:solidFill>
                  <a:srgbClr val="39802D"/>
                </a:solidFill>
                <a:latin typeface="Arial MT"/>
                <a:cs typeface="Arial MT"/>
              </a:rPr>
              <a:t>Branch</a:t>
            </a:r>
            <a:r>
              <a:rPr dirty="0" sz="2600" spc="-114">
                <a:solidFill>
                  <a:srgbClr val="39802D"/>
                </a:solidFill>
                <a:latin typeface="Arial MT"/>
                <a:cs typeface="Arial MT"/>
              </a:rPr>
              <a:t> </a:t>
            </a:r>
            <a:r>
              <a:rPr dirty="0" sz="2600" spc="-20">
                <a:solidFill>
                  <a:srgbClr val="39802D"/>
                </a:solidFill>
                <a:latin typeface="Arial MT"/>
                <a:cs typeface="Arial MT"/>
              </a:rPr>
              <a:t>Inst: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  <a:tabLst>
                <a:tab pos="1647825" algn="l"/>
              </a:tabLst>
            </a:pPr>
            <a:r>
              <a:rPr dirty="0" sz="2200" spc="-30">
                <a:latin typeface="Arial MT"/>
                <a:cs typeface="Arial MT"/>
              </a:rPr>
              <a:t>ALU-</a:t>
            </a:r>
            <a:r>
              <a:rPr dirty="0" sz="2200" spc="-25">
                <a:latin typeface="Arial MT"/>
                <a:cs typeface="Arial MT"/>
              </a:rPr>
              <a:t>Out</a:t>
            </a:r>
            <a:r>
              <a:rPr dirty="0" sz="2200">
                <a:latin typeface="Arial MT"/>
                <a:cs typeface="Arial MT"/>
              </a:rPr>
              <a:t>	NPC</a:t>
            </a:r>
            <a:r>
              <a:rPr dirty="0" sz="2200" spc="-5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+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Imm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7310" y="4920546"/>
            <a:ext cx="3480435" cy="81915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2600">
                <a:solidFill>
                  <a:srgbClr val="39802D"/>
                </a:solidFill>
                <a:latin typeface="Arial MT"/>
                <a:cs typeface="Arial MT"/>
              </a:rPr>
              <a:t>Jump</a:t>
            </a:r>
            <a:r>
              <a:rPr dirty="0" sz="2600" spc="-70">
                <a:solidFill>
                  <a:srgbClr val="39802D"/>
                </a:solidFill>
                <a:latin typeface="Arial MT"/>
                <a:cs typeface="Arial MT"/>
              </a:rPr>
              <a:t> </a:t>
            </a:r>
            <a:r>
              <a:rPr dirty="0" sz="2600" spc="-20">
                <a:solidFill>
                  <a:srgbClr val="39802D"/>
                </a:solidFill>
                <a:latin typeface="Arial MT"/>
                <a:cs typeface="Arial MT"/>
              </a:rPr>
              <a:t>Inst: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  <a:tabLst>
                <a:tab pos="949325" algn="l"/>
              </a:tabLst>
            </a:pPr>
            <a:r>
              <a:rPr dirty="0" sz="2200" spc="-25">
                <a:latin typeface="Arial MT"/>
                <a:cs typeface="Arial MT"/>
              </a:rPr>
              <a:t>PC</a:t>
            </a:r>
            <a:r>
              <a:rPr dirty="0" sz="2200">
                <a:latin typeface="Arial MT"/>
                <a:cs typeface="Arial MT"/>
              </a:rPr>
              <a:t>	NPC</a:t>
            </a:r>
            <a:r>
              <a:rPr dirty="0" sz="2200" spc="-50">
                <a:latin typeface="Arial MT"/>
                <a:cs typeface="Arial MT"/>
              </a:rPr>
              <a:t> </a:t>
            </a:r>
            <a:r>
              <a:rPr dirty="0" sz="1300" spc="-45">
                <a:latin typeface="Arial MT"/>
                <a:cs typeface="Arial MT"/>
              </a:rPr>
              <a:t>31-</a:t>
            </a:r>
            <a:r>
              <a:rPr dirty="0" sz="1300">
                <a:latin typeface="Arial MT"/>
                <a:cs typeface="Arial MT"/>
              </a:rPr>
              <a:t>28</a:t>
            </a:r>
            <a:r>
              <a:rPr dirty="0" sz="1300" spc="5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||</a:t>
            </a:r>
            <a:r>
              <a:rPr dirty="0" sz="2200" spc="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IR</a:t>
            </a:r>
            <a:r>
              <a:rPr dirty="0" sz="2200" spc="-15">
                <a:latin typeface="Arial MT"/>
                <a:cs typeface="Arial MT"/>
              </a:rPr>
              <a:t> </a:t>
            </a:r>
            <a:r>
              <a:rPr dirty="0" sz="1300" spc="-45">
                <a:latin typeface="Arial MT"/>
                <a:cs typeface="Arial MT"/>
              </a:rPr>
              <a:t>25-</a:t>
            </a:r>
            <a:r>
              <a:rPr dirty="0" sz="1300">
                <a:latin typeface="Arial MT"/>
                <a:cs typeface="Arial MT"/>
              </a:rPr>
              <a:t>0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||00</a:t>
            </a:r>
            <a:endParaRPr sz="22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54223" y="3133344"/>
            <a:ext cx="377825" cy="133985"/>
            <a:chOff x="2554223" y="3133344"/>
            <a:chExt cx="377825" cy="13398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4223" y="3133344"/>
              <a:ext cx="127888" cy="13360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587752" y="3184905"/>
              <a:ext cx="344170" cy="30480"/>
            </a:xfrm>
            <a:custGeom>
              <a:avLst/>
              <a:gdLst/>
              <a:ahLst/>
              <a:cxnLst/>
              <a:rect l="l" t="t" r="r" b="b"/>
              <a:pathLst>
                <a:path w="344169" h="30480">
                  <a:moveTo>
                    <a:pt x="343916" y="0"/>
                  </a:moveTo>
                  <a:lnTo>
                    <a:pt x="47879" y="0"/>
                  </a:lnTo>
                  <a:lnTo>
                    <a:pt x="42545" y="3048"/>
                  </a:lnTo>
                  <a:lnTo>
                    <a:pt x="0" y="3048"/>
                  </a:lnTo>
                  <a:lnTo>
                    <a:pt x="0" y="27432"/>
                  </a:lnTo>
                  <a:lnTo>
                    <a:pt x="42545" y="27432"/>
                  </a:lnTo>
                  <a:lnTo>
                    <a:pt x="47879" y="30480"/>
                  </a:lnTo>
                  <a:lnTo>
                    <a:pt x="343916" y="30480"/>
                  </a:lnTo>
                  <a:lnTo>
                    <a:pt x="3439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2554223" y="3895344"/>
            <a:ext cx="377825" cy="133985"/>
            <a:chOff x="2554223" y="3895344"/>
            <a:chExt cx="377825" cy="13398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4223" y="3895344"/>
              <a:ext cx="127888" cy="13360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587752" y="3946905"/>
              <a:ext cx="344170" cy="30480"/>
            </a:xfrm>
            <a:custGeom>
              <a:avLst/>
              <a:gdLst/>
              <a:ahLst/>
              <a:cxnLst/>
              <a:rect l="l" t="t" r="r" b="b"/>
              <a:pathLst>
                <a:path w="344169" h="30479">
                  <a:moveTo>
                    <a:pt x="343916" y="0"/>
                  </a:moveTo>
                  <a:lnTo>
                    <a:pt x="47879" y="0"/>
                  </a:lnTo>
                  <a:lnTo>
                    <a:pt x="42545" y="3048"/>
                  </a:lnTo>
                  <a:lnTo>
                    <a:pt x="0" y="3048"/>
                  </a:lnTo>
                  <a:lnTo>
                    <a:pt x="0" y="27432"/>
                  </a:lnTo>
                  <a:lnTo>
                    <a:pt x="42545" y="27432"/>
                  </a:lnTo>
                  <a:lnTo>
                    <a:pt x="47879" y="30480"/>
                  </a:lnTo>
                  <a:lnTo>
                    <a:pt x="343916" y="30480"/>
                  </a:lnTo>
                  <a:lnTo>
                    <a:pt x="3439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2554223" y="2746248"/>
            <a:ext cx="377825" cy="130810"/>
            <a:chOff x="2554223" y="2746248"/>
            <a:chExt cx="377825" cy="13081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54223" y="2746248"/>
              <a:ext cx="127888" cy="13068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587752" y="2797936"/>
              <a:ext cx="344170" cy="27305"/>
            </a:xfrm>
            <a:custGeom>
              <a:avLst/>
              <a:gdLst/>
              <a:ahLst/>
              <a:cxnLst/>
              <a:rect l="l" t="t" r="r" b="b"/>
              <a:pathLst>
                <a:path w="344169" h="27305">
                  <a:moveTo>
                    <a:pt x="343916" y="0"/>
                  </a:moveTo>
                  <a:lnTo>
                    <a:pt x="42545" y="0"/>
                  </a:lnTo>
                  <a:lnTo>
                    <a:pt x="0" y="0"/>
                  </a:lnTo>
                  <a:lnTo>
                    <a:pt x="0" y="24257"/>
                  </a:lnTo>
                  <a:lnTo>
                    <a:pt x="40005" y="24257"/>
                  </a:lnTo>
                  <a:lnTo>
                    <a:pt x="20574" y="12446"/>
                  </a:lnTo>
                  <a:lnTo>
                    <a:pt x="45085" y="27305"/>
                  </a:lnTo>
                  <a:lnTo>
                    <a:pt x="343916" y="27305"/>
                  </a:lnTo>
                  <a:lnTo>
                    <a:pt x="3439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2554223" y="4703064"/>
            <a:ext cx="377825" cy="130810"/>
            <a:chOff x="2554223" y="4703064"/>
            <a:chExt cx="377825" cy="13081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54223" y="4703064"/>
              <a:ext cx="127888" cy="13068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587752" y="4754752"/>
              <a:ext cx="344170" cy="27305"/>
            </a:xfrm>
            <a:custGeom>
              <a:avLst/>
              <a:gdLst/>
              <a:ahLst/>
              <a:cxnLst/>
              <a:rect l="l" t="t" r="r" b="b"/>
              <a:pathLst>
                <a:path w="344169" h="27304">
                  <a:moveTo>
                    <a:pt x="40005" y="3048"/>
                  </a:moveTo>
                  <a:lnTo>
                    <a:pt x="0" y="3048"/>
                  </a:lnTo>
                  <a:lnTo>
                    <a:pt x="20574" y="14859"/>
                  </a:lnTo>
                  <a:lnTo>
                    <a:pt x="40005" y="3048"/>
                  </a:lnTo>
                  <a:close/>
                </a:path>
                <a:path w="344169" h="27304">
                  <a:moveTo>
                    <a:pt x="343916" y="0"/>
                  </a:moveTo>
                  <a:lnTo>
                    <a:pt x="45085" y="0"/>
                  </a:lnTo>
                  <a:lnTo>
                    <a:pt x="20574" y="14859"/>
                  </a:lnTo>
                  <a:lnTo>
                    <a:pt x="42545" y="27305"/>
                  </a:lnTo>
                  <a:lnTo>
                    <a:pt x="343916" y="27305"/>
                  </a:lnTo>
                  <a:lnTo>
                    <a:pt x="3439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1807464" y="5547359"/>
            <a:ext cx="381000" cy="133985"/>
            <a:chOff x="1807464" y="5547359"/>
            <a:chExt cx="381000" cy="133985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7464" y="5547359"/>
              <a:ext cx="131063" cy="13360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840992" y="5598921"/>
              <a:ext cx="347980" cy="30480"/>
            </a:xfrm>
            <a:custGeom>
              <a:avLst/>
              <a:gdLst/>
              <a:ahLst/>
              <a:cxnLst/>
              <a:rect l="l" t="t" r="r" b="b"/>
              <a:pathLst>
                <a:path w="347980" h="30479">
                  <a:moveTo>
                    <a:pt x="347472" y="0"/>
                  </a:moveTo>
                  <a:lnTo>
                    <a:pt x="49657" y="0"/>
                  </a:lnTo>
                  <a:lnTo>
                    <a:pt x="44145" y="3048"/>
                  </a:lnTo>
                  <a:lnTo>
                    <a:pt x="0" y="3048"/>
                  </a:lnTo>
                  <a:lnTo>
                    <a:pt x="0" y="27432"/>
                  </a:lnTo>
                  <a:lnTo>
                    <a:pt x="41541" y="27432"/>
                  </a:lnTo>
                  <a:lnTo>
                    <a:pt x="46736" y="30480"/>
                  </a:lnTo>
                  <a:lnTo>
                    <a:pt x="347472" y="30480"/>
                  </a:lnTo>
                  <a:lnTo>
                    <a:pt x="3474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751064" y="3941064"/>
            <a:ext cx="588645" cy="485140"/>
          </a:xfrm>
          <a:prstGeom prst="rect">
            <a:avLst/>
          </a:prstGeom>
          <a:solidFill>
            <a:srgbClr val="FFFFCC"/>
          </a:solidFill>
          <a:ln w="9144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875">
              <a:lnSpc>
                <a:spcPts val="1670"/>
              </a:lnSpc>
            </a:pPr>
            <a:r>
              <a:rPr dirty="0" sz="1800" b="1">
                <a:latin typeface="Times New Roman"/>
                <a:cs typeface="Times New Roman"/>
              </a:rPr>
              <a:t>ALU-</a:t>
            </a:r>
            <a:endParaRPr sz="1800">
              <a:latin typeface="Times New Roman"/>
              <a:cs typeface="Times New Roman"/>
            </a:endParaRPr>
          </a:p>
          <a:p>
            <a:pPr marL="137795">
              <a:lnSpc>
                <a:spcPts val="2080"/>
              </a:lnSpc>
            </a:pPr>
            <a:r>
              <a:rPr dirty="0" sz="1800" spc="-25" b="1">
                <a:latin typeface="Times New Roman"/>
                <a:cs typeface="Times New Roman"/>
              </a:rPr>
              <a:t>out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798373" y="3570541"/>
            <a:ext cx="600710" cy="1344295"/>
            <a:chOff x="6798373" y="3570541"/>
            <a:chExt cx="600710" cy="1344295"/>
          </a:xfrm>
        </p:grpSpPr>
        <p:sp>
          <p:nvSpPr>
            <p:cNvPr id="25" name="object 25"/>
            <p:cNvSpPr/>
            <p:nvPr/>
          </p:nvSpPr>
          <p:spPr>
            <a:xfrm>
              <a:off x="6803135" y="3575303"/>
              <a:ext cx="591185" cy="1334770"/>
            </a:xfrm>
            <a:custGeom>
              <a:avLst/>
              <a:gdLst/>
              <a:ahLst/>
              <a:cxnLst/>
              <a:rect l="l" t="t" r="r" b="b"/>
              <a:pathLst>
                <a:path w="591184" h="1334770">
                  <a:moveTo>
                    <a:pt x="0" y="0"/>
                  </a:moveTo>
                  <a:lnTo>
                    <a:pt x="0" y="1334643"/>
                  </a:lnTo>
                  <a:lnTo>
                    <a:pt x="590804" y="1002538"/>
                  </a:lnTo>
                  <a:lnTo>
                    <a:pt x="590804" y="335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803135" y="3575303"/>
              <a:ext cx="591185" cy="1334770"/>
            </a:xfrm>
            <a:custGeom>
              <a:avLst/>
              <a:gdLst/>
              <a:ahLst/>
              <a:cxnLst/>
              <a:rect l="l" t="t" r="r" b="b"/>
              <a:pathLst>
                <a:path w="591184" h="1334770">
                  <a:moveTo>
                    <a:pt x="0" y="0"/>
                  </a:moveTo>
                  <a:lnTo>
                    <a:pt x="590804" y="335153"/>
                  </a:lnTo>
                  <a:lnTo>
                    <a:pt x="590804" y="1002538"/>
                  </a:lnTo>
                  <a:lnTo>
                    <a:pt x="0" y="1334643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845934" y="4080128"/>
            <a:ext cx="5016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latin typeface="Times New Roman"/>
                <a:cs typeface="Times New Roman"/>
              </a:rPr>
              <a:t>ALU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64095" y="2968751"/>
            <a:ext cx="588645" cy="426720"/>
          </a:xfrm>
          <a:prstGeom prst="rect">
            <a:avLst/>
          </a:prstGeom>
          <a:solidFill>
            <a:srgbClr val="FFFFCC"/>
          </a:solidFill>
          <a:ln w="9144">
            <a:solidFill>
              <a:srgbClr val="000000"/>
            </a:solidFill>
          </a:ln>
        </p:spPr>
        <p:txBody>
          <a:bodyPr wrap="square" lIns="0" tIns="59690" rIns="0" bIns="0" rtlCol="0" vert="horz">
            <a:spAutoFit/>
          </a:bodyPr>
          <a:lstStyle/>
          <a:p>
            <a:pPr marL="3810">
              <a:lnSpc>
                <a:spcPct val="100000"/>
              </a:lnSpc>
              <a:spcBef>
                <a:spcPts val="470"/>
              </a:spcBef>
            </a:pPr>
            <a:r>
              <a:rPr dirty="0" sz="1800" spc="-10" b="1">
                <a:latin typeface="Times New Roman"/>
                <a:cs typeface="Times New Roman"/>
              </a:rPr>
              <a:t>Zero?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339328" y="3154679"/>
            <a:ext cx="652145" cy="115570"/>
            <a:chOff x="8339328" y="3154679"/>
            <a:chExt cx="652145" cy="115570"/>
          </a:xfrm>
        </p:grpSpPr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75395" y="3154679"/>
              <a:ext cx="79121" cy="11544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339328" y="3194176"/>
              <a:ext cx="652145" cy="36830"/>
            </a:xfrm>
            <a:custGeom>
              <a:avLst/>
              <a:gdLst/>
              <a:ahLst/>
              <a:cxnLst/>
              <a:rect l="l" t="t" r="r" b="b"/>
              <a:pathLst>
                <a:path w="652145" h="36830">
                  <a:moveTo>
                    <a:pt x="536028" y="0"/>
                  </a:moveTo>
                  <a:lnTo>
                    <a:pt x="0" y="0"/>
                  </a:lnTo>
                  <a:lnTo>
                    <a:pt x="0" y="36449"/>
                  </a:lnTo>
                  <a:lnTo>
                    <a:pt x="536028" y="36449"/>
                  </a:lnTo>
                  <a:lnTo>
                    <a:pt x="536028" y="0"/>
                  </a:lnTo>
                  <a:close/>
                </a:path>
                <a:path w="652145" h="36830">
                  <a:moveTo>
                    <a:pt x="651764" y="18288"/>
                  </a:moveTo>
                  <a:lnTo>
                    <a:pt x="615188" y="0"/>
                  </a:lnTo>
                  <a:lnTo>
                    <a:pt x="557403" y="0"/>
                  </a:lnTo>
                  <a:lnTo>
                    <a:pt x="557403" y="36449"/>
                  </a:lnTo>
                  <a:lnTo>
                    <a:pt x="615188" y="36449"/>
                  </a:lnTo>
                  <a:lnTo>
                    <a:pt x="651764" y="18288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/>
          <p:cNvGrpSpPr/>
          <p:nvPr/>
        </p:nvGrpSpPr>
        <p:grpSpPr>
          <a:xfrm>
            <a:off x="8339328" y="4126991"/>
            <a:ext cx="652145" cy="113030"/>
            <a:chOff x="8339328" y="4126991"/>
            <a:chExt cx="652145" cy="113030"/>
          </a:xfrm>
        </p:grpSpPr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75395" y="4126991"/>
              <a:ext cx="77088" cy="11252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339328" y="4163440"/>
              <a:ext cx="652145" cy="40005"/>
            </a:xfrm>
            <a:custGeom>
              <a:avLst/>
              <a:gdLst/>
              <a:ahLst/>
              <a:cxnLst/>
              <a:rect l="l" t="t" r="r" b="b"/>
              <a:pathLst>
                <a:path w="652145" h="40004">
                  <a:moveTo>
                    <a:pt x="536028" y="88"/>
                  </a:moveTo>
                  <a:lnTo>
                    <a:pt x="0" y="88"/>
                  </a:lnTo>
                  <a:lnTo>
                    <a:pt x="0" y="39624"/>
                  </a:lnTo>
                  <a:lnTo>
                    <a:pt x="536028" y="39624"/>
                  </a:lnTo>
                  <a:lnTo>
                    <a:pt x="536028" y="88"/>
                  </a:lnTo>
                  <a:close/>
                </a:path>
                <a:path w="652145" h="40004">
                  <a:moveTo>
                    <a:pt x="651764" y="18288"/>
                  </a:moveTo>
                  <a:lnTo>
                    <a:pt x="613156" y="0"/>
                  </a:lnTo>
                  <a:lnTo>
                    <a:pt x="557403" y="0"/>
                  </a:lnTo>
                  <a:lnTo>
                    <a:pt x="557403" y="39624"/>
                  </a:lnTo>
                  <a:lnTo>
                    <a:pt x="609092" y="39624"/>
                  </a:lnTo>
                  <a:lnTo>
                    <a:pt x="651764" y="18288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5501640" y="2646997"/>
            <a:ext cx="3489960" cy="3049905"/>
            <a:chOff x="5501640" y="2646997"/>
            <a:chExt cx="3489960" cy="3049905"/>
          </a:xfrm>
        </p:grpSpPr>
        <p:sp>
          <p:nvSpPr>
            <p:cNvPr id="36" name="object 36"/>
            <p:cNvSpPr/>
            <p:nvPr/>
          </p:nvSpPr>
          <p:spPr>
            <a:xfrm>
              <a:off x="5858256" y="4608576"/>
              <a:ext cx="0" cy="1029969"/>
            </a:xfrm>
            <a:custGeom>
              <a:avLst/>
              <a:gdLst/>
              <a:ahLst/>
              <a:cxnLst/>
              <a:rect l="l" t="t" r="r" b="b"/>
              <a:pathLst>
                <a:path w="0" h="1029970">
                  <a:moveTo>
                    <a:pt x="0" y="1029843"/>
                  </a:moveTo>
                  <a:lnTo>
                    <a:pt x="0" y="0"/>
                  </a:lnTo>
                </a:path>
              </a:pathLst>
            </a:custGeom>
            <a:ln w="39624">
              <a:solidFill>
                <a:srgbClr val="3980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858256" y="3096767"/>
              <a:ext cx="1892935" cy="1203960"/>
            </a:xfrm>
            <a:custGeom>
              <a:avLst/>
              <a:gdLst/>
              <a:ahLst/>
              <a:cxnLst/>
              <a:rect l="l" t="t" r="r" b="b"/>
              <a:pathLst>
                <a:path w="1892934" h="1203960">
                  <a:moveTo>
                    <a:pt x="1005713" y="54864"/>
                  </a:moveTo>
                  <a:lnTo>
                    <a:pt x="890016" y="0"/>
                  </a:lnTo>
                  <a:lnTo>
                    <a:pt x="890016" y="36576"/>
                  </a:lnTo>
                  <a:lnTo>
                    <a:pt x="0" y="36576"/>
                  </a:lnTo>
                  <a:lnTo>
                    <a:pt x="0" y="76200"/>
                  </a:lnTo>
                  <a:lnTo>
                    <a:pt x="890016" y="76200"/>
                  </a:lnTo>
                  <a:lnTo>
                    <a:pt x="890016" y="112776"/>
                  </a:lnTo>
                  <a:lnTo>
                    <a:pt x="1005713" y="54864"/>
                  </a:lnTo>
                  <a:close/>
                </a:path>
                <a:path w="1892934" h="1203960">
                  <a:moveTo>
                    <a:pt x="1892681" y="1146048"/>
                  </a:moveTo>
                  <a:lnTo>
                    <a:pt x="1776857" y="1088136"/>
                  </a:lnTo>
                  <a:lnTo>
                    <a:pt x="1776857" y="1127760"/>
                  </a:lnTo>
                  <a:lnTo>
                    <a:pt x="1536065" y="1127760"/>
                  </a:lnTo>
                  <a:lnTo>
                    <a:pt x="1536065" y="1164336"/>
                  </a:lnTo>
                  <a:lnTo>
                    <a:pt x="1776857" y="1164336"/>
                  </a:lnTo>
                  <a:lnTo>
                    <a:pt x="1776857" y="1203960"/>
                  </a:lnTo>
                  <a:lnTo>
                    <a:pt x="1892681" y="1146048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681472" y="2667000"/>
              <a:ext cx="0" cy="1151890"/>
            </a:xfrm>
            <a:custGeom>
              <a:avLst/>
              <a:gdLst/>
              <a:ahLst/>
              <a:cxnLst/>
              <a:rect l="l" t="t" r="r" b="b"/>
              <a:pathLst>
                <a:path w="0" h="1151889">
                  <a:moveTo>
                    <a:pt x="0" y="1151763"/>
                  </a:moveTo>
                  <a:lnTo>
                    <a:pt x="0" y="0"/>
                  </a:lnTo>
                </a:path>
              </a:pathLst>
            </a:custGeom>
            <a:ln w="39624">
              <a:solidFill>
                <a:srgbClr val="3980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739384" y="4550663"/>
              <a:ext cx="3252470" cy="1146175"/>
            </a:xfrm>
            <a:custGeom>
              <a:avLst/>
              <a:gdLst/>
              <a:ahLst/>
              <a:cxnLst/>
              <a:rect l="l" t="t" r="r" b="b"/>
              <a:pathLst>
                <a:path w="3252470" h="1146175">
                  <a:moveTo>
                    <a:pt x="414528" y="57912"/>
                  </a:moveTo>
                  <a:lnTo>
                    <a:pt x="298704" y="0"/>
                  </a:lnTo>
                  <a:lnTo>
                    <a:pt x="298704" y="39624"/>
                  </a:lnTo>
                  <a:lnTo>
                    <a:pt x="0" y="39624"/>
                  </a:lnTo>
                  <a:lnTo>
                    <a:pt x="0" y="76200"/>
                  </a:lnTo>
                  <a:lnTo>
                    <a:pt x="298704" y="76200"/>
                  </a:lnTo>
                  <a:lnTo>
                    <a:pt x="298704" y="115824"/>
                  </a:lnTo>
                  <a:lnTo>
                    <a:pt x="414528" y="57912"/>
                  </a:lnTo>
                  <a:close/>
                </a:path>
                <a:path w="3252470" h="1146175">
                  <a:moveTo>
                    <a:pt x="1063625" y="179832"/>
                  </a:moveTo>
                  <a:lnTo>
                    <a:pt x="950849" y="121920"/>
                  </a:lnTo>
                  <a:lnTo>
                    <a:pt x="950849" y="158496"/>
                  </a:lnTo>
                  <a:lnTo>
                    <a:pt x="649224" y="158496"/>
                  </a:lnTo>
                  <a:lnTo>
                    <a:pt x="649224" y="198120"/>
                  </a:lnTo>
                  <a:lnTo>
                    <a:pt x="950849" y="198120"/>
                  </a:lnTo>
                  <a:lnTo>
                    <a:pt x="950849" y="234696"/>
                  </a:lnTo>
                  <a:lnTo>
                    <a:pt x="1063625" y="179832"/>
                  </a:lnTo>
                  <a:close/>
                </a:path>
                <a:path w="3252470" h="1146175">
                  <a:moveTo>
                    <a:pt x="3251962" y="1088009"/>
                  </a:moveTo>
                  <a:lnTo>
                    <a:pt x="3136138" y="1030097"/>
                  </a:lnTo>
                  <a:lnTo>
                    <a:pt x="3136138" y="1069721"/>
                  </a:lnTo>
                  <a:lnTo>
                    <a:pt x="118872" y="1069721"/>
                  </a:lnTo>
                  <a:lnTo>
                    <a:pt x="118872" y="1106297"/>
                  </a:lnTo>
                  <a:lnTo>
                    <a:pt x="3136138" y="1106297"/>
                  </a:lnTo>
                  <a:lnTo>
                    <a:pt x="3136138" y="1145921"/>
                  </a:lnTo>
                  <a:lnTo>
                    <a:pt x="3251962" y="1088009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153912" y="4364736"/>
              <a:ext cx="234950" cy="728345"/>
            </a:xfrm>
            <a:custGeom>
              <a:avLst/>
              <a:gdLst/>
              <a:ahLst/>
              <a:cxnLst/>
              <a:rect l="l" t="t" r="r" b="b"/>
              <a:pathLst>
                <a:path w="234950" h="728345">
                  <a:moveTo>
                    <a:pt x="118745" y="0"/>
                  </a:moveTo>
                  <a:lnTo>
                    <a:pt x="71882" y="9525"/>
                  </a:lnTo>
                  <a:lnTo>
                    <a:pt x="34289" y="35433"/>
                  </a:lnTo>
                  <a:lnTo>
                    <a:pt x="9143" y="73278"/>
                  </a:lnTo>
                  <a:lnTo>
                    <a:pt x="0" y="118744"/>
                  </a:lnTo>
                  <a:lnTo>
                    <a:pt x="0" y="609219"/>
                  </a:lnTo>
                  <a:lnTo>
                    <a:pt x="9143" y="654684"/>
                  </a:lnTo>
                  <a:lnTo>
                    <a:pt x="34289" y="692531"/>
                  </a:lnTo>
                  <a:lnTo>
                    <a:pt x="71882" y="718438"/>
                  </a:lnTo>
                  <a:lnTo>
                    <a:pt x="118745" y="727963"/>
                  </a:lnTo>
                  <a:lnTo>
                    <a:pt x="163829" y="718438"/>
                  </a:lnTo>
                  <a:lnTo>
                    <a:pt x="200533" y="692531"/>
                  </a:lnTo>
                  <a:lnTo>
                    <a:pt x="225298" y="654684"/>
                  </a:lnTo>
                  <a:lnTo>
                    <a:pt x="234441" y="609219"/>
                  </a:lnTo>
                  <a:lnTo>
                    <a:pt x="234441" y="118744"/>
                  </a:lnTo>
                  <a:lnTo>
                    <a:pt x="225298" y="73278"/>
                  </a:lnTo>
                  <a:lnTo>
                    <a:pt x="200533" y="35433"/>
                  </a:lnTo>
                  <a:lnTo>
                    <a:pt x="163829" y="9525"/>
                  </a:lnTo>
                  <a:lnTo>
                    <a:pt x="118745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153912" y="4364736"/>
              <a:ext cx="234950" cy="728345"/>
            </a:xfrm>
            <a:custGeom>
              <a:avLst/>
              <a:gdLst/>
              <a:ahLst/>
              <a:cxnLst/>
              <a:rect l="l" t="t" r="r" b="b"/>
              <a:pathLst>
                <a:path w="234950" h="728345">
                  <a:moveTo>
                    <a:pt x="118745" y="0"/>
                  </a:moveTo>
                  <a:lnTo>
                    <a:pt x="71882" y="9525"/>
                  </a:lnTo>
                  <a:lnTo>
                    <a:pt x="34289" y="35433"/>
                  </a:lnTo>
                  <a:lnTo>
                    <a:pt x="9143" y="73278"/>
                  </a:lnTo>
                  <a:lnTo>
                    <a:pt x="0" y="118744"/>
                  </a:lnTo>
                  <a:lnTo>
                    <a:pt x="0" y="609219"/>
                  </a:lnTo>
                  <a:lnTo>
                    <a:pt x="9143" y="654684"/>
                  </a:lnTo>
                  <a:lnTo>
                    <a:pt x="34289" y="692531"/>
                  </a:lnTo>
                  <a:lnTo>
                    <a:pt x="71882" y="718438"/>
                  </a:lnTo>
                  <a:lnTo>
                    <a:pt x="118745" y="727963"/>
                  </a:lnTo>
                  <a:lnTo>
                    <a:pt x="163829" y="718438"/>
                  </a:lnTo>
                  <a:lnTo>
                    <a:pt x="200533" y="692531"/>
                  </a:lnTo>
                  <a:lnTo>
                    <a:pt x="225298" y="654684"/>
                  </a:lnTo>
                  <a:lnTo>
                    <a:pt x="234441" y="609219"/>
                  </a:lnTo>
                  <a:lnTo>
                    <a:pt x="234441" y="118744"/>
                  </a:lnTo>
                  <a:lnTo>
                    <a:pt x="225298" y="73278"/>
                  </a:lnTo>
                  <a:lnTo>
                    <a:pt x="200533" y="35433"/>
                  </a:lnTo>
                  <a:lnTo>
                    <a:pt x="163829" y="9525"/>
                  </a:lnTo>
                  <a:lnTo>
                    <a:pt x="118745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562600" y="3761231"/>
              <a:ext cx="1240790" cy="1207135"/>
            </a:xfrm>
            <a:custGeom>
              <a:avLst/>
              <a:gdLst/>
              <a:ahLst/>
              <a:cxnLst/>
              <a:rect l="l" t="t" r="r" b="b"/>
              <a:pathLst>
                <a:path w="1240790" h="1207135">
                  <a:moveTo>
                    <a:pt x="552577" y="76200"/>
                  </a:moveTo>
                  <a:lnTo>
                    <a:pt x="476377" y="76200"/>
                  </a:lnTo>
                  <a:lnTo>
                    <a:pt x="475361" y="112776"/>
                  </a:lnTo>
                  <a:lnTo>
                    <a:pt x="552577" y="76200"/>
                  </a:lnTo>
                  <a:close/>
                </a:path>
                <a:path w="1240790" h="1207135">
                  <a:moveTo>
                    <a:pt x="591185" y="1148969"/>
                  </a:moveTo>
                  <a:lnTo>
                    <a:pt x="475361" y="1094105"/>
                  </a:lnTo>
                  <a:lnTo>
                    <a:pt x="475361" y="1130681"/>
                  </a:lnTo>
                  <a:lnTo>
                    <a:pt x="176784" y="1130681"/>
                  </a:lnTo>
                  <a:lnTo>
                    <a:pt x="176784" y="1170305"/>
                  </a:lnTo>
                  <a:lnTo>
                    <a:pt x="475361" y="1170305"/>
                  </a:lnTo>
                  <a:lnTo>
                    <a:pt x="475361" y="1206881"/>
                  </a:lnTo>
                  <a:lnTo>
                    <a:pt x="591185" y="1148969"/>
                  </a:lnTo>
                  <a:close/>
                </a:path>
                <a:path w="1240790" h="1207135">
                  <a:moveTo>
                    <a:pt x="591185" y="57912"/>
                  </a:moveTo>
                  <a:lnTo>
                    <a:pt x="478409" y="0"/>
                  </a:lnTo>
                  <a:lnTo>
                    <a:pt x="477393" y="36322"/>
                  </a:lnTo>
                  <a:lnTo>
                    <a:pt x="0" y="30480"/>
                  </a:lnTo>
                  <a:lnTo>
                    <a:pt x="0" y="67056"/>
                  </a:lnTo>
                  <a:lnTo>
                    <a:pt x="476377" y="75819"/>
                  </a:lnTo>
                  <a:lnTo>
                    <a:pt x="553212" y="75819"/>
                  </a:lnTo>
                  <a:lnTo>
                    <a:pt x="591185" y="57912"/>
                  </a:lnTo>
                  <a:close/>
                </a:path>
                <a:path w="1240790" h="1207135">
                  <a:moveTo>
                    <a:pt x="1240282" y="179832"/>
                  </a:moveTo>
                  <a:lnTo>
                    <a:pt x="1127506" y="121920"/>
                  </a:lnTo>
                  <a:lnTo>
                    <a:pt x="1127506" y="158496"/>
                  </a:lnTo>
                  <a:lnTo>
                    <a:pt x="825881" y="158496"/>
                  </a:lnTo>
                  <a:lnTo>
                    <a:pt x="825881" y="198120"/>
                  </a:lnTo>
                  <a:lnTo>
                    <a:pt x="1127506" y="198120"/>
                  </a:lnTo>
                  <a:lnTo>
                    <a:pt x="1127506" y="234696"/>
                  </a:lnTo>
                  <a:lnTo>
                    <a:pt x="1240282" y="179832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153912" y="3575304"/>
              <a:ext cx="234950" cy="728345"/>
            </a:xfrm>
            <a:custGeom>
              <a:avLst/>
              <a:gdLst/>
              <a:ahLst/>
              <a:cxnLst/>
              <a:rect l="l" t="t" r="r" b="b"/>
              <a:pathLst>
                <a:path w="234950" h="728345">
                  <a:moveTo>
                    <a:pt x="118745" y="0"/>
                  </a:moveTo>
                  <a:lnTo>
                    <a:pt x="71882" y="9525"/>
                  </a:lnTo>
                  <a:lnTo>
                    <a:pt x="34289" y="35433"/>
                  </a:lnTo>
                  <a:lnTo>
                    <a:pt x="9143" y="73279"/>
                  </a:lnTo>
                  <a:lnTo>
                    <a:pt x="0" y="118745"/>
                  </a:lnTo>
                  <a:lnTo>
                    <a:pt x="0" y="612267"/>
                  </a:lnTo>
                  <a:lnTo>
                    <a:pt x="9143" y="657351"/>
                  </a:lnTo>
                  <a:lnTo>
                    <a:pt x="34289" y="694055"/>
                  </a:lnTo>
                  <a:lnTo>
                    <a:pt x="71882" y="718820"/>
                  </a:lnTo>
                  <a:lnTo>
                    <a:pt x="118745" y="727963"/>
                  </a:lnTo>
                  <a:lnTo>
                    <a:pt x="163829" y="718820"/>
                  </a:lnTo>
                  <a:lnTo>
                    <a:pt x="200533" y="694055"/>
                  </a:lnTo>
                  <a:lnTo>
                    <a:pt x="225298" y="657351"/>
                  </a:lnTo>
                  <a:lnTo>
                    <a:pt x="234441" y="612267"/>
                  </a:lnTo>
                  <a:lnTo>
                    <a:pt x="234441" y="118745"/>
                  </a:lnTo>
                  <a:lnTo>
                    <a:pt x="225298" y="73279"/>
                  </a:lnTo>
                  <a:lnTo>
                    <a:pt x="200533" y="35433"/>
                  </a:lnTo>
                  <a:lnTo>
                    <a:pt x="163829" y="9525"/>
                  </a:lnTo>
                  <a:lnTo>
                    <a:pt x="118745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153912" y="3575304"/>
              <a:ext cx="234950" cy="728345"/>
            </a:xfrm>
            <a:custGeom>
              <a:avLst/>
              <a:gdLst/>
              <a:ahLst/>
              <a:cxnLst/>
              <a:rect l="l" t="t" r="r" b="b"/>
              <a:pathLst>
                <a:path w="234950" h="728345">
                  <a:moveTo>
                    <a:pt x="118745" y="0"/>
                  </a:moveTo>
                  <a:lnTo>
                    <a:pt x="71882" y="9525"/>
                  </a:lnTo>
                  <a:lnTo>
                    <a:pt x="34289" y="35433"/>
                  </a:lnTo>
                  <a:lnTo>
                    <a:pt x="9143" y="73279"/>
                  </a:lnTo>
                  <a:lnTo>
                    <a:pt x="0" y="118745"/>
                  </a:lnTo>
                  <a:lnTo>
                    <a:pt x="0" y="612267"/>
                  </a:lnTo>
                  <a:lnTo>
                    <a:pt x="9143" y="657351"/>
                  </a:lnTo>
                  <a:lnTo>
                    <a:pt x="34289" y="694055"/>
                  </a:lnTo>
                  <a:lnTo>
                    <a:pt x="71882" y="718820"/>
                  </a:lnTo>
                  <a:lnTo>
                    <a:pt x="118745" y="727963"/>
                  </a:lnTo>
                  <a:lnTo>
                    <a:pt x="163829" y="718820"/>
                  </a:lnTo>
                  <a:lnTo>
                    <a:pt x="200533" y="694055"/>
                  </a:lnTo>
                  <a:lnTo>
                    <a:pt x="225298" y="657351"/>
                  </a:lnTo>
                  <a:lnTo>
                    <a:pt x="234441" y="612267"/>
                  </a:lnTo>
                  <a:lnTo>
                    <a:pt x="234441" y="118745"/>
                  </a:lnTo>
                  <a:lnTo>
                    <a:pt x="225298" y="73279"/>
                  </a:lnTo>
                  <a:lnTo>
                    <a:pt x="200533" y="35433"/>
                  </a:lnTo>
                  <a:lnTo>
                    <a:pt x="163829" y="9525"/>
                  </a:lnTo>
                  <a:lnTo>
                    <a:pt x="118745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7707" y="4066032"/>
              <a:ext cx="77088" cy="112521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501640" y="4102480"/>
              <a:ext cx="652145" cy="40005"/>
            </a:xfrm>
            <a:custGeom>
              <a:avLst/>
              <a:gdLst/>
              <a:ahLst/>
              <a:cxnLst/>
              <a:rect l="l" t="t" r="r" b="b"/>
              <a:pathLst>
                <a:path w="652145" h="40004">
                  <a:moveTo>
                    <a:pt x="536028" y="88"/>
                  </a:moveTo>
                  <a:lnTo>
                    <a:pt x="0" y="88"/>
                  </a:lnTo>
                  <a:lnTo>
                    <a:pt x="0" y="39624"/>
                  </a:lnTo>
                  <a:lnTo>
                    <a:pt x="536028" y="39624"/>
                  </a:lnTo>
                  <a:lnTo>
                    <a:pt x="536028" y="88"/>
                  </a:lnTo>
                  <a:close/>
                </a:path>
                <a:path w="652145" h="40004">
                  <a:moveTo>
                    <a:pt x="651764" y="21336"/>
                  </a:moveTo>
                  <a:lnTo>
                    <a:pt x="609092" y="0"/>
                  </a:lnTo>
                  <a:lnTo>
                    <a:pt x="554355" y="0"/>
                  </a:lnTo>
                  <a:lnTo>
                    <a:pt x="554355" y="39624"/>
                  </a:lnTo>
                  <a:lnTo>
                    <a:pt x="613156" y="39624"/>
                  </a:lnTo>
                  <a:lnTo>
                    <a:pt x="651764" y="21336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5087492" y="4694682"/>
            <a:ext cx="5422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39802D"/>
                </a:solidFill>
                <a:latin typeface="Times New Roman"/>
                <a:cs typeface="Times New Roman"/>
              </a:rPr>
              <a:t>Imm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969509" y="3595496"/>
            <a:ext cx="543560" cy="11499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2000" spc="-25" b="1">
                <a:solidFill>
                  <a:srgbClr val="39802D"/>
                </a:solidFill>
                <a:latin typeface="Times New Roman"/>
                <a:cs typeface="Times New Roman"/>
              </a:rPr>
              <a:t>NPC</a:t>
            </a:r>
            <a:endParaRPr sz="2000">
              <a:latin typeface="Times New Roman"/>
              <a:cs typeface="Times New Roman"/>
            </a:endParaRPr>
          </a:p>
          <a:p>
            <a:pPr algn="r" marR="7620">
              <a:lnSpc>
                <a:spcPct val="100000"/>
              </a:lnSpc>
            </a:pPr>
            <a:r>
              <a:rPr dirty="0" sz="2000" spc="-50" b="1">
                <a:solidFill>
                  <a:srgbClr val="39802D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  <a:p>
            <a:pPr algn="r" marR="59690">
              <a:lnSpc>
                <a:spcPct val="100000"/>
              </a:lnSpc>
              <a:spcBef>
                <a:spcPts val="1645"/>
              </a:spcBef>
            </a:pPr>
            <a:r>
              <a:rPr dirty="0" sz="2000" spc="-50" b="1">
                <a:solidFill>
                  <a:srgbClr val="39802D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858255" y="3151632"/>
            <a:ext cx="0" cy="972185"/>
          </a:xfrm>
          <a:custGeom>
            <a:avLst/>
            <a:gdLst/>
            <a:ahLst/>
            <a:cxnLst/>
            <a:rect l="l" t="t" r="r" b="b"/>
            <a:pathLst>
              <a:path w="0" h="972185">
                <a:moveTo>
                  <a:pt x="0" y="971803"/>
                </a:moveTo>
                <a:lnTo>
                  <a:pt x="0" y="0"/>
                </a:lnTo>
              </a:path>
            </a:pathLst>
          </a:custGeom>
          <a:ln w="39624">
            <a:solidFill>
              <a:srgbClr val="39802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7751064" y="2968751"/>
            <a:ext cx="588645" cy="426720"/>
          </a:xfrm>
          <a:prstGeom prst="rect">
            <a:avLst/>
          </a:prstGeom>
          <a:solidFill>
            <a:srgbClr val="FFFFCC"/>
          </a:solidFill>
          <a:ln w="9144">
            <a:solidFill>
              <a:srgbClr val="000000"/>
            </a:solidFill>
          </a:ln>
        </p:spPr>
        <p:txBody>
          <a:bodyPr wrap="square" lIns="0" tIns="59690" rIns="0" bIns="0" rtlCol="0" vert="horz">
            <a:spAutoFit/>
          </a:bodyPr>
          <a:lstStyle/>
          <a:p>
            <a:pPr marL="635">
              <a:lnSpc>
                <a:spcPct val="100000"/>
              </a:lnSpc>
              <a:spcBef>
                <a:spcPts val="470"/>
              </a:spcBef>
            </a:pPr>
            <a:r>
              <a:rPr dirty="0" sz="1800" spc="-20" b="1">
                <a:latin typeface="Times New Roman"/>
                <a:cs typeface="Times New Roman"/>
              </a:rPr>
              <a:t>Cond.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681472" y="2609087"/>
            <a:ext cx="3310254" cy="600710"/>
          </a:xfrm>
          <a:custGeom>
            <a:avLst/>
            <a:gdLst/>
            <a:ahLst/>
            <a:cxnLst/>
            <a:rect l="l" t="t" r="r" b="b"/>
            <a:pathLst>
              <a:path w="3310254" h="600710">
                <a:moveTo>
                  <a:pt x="2069465" y="542290"/>
                </a:moveTo>
                <a:lnTo>
                  <a:pt x="1953641" y="487426"/>
                </a:lnTo>
                <a:lnTo>
                  <a:pt x="1953641" y="524002"/>
                </a:lnTo>
                <a:lnTo>
                  <a:pt x="1770761" y="524002"/>
                </a:lnTo>
                <a:lnTo>
                  <a:pt x="1770761" y="563626"/>
                </a:lnTo>
                <a:lnTo>
                  <a:pt x="1953641" y="563626"/>
                </a:lnTo>
                <a:lnTo>
                  <a:pt x="1953641" y="600202"/>
                </a:lnTo>
                <a:lnTo>
                  <a:pt x="2069465" y="542290"/>
                </a:lnTo>
                <a:close/>
              </a:path>
              <a:path w="3310254" h="600710">
                <a:moveTo>
                  <a:pt x="3310001" y="57912"/>
                </a:moveTo>
                <a:lnTo>
                  <a:pt x="3194177" y="0"/>
                </a:lnTo>
                <a:lnTo>
                  <a:pt x="3194177" y="39624"/>
                </a:lnTo>
                <a:lnTo>
                  <a:pt x="0" y="39624"/>
                </a:lnTo>
                <a:lnTo>
                  <a:pt x="0" y="76200"/>
                </a:lnTo>
                <a:lnTo>
                  <a:pt x="3194177" y="76200"/>
                </a:lnTo>
                <a:lnTo>
                  <a:pt x="3194177" y="115824"/>
                </a:lnTo>
                <a:lnTo>
                  <a:pt x="3310001" y="57912"/>
                </a:lnTo>
                <a:close/>
              </a:path>
            </a:pathLst>
          </a:custGeom>
          <a:solidFill>
            <a:srgbClr val="3980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6763257" y="5958078"/>
            <a:ext cx="13195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Execution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Instruction</a:t>
            </a:r>
            <a:r>
              <a:rPr dirty="0" spc="-215"/>
              <a:t> </a:t>
            </a:r>
            <a:r>
              <a:rPr dirty="0" spc="-125"/>
              <a:t>Execution…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2835" y="1650238"/>
            <a:ext cx="263842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solidFill>
                  <a:srgbClr val="CC3300"/>
                </a:solidFill>
                <a:latin typeface="Arial MT"/>
                <a:cs typeface="Arial MT"/>
              </a:rPr>
              <a:t>Memory</a:t>
            </a:r>
            <a:r>
              <a:rPr dirty="0" sz="3000" spc="-4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3000" spc="-20">
                <a:solidFill>
                  <a:srgbClr val="CC3300"/>
                </a:solidFill>
                <a:latin typeface="Arial MT"/>
                <a:cs typeface="Arial MT"/>
              </a:rPr>
              <a:t>(MEM)</a:t>
            </a:r>
            <a:endParaRPr sz="3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01711" y="2907792"/>
            <a:ext cx="381000" cy="128270"/>
            <a:chOff x="7601711" y="2907792"/>
            <a:chExt cx="381000" cy="1282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1711" y="2907792"/>
              <a:ext cx="131064" cy="12776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638288" y="2956432"/>
              <a:ext cx="344805" cy="30480"/>
            </a:xfrm>
            <a:custGeom>
              <a:avLst/>
              <a:gdLst/>
              <a:ahLst/>
              <a:cxnLst/>
              <a:rect l="l" t="t" r="r" b="b"/>
              <a:pathLst>
                <a:path w="344804" h="30480">
                  <a:moveTo>
                    <a:pt x="344424" y="0"/>
                  </a:moveTo>
                  <a:lnTo>
                    <a:pt x="48006" y="0"/>
                  </a:lnTo>
                  <a:lnTo>
                    <a:pt x="42672" y="3048"/>
                  </a:lnTo>
                  <a:lnTo>
                    <a:pt x="0" y="3048"/>
                  </a:lnTo>
                  <a:lnTo>
                    <a:pt x="0" y="27432"/>
                  </a:lnTo>
                  <a:lnTo>
                    <a:pt x="42672" y="27432"/>
                  </a:lnTo>
                  <a:lnTo>
                    <a:pt x="48006" y="30480"/>
                  </a:lnTo>
                  <a:lnTo>
                    <a:pt x="344424" y="30480"/>
                  </a:lnTo>
                  <a:lnTo>
                    <a:pt x="3444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2286000" y="2907792"/>
            <a:ext cx="381000" cy="128270"/>
            <a:chOff x="2286000" y="2907792"/>
            <a:chExt cx="381000" cy="12827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6000" y="2907792"/>
              <a:ext cx="131063" cy="12776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322576" y="2956432"/>
              <a:ext cx="344805" cy="30480"/>
            </a:xfrm>
            <a:custGeom>
              <a:avLst/>
              <a:gdLst/>
              <a:ahLst/>
              <a:cxnLst/>
              <a:rect l="l" t="t" r="r" b="b"/>
              <a:pathLst>
                <a:path w="344805" h="30480">
                  <a:moveTo>
                    <a:pt x="344424" y="0"/>
                  </a:moveTo>
                  <a:lnTo>
                    <a:pt x="48006" y="0"/>
                  </a:lnTo>
                  <a:lnTo>
                    <a:pt x="42672" y="3048"/>
                  </a:lnTo>
                  <a:lnTo>
                    <a:pt x="0" y="3048"/>
                  </a:lnTo>
                  <a:lnTo>
                    <a:pt x="0" y="27432"/>
                  </a:lnTo>
                  <a:lnTo>
                    <a:pt x="42672" y="27432"/>
                  </a:lnTo>
                  <a:lnTo>
                    <a:pt x="48006" y="30480"/>
                  </a:lnTo>
                  <a:lnTo>
                    <a:pt x="344424" y="30480"/>
                  </a:lnTo>
                  <a:lnTo>
                    <a:pt x="3444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306571" y="6055614"/>
            <a:ext cx="13182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Execution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23761" y="6052566"/>
            <a:ext cx="11366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Memory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457509" y="4844605"/>
            <a:ext cx="647065" cy="469900"/>
            <a:chOff x="4457509" y="4844605"/>
            <a:chExt cx="647065" cy="469900"/>
          </a:xfrm>
        </p:grpSpPr>
        <p:sp>
          <p:nvSpPr>
            <p:cNvPr id="13" name="object 13"/>
            <p:cNvSpPr/>
            <p:nvPr/>
          </p:nvSpPr>
          <p:spPr>
            <a:xfrm>
              <a:off x="4462271" y="4849367"/>
              <a:ext cx="637540" cy="460375"/>
            </a:xfrm>
            <a:custGeom>
              <a:avLst/>
              <a:gdLst/>
              <a:ahLst/>
              <a:cxnLst/>
              <a:rect l="l" t="t" r="r" b="b"/>
              <a:pathLst>
                <a:path w="637539" h="460375">
                  <a:moveTo>
                    <a:pt x="637031" y="0"/>
                  </a:moveTo>
                  <a:lnTo>
                    <a:pt x="0" y="0"/>
                  </a:lnTo>
                  <a:lnTo>
                    <a:pt x="0" y="460247"/>
                  </a:lnTo>
                  <a:lnTo>
                    <a:pt x="637031" y="460247"/>
                  </a:lnTo>
                  <a:lnTo>
                    <a:pt x="637031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462271" y="4849367"/>
              <a:ext cx="637540" cy="460375"/>
            </a:xfrm>
            <a:custGeom>
              <a:avLst/>
              <a:gdLst/>
              <a:ahLst/>
              <a:cxnLst/>
              <a:rect l="l" t="t" r="r" b="b"/>
              <a:pathLst>
                <a:path w="637539" h="460375">
                  <a:moveTo>
                    <a:pt x="0" y="460247"/>
                  </a:moveTo>
                  <a:lnTo>
                    <a:pt x="637031" y="460247"/>
                  </a:lnTo>
                  <a:lnTo>
                    <a:pt x="637031" y="0"/>
                  </a:lnTo>
                  <a:lnTo>
                    <a:pt x="0" y="0"/>
                  </a:lnTo>
                  <a:lnTo>
                    <a:pt x="0" y="46024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502022" y="4744592"/>
            <a:ext cx="556895" cy="567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dirty="0" sz="2000" spc="-25" b="1">
                <a:latin typeface="Times New Roman"/>
                <a:cs typeface="Times New Roman"/>
              </a:rPr>
              <a:t>ALU</a:t>
            </a:r>
            <a:endParaRPr sz="2000">
              <a:latin typeface="Times New Roman"/>
              <a:cs typeface="Times New Roman"/>
            </a:endParaRPr>
          </a:p>
          <a:p>
            <a:pPr marL="103505">
              <a:lnSpc>
                <a:spcPts val="2130"/>
              </a:lnSpc>
            </a:pPr>
            <a:r>
              <a:rPr dirty="0" sz="2000" spc="-25" b="1">
                <a:latin typeface="Times New Roman"/>
                <a:cs typeface="Times New Roman"/>
              </a:rPr>
              <a:t>out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436429" y="4500181"/>
            <a:ext cx="646430" cy="1271270"/>
            <a:chOff x="3436429" y="4500181"/>
            <a:chExt cx="646430" cy="1271270"/>
          </a:xfrm>
        </p:grpSpPr>
        <p:sp>
          <p:nvSpPr>
            <p:cNvPr id="17" name="object 17"/>
            <p:cNvSpPr/>
            <p:nvPr/>
          </p:nvSpPr>
          <p:spPr>
            <a:xfrm>
              <a:off x="3441191" y="4504944"/>
              <a:ext cx="636905" cy="1261745"/>
            </a:xfrm>
            <a:custGeom>
              <a:avLst/>
              <a:gdLst/>
              <a:ahLst/>
              <a:cxnLst/>
              <a:rect l="l" t="t" r="r" b="b"/>
              <a:pathLst>
                <a:path w="636904" h="1261745">
                  <a:moveTo>
                    <a:pt x="0" y="0"/>
                  </a:moveTo>
                  <a:lnTo>
                    <a:pt x="0" y="1261363"/>
                  </a:lnTo>
                  <a:lnTo>
                    <a:pt x="636524" y="947546"/>
                  </a:lnTo>
                  <a:lnTo>
                    <a:pt x="636524" y="3138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441191" y="4504944"/>
              <a:ext cx="636905" cy="1261745"/>
            </a:xfrm>
            <a:custGeom>
              <a:avLst/>
              <a:gdLst/>
              <a:ahLst/>
              <a:cxnLst/>
              <a:rect l="l" t="t" r="r" b="b"/>
              <a:pathLst>
                <a:path w="636904" h="1261745">
                  <a:moveTo>
                    <a:pt x="0" y="0"/>
                  </a:moveTo>
                  <a:lnTo>
                    <a:pt x="636524" y="313816"/>
                  </a:lnTo>
                  <a:lnTo>
                    <a:pt x="636524" y="947546"/>
                  </a:lnTo>
                  <a:lnTo>
                    <a:pt x="0" y="1261363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425444" y="4921377"/>
            <a:ext cx="6584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latin typeface="Times New Roman"/>
                <a:cs typeface="Times New Roman"/>
              </a:rPr>
              <a:t>ALU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497389" y="3924109"/>
            <a:ext cx="662305" cy="412115"/>
            <a:chOff x="3497389" y="3924109"/>
            <a:chExt cx="662305" cy="412115"/>
          </a:xfrm>
        </p:grpSpPr>
        <p:sp>
          <p:nvSpPr>
            <p:cNvPr id="21" name="object 21"/>
            <p:cNvSpPr/>
            <p:nvPr/>
          </p:nvSpPr>
          <p:spPr>
            <a:xfrm>
              <a:off x="3502152" y="3928871"/>
              <a:ext cx="652780" cy="402590"/>
            </a:xfrm>
            <a:custGeom>
              <a:avLst/>
              <a:gdLst/>
              <a:ahLst/>
              <a:cxnLst/>
              <a:rect l="l" t="t" r="r" b="b"/>
              <a:pathLst>
                <a:path w="652779" h="402589">
                  <a:moveTo>
                    <a:pt x="652272" y="0"/>
                  </a:moveTo>
                  <a:lnTo>
                    <a:pt x="0" y="0"/>
                  </a:lnTo>
                  <a:lnTo>
                    <a:pt x="0" y="402336"/>
                  </a:lnTo>
                  <a:lnTo>
                    <a:pt x="652272" y="402336"/>
                  </a:lnTo>
                  <a:lnTo>
                    <a:pt x="652272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502152" y="3928871"/>
              <a:ext cx="652780" cy="402590"/>
            </a:xfrm>
            <a:custGeom>
              <a:avLst/>
              <a:gdLst/>
              <a:ahLst/>
              <a:cxnLst/>
              <a:rect l="l" t="t" r="r" b="b"/>
              <a:pathLst>
                <a:path w="652779" h="402589">
                  <a:moveTo>
                    <a:pt x="0" y="402336"/>
                  </a:moveTo>
                  <a:lnTo>
                    <a:pt x="652272" y="402336"/>
                  </a:lnTo>
                  <a:lnTo>
                    <a:pt x="652272" y="0"/>
                  </a:lnTo>
                  <a:lnTo>
                    <a:pt x="0" y="0"/>
                  </a:lnTo>
                  <a:lnTo>
                    <a:pt x="0" y="4023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3490086" y="3946016"/>
            <a:ext cx="66865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latin typeface="Times New Roman"/>
                <a:cs typeface="Times New Roman"/>
              </a:rPr>
              <a:t>Zero?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208085" y="3622357"/>
            <a:ext cx="5122545" cy="2856230"/>
            <a:chOff x="2208085" y="3622357"/>
            <a:chExt cx="5122545" cy="2856230"/>
          </a:xfrm>
        </p:grpSpPr>
        <p:sp>
          <p:nvSpPr>
            <p:cNvPr id="25" name="object 25"/>
            <p:cNvSpPr/>
            <p:nvPr/>
          </p:nvSpPr>
          <p:spPr>
            <a:xfrm>
              <a:off x="2417064" y="5077968"/>
              <a:ext cx="2938145" cy="1380490"/>
            </a:xfrm>
            <a:custGeom>
              <a:avLst/>
              <a:gdLst/>
              <a:ahLst/>
              <a:cxnLst/>
              <a:rect l="l" t="t" r="r" b="b"/>
              <a:pathLst>
                <a:path w="2938145" h="1380489">
                  <a:moveTo>
                    <a:pt x="0" y="1380362"/>
                  </a:moveTo>
                  <a:lnTo>
                    <a:pt x="0" y="402208"/>
                  </a:lnTo>
                </a:path>
                <a:path w="2938145" h="1380489">
                  <a:moveTo>
                    <a:pt x="2681732" y="0"/>
                  </a:moveTo>
                  <a:lnTo>
                    <a:pt x="2937764" y="0"/>
                  </a:lnTo>
                </a:path>
              </a:pathLst>
            </a:custGeom>
            <a:ln w="39624">
              <a:solidFill>
                <a:srgbClr val="3980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417064" y="4044695"/>
              <a:ext cx="2045335" cy="1149350"/>
            </a:xfrm>
            <a:custGeom>
              <a:avLst/>
              <a:gdLst/>
              <a:ahLst/>
              <a:cxnLst/>
              <a:rect l="l" t="t" r="r" b="b"/>
              <a:pathLst>
                <a:path w="2045335" h="1149350">
                  <a:moveTo>
                    <a:pt x="1084961" y="54864"/>
                  </a:moveTo>
                  <a:lnTo>
                    <a:pt x="972312" y="0"/>
                  </a:lnTo>
                  <a:lnTo>
                    <a:pt x="972312" y="36576"/>
                  </a:lnTo>
                  <a:lnTo>
                    <a:pt x="0" y="36576"/>
                  </a:lnTo>
                  <a:lnTo>
                    <a:pt x="0" y="76200"/>
                  </a:lnTo>
                  <a:lnTo>
                    <a:pt x="972312" y="76200"/>
                  </a:lnTo>
                  <a:lnTo>
                    <a:pt x="972312" y="112776"/>
                  </a:lnTo>
                  <a:lnTo>
                    <a:pt x="1084961" y="54864"/>
                  </a:lnTo>
                  <a:close/>
                </a:path>
                <a:path w="2045335" h="1149350">
                  <a:moveTo>
                    <a:pt x="2045081" y="1090930"/>
                  </a:moveTo>
                  <a:lnTo>
                    <a:pt x="1932305" y="1033018"/>
                  </a:lnTo>
                  <a:lnTo>
                    <a:pt x="1932305" y="1072642"/>
                  </a:lnTo>
                  <a:lnTo>
                    <a:pt x="1661033" y="1072642"/>
                  </a:lnTo>
                  <a:lnTo>
                    <a:pt x="1661033" y="1109218"/>
                  </a:lnTo>
                  <a:lnTo>
                    <a:pt x="1932305" y="1109218"/>
                  </a:lnTo>
                  <a:lnTo>
                    <a:pt x="1932305" y="1148842"/>
                  </a:lnTo>
                  <a:lnTo>
                    <a:pt x="2045081" y="1090930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228088" y="3642360"/>
              <a:ext cx="5044440" cy="1090930"/>
            </a:xfrm>
            <a:custGeom>
              <a:avLst/>
              <a:gdLst/>
              <a:ahLst/>
              <a:cxnLst/>
              <a:rect l="l" t="t" r="r" b="b"/>
              <a:pathLst>
                <a:path w="5044440" h="1090929">
                  <a:moveTo>
                    <a:pt x="0" y="1090802"/>
                  </a:moveTo>
                  <a:lnTo>
                    <a:pt x="0" y="0"/>
                  </a:lnTo>
                </a:path>
                <a:path w="5044440" h="1090929">
                  <a:moveTo>
                    <a:pt x="2871216" y="518032"/>
                  </a:moveTo>
                  <a:lnTo>
                    <a:pt x="5044440" y="518032"/>
                  </a:lnTo>
                </a:path>
              </a:pathLst>
            </a:custGeom>
            <a:ln w="39624">
              <a:solidFill>
                <a:srgbClr val="39802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28433" y="3755136"/>
              <a:ext cx="79248" cy="11544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355336" y="3794632"/>
              <a:ext cx="1789430" cy="36830"/>
            </a:xfrm>
            <a:custGeom>
              <a:avLst/>
              <a:gdLst/>
              <a:ahLst/>
              <a:cxnLst/>
              <a:rect l="l" t="t" r="r" b="b"/>
              <a:pathLst>
                <a:path w="1789429" h="36829">
                  <a:moveTo>
                    <a:pt x="1673098" y="0"/>
                  </a:moveTo>
                  <a:lnTo>
                    <a:pt x="0" y="0"/>
                  </a:lnTo>
                  <a:lnTo>
                    <a:pt x="0" y="36449"/>
                  </a:lnTo>
                  <a:lnTo>
                    <a:pt x="1673098" y="36449"/>
                  </a:lnTo>
                  <a:lnTo>
                    <a:pt x="1673098" y="0"/>
                  </a:lnTo>
                  <a:close/>
                </a:path>
                <a:path w="1789429" h="36829">
                  <a:moveTo>
                    <a:pt x="1788922" y="18288"/>
                  </a:moveTo>
                  <a:lnTo>
                    <a:pt x="1752346" y="0"/>
                  </a:lnTo>
                  <a:lnTo>
                    <a:pt x="1691386" y="0"/>
                  </a:lnTo>
                  <a:lnTo>
                    <a:pt x="1691386" y="36449"/>
                  </a:lnTo>
                  <a:lnTo>
                    <a:pt x="1752346" y="36449"/>
                  </a:lnTo>
                  <a:lnTo>
                    <a:pt x="1788922" y="18288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14616" y="3928872"/>
              <a:ext cx="115824" cy="231648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355336" y="3813048"/>
              <a:ext cx="0" cy="2185670"/>
            </a:xfrm>
            <a:custGeom>
              <a:avLst/>
              <a:gdLst/>
              <a:ahLst/>
              <a:cxnLst/>
              <a:rect l="l" t="t" r="r" b="b"/>
              <a:pathLst>
                <a:path w="0" h="2185670">
                  <a:moveTo>
                    <a:pt x="0" y="2185162"/>
                  </a:moveTo>
                  <a:lnTo>
                    <a:pt x="0" y="0"/>
                  </a:lnTo>
                </a:path>
              </a:pathLst>
            </a:custGeom>
            <a:ln w="39624">
              <a:solidFill>
                <a:srgbClr val="39802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5803391" y="4447032"/>
            <a:ext cx="765175" cy="1320165"/>
          </a:xfrm>
          <a:prstGeom prst="rect">
            <a:avLst/>
          </a:prstGeom>
          <a:solidFill>
            <a:srgbClr val="FFFFCC"/>
          </a:solidFill>
          <a:ln w="9144">
            <a:solidFill>
              <a:srgbClr val="000000"/>
            </a:solidFill>
          </a:ln>
        </p:spPr>
        <p:txBody>
          <a:bodyPr wrap="square" lIns="0" tIns="1206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0"/>
              </a:spcBef>
            </a:pPr>
            <a:endParaRPr sz="2400">
              <a:latin typeface="Times New Roman"/>
              <a:cs typeface="Times New Roman"/>
            </a:endParaRPr>
          </a:p>
          <a:p>
            <a:pPr marL="46355">
              <a:lnSpc>
                <a:spcPct val="100000"/>
              </a:lnSpc>
            </a:pPr>
            <a:r>
              <a:rPr dirty="0" sz="2400" spc="-25" b="1">
                <a:latin typeface="Times New Roman"/>
                <a:cs typeface="Times New Roman"/>
              </a:rPr>
              <a:t>Mem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397061" y="5020055"/>
            <a:ext cx="5215255" cy="1458595"/>
            <a:chOff x="2397061" y="5020055"/>
            <a:chExt cx="5215255" cy="1458595"/>
          </a:xfrm>
        </p:grpSpPr>
        <p:sp>
          <p:nvSpPr>
            <p:cNvPr id="34" name="object 34"/>
            <p:cNvSpPr/>
            <p:nvPr/>
          </p:nvSpPr>
          <p:spPr>
            <a:xfrm>
              <a:off x="5355336" y="5020055"/>
              <a:ext cx="448309" cy="575945"/>
            </a:xfrm>
            <a:custGeom>
              <a:avLst/>
              <a:gdLst/>
              <a:ahLst/>
              <a:cxnLst/>
              <a:rect l="l" t="t" r="r" b="b"/>
              <a:pathLst>
                <a:path w="448310" h="575945">
                  <a:moveTo>
                    <a:pt x="447802" y="517652"/>
                  </a:moveTo>
                  <a:lnTo>
                    <a:pt x="332105" y="459867"/>
                  </a:lnTo>
                  <a:lnTo>
                    <a:pt x="332105" y="499491"/>
                  </a:lnTo>
                  <a:lnTo>
                    <a:pt x="127889" y="499491"/>
                  </a:lnTo>
                  <a:lnTo>
                    <a:pt x="127889" y="535940"/>
                  </a:lnTo>
                  <a:lnTo>
                    <a:pt x="332105" y="535940"/>
                  </a:lnTo>
                  <a:lnTo>
                    <a:pt x="332105" y="575564"/>
                  </a:lnTo>
                  <a:lnTo>
                    <a:pt x="447802" y="517652"/>
                  </a:lnTo>
                  <a:close/>
                </a:path>
                <a:path w="448310" h="575945">
                  <a:moveTo>
                    <a:pt x="447802" y="57912"/>
                  </a:moveTo>
                  <a:lnTo>
                    <a:pt x="332105" y="0"/>
                  </a:lnTo>
                  <a:lnTo>
                    <a:pt x="332105" y="39624"/>
                  </a:lnTo>
                  <a:lnTo>
                    <a:pt x="0" y="39624"/>
                  </a:lnTo>
                  <a:lnTo>
                    <a:pt x="0" y="76073"/>
                  </a:lnTo>
                  <a:lnTo>
                    <a:pt x="332105" y="76073"/>
                  </a:lnTo>
                  <a:lnTo>
                    <a:pt x="332105" y="115697"/>
                  </a:lnTo>
                  <a:lnTo>
                    <a:pt x="447802" y="57912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417063" y="5538215"/>
              <a:ext cx="5175250" cy="920750"/>
            </a:xfrm>
            <a:custGeom>
              <a:avLst/>
              <a:gdLst/>
              <a:ahLst/>
              <a:cxnLst/>
              <a:rect l="l" t="t" r="r" b="b"/>
              <a:pathLst>
                <a:path w="5175250" h="920750">
                  <a:moveTo>
                    <a:pt x="2938018" y="460120"/>
                  </a:moveTo>
                  <a:lnTo>
                    <a:pt x="5175122" y="460120"/>
                  </a:lnTo>
                </a:path>
                <a:path w="5175250" h="920750">
                  <a:moveTo>
                    <a:pt x="3066034" y="920241"/>
                  </a:moveTo>
                  <a:lnTo>
                    <a:pt x="3066034" y="0"/>
                  </a:lnTo>
                </a:path>
                <a:path w="5175250" h="920750">
                  <a:moveTo>
                    <a:pt x="0" y="920241"/>
                  </a:moveTo>
                  <a:lnTo>
                    <a:pt x="3066034" y="920241"/>
                  </a:lnTo>
                </a:path>
              </a:pathLst>
            </a:custGeom>
            <a:ln w="39624">
              <a:solidFill>
                <a:srgbClr val="39802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03465" y="5193791"/>
              <a:ext cx="77215" cy="11544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568440" y="5233288"/>
              <a:ext cx="448309" cy="36830"/>
            </a:xfrm>
            <a:custGeom>
              <a:avLst/>
              <a:gdLst/>
              <a:ahLst/>
              <a:cxnLst/>
              <a:rect l="l" t="t" r="r" b="b"/>
              <a:pathLst>
                <a:path w="448309" h="36829">
                  <a:moveTo>
                    <a:pt x="335089" y="0"/>
                  </a:moveTo>
                  <a:lnTo>
                    <a:pt x="0" y="0"/>
                  </a:lnTo>
                  <a:lnTo>
                    <a:pt x="0" y="36449"/>
                  </a:lnTo>
                  <a:lnTo>
                    <a:pt x="335089" y="36449"/>
                  </a:lnTo>
                  <a:lnTo>
                    <a:pt x="335089" y="0"/>
                  </a:lnTo>
                  <a:close/>
                </a:path>
                <a:path w="448309" h="36829">
                  <a:moveTo>
                    <a:pt x="447802" y="18161"/>
                  </a:moveTo>
                  <a:lnTo>
                    <a:pt x="412242" y="0"/>
                  </a:lnTo>
                  <a:lnTo>
                    <a:pt x="353314" y="0"/>
                  </a:lnTo>
                  <a:lnTo>
                    <a:pt x="353314" y="36449"/>
                  </a:lnTo>
                  <a:lnTo>
                    <a:pt x="412242" y="36449"/>
                  </a:lnTo>
                  <a:lnTo>
                    <a:pt x="447802" y="18161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7016495" y="5020055"/>
            <a:ext cx="601980" cy="402590"/>
          </a:xfrm>
          <a:prstGeom prst="rect">
            <a:avLst/>
          </a:prstGeom>
          <a:solidFill>
            <a:srgbClr val="FFFFCC"/>
          </a:solidFill>
          <a:ln w="9144">
            <a:solidFill>
              <a:srgbClr val="000000"/>
            </a:solidFill>
          </a:ln>
        </p:spPr>
        <p:txBody>
          <a:bodyPr wrap="square" lIns="0" tIns="33655" rIns="0" bIns="0" rtlCol="0" vert="horz">
            <a:spAutoFit/>
          </a:bodyPr>
          <a:lstStyle/>
          <a:p>
            <a:pPr marL="635">
              <a:lnSpc>
                <a:spcPct val="100000"/>
              </a:lnSpc>
              <a:spcBef>
                <a:spcPts val="265"/>
              </a:spcBef>
            </a:pPr>
            <a:r>
              <a:rPr dirty="0" sz="2000" spc="-25" b="1">
                <a:latin typeface="Times New Roman"/>
                <a:cs typeface="Times New Roman"/>
              </a:rPr>
              <a:t>LMD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036064" y="3924109"/>
            <a:ext cx="5873115" cy="2021205"/>
            <a:chOff x="2036064" y="3924109"/>
            <a:chExt cx="5873115" cy="2021205"/>
          </a:xfrm>
        </p:grpSpPr>
        <p:sp>
          <p:nvSpPr>
            <p:cNvPr id="40" name="object 40"/>
            <p:cNvSpPr/>
            <p:nvPr/>
          </p:nvSpPr>
          <p:spPr>
            <a:xfrm>
              <a:off x="2292096" y="5193791"/>
              <a:ext cx="5617210" cy="460375"/>
            </a:xfrm>
            <a:custGeom>
              <a:avLst/>
              <a:gdLst/>
              <a:ahLst/>
              <a:cxnLst/>
              <a:rect l="l" t="t" r="r" b="b"/>
              <a:pathLst>
                <a:path w="5617209" h="460375">
                  <a:moveTo>
                    <a:pt x="445008" y="286385"/>
                  </a:moveTo>
                  <a:lnTo>
                    <a:pt x="332232" y="231521"/>
                  </a:lnTo>
                  <a:lnTo>
                    <a:pt x="332232" y="268097"/>
                  </a:lnTo>
                  <a:lnTo>
                    <a:pt x="0" y="268097"/>
                  </a:lnTo>
                  <a:lnTo>
                    <a:pt x="0" y="307721"/>
                  </a:lnTo>
                  <a:lnTo>
                    <a:pt x="332232" y="307721"/>
                  </a:lnTo>
                  <a:lnTo>
                    <a:pt x="332232" y="344297"/>
                  </a:lnTo>
                  <a:lnTo>
                    <a:pt x="445008" y="286385"/>
                  </a:lnTo>
                  <a:close/>
                </a:path>
                <a:path w="5617209" h="460375">
                  <a:moveTo>
                    <a:pt x="1148969" y="402209"/>
                  </a:moveTo>
                  <a:lnTo>
                    <a:pt x="1033132" y="344297"/>
                  </a:lnTo>
                  <a:lnTo>
                    <a:pt x="1033132" y="383921"/>
                  </a:lnTo>
                  <a:lnTo>
                    <a:pt x="701040" y="383921"/>
                  </a:lnTo>
                  <a:lnTo>
                    <a:pt x="701040" y="420497"/>
                  </a:lnTo>
                  <a:lnTo>
                    <a:pt x="1033132" y="420497"/>
                  </a:lnTo>
                  <a:lnTo>
                    <a:pt x="1033132" y="460121"/>
                  </a:lnTo>
                  <a:lnTo>
                    <a:pt x="1148969" y="402209"/>
                  </a:lnTo>
                  <a:close/>
                </a:path>
                <a:path w="5617209" h="460375">
                  <a:moveTo>
                    <a:pt x="5617083" y="402209"/>
                  </a:moveTo>
                  <a:lnTo>
                    <a:pt x="5504307" y="344297"/>
                  </a:lnTo>
                  <a:lnTo>
                    <a:pt x="5504307" y="383921"/>
                  </a:lnTo>
                  <a:lnTo>
                    <a:pt x="5300091" y="383921"/>
                  </a:lnTo>
                  <a:lnTo>
                    <a:pt x="5300091" y="420497"/>
                  </a:lnTo>
                  <a:lnTo>
                    <a:pt x="5504307" y="420497"/>
                  </a:lnTo>
                  <a:lnTo>
                    <a:pt x="5504307" y="460121"/>
                  </a:lnTo>
                  <a:lnTo>
                    <a:pt x="5617083" y="402209"/>
                  </a:lnTo>
                  <a:close/>
                </a:path>
                <a:path w="5617209" h="460375">
                  <a:moveTo>
                    <a:pt x="5617083" y="57912"/>
                  </a:moveTo>
                  <a:lnTo>
                    <a:pt x="5504307" y="0"/>
                  </a:lnTo>
                  <a:lnTo>
                    <a:pt x="5504307" y="39624"/>
                  </a:lnTo>
                  <a:lnTo>
                    <a:pt x="5300091" y="39624"/>
                  </a:lnTo>
                  <a:lnTo>
                    <a:pt x="5300091" y="76200"/>
                  </a:lnTo>
                  <a:lnTo>
                    <a:pt x="5504307" y="76200"/>
                  </a:lnTo>
                  <a:lnTo>
                    <a:pt x="5504307" y="115824"/>
                  </a:lnTo>
                  <a:lnTo>
                    <a:pt x="5617083" y="57912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737104" y="5251703"/>
              <a:ext cx="255904" cy="688975"/>
            </a:xfrm>
            <a:custGeom>
              <a:avLst/>
              <a:gdLst/>
              <a:ahLst/>
              <a:cxnLst/>
              <a:rect l="l" t="t" r="r" b="b"/>
              <a:pathLst>
                <a:path w="255905" h="688975">
                  <a:moveTo>
                    <a:pt x="127762" y="0"/>
                  </a:moveTo>
                  <a:lnTo>
                    <a:pt x="78231" y="10160"/>
                  </a:lnTo>
                  <a:lnTo>
                    <a:pt x="37591" y="37719"/>
                  </a:lnTo>
                  <a:lnTo>
                    <a:pt x="10159" y="78486"/>
                  </a:lnTo>
                  <a:lnTo>
                    <a:pt x="0" y="128016"/>
                  </a:lnTo>
                  <a:lnTo>
                    <a:pt x="0" y="560705"/>
                  </a:lnTo>
                  <a:lnTo>
                    <a:pt x="10159" y="610235"/>
                  </a:lnTo>
                  <a:lnTo>
                    <a:pt x="37591" y="651002"/>
                  </a:lnTo>
                  <a:lnTo>
                    <a:pt x="78231" y="678561"/>
                  </a:lnTo>
                  <a:lnTo>
                    <a:pt x="127762" y="688721"/>
                  </a:lnTo>
                  <a:lnTo>
                    <a:pt x="177291" y="678561"/>
                  </a:lnTo>
                  <a:lnTo>
                    <a:pt x="217931" y="651002"/>
                  </a:lnTo>
                  <a:lnTo>
                    <a:pt x="245363" y="610235"/>
                  </a:lnTo>
                  <a:lnTo>
                    <a:pt x="255523" y="560705"/>
                  </a:lnTo>
                  <a:lnTo>
                    <a:pt x="255523" y="128016"/>
                  </a:lnTo>
                  <a:lnTo>
                    <a:pt x="245363" y="78486"/>
                  </a:lnTo>
                  <a:lnTo>
                    <a:pt x="217931" y="37719"/>
                  </a:lnTo>
                  <a:lnTo>
                    <a:pt x="177291" y="10160"/>
                  </a:lnTo>
                  <a:lnTo>
                    <a:pt x="127762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737104" y="5251703"/>
              <a:ext cx="255904" cy="688975"/>
            </a:xfrm>
            <a:custGeom>
              <a:avLst/>
              <a:gdLst/>
              <a:ahLst/>
              <a:cxnLst/>
              <a:rect l="l" t="t" r="r" b="b"/>
              <a:pathLst>
                <a:path w="255905" h="688975">
                  <a:moveTo>
                    <a:pt x="127762" y="0"/>
                  </a:moveTo>
                  <a:lnTo>
                    <a:pt x="78231" y="10160"/>
                  </a:lnTo>
                  <a:lnTo>
                    <a:pt x="37591" y="37719"/>
                  </a:lnTo>
                  <a:lnTo>
                    <a:pt x="10159" y="78486"/>
                  </a:lnTo>
                  <a:lnTo>
                    <a:pt x="0" y="128016"/>
                  </a:lnTo>
                  <a:lnTo>
                    <a:pt x="0" y="560705"/>
                  </a:lnTo>
                  <a:lnTo>
                    <a:pt x="10159" y="610235"/>
                  </a:lnTo>
                  <a:lnTo>
                    <a:pt x="37591" y="651002"/>
                  </a:lnTo>
                  <a:lnTo>
                    <a:pt x="78231" y="678561"/>
                  </a:lnTo>
                  <a:lnTo>
                    <a:pt x="127762" y="688721"/>
                  </a:lnTo>
                  <a:lnTo>
                    <a:pt x="177291" y="678561"/>
                  </a:lnTo>
                  <a:lnTo>
                    <a:pt x="217931" y="651002"/>
                  </a:lnTo>
                  <a:lnTo>
                    <a:pt x="245363" y="610235"/>
                  </a:lnTo>
                  <a:lnTo>
                    <a:pt x="255523" y="560705"/>
                  </a:lnTo>
                  <a:lnTo>
                    <a:pt x="255523" y="128016"/>
                  </a:lnTo>
                  <a:lnTo>
                    <a:pt x="245363" y="78486"/>
                  </a:lnTo>
                  <a:lnTo>
                    <a:pt x="217931" y="37719"/>
                  </a:lnTo>
                  <a:lnTo>
                    <a:pt x="177291" y="10160"/>
                  </a:lnTo>
                  <a:lnTo>
                    <a:pt x="127762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057400" y="4675631"/>
              <a:ext cx="1383665" cy="1149350"/>
            </a:xfrm>
            <a:custGeom>
              <a:avLst/>
              <a:gdLst/>
              <a:ahLst/>
              <a:cxnLst/>
              <a:rect l="l" t="t" r="r" b="b"/>
              <a:pathLst>
                <a:path w="1383664" h="1149350">
                  <a:moveTo>
                    <a:pt x="640842" y="76200"/>
                  </a:moveTo>
                  <a:lnTo>
                    <a:pt x="564642" y="76200"/>
                  </a:lnTo>
                  <a:lnTo>
                    <a:pt x="563626" y="112776"/>
                  </a:lnTo>
                  <a:lnTo>
                    <a:pt x="640842" y="76200"/>
                  </a:lnTo>
                  <a:close/>
                </a:path>
                <a:path w="1383664" h="1149350">
                  <a:moveTo>
                    <a:pt x="679450" y="1093978"/>
                  </a:moveTo>
                  <a:lnTo>
                    <a:pt x="566674" y="1036066"/>
                  </a:lnTo>
                  <a:lnTo>
                    <a:pt x="566674" y="1072642"/>
                  </a:lnTo>
                  <a:lnTo>
                    <a:pt x="234569" y="1072642"/>
                  </a:lnTo>
                  <a:lnTo>
                    <a:pt x="234569" y="1112266"/>
                  </a:lnTo>
                  <a:lnTo>
                    <a:pt x="566674" y="1112266"/>
                  </a:lnTo>
                  <a:lnTo>
                    <a:pt x="566674" y="1148842"/>
                  </a:lnTo>
                  <a:lnTo>
                    <a:pt x="679450" y="1093978"/>
                  </a:lnTo>
                  <a:close/>
                </a:path>
                <a:path w="1383664" h="1149350">
                  <a:moveTo>
                    <a:pt x="679450" y="57912"/>
                  </a:moveTo>
                  <a:lnTo>
                    <a:pt x="566674" y="0"/>
                  </a:lnTo>
                  <a:lnTo>
                    <a:pt x="565785" y="36322"/>
                  </a:lnTo>
                  <a:lnTo>
                    <a:pt x="0" y="30480"/>
                  </a:lnTo>
                  <a:lnTo>
                    <a:pt x="0" y="67056"/>
                  </a:lnTo>
                  <a:lnTo>
                    <a:pt x="564642" y="75819"/>
                  </a:lnTo>
                  <a:lnTo>
                    <a:pt x="641477" y="75819"/>
                  </a:lnTo>
                  <a:lnTo>
                    <a:pt x="679450" y="57912"/>
                  </a:lnTo>
                  <a:close/>
                </a:path>
                <a:path w="1383664" h="1149350">
                  <a:moveTo>
                    <a:pt x="1383284" y="173736"/>
                  </a:moveTo>
                  <a:lnTo>
                    <a:pt x="1267460" y="115824"/>
                  </a:lnTo>
                  <a:lnTo>
                    <a:pt x="1267460" y="152400"/>
                  </a:lnTo>
                  <a:lnTo>
                    <a:pt x="935355" y="152400"/>
                  </a:lnTo>
                  <a:lnTo>
                    <a:pt x="935355" y="192024"/>
                  </a:lnTo>
                  <a:lnTo>
                    <a:pt x="1267460" y="192024"/>
                  </a:lnTo>
                  <a:lnTo>
                    <a:pt x="1267460" y="228600"/>
                  </a:lnTo>
                  <a:lnTo>
                    <a:pt x="1383284" y="173736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737104" y="4504943"/>
              <a:ext cx="255904" cy="688975"/>
            </a:xfrm>
            <a:custGeom>
              <a:avLst/>
              <a:gdLst/>
              <a:ahLst/>
              <a:cxnLst/>
              <a:rect l="l" t="t" r="r" b="b"/>
              <a:pathLst>
                <a:path w="255905" h="688975">
                  <a:moveTo>
                    <a:pt x="127762" y="0"/>
                  </a:moveTo>
                  <a:lnTo>
                    <a:pt x="78231" y="9651"/>
                  </a:lnTo>
                  <a:lnTo>
                    <a:pt x="37591" y="36575"/>
                  </a:lnTo>
                  <a:lnTo>
                    <a:pt x="10159" y="77088"/>
                  </a:lnTo>
                  <a:lnTo>
                    <a:pt x="0" y="128015"/>
                  </a:lnTo>
                  <a:lnTo>
                    <a:pt x="0" y="560704"/>
                  </a:lnTo>
                  <a:lnTo>
                    <a:pt x="10159" y="610234"/>
                  </a:lnTo>
                  <a:lnTo>
                    <a:pt x="37591" y="651001"/>
                  </a:lnTo>
                  <a:lnTo>
                    <a:pt x="78231" y="678560"/>
                  </a:lnTo>
                  <a:lnTo>
                    <a:pt x="127762" y="688720"/>
                  </a:lnTo>
                  <a:lnTo>
                    <a:pt x="177291" y="678560"/>
                  </a:lnTo>
                  <a:lnTo>
                    <a:pt x="217931" y="651001"/>
                  </a:lnTo>
                  <a:lnTo>
                    <a:pt x="245363" y="610234"/>
                  </a:lnTo>
                  <a:lnTo>
                    <a:pt x="255523" y="560704"/>
                  </a:lnTo>
                  <a:lnTo>
                    <a:pt x="255523" y="128015"/>
                  </a:lnTo>
                  <a:lnTo>
                    <a:pt x="245363" y="77088"/>
                  </a:lnTo>
                  <a:lnTo>
                    <a:pt x="217931" y="36575"/>
                  </a:lnTo>
                  <a:lnTo>
                    <a:pt x="177291" y="9651"/>
                  </a:lnTo>
                  <a:lnTo>
                    <a:pt x="127762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737104" y="4504943"/>
              <a:ext cx="255904" cy="688975"/>
            </a:xfrm>
            <a:custGeom>
              <a:avLst/>
              <a:gdLst/>
              <a:ahLst/>
              <a:cxnLst/>
              <a:rect l="l" t="t" r="r" b="b"/>
              <a:pathLst>
                <a:path w="255905" h="688975">
                  <a:moveTo>
                    <a:pt x="127762" y="0"/>
                  </a:moveTo>
                  <a:lnTo>
                    <a:pt x="78231" y="9651"/>
                  </a:lnTo>
                  <a:lnTo>
                    <a:pt x="37591" y="36575"/>
                  </a:lnTo>
                  <a:lnTo>
                    <a:pt x="10159" y="77088"/>
                  </a:lnTo>
                  <a:lnTo>
                    <a:pt x="0" y="128015"/>
                  </a:lnTo>
                  <a:lnTo>
                    <a:pt x="0" y="560704"/>
                  </a:lnTo>
                  <a:lnTo>
                    <a:pt x="10159" y="610234"/>
                  </a:lnTo>
                  <a:lnTo>
                    <a:pt x="37591" y="651001"/>
                  </a:lnTo>
                  <a:lnTo>
                    <a:pt x="78231" y="678560"/>
                  </a:lnTo>
                  <a:lnTo>
                    <a:pt x="127762" y="688720"/>
                  </a:lnTo>
                  <a:lnTo>
                    <a:pt x="177291" y="678560"/>
                  </a:lnTo>
                  <a:lnTo>
                    <a:pt x="217931" y="651001"/>
                  </a:lnTo>
                  <a:lnTo>
                    <a:pt x="245363" y="610234"/>
                  </a:lnTo>
                  <a:lnTo>
                    <a:pt x="255523" y="560704"/>
                  </a:lnTo>
                  <a:lnTo>
                    <a:pt x="255523" y="128015"/>
                  </a:lnTo>
                  <a:lnTo>
                    <a:pt x="245363" y="77088"/>
                  </a:lnTo>
                  <a:lnTo>
                    <a:pt x="217931" y="36575"/>
                  </a:lnTo>
                  <a:lnTo>
                    <a:pt x="177291" y="9651"/>
                  </a:lnTo>
                  <a:lnTo>
                    <a:pt x="127762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21280" y="4965191"/>
              <a:ext cx="77215" cy="112521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036064" y="5001640"/>
              <a:ext cx="701040" cy="40005"/>
            </a:xfrm>
            <a:custGeom>
              <a:avLst/>
              <a:gdLst/>
              <a:ahLst/>
              <a:cxnLst/>
              <a:rect l="l" t="t" r="r" b="b"/>
              <a:pathLst>
                <a:path w="701039" h="40004">
                  <a:moveTo>
                    <a:pt x="585203" y="88"/>
                  </a:moveTo>
                  <a:lnTo>
                    <a:pt x="0" y="88"/>
                  </a:lnTo>
                  <a:lnTo>
                    <a:pt x="0" y="39624"/>
                  </a:lnTo>
                  <a:lnTo>
                    <a:pt x="585203" y="39624"/>
                  </a:lnTo>
                  <a:lnTo>
                    <a:pt x="585203" y="88"/>
                  </a:lnTo>
                  <a:close/>
                </a:path>
                <a:path w="701039" h="40004">
                  <a:moveTo>
                    <a:pt x="701040" y="18288"/>
                  </a:moveTo>
                  <a:lnTo>
                    <a:pt x="662432" y="0"/>
                  </a:lnTo>
                  <a:lnTo>
                    <a:pt x="606552" y="0"/>
                  </a:lnTo>
                  <a:lnTo>
                    <a:pt x="606552" y="39624"/>
                  </a:lnTo>
                  <a:lnTo>
                    <a:pt x="658368" y="39624"/>
                  </a:lnTo>
                  <a:lnTo>
                    <a:pt x="701040" y="18288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417064" y="4099559"/>
              <a:ext cx="0" cy="920750"/>
            </a:xfrm>
            <a:custGeom>
              <a:avLst/>
              <a:gdLst/>
              <a:ahLst/>
              <a:cxnLst/>
              <a:rect l="l" t="t" r="r" b="b"/>
              <a:pathLst>
                <a:path w="0" h="920750">
                  <a:moveTo>
                    <a:pt x="0" y="920241"/>
                  </a:moveTo>
                  <a:lnTo>
                    <a:pt x="0" y="0"/>
                  </a:lnTo>
                </a:path>
              </a:pathLst>
            </a:custGeom>
            <a:ln w="39624">
              <a:solidFill>
                <a:srgbClr val="3980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4462272" y="3928871"/>
              <a:ext cx="637540" cy="402590"/>
            </a:xfrm>
            <a:custGeom>
              <a:avLst/>
              <a:gdLst/>
              <a:ahLst/>
              <a:cxnLst/>
              <a:rect l="l" t="t" r="r" b="b"/>
              <a:pathLst>
                <a:path w="637539" h="402589">
                  <a:moveTo>
                    <a:pt x="637031" y="0"/>
                  </a:moveTo>
                  <a:lnTo>
                    <a:pt x="0" y="0"/>
                  </a:lnTo>
                  <a:lnTo>
                    <a:pt x="0" y="402336"/>
                  </a:lnTo>
                  <a:lnTo>
                    <a:pt x="637031" y="402336"/>
                  </a:lnTo>
                  <a:lnTo>
                    <a:pt x="637031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462272" y="3928871"/>
              <a:ext cx="637540" cy="402590"/>
            </a:xfrm>
            <a:custGeom>
              <a:avLst/>
              <a:gdLst/>
              <a:ahLst/>
              <a:cxnLst/>
              <a:rect l="l" t="t" r="r" b="b"/>
              <a:pathLst>
                <a:path w="637539" h="402589">
                  <a:moveTo>
                    <a:pt x="0" y="402336"/>
                  </a:moveTo>
                  <a:lnTo>
                    <a:pt x="637031" y="402336"/>
                  </a:lnTo>
                  <a:lnTo>
                    <a:pt x="637031" y="0"/>
                  </a:lnTo>
                  <a:lnTo>
                    <a:pt x="0" y="0"/>
                  </a:lnTo>
                  <a:lnTo>
                    <a:pt x="0" y="4023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1736598" y="5272277"/>
            <a:ext cx="488950" cy="607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1435">
              <a:lnSpc>
                <a:spcPct val="100000"/>
              </a:lnSpc>
              <a:spcBef>
                <a:spcPts val="100"/>
              </a:spcBef>
            </a:pPr>
            <a:r>
              <a:rPr dirty="0" sz="2000" spc="-50" b="1">
                <a:solidFill>
                  <a:srgbClr val="39802D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25"/>
              </a:spcBef>
            </a:pPr>
            <a:r>
              <a:rPr dirty="0" sz="1800" spc="-25" b="1">
                <a:solidFill>
                  <a:srgbClr val="39802D"/>
                </a:solidFill>
                <a:latin typeface="Times New Roman"/>
                <a:cs typeface="Times New Roman"/>
              </a:rPr>
              <a:t>Imm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463802" y="4510277"/>
            <a:ext cx="552450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3970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39802D"/>
                </a:solidFill>
                <a:latin typeface="Times New Roman"/>
                <a:cs typeface="Times New Roman"/>
              </a:rPr>
              <a:t>NPC</a:t>
            </a:r>
            <a:endParaRPr sz="20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sz="2000" spc="-50" b="1">
                <a:solidFill>
                  <a:srgbClr val="39802D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471542" y="3946016"/>
            <a:ext cx="61277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0" b="1">
                <a:latin typeface="Times New Roman"/>
                <a:cs typeface="Times New Roman"/>
              </a:rPr>
              <a:t>Cond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2228088" y="3425952"/>
            <a:ext cx="6001385" cy="3191510"/>
            <a:chOff x="2228088" y="3425952"/>
            <a:chExt cx="6001385" cy="3191510"/>
          </a:xfrm>
        </p:grpSpPr>
        <p:sp>
          <p:nvSpPr>
            <p:cNvPr id="55" name="object 55"/>
            <p:cNvSpPr/>
            <p:nvPr/>
          </p:nvSpPr>
          <p:spPr>
            <a:xfrm>
              <a:off x="2228088" y="3584447"/>
              <a:ext cx="4916170" cy="572770"/>
            </a:xfrm>
            <a:custGeom>
              <a:avLst/>
              <a:gdLst/>
              <a:ahLst/>
              <a:cxnLst/>
              <a:rect l="l" t="t" r="r" b="b"/>
              <a:pathLst>
                <a:path w="4916170" h="572770">
                  <a:moveTo>
                    <a:pt x="2234057" y="514731"/>
                  </a:moveTo>
                  <a:lnTo>
                    <a:pt x="2121281" y="459994"/>
                  </a:lnTo>
                  <a:lnTo>
                    <a:pt x="2121281" y="496443"/>
                  </a:lnTo>
                  <a:lnTo>
                    <a:pt x="1914017" y="496443"/>
                  </a:lnTo>
                  <a:lnTo>
                    <a:pt x="1914017" y="536067"/>
                  </a:lnTo>
                  <a:lnTo>
                    <a:pt x="2121281" y="536067"/>
                  </a:lnTo>
                  <a:lnTo>
                    <a:pt x="2121281" y="572643"/>
                  </a:lnTo>
                  <a:lnTo>
                    <a:pt x="2234057" y="514731"/>
                  </a:lnTo>
                  <a:close/>
                </a:path>
                <a:path w="4916170" h="572770">
                  <a:moveTo>
                    <a:pt x="4916043" y="57912"/>
                  </a:moveTo>
                  <a:lnTo>
                    <a:pt x="4800219" y="0"/>
                  </a:lnTo>
                  <a:lnTo>
                    <a:pt x="4800219" y="39624"/>
                  </a:lnTo>
                  <a:lnTo>
                    <a:pt x="0" y="39624"/>
                  </a:lnTo>
                  <a:lnTo>
                    <a:pt x="0" y="76200"/>
                  </a:lnTo>
                  <a:lnTo>
                    <a:pt x="4800219" y="76200"/>
                  </a:lnTo>
                  <a:lnTo>
                    <a:pt x="4800219" y="115697"/>
                  </a:lnTo>
                  <a:lnTo>
                    <a:pt x="4916043" y="57912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7144511" y="3468624"/>
              <a:ext cx="191770" cy="518159"/>
            </a:xfrm>
            <a:custGeom>
              <a:avLst/>
              <a:gdLst/>
              <a:ahLst/>
              <a:cxnLst/>
              <a:rect l="l" t="t" r="r" b="b"/>
              <a:pathLst>
                <a:path w="191770" h="518160">
                  <a:moveTo>
                    <a:pt x="94361" y="0"/>
                  </a:moveTo>
                  <a:lnTo>
                    <a:pt x="57785" y="7492"/>
                  </a:lnTo>
                  <a:lnTo>
                    <a:pt x="27813" y="28193"/>
                  </a:lnTo>
                  <a:lnTo>
                    <a:pt x="7493" y="59181"/>
                  </a:lnTo>
                  <a:lnTo>
                    <a:pt x="0" y="97536"/>
                  </a:lnTo>
                  <a:lnTo>
                    <a:pt x="0" y="420624"/>
                  </a:lnTo>
                  <a:lnTo>
                    <a:pt x="7493" y="458977"/>
                  </a:lnTo>
                  <a:lnTo>
                    <a:pt x="27813" y="489965"/>
                  </a:lnTo>
                  <a:lnTo>
                    <a:pt x="57785" y="510666"/>
                  </a:lnTo>
                  <a:lnTo>
                    <a:pt x="94361" y="518160"/>
                  </a:lnTo>
                  <a:lnTo>
                    <a:pt x="132588" y="510666"/>
                  </a:lnTo>
                  <a:lnTo>
                    <a:pt x="163449" y="489965"/>
                  </a:lnTo>
                  <a:lnTo>
                    <a:pt x="184150" y="458977"/>
                  </a:lnTo>
                  <a:lnTo>
                    <a:pt x="191643" y="420624"/>
                  </a:lnTo>
                  <a:lnTo>
                    <a:pt x="191643" y="97536"/>
                  </a:lnTo>
                  <a:lnTo>
                    <a:pt x="184150" y="59181"/>
                  </a:lnTo>
                  <a:lnTo>
                    <a:pt x="163449" y="28193"/>
                  </a:lnTo>
                  <a:lnTo>
                    <a:pt x="132588" y="7492"/>
                  </a:lnTo>
                  <a:lnTo>
                    <a:pt x="94361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7144511" y="3468624"/>
              <a:ext cx="191770" cy="518159"/>
            </a:xfrm>
            <a:custGeom>
              <a:avLst/>
              <a:gdLst/>
              <a:ahLst/>
              <a:cxnLst/>
              <a:rect l="l" t="t" r="r" b="b"/>
              <a:pathLst>
                <a:path w="191770" h="518160">
                  <a:moveTo>
                    <a:pt x="94361" y="0"/>
                  </a:moveTo>
                  <a:lnTo>
                    <a:pt x="57785" y="7492"/>
                  </a:lnTo>
                  <a:lnTo>
                    <a:pt x="27813" y="28193"/>
                  </a:lnTo>
                  <a:lnTo>
                    <a:pt x="7493" y="59181"/>
                  </a:lnTo>
                  <a:lnTo>
                    <a:pt x="0" y="97536"/>
                  </a:lnTo>
                  <a:lnTo>
                    <a:pt x="0" y="420624"/>
                  </a:lnTo>
                  <a:lnTo>
                    <a:pt x="7493" y="458977"/>
                  </a:lnTo>
                  <a:lnTo>
                    <a:pt x="27813" y="489965"/>
                  </a:lnTo>
                  <a:lnTo>
                    <a:pt x="57785" y="510666"/>
                  </a:lnTo>
                  <a:lnTo>
                    <a:pt x="94361" y="518160"/>
                  </a:lnTo>
                  <a:lnTo>
                    <a:pt x="132588" y="510666"/>
                  </a:lnTo>
                  <a:lnTo>
                    <a:pt x="163449" y="489965"/>
                  </a:lnTo>
                  <a:lnTo>
                    <a:pt x="184150" y="458977"/>
                  </a:lnTo>
                  <a:lnTo>
                    <a:pt x="191643" y="420624"/>
                  </a:lnTo>
                  <a:lnTo>
                    <a:pt x="191643" y="97536"/>
                  </a:lnTo>
                  <a:lnTo>
                    <a:pt x="184150" y="59181"/>
                  </a:lnTo>
                  <a:lnTo>
                    <a:pt x="163449" y="28193"/>
                  </a:lnTo>
                  <a:lnTo>
                    <a:pt x="132588" y="7492"/>
                  </a:lnTo>
                  <a:lnTo>
                    <a:pt x="94361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13395" y="3642360"/>
              <a:ext cx="77215" cy="112522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7336536" y="3678808"/>
              <a:ext cx="892810" cy="40005"/>
            </a:xfrm>
            <a:custGeom>
              <a:avLst/>
              <a:gdLst/>
              <a:ahLst/>
              <a:cxnLst/>
              <a:rect l="l" t="t" r="r" b="b"/>
              <a:pathLst>
                <a:path w="892809" h="40004">
                  <a:moveTo>
                    <a:pt x="776897" y="88"/>
                  </a:moveTo>
                  <a:lnTo>
                    <a:pt x="0" y="88"/>
                  </a:lnTo>
                  <a:lnTo>
                    <a:pt x="0" y="39624"/>
                  </a:lnTo>
                  <a:lnTo>
                    <a:pt x="776897" y="39624"/>
                  </a:lnTo>
                  <a:lnTo>
                    <a:pt x="776897" y="88"/>
                  </a:lnTo>
                  <a:close/>
                </a:path>
                <a:path w="892809" h="40004">
                  <a:moveTo>
                    <a:pt x="892683" y="21336"/>
                  </a:moveTo>
                  <a:lnTo>
                    <a:pt x="850011" y="0"/>
                  </a:lnTo>
                  <a:lnTo>
                    <a:pt x="798195" y="0"/>
                  </a:lnTo>
                  <a:lnTo>
                    <a:pt x="798195" y="39624"/>
                  </a:lnTo>
                  <a:lnTo>
                    <a:pt x="854075" y="39624"/>
                  </a:lnTo>
                  <a:lnTo>
                    <a:pt x="892683" y="21336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7592567" y="5596128"/>
              <a:ext cx="0" cy="402590"/>
            </a:xfrm>
            <a:custGeom>
              <a:avLst/>
              <a:gdLst/>
              <a:ahLst/>
              <a:cxnLst/>
              <a:rect l="l" t="t" r="r" b="b"/>
              <a:pathLst>
                <a:path w="0" h="402589">
                  <a:moveTo>
                    <a:pt x="0" y="402082"/>
                  </a:moveTo>
                  <a:lnTo>
                    <a:pt x="0" y="0"/>
                  </a:lnTo>
                </a:path>
              </a:pathLst>
            </a:custGeom>
            <a:ln w="39624">
              <a:solidFill>
                <a:srgbClr val="3980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5256215" y="3425952"/>
              <a:ext cx="0" cy="3191510"/>
            </a:xfrm>
            <a:custGeom>
              <a:avLst/>
              <a:gdLst/>
              <a:ahLst/>
              <a:cxnLst/>
              <a:rect l="l" t="t" r="r" b="b"/>
              <a:pathLst>
                <a:path w="0" h="3191509">
                  <a:moveTo>
                    <a:pt x="0" y="0"/>
                  </a:moveTo>
                  <a:lnTo>
                    <a:pt x="0" y="3191002"/>
                  </a:lnTo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5181346" y="2330322"/>
            <a:ext cx="3098800" cy="76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39802D"/>
                </a:solidFill>
                <a:latin typeface="Times New Roman"/>
                <a:cs typeface="Times New Roman"/>
              </a:rPr>
              <a:t>Store</a:t>
            </a:r>
            <a:r>
              <a:rPr dirty="0" sz="2400" spc="-30">
                <a:solidFill>
                  <a:srgbClr val="39802D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39802D"/>
                </a:solidFill>
                <a:latin typeface="Times New Roman"/>
                <a:cs typeface="Times New Roman"/>
              </a:rPr>
              <a:t>Instr</a:t>
            </a:r>
            <a:endParaRPr sz="2400">
              <a:latin typeface="Times New Roman"/>
              <a:cs typeface="Times New Roman"/>
            </a:endParaRPr>
          </a:p>
          <a:p>
            <a:pPr algn="ctr" marL="406400">
              <a:lnSpc>
                <a:spcPct val="100000"/>
              </a:lnSpc>
              <a:spcBef>
                <a:spcPts val="25"/>
              </a:spcBef>
              <a:tabLst>
                <a:tab pos="2869565" algn="l"/>
              </a:tabLst>
            </a:pPr>
            <a:r>
              <a:rPr dirty="0" sz="2400" spc="-10">
                <a:latin typeface="Times New Roman"/>
                <a:cs typeface="Times New Roman"/>
              </a:rPr>
              <a:t>Mem[ALUOut]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5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14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1145235" y="2363851"/>
            <a:ext cx="12820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39802D"/>
                </a:solidFill>
                <a:latin typeface="Times New Roman"/>
                <a:cs typeface="Times New Roman"/>
              </a:rPr>
              <a:t>Load</a:t>
            </a:r>
            <a:r>
              <a:rPr dirty="0" sz="2400" spc="-15">
                <a:solidFill>
                  <a:srgbClr val="39802D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39802D"/>
                </a:solidFill>
                <a:latin typeface="Times New Roman"/>
                <a:cs typeface="Times New Roman"/>
              </a:rPr>
              <a:t>Instr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434846" y="2729610"/>
            <a:ext cx="6972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Times New Roman"/>
                <a:cs typeface="Times New Roman"/>
              </a:rPr>
              <a:t>LMD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718307" y="2729610"/>
            <a:ext cx="18700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imes New Roman"/>
                <a:cs typeface="Times New Roman"/>
              </a:rPr>
              <a:t>Mem[ALUout]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Instruction</a:t>
            </a:r>
            <a:r>
              <a:rPr dirty="0" spc="-215"/>
              <a:t> </a:t>
            </a:r>
            <a:r>
              <a:rPr dirty="0" spc="-140"/>
              <a:t>Execution….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2835" y="1567758"/>
            <a:ext cx="2823210" cy="96520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3000">
                <a:solidFill>
                  <a:srgbClr val="CC3300"/>
                </a:solidFill>
                <a:latin typeface="Arial MT"/>
                <a:cs typeface="Arial MT"/>
              </a:rPr>
              <a:t>Write</a:t>
            </a:r>
            <a:r>
              <a:rPr dirty="0" sz="3000" spc="-9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CC3300"/>
                </a:solidFill>
                <a:latin typeface="Arial MT"/>
                <a:cs typeface="Arial MT"/>
              </a:rPr>
              <a:t>Back</a:t>
            </a:r>
            <a:r>
              <a:rPr dirty="0" sz="3000" spc="-85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3000" spc="-20">
                <a:solidFill>
                  <a:srgbClr val="CC3300"/>
                </a:solidFill>
                <a:latin typeface="Arial MT"/>
                <a:cs typeface="Arial MT"/>
              </a:rPr>
              <a:t>(WB)</a:t>
            </a:r>
            <a:endParaRPr sz="3000">
              <a:latin typeface="Arial MT"/>
              <a:cs typeface="Arial MT"/>
            </a:endParaRPr>
          </a:p>
          <a:p>
            <a:pPr marL="356870">
              <a:lnSpc>
                <a:spcPct val="100000"/>
              </a:lnSpc>
              <a:spcBef>
                <a:spcPts val="315"/>
              </a:spcBef>
            </a:pPr>
            <a:r>
              <a:rPr dirty="0" sz="2600">
                <a:solidFill>
                  <a:srgbClr val="39802D"/>
                </a:solidFill>
                <a:latin typeface="Arial MT"/>
                <a:cs typeface="Arial MT"/>
              </a:rPr>
              <a:t>ALU</a:t>
            </a:r>
            <a:r>
              <a:rPr dirty="0" sz="2600" spc="-90">
                <a:solidFill>
                  <a:srgbClr val="39802D"/>
                </a:solidFill>
                <a:latin typeface="Arial MT"/>
                <a:cs typeface="Arial MT"/>
              </a:rPr>
              <a:t> </a:t>
            </a:r>
            <a:r>
              <a:rPr dirty="0" sz="2600" spc="-20">
                <a:solidFill>
                  <a:srgbClr val="39802D"/>
                </a:solidFill>
                <a:latin typeface="Arial MT"/>
                <a:cs typeface="Arial MT"/>
              </a:rPr>
              <a:t>Inst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7310" y="2513212"/>
            <a:ext cx="2225040" cy="119951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338455">
              <a:lnSpc>
                <a:spcPct val="100000"/>
              </a:lnSpc>
              <a:spcBef>
                <a:spcPts val="340"/>
              </a:spcBef>
            </a:pPr>
            <a:r>
              <a:rPr dirty="0" sz="2200" spc="-10">
                <a:latin typeface="Arial MT"/>
                <a:cs typeface="Arial MT"/>
              </a:rPr>
              <a:t>RegisterFile[rd]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2600">
                <a:solidFill>
                  <a:srgbClr val="39802D"/>
                </a:solidFill>
                <a:latin typeface="Arial MT"/>
                <a:cs typeface="Arial MT"/>
              </a:rPr>
              <a:t>Load</a:t>
            </a:r>
            <a:r>
              <a:rPr dirty="0" sz="2600" spc="-120">
                <a:solidFill>
                  <a:srgbClr val="39802D"/>
                </a:solidFill>
                <a:latin typeface="Arial MT"/>
                <a:cs typeface="Arial MT"/>
              </a:rPr>
              <a:t> </a:t>
            </a:r>
            <a:r>
              <a:rPr dirty="0" sz="2600" spc="-20">
                <a:solidFill>
                  <a:srgbClr val="39802D"/>
                </a:solidFill>
                <a:latin typeface="Arial MT"/>
                <a:cs typeface="Arial MT"/>
              </a:rPr>
              <a:t>Inst</a:t>
            </a:r>
            <a:endParaRPr sz="2600">
              <a:latin typeface="Arial MT"/>
              <a:cs typeface="Arial MT"/>
            </a:endParaRPr>
          </a:p>
          <a:p>
            <a:pPr marL="338455">
              <a:lnSpc>
                <a:spcPct val="100000"/>
              </a:lnSpc>
              <a:spcBef>
                <a:spcPts val="305"/>
              </a:spcBef>
            </a:pPr>
            <a:r>
              <a:rPr dirty="0" sz="2200" spc="-10">
                <a:latin typeface="Arial MT"/>
                <a:cs typeface="Arial MT"/>
              </a:rPr>
              <a:t>RegisterFile[rt]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42891" y="2544317"/>
            <a:ext cx="94932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>
                <a:latin typeface="Arial MT"/>
                <a:cs typeface="Arial MT"/>
              </a:rPr>
              <a:t>ALUout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43780" y="3348685"/>
            <a:ext cx="60833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25">
                <a:latin typeface="Arial MT"/>
                <a:cs typeface="Arial MT"/>
              </a:rPr>
              <a:t>LMD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7310" y="3647398"/>
            <a:ext cx="3523615" cy="120269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algn="just" marL="417830" marR="5080" indent="-405765">
              <a:lnSpc>
                <a:spcPct val="109100"/>
              </a:lnSpc>
              <a:spcBef>
                <a:spcPts val="160"/>
              </a:spcBef>
            </a:pPr>
            <a:r>
              <a:rPr dirty="0" sz="2600">
                <a:solidFill>
                  <a:srgbClr val="39802D"/>
                </a:solidFill>
                <a:latin typeface="Arial MT"/>
                <a:cs typeface="Arial MT"/>
              </a:rPr>
              <a:t>Conditional</a:t>
            </a:r>
            <a:r>
              <a:rPr dirty="0" sz="2600" spc="280">
                <a:solidFill>
                  <a:srgbClr val="39802D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39802D"/>
                </a:solidFill>
                <a:latin typeface="Arial MT"/>
                <a:cs typeface="Arial MT"/>
              </a:rPr>
              <a:t>Branch</a:t>
            </a:r>
            <a:r>
              <a:rPr dirty="0" sz="2600" spc="280">
                <a:solidFill>
                  <a:srgbClr val="39802D"/>
                </a:solidFill>
                <a:latin typeface="Arial MT"/>
                <a:cs typeface="Arial MT"/>
              </a:rPr>
              <a:t> </a:t>
            </a:r>
            <a:r>
              <a:rPr dirty="0" sz="2600" spc="-20">
                <a:solidFill>
                  <a:srgbClr val="39802D"/>
                </a:solidFill>
                <a:latin typeface="Arial MT"/>
                <a:cs typeface="Arial MT"/>
              </a:rPr>
              <a:t>Inst </a:t>
            </a:r>
            <a:r>
              <a:rPr dirty="0" sz="2200">
                <a:latin typeface="Arial MT"/>
                <a:cs typeface="Arial MT"/>
              </a:rPr>
              <a:t>PC</a:t>
            </a:r>
            <a:r>
              <a:rPr dirty="0" sz="2200" spc="400">
                <a:latin typeface="Arial MT"/>
                <a:cs typeface="Arial MT"/>
              </a:rPr>
              <a:t>    </a:t>
            </a:r>
            <a:r>
              <a:rPr dirty="0" sz="2200" spc="-75">
                <a:latin typeface="Arial MT"/>
                <a:cs typeface="Arial MT"/>
              </a:rPr>
              <a:t>ALU-</a:t>
            </a:r>
            <a:r>
              <a:rPr dirty="0" sz="2200">
                <a:latin typeface="Arial MT"/>
                <a:cs typeface="Arial MT"/>
              </a:rPr>
              <a:t>out</a:t>
            </a:r>
            <a:r>
              <a:rPr dirty="0" sz="2200" spc="185">
                <a:latin typeface="Arial MT"/>
                <a:cs typeface="Arial MT"/>
              </a:rPr>
              <a:t>  </a:t>
            </a:r>
            <a:r>
              <a:rPr dirty="0" sz="2200">
                <a:latin typeface="Arial MT"/>
                <a:cs typeface="Arial MT"/>
              </a:rPr>
              <a:t>if</a:t>
            </a:r>
            <a:r>
              <a:rPr dirty="0" sz="2200" spc="200">
                <a:latin typeface="Arial MT"/>
                <a:cs typeface="Arial MT"/>
              </a:rPr>
              <a:t>  </a:t>
            </a:r>
            <a:r>
              <a:rPr dirty="0" sz="2200" spc="-45">
                <a:latin typeface="Arial MT"/>
                <a:cs typeface="Arial MT"/>
              </a:rPr>
              <a:t>Cond </a:t>
            </a:r>
            <a:r>
              <a:rPr dirty="0" sz="2200">
                <a:latin typeface="Arial MT"/>
                <a:cs typeface="Arial MT"/>
              </a:rPr>
              <a:t>PC</a:t>
            </a:r>
            <a:r>
              <a:rPr dirty="0" sz="2200" spc="434">
                <a:latin typeface="Arial MT"/>
                <a:cs typeface="Arial MT"/>
              </a:rPr>
              <a:t>    </a:t>
            </a:r>
            <a:r>
              <a:rPr dirty="0" sz="2200">
                <a:latin typeface="Arial MT"/>
                <a:cs typeface="Arial MT"/>
              </a:rPr>
              <a:t>NPC</a:t>
            </a:r>
            <a:r>
              <a:rPr dirty="0" sz="2200" spc="5">
                <a:latin typeface="Arial MT"/>
                <a:cs typeface="Arial MT"/>
              </a:rPr>
              <a:t>  </a:t>
            </a:r>
            <a:r>
              <a:rPr dirty="0" sz="2200" spc="-10">
                <a:latin typeface="Arial MT"/>
                <a:cs typeface="Arial MT"/>
              </a:rPr>
              <a:t>otherwise</a:t>
            </a:r>
            <a:endParaRPr sz="22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25039" y="4282440"/>
            <a:ext cx="381000" cy="128270"/>
            <a:chOff x="2225039" y="4282440"/>
            <a:chExt cx="381000" cy="12827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25039" y="4282440"/>
              <a:ext cx="131064" cy="12776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261616" y="4331080"/>
              <a:ext cx="344805" cy="30480"/>
            </a:xfrm>
            <a:custGeom>
              <a:avLst/>
              <a:gdLst/>
              <a:ahLst/>
              <a:cxnLst/>
              <a:rect l="l" t="t" r="r" b="b"/>
              <a:pathLst>
                <a:path w="344805" h="30479">
                  <a:moveTo>
                    <a:pt x="344424" y="0"/>
                  </a:moveTo>
                  <a:lnTo>
                    <a:pt x="48006" y="0"/>
                  </a:lnTo>
                  <a:lnTo>
                    <a:pt x="42672" y="3048"/>
                  </a:lnTo>
                  <a:lnTo>
                    <a:pt x="0" y="3048"/>
                  </a:lnTo>
                  <a:lnTo>
                    <a:pt x="0" y="27432"/>
                  </a:lnTo>
                  <a:lnTo>
                    <a:pt x="42672" y="27432"/>
                  </a:lnTo>
                  <a:lnTo>
                    <a:pt x="48006" y="30480"/>
                  </a:lnTo>
                  <a:lnTo>
                    <a:pt x="344424" y="30480"/>
                  </a:lnTo>
                  <a:lnTo>
                    <a:pt x="3444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3764279" y="3474720"/>
            <a:ext cx="381000" cy="130810"/>
            <a:chOff x="3764279" y="3474720"/>
            <a:chExt cx="381000" cy="13081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64279" y="3474720"/>
              <a:ext cx="131064" cy="13068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800856" y="3526408"/>
              <a:ext cx="344805" cy="27305"/>
            </a:xfrm>
            <a:custGeom>
              <a:avLst/>
              <a:gdLst/>
              <a:ahLst/>
              <a:cxnLst/>
              <a:rect l="l" t="t" r="r" b="b"/>
              <a:pathLst>
                <a:path w="344804" h="27304">
                  <a:moveTo>
                    <a:pt x="344424" y="0"/>
                  </a:moveTo>
                  <a:lnTo>
                    <a:pt x="42672" y="0"/>
                  </a:lnTo>
                  <a:lnTo>
                    <a:pt x="0" y="0"/>
                  </a:lnTo>
                  <a:lnTo>
                    <a:pt x="0" y="24257"/>
                  </a:lnTo>
                  <a:lnTo>
                    <a:pt x="40132" y="24257"/>
                  </a:lnTo>
                  <a:lnTo>
                    <a:pt x="20701" y="12446"/>
                  </a:lnTo>
                  <a:lnTo>
                    <a:pt x="45212" y="27305"/>
                  </a:lnTo>
                  <a:lnTo>
                    <a:pt x="344424" y="27305"/>
                  </a:lnTo>
                  <a:lnTo>
                    <a:pt x="3444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2191511" y="4663440"/>
            <a:ext cx="381000" cy="133985"/>
            <a:chOff x="2191511" y="4663440"/>
            <a:chExt cx="381000" cy="13398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1511" y="4663440"/>
              <a:ext cx="128015" cy="13360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225040" y="4715002"/>
              <a:ext cx="347980" cy="30480"/>
            </a:xfrm>
            <a:custGeom>
              <a:avLst/>
              <a:gdLst/>
              <a:ahLst/>
              <a:cxnLst/>
              <a:rect l="l" t="t" r="r" b="b"/>
              <a:pathLst>
                <a:path w="347980" h="30479">
                  <a:moveTo>
                    <a:pt x="347472" y="0"/>
                  </a:moveTo>
                  <a:lnTo>
                    <a:pt x="49657" y="0"/>
                  </a:lnTo>
                  <a:lnTo>
                    <a:pt x="44145" y="3048"/>
                  </a:lnTo>
                  <a:lnTo>
                    <a:pt x="0" y="3048"/>
                  </a:lnTo>
                  <a:lnTo>
                    <a:pt x="0" y="27432"/>
                  </a:lnTo>
                  <a:lnTo>
                    <a:pt x="44145" y="27432"/>
                  </a:lnTo>
                  <a:lnTo>
                    <a:pt x="49657" y="30480"/>
                  </a:lnTo>
                  <a:lnTo>
                    <a:pt x="347472" y="30480"/>
                  </a:lnTo>
                  <a:lnTo>
                    <a:pt x="3474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3764279" y="2667000"/>
            <a:ext cx="381000" cy="133985"/>
            <a:chOff x="3764279" y="2667000"/>
            <a:chExt cx="381000" cy="133985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64279" y="2667000"/>
              <a:ext cx="131064" cy="13360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800856" y="2718561"/>
              <a:ext cx="344805" cy="30480"/>
            </a:xfrm>
            <a:custGeom>
              <a:avLst/>
              <a:gdLst/>
              <a:ahLst/>
              <a:cxnLst/>
              <a:rect l="l" t="t" r="r" b="b"/>
              <a:pathLst>
                <a:path w="344804" h="30480">
                  <a:moveTo>
                    <a:pt x="344424" y="0"/>
                  </a:moveTo>
                  <a:lnTo>
                    <a:pt x="45212" y="0"/>
                  </a:lnTo>
                  <a:lnTo>
                    <a:pt x="20701" y="14859"/>
                  </a:lnTo>
                  <a:lnTo>
                    <a:pt x="40132" y="3048"/>
                  </a:lnTo>
                  <a:lnTo>
                    <a:pt x="0" y="3048"/>
                  </a:lnTo>
                  <a:lnTo>
                    <a:pt x="0" y="27432"/>
                  </a:lnTo>
                  <a:lnTo>
                    <a:pt x="42672" y="27432"/>
                  </a:lnTo>
                  <a:lnTo>
                    <a:pt x="48006" y="30480"/>
                  </a:lnTo>
                  <a:lnTo>
                    <a:pt x="344424" y="30480"/>
                  </a:lnTo>
                  <a:lnTo>
                    <a:pt x="3444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0"/>
              <a:t>Inside</a:t>
            </a:r>
            <a:r>
              <a:rPr dirty="0" spc="-305"/>
              <a:t> </a:t>
            </a:r>
            <a:r>
              <a:rPr dirty="0" spc="-190"/>
              <a:t>the</a:t>
            </a:r>
            <a:r>
              <a:rPr dirty="0" spc="-320"/>
              <a:t> </a:t>
            </a:r>
            <a:r>
              <a:rPr dirty="0" spc="-335"/>
              <a:t>Processor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85800" y="1272477"/>
            <a:ext cx="8639810" cy="4727575"/>
            <a:chOff x="685800" y="1272477"/>
            <a:chExt cx="8639810" cy="4727575"/>
          </a:xfrm>
        </p:grpSpPr>
        <p:sp>
          <p:nvSpPr>
            <p:cNvPr id="4" name="object 4"/>
            <p:cNvSpPr/>
            <p:nvPr/>
          </p:nvSpPr>
          <p:spPr>
            <a:xfrm>
              <a:off x="3198815" y="1274065"/>
              <a:ext cx="0" cy="4724400"/>
            </a:xfrm>
            <a:custGeom>
              <a:avLst/>
              <a:gdLst/>
              <a:ahLst/>
              <a:cxnLst/>
              <a:rect l="l" t="t" r="r" b="b"/>
              <a:pathLst>
                <a:path w="0" h="4724400">
                  <a:moveTo>
                    <a:pt x="0" y="0"/>
                  </a:moveTo>
                  <a:lnTo>
                    <a:pt x="0" y="4724398"/>
                  </a:lnTo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220200" y="3563111"/>
              <a:ext cx="85090" cy="0"/>
            </a:xfrm>
            <a:custGeom>
              <a:avLst/>
              <a:gdLst/>
              <a:ahLst/>
              <a:cxnLst/>
              <a:rect l="l" t="t" r="r" b="b"/>
              <a:pathLst>
                <a:path w="85090" h="0">
                  <a:moveTo>
                    <a:pt x="84963" y="0"/>
                  </a:moveTo>
                  <a:lnTo>
                    <a:pt x="0" y="0"/>
                  </a:lnTo>
                </a:path>
              </a:pathLst>
            </a:custGeom>
            <a:ln w="39624">
              <a:solidFill>
                <a:srgbClr val="39802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3368039"/>
              <a:ext cx="316484" cy="11252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667255" y="3313176"/>
            <a:ext cx="497205" cy="756285"/>
          </a:xfrm>
          <a:prstGeom prst="rect">
            <a:avLst/>
          </a:prstGeom>
          <a:solidFill>
            <a:srgbClr val="FFFFCC"/>
          </a:solidFill>
          <a:ln w="9144">
            <a:solidFill>
              <a:srgbClr val="000000"/>
            </a:solidFill>
          </a:ln>
        </p:spPr>
        <p:txBody>
          <a:bodyPr wrap="square" lIns="0" tIns="635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endParaRPr sz="1400">
              <a:latin typeface="Times New Roman"/>
              <a:cs typeface="Times New Roman"/>
            </a:endParaRPr>
          </a:p>
          <a:p>
            <a:pPr marL="51435">
              <a:lnSpc>
                <a:spcPct val="100000"/>
              </a:lnSpc>
            </a:pPr>
            <a:r>
              <a:rPr dirty="0" sz="1400" spc="-25" b="1">
                <a:latin typeface="Times New Roman"/>
                <a:cs typeface="Times New Roman"/>
              </a:rPr>
              <a:t>Mem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53639" y="3313176"/>
            <a:ext cx="414655" cy="280670"/>
          </a:xfrm>
          <a:prstGeom prst="rect">
            <a:avLst/>
          </a:prstGeom>
          <a:solidFill>
            <a:srgbClr val="FFFFCC"/>
          </a:solidFill>
          <a:ln w="9144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82550">
              <a:lnSpc>
                <a:spcPts val="2045"/>
              </a:lnSpc>
            </a:pPr>
            <a:r>
              <a:rPr dirty="0" sz="1800" spc="-25" b="1">
                <a:latin typeface="Times New Roman"/>
                <a:cs typeface="Times New Roman"/>
              </a:rPr>
              <a:t>IR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77696" y="2476309"/>
            <a:ext cx="748665" cy="1053465"/>
            <a:chOff x="1377696" y="2476309"/>
            <a:chExt cx="748665" cy="105346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7696" y="3416808"/>
              <a:ext cx="289559" cy="11252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749552" y="2481072"/>
              <a:ext cx="372110" cy="633730"/>
            </a:xfrm>
            <a:custGeom>
              <a:avLst/>
              <a:gdLst/>
              <a:ahLst/>
              <a:cxnLst/>
              <a:rect l="l" t="t" r="r" b="b"/>
              <a:pathLst>
                <a:path w="372110" h="633730">
                  <a:moveTo>
                    <a:pt x="0" y="0"/>
                  </a:moveTo>
                  <a:lnTo>
                    <a:pt x="0" y="633602"/>
                  </a:lnTo>
                  <a:lnTo>
                    <a:pt x="371602" y="475233"/>
                  </a:lnTo>
                  <a:lnTo>
                    <a:pt x="371602" y="1583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749552" y="2481072"/>
              <a:ext cx="372110" cy="633730"/>
            </a:xfrm>
            <a:custGeom>
              <a:avLst/>
              <a:gdLst/>
              <a:ahLst/>
              <a:cxnLst/>
              <a:rect l="l" t="t" r="r" b="b"/>
              <a:pathLst>
                <a:path w="372110" h="633730">
                  <a:moveTo>
                    <a:pt x="0" y="0"/>
                  </a:moveTo>
                  <a:lnTo>
                    <a:pt x="371602" y="158368"/>
                  </a:lnTo>
                  <a:lnTo>
                    <a:pt x="371602" y="475233"/>
                  </a:lnTo>
                  <a:lnTo>
                    <a:pt x="0" y="633602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837182" y="2586354"/>
            <a:ext cx="19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02791" y="3313176"/>
            <a:ext cx="375285" cy="280670"/>
          </a:xfrm>
          <a:prstGeom prst="rect">
            <a:avLst/>
          </a:prstGeom>
          <a:solidFill>
            <a:srgbClr val="FFFFCC"/>
          </a:solidFill>
          <a:ln w="9143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52069">
              <a:lnSpc>
                <a:spcPct val="100000"/>
              </a:lnSpc>
              <a:spcBef>
                <a:spcPts val="35"/>
              </a:spcBef>
            </a:pPr>
            <a:r>
              <a:rPr dirty="0" sz="1600" spc="-25" b="1">
                <a:latin typeface="Times New Roman"/>
                <a:cs typeface="Times New Roman"/>
              </a:rPr>
              <a:t>PC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409253" y="2674429"/>
            <a:ext cx="424180" cy="287020"/>
            <a:chOff x="2409253" y="2674429"/>
            <a:chExt cx="424180" cy="287020"/>
          </a:xfrm>
        </p:grpSpPr>
        <p:sp>
          <p:nvSpPr>
            <p:cNvPr id="16" name="object 16"/>
            <p:cNvSpPr/>
            <p:nvPr/>
          </p:nvSpPr>
          <p:spPr>
            <a:xfrm>
              <a:off x="2414016" y="2679192"/>
              <a:ext cx="414655" cy="277495"/>
            </a:xfrm>
            <a:custGeom>
              <a:avLst/>
              <a:gdLst/>
              <a:ahLst/>
              <a:cxnLst/>
              <a:rect l="l" t="t" r="r" b="b"/>
              <a:pathLst>
                <a:path w="414655" h="277494">
                  <a:moveTo>
                    <a:pt x="414528" y="0"/>
                  </a:moveTo>
                  <a:lnTo>
                    <a:pt x="0" y="0"/>
                  </a:lnTo>
                  <a:lnTo>
                    <a:pt x="0" y="277367"/>
                  </a:lnTo>
                  <a:lnTo>
                    <a:pt x="414528" y="277367"/>
                  </a:lnTo>
                  <a:lnTo>
                    <a:pt x="414528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414016" y="2679192"/>
              <a:ext cx="414655" cy="277495"/>
            </a:xfrm>
            <a:custGeom>
              <a:avLst/>
              <a:gdLst/>
              <a:ahLst/>
              <a:cxnLst/>
              <a:rect l="l" t="t" r="r" b="b"/>
              <a:pathLst>
                <a:path w="414655" h="277494">
                  <a:moveTo>
                    <a:pt x="0" y="277367"/>
                  </a:moveTo>
                  <a:lnTo>
                    <a:pt x="414528" y="277367"/>
                  </a:lnTo>
                  <a:lnTo>
                    <a:pt x="414528" y="0"/>
                  </a:lnTo>
                  <a:lnTo>
                    <a:pt x="0" y="0"/>
                  </a:lnTo>
                  <a:lnTo>
                    <a:pt x="0" y="27736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2425954" y="2683891"/>
            <a:ext cx="3810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latin typeface="Times New Roman"/>
                <a:cs typeface="Times New Roman"/>
              </a:rPr>
              <a:t>NPC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65797" y="1866709"/>
            <a:ext cx="8574405" cy="2554605"/>
            <a:chOff x="665797" y="1866709"/>
            <a:chExt cx="8574405" cy="2554605"/>
          </a:xfrm>
        </p:grpSpPr>
        <p:sp>
          <p:nvSpPr>
            <p:cNvPr id="20" name="object 20"/>
            <p:cNvSpPr/>
            <p:nvPr/>
          </p:nvSpPr>
          <p:spPr>
            <a:xfrm>
              <a:off x="1447800" y="2877311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w="0" h="609600">
                  <a:moveTo>
                    <a:pt x="0" y="609600"/>
                  </a:moveTo>
                  <a:lnTo>
                    <a:pt x="0" y="0"/>
                  </a:lnTo>
                </a:path>
              </a:pathLst>
            </a:custGeom>
            <a:ln w="39624">
              <a:solidFill>
                <a:srgbClr val="3980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447800" y="2581655"/>
              <a:ext cx="1005840" cy="908050"/>
            </a:xfrm>
            <a:custGeom>
              <a:avLst/>
              <a:gdLst/>
              <a:ahLst/>
              <a:cxnLst/>
              <a:rect l="l" t="t" r="r" b="b"/>
              <a:pathLst>
                <a:path w="1005839" h="908050">
                  <a:moveTo>
                    <a:pt x="301752" y="57912"/>
                  </a:moveTo>
                  <a:lnTo>
                    <a:pt x="185915" y="0"/>
                  </a:lnTo>
                  <a:lnTo>
                    <a:pt x="185915" y="36576"/>
                  </a:lnTo>
                  <a:lnTo>
                    <a:pt x="12192" y="36576"/>
                  </a:lnTo>
                  <a:lnTo>
                    <a:pt x="12192" y="76200"/>
                  </a:lnTo>
                  <a:lnTo>
                    <a:pt x="185915" y="76200"/>
                  </a:lnTo>
                  <a:lnTo>
                    <a:pt x="185915" y="112776"/>
                  </a:lnTo>
                  <a:lnTo>
                    <a:pt x="301752" y="57912"/>
                  </a:lnTo>
                  <a:close/>
                </a:path>
                <a:path w="1005839" h="908050">
                  <a:moveTo>
                    <a:pt x="323088" y="295529"/>
                  </a:moveTo>
                  <a:lnTo>
                    <a:pt x="210312" y="237617"/>
                  </a:lnTo>
                  <a:lnTo>
                    <a:pt x="210312" y="274193"/>
                  </a:lnTo>
                  <a:lnTo>
                    <a:pt x="0" y="274193"/>
                  </a:lnTo>
                  <a:lnTo>
                    <a:pt x="0" y="313817"/>
                  </a:lnTo>
                  <a:lnTo>
                    <a:pt x="210312" y="313817"/>
                  </a:lnTo>
                  <a:lnTo>
                    <a:pt x="210312" y="350393"/>
                  </a:lnTo>
                  <a:lnTo>
                    <a:pt x="323088" y="295529"/>
                  </a:lnTo>
                  <a:close/>
                </a:path>
                <a:path w="1005839" h="908050">
                  <a:moveTo>
                    <a:pt x="966216" y="216281"/>
                  </a:moveTo>
                  <a:lnTo>
                    <a:pt x="850392" y="158369"/>
                  </a:lnTo>
                  <a:lnTo>
                    <a:pt x="850392" y="194945"/>
                  </a:lnTo>
                  <a:lnTo>
                    <a:pt x="673608" y="194945"/>
                  </a:lnTo>
                  <a:lnTo>
                    <a:pt x="673608" y="234569"/>
                  </a:lnTo>
                  <a:lnTo>
                    <a:pt x="850392" y="234569"/>
                  </a:lnTo>
                  <a:lnTo>
                    <a:pt x="850392" y="271145"/>
                  </a:lnTo>
                  <a:lnTo>
                    <a:pt x="966216" y="216281"/>
                  </a:lnTo>
                  <a:close/>
                </a:path>
                <a:path w="1005839" h="908050">
                  <a:moveTo>
                    <a:pt x="1005840" y="853059"/>
                  </a:moveTo>
                  <a:lnTo>
                    <a:pt x="893064" y="795147"/>
                  </a:lnTo>
                  <a:lnTo>
                    <a:pt x="893064" y="831723"/>
                  </a:lnTo>
                  <a:lnTo>
                    <a:pt x="716280" y="831723"/>
                  </a:lnTo>
                  <a:lnTo>
                    <a:pt x="716280" y="871347"/>
                  </a:lnTo>
                  <a:lnTo>
                    <a:pt x="893064" y="871347"/>
                  </a:lnTo>
                  <a:lnTo>
                    <a:pt x="893064" y="907923"/>
                  </a:lnTo>
                  <a:lnTo>
                    <a:pt x="1005840" y="853059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85799" y="1886712"/>
              <a:ext cx="8534400" cy="2514600"/>
            </a:xfrm>
            <a:custGeom>
              <a:avLst/>
              <a:gdLst/>
              <a:ahLst/>
              <a:cxnLst/>
              <a:rect l="l" t="t" r="r" b="b"/>
              <a:pathLst>
                <a:path w="8534400" h="2514600">
                  <a:moveTo>
                    <a:pt x="2209800" y="1524000"/>
                  </a:moveTo>
                  <a:lnTo>
                    <a:pt x="2438400" y="1524000"/>
                  </a:lnTo>
                </a:path>
                <a:path w="8534400" h="2514600">
                  <a:moveTo>
                    <a:pt x="0" y="1548384"/>
                  </a:moveTo>
                  <a:lnTo>
                    <a:pt x="0" y="0"/>
                  </a:lnTo>
                </a:path>
                <a:path w="8534400" h="2514600">
                  <a:moveTo>
                    <a:pt x="0" y="0"/>
                  </a:moveTo>
                  <a:lnTo>
                    <a:pt x="8534400" y="0"/>
                  </a:lnTo>
                </a:path>
                <a:path w="8534400" h="2514600">
                  <a:moveTo>
                    <a:pt x="2142744" y="911351"/>
                  </a:moveTo>
                  <a:lnTo>
                    <a:pt x="4343400" y="914400"/>
                  </a:lnTo>
                </a:path>
                <a:path w="8534400" h="2514600">
                  <a:moveTo>
                    <a:pt x="2438400" y="2514600"/>
                  </a:moveTo>
                  <a:lnTo>
                    <a:pt x="2438400" y="1219200"/>
                  </a:lnTo>
                </a:path>
              </a:pathLst>
            </a:custGeom>
            <a:ln w="39624">
              <a:solidFill>
                <a:srgbClr val="3980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529583" y="3035808"/>
              <a:ext cx="497205" cy="914400"/>
            </a:xfrm>
            <a:custGeom>
              <a:avLst/>
              <a:gdLst/>
              <a:ahLst/>
              <a:cxnLst/>
              <a:rect l="l" t="t" r="r" b="b"/>
              <a:pathLst>
                <a:path w="497204" h="914400">
                  <a:moveTo>
                    <a:pt x="496824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496824" y="914400"/>
                  </a:lnTo>
                  <a:lnTo>
                    <a:pt x="496824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529583" y="3035808"/>
              <a:ext cx="497205" cy="914400"/>
            </a:xfrm>
            <a:custGeom>
              <a:avLst/>
              <a:gdLst/>
              <a:ahLst/>
              <a:cxnLst/>
              <a:rect l="l" t="t" r="r" b="b"/>
              <a:pathLst>
                <a:path w="497204" h="914400">
                  <a:moveTo>
                    <a:pt x="0" y="914400"/>
                  </a:moveTo>
                  <a:lnTo>
                    <a:pt x="496824" y="914400"/>
                  </a:lnTo>
                  <a:lnTo>
                    <a:pt x="496824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616578" y="3262629"/>
            <a:ext cx="3162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latin typeface="Times New Roman"/>
                <a:cs typeface="Times New Roman"/>
              </a:rPr>
              <a:t>Reg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24198" y="3475685"/>
            <a:ext cx="30480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b="1">
                <a:latin typeface="Times New Roman"/>
                <a:cs typeface="Times New Roman"/>
              </a:rPr>
              <a:t>File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124200" y="3057144"/>
            <a:ext cx="1156970" cy="1534795"/>
            <a:chOff x="3124200" y="3057144"/>
            <a:chExt cx="1156970" cy="1534795"/>
          </a:xfrm>
        </p:grpSpPr>
        <p:sp>
          <p:nvSpPr>
            <p:cNvPr id="28" name="object 28"/>
            <p:cNvSpPr/>
            <p:nvPr/>
          </p:nvSpPr>
          <p:spPr>
            <a:xfrm>
              <a:off x="3124200" y="3057143"/>
              <a:ext cx="405130" cy="1390015"/>
            </a:xfrm>
            <a:custGeom>
              <a:avLst/>
              <a:gdLst/>
              <a:ahLst/>
              <a:cxnLst/>
              <a:rect l="l" t="t" r="r" b="b"/>
              <a:pathLst>
                <a:path w="405129" h="1390014">
                  <a:moveTo>
                    <a:pt x="366395" y="76200"/>
                  </a:moveTo>
                  <a:lnTo>
                    <a:pt x="290322" y="76200"/>
                  </a:lnTo>
                  <a:lnTo>
                    <a:pt x="289306" y="112776"/>
                  </a:lnTo>
                  <a:lnTo>
                    <a:pt x="366395" y="76200"/>
                  </a:lnTo>
                  <a:close/>
                </a:path>
                <a:path w="405129" h="1390014">
                  <a:moveTo>
                    <a:pt x="405003" y="1331849"/>
                  </a:moveTo>
                  <a:lnTo>
                    <a:pt x="289306" y="1276985"/>
                  </a:lnTo>
                  <a:lnTo>
                    <a:pt x="290322" y="1314196"/>
                  </a:lnTo>
                  <a:lnTo>
                    <a:pt x="0" y="1322705"/>
                  </a:lnTo>
                  <a:lnTo>
                    <a:pt x="0" y="1362329"/>
                  </a:lnTo>
                  <a:lnTo>
                    <a:pt x="291338" y="1353820"/>
                  </a:lnTo>
                  <a:lnTo>
                    <a:pt x="292354" y="1389761"/>
                  </a:lnTo>
                  <a:lnTo>
                    <a:pt x="405003" y="1331849"/>
                  </a:lnTo>
                  <a:close/>
                </a:path>
                <a:path w="405129" h="1390014">
                  <a:moveTo>
                    <a:pt x="405003" y="256032"/>
                  </a:moveTo>
                  <a:lnTo>
                    <a:pt x="289306" y="204216"/>
                  </a:lnTo>
                  <a:lnTo>
                    <a:pt x="291465" y="244602"/>
                  </a:lnTo>
                  <a:lnTo>
                    <a:pt x="0" y="256032"/>
                  </a:lnTo>
                  <a:lnTo>
                    <a:pt x="0" y="295656"/>
                  </a:lnTo>
                  <a:lnTo>
                    <a:pt x="293370" y="281178"/>
                  </a:lnTo>
                  <a:lnTo>
                    <a:pt x="295402" y="320040"/>
                  </a:lnTo>
                  <a:lnTo>
                    <a:pt x="405003" y="256032"/>
                  </a:lnTo>
                  <a:close/>
                </a:path>
                <a:path w="405129" h="1390014">
                  <a:moveTo>
                    <a:pt x="405003" y="57912"/>
                  </a:moveTo>
                  <a:lnTo>
                    <a:pt x="292354" y="0"/>
                  </a:lnTo>
                  <a:lnTo>
                    <a:pt x="291338" y="36068"/>
                  </a:lnTo>
                  <a:lnTo>
                    <a:pt x="0" y="27432"/>
                  </a:lnTo>
                  <a:lnTo>
                    <a:pt x="0" y="67056"/>
                  </a:lnTo>
                  <a:lnTo>
                    <a:pt x="290322" y="75565"/>
                  </a:lnTo>
                  <a:lnTo>
                    <a:pt x="367665" y="75565"/>
                  </a:lnTo>
                  <a:lnTo>
                    <a:pt x="405003" y="57912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529584" y="4187952"/>
              <a:ext cx="746760" cy="399415"/>
            </a:xfrm>
            <a:custGeom>
              <a:avLst/>
              <a:gdLst/>
              <a:ahLst/>
              <a:cxnLst/>
              <a:rect l="l" t="t" r="r" b="b"/>
              <a:pathLst>
                <a:path w="746760" h="399414">
                  <a:moveTo>
                    <a:pt x="374903" y="0"/>
                  </a:moveTo>
                  <a:lnTo>
                    <a:pt x="314070" y="2667"/>
                  </a:lnTo>
                  <a:lnTo>
                    <a:pt x="256286" y="10413"/>
                  </a:lnTo>
                  <a:lnTo>
                    <a:pt x="202564" y="22733"/>
                  </a:lnTo>
                  <a:lnTo>
                    <a:pt x="153415" y="39243"/>
                  </a:lnTo>
                  <a:lnTo>
                    <a:pt x="109727" y="59436"/>
                  </a:lnTo>
                  <a:lnTo>
                    <a:pt x="72262" y="82931"/>
                  </a:lnTo>
                  <a:lnTo>
                    <a:pt x="41782" y="109347"/>
                  </a:lnTo>
                  <a:lnTo>
                    <a:pt x="4952" y="168783"/>
                  </a:lnTo>
                  <a:lnTo>
                    <a:pt x="0" y="201040"/>
                  </a:lnTo>
                  <a:lnTo>
                    <a:pt x="4952" y="233299"/>
                  </a:lnTo>
                  <a:lnTo>
                    <a:pt x="41782" y="292226"/>
                  </a:lnTo>
                  <a:lnTo>
                    <a:pt x="72262" y="318262"/>
                  </a:lnTo>
                  <a:lnTo>
                    <a:pt x="109727" y="341249"/>
                  </a:lnTo>
                  <a:lnTo>
                    <a:pt x="153415" y="361061"/>
                  </a:lnTo>
                  <a:lnTo>
                    <a:pt x="202564" y="377063"/>
                  </a:lnTo>
                  <a:lnTo>
                    <a:pt x="256286" y="389128"/>
                  </a:lnTo>
                  <a:lnTo>
                    <a:pt x="314070" y="396621"/>
                  </a:lnTo>
                  <a:lnTo>
                    <a:pt x="374903" y="399161"/>
                  </a:lnTo>
                  <a:lnTo>
                    <a:pt x="434975" y="396621"/>
                  </a:lnTo>
                  <a:lnTo>
                    <a:pt x="491998" y="389128"/>
                  </a:lnTo>
                  <a:lnTo>
                    <a:pt x="545338" y="377063"/>
                  </a:lnTo>
                  <a:lnTo>
                    <a:pt x="593978" y="361061"/>
                  </a:lnTo>
                  <a:lnTo>
                    <a:pt x="637413" y="341249"/>
                  </a:lnTo>
                  <a:lnTo>
                    <a:pt x="674624" y="318262"/>
                  </a:lnTo>
                  <a:lnTo>
                    <a:pt x="704976" y="292226"/>
                  </a:lnTo>
                  <a:lnTo>
                    <a:pt x="741806" y="233299"/>
                  </a:lnTo>
                  <a:lnTo>
                    <a:pt x="746760" y="201040"/>
                  </a:lnTo>
                  <a:lnTo>
                    <a:pt x="741806" y="168783"/>
                  </a:lnTo>
                  <a:lnTo>
                    <a:pt x="704976" y="109347"/>
                  </a:lnTo>
                  <a:lnTo>
                    <a:pt x="674624" y="82931"/>
                  </a:lnTo>
                  <a:lnTo>
                    <a:pt x="637413" y="59436"/>
                  </a:lnTo>
                  <a:lnTo>
                    <a:pt x="593978" y="39243"/>
                  </a:lnTo>
                  <a:lnTo>
                    <a:pt x="545338" y="22733"/>
                  </a:lnTo>
                  <a:lnTo>
                    <a:pt x="491998" y="10413"/>
                  </a:lnTo>
                  <a:lnTo>
                    <a:pt x="434975" y="2667"/>
                  </a:lnTo>
                  <a:lnTo>
                    <a:pt x="374903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529584" y="4187952"/>
              <a:ext cx="746760" cy="399415"/>
            </a:xfrm>
            <a:custGeom>
              <a:avLst/>
              <a:gdLst/>
              <a:ahLst/>
              <a:cxnLst/>
              <a:rect l="l" t="t" r="r" b="b"/>
              <a:pathLst>
                <a:path w="746760" h="399414">
                  <a:moveTo>
                    <a:pt x="374903" y="0"/>
                  </a:moveTo>
                  <a:lnTo>
                    <a:pt x="314070" y="2667"/>
                  </a:lnTo>
                  <a:lnTo>
                    <a:pt x="256286" y="10413"/>
                  </a:lnTo>
                  <a:lnTo>
                    <a:pt x="202564" y="22733"/>
                  </a:lnTo>
                  <a:lnTo>
                    <a:pt x="153415" y="39243"/>
                  </a:lnTo>
                  <a:lnTo>
                    <a:pt x="109727" y="59436"/>
                  </a:lnTo>
                  <a:lnTo>
                    <a:pt x="72262" y="82931"/>
                  </a:lnTo>
                  <a:lnTo>
                    <a:pt x="41782" y="109347"/>
                  </a:lnTo>
                  <a:lnTo>
                    <a:pt x="4952" y="168783"/>
                  </a:lnTo>
                  <a:lnTo>
                    <a:pt x="0" y="201040"/>
                  </a:lnTo>
                  <a:lnTo>
                    <a:pt x="4952" y="233299"/>
                  </a:lnTo>
                  <a:lnTo>
                    <a:pt x="41782" y="292226"/>
                  </a:lnTo>
                  <a:lnTo>
                    <a:pt x="72262" y="318262"/>
                  </a:lnTo>
                  <a:lnTo>
                    <a:pt x="109727" y="341249"/>
                  </a:lnTo>
                  <a:lnTo>
                    <a:pt x="153415" y="361061"/>
                  </a:lnTo>
                  <a:lnTo>
                    <a:pt x="202564" y="377063"/>
                  </a:lnTo>
                  <a:lnTo>
                    <a:pt x="256286" y="389128"/>
                  </a:lnTo>
                  <a:lnTo>
                    <a:pt x="314070" y="396621"/>
                  </a:lnTo>
                  <a:lnTo>
                    <a:pt x="374903" y="399161"/>
                  </a:lnTo>
                  <a:lnTo>
                    <a:pt x="434975" y="396621"/>
                  </a:lnTo>
                  <a:lnTo>
                    <a:pt x="491998" y="389128"/>
                  </a:lnTo>
                  <a:lnTo>
                    <a:pt x="545338" y="377063"/>
                  </a:lnTo>
                  <a:lnTo>
                    <a:pt x="593978" y="361061"/>
                  </a:lnTo>
                  <a:lnTo>
                    <a:pt x="637413" y="341249"/>
                  </a:lnTo>
                  <a:lnTo>
                    <a:pt x="674624" y="318262"/>
                  </a:lnTo>
                  <a:lnTo>
                    <a:pt x="704976" y="292226"/>
                  </a:lnTo>
                  <a:lnTo>
                    <a:pt x="741806" y="233299"/>
                  </a:lnTo>
                  <a:lnTo>
                    <a:pt x="746760" y="201040"/>
                  </a:lnTo>
                  <a:lnTo>
                    <a:pt x="741806" y="168783"/>
                  </a:lnTo>
                  <a:lnTo>
                    <a:pt x="704976" y="109347"/>
                  </a:lnTo>
                  <a:lnTo>
                    <a:pt x="674624" y="82931"/>
                  </a:lnTo>
                  <a:lnTo>
                    <a:pt x="637413" y="59436"/>
                  </a:lnTo>
                  <a:lnTo>
                    <a:pt x="593978" y="39243"/>
                  </a:lnTo>
                  <a:lnTo>
                    <a:pt x="545338" y="22733"/>
                  </a:lnTo>
                  <a:lnTo>
                    <a:pt x="491998" y="10413"/>
                  </a:lnTo>
                  <a:lnTo>
                    <a:pt x="434975" y="2667"/>
                  </a:lnTo>
                  <a:lnTo>
                    <a:pt x="374903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3638803" y="4150613"/>
            <a:ext cx="524510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97155">
              <a:lnSpc>
                <a:spcPct val="100000"/>
              </a:lnSpc>
              <a:spcBef>
                <a:spcPts val="105"/>
              </a:spcBef>
            </a:pPr>
            <a:r>
              <a:rPr dirty="0" sz="1400" spc="-20" b="1">
                <a:latin typeface="Times New Roman"/>
                <a:cs typeface="Times New Roman"/>
              </a:rPr>
              <a:t>sign extend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026408" y="3179064"/>
            <a:ext cx="457200" cy="1264920"/>
            <a:chOff x="4026408" y="3179064"/>
            <a:chExt cx="457200" cy="1264920"/>
          </a:xfrm>
        </p:grpSpPr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70832" y="3179064"/>
              <a:ext cx="75183" cy="11252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026408" y="3215512"/>
              <a:ext cx="457200" cy="40005"/>
            </a:xfrm>
            <a:custGeom>
              <a:avLst/>
              <a:gdLst/>
              <a:ahLst/>
              <a:cxnLst/>
              <a:rect l="l" t="t" r="r" b="b"/>
              <a:pathLst>
                <a:path w="457200" h="40004">
                  <a:moveTo>
                    <a:pt x="344424" y="88"/>
                  </a:moveTo>
                  <a:lnTo>
                    <a:pt x="0" y="88"/>
                  </a:lnTo>
                  <a:lnTo>
                    <a:pt x="0" y="39624"/>
                  </a:lnTo>
                  <a:lnTo>
                    <a:pt x="344424" y="39624"/>
                  </a:lnTo>
                  <a:lnTo>
                    <a:pt x="344424" y="88"/>
                  </a:lnTo>
                  <a:close/>
                </a:path>
                <a:path w="457200" h="40004">
                  <a:moveTo>
                    <a:pt x="457200" y="18288"/>
                  </a:moveTo>
                  <a:lnTo>
                    <a:pt x="419608" y="0"/>
                  </a:lnTo>
                  <a:lnTo>
                    <a:pt x="362712" y="0"/>
                  </a:lnTo>
                  <a:lnTo>
                    <a:pt x="362712" y="39624"/>
                  </a:lnTo>
                  <a:lnTo>
                    <a:pt x="415671" y="39624"/>
                  </a:lnTo>
                  <a:lnTo>
                    <a:pt x="457200" y="18288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76344" y="4331208"/>
              <a:ext cx="207263" cy="11277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70832" y="3575304"/>
              <a:ext cx="77215" cy="11544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026408" y="3614800"/>
              <a:ext cx="457200" cy="36830"/>
            </a:xfrm>
            <a:custGeom>
              <a:avLst/>
              <a:gdLst/>
              <a:ahLst/>
              <a:cxnLst/>
              <a:rect l="l" t="t" r="r" b="b"/>
              <a:pathLst>
                <a:path w="457200" h="36829">
                  <a:moveTo>
                    <a:pt x="344424" y="0"/>
                  </a:moveTo>
                  <a:lnTo>
                    <a:pt x="0" y="0"/>
                  </a:lnTo>
                  <a:lnTo>
                    <a:pt x="0" y="36449"/>
                  </a:lnTo>
                  <a:lnTo>
                    <a:pt x="344424" y="36449"/>
                  </a:lnTo>
                  <a:lnTo>
                    <a:pt x="344424" y="0"/>
                  </a:lnTo>
                  <a:close/>
                </a:path>
                <a:path w="457200" h="36829">
                  <a:moveTo>
                    <a:pt x="457200" y="18288"/>
                  </a:moveTo>
                  <a:lnTo>
                    <a:pt x="421640" y="0"/>
                  </a:lnTo>
                  <a:lnTo>
                    <a:pt x="362712" y="0"/>
                  </a:lnTo>
                  <a:lnTo>
                    <a:pt x="362712" y="36449"/>
                  </a:lnTo>
                  <a:lnTo>
                    <a:pt x="421640" y="36449"/>
                  </a:lnTo>
                  <a:lnTo>
                    <a:pt x="457200" y="18288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4483608" y="3075432"/>
            <a:ext cx="372110" cy="277495"/>
          </a:xfrm>
          <a:prstGeom prst="rect">
            <a:avLst/>
          </a:prstGeom>
          <a:solidFill>
            <a:srgbClr val="FFFFCC"/>
          </a:solidFill>
          <a:ln w="9144">
            <a:solidFill>
              <a:srgbClr val="000000"/>
            </a:solidFill>
          </a:ln>
        </p:spPr>
        <p:txBody>
          <a:bodyPr wrap="square" lIns="0" tIns="20955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165"/>
              </a:spcBef>
            </a:pPr>
            <a:r>
              <a:rPr dirty="0" sz="1400" spc="-50" b="1">
                <a:latin typeface="Times New Roman"/>
                <a:cs typeface="Times New Roman"/>
              </a:rPr>
              <a:t>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483608" y="4227576"/>
            <a:ext cx="398145" cy="280670"/>
          </a:xfrm>
          <a:prstGeom prst="rect">
            <a:avLst/>
          </a:prstGeom>
          <a:solidFill>
            <a:srgbClr val="FFFFCC"/>
          </a:solidFill>
          <a:ln w="9144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35"/>
              </a:lnSpc>
            </a:pPr>
            <a:r>
              <a:rPr dirty="0" sz="2000" spc="-25" b="1">
                <a:latin typeface="Times New Roman"/>
                <a:cs typeface="Times New Roman"/>
              </a:rPr>
              <a:t>I</a:t>
            </a:r>
            <a:r>
              <a:rPr dirty="0" sz="1400" spc="-25" b="1">
                <a:latin typeface="Times New Roman"/>
                <a:cs typeface="Times New Roman"/>
              </a:rPr>
              <a:t>mm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478845" y="3469957"/>
            <a:ext cx="381635" cy="287020"/>
            <a:chOff x="4478845" y="3469957"/>
            <a:chExt cx="381635" cy="287020"/>
          </a:xfrm>
        </p:grpSpPr>
        <p:sp>
          <p:nvSpPr>
            <p:cNvPr id="41" name="object 41"/>
            <p:cNvSpPr/>
            <p:nvPr/>
          </p:nvSpPr>
          <p:spPr>
            <a:xfrm>
              <a:off x="4483608" y="3474720"/>
              <a:ext cx="372110" cy="277495"/>
            </a:xfrm>
            <a:custGeom>
              <a:avLst/>
              <a:gdLst/>
              <a:ahLst/>
              <a:cxnLst/>
              <a:rect l="l" t="t" r="r" b="b"/>
              <a:pathLst>
                <a:path w="372110" h="277495">
                  <a:moveTo>
                    <a:pt x="371856" y="0"/>
                  </a:moveTo>
                  <a:lnTo>
                    <a:pt x="0" y="0"/>
                  </a:lnTo>
                  <a:lnTo>
                    <a:pt x="0" y="277367"/>
                  </a:lnTo>
                  <a:lnTo>
                    <a:pt x="371856" y="277367"/>
                  </a:lnTo>
                  <a:lnTo>
                    <a:pt x="371856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483608" y="3474720"/>
              <a:ext cx="372110" cy="277495"/>
            </a:xfrm>
            <a:custGeom>
              <a:avLst/>
              <a:gdLst/>
              <a:ahLst/>
              <a:cxnLst/>
              <a:rect l="l" t="t" r="r" b="b"/>
              <a:pathLst>
                <a:path w="372110" h="277495">
                  <a:moveTo>
                    <a:pt x="0" y="277367"/>
                  </a:moveTo>
                  <a:lnTo>
                    <a:pt x="371856" y="277367"/>
                  </a:lnTo>
                  <a:lnTo>
                    <a:pt x="371856" y="0"/>
                  </a:lnTo>
                  <a:lnTo>
                    <a:pt x="0" y="0"/>
                  </a:lnTo>
                  <a:lnTo>
                    <a:pt x="0" y="27736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4601336" y="3480053"/>
            <a:ext cx="1447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 b="1">
                <a:latin typeface="Times New Roman"/>
                <a:cs typeface="Times New Roman"/>
              </a:rPr>
              <a:t>B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256597" y="3107245"/>
            <a:ext cx="3877310" cy="1695450"/>
            <a:chOff x="3256597" y="3107245"/>
            <a:chExt cx="3877310" cy="1695450"/>
          </a:xfrm>
        </p:grpSpPr>
        <p:sp>
          <p:nvSpPr>
            <p:cNvPr id="45" name="object 45"/>
            <p:cNvSpPr/>
            <p:nvPr/>
          </p:nvSpPr>
          <p:spPr>
            <a:xfrm>
              <a:off x="4876799" y="4401311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 h="0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ln w="39624">
              <a:solidFill>
                <a:srgbClr val="3980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855464" y="3197351"/>
              <a:ext cx="707390" cy="113030"/>
            </a:xfrm>
            <a:custGeom>
              <a:avLst/>
              <a:gdLst/>
              <a:ahLst/>
              <a:cxnLst/>
              <a:rect l="l" t="t" r="r" b="b"/>
              <a:pathLst>
                <a:path w="707389" h="113029">
                  <a:moveTo>
                    <a:pt x="672846" y="76073"/>
                  </a:moveTo>
                  <a:lnTo>
                    <a:pt x="612394" y="76073"/>
                  </a:lnTo>
                  <a:lnTo>
                    <a:pt x="592074" y="76073"/>
                  </a:lnTo>
                  <a:lnTo>
                    <a:pt x="591058" y="112522"/>
                  </a:lnTo>
                  <a:lnTo>
                    <a:pt x="672846" y="76073"/>
                  </a:lnTo>
                  <a:close/>
                </a:path>
                <a:path w="707389" h="113029">
                  <a:moveTo>
                    <a:pt x="706882" y="60833"/>
                  </a:moveTo>
                  <a:lnTo>
                    <a:pt x="594106" y="0"/>
                  </a:lnTo>
                  <a:lnTo>
                    <a:pt x="593217" y="35941"/>
                  </a:lnTo>
                  <a:lnTo>
                    <a:pt x="0" y="18288"/>
                  </a:lnTo>
                  <a:lnTo>
                    <a:pt x="0" y="57785"/>
                  </a:lnTo>
                  <a:lnTo>
                    <a:pt x="592074" y="75438"/>
                  </a:lnTo>
                  <a:lnTo>
                    <a:pt x="612394" y="76073"/>
                  </a:lnTo>
                  <a:lnTo>
                    <a:pt x="612394" y="75438"/>
                  </a:lnTo>
                  <a:lnTo>
                    <a:pt x="674243" y="75438"/>
                  </a:lnTo>
                  <a:lnTo>
                    <a:pt x="706882" y="60833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276599" y="3791711"/>
              <a:ext cx="0" cy="990600"/>
            </a:xfrm>
            <a:custGeom>
              <a:avLst/>
              <a:gdLst/>
              <a:ahLst/>
              <a:cxnLst/>
              <a:rect l="l" t="t" r="r" b="b"/>
              <a:pathLst>
                <a:path w="0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ln w="39624">
              <a:solidFill>
                <a:srgbClr val="3980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699503" y="3112007"/>
              <a:ext cx="429895" cy="393065"/>
            </a:xfrm>
            <a:custGeom>
              <a:avLst/>
              <a:gdLst/>
              <a:ahLst/>
              <a:cxnLst/>
              <a:rect l="l" t="t" r="r" b="b"/>
              <a:pathLst>
                <a:path w="429895" h="393064">
                  <a:moveTo>
                    <a:pt x="429641" y="0"/>
                  </a:moveTo>
                  <a:lnTo>
                    <a:pt x="0" y="0"/>
                  </a:lnTo>
                  <a:lnTo>
                    <a:pt x="0" y="392684"/>
                  </a:lnTo>
                  <a:lnTo>
                    <a:pt x="429641" y="392684"/>
                  </a:lnTo>
                  <a:lnTo>
                    <a:pt x="429641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699503" y="3112007"/>
              <a:ext cx="429895" cy="393065"/>
            </a:xfrm>
            <a:custGeom>
              <a:avLst/>
              <a:gdLst/>
              <a:ahLst/>
              <a:cxnLst/>
              <a:rect l="l" t="t" r="r" b="b"/>
              <a:pathLst>
                <a:path w="429895" h="393064">
                  <a:moveTo>
                    <a:pt x="0" y="392684"/>
                  </a:moveTo>
                  <a:lnTo>
                    <a:pt x="429641" y="392684"/>
                  </a:lnTo>
                  <a:lnTo>
                    <a:pt x="429641" y="0"/>
                  </a:lnTo>
                  <a:lnTo>
                    <a:pt x="0" y="0"/>
                  </a:lnTo>
                  <a:lnTo>
                    <a:pt x="0" y="39268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1245819" y="5167121"/>
            <a:ext cx="1321435" cy="64770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515620" marR="5080" indent="-503555">
              <a:lnSpc>
                <a:spcPct val="70000"/>
              </a:lnSpc>
              <a:spcBef>
                <a:spcPts val="965"/>
              </a:spcBef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Inst</a:t>
            </a:r>
            <a:r>
              <a:rPr dirty="0" sz="2400" spc="-9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25" b="1">
                <a:solidFill>
                  <a:srgbClr val="FF0000"/>
                </a:solidFill>
                <a:latin typeface="Times New Roman"/>
                <a:cs typeface="Times New Roman"/>
              </a:rPr>
              <a:t>Fetch IF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471164" y="5157978"/>
            <a:ext cx="1544955" cy="64770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607060" marR="5080" indent="-594360">
              <a:lnSpc>
                <a:spcPct val="70000"/>
              </a:lnSpc>
              <a:spcBef>
                <a:spcPts val="965"/>
              </a:spcBef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Inst</a:t>
            </a:r>
            <a:r>
              <a:rPr dirty="0" sz="2400" spc="-9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20" b="1">
                <a:solidFill>
                  <a:srgbClr val="FF0000"/>
                </a:solidFill>
                <a:latin typeface="Times New Roman"/>
                <a:cs typeface="Times New Roman"/>
              </a:rPr>
              <a:t>Decode </a:t>
            </a:r>
            <a:r>
              <a:rPr dirty="0" sz="2400" spc="-25" b="1">
                <a:solidFill>
                  <a:srgbClr val="FF0000"/>
                </a:solidFill>
                <a:latin typeface="Times New Roman"/>
                <a:cs typeface="Times New Roman"/>
              </a:rPr>
              <a:t>ID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297686" y="2439161"/>
            <a:ext cx="1270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39802D"/>
                </a:solidFill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714490" y="3071241"/>
            <a:ext cx="395605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latin typeface="Times New Roman"/>
                <a:cs typeface="Times New Roman"/>
              </a:rPr>
              <a:t>ALU</a:t>
            </a:r>
            <a:endParaRPr sz="1400">
              <a:latin typeface="Times New Roman"/>
              <a:cs typeface="Times New Roman"/>
            </a:endParaRPr>
          </a:p>
          <a:p>
            <a:pPr marL="76835">
              <a:lnSpc>
                <a:spcPct val="100000"/>
              </a:lnSpc>
            </a:pPr>
            <a:r>
              <a:rPr dirty="0" sz="1400" spc="-25" b="1">
                <a:latin typeface="Times New Roman"/>
                <a:cs typeface="Times New Roman"/>
              </a:rPr>
              <a:t>out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002845" y="2811589"/>
            <a:ext cx="442595" cy="1091565"/>
            <a:chOff x="6002845" y="2811589"/>
            <a:chExt cx="442595" cy="1091565"/>
          </a:xfrm>
        </p:grpSpPr>
        <p:sp>
          <p:nvSpPr>
            <p:cNvPr id="55" name="object 55"/>
            <p:cNvSpPr/>
            <p:nvPr/>
          </p:nvSpPr>
          <p:spPr>
            <a:xfrm>
              <a:off x="6007608" y="2816351"/>
              <a:ext cx="433070" cy="1082040"/>
            </a:xfrm>
            <a:custGeom>
              <a:avLst/>
              <a:gdLst/>
              <a:ahLst/>
              <a:cxnLst/>
              <a:rect l="l" t="t" r="r" b="b"/>
              <a:pathLst>
                <a:path w="433070" h="1082039">
                  <a:moveTo>
                    <a:pt x="0" y="0"/>
                  </a:moveTo>
                  <a:lnTo>
                    <a:pt x="0" y="1082039"/>
                  </a:lnTo>
                  <a:lnTo>
                    <a:pt x="432562" y="810768"/>
                  </a:lnTo>
                  <a:lnTo>
                    <a:pt x="432562" y="27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6007608" y="2816351"/>
              <a:ext cx="433070" cy="1082040"/>
            </a:xfrm>
            <a:custGeom>
              <a:avLst/>
              <a:gdLst/>
              <a:ahLst/>
              <a:cxnLst/>
              <a:rect l="l" t="t" r="r" b="b"/>
              <a:pathLst>
                <a:path w="433070" h="1082039">
                  <a:moveTo>
                    <a:pt x="0" y="0"/>
                  </a:moveTo>
                  <a:lnTo>
                    <a:pt x="432562" y="271272"/>
                  </a:lnTo>
                  <a:lnTo>
                    <a:pt x="432562" y="810768"/>
                  </a:lnTo>
                  <a:lnTo>
                    <a:pt x="0" y="1082039"/>
                  </a:lnTo>
                  <a:lnTo>
                    <a:pt x="0" y="0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6022594" y="3223641"/>
            <a:ext cx="3956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latin typeface="Times New Roman"/>
                <a:cs typeface="Times New Roman"/>
              </a:rPr>
              <a:t>ALU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045517" y="2323909"/>
            <a:ext cx="454659" cy="354330"/>
            <a:chOff x="6045517" y="2323909"/>
            <a:chExt cx="454659" cy="354330"/>
          </a:xfrm>
        </p:grpSpPr>
        <p:sp>
          <p:nvSpPr>
            <p:cNvPr id="59" name="object 59"/>
            <p:cNvSpPr/>
            <p:nvPr/>
          </p:nvSpPr>
          <p:spPr>
            <a:xfrm>
              <a:off x="6050279" y="2328672"/>
              <a:ext cx="445134" cy="344805"/>
            </a:xfrm>
            <a:custGeom>
              <a:avLst/>
              <a:gdLst/>
              <a:ahLst/>
              <a:cxnLst/>
              <a:rect l="l" t="t" r="r" b="b"/>
              <a:pathLst>
                <a:path w="445135" h="344805">
                  <a:moveTo>
                    <a:pt x="445008" y="0"/>
                  </a:moveTo>
                  <a:lnTo>
                    <a:pt x="0" y="0"/>
                  </a:lnTo>
                  <a:lnTo>
                    <a:pt x="0" y="344424"/>
                  </a:lnTo>
                  <a:lnTo>
                    <a:pt x="445008" y="344424"/>
                  </a:lnTo>
                  <a:lnTo>
                    <a:pt x="445008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6050279" y="2328672"/>
              <a:ext cx="445134" cy="344805"/>
            </a:xfrm>
            <a:custGeom>
              <a:avLst/>
              <a:gdLst/>
              <a:ahLst/>
              <a:cxnLst/>
              <a:rect l="l" t="t" r="r" b="b"/>
              <a:pathLst>
                <a:path w="445135" h="344805">
                  <a:moveTo>
                    <a:pt x="0" y="344424"/>
                  </a:moveTo>
                  <a:lnTo>
                    <a:pt x="445008" y="344424"/>
                  </a:lnTo>
                  <a:lnTo>
                    <a:pt x="445008" y="0"/>
                  </a:lnTo>
                  <a:lnTo>
                    <a:pt x="0" y="0"/>
                  </a:lnTo>
                  <a:lnTo>
                    <a:pt x="0" y="34442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6038469" y="2366899"/>
            <a:ext cx="46672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b="1">
                <a:latin typeface="Times New Roman"/>
                <a:cs typeface="Times New Roman"/>
              </a:rPr>
              <a:t>Zero?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5009197" y="2170176"/>
            <a:ext cx="3644265" cy="2169160"/>
            <a:chOff x="5009197" y="2170176"/>
            <a:chExt cx="3644265" cy="2169160"/>
          </a:xfrm>
        </p:grpSpPr>
        <p:sp>
          <p:nvSpPr>
            <p:cNvPr id="63" name="object 63"/>
            <p:cNvSpPr/>
            <p:nvPr/>
          </p:nvSpPr>
          <p:spPr>
            <a:xfrm>
              <a:off x="5257799" y="3310128"/>
              <a:ext cx="2045335" cy="1009015"/>
            </a:xfrm>
            <a:custGeom>
              <a:avLst/>
              <a:gdLst/>
              <a:ahLst/>
              <a:cxnLst/>
              <a:rect l="l" t="t" r="r" b="b"/>
              <a:pathLst>
                <a:path w="2045334" h="1009014">
                  <a:moveTo>
                    <a:pt x="0" y="1008761"/>
                  </a:moveTo>
                  <a:lnTo>
                    <a:pt x="0" y="252984"/>
                  </a:lnTo>
                </a:path>
                <a:path w="2045334" h="1009014">
                  <a:moveTo>
                    <a:pt x="1871345" y="0"/>
                  </a:moveTo>
                  <a:lnTo>
                    <a:pt x="2045080" y="0"/>
                  </a:lnTo>
                </a:path>
              </a:pathLst>
            </a:custGeom>
            <a:ln w="39624">
              <a:solidFill>
                <a:srgbClr val="3980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5181600" y="2438399"/>
              <a:ext cx="1517650" cy="975360"/>
            </a:xfrm>
            <a:custGeom>
              <a:avLst/>
              <a:gdLst/>
              <a:ahLst/>
              <a:cxnLst/>
              <a:rect l="l" t="t" r="r" b="b"/>
              <a:pathLst>
                <a:path w="1517650" h="975360">
                  <a:moveTo>
                    <a:pt x="837946" y="57912"/>
                  </a:moveTo>
                  <a:lnTo>
                    <a:pt x="722249" y="0"/>
                  </a:lnTo>
                  <a:lnTo>
                    <a:pt x="722249" y="36576"/>
                  </a:lnTo>
                  <a:lnTo>
                    <a:pt x="0" y="36576"/>
                  </a:lnTo>
                  <a:lnTo>
                    <a:pt x="0" y="76200"/>
                  </a:lnTo>
                  <a:lnTo>
                    <a:pt x="722249" y="76200"/>
                  </a:lnTo>
                  <a:lnTo>
                    <a:pt x="722249" y="112776"/>
                  </a:lnTo>
                  <a:lnTo>
                    <a:pt x="837946" y="57912"/>
                  </a:lnTo>
                  <a:close/>
                </a:path>
                <a:path w="1517650" h="975360">
                  <a:moveTo>
                    <a:pt x="1517523" y="920496"/>
                  </a:moveTo>
                  <a:lnTo>
                    <a:pt x="1401699" y="862584"/>
                  </a:lnTo>
                  <a:lnTo>
                    <a:pt x="1401699" y="899160"/>
                  </a:lnTo>
                  <a:lnTo>
                    <a:pt x="1258570" y="899160"/>
                  </a:lnTo>
                  <a:lnTo>
                    <a:pt x="1258570" y="938784"/>
                  </a:lnTo>
                  <a:lnTo>
                    <a:pt x="1401699" y="938784"/>
                  </a:lnTo>
                  <a:lnTo>
                    <a:pt x="1401699" y="975360"/>
                  </a:lnTo>
                  <a:lnTo>
                    <a:pt x="1517523" y="920496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5029199" y="2523744"/>
              <a:ext cx="3566160" cy="506095"/>
            </a:xfrm>
            <a:custGeom>
              <a:avLst/>
              <a:gdLst/>
              <a:ahLst/>
              <a:cxnLst/>
              <a:rect l="l" t="t" r="r" b="b"/>
              <a:pathLst>
                <a:path w="3566159" h="506094">
                  <a:moveTo>
                    <a:pt x="0" y="505840"/>
                  </a:moveTo>
                  <a:lnTo>
                    <a:pt x="0" y="289559"/>
                  </a:lnTo>
                </a:path>
                <a:path w="3566159" h="506094">
                  <a:moveTo>
                    <a:pt x="2209800" y="0"/>
                  </a:moveTo>
                  <a:lnTo>
                    <a:pt x="3566159" y="0"/>
                  </a:lnTo>
                </a:path>
              </a:pathLst>
            </a:custGeom>
            <a:ln w="39624">
              <a:solidFill>
                <a:srgbClr val="39802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97113" y="2170176"/>
              <a:ext cx="77215" cy="115443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7303008" y="2209672"/>
              <a:ext cx="1207135" cy="36830"/>
            </a:xfrm>
            <a:custGeom>
              <a:avLst/>
              <a:gdLst/>
              <a:ahLst/>
              <a:cxnLst/>
              <a:rect l="l" t="t" r="r" b="b"/>
              <a:pathLst>
                <a:path w="1207134" h="36830">
                  <a:moveTo>
                    <a:pt x="1094105" y="0"/>
                  </a:moveTo>
                  <a:lnTo>
                    <a:pt x="0" y="0"/>
                  </a:lnTo>
                  <a:lnTo>
                    <a:pt x="0" y="36449"/>
                  </a:lnTo>
                  <a:lnTo>
                    <a:pt x="1094105" y="36449"/>
                  </a:lnTo>
                  <a:lnTo>
                    <a:pt x="1094105" y="0"/>
                  </a:lnTo>
                  <a:close/>
                </a:path>
                <a:path w="1207134" h="36830">
                  <a:moveTo>
                    <a:pt x="1206881" y="18288"/>
                  </a:moveTo>
                  <a:lnTo>
                    <a:pt x="1171321" y="0"/>
                  </a:lnTo>
                  <a:lnTo>
                    <a:pt x="1112393" y="0"/>
                  </a:lnTo>
                  <a:lnTo>
                    <a:pt x="1112393" y="36449"/>
                  </a:lnTo>
                  <a:lnTo>
                    <a:pt x="1171321" y="36449"/>
                  </a:lnTo>
                  <a:lnTo>
                    <a:pt x="1206881" y="18288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40495" y="2328672"/>
              <a:ext cx="112774" cy="195072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7303007" y="2228088"/>
              <a:ext cx="0" cy="1865630"/>
            </a:xfrm>
            <a:custGeom>
              <a:avLst/>
              <a:gdLst/>
              <a:ahLst/>
              <a:cxnLst/>
              <a:rect l="l" t="t" r="r" b="b"/>
              <a:pathLst>
                <a:path w="0" h="1865629">
                  <a:moveTo>
                    <a:pt x="0" y="1865122"/>
                  </a:moveTo>
                  <a:lnTo>
                    <a:pt x="0" y="0"/>
                  </a:lnTo>
                </a:path>
              </a:pathLst>
            </a:custGeom>
            <a:ln w="39624">
              <a:solidFill>
                <a:srgbClr val="39802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7604759" y="2767583"/>
            <a:ext cx="518159" cy="1130935"/>
          </a:xfrm>
          <a:prstGeom prst="rect">
            <a:avLst/>
          </a:prstGeom>
          <a:solidFill>
            <a:srgbClr val="FFFFCC"/>
          </a:solidFill>
          <a:ln w="9144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400">
              <a:latin typeface="Times New Roman"/>
              <a:cs typeface="Times New Roman"/>
            </a:endParaRPr>
          </a:p>
          <a:p>
            <a:pPr marL="62230">
              <a:lnSpc>
                <a:spcPct val="100000"/>
              </a:lnSpc>
            </a:pPr>
            <a:r>
              <a:rPr dirty="0" sz="1400" spc="-25" b="1">
                <a:latin typeface="Times New Roman"/>
                <a:cs typeface="Times New Roman"/>
              </a:rPr>
              <a:t>Mem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5237797" y="3252215"/>
            <a:ext cx="3594100" cy="1092835"/>
            <a:chOff x="5237797" y="3252215"/>
            <a:chExt cx="3594100" cy="1092835"/>
          </a:xfrm>
        </p:grpSpPr>
        <p:pic>
          <p:nvPicPr>
            <p:cNvPr id="72" name="object 7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03007" y="3252215"/>
              <a:ext cx="301244" cy="115443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88351" y="3645407"/>
              <a:ext cx="216407" cy="112775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5257799" y="3703319"/>
              <a:ext cx="3554095" cy="621665"/>
            </a:xfrm>
            <a:custGeom>
              <a:avLst/>
              <a:gdLst/>
              <a:ahLst/>
              <a:cxnLst/>
              <a:rect l="l" t="t" r="r" b="b"/>
              <a:pathLst>
                <a:path w="3554095" h="621664">
                  <a:moveTo>
                    <a:pt x="2045080" y="389763"/>
                  </a:moveTo>
                  <a:lnTo>
                    <a:pt x="3553841" y="389763"/>
                  </a:lnTo>
                </a:path>
                <a:path w="3554095" h="621664">
                  <a:moveTo>
                    <a:pt x="2133473" y="621283"/>
                  </a:moveTo>
                  <a:lnTo>
                    <a:pt x="2130425" y="0"/>
                  </a:lnTo>
                </a:path>
                <a:path w="3554095" h="621664">
                  <a:moveTo>
                    <a:pt x="0" y="621283"/>
                  </a:moveTo>
                  <a:lnTo>
                    <a:pt x="2133473" y="621283"/>
                  </a:lnTo>
                </a:path>
              </a:pathLst>
            </a:custGeom>
            <a:ln w="39624">
              <a:solidFill>
                <a:srgbClr val="39802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22919" y="3398519"/>
              <a:ext cx="301244" cy="115442"/>
            </a:xfrm>
            <a:prstGeom prst="rect">
              <a:avLst/>
            </a:prstGeom>
          </p:spPr>
        </p:pic>
      </p:grpSp>
      <p:sp>
        <p:nvSpPr>
          <p:cNvPr id="76" name="object 76"/>
          <p:cNvSpPr txBox="1"/>
          <p:nvPr/>
        </p:nvSpPr>
        <p:spPr>
          <a:xfrm>
            <a:off x="8424671" y="3261359"/>
            <a:ext cx="413384" cy="341630"/>
          </a:xfrm>
          <a:prstGeom prst="rect">
            <a:avLst/>
          </a:prstGeom>
          <a:solidFill>
            <a:srgbClr val="FFFFCC"/>
          </a:solidFill>
          <a:ln w="9144">
            <a:solidFill>
              <a:srgbClr val="000000"/>
            </a:solidFill>
          </a:ln>
        </p:spPr>
        <p:txBody>
          <a:bodyPr wrap="square" lIns="0" tIns="51435" rIns="0" bIns="0" rtlCol="0" vert="horz">
            <a:spAutoFit/>
          </a:bodyPr>
          <a:lstStyle/>
          <a:p>
            <a:pPr marL="1270">
              <a:lnSpc>
                <a:spcPct val="100000"/>
              </a:lnSpc>
              <a:spcBef>
                <a:spcPts val="405"/>
              </a:spcBef>
            </a:pPr>
            <a:r>
              <a:rPr dirty="0" sz="1400" spc="-35" b="1">
                <a:latin typeface="Times New Roman"/>
                <a:cs typeface="Times New Roman"/>
              </a:rPr>
              <a:t>LMD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5029200" y="2323909"/>
            <a:ext cx="3999229" cy="1725295"/>
            <a:chOff x="5029200" y="2323909"/>
            <a:chExt cx="3999229" cy="1725295"/>
          </a:xfrm>
        </p:grpSpPr>
        <p:pic>
          <p:nvPicPr>
            <p:cNvPr id="78" name="object 7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811767" y="3398519"/>
              <a:ext cx="216407" cy="115824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811767" y="3694175"/>
              <a:ext cx="216407" cy="112775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05855" y="3694175"/>
              <a:ext cx="301244" cy="112522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5535168" y="3456432"/>
              <a:ext cx="170815" cy="588010"/>
            </a:xfrm>
            <a:custGeom>
              <a:avLst/>
              <a:gdLst/>
              <a:ahLst/>
              <a:cxnLst/>
              <a:rect l="l" t="t" r="r" b="b"/>
              <a:pathLst>
                <a:path w="170814" h="588010">
                  <a:moveTo>
                    <a:pt x="85344" y="0"/>
                  </a:moveTo>
                  <a:lnTo>
                    <a:pt x="51435" y="6857"/>
                  </a:lnTo>
                  <a:lnTo>
                    <a:pt x="24384" y="25526"/>
                  </a:lnTo>
                  <a:lnTo>
                    <a:pt x="6477" y="52704"/>
                  </a:lnTo>
                  <a:lnTo>
                    <a:pt x="0" y="85343"/>
                  </a:lnTo>
                  <a:lnTo>
                    <a:pt x="0" y="502538"/>
                  </a:lnTo>
                  <a:lnTo>
                    <a:pt x="6477" y="535177"/>
                  </a:lnTo>
                  <a:lnTo>
                    <a:pt x="24384" y="562355"/>
                  </a:lnTo>
                  <a:lnTo>
                    <a:pt x="51435" y="581025"/>
                  </a:lnTo>
                  <a:lnTo>
                    <a:pt x="85344" y="587882"/>
                  </a:lnTo>
                  <a:lnTo>
                    <a:pt x="119126" y="581025"/>
                  </a:lnTo>
                  <a:lnTo>
                    <a:pt x="146177" y="562355"/>
                  </a:lnTo>
                  <a:lnTo>
                    <a:pt x="164084" y="535177"/>
                  </a:lnTo>
                  <a:lnTo>
                    <a:pt x="170561" y="502538"/>
                  </a:lnTo>
                  <a:lnTo>
                    <a:pt x="170561" y="85343"/>
                  </a:lnTo>
                  <a:lnTo>
                    <a:pt x="164084" y="52704"/>
                  </a:lnTo>
                  <a:lnTo>
                    <a:pt x="146177" y="25526"/>
                  </a:lnTo>
                  <a:lnTo>
                    <a:pt x="119126" y="6857"/>
                  </a:lnTo>
                  <a:lnTo>
                    <a:pt x="85344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5535168" y="3456432"/>
              <a:ext cx="170815" cy="588010"/>
            </a:xfrm>
            <a:custGeom>
              <a:avLst/>
              <a:gdLst/>
              <a:ahLst/>
              <a:cxnLst/>
              <a:rect l="l" t="t" r="r" b="b"/>
              <a:pathLst>
                <a:path w="170814" h="588010">
                  <a:moveTo>
                    <a:pt x="85344" y="0"/>
                  </a:moveTo>
                  <a:lnTo>
                    <a:pt x="51435" y="6857"/>
                  </a:lnTo>
                  <a:lnTo>
                    <a:pt x="24384" y="25526"/>
                  </a:lnTo>
                  <a:lnTo>
                    <a:pt x="6477" y="52704"/>
                  </a:lnTo>
                  <a:lnTo>
                    <a:pt x="0" y="85343"/>
                  </a:lnTo>
                  <a:lnTo>
                    <a:pt x="0" y="502538"/>
                  </a:lnTo>
                  <a:lnTo>
                    <a:pt x="6477" y="535177"/>
                  </a:lnTo>
                  <a:lnTo>
                    <a:pt x="24384" y="562355"/>
                  </a:lnTo>
                  <a:lnTo>
                    <a:pt x="51435" y="581025"/>
                  </a:lnTo>
                  <a:lnTo>
                    <a:pt x="85344" y="587882"/>
                  </a:lnTo>
                  <a:lnTo>
                    <a:pt x="119126" y="581025"/>
                  </a:lnTo>
                  <a:lnTo>
                    <a:pt x="146177" y="562355"/>
                  </a:lnTo>
                  <a:lnTo>
                    <a:pt x="164084" y="535177"/>
                  </a:lnTo>
                  <a:lnTo>
                    <a:pt x="170561" y="502538"/>
                  </a:lnTo>
                  <a:lnTo>
                    <a:pt x="170561" y="85343"/>
                  </a:lnTo>
                  <a:lnTo>
                    <a:pt x="164084" y="52704"/>
                  </a:lnTo>
                  <a:lnTo>
                    <a:pt x="146177" y="25526"/>
                  </a:lnTo>
                  <a:lnTo>
                    <a:pt x="119126" y="6857"/>
                  </a:lnTo>
                  <a:lnTo>
                    <a:pt x="85344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5029200" y="2959607"/>
              <a:ext cx="978535" cy="963294"/>
            </a:xfrm>
            <a:custGeom>
              <a:avLst/>
              <a:gdLst/>
              <a:ahLst/>
              <a:cxnLst/>
              <a:rect l="l" t="t" r="r" b="b"/>
              <a:pathLst>
                <a:path w="978535" h="963295">
                  <a:moveTo>
                    <a:pt x="457200" y="908177"/>
                  </a:moveTo>
                  <a:lnTo>
                    <a:pt x="341376" y="850265"/>
                  </a:lnTo>
                  <a:lnTo>
                    <a:pt x="341376" y="886841"/>
                  </a:lnTo>
                  <a:lnTo>
                    <a:pt x="0" y="886841"/>
                  </a:lnTo>
                  <a:lnTo>
                    <a:pt x="0" y="926465"/>
                  </a:lnTo>
                  <a:lnTo>
                    <a:pt x="341376" y="926465"/>
                  </a:lnTo>
                  <a:lnTo>
                    <a:pt x="341376" y="963041"/>
                  </a:lnTo>
                  <a:lnTo>
                    <a:pt x="457200" y="908177"/>
                  </a:lnTo>
                  <a:close/>
                </a:path>
                <a:path w="978535" h="963295">
                  <a:moveTo>
                    <a:pt x="505841" y="54864"/>
                  </a:moveTo>
                  <a:lnTo>
                    <a:pt x="390144" y="0"/>
                  </a:lnTo>
                  <a:lnTo>
                    <a:pt x="391160" y="40005"/>
                  </a:lnTo>
                  <a:lnTo>
                    <a:pt x="0" y="48768"/>
                  </a:lnTo>
                  <a:lnTo>
                    <a:pt x="0" y="88392"/>
                  </a:lnTo>
                  <a:lnTo>
                    <a:pt x="392049" y="76835"/>
                  </a:lnTo>
                  <a:lnTo>
                    <a:pt x="393192" y="115824"/>
                  </a:lnTo>
                  <a:lnTo>
                    <a:pt x="505841" y="54864"/>
                  </a:lnTo>
                  <a:close/>
                </a:path>
                <a:path w="978535" h="963295">
                  <a:moveTo>
                    <a:pt x="978281" y="152400"/>
                  </a:moveTo>
                  <a:lnTo>
                    <a:pt x="865505" y="97536"/>
                  </a:lnTo>
                  <a:lnTo>
                    <a:pt x="865505" y="134112"/>
                  </a:lnTo>
                  <a:lnTo>
                    <a:pt x="676529" y="134112"/>
                  </a:lnTo>
                  <a:lnTo>
                    <a:pt x="676529" y="173736"/>
                  </a:lnTo>
                  <a:lnTo>
                    <a:pt x="865505" y="173736"/>
                  </a:lnTo>
                  <a:lnTo>
                    <a:pt x="865505" y="210312"/>
                  </a:lnTo>
                  <a:lnTo>
                    <a:pt x="978281" y="152400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5535168" y="2816352"/>
              <a:ext cx="170815" cy="591185"/>
            </a:xfrm>
            <a:custGeom>
              <a:avLst/>
              <a:gdLst/>
              <a:ahLst/>
              <a:cxnLst/>
              <a:rect l="l" t="t" r="r" b="b"/>
              <a:pathLst>
                <a:path w="170814" h="591185">
                  <a:moveTo>
                    <a:pt x="85344" y="0"/>
                  </a:moveTo>
                  <a:lnTo>
                    <a:pt x="51435" y="6985"/>
                  </a:lnTo>
                  <a:lnTo>
                    <a:pt x="24384" y="25908"/>
                  </a:lnTo>
                  <a:lnTo>
                    <a:pt x="6477" y="53975"/>
                  </a:lnTo>
                  <a:lnTo>
                    <a:pt x="0" y="88264"/>
                  </a:lnTo>
                  <a:lnTo>
                    <a:pt x="0" y="502538"/>
                  </a:lnTo>
                  <a:lnTo>
                    <a:pt x="6477" y="536828"/>
                  </a:lnTo>
                  <a:lnTo>
                    <a:pt x="24384" y="564896"/>
                  </a:lnTo>
                  <a:lnTo>
                    <a:pt x="51435" y="583819"/>
                  </a:lnTo>
                  <a:lnTo>
                    <a:pt x="85344" y="590803"/>
                  </a:lnTo>
                  <a:lnTo>
                    <a:pt x="119126" y="583819"/>
                  </a:lnTo>
                  <a:lnTo>
                    <a:pt x="146177" y="564896"/>
                  </a:lnTo>
                  <a:lnTo>
                    <a:pt x="164084" y="536828"/>
                  </a:lnTo>
                  <a:lnTo>
                    <a:pt x="170561" y="502538"/>
                  </a:lnTo>
                  <a:lnTo>
                    <a:pt x="170561" y="88264"/>
                  </a:lnTo>
                  <a:lnTo>
                    <a:pt x="164084" y="53975"/>
                  </a:lnTo>
                  <a:lnTo>
                    <a:pt x="146177" y="25908"/>
                  </a:lnTo>
                  <a:lnTo>
                    <a:pt x="119126" y="6985"/>
                  </a:lnTo>
                  <a:lnTo>
                    <a:pt x="85344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5535168" y="2816352"/>
              <a:ext cx="170815" cy="591185"/>
            </a:xfrm>
            <a:custGeom>
              <a:avLst/>
              <a:gdLst/>
              <a:ahLst/>
              <a:cxnLst/>
              <a:rect l="l" t="t" r="r" b="b"/>
              <a:pathLst>
                <a:path w="170814" h="591185">
                  <a:moveTo>
                    <a:pt x="85344" y="0"/>
                  </a:moveTo>
                  <a:lnTo>
                    <a:pt x="51435" y="6985"/>
                  </a:lnTo>
                  <a:lnTo>
                    <a:pt x="24384" y="25908"/>
                  </a:lnTo>
                  <a:lnTo>
                    <a:pt x="6477" y="53975"/>
                  </a:lnTo>
                  <a:lnTo>
                    <a:pt x="0" y="88264"/>
                  </a:lnTo>
                  <a:lnTo>
                    <a:pt x="0" y="502538"/>
                  </a:lnTo>
                  <a:lnTo>
                    <a:pt x="6477" y="536828"/>
                  </a:lnTo>
                  <a:lnTo>
                    <a:pt x="24384" y="564896"/>
                  </a:lnTo>
                  <a:lnTo>
                    <a:pt x="51435" y="583819"/>
                  </a:lnTo>
                  <a:lnTo>
                    <a:pt x="85344" y="590803"/>
                  </a:lnTo>
                  <a:lnTo>
                    <a:pt x="119126" y="583819"/>
                  </a:lnTo>
                  <a:lnTo>
                    <a:pt x="146177" y="564896"/>
                  </a:lnTo>
                  <a:lnTo>
                    <a:pt x="164084" y="536828"/>
                  </a:lnTo>
                  <a:lnTo>
                    <a:pt x="170561" y="502538"/>
                  </a:lnTo>
                  <a:lnTo>
                    <a:pt x="170561" y="88264"/>
                  </a:lnTo>
                  <a:lnTo>
                    <a:pt x="164084" y="53975"/>
                  </a:lnTo>
                  <a:lnTo>
                    <a:pt x="146177" y="25908"/>
                  </a:lnTo>
                  <a:lnTo>
                    <a:pt x="119126" y="6985"/>
                  </a:lnTo>
                  <a:lnTo>
                    <a:pt x="85344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5181600" y="2496312"/>
              <a:ext cx="0" cy="786130"/>
            </a:xfrm>
            <a:custGeom>
              <a:avLst/>
              <a:gdLst/>
              <a:ahLst/>
              <a:cxnLst/>
              <a:rect l="l" t="t" r="r" b="b"/>
              <a:pathLst>
                <a:path w="0" h="786129">
                  <a:moveTo>
                    <a:pt x="0" y="786002"/>
                  </a:moveTo>
                  <a:lnTo>
                    <a:pt x="0" y="0"/>
                  </a:lnTo>
                </a:path>
              </a:pathLst>
            </a:custGeom>
            <a:ln w="39624">
              <a:solidFill>
                <a:srgbClr val="3980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6809232" y="2328672"/>
              <a:ext cx="429895" cy="344805"/>
            </a:xfrm>
            <a:custGeom>
              <a:avLst/>
              <a:gdLst/>
              <a:ahLst/>
              <a:cxnLst/>
              <a:rect l="l" t="t" r="r" b="b"/>
              <a:pathLst>
                <a:path w="429895" h="344805">
                  <a:moveTo>
                    <a:pt x="429768" y="0"/>
                  </a:moveTo>
                  <a:lnTo>
                    <a:pt x="0" y="0"/>
                  </a:lnTo>
                  <a:lnTo>
                    <a:pt x="0" y="344424"/>
                  </a:lnTo>
                  <a:lnTo>
                    <a:pt x="429768" y="344424"/>
                  </a:lnTo>
                  <a:lnTo>
                    <a:pt x="429768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6809232" y="2328672"/>
              <a:ext cx="429895" cy="344805"/>
            </a:xfrm>
            <a:custGeom>
              <a:avLst/>
              <a:gdLst/>
              <a:ahLst/>
              <a:cxnLst/>
              <a:rect l="l" t="t" r="r" b="b"/>
              <a:pathLst>
                <a:path w="429895" h="344805">
                  <a:moveTo>
                    <a:pt x="0" y="344424"/>
                  </a:moveTo>
                  <a:lnTo>
                    <a:pt x="429768" y="344424"/>
                  </a:lnTo>
                  <a:lnTo>
                    <a:pt x="429768" y="0"/>
                  </a:lnTo>
                  <a:lnTo>
                    <a:pt x="0" y="0"/>
                  </a:lnTo>
                  <a:lnTo>
                    <a:pt x="0" y="34442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/>
          <p:cNvSpPr txBox="1"/>
          <p:nvPr/>
        </p:nvSpPr>
        <p:spPr>
          <a:xfrm>
            <a:off x="5611114" y="5157978"/>
            <a:ext cx="1318260" cy="64770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451484" marR="5080" indent="-439420">
              <a:lnSpc>
                <a:spcPct val="70000"/>
              </a:lnSpc>
              <a:spcBef>
                <a:spcPts val="965"/>
              </a:spcBef>
            </a:pPr>
            <a:r>
              <a:rPr dirty="0" sz="2400" spc="-20" b="1">
                <a:solidFill>
                  <a:srgbClr val="FF0000"/>
                </a:solidFill>
                <a:latin typeface="Times New Roman"/>
                <a:cs typeface="Times New Roman"/>
              </a:rPr>
              <a:t>Execution </a:t>
            </a:r>
            <a:r>
              <a:rPr dirty="0" sz="2400" spc="-25" b="1">
                <a:solidFill>
                  <a:srgbClr val="FF0000"/>
                </a:solidFill>
                <a:latin typeface="Times New Roman"/>
                <a:cs typeface="Times New Roman"/>
              </a:rPr>
              <a:t>EX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6803517" y="2366899"/>
            <a:ext cx="432434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b="1">
                <a:latin typeface="Times New Roman"/>
                <a:cs typeface="Times New Roman"/>
              </a:rPr>
              <a:t>Cond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2971800" y="1866709"/>
            <a:ext cx="6292850" cy="2246630"/>
            <a:chOff x="2971800" y="1866709"/>
            <a:chExt cx="6292850" cy="2246630"/>
          </a:xfrm>
        </p:grpSpPr>
        <p:pic>
          <p:nvPicPr>
            <p:cNvPr id="92" name="object 9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96985" y="2063369"/>
              <a:ext cx="112775" cy="76072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2971800" y="2026919"/>
              <a:ext cx="5500370" cy="106680"/>
            </a:xfrm>
            <a:custGeom>
              <a:avLst/>
              <a:gdLst/>
              <a:ahLst/>
              <a:cxnLst/>
              <a:rect l="l" t="t" r="r" b="b"/>
              <a:pathLst>
                <a:path w="5500370" h="106680">
                  <a:moveTo>
                    <a:pt x="5500370" y="36449"/>
                  </a:moveTo>
                  <a:lnTo>
                    <a:pt x="5425186" y="0"/>
                  </a:lnTo>
                  <a:lnTo>
                    <a:pt x="5425186" y="36576"/>
                  </a:lnTo>
                  <a:lnTo>
                    <a:pt x="0" y="66929"/>
                  </a:lnTo>
                  <a:lnTo>
                    <a:pt x="0" y="106426"/>
                  </a:lnTo>
                  <a:lnTo>
                    <a:pt x="5425186" y="76073"/>
                  </a:lnTo>
                  <a:lnTo>
                    <a:pt x="5443474" y="76073"/>
                  </a:lnTo>
                  <a:lnTo>
                    <a:pt x="5443474" y="36550"/>
                  </a:lnTo>
                  <a:lnTo>
                    <a:pt x="5500370" y="36449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8510015" y="1935480"/>
              <a:ext cx="128270" cy="441959"/>
            </a:xfrm>
            <a:custGeom>
              <a:avLst/>
              <a:gdLst/>
              <a:ahLst/>
              <a:cxnLst/>
              <a:rect l="l" t="t" r="r" b="b"/>
              <a:pathLst>
                <a:path w="128270" h="441960">
                  <a:moveTo>
                    <a:pt x="63880" y="0"/>
                  </a:moveTo>
                  <a:lnTo>
                    <a:pt x="39750" y="4825"/>
                  </a:lnTo>
                  <a:lnTo>
                    <a:pt x="19430" y="18287"/>
                  </a:lnTo>
                  <a:lnTo>
                    <a:pt x="5333" y="38608"/>
                  </a:lnTo>
                  <a:lnTo>
                    <a:pt x="0" y="64008"/>
                  </a:lnTo>
                  <a:lnTo>
                    <a:pt x="0" y="377952"/>
                  </a:lnTo>
                  <a:lnTo>
                    <a:pt x="5333" y="402082"/>
                  </a:lnTo>
                  <a:lnTo>
                    <a:pt x="19430" y="422529"/>
                  </a:lnTo>
                  <a:lnTo>
                    <a:pt x="39750" y="436625"/>
                  </a:lnTo>
                  <a:lnTo>
                    <a:pt x="63880" y="441960"/>
                  </a:lnTo>
                  <a:lnTo>
                    <a:pt x="89280" y="436625"/>
                  </a:lnTo>
                  <a:lnTo>
                    <a:pt x="109474" y="422529"/>
                  </a:lnTo>
                  <a:lnTo>
                    <a:pt x="122935" y="402082"/>
                  </a:lnTo>
                  <a:lnTo>
                    <a:pt x="127761" y="377952"/>
                  </a:lnTo>
                  <a:lnTo>
                    <a:pt x="127761" y="64008"/>
                  </a:lnTo>
                  <a:lnTo>
                    <a:pt x="122935" y="38608"/>
                  </a:lnTo>
                  <a:lnTo>
                    <a:pt x="109474" y="18287"/>
                  </a:lnTo>
                  <a:lnTo>
                    <a:pt x="89280" y="4825"/>
                  </a:lnTo>
                  <a:lnTo>
                    <a:pt x="6388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8510015" y="1935480"/>
              <a:ext cx="128270" cy="441959"/>
            </a:xfrm>
            <a:custGeom>
              <a:avLst/>
              <a:gdLst/>
              <a:ahLst/>
              <a:cxnLst/>
              <a:rect l="l" t="t" r="r" b="b"/>
              <a:pathLst>
                <a:path w="128270" h="441960">
                  <a:moveTo>
                    <a:pt x="63880" y="0"/>
                  </a:moveTo>
                  <a:lnTo>
                    <a:pt x="39750" y="4825"/>
                  </a:lnTo>
                  <a:lnTo>
                    <a:pt x="19430" y="18287"/>
                  </a:lnTo>
                  <a:lnTo>
                    <a:pt x="5333" y="38608"/>
                  </a:lnTo>
                  <a:lnTo>
                    <a:pt x="0" y="64008"/>
                  </a:lnTo>
                  <a:lnTo>
                    <a:pt x="0" y="377952"/>
                  </a:lnTo>
                  <a:lnTo>
                    <a:pt x="5333" y="402082"/>
                  </a:lnTo>
                  <a:lnTo>
                    <a:pt x="19430" y="422529"/>
                  </a:lnTo>
                  <a:lnTo>
                    <a:pt x="39750" y="436625"/>
                  </a:lnTo>
                  <a:lnTo>
                    <a:pt x="63880" y="441960"/>
                  </a:lnTo>
                  <a:lnTo>
                    <a:pt x="89280" y="436625"/>
                  </a:lnTo>
                  <a:lnTo>
                    <a:pt x="109474" y="422529"/>
                  </a:lnTo>
                  <a:lnTo>
                    <a:pt x="122935" y="402082"/>
                  </a:lnTo>
                  <a:lnTo>
                    <a:pt x="127761" y="377952"/>
                  </a:lnTo>
                  <a:lnTo>
                    <a:pt x="127761" y="64008"/>
                  </a:lnTo>
                  <a:lnTo>
                    <a:pt x="122935" y="38608"/>
                  </a:lnTo>
                  <a:lnTo>
                    <a:pt x="109474" y="18287"/>
                  </a:lnTo>
                  <a:lnTo>
                    <a:pt x="89280" y="4825"/>
                  </a:lnTo>
                  <a:lnTo>
                    <a:pt x="6388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8638032" y="1886712"/>
              <a:ext cx="606425" cy="243840"/>
            </a:xfrm>
            <a:custGeom>
              <a:avLst/>
              <a:gdLst/>
              <a:ahLst/>
              <a:cxnLst/>
              <a:rect l="l" t="t" r="r" b="b"/>
              <a:pathLst>
                <a:path w="606425" h="243839">
                  <a:moveTo>
                    <a:pt x="606044" y="243839"/>
                  </a:moveTo>
                  <a:lnTo>
                    <a:pt x="0" y="243839"/>
                  </a:lnTo>
                </a:path>
                <a:path w="606425" h="243839">
                  <a:moveTo>
                    <a:pt x="606044" y="243839"/>
                  </a:moveTo>
                  <a:lnTo>
                    <a:pt x="606044" y="0"/>
                  </a:lnTo>
                </a:path>
              </a:pathLst>
            </a:custGeom>
            <a:ln w="39624">
              <a:solidFill>
                <a:srgbClr val="3980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9028176" y="3310127"/>
              <a:ext cx="173990" cy="588010"/>
            </a:xfrm>
            <a:custGeom>
              <a:avLst/>
              <a:gdLst/>
              <a:ahLst/>
              <a:cxnLst/>
              <a:rect l="l" t="t" r="r" b="b"/>
              <a:pathLst>
                <a:path w="173990" h="588010">
                  <a:moveTo>
                    <a:pt x="85217" y="0"/>
                  </a:moveTo>
                  <a:lnTo>
                    <a:pt x="52704" y="6858"/>
                  </a:lnTo>
                  <a:lnTo>
                    <a:pt x="25526" y="25526"/>
                  </a:lnTo>
                  <a:lnTo>
                    <a:pt x="6857" y="52705"/>
                  </a:lnTo>
                  <a:lnTo>
                    <a:pt x="0" y="85344"/>
                  </a:lnTo>
                  <a:lnTo>
                    <a:pt x="0" y="499491"/>
                  </a:lnTo>
                  <a:lnTo>
                    <a:pt x="6857" y="533908"/>
                  </a:lnTo>
                  <a:lnTo>
                    <a:pt x="25526" y="561975"/>
                  </a:lnTo>
                  <a:lnTo>
                    <a:pt x="52704" y="580898"/>
                  </a:lnTo>
                  <a:lnTo>
                    <a:pt x="85217" y="587883"/>
                  </a:lnTo>
                  <a:lnTo>
                    <a:pt x="119506" y="580898"/>
                  </a:lnTo>
                  <a:lnTo>
                    <a:pt x="147574" y="561975"/>
                  </a:lnTo>
                  <a:lnTo>
                    <a:pt x="166497" y="533908"/>
                  </a:lnTo>
                  <a:lnTo>
                    <a:pt x="173481" y="499491"/>
                  </a:lnTo>
                  <a:lnTo>
                    <a:pt x="173481" y="85344"/>
                  </a:lnTo>
                  <a:lnTo>
                    <a:pt x="166497" y="52705"/>
                  </a:lnTo>
                  <a:lnTo>
                    <a:pt x="147574" y="25526"/>
                  </a:lnTo>
                  <a:lnTo>
                    <a:pt x="119506" y="6858"/>
                  </a:lnTo>
                  <a:lnTo>
                    <a:pt x="85217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9028176" y="3310127"/>
              <a:ext cx="173990" cy="588010"/>
            </a:xfrm>
            <a:custGeom>
              <a:avLst/>
              <a:gdLst/>
              <a:ahLst/>
              <a:cxnLst/>
              <a:rect l="l" t="t" r="r" b="b"/>
              <a:pathLst>
                <a:path w="173990" h="588010">
                  <a:moveTo>
                    <a:pt x="85217" y="0"/>
                  </a:moveTo>
                  <a:lnTo>
                    <a:pt x="52704" y="6858"/>
                  </a:lnTo>
                  <a:lnTo>
                    <a:pt x="25526" y="25526"/>
                  </a:lnTo>
                  <a:lnTo>
                    <a:pt x="6857" y="52705"/>
                  </a:lnTo>
                  <a:lnTo>
                    <a:pt x="0" y="85344"/>
                  </a:lnTo>
                  <a:lnTo>
                    <a:pt x="0" y="499491"/>
                  </a:lnTo>
                  <a:lnTo>
                    <a:pt x="6857" y="533908"/>
                  </a:lnTo>
                  <a:lnTo>
                    <a:pt x="25526" y="561975"/>
                  </a:lnTo>
                  <a:lnTo>
                    <a:pt x="52704" y="580898"/>
                  </a:lnTo>
                  <a:lnTo>
                    <a:pt x="85217" y="587883"/>
                  </a:lnTo>
                  <a:lnTo>
                    <a:pt x="119506" y="580898"/>
                  </a:lnTo>
                  <a:lnTo>
                    <a:pt x="147574" y="561975"/>
                  </a:lnTo>
                  <a:lnTo>
                    <a:pt x="166497" y="533908"/>
                  </a:lnTo>
                  <a:lnTo>
                    <a:pt x="173481" y="499491"/>
                  </a:lnTo>
                  <a:lnTo>
                    <a:pt x="173481" y="85344"/>
                  </a:lnTo>
                  <a:lnTo>
                    <a:pt x="166497" y="52705"/>
                  </a:lnTo>
                  <a:lnTo>
                    <a:pt x="147574" y="25526"/>
                  </a:lnTo>
                  <a:lnTo>
                    <a:pt x="119506" y="6858"/>
                  </a:lnTo>
                  <a:lnTo>
                    <a:pt x="85217" y="0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811767" y="3752088"/>
              <a:ext cx="0" cy="341630"/>
            </a:xfrm>
            <a:custGeom>
              <a:avLst/>
              <a:gdLst/>
              <a:ahLst/>
              <a:cxnLst/>
              <a:rect l="l" t="t" r="r" b="b"/>
              <a:pathLst>
                <a:path w="0" h="341629">
                  <a:moveTo>
                    <a:pt x="0" y="341122"/>
                  </a:moveTo>
                  <a:lnTo>
                    <a:pt x="0" y="0"/>
                  </a:lnTo>
                </a:path>
              </a:pathLst>
            </a:custGeom>
            <a:ln w="39624">
              <a:solidFill>
                <a:srgbClr val="39802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" name="object 100"/>
          <p:cNvSpPr txBox="1"/>
          <p:nvPr/>
        </p:nvSpPr>
        <p:spPr>
          <a:xfrm>
            <a:off x="7614031" y="5157978"/>
            <a:ext cx="1981835" cy="64770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80340" marR="5080" indent="-167640">
              <a:lnSpc>
                <a:spcPct val="70000"/>
              </a:lnSpc>
              <a:spcBef>
                <a:spcPts val="965"/>
              </a:spcBef>
              <a:tabLst>
                <a:tab pos="1466215" algn="l"/>
              </a:tabLst>
            </a:pP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Memory</a:t>
            </a:r>
            <a:r>
              <a:rPr dirty="0" sz="2400" spc="60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25" b="1">
                <a:solidFill>
                  <a:srgbClr val="FF0000"/>
                </a:solidFill>
                <a:latin typeface="Times New Roman"/>
                <a:cs typeface="Times New Roman"/>
              </a:rPr>
              <a:t>MEM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400" spc="-40" b="1">
                <a:solidFill>
                  <a:srgbClr val="FF0000"/>
                </a:solidFill>
                <a:latin typeface="Times New Roman"/>
                <a:cs typeface="Times New Roman"/>
              </a:rPr>
              <a:t>WB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2951988" y="1274064"/>
            <a:ext cx="6364605" cy="4745990"/>
            <a:chOff x="2951988" y="1274064"/>
            <a:chExt cx="6364605" cy="4745990"/>
          </a:xfrm>
        </p:grpSpPr>
        <p:pic>
          <p:nvPicPr>
            <p:cNvPr id="102" name="object 10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46776" y="3505200"/>
              <a:ext cx="77215" cy="112522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4876800" y="3541648"/>
              <a:ext cx="685800" cy="40005"/>
            </a:xfrm>
            <a:custGeom>
              <a:avLst/>
              <a:gdLst/>
              <a:ahLst/>
              <a:cxnLst/>
              <a:rect l="l" t="t" r="r" b="b"/>
              <a:pathLst>
                <a:path w="685800" h="40004">
                  <a:moveTo>
                    <a:pt x="569976" y="88"/>
                  </a:moveTo>
                  <a:lnTo>
                    <a:pt x="0" y="88"/>
                  </a:lnTo>
                  <a:lnTo>
                    <a:pt x="0" y="39624"/>
                  </a:lnTo>
                  <a:lnTo>
                    <a:pt x="569976" y="39624"/>
                  </a:lnTo>
                  <a:lnTo>
                    <a:pt x="569976" y="88"/>
                  </a:lnTo>
                  <a:close/>
                </a:path>
                <a:path w="685800" h="40004">
                  <a:moveTo>
                    <a:pt x="685800" y="21336"/>
                  </a:moveTo>
                  <a:lnTo>
                    <a:pt x="643128" y="0"/>
                  </a:lnTo>
                  <a:lnTo>
                    <a:pt x="591312" y="0"/>
                  </a:lnTo>
                  <a:lnTo>
                    <a:pt x="591312" y="39624"/>
                  </a:lnTo>
                  <a:lnTo>
                    <a:pt x="647192" y="39624"/>
                  </a:lnTo>
                  <a:lnTo>
                    <a:pt x="685800" y="21336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2971800" y="2115312"/>
              <a:ext cx="6324600" cy="2679065"/>
            </a:xfrm>
            <a:custGeom>
              <a:avLst/>
              <a:gdLst/>
              <a:ahLst/>
              <a:cxnLst/>
              <a:rect l="l" t="t" r="r" b="b"/>
              <a:pathLst>
                <a:path w="6324600" h="2679065">
                  <a:moveTo>
                    <a:pt x="2057400" y="2285618"/>
                  </a:moveTo>
                  <a:lnTo>
                    <a:pt x="2057400" y="1752218"/>
                  </a:lnTo>
                </a:path>
                <a:path w="6324600" h="2679065">
                  <a:moveTo>
                    <a:pt x="0" y="0"/>
                  </a:moveTo>
                  <a:lnTo>
                    <a:pt x="0" y="685673"/>
                  </a:lnTo>
                </a:path>
                <a:path w="6324600" h="2679065">
                  <a:moveTo>
                    <a:pt x="6324600" y="2678684"/>
                  </a:moveTo>
                  <a:lnTo>
                    <a:pt x="6324600" y="1447546"/>
                  </a:lnTo>
                </a:path>
                <a:path w="6324600" h="2679065">
                  <a:moveTo>
                    <a:pt x="304800" y="2666492"/>
                  </a:moveTo>
                  <a:lnTo>
                    <a:pt x="6324600" y="2666492"/>
                  </a:lnTo>
                </a:path>
              </a:pathLst>
            </a:custGeom>
            <a:ln w="39624">
              <a:solidFill>
                <a:srgbClr val="3980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5103876" y="1274064"/>
              <a:ext cx="3810000" cy="4745990"/>
            </a:xfrm>
            <a:custGeom>
              <a:avLst/>
              <a:gdLst/>
              <a:ahLst/>
              <a:cxnLst/>
              <a:rect l="l" t="t" r="r" b="b"/>
              <a:pathLst>
                <a:path w="3810000" h="4745990">
                  <a:moveTo>
                    <a:pt x="0" y="0"/>
                  </a:moveTo>
                  <a:lnTo>
                    <a:pt x="0" y="4724145"/>
                  </a:lnTo>
                </a:path>
                <a:path w="3810000" h="4745990">
                  <a:moveTo>
                    <a:pt x="2209673" y="0"/>
                  </a:moveTo>
                  <a:lnTo>
                    <a:pt x="2209673" y="4724145"/>
                  </a:lnTo>
                </a:path>
                <a:path w="3810000" h="4745990">
                  <a:moveTo>
                    <a:pt x="3809873" y="21335"/>
                  </a:moveTo>
                  <a:lnTo>
                    <a:pt x="3809873" y="4745481"/>
                  </a:lnTo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417570" y="3605657"/>
              <a:ext cx="111632" cy="75945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3124200" y="3566159"/>
              <a:ext cx="377825" cy="91440"/>
            </a:xfrm>
            <a:custGeom>
              <a:avLst/>
              <a:gdLst/>
              <a:ahLst/>
              <a:cxnLst/>
              <a:rect l="l" t="t" r="r" b="b"/>
              <a:pathLst>
                <a:path w="377825" h="91439">
                  <a:moveTo>
                    <a:pt x="377825" y="39497"/>
                  </a:moveTo>
                  <a:lnTo>
                    <a:pt x="289306" y="0"/>
                  </a:lnTo>
                  <a:lnTo>
                    <a:pt x="291465" y="40259"/>
                  </a:lnTo>
                  <a:lnTo>
                    <a:pt x="0" y="51689"/>
                  </a:lnTo>
                  <a:lnTo>
                    <a:pt x="0" y="91186"/>
                  </a:lnTo>
                  <a:lnTo>
                    <a:pt x="293370" y="76835"/>
                  </a:lnTo>
                  <a:lnTo>
                    <a:pt x="310642" y="75946"/>
                  </a:lnTo>
                  <a:lnTo>
                    <a:pt x="310642" y="39497"/>
                  </a:lnTo>
                  <a:lnTo>
                    <a:pt x="377825" y="39497"/>
                  </a:lnTo>
                  <a:close/>
                </a:path>
              </a:pathLst>
            </a:custGeom>
            <a:solidFill>
              <a:srgbClr val="3980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276600" y="3733800"/>
              <a:ext cx="228600" cy="112775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477000" y="2438400"/>
              <a:ext cx="335279" cy="112522"/>
            </a:xfrm>
            <a:prstGeom prst="rect">
              <a:avLst/>
            </a:prstGeom>
          </p:spPr>
        </p:pic>
      </p:grpSp>
      <p:sp>
        <p:nvSpPr>
          <p:cNvPr id="110" name="object 1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2835" y="709930"/>
            <a:ext cx="2875280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4"/>
              <a:t>Reality</a:t>
            </a:r>
            <a:r>
              <a:rPr dirty="0" spc="-365"/>
              <a:t> </a:t>
            </a:r>
            <a:r>
              <a:rPr dirty="0" spc="-315"/>
              <a:t>Check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17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2835" y="1348485"/>
            <a:ext cx="7941945" cy="4341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6870" marR="700405" indent="-344805">
              <a:lnSpc>
                <a:spcPct val="100000"/>
              </a:lnSpc>
              <a:spcBef>
                <a:spcPts val="10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 sz="3000">
                <a:latin typeface="Arial MT"/>
                <a:cs typeface="Arial MT"/>
              </a:rPr>
              <a:t>Problem:</a:t>
            </a:r>
            <a:r>
              <a:rPr dirty="0" sz="3000" spc="-8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There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could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be</a:t>
            </a:r>
            <a:r>
              <a:rPr dirty="0" sz="3000" spc="-6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many</a:t>
            </a:r>
            <a:r>
              <a:rPr dirty="0" sz="3000" spc="-9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programs </a:t>
            </a:r>
            <a:r>
              <a:rPr dirty="0" sz="3000">
                <a:latin typeface="Arial MT"/>
                <a:cs typeface="Arial MT"/>
              </a:rPr>
              <a:t>running</a:t>
            </a:r>
            <a:r>
              <a:rPr dirty="0" sz="3000" spc="-12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on</a:t>
            </a:r>
            <a:r>
              <a:rPr dirty="0" sz="3000" spc="-8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machine</a:t>
            </a:r>
            <a:r>
              <a:rPr dirty="0" sz="3000" spc="-7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concurrently</a:t>
            </a:r>
            <a:endParaRPr sz="30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70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 sz="3000">
                <a:latin typeface="Arial MT"/>
                <a:cs typeface="Arial MT"/>
              </a:rPr>
              <a:t>Sharing</a:t>
            </a:r>
            <a:r>
              <a:rPr dirty="0" sz="3000" spc="-9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the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resources</a:t>
            </a:r>
            <a:r>
              <a:rPr dirty="0" sz="3000" spc="-8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of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the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computer</a:t>
            </a:r>
            <a:endParaRPr sz="30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710"/>
              </a:spcBef>
              <a:buClr>
                <a:srgbClr val="39802D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Processor</a:t>
            </a:r>
            <a:r>
              <a:rPr dirty="0" sz="2600" spc="-15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time</a:t>
            </a:r>
            <a:endParaRPr sz="26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600"/>
              </a:spcBef>
              <a:buClr>
                <a:srgbClr val="39802D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Main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memory</a:t>
            </a:r>
            <a:endParaRPr sz="26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695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 sz="3000">
                <a:latin typeface="Arial MT"/>
                <a:cs typeface="Arial MT"/>
              </a:rPr>
              <a:t>They</a:t>
            </a:r>
            <a:r>
              <a:rPr dirty="0" sz="3000" spc="-8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must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be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protected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from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each</a:t>
            </a:r>
            <a:r>
              <a:rPr dirty="0" sz="3000" spc="-8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other</a:t>
            </a:r>
            <a:endParaRPr sz="3000">
              <a:latin typeface="Arial MT"/>
              <a:cs typeface="Arial MT"/>
            </a:endParaRPr>
          </a:p>
          <a:p>
            <a:pPr lvl="1" marL="683260" marR="510540" indent="-326390">
              <a:lnSpc>
                <a:spcPct val="101200"/>
              </a:lnSpc>
              <a:spcBef>
                <a:spcPts val="409"/>
              </a:spcBef>
              <a:buClr>
                <a:srgbClr val="39802D"/>
              </a:buClr>
              <a:buSzPct val="61538"/>
              <a:buFont typeface="Wingdings"/>
              <a:buChar char=""/>
              <a:tabLst>
                <a:tab pos="683260" algn="l"/>
              </a:tabLst>
            </a:pPr>
            <a:r>
              <a:rPr dirty="0" sz="2600">
                <a:latin typeface="Arial MT"/>
                <a:cs typeface="Arial MT"/>
              </a:rPr>
              <a:t>One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program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should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able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access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>
                <a:latin typeface="Arial MT"/>
                <a:cs typeface="Arial MT"/>
              </a:rPr>
              <a:t>variables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another</a:t>
            </a:r>
            <a:endParaRPr sz="26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795"/>
              </a:spcBef>
              <a:buClr>
                <a:srgbClr val="39802D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-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typically</a:t>
            </a:r>
            <a:r>
              <a:rPr dirty="0" sz="2600" spc="-1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done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through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0066FF"/>
                </a:solidFill>
                <a:latin typeface="Arial MT"/>
                <a:cs typeface="Arial MT"/>
              </a:rPr>
              <a:t>Address</a:t>
            </a:r>
            <a:r>
              <a:rPr dirty="0" sz="2600" spc="-90">
                <a:solidFill>
                  <a:srgbClr val="0066FF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0066FF"/>
                </a:solidFill>
                <a:latin typeface="Arial MT"/>
                <a:cs typeface="Arial MT"/>
              </a:rPr>
              <a:t>Translation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90"/>
              <a:t>Use</a:t>
            </a:r>
            <a:r>
              <a:rPr dirty="0" spc="-509"/>
              <a:t> </a:t>
            </a:r>
            <a:r>
              <a:rPr dirty="0"/>
              <a:t>of</a:t>
            </a:r>
            <a:r>
              <a:rPr dirty="0" spc="-110"/>
              <a:t> </a:t>
            </a:r>
            <a:r>
              <a:rPr dirty="0" spc="-190"/>
              <a:t>Main</a:t>
            </a:r>
            <a:r>
              <a:rPr dirty="0" spc="-315"/>
              <a:t> </a:t>
            </a:r>
            <a:r>
              <a:rPr dirty="0" spc="-240"/>
              <a:t>Memory</a:t>
            </a:r>
            <a:r>
              <a:rPr dirty="0" spc="-360"/>
              <a:t> </a:t>
            </a:r>
            <a:r>
              <a:rPr dirty="0" spc="-170"/>
              <a:t>by</a:t>
            </a:r>
            <a:r>
              <a:rPr dirty="0" spc="-385"/>
              <a:t> </a:t>
            </a:r>
            <a:r>
              <a:rPr dirty="0" spc="-30"/>
              <a:t>a</a:t>
            </a:r>
            <a:r>
              <a:rPr dirty="0" spc="-745"/>
              <a:t> </a:t>
            </a:r>
            <a:r>
              <a:rPr dirty="0" spc="-300"/>
              <a:t>Program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0965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795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/>
              <a:t>Instructions</a:t>
            </a:r>
            <a:r>
              <a:rPr dirty="0" spc="-120"/>
              <a:t> </a:t>
            </a:r>
            <a:r>
              <a:rPr dirty="0"/>
              <a:t>(code,</a:t>
            </a:r>
            <a:r>
              <a:rPr dirty="0" spc="-120"/>
              <a:t> </a:t>
            </a:r>
            <a:r>
              <a:rPr dirty="0" spc="-10"/>
              <a:t>text)</a:t>
            </a:r>
          </a:p>
          <a:p>
            <a:pPr marL="356870" indent="-344170">
              <a:lnSpc>
                <a:spcPct val="100000"/>
              </a:lnSpc>
              <a:spcBef>
                <a:spcPts val="70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 spc="-20"/>
              <a:t>Data</a:t>
            </a:r>
          </a:p>
          <a:p>
            <a:pPr lvl="1" marL="682625" indent="-325755">
              <a:lnSpc>
                <a:spcPct val="100000"/>
              </a:lnSpc>
              <a:spcBef>
                <a:spcPts val="715"/>
              </a:spcBef>
              <a:buClr>
                <a:srgbClr val="39802D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Statically</a:t>
            </a:r>
            <a:r>
              <a:rPr dirty="0" sz="2600" spc="-114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allocated</a:t>
            </a:r>
            <a:endParaRPr sz="26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600"/>
              </a:spcBef>
              <a:buClr>
                <a:srgbClr val="39802D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Stack</a:t>
            </a:r>
            <a:r>
              <a:rPr dirty="0" sz="2600" spc="-1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allocated</a:t>
            </a:r>
            <a:endParaRPr sz="26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710"/>
              </a:spcBef>
              <a:buClr>
                <a:srgbClr val="39802D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Heap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allocated</a:t>
            </a:r>
            <a:endParaRPr sz="26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29921" y="1880425"/>
          <a:ext cx="2350135" cy="4606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6650"/>
                <a:gridCol w="1127125"/>
              </a:tblGrid>
              <a:tr h="115125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610235">
                        <a:lnSpc>
                          <a:spcPct val="100000"/>
                        </a:lnSpc>
                      </a:pPr>
                      <a:r>
                        <a:rPr dirty="0" sz="2400" spc="-20">
                          <a:latin typeface="Arial MT"/>
                          <a:cs typeface="Arial MT"/>
                        </a:rPr>
                        <a:t>text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87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80744">
                <a:tc gridSpan="2">
                  <a:txBody>
                    <a:bodyPr/>
                    <a:lstStyle/>
                    <a:p>
                      <a:pPr marL="610235">
                        <a:lnSpc>
                          <a:spcPct val="100000"/>
                        </a:lnSpc>
                        <a:spcBef>
                          <a:spcPts val="2030"/>
                        </a:spcBef>
                      </a:pPr>
                      <a:r>
                        <a:rPr dirty="0" sz="2400" spc="-20">
                          <a:latin typeface="Arial MT"/>
                          <a:cs typeface="Arial MT"/>
                        </a:rPr>
                        <a:t>data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2578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55320">
                <a:tc gridSpan="2">
                  <a:txBody>
                    <a:bodyPr/>
                    <a:lstStyle/>
                    <a:p>
                      <a:pPr marL="610235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dirty="0" sz="2400" spc="-10">
                          <a:latin typeface="Arial MT"/>
                          <a:cs typeface="Arial MT"/>
                        </a:rPr>
                        <a:t>stack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16383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14173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7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9745">
                <a:tc gridSpan="2">
                  <a:txBody>
                    <a:bodyPr/>
                    <a:lstStyle/>
                    <a:p>
                      <a:pPr marL="61023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2400" spc="-20">
                          <a:latin typeface="Arial MT"/>
                          <a:cs typeface="Arial MT"/>
                        </a:rPr>
                        <a:t>heap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3488" y="5654040"/>
            <a:ext cx="76200" cy="762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33488" y="4572000"/>
            <a:ext cx="76200" cy="27431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010402" y="1805381"/>
            <a:ext cx="1955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Arial MT"/>
                <a:cs typeface="Arial MT"/>
              </a:rPr>
              <a:t>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18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72989" y="6372555"/>
            <a:ext cx="8813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2</a:t>
            </a:r>
            <a:r>
              <a:rPr dirty="0" baseline="20833" sz="2400">
                <a:latin typeface="Arial MT"/>
                <a:cs typeface="Arial MT"/>
              </a:rPr>
              <a:t>32</a:t>
            </a:r>
            <a:r>
              <a:rPr dirty="0" baseline="20833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-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2835" y="709930"/>
            <a:ext cx="582231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40"/>
              <a:t>Idea</a:t>
            </a:r>
            <a:r>
              <a:rPr dirty="0" spc="-405"/>
              <a:t> </a:t>
            </a:r>
            <a:r>
              <a:rPr dirty="0"/>
              <a:t>of</a:t>
            </a:r>
            <a:r>
              <a:rPr dirty="0" spc="-125"/>
              <a:t> </a:t>
            </a:r>
            <a:r>
              <a:rPr dirty="0" spc="-280"/>
              <a:t>Address</a:t>
            </a:r>
            <a:r>
              <a:rPr dirty="0" spc="-455"/>
              <a:t> </a:t>
            </a:r>
            <a:r>
              <a:rPr dirty="0" spc="-170"/>
              <a:t>Translation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19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693" y="1348562"/>
            <a:ext cx="8207375" cy="4690745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370840" marR="552450" indent="-346075">
              <a:lnSpc>
                <a:spcPts val="2500"/>
              </a:lnSpc>
              <a:spcBef>
                <a:spcPts val="705"/>
              </a:spcBef>
              <a:buClr>
                <a:srgbClr val="CC9900"/>
              </a:buClr>
              <a:buSzPct val="65384"/>
              <a:buFont typeface="Wingdings"/>
              <a:buChar char=""/>
              <a:tabLst>
                <a:tab pos="370840" algn="l"/>
              </a:tabLst>
            </a:pPr>
            <a:r>
              <a:rPr dirty="0" sz="2600">
                <a:latin typeface="Arial MT"/>
                <a:cs typeface="Arial MT"/>
              </a:rPr>
              <a:t>Each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program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compiled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use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addresses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>
                <a:latin typeface="Arial MT"/>
                <a:cs typeface="Arial MT"/>
              </a:rPr>
              <a:t>range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0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..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MaxAddress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(e.g.,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0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..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2</a:t>
            </a:r>
            <a:r>
              <a:rPr dirty="0" baseline="21241" sz="2550">
                <a:latin typeface="Arial MT"/>
                <a:cs typeface="Arial MT"/>
              </a:rPr>
              <a:t>32</a:t>
            </a:r>
            <a:r>
              <a:rPr dirty="0" baseline="21241" sz="255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-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1)</a:t>
            </a:r>
            <a:endParaRPr sz="2600">
              <a:latin typeface="Arial MT"/>
              <a:cs typeface="Arial MT"/>
            </a:endParaRPr>
          </a:p>
          <a:p>
            <a:pPr marL="370840" marR="1202690" indent="-346075">
              <a:lnSpc>
                <a:spcPct val="80000"/>
              </a:lnSpc>
              <a:spcBef>
                <a:spcPts val="620"/>
              </a:spcBef>
              <a:buClr>
                <a:srgbClr val="CC9900"/>
              </a:buClr>
              <a:buSzPct val="65384"/>
              <a:buFont typeface="Wingdings"/>
              <a:buChar char=""/>
              <a:tabLst>
                <a:tab pos="370840" algn="l"/>
              </a:tabLst>
            </a:pPr>
            <a:r>
              <a:rPr dirty="0" sz="2600">
                <a:latin typeface="Arial MT"/>
                <a:cs typeface="Arial MT"/>
              </a:rPr>
              <a:t>These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addresses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are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real,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but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only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Virtual Addresses</a:t>
            </a:r>
            <a:endParaRPr sz="2600">
              <a:latin typeface="Arial MT"/>
              <a:cs typeface="Arial MT"/>
            </a:endParaRPr>
          </a:p>
          <a:p>
            <a:pPr marL="370840" marR="267335" indent="-346075">
              <a:lnSpc>
                <a:spcPct val="80000"/>
              </a:lnSpc>
              <a:spcBef>
                <a:spcPts val="610"/>
              </a:spcBef>
              <a:buClr>
                <a:srgbClr val="CC9900"/>
              </a:buClr>
              <a:buSzPct val="65384"/>
              <a:buFont typeface="Wingdings"/>
              <a:buChar char=""/>
              <a:tabLst>
                <a:tab pos="370840" algn="l"/>
              </a:tabLst>
            </a:pPr>
            <a:r>
              <a:rPr dirty="0" sz="2600">
                <a:latin typeface="Arial MT"/>
                <a:cs typeface="Arial MT"/>
              </a:rPr>
              <a:t>They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have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translated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into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actual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main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memory addresses</a:t>
            </a:r>
            <a:endParaRPr sz="2600">
              <a:latin typeface="Arial MT"/>
              <a:cs typeface="Arial MT"/>
            </a:endParaRPr>
          </a:p>
          <a:p>
            <a:pPr marL="370840" marR="31750" indent="-346075">
              <a:lnSpc>
                <a:spcPts val="2500"/>
              </a:lnSpc>
              <a:spcBef>
                <a:spcPts val="580"/>
              </a:spcBef>
              <a:buClr>
                <a:srgbClr val="CC9900"/>
              </a:buClr>
              <a:buSzPct val="65384"/>
              <a:buFont typeface="Wingdings"/>
              <a:buChar char=""/>
              <a:tabLst>
                <a:tab pos="370840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translation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can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done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ensure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that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one </a:t>
            </a:r>
            <a:r>
              <a:rPr dirty="0" sz="2600">
                <a:latin typeface="Arial MT"/>
                <a:cs typeface="Arial MT"/>
              </a:rPr>
              <a:t>program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can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access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variables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another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program</a:t>
            </a:r>
            <a:endParaRPr sz="2600">
              <a:latin typeface="Arial MT"/>
              <a:cs typeface="Arial MT"/>
            </a:endParaRPr>
          </a:p>
          <a:p>
            <a:pPr marL="370840" marR="486409" indent="-346075">
              <a:lnSpc>
                <a:spcPct val="80000"/>
              </a:lnSpc>
              <a:spcBef>
                <a:spcPts val="615"/>
              </a:spcBef>
              <a:buClr>
                <a:srgbClr val="CC9900"/>
              </a:buClr>
              <a:buSzPct val="65384"/>
              <a:buFont typeface="Wingdings"/>
              <a:buChar char=""/>
              <a:tabLst>
                <a:tab pos="370840" algn="l"/>
              </a:tabLst>
            </a:pPr>
            <a:r>
              <a:rPr dirty="0" sz="2600">
                <a:latin typeface="Arial MT"/>
                <a:cs typeface="Arial MT"/>
              </a:rPr>
              <a:t>Many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programs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execution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can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then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safely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share </a:t>
            </a:r>
            <a:r>
              <a:rPr dirty="0" sz="2600">
                <a:latin typeface="Arial MT"/>
                <a:cs typeface="Arial MT"/>
              </a:rPr>
              <a:t>main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memory</a:t>
            </a:r>
            <a:endParaRPr sz="2600">
              <a:latin typeface="Arial MT"/>
              <a:cs typeface="Arial MT"/>
            </a:endParaRPr>
          </a:p>
          <a:p>
            <a:pPr marL="370840" indent="-344170">
              <a:lnSpc>
                <a:spcPts val="3110"/>
              </a:lnSpc>
              <a:buClr>
                <a:srgbClr val="CC9900"/>
              </a:buClr>
              <a:buSzPct val="65384"/>
              <a:buFont typeface="Wingdings"/>
              <a:buChar char=""/>
              <a:tabLst>
                <a:tab pos="370840" algn="l"/>
              </a:tabLst>
            </a:pPr>
            <a:r>
              <a:rPr dirty="0" sz="2600">
                <a:latin typeface="Arial MT"/>
                <a:cs typeface="Arial MT"/>
              </a:rPr>
              <a:t>Terminology:</a:t>
            </a:r>
            <a:r>
              <a:rPr dirty="0" sz="2600" spc="-160"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0066FF"/>
                </a:solidFill>
                <a:latin typeface="Arial MT"/>
                <a:cs typeface="Arial MT"/>
              </a:rPr>
              <a:t>virtual</a:t>
            </a:r>
            <a:r>
              <a:rPr dirty="0" sz="2600" spc="-130">
                <a:solidFill>
                  <a:srgbClr val="0066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0066FF"/>
                </a:solidFill>
                <a:latin typeface="Arial MT"/>
                <a:cs typeface="Arial MT"/>
              </a:rPr>
              <a:t>address</a:t>
            </a:r>
            <a:r>
              <a:rPr dirty="0" sz="2600">
                <a:latin typeface="Arial MT"/>
                <a:cs typeface="Arial MT"/>
              </a:rPr>
              <a:t>,</a:t>
            </a:r>
            <a:r>
              <a:rPr dirty="0" sz="2600" spc="-145"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0066FF"/>
                </a:solidFill>
                <a:latin typeface="Arial MT"/>
                <a:cs typeface="Arial MT"/>
              </a:rPr>
              <a:t>physical</a:t>
            </a:r>
            <a:r>
              <a:rPr dirty="0" sz="2600" spc="-135">
                <a:solidFill>
                  <a:srgbClr val="0066FF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0066FF"/>
                </a:solidFill>
                <a:latin typeface="Arial MT"/>
                <a:cs typeface="Arial MT"/>
              </a:rPr>
              <a:t>address</a:t>
            </a:r>
            <a:endParaRPr sz="2600">
              <a:latin typeface="Arial MT"/>
              <a:cs typeface="Arial MT"/>
            </a:endParaRPr>
          </a:p>
          <a:p>
            <a:pPr marL="370840" marR="17780" indent="-346075">
              <a:lnSpc>
                <a:spcPts val="2510"/>
              </a:lnSpc>
              <a:spcBef>
                <a:spcPts val="580"/>
              </a:spcBef>
              <a:buClr>
                <a:srgbClr val="CC9900"/>
              </a:buClr>
              <a:buSzPct val="65384"/>
              <a:buFont typeface="Wingdings"/>
              <a:buChar char=""/>
              <a:tabLst>
                <a:tab pos="370840" algn="l"/>
              </a:tabLst>
            </a:pPr>
            <a:r>
              <a:rPr dirty="0" sz="2600">
                <a:solidFill>
                  <a:srgbClr val="0066FF"/>
                </a:solidFill>
                <a:latin typeface="Arial MT"/>
                <a:cs typeface="Arial MT"/>
              </a:rPr>
              <a:t>Memory</a:t>
            </a:r>
            <a:r>
              <a:rPr dirty="0" sz="2600" spc="-110">
                <a:solidFill>
                  <a:srgbClr val="0066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0066FF"/>
                </a:solidFill>
                <a:latin typeface="Arial MT"/>
                <a:cs typeface="Arial MT"/>
              </a:rPr>
              <a:t>Management</a:t>
            </a:r>
            <a:r>
              <a:rPr dirty="0" sz="2600" spc="-85">
                <a:solidFill>
                  <a:srgbClr val="0066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0066FF"/>
                </a:solidFill>
                <a:latin typeface="Arial MT"/>
                <a:cs typeface="Arial MT"/>
              </a:rPr>
              <a:t>Unit</a:t>
            </a:r>
            <a:r>
              <a:rPr dirty="0" sz="2600" spc="-90">
                <a:solidFill>
                  <a:srgbClr val="0066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0066FF"/>
                </a:solidFill>
                <a:latin typeface="Arial MT"/>
                <a:cs typeface="Arial MT"/>
              </a:rPr>
              <a:t>(MMU)</a:t>
            </a:r>
            <a:r>
              <a:rPr dirty="0" sz="2600">
                <a:latin typeface="Arial MT"/>
                <a:cs typeface="Arial MT"/>
              </a:rPr>
              <a:t>:</a:t>
            </a:r>
            <a:r>
              <a:rPr dirty="0" sz="2600" spc="-11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hardware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that </a:t>
            </a:r>
            <a:r>
              <a:rPr dirty="0" sz="2600">
                <a:latin typeface="Arial MT"/>
                <a:cs typeface="Arial MT"/>
              </a:rPr>
              <a:t>does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address</a:t>
            </a:r>
            <a:r>
              <a:rPr dirty="0" sz="2600" spc="-1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translation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70"/>
              <a:t>Rec</a:t>
            </a:r>
            <a:r>
              <a:rPr dirty="0" spc="245"/>
              <a:t>a</a:t>
            </a:r>
            <a:r>
              <a:rPr dirty="0" spc="-445" b="1">
                <a:latin typeface="Arial"/>
                <a:cs typeface="Arial"/>
              </a:rPr>
              <a:t>l</a:t>
            </a:r>
            <a:r>
              <a:rPr dirty="0" spc="-45"/>
              <a:t>:</a:t>
            </a:r>
            <a:r>
              <a:rPr dirty="0" spc="-360"/>
              <a:t> </a:t>
            </a:r>
            <a:r>
              <a:rPr dirty="0" spc="-300"/>
              <a:t>Basic</a:t>
            </a:r>
            <a:r>
              <a:rPr dirty="0" spc="-375"/>
              <a:t> </a:t>
            </a:r>
            <a:r>
              <a:rPr dirty="0" spc="-250"/>
              <a:t>Computer</a:t>
            </a:r>
            <a:r>
              <a:rPr dirty="0" spc="-295"/>
              <a:t> </a:t>
            </a:r>
            <a:r>
              <a:rPr dirty="0" spc="-155"/>
              <a:t>Organization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33800" y="3581400"/>
            <a:ext cx="914400" cy="457200"/>
          </a:xfrm>
          <a:prstGeom prst="rect">
            <a:avLst/>
          </a:prstGeom>
          <a:ln w="27431">
            <a:solidFill>
              <a:srgbClr val="CC3300"/>
            </a:solidFill>
          </a:ln>
        </p:spPr>
        <p:txBody>
          <a:bodyPr wrap="square" lIns="0" tIns="64135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505"/>
              </a:spcBef>
            </a:pPr>
            <a:r>
              <a:rPr dirty="0" sz="1800" spc="55" b="1">
                <a:solidFill>
                  <a:srgbClr val="39802D"/>
                </a:solidFill>
                <a:latin typeface="Arial"/>
                <a:cs typeface="Arial"/>
              </a:rPr>
              <a:t>Cache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34029" y="4100829"/>
            <a:ext cx="2999740" cy="485140"/>
            <a:chOff x="3034029" y="4100829"/>
            <a:chExt cx="2999740" cy="485140"/>
          </a:xfrm>
        </p:grpSpPr>
        <p:sp>
          <p:nvSpPr>
            <p:cNvPr id="5" name="object 5"/>
            <p:cNvSpPr/>
            <p:nvPr/>
          </p:nvSpPr>
          <p:spPr>
            <a:xfrm>
              <a:off x="3047999" y="4114799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112775" y="0"/>
                  </a:moveTo>
                  <a:lnTo>
                    <a:pt x="0" y="91439"/>
                  </a:lnTo>
                  <a:lnTo>
                    <a:pt x="57912" y="91439"/>
                  </a:lnTo>
                  <a:lnTo>
                    <a:pt x="57912" y="365760"/>
                  </a:lnTo>
                  <a:lnTo>
                    <a:pt x="0" y="365760"/>
                  </a:lnTo>
                  <a:lnTo>
                    <a:pt x="112775" y="457200"/>
                  </a:lnTo>
                  <a:lnTo>
                    <a:pt x="228600" y="365760"/>
                  </a:lnTo>
                  <a:lnTo>
                    <a:pt x="170687" y="365760"/>
                  </a:lnTo>
                  <a:lnTo>
                    <a:pt x="170687" y="91439"/>
                  </a:lnTo>
                  <a:lnTo>
                    <a:pt x="228600" y="91439"/>
                  </a:lnTo>
                  <a:lnTo>
                    <a:pt x="112775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047999" y="4114799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112775" y="0"/>
                  </a:moveTo>
                  <a:lnTo>
                    <a:pt x="228600" y="91439"/>
                  </a:lnTo>
                  <a:lnTo>
                    <a:pt x="170687" y="91439"/>
                  </a:lnTo>
                  <a:lnTo>
                    <a:pt x="170687" y="365760"/>
                  </a:lnTo>
                  <a:lnTo>
                    <a:pt x="228600" y="365760"/>
                  </a:lnTo>
                  <a:lnTo>
                    <a:pt x="112775" y="457200"/>
                  </a:lnTo>
                  <a:lnTo>
                    <a:pt x="0" y="365760"/>
                  </a:lnTo>
                  <a:lnTo>
                    <a:pt x="57912" y="365760"/>
                  </a:lnTo>
                  <a:lnTo>
                    <a:pt x="57912" y="91439"/>
                  </a:lnTo>
                  <a:lnTo>
                    <a:pt x="0" y="91439"/>
                  </a:lnTo>
                  <a:lnTo>
                    <a:pt x="112775" y="0"/>
                  </a:lnTo>
                  <a:close/>
                </a:path>
              </a:pathLst>
            </a:custGeom>
            <a:ln w="27432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791200" y="4114799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112775" y="0"/>
                  </a:moveTo>
                  <a:lnTo>
                    <a:pt x="0" y="91439"/>
                  </a:lnTo>
                  <a:lnTo>
                    <a:pt x="57912" y="91439"/>
                  </a:lnTo>
                  <a:lnTo>
                    <a:pt x="57912" y="365760"/>
                  </a:lnTo>
                  <a:lnTo>
                    <a:pt x="0" y="365760"/>
                  </a:lnTo>
                  <a:lnTo>
                    <a:pt x="112775" y="457200"/>
                  </a:lnTo>
                  <a:lnTo>
                    <a:pt x="228600" y="365760"/>
                  </a:lnTo>
                  <a:lnTo>
                    <a:pt x="170687" y="365760"/>
                  </a:lnTo>
                  <a:lnTo>
                    <a:pt x="170687" y="91439"/>
                  </a:lnTo>
                  <a:lnTo>
                    <a:pt x="228600" y="91439"/>
                  </a:lnTo>
                  <a:lnTo>
                    <a:pt x="112775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791200" y="4114799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112775" y="0"/>
                  </a:moveTo>
                  <a:lnTo>
                    <a:pt x="228600" y="91439"/>
                  </a:lnTo>
                  <a:lnTo>
                    <a:pt x="170687" y="91439"/>
                  </a:lnTo>
                  <a:lnTo>
                    <a:pt x="170687" y="365760"/>
                  </a:lnTo>
                  <a:lnTo>
                    <a:pt x="228600" y="365760"/>
                  </a:lnTo>
                  <a:lnTo>
                    <a:pt x="112775" y="457200"/>
                  </a:lnTo>
                  <a:lnTo>
                    <a:pt x="0" y="365760"/>
                  </a:lnTo>
                  <a:lnTo>
                    <a:pt x="57912" y="365760"/>
                  </a:lnTo>
                  <a:lnTo>
                    <a:pt x="57912" y="91439"/>
                  </a:lnTo>
                  <a:lnTo>
                    <a:pt x="0" y="91439"/>
                  </a:lnTo>
                  <a:lnTo>
                    <a:pt x="112775" y="0"/>
                  </a:lnTo>
                  <a:close/>
                </a:path>
              </a:pathLst>
            </a:custGeom>
            <a:ln w="27432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105400" y="2971800"/>
            <a:ext cx="1572895" cy="1115695"/>
          </a:xfrm>
          <a:prstGeom prst="rect">
            <a:avLst/>
          </a:prstGeom>
          <a:ln w="27432">
            <a:solidFill>
              <a:srgbClr val="CC3300"/>
            </a:solidFill>
          </a:ln>
        </p:spPr>
        <p:txBody>
          <a:bodyPr wrap="square" lIns="0" tIns="340360" rIns="0" bIns="0" rtlCol="0" vert="horz">
            <a:spAutoFit/>
          </a:bodyPr>
          <a:lstStyle/>
          <a:p>
            <a:pPr marL="173990">
              <a:lnSpc>
                <a:spcPct val="100000"/>
              </a:lnSpc>
              <a:spcBef>
                <a:spcPts val="2680"/>
              </a:spcBef>
            </a:pPr>
            <a:r>
              <a:rPr dirty="0" sz="2400" spc="-10" b="1">
                <a:solidFill>
                  <a:srgbClr val="39802D"/>
                </a:solidFill>
                <a:latin typeface="Arial"/>
                <a:cs typeface="Arial"/>
              </a:rPr>
              <a:t>Memory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76983" y="5419344"/>
            <a:ext cx="1045844" cy="905510"/>
          </a:xfrm>
          <a:prstGeom prst="rect">
            <a:avLst/>
          </a:prstGeom>
          <a:ln w="27432">
            <a:solidFill>
              <a:srgbClr val="CC3300"/>
            </a:solidFill>
          </a:ln>
        </p:spPr>
        <p:txBody>
          <a:bodyPr wrap="square" lIns="0" tIns="233679" rIns="0" bIns="0" rtlCol="0" vert="horz">
            <a:spAutoFit/>
          </a:bodyPr>
          <a:lstStyle/>
          <a:p>
            <a:pPr marL="283210">
              <a:lnSpc>
                <a:spcPct val="100000"/>
              </a:lnSpc>
              <a:spcBef>
                <a:spcPts val="1839"/>
              </a:spcBef>
            </a:pPr>
            <a:r>
              <a:rPr dirty="0" sz="2400" spc="145" b="1">
                <a:solidFill>
                  <a:srgbClr val="39802D"/>
                </a:solidFill>
                <a:latin typeface="Arial"/>
                <a:cs typeface="Arial"/>
              </a:rPr>
              <a:t>I/O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76630" y="4497070"/>
            <a:ext cx="6047740" cy="518795"/>
            <a:chOff x="976630" y="4497070"/>
            <a:chExt cx="6047740" cy="518795"/>
          </a:xfrm>
        </p:grpSpPr>
        <p:sp>
          <p:nvSpPr>
            <p:cNvPr id="12" name="object 12"/>
            <p:cNvSpPr/>
            <p:nvPr/>
          </p:nvSpPr>
          <p:spPr>
            <a:xfrm>
              <a:off x="990600" y="4511040"/>
              <a:ext cx="6019800" cy="490855"/>
            </a:xfrm>
            <a:custGeom>
              <a:avLst/>
              <a:gdLst/>
              <a:ahLst/>
              <a:cxnLst/>
              <a:rect l="l" t="t" r="r" b="b"/>
              <a:pathLst>
                <a:path w="6019800" h="490854">
                  <a:moveTo>
                    <a:pt x="5678424" y="0"/>
                  </a:moveTo>
                  <a:lnTo>
                    <a:pt x="5678424" y="91440"/>
                  </a:lnTo>
                  <a:lnTo>
                    <a:pt x="341375" y="91440"/>
                  </a:lnTo>
                  <a:lnTo>
                    <a:pt x="341375" y="0"/>
                  </a:lnTo>
                  <a:lnTo>
                    <a:pt x="0" y="243840"/>
                  </a:lnTo>
                  <a:lnTo>
                    <a:pt x="341375" y="490601"/>
                  </a:lnTo>
                  <a:lnTo>
                    <a:pt x="341375" y="399161"/>
                  </a:lnTo>
                  <a:lnTo>
                    <a:pt x="5678424" y="399161"/>
                  </a:lnTo>
                  <a:lnTo>
                    <a:pt x="5678424" y="490601"/>
                  </a:lnTo>
                  <a:lnTo>
                    <a:pt x="6019800" y="243840"/>
                  </a:lnTo>
                  <a:lnTo>
                    <a:pt x="5678424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90600" y="4511040"/>
              <a:ext cx="6019800" cy="490855"/>
            </a:xfrm>
            <a:custGeom>
              <a:avLst/>
              <a:gdLst/>
              <a:ahLst/>
              <a:cxnLst/>
              <a:rect l="l" t="t" r="r" b="b"/>
              <a:pathLst>
                <a:path w="6019800" h="490854">
                  <a:moveTo>
                    <a:pt x="0" y="243840"/>
                  </a:moveTo>
                  <a:lnTo>
                    <a:pt x="341375" y="490601"/>
                  </a:lnTo>
                  <a:lnTo>
                    <a:pt x="341375" y="399161"/>
                  </a:lnTo>
                  <a:lnTo>
                    <a:pt x="5678424" y="399161"/>
                  </a:lnTo>
                  <a:lnTo>
                    <a:pt x="5678424" y="490601"/>
                  </a:lnTo>
                  <a:lnTo>
                    <a:pt x="6019800" y="243840"/>
                  </a:lnTo>
                  <a:lnTo>
                    <a:pt x="5678424" y="0"/>
                  </a:lnTo>
                  <a:lnTo>
                    <a:pt x="5678424" y="91440"/>
                  </a:lnTo>
                  <a:lnTo>
                    <a:pt x="341375" y="91440"/>
                  </a:lnTo>
                  <a:lnTo>
                    <a:pt x="341375" y="0"/>
                  </a:lnTo>
                  <a:lnTo>
                    <a:pt x="0" y="243840"/>
                  </a:lnTo>
                  <a:close/>
                </a:path>
              </a:pathLst>
            </a:custGeom>
            <a:ln w="27432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742435" y="4540377"/>
            <a:ext cx="5099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39802D"/>
                </a:solidFill>
                <a:latin typeface="Times New Roman"/>
                <a:cs typeface="Times New Roman"/>
              </a:rPr>
              <a:t>Bus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76671" y="5419344"/>
            <a:ext cx="1045844" cy="905510"/>
          </a:xfrm>
          <a:prstGeom prst="rect">
            <a:avLst/>
          </a:prstGeom>
          <a:ln w="27431">
            <a:solidFill>
              <a:srgbClr val="CC3300"/>
            </a:solidFill>
          </a:ln>
        </p:spPr>
        <p:txBody>
          <a:bodyPr wrap="square" lIns="0" tIns="233679" rIns="0" bIns="0" rtlCol="0" vert="horz">
            <a:spAutoFit/>
          </a:bodyPr>
          <a:lstStyle/>
          <a:p>
            <a:pPr marL="280670">
              <a:lnSpc>
                <a:spcPct val="100000"/>
              </a:lnSpc>
              <a:spcBef>
                <a:spcPts val="1839"/>
              </a:spcBef>
            </a:pPr>
            <a:r>
              <a:rPr dirty="0" sz="2400" spc="145" b="1">
                <a:solidFill>
                  <a:srgbClr val="39802D"/>
                </a:solidFill>
                <a:latin typeface="Arial"/>
                <a:cs typeface="Arial"/>
              </a:rPr>
              <a:t>I/O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08832" y="5419344"/>
            <a:ext cx="1045844" cy="905510"/>
          </a:xfrm>
          <a:prstGeom prst="rect">
            <a:avLst/>
          </a:prstGeom>
          <a:ln w="27431">
            <a:solidFill>
              <a:srgbClr val="CC3300"/>
            </a:solidFill>
          </a:ln>
        </p:spPr>
        <p:txBody>
          <a:bodyPr wrap="square" lIns="0" tIns="233679" rIns="0" bIns="0" rtlCol="0" vert="horz">
            <a:spAutoFit/>
          </a:bodyPr>
          <a:lstStyle/>
          <a:p>
            <a:pPr marL="283845">
              <a:lnSpc>
                <a:spcPct val="100000"/>
              </a:lnSpc>
              <a:spcBef>
                <a:spcPts val="1839"/>
              </a:spcBef>
            </a:pPr>
            <a:r>
              <a:rPr dirty="0" sz="2400" spc="145" b="1">
                <a:solidFill>
                  <a:srgbClr val="39802D"/>
                </a:solidFill>
                <a:latin typeface="Arial"/>
                <a:cs typeface="Arial"/>
              </a:rPr>
              <a:t>I/O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220467" y="4917947"/>
            <a:ext cx="3822065" cy="515620"/>
            <a:chOff x="2220467" y="4917947"/>
            <a:chExt cx="3822065" cy="515620"/>
          </a:xfrm>
        </p:grpSpPr>
        <p:sp>
          <p:nvSpPr>
            <p:cNvPr id="18" name="object 18"/>
            <p:cNvSpPr/>
            <p:nvPr/>
          </p:nvSpPr>
          <p:spPr>
            <a:xfrm>
              <a:off x="2234183" y="4931663"/>
              <a:ext cx="194945" cy="487680"/>
            </a:xfrm>
            <a:custGeom>
              <a:avLst/>
              <a:gdLst/>
              <a:ahLst/>
              <a:cxnLst/>
              <a:rect l="l" t="t" r="r" b="b"/>
              <a:pathLst>
                <a:path w="194944" h="487679">
                  <a:moveTo>
                    <a:pt x="97282" y="0"/>
                  </a:moveTo>
                  <a:lnTo>
                    <a:pt x="0" y="97536"/>
                  </a:lnTo>
                  <a:lnTo>
                    <a:pt x="48641" y="97536"/>
                  </a:lnTo>
                  <a:lnTo>
                    <a:pt x="48641" y="390144"/>
                  </a:lnTo>
                  <a:lnTo>
                    <a:pt x="0" y="390144"/>
                  </a:lnTo>
                  <a:lnTo>
                    <a:pt x="97282" y="487680"/>
                  </a:lnTo>
                  <a:lnTo>
                    <a:pt x="194564" y="390144"/>
                  </a:lnTo>
                  <a:lnTo>
                    <a:pt x="145923" y="390144"/>
                  </a:lnTo>
                  <a:lnTo>
                    <a:pt x="145923" y="97536"/>
                  </a:lnTo>
                  <a:lnTo>
                    <a:pt x="194564" y="97536"/>
                  </a:lnTo>
                  <a:lnTo>
                    <a:pt x="97282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234183" y="4931663"/>
              <a:ext cx="194945" cy="487680"/>
            </a:xfrm>
            <a:custGeom>
              <a:avLst/>
              <a:gdLst/>
              <a:ahLst/>
              <a:cxnLst/>
              <a:rect l="l" t="t" r="r" b="b"/>
              <a:pathLst>
                <a:path w="194944" h="487679">
                  <a:moveTo>
                    <a:pt x="97282" y="0"/>
                  </a:moveTo>
                  <a:lnTo>
                    <a:pt x="194564" y="97536"/>
                  </a:lnTo>
                  <a:lnTo>
                    <a:pt x="145923" y="97536"/>
                  </a:lnTo>
                  <a:lnTo>
                    <a:pt x="145923" y="390144"/>
                  </a:lnTo>
                  <a:lnTo>
                    <a:pt x="194564" y="390144"/>
                  </a:lnTo>
                  <a:lnTo>
                    <a:pt x="97282" y="487680"/>
                  </a:lnTo>
                  <a:lnTo>
                    <a:pt x="0" y="390144"/>
                  </a:lnTo>
                  <a:lnTo>
                    <a:pt x="48641" y="390144"/>
                  </a:lnTo>
                  <a:lnTo>
                    <a:pt x="48641" y="97536"/>
                  </a:lnTo>
                  <a:lnTo>
                    <a:pt x="0" y="97536"/>
                  </a:lnTo>
                  <a:lnTo>
                    <a:pt x="97282" y="0"/>
                  </a:lnTo>
                  <a:close/>
                </a:path>
              </a:pathLst>
            </a:custGeom>
            <a:ln w="27432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833871" y="4931663"/>
              <a:ext cx="194945" cy="487680"/>
            </a:xfrm>
            <a:custGeom>
              <a:avLst/>
              <a:gdLst/>
              <a:ahLst/>
              <a:cxnLst/>
              <a:rect l="l" t="t" r="r" b="b"/>
              <a:pathLst>
                <a:path w="194945" h="487679">
                  <a:moveTo>
                    <a:pt x="97281" y="0"/>
                  </a:moveTo>
                  <a:lnTo>
                    <a:pt x="0" y="97536"/>
                  </a:lnTo>
                  <a:lnTo>
                    <a:pt x="48640" y="97536"/>
                  </a:lnTo>
                  <a:lnTo>
                    <a:pt x="48640" y="390144"/>
                  </a:lnTo>
                  <a:lnTo>
                    <a:pt x="0" y="390144"/>
                  </a:lnTo>
                  <a:lnTo>
                    <a:pt x="97281" y="487680"/>
                  </a:lnTo>
                  <a:lnTo>
                    <a:pt x="194563" y="390144"/>
                  </a:lnTo>
                  <a:lnTo>
                    <a:pt x="145923" y="390144"/>
                  </a:lnTo>
                  <a:lnTo>
                    <a:pt x="145923" y="97536"/>
                  </a:lnTo>
                  <a:lnTo>
                    <a:pt x="194563" y="97536"/>
                  </a:lnTo>
                  <a:lnTo>
                    <a:pt x="97281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833871" y="4931663"/>
              <a:ext cx="194945" cy="487680"/>
            </a:xfrm>
            <a:custGeom>
              <a:avLst/>
              <a:gdLst/>
              <a:ahLst/>
              <a:cxnLst/>
              <a:rect l="l" t="t" r="r" b="b"/>
              <a:pathLst>
                <a:path w="194945" h="487679">
                  <a:moveTo>
                    <a:pt x="97281" y="0"/>
                  </a:moveTo>
                  <a:lnTo>
                    <a:pt x="194563" y="97536"/>
                  </a:lnTo>
                  <a:lnTo>
                    <a:pt x="145923" y="97536"/>
                  </a:lnTo>
                  <a:lnTo>
                    <a:pt x="145923" y="390144"/>
                  </a:lnTo>
                  <a:lnTo>
                    <a:pt x="194563" y="390144"/>
                  </a:lnTo>
                  <a:lnTo>
                    <a:pt x="97281" y="487680"/>
                  </a:lnTo>
                  <a:lnTo>
                    <a:pt x="0" y="390144"/>
                  </a:lnTo>
                  <a:lnTo>
                    <a:pt x="48640" y="390144"/>
                  </a:lnTo>
                  <a:lnTo>
                    <a:pt x="48640" y="97536"/>
                  </a:lnTo>
                  <a:lnTo>
                    <a:pt x="0" y="97536"/>
                  </a:lnTo>
                  <a:lnTo>
                    <a:pt x="97281" y="0"/>
                  </a:lnTo>
                  <a:close/>
                </a:path>
              </a:pathLst>
            </a:custGeom>
            <a:ln w="27432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066032" y="4931663"/>
              <a:ext cx="194945" cy="487680"/>
            </a:xfrm>
            <a:custGeom>
              <a:avLst/>
              <a:gdLst/>
              <a:ahLst/>
              <a:cxnLst/>
              <a:rect l="l" t="t" r="r" b="b"/>
              <a:pathLst>
                <a:path w="194945" h="487679">
                  <a:moveTo>
                    <a:pt x="97281" y="0"/>
                  </a:moveTo>
                  <a:lnTo>
                    <a:pt x="0" y="97536"/>
                  </a:lnTo>
                  <a:lnTo>
                    <a:pt x="48640" y="97536"/>
                  </a:lnTo>
                  <a:lnTo>
                    <a:pt x="48640" y="390144"/>
                  </a:lnTo>
                  <a:lnTo>
                    <a:pt x="0" y="390144"/>
                  </a:lnTo>
                  <a:lnTo>
                    <a:pt x="97281" y="487680"/>
                  </a:lnTo>
                  <a:lnTo>
                    <a:pt x="194563" y="390144"/>
                  </a:lnTo>
                  <a:lnTo>
                    <a:pt x="145922" y="390144"/>
                  </a:lnTo>
                  <a:lnTo>
                    <a:pt x="145922" y="97536"/>
                  </a:lnTo>
                  <a:lnTo>
                    <a:pt x="194563" y="97536"/>
                  </a:lnTo>
                  <a:lnTo>
                    <a:pt x="97281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066032" y="4931663"/>
              <a:ext cx="194945" cy="487680"/>
            </a:xfrm>
            <a:custGeom>
              <a:avLst/>
              <a:gdLst/>
              <a:ahLst/>
              <a:cxnLst/>
              <a:rect l="l" t="t" r="r" b="b"/>
              <a:pathLst>
                <a:path w="194945" h="487679">
                  <a:moveTo>
                    <a:pt x="97281" y="0"/>
                  </a:moveTo>
                  <a:lnTo>
                    <a:pt x="194563" y="97536"/>
                  </a:lnTo>
                  <a:lnTo>
                    <a:pt x="145922" y="97536"/>
                  </a:lnTo>
                  <a:lnTo>
                    <a:pt x="145922" y="390144"/>
                  </a:lnTo>
                  <a:lnTo>
                    <a:pt x="194563" y="390144"/>
                  </a:lnTo>
                  <a:lnTo>
                    <a:pt x="97281" y="487680"/>
                  </a:lnTo>
                  <a:lnTo>
                    <a:pt x="0" y="390144"/>
                  </a:lnTo>
                  <a:lnTo>
                    <a:pt x="48640" y="390144"/>
                  </a:lnTo>
                  <a:lnTo>
                    <a:pt x="48640" y="97536"/>
                  </a:lnTo>
                  <a:lnTo>
                    <a:pt x="0" y="97536"/>
                  </a:lnTo>
                  <a:lnTo>
                    <a:pt x="97281" y="0"/>
                  </a:lnTo>
                  <a:close/>
                </a:path>
              </a:pathLst>
            </a:custGeom>
            <a:ln w="27432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828800" y="3505200"/>
            <a:ext cx="914400" cy="533400"/>
          </a:xfrm>
          <a:prstGeom prst="rect">
            <a:avLst/>
          </a:prstGeom>
          <a:solidFill>
            <a:srgbClr val="FFFF99"/>
          </a:solidFill>
          <a:ln w="27432">
            <a:solidFill>
              <a:srgbClr val="FF0000"/>
            </a:solidFill>
          </a:ln>
        </p:spPr>
        <p:txBody>
          <a:bodyPr wrap="square" lIns="0" tIns="100965" rIns="0" bIns="0" rtlCol="0" vert="horz">
            <a:spAutoFit/>
          </a:bodyPr>
          <a:lstStyle/>
          <a:p>
            <a:pPr marL="176530">
              <a:lnSpc>
                <a:spcPct val="100000"/>
              </a:lnSpc>
              <a:spcBef>
                <a:spcPts val="795"/>
              </a:spcBef>
            </a:pPr>
            <a:r>
              <a:rPr dirty="0" sz="1800" spc="-25" b="1">
                <a:solidFill>
                  <a:srgbClr val="39802D"/>
                </a:solidFill>
                <a:latin typeface="Arial"/>
                <a:cs typeface="Arial"/>
              </a:rPr>
              <a:t>MMU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r>
              <a:rPr dirty="0" spc="-25"/>
              <a:t>20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828800" y="2286000"/>
            <a:ext cx="914400" cy="533400"/>
          </a:xfrm>
          <a:prstGeom prst="rect">
            <a:avLst/>
          </a:prstGeom>
          <a:ln w="27432">
            <a:solidFill>
              <a:srgbClr val="CC3300"/>
            </a:solidFill>
          </a:ln>
        </p:spPr>
        <p:txBody>
          <a:bodyPr wrap="square" lIns="0" tIns="100965" rIns="0" bIns="0" rtlCol="0" vert="horz">
            <a:spAutoFit/>
          </a:bodyPr>
          <a:lstStyle/>
          <a:p>
            <a:pPr marL="249554">
              <a:lnSpc>
                <a:spcPct val="100000"/>
              </a:lnSpc>
              <a:spcBef>
                <a:spcPts val="795"/>
              </a:spcBef>
            </a:pPr>
            <a:r>
              <a:rPr dirty="0" sz="1800" spc="-25" b="1">
                <a:solidFill>
                  <a:srgbClr val="39802D"/>
                </a:solidFill>
                <a:latin typeface="Arial"/>
                <a:cs typeface="Arial"/>
              </a:rPr>
              <a:t>ALU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81400" y="2286000"/>
            <a:ext cx="952500" cy="533400"/>
          </a:xfrm>
          <a:prstGeom prst="rect">
            <a:avLst/>
          </a:prstGeom>
          <a:ln w="27431">
            <a:solidFill>
              <a:srgbClr val="CC3300"/>
            </a:solidFill>
          </a:ln>
        </p:spPr>
        <p:txBody>
          <a:bodyPr wrap="square" lIns="0" tIns="100965" rIns="0" bIns="0" rtlCol="0" vert="horz">
            <a:spAutoFit/>
          </a:bodyPr>
          <a:lstStyle/>
          <a:p>
            <a:pPr marL="635">
              <a:lnSpc>
                <a:spcPct val="100000"/>
              </a:lnSpc>
              <a:spcBef>
                <a:spcPts val="795"/>
              </a:spcBef>
            </a:pPr>
            <a:r>
              <a:rPr dirty="0" sz="1800" spc="-10" b="1">
                <a:solidFill>
                  <a:srgbClr val="39802D"/>
                </a:solidFill>
                <a:latin typeface="Arial"/>
                <a:cs typeface="Arial"/>
              </a:rPr>
              <a:t>Register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02355" y="1841957"/>
            <a:ext cx="64516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39802D"/>
                </a:solidFill>
                <a:latin typeface="Times New Roman"/>
                <a:cs typeface="Times New Roman"/>
              </a:rPr>
              <a:t>CPU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19400" y="2895600"/>
            <a:ext cx="800100" cy="457200"/>
          </a:xfrm>
          <a:prstGeom prst="rect">
            <a:avLst/>
          </a:prstGeom>
          <a:ln w="27431">
            <a:solidFill>
              <a:srgbClr val="CC3300"/>
            </a:solidFill>
          </a:ln>
        </p:spPr>
        <p:txBody>
          <a:bodyPr wrap="square" lIns="0" tIns="641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05"/>
              </a:spcBef>
            </a:pPr>
            <a:r>
              <a:rPr dirty="0" sz="1800" spc="-10" b="1">
                <a:solidFill>
                  <a:srgbClr val="39802D"/>
                </a:solidFill>
                <a:latin typeface="Arial"/>
                <a:cs typeface="Arial"/>
              </a:rPr>
              <a:t>Contro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52600" y="2209800"/>
            <a:ext cx="2971800" cy="1905000"/>
          </a:xfrm>
          <a:prstGeom prst="rect">
            <a:avLst/>
          </a:prstGeom>
          <a:ln w="27431">
            <a:solidFill>
              <a:srgbClr val="CC3300"/>
            </a:solidFill>
          </a:ln>
        </p:spPr>
        <p:txBody>
          <a:bodyPr wrap="square" lIns="0" tIns="1885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8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 marL="814069">
              <a:lnSpc>
                <a:spcPct val="100000"/>
              </a:lnSpc>
            </a:pPr>
            <a:r>
              <a:rPr dirty="0" sz="1800" spc="-50" b="1">
                <a:solidFill>
                  <a:srgbClr val="39802D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800">
              <a:latin typeface="Arial"/>
              <a:cs typeface="Arial"/>
            </a:endParaRPr>
          </a:p>
          <a:p>
            <a:pPr algn="ctr" marR="766445">
              <a:lnSpc>
                <a:spcPct val="100000"/>
              </a:lnSpc>
            </a:pPr>
            <a:r>
              <a:rPr dirty="0" sz="1800" spc="-50" b="1">
                <a:solidFill>
                  <a:srgbClr val="39802D"/>
                </a:solidFill>
                <a:latin typeface="Arial"/>
                <a:cs typeface="Arial"/>
              </a:rPr>
              <a:t>l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2026-09-10T03:55:59Z</dcterms:created>
  <dcterms:modified xsi:type="dcterms:W3CDTF">2026-09-10T03:55:59Z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2026-09-10T00:00:00Z</vt:filetime>
  </property>
  <property fmtid="{D5CDD505-2E9C-101B-9397-08002B2CF9AE}" pid="4" name="LastSaved">
    <vt:filetime>2026-09-10T00:00:00Z</vt:filetime>
  </property>
  <property fmtid="{D5CDD505-2E9C-101B-9397-08002B2CF9AE}" pid="5" name="Producer">
    <vt:lpwstr>iLovePDF</vt:lpwstr>
  </property>
</Properties>
</file>