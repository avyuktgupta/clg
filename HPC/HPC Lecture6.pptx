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14400" y="762000"/>
            <a:ext cx="7924800" cy="914400"/>
          </a:xfrm>
          <a:custGeom>
            <a:avLst/>
            <a:gdLst/>
            <a:ahLst/>
            <a:cxnLst/>
            <a:rect l="l" t="t" r="r" b="b"/>
            <a:pathLst>
              <a:path w="7924800" h="914400">
                <a:moveTo>
                  <a:pt x="0" y="914400"/>
                </a:moveTo>
                <a:lnTo>
                  <a:pt x="0" y="0"/>
                </a:lnTo>
                <a:lnTo>
                  <a:pt x="7924800" y="0"/>
                </a:lnTo>
              </a:path>
            </a:pathLst>
          </a:custGeom>
          <a:ln w="24382">
            <a:solidFill>
              <a:srgbClr val="CC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72844" y="729183"/>
            <a:ext cx="6635750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BFBFB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BFBFB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37616" y="658368"/>
            <a:ext cx="8635365" cy="0"/>
          </a:xfrm>
          <a:custGeom>
            <a:avLst/>
            <a:gdLst/>
            <a:ahLst/>
            <a:cxnLst/>
            <a:rect l="l" t="t" r="r" b="b"/>
            <a:pathLst>
              <a:path w="8635365" h="0">
                <a:moveTo>
                  <a:pt x="0" y="0"/>
                </a:moveTo>
                <a:lnTo>
                  <a:pt x="8634984" y="0"/>
                </a:lnTo>
              </a:path>
            </a:pathLst>
          </a:custGeom>
          <a:ln w="12190">
            <a:solidFill>
              <a:srgbClr val="99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3139" y="520700"/>
            <a:ext cx="8072120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39" y="1316228"/>
            <a:ext cx="7935595" cy="4733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BFBFB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899652" y="6917648"/>
            <a:ext cx="20574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80285" marR="5080" indent="-2268220">
              <a:lnSpc>
                <a:spcPct val="120000"/>
              </a:lnSpc>
              <a:spcBef>
                <a:spcPts val="95"/>
              </a:spcBef>
            </a:pPr>
            <a:r>
              <a:rPr dirty="0" sz="4000" b="1">
                <a:solidFill>
                  <a:srgbClr val="3A802E"/>
                </a:solidFill>
                <a:latin typeface="Times New Roman"/>
                <a:cs typeface="Times New Roman"/>
              </a:rPr>
              <a:t>High</a:t>
            </a:r>
            <a:r>
              <a:rPr dirty="0" sz="4000" spc="-65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4000" b="1">
                <a:solidFill>
                  <a:srgbClr val="3A802E"/>
                </a:solidFill>
                <a:latin typeface="Times New Roman"/>
                <a:cs typeface="Times New Roman"/>
              </a:rPr>
              <a:t>Performance</a:t>
            </a:r>
            <a:r>
              <a:rPr dirty="0" sz="4000" spc="-70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4000" spc="-10" b="1">
                <a:solidFill>
                  <a:srgbClr val="3A802E"/>
                </a:solidFill>
                <a:latin typeface="Times New Roman"/>
                <a:cs typeface="Times New Roman"/>
              </a:rPr>
              <a:t>Computing </a:t>
            </a:r>
            <a:r>
              <a:rPr dirty="0" sz="4000" b="1">
                <a:solidFill>
                  <a:srgbClr val="3A802E"/>
                </a:solidFill>
                <a:latin typeface="Times New Roman"/>
                <a:cs typeface="Times New Roman"/>
              </a:rPr>
              <a:t>Lecture</a:t>
            </a:r>
            <a:r>
              <a:rPr dirty="0" sz="4000" spc="-65" b="1">
                <a:solidFill>
                  <a:srgbClr val="3A802E"/>
                </a:solidFill>
                <a:latin typeface="Times New Roman"/>
                <a:cs typeface="Times New Roman"/>
              </a:rPr>
              <a:t> </a:t>
            </a:r>
            <a:r>
              <a:rPr dirty="0" sz="4000" spc="-50" b="1">
                <a:solidFill>
                  <a:srgbClr val="3A802E"/>
                </a:solidFill>
                <a:latin typeface="Times New Roman"/>
                <a:cs typeface="Times New Roman"/>
              </a:rPr>
              <a:t>6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88284" y="3218179"/>
            <a:ext cx="351536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18820">
              <a:lnSpc>
                <a:spcPct val="15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Matthew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Jacob </a:t>
            </a:r>
            <a:r>
              <a:rPr dirty="0" sz="2400">
                <a:latin typeface="Arial MT"/>
                <a:cs typeface="Arial MT"/>
              </a:rPr>
              <a:t>Indian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Institute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Science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554228"/>
            <a:ext cx="390906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MULT</a:t>
            </a:r>
            <a:r>
              <a:rPr dirty="0" spc="-120"/>
              <a:t> Instruction</a:t>
            </a:r>
          </a:p>
        </p:txBody>
      </p:sp>
      <p:sp>
        <p:nvSpPr>
          <p:cNvPr id="3" name="object 3"/>
          <p:cNvSpPr/>
          <p:nvPr/>
        </p:nvSpPr>
        <p:spPr>
          <a:xfrm>
            <a:off x="1459991" y="2008632"/>
            <a:ext cx="2895600" cy="405765"/>
          </a:xfrm>
          <a:custGeom>
            <a:avLst/>
            <a:gdLst/>
            <a:ahLst/>
            <a:cxnLst/>
            <a:rect l="l" t="t" r="r" b="b"/>
            <a:pathLst>
              <a:path w="2895600" h="405764">
                <a:moveTo>
                  <a:pt x="0" y="0"/>
                </a:moveTo>
                <a:lnTo>
                  <a:pt x="0" y="405383"/>
                </a:lnTo>
                <a:lnTo>
                  <a:pt x="2895600" y="405383"/>
                </a:lnTo>
                <a:lnTo>
                  <a:pt x="2895600" y="0"/>
                </a:lnTo>
                <a:lnTo>
                  <a:pt x="0" y="0"/>
                </a:lnTo>
                <a:close/>
              </a:path>
            </a:pathLst>
          </a:custGeom>
          <a:ln w="91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63184" y="2008632"/>
            <a:ext cx="2895600" cy="405765"/>
          </a:xfrm>
          <a:custGeom>
            <a:avLst/>
            <a:gdLst/>
            <a:ahLst/>
            <a:cxnLst/>
            <a:rect l="l" t="t" r="r" b="b"/>
            <a:pathLst>
              <a:path w="2895600" h="405764">
                <a:moveTo>
                  <a:pt x="0" y="0"/>
                </a:moveTo>
                <a:lnTo>
                  <a:pt x="0" y="405383"/>
                </a:lnTo>
                <a:lnTo>
                  <a:pt x="2895599" y="405383"/>
                </a:lnTo>
                <a:lnTo>
                  <a:pt x="2895599" y="0"/>
                </a:lnTo>
                <a:lnTo>
                  <a:pt x="0" y="0"/>
                </a:lnTo>
                <a:close/>
              </a:path>
            </a:pathLst>
          </a:custGeom>
          <a:ln w="91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13560" y="2743200"/>
            <a:ext cx="5779135" cy="405765"/>
          </a:xfrm>
          <a:custGeom>
            <a:avLst/>
            <a:gdLst/>
            <a:ahLst/>
            <a:cxnLst/>
            <a:rect l="l" t="t" r="r" b="b"/>
            <a:pathLst>
              <a:path w="5779134" h="405764">
                <a:moveTo>
                  <a:pt x="0" y="0"/>
                </a:moveTo>
                <a:lnTo>
                  <a:pt x="0" y="405384"/>
                </a:lnTo>
                <a:lnTo>
                  <a:pt x="5779008" y="405384"/>
                </a:lnTo>
                <a:lnTo>
                  <a:pt x="5779008" y="0"/>
                </a:lnTo>
                <a:lnTo>
                  <a:pt x="0" y="0"/>
                </a:lnTo>
                <a:close/>
              </a:path>
            </a:pathLst>
          </a:custGeom>
          <a:ln w="91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93139" y="3023107"/>
            <a:ext cx="7753350" cy="238506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631190">
              <a:lnSpc>
                <a:spcPct val="100000"/>
              </a:lnSpc>
              <a:spcBef>
                <a:spcPts val="820"/>
              </a:spcBef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product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could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twice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large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(i.e.,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64b)</a:t>
            </a:r>
            <a:endParaRPr sz="2400">
              <a:latin typeface="Arial MT"/>
              <a:cs typeface="Arial MT"/>
            </a:endParaRPr>
          </a:p>
          <a:p>
            <a:pPr marL="658495">
              <a:lnSpc>
                <a:spcPts val="2810"/>
              </a:lnSpc>
              <a:spcBef>
                <a:spcPts val="720"/>
              </a:spcBef>
            </a:pP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may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not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single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general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purpose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register</a:t>
            </a:r>
            <a:endParaRPr sz="2400">
              <a:latin typeface="Arial MT"/>
              <a:cs typeface="Arial MT"/>
            </a:endParaRPr>
          </a:p>
          <a:p>
            <a:pPr marL="355600" marR="5080" indent="-343535">
              <a:lnSpc>
                <a:spcPts val="3600"/>
              </a:lnSpc>
              <a:spcBef>
                <a:spcPts val="45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latin typeface="Arial MT"/>
                <a:cs typeface="Arial MT"/>
              </a:rPr>
              <a:t>MIPS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1</a:t>
            </a:r>
            <a:r>
              <a:rPr dirty="0" sz="3000" spc="-2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Solution: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Put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32</a:t>
            </a:r>
            <a:r>
              <a:rPr dirty="0" sz="3000" spc="-2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least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significant </a:t>
            </a:r>
            <a:r>
              <a:rPr dirty="0" sz="3000" spc="-10">
                <a:latin typeface="Arial MT"/>
                <a:cs typeface="Arial MT"/>
              </a:rPr>
              <a:t>	</a:t>
            </a:r>
            <a:r>
              <a:rPr dirty="0" sz="3000">
                <a:latin typeface="Arial MT"/>
                <a:cs typeface="Arial MT"/>
              </a:rPr>
              <a:t>bits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of</a:t>
            </a:r>
            <a:r>
              <a:rPr dirty="0" sz="3000" spc="-1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product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LO</a:t>
            </a:r>
            <a:r>
              <a:rPr dirty="0" sz="3000" spc="-2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and</a:t>
            </a:r>
            <a:r>
              <a:rPr dirty="0" sz="3000" spc="-1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rest</a:t>
            </a:r>
            <a:r>
              <a:rPr dirty="0" sz="3000" spc="-2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</a:t>
            </a:r>
            <a:r>
              <a:rPr dirty="0" sz="3000" spc="-15">
                <a:latin typeface="Arial MT"/>
                <a:cs typeface="Arial MT"/>
              </a:rPr>
              <a:t> </a:t>
            </a:r>
            <a:r>
              <a:rPr dirty="0" sz="3000" spc="-25">
                <a:latin typeface="Arial MT"/>
                <a:cs typeface="Arial MT"/>
              </a:rPr>
              <a:t>HI</a:t>
            </a:r>
            <a:endParaRPr sz="30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6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z="3000">
                <a:latin typeface="Arial MT"/>
                <a:cs typeface="Arial MT"/>
              </a:rPr>
              <a:t>For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DIV: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quotient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LO,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remainder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 spc="-25">
                <a:latin typeface="Arial MT"/>
                <a:cs typeface="Arial MT"/>
              </a:rPr>
              <a:t>HI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33144" y="1862327"/>
            <a:ext cx="2798445" cy="76200"/>
          </a:xfrm>
          <a:custGeom>
            <a:avLst/>
            <a:gdLst/>
            <a:ahLst/>
            <a:cxnLst/>
            <a:rect l="l" t="t" r="r" b="b"/>
            <a:pathLst>
              <a:path w="2798445" h="76200">
                <a:moveTo>
                  <a:pt x="76200" y="0"/>
                </a:moveTo>
                <a:lnTo>
                  <a:pt x="0" y="36575"/>
                </a:lnTo>
                <a:lnTo>
                  <a:pt x="76200" y="76200"/>
                </a:lnTo>
                <a:lnTo>
                  <a:pt x="76200" y="42672"/>
                </a:lnTo>
                <a:lnTo>
                  <a:pt x="60959" y="42672"/>
                </a:lnTo>
                <a:lnTo>
                  <a:pt x="57912" y="39624"/>
                </a:lnTo>
                <a:lnTo>
                  <a:pt x="57912" y="36575"/>
                </a:lnTo>
                <a:lnTo>
                  <a:pt x="60959" y="33527"/>
                </a:lnTo>
                <a:lnTo>
                  <a:pt x="76200" y="33527"/>
                </a:lnTo>
                <a:lnTo>
                  <a:pt x="76200" y="0"/>
                </a:lnTo>
                <a:close/>
              </a:path>
              <a:path w="2798445" h="76200">
                <a:moveTo>
                  <a:pt x="2721864" y="0"/>
                </a:moveTo>
                <a:lnTo>
                  <a:pt x="2721864" y="76200"/>
                </a:lnTo>
                <a:lnTo>
                  <a:pt x="2786340" y="42672"/>
                </a:lnTo>
                <a:lnTo>
                  <a:pt x="2737104" y="42672"/>
                </a:lnTo>
                <a:lnTo>
                  <a:pt x="2740152" y="39624"/>
                </a:lnTo>
                <a:lnTo>
                  <a:pt x="2740152" y="36575"/>
                </a:lnTo>
                <a:lnTo>
                  <a:pt x="2737104" y="33527"/>
                </a:lnTo>
                <a:lnTo>
                  <a:pt x="2791714" y="33527"/>
                </a:lnTo>
                <a:lnTo>
                  <a:pt x="2721864" y="0"/>
                </a:lnTo>
                <a:close/>
              </a:path>
              <a:path w="2798445" h="76200">
                <a:moveTo>
                  <a:pt x="76200" y="33527"/>
                </a:moveTo>
                <a:lnTo>
                  <a:pt x="60959" y="33527"/>
                </a:lnTo>
                <a:lnTo>
                  <a:pt x="57912" y="36575"/>
                </a:lnTo>
                <a:lnTo>
                  <a:pt x="57912" y="39624"/>
                </a:lnTo>
                <a:lnTo>
                  <a:pt x="60959" y="42672"/>
                </a:lnTo>
                <a:lnTo>
                  <a:pt x="76200" y="42672"/>
                </a:lnTo>
                <a:lnTo>
                  <a:pt x="76200" y="33527"/>
                </a:lnTo>
                <a:close/>
              </a:path>
              <a:path w="2798445" h="76200">
                <a:moveTo>
                  <a:pt x="2721864" y="33527"/>
                </a:moveTo>
                <a:lnTo>
                  <a:pt x="76200" y="33527"/>
                </a:lnTo>
                <a:lnTo>
                  <a:pt x="76200" y="42672"/>
                </a:lnTo>
                <a:lnTo>
                  <a:pt x="2721864" y="42672"/>
                </a:lnTo>
                <a:lnTo>
                  <a:pt x="2721864" y="33527"/>
                </a:lnTo>
                <a:close/>
              </a:path>
              <a:path w="2798445" h="76200">
                <a:moveTo>
                  <a:pt x="2791714" y="33527"/>
                </a:moveTo>
                <a:lnTo>
                  <a:pt x="2737104" y="33527"/>
                </a:lnTo>
                <a:lnTo>
                  <a:pt x="2740152" y="36575"/>
                </a:lnTo>
                <a:lnTo>
                  <a:pt x="2740152" y="39624"/>
                </a:lnTo>
                <a:lnTo>
                  <a:pt x="2737104" y="42672"/>
                </a:lnTo>
                <a:lnTo>
                  <a:pt x="2786340" y="42672"/>
                </a:lnTo>
                <a:lnTo>
                  <a:pt x="2798064" y="36575"/>
                </a:lnTo>
                <a:lnTo>
                  <a:pt x="2791714" y="33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663184" y="1862327"/>
            <a:ext cx="2801620" cy="76200"/>
          </a:xfrm>
          <a:custGeom>
            <a:avLst/>
            <a:gdLst/>
            <a:ahLst/>
            <a:cxnLst/>
            <a:rect l="l" t="t" r="r" b="b"/>
            <a:pathLst>
              <a:path w="2801620" h="76200">
                <a:moveTo>
                  <a:pt x="76200" y="0"/>
                </a:moveTo>
                <a:lnTo>
                  <a:pt x="0" y="36575"/>
                </a:lnTo>
                <a:lnTo>
                  <a:pt x="76200" y="76200"/>
                </a:lnTo>
                <a:lnTo>
                  <a:pt x="76200" y="42672"/>
                </a:lnTo>
                <a:lnTo>
                  <a:pt x="60960" y="42672"/>
                </a:lnTo>
                <a:lnTo>
                  <a:pt x="60960" y="33527"/>
                </a:lnTo>
                <a:lnTo>
                  <a:pt x="76200" y="33527"/>
                </a:lnTo>
                <a:lnTo>
                  <a:pt x="76200" y="0"/>
                </a:lnTo>
                <a:close/>
              </a:path>
              <a:path w="2801620" h="76200">
                <a:moveTo>
                  <a:pt x="2724912" y="0"/>
                </a:moveTo>
                <a:lnTo>
                  <a:pt x="2724912" y="76200"/>
                </a:lnTo>
                <a:lnTo>
                  <a:pt x="2789388" y="42672"/>
                </a:lnTo>
                <a:lnTo>
                  <a:pt x="2740151" y="42672"/>
                </a:lnTo>
                <a:lnTo>
                  <a:pt x="2743199" y="39624"/>
                </a:lnTo>
                <a:lnTo>
                  <a:pt x="2743199" y="36575"/>
                </a:lnTo>
                <a:lnTo>
                  <a:pt x="2740151" y="33527"/>
                </a:lnTo>
                <a:lnTo>
                  <a:pt x="2794762" y="33527"/>
                </a:lnTo>
                <a:lnTo>
                  <a:pt x="2724912" y="0"/>
                </a:lnTo>
                <a:close/>
              </a:path>
              <a:path w="2801620" h="76200">
                <a:moveTo>
                  <a:pt x="76200" y="33527"/>
                </a:moveTo>
                <a:lnTo>
                  <a:pt x="60960" y="33527"/>
                </a:lnTo>
                <a:lnTo>
                  <a:pt x="60960" y="42672"/>
                </a:lnTo>
                <a:lnTo>
                  <a:pt x="76200" y="42672"/>
                </a:lnTo>
                <a:lnTo>
                  <a:pt x="76200" y="33527"/>
                </a:lnTo>
                <a:close/>
              </a:path>
              <a:path w="2801620" h="76200">
                <a:moveTo>
                  <a:pt x="2724912" y="33527"/>
                </a:moveTo>
                <a:lnTo>
                  <a:pt x="76200" y="33527"/>
                </a:lnTo>
                <a:lnTo>
                  <a:pt x="76200" y="42672"/>
                </a:lnTo>
                <a:lnTo>
                  <a:pt x="2724912" y="42672"/>
                </a:lnTo>
                <a:lnTo>
                  <a:pt x="2724912" y="33527"/>
                </a:lnTo>
                <a:close/>
              </a:path>
              <a:path w="2801620" h="76200">
                <a:moveTo>
                  <a:pt x="2794762" y="33527"/>
                </a:moveTo>
                <a:lnTo>
                  <a:pt x="2740151" y="33527"/>
                </a:lnTo>
                <a:lnTo>
                  <a:pt x="2743199" y="36575"/>
                </a:lnTo>
                <a:lnTo>
                  <a:pt x="2743199" y="39624"/>
                </a:lnTo>
                <a:lnTo>
                  <a:pt x="2740151" y="42672"/>
                </a:lnTo>
                <a:lnTo>
                  <a:pt x="2789388" y="42672"/>
                </a:lnTo>
                <a:lnTo>
                  <a:pt x="2801112" y="36575"/>
                </a:lnTo>
                <a:lnTo>
                  <a:pt x="2794762" y="33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93139" y="1172971"/>
            <a:ext cx="4707255" cy="1211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235" indent="-343535">
              <a:lnSpc>
                <a:spcPts val="3590"/>
              </a:lnSpc>
              <a:spcBef>
                <a:spcPts val="1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  <a:tab pos="3403600" algn="l"/>
              </a:tabLst>
            </a:pPr>
            <a:r>
              <a:rPr dirty="0" sz="3000">
                <a:latin typeface="Arial MT"/>
                <a:cs typeface="Arial MT"/>
              </a:rPr>
              <a:t>Example: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 spc="-20">
                <a:latin typeface="Arial MT"/>
                <a:cs typeface="Arial MT"/>
              </a:rPr>
              <a:t>MULT</a:t>
            </a:r>
            <a:r>
              <a:rPr dirty="0" sz="3000">
                <a:latin typeface="Arial MT"/>
                <a:cs typeface="Arial MT"/>
              </a:rPr>
              <a:t>	R1,</a:t>
            </a:r>
            <a:r>
              <a:rPr dirty="0" sz="3000" spc="-5">
                <a:latin typeface="Arial MT"/>
                <a:cs typeface="Arial MT"/>
              </a:rPr>
              <a:t>  </a:t>
            </a:r>
            <a:r>
              <a:rPr dirty="0" sz="3000" spc="-25">
                <a:latin typeface="Arial MT"/>
                <a:cs typeface="Arial MT"/>
              </a:rPr>
              <a:t>R2</a:t>
            </a:r>
            <a:endParaRPr sz="3000">
              <a:latin typeface="Arial MT"/>
              <a:cs typeface="Arial MT"/>
            </a:endParaRPr>
          </a:p>
          <a:p>
            <a:pPr marL="1399540">
              <a:lnSpc>
                <a:spcPts val="2150"/>
              </a:lnSpc>
            </a:pPr>
            <a:r>
              <a:rPr dirty="0" sz="1800">
                <a:latin typeface="Arial MT"/>
                <a:cs typeface="Arial MT"/>
              </a:rPr>
              <a:t>32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bits</a:t>
            </a:r>
            <a:endParaRPr sz="1800">
              <a:latin typeface="Arial MT"/>
              <a:cs typeface="Arial MT"/>
            </a:endParaRPr>
          </a:p>
          <a:p>
            <a:pPr marL="40005">
              <a:lnSpc>
                <a:spcPct val="100000"/>
              </a:lnSpc>
              <a:spcBef>
                <a:spcPts val="720"/>
              </a:spcBef>
              <a:tabLst>
                <a:tab pos="4231005" algn="l"/>
              </a:tabLst>
            </a:pPr>
            <a:r>
              <a:rPr dirty="0" baseline="2314" sz="3600" spc="-37">
                <a:latin typeface="Arial MT"/>
                <a:cs typeface="Arial MT"/>
              </a:rPr>
              <a:t>R1</a:t>
            </a:r>
            <a:r>
              <a:rPr dirty="0" baseline="2314" sz="3600">
                <a:latin typeface="Arial MT"/>
                <a:cs typeface="Arial MT"/>
              </a:rPr>
              <a:t>	</a:t>
            </a:r>
            <a:r>
              <a:rPr dirty="0" sz="2400" spc="-25">
                <a:latin typeface="Arial MT"/>
                <a:cs typeface="Arial MT"/>
              </a:rPr>
              <a:t>R2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/>
          <p:cNvSpPr txBox="1"/>
          <p:nvPr/>
        </p:nvSpPr>
        <p:spPr>
          <a:xfrm>
            <a:off x="6601459" y="1633220"/>
            <a:ext cx="7004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32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bits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520700"/>
            <a:ext cx="614870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Control</a:t>
            </a:r>
            <a:r>
              <a:rPr dirty="0" spc="-100"/>
              <a:t> </a:t>
            </a:r>
            <a:r>
              <a:rPr dirty="0" spc="-235"/>
              <a:t>Transfer</a:t>
            </a:r>
            <a:r>
              <a:rPr dirty="0" spc="-110"/>
              <a:t> </a:t>
            </a:r>
            <a:r>
              <a:rPr dirty="0" spc="-145"/>
              <a:t>Instructions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23900" y="1141476"/>
          <a:ext cx="8726805" cy="4335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2265"/>
                <a:gridCol w="2069464"/>
                <a:gridCol w="2169795"/>
                <a:gridCol w="2770504"/>
              </a:tblGrid>
              <a:tr h="5086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Mnemonics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Example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Meaning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5545">
                <a:tc>
                  <a:txBody>
                    <a:bodyPr/>
                    <a:lstStyle/>
                    <a:p>
                      <a:pPr marL="91440" marR="1143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200" spc="-10">
                          <a:latin typeface="Arial MT"/>
                          <a:cs typeface="Arial MT"/>
                        </a:rPr>
                        <a:t>Conditional Branch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91135">
                        <a:lnSpc>
                          <a:spcPct val="99600"/>
                        </a:lnSpc>
                        <a:spcBef>
                          <a:spcPts val="30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BEQ,</a:t>
                      </a:r>
                      <a:r>
                        <a:rPr dirty="0" sz="2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BNE,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BGEZ,</a:t>
                      </a:r>
                      <a:r>
                        <a:rPr dirty="0" sz="2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BLEZ,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BLTZ,</a:t>
                      </a:r>
                      <a:r>
                        <a:rPr dirty="0" sz="2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BGTZ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BLTZ</a:t>
                      </a:r>
                      <a:r>
                        <a:rPr dirty="0" sz="2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R2,</a:t>
                      </a:r>
                      <a:r>
                        <a:rPr dirty="0" sz="2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2400" spc="-25">
                          <a:latin typeface="Arial MT"/>
                          <a:cs typeface="Arial MT"/>
                        </a:rPr>
                        <a:t>16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R2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 0,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PC</a:t>
                      </a:r>
                      <a:r>
                        <a:rPr dirty="0" sz="2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Wingdings"/>
                          <a:cs typeface="Wingdings"/>
                        </a:rPr>
                        <a:t></a:t>
                      </a:r>
                      <a:r>
                        <a:rPr dirty="0" sz="180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PC</a:t>
                      </a:r>
                      <a:r>
                        <a:rPr dirty="0" sz="2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-</a:t>
                      </a: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16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928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200" spc="-20">
                          <a:latin typeface="Arial MT"/>
                          <a:cs typeface="Arial MT"/>
                        </a:rPr>
                        <a:t>Jump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J,</a:t>
                      </a:r>
                      <a:r>
                        <a:rPr dirty="0" sz="24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25">
                          <a:latin typeface="Arial MT"/>
                          <a:cs typeface="Arial MT"/>
                        </a:rPr>
                        <a:t>JR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J 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target</a:t>
                      </a:r>
                      <a:r>
                        <a:rPr dirty="0" baseline="-20833" sz="2400" spc="-15">
                          <a:latin typeface="Arial MT"/>
                          <a:cs typeface="Arial MT"/>
                        </a:rPr>
                        <a:t>26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PC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50">
                          <a:latin typeface="Wingdings"/>
                          <a:cs typeface="Wingdings"/>
                        </a:rPr>
                        <a:t></a:t>
                      </a:r>
                      <a:endParaRPr sz="1800">
                        <a:latin typeface="Wingdings"/>
                        <a:cs typeface="Wingdings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(PC)</a:t>
                      </a:r>
                      <a:r>
                        <a:rPr dirty="0" baseline="-20833" sz="2400" spc="-15">
                          <a:latin typeface="Times New Roman"/>
                          <a:cs typeface="Times New Roman"/>
                        </a:rPr>
                        <a:t>31-</a:t>
                      </a:r>
                      <a:r>
                        <a:rPr dirty="0" baseline="-20833" sz="2400">
                          <a:latin typeface="Times New Roman"/>
                          <a:cs typeface="Times New Roman"/>
                        </a:rPr>
                        <a:t>28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||</a:t>
                      </a:r>
                      <a:r>
                        <a:rPr dirty="0" sz="2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target</a:t>
                      </a:r>
                      <a:r>
                        <a:rPr dirty="0" baseline="-20833" sz="2400" spc="-15">
                          <a:latin typeface="Times New Roman"/>
                          <a:cs typeface="Times New Roman"/>
                        </a:rPr>
                        <a:t>26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||00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92810">
                <a:tc>
                  <a:txBody>
                    <a:bodyPr/>
                    <a:lstStyle/>
                    <a:p>
                      <a:pPr marL="91440" marR="2800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200">
                          <a:latin typeface="Arial MT"/>
                          <a:cs typeface="Arial MT"/>
                        </a:rPr>
                        <a:t>Jump</a:t>
                      </a:r>
                      <a:r>
                        <a:rPr dirty="0" sz="2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25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2200" spc="-20">
                          <a:latin typeface="Arial MT"/>
                          <a:cs typeface="Arial MT"/>
                        </a:rPr>
                        <a:t>Link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JAL,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JALR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JALR</a:t>
                      </a:r>
                      <a:r>
                        <a:rPr dirty="0" sz="2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25">
                          <a:latin typeface="Arial MT"/>
                          <a:cs typeface="Arial MT"/>
                        </a:rPr>
                        <a:t>R2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R31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Wingdings"/>
                          <a:cs typeface="Wingdings"/>
                        </a:rPr>
                        <a:t></a:t>
                      </a:r>
                      <a:r>
                        <a:rPr dirty="0" sz="18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PC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2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0">
                          <a:latin typeface="Arial MT"/>
                          <a:cs typeface="Arial MT"/>
                        </a:rPr>
                        <a:t>8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PC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Wingdings"/>
                          <a:cs typeface="Wingdings"/>
                        </a:rPr>
                        <a:t></a:t>
                      </a:r>
                      <a:r>
                        <a:rPr dirty="0" sz="180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25">
                          <a:latin typeface="Arial MT"/>
                          <a:cs typeface="Arial MT"/>
                        </a:rPr>
                        <a:t>R2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559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200">
                          <a:latin typeface="Arial MT"/>
                          <a:cs typeface="Arial MT"/>
                        </a:rPr>
                        <a:t>System</a:t>
                      </a:r>
                      <a:r>
                        <a:rPr dirty="0" sz="2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20">
                          <a:latin typeface="Arial MT"/>
                          <a:cs typeface="Arial MT"/>
                        </a:rPr>
                        <a:t>call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latin typeface="Arial MT"/>
                          <a:cs typeface="Arial MT"/>
                        </a:rPr>
                        <a:t>SYSCALL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latin typeface="Arial MT"/>
                          <a:cs typeface="Arial MT"/>
                        </a:rPr>
                        <a:t>SYSCALL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27532" y="5531611"/>
            <a:ext cx="3642995" cy="128778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30"/>
              </a:spcBef>
            </a:pPr>
            <a:r>
              <a:rPr dirty="0" sz="2400">
                <a:latin typeface="Arial MT"/>
                <a:cs typeface="Arial MT"/>
              </a:rPr>
              <a:t>R: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Register</a:t>
            </a:r>
            <a:endParaRPr sz="2400">
              <a:latin typeface="Arial MT"/>
              <a:cs typeface="Arial MT"/>
            </a:endParaRPr>
          </a:p>
          <a:p>
            <a:pPr marL="38100" marR="30480">
              <a:lnSpc>
                <a:spcPct val="114999"/>
              </a:lnSpc>
            </a:pPr>
            <a:r>
              <a:rPr dirty="0" sz="2400">
                <a:latin typeface="Arial MT"/>
                <a:cs typeface="Arial MT"/>
              </a:rPr>
              <a:t>target</a:t>
            </a:r>
            <a:r>
              <a:rPr dirty="0" baseline="-20833" sz="2400">
                <a:latin typeface="Arial MT"/>
                <a:cs typeface="Arial MT"/>
              </a:rPr>
              <a:t>26</a:t>
            </a:r>
            <a:r>
              <a:rPr dirty="0" sz="2400">
                <a:latin typeface="Arial MT"/>
                <a:cs typeface="Arial MT"/>
              </a:rPr>
              <a:t>: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Absolute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operand </a:t>
            </a:r>
            <a:r>
              <a:rPr dirty="0" sz="2400">
                <a:latin typeface="Arial MT"/>
                <a:cs typeface="Arial MT"/>
              </a:rPr>
              <a:t>Z: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Zero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520700"/>
            <a:ext cx="614870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Control</a:t>
            </a:r>
            <a:r>
              <a:rPr dirty="0" spc="-100"/>
              <a:t> </a:t>
            </a:r>
            <a:r>
              <a:rPr dirty="0" spc="-235"/>
              <a:t>Transfer</a:t>
            </a:r>
            <a:r>
              <a:rPr dirty="0" spc="-110"/>
              <a:t> </a:t>
            </a:r>
            <a:r>
              <a:rPr dirty="0" spc="-145"/>
              <a:t>Instructions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23900" y="1141476"/>
          <a:ext cx="8726805" cy="4335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2265"/>
                <a:gridCol w="2069464"/>
                <a:gridCol w="2169795"/>
                <a:gridCol w="2770504"/>
              </a:tblGrid>
              <a:tr h="5086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Mnemonics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Example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Meaning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5545">
                <a:tc>
                  <a:txBody>
                    <a:bodyPr/>
                    <a:lstStyle/>
                    <a:p>
                      <a:pPr marL="91440" marR="1143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200" spc="-10">
                          <a:latin typeface="Arial MT"/>
                          <a:cs typeface="Arial MT"/>
                        </a:rPr>
                        <a:t>Conditional Branch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91135">
                        <a:lnSpc>
                          <a:spcPct val="99600"/>
                        </a:lnSpc>
                        <a:spcBef>
                          <a:spcPts val="30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BEQ,</a:t>
                      </a:r>
                      <a:r>
                        <a:rPr dirty="0" sz="2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BNE,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BGEZ,</a:t>
                      </a:r>
                      <a:r>
                        <a:rPr dirty="0" sz="2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BLEZ,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BLTZ,</a:t>
                      </a:r>
                      <a:r>
                        <a:rPr dirty="0" sz="2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BGTZ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BLTZ</a:t>
                      </a:r>
                      <a:r>
                        <a:rPr dirty="0" sz="2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R2,</a:t>
                      </a:r>
                      <a:r>
                        <a:rPr dirty="0" sz="2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2400" spc="-25">
                          <a:latin typeface="Arial MT"/>
                          <a:cs typeface="Arial MT"/>
                        </a:rPr>
                        <a:t>16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R2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 0,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PC</a:t>
                      </a:r>
                      <a:r>
                        <a:rPr dirty="0" sz="2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Wingdings"/>
                          <a:cs typeface="Wingdings"/>
                        </a:rPr>
                        <a:t></a:t>
                      </a:r>
                      <a:r>
                        <a:rPr dirty="0" sz="180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PC</a:t>
                      </a:r>
                      <a:r>
                        <a:rPr dirty="0" sz="2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-</a:t>
                      </a: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16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928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200" spc="-20">
                          <a:latin typeface="Arial MT"/>
                          <a:cs typeface="Arial MT"/>
                        </a:rPr>
                        <a:t>Jump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J,</a:t>
                      </a:r>
                      <a:r>
                        <a:rPr dirty="0" sz="24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25">
                          <a:latin typeface="Arial MT"/>
                          <a:cs typeface="Arial MT"/>
                        </a:rPr>
                        <a:t>JR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J 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target</a:t>
                      </a:r>
                      <a:r>
                        <a:rPr dirty="0" baseline="-20833" sz="2400" spc="-15">
                          <a:latin typeface="Arial MT"/>
                          <a:cs typeface="Arial MT"/>
                        </a:rPr>
                        <a:t>26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PC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50">
                          <a:latin typeface="Wingdings"/>
                          <a:cs typeface="Wingdings"/>
                        </a:rPr>
                        <a:t></a:t>
                      </a:r>
                      <a:endParaRPr sz="1800">
                        <a:latin typeface="Wingdings"/>
                        <a:cs typeface="Wingdings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(PC)</a:t>
                      </a:r>
                      <a:r>
                        <a:rPr dirty="0" baseline="-20833" sz="2400" spc="-15">
                          <a:latin typeface="Times New Roman"/>
                          <a:cs typeface="Times New Roman"/>
                        </a:rPr>
                        <a:t>31-</a:t>
                      </a:r>
                      <a:r>
                        <a:rPr dirty="0" baseline="-20833" sz="2400">
                          <a:latin typeface="Times New Roman"/>
                          <a:cs typeface="Times New Roman"/>
                        </a:rPr>
                        <a:t>28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||</a:t>
                      </a:r>
                      <a:r>
                        <a:rPr dirty="0" sz="2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target</a:t>
                      </a:r>
                      <a:r>
                        <a:rPr dirty="0" baseline="-20833" sz="2400" spc="-15">
                          <a:latin typeface="Times New Roman"/>
                          <a:cs typeface="Times New Roman"/>
                        </a:rPr>
                        <a:t>26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||00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92810">
                <a:tc>
                  <a:txBody>
                    <a:bodyPr/>
                    <a:lstStyle/>
                    <a:p>
                      <a:pPr marL="91440" marR="2800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200">
                          <a:latin typeface="Arial MT"/>
                          <a:cs typeface="Arial MT"/>
                        </a:rPr>
                        <a:t>Jump</a:t>
                      </a:r>
                      <a:r>
                        <a:rPr dirty="0" sz="2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25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2200" spc="-20">
                          <a:latin typeface="Arial MT"/>
                          <a:cs typeface="Arial MT"/>
                        </a:rPr>
                        <a:t>Link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JAL,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JALR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JALR</a:t>
                      </a:r>
                      <a:r>
                        <a:rPr dirty="0" sz="2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25">
                          <a:latin typeface="Arial MT"/>
                          <a:cs typeface="Arial MT"/>
                        </a:rPr>
                        <a:t>R2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R31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Wingdings"/>
                          <a:cs typeface="Wingdings"/>
                        </a:rPr>
                        <a:t></a:t>
                      </a:r>
                      <a:r>
                        <a:rPr dirty="0" sz="18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PC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2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0">
                          <a:latin typeface="Arial MT"/>
                          <a:cs typeface="Arial MT"/>
                        </a:rPr>
                        <a:t>8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PC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Wingdings"/>
                          <a:cs typeface="Wingdings"/>
                        </a:rPr>
                        <a:t></a:t>
                      </a:r>
                      <a:r>
                        <a:rPr dirty="0" sz="180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25">
                          <a:latin typeface="Arial MT"/>
                          <a:cs typeface="Arial MT"/>
                        </a:rPr>
                        <a:t>R2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559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200">
                          <a:latin typeface="Arial MT"/>
                          <a:cs typeface="Arial MT"/>
                        </a:rPr>
                        <a:t>System</a:t>
                      </a:r>
                      <a:r>
                        <a:rPr dirty="0" sz="2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20">
                          <a:latin typeface="Arial MT"/>
                          <a:cs typeface="Arial MT"/>
                        </a:rPr>
                        <a:t>call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latin typeface="Arial MT"/>
                          <a:cs typeface="Arial MT"/>
                        </a:rPr>
                        <a:t>SYSCALL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latin typeface="Arial MT"/>
                          <a:cs typeface="Arial MT"/>
                        </a:rPr>
                        <a:t>SYSCALL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511556"/>
            <a:ext cx="670242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0"/>
              <a:t>Conditional</a:t>
            </a:r>
            <a:r>
              <a:rPr dirty="0" spc="-80"/>
              <a:t> </a:t>
            </a:r>
            <a:r>
              <a:rPr dirty="0" spc="-280"/>
              <a:t>Branch</a:t>
            </a:r>
            <a:r>
              <a:rPr dirty="0" spc="-90"/>
              <a:t> </a:t>
            </a:r>
            <a:r>
              <a:rPr dirty="0" spc="-140"/>
              <a:t>Instructions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801116" y="2829865"/>
            <a:ext cx="2831465" cy="98298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  <a:tabLst>
                <a:tab pos="1043940" algn="l"/>
                <a:tab pos="1917064" algn="l"/>
              </a:tabLst>
            </a:pPr>
            <a:r>
              <a:rPr dirty="0" sz="2600">
                <a:latin typeface="Times New Roman"/>
                <a:cs typeface="Times New Roman"/>
              </a:rPr>
              <a:t>=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50">
                <a:latin typeface="Times New Roman"/>
                <a:cs typeface="Times New Roman"/>
              </a:rPr>
              <a:t>=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!=</a:t>
            </a:r>
            <a:r>
              <a:rPr dirty="0" sz="2600">
                <a:latin typeface="Times New Roman"/>
                <a:cs typeface="Times New Roman"/>
              </a:rPr>
              <a:t>	&gt;=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50">
                <a:latin typeface="Times New Roman"/>
                <a:cs typeface="Times New Roman"/>
              </a:rPr>
              <a:t>0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  <a:tabLst>
                <a:tab pos="2351405" algn="l"/>
              </a:tabLst>
            </a:pPr>
            <a:r>
              <a:rPr dirty="0" sz="2600">
                <a:latin typeface="Times New Roman"/>
                <a:cs typeface="Times New Roman"/>
              </a:rPr>
              <a:t>Example:</a:t>
            </a:r>
            <a:r>
              <a:rPr dirty="0" sz="2600" spc="-80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BEQ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R1,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39277" y="2829865"/>
            <a:ext cx="3133725" cy="98298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750"/>
              </a:spcBef>
              <a:tabLst>
                <a:tab pos="1424305" algn="l"/>
                <a:tab pos="2684145" algn="l"/>
              </a:tabLst>
            </a:pPr>
            <a:r>
              <a:rPr dirty="0" sz="2600">
                <a:latin typeface="Times New Roman"/>
                <a:cs typeface="Times New Roman"/>
              </a:rPr>
              <a:t>&lt;=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50">
                <a:latin typeface="Times New Roman"/>
                <a:cs typeface="Times New Roman"/>
              </a:rPr>
              <a:t>0</a:t>
            </a:r>
            <a:r>
              <a:rPr dirty="0" sz="2600">
                <a:latin typeface="Times New Roman"/>
                <a:cs typeface="Times New Roman"/>
              </a:rPr>
              <a:t>	&lt;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50">
                <a:latin typeface="Times New Roman"/>
                <a:cs typeface="Times New Roman"/>
              </a:rPr>
              <a:t>0</a:t>
            </a:r>
            <a:r>
              <a:rPr dirty="0" sz="2600">
                <a:latin typeface="Times New Roman"/>
                <a:cs typeface="Times New Roman"/>
              </a:rPr>
              <a:t>	&gt;</a:t>
            </a:r>
            <a:r>
              <a:rPr dirty="0" sz="2600" spc="15">
                <a:latin typeface="Times New Roman"/>
                <a:cs typeface="Times New Roman"/>
              </a:rPr>
              <a:t> </a:t>
            </a:r>
            <a:r>
              <a:rPr dirty="0" sz="2600" spc="-50">
                <a:latin typeface="Times New Roman"/>
                <a:cs typeface="Times New Roman"/>
              </a:rPr>
              <a:t>0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  <a:tabLst>
                <a:tab pos="723900" algn="l"/>
              </a:tabLst>
            </a:pPr>
            <a:r>
              <a:rPr dirty="0" sz="2600" spc="-25">
                <a:latin typeface="Times New Roman"/>
                <a:cs typeface="Times New Roman"/>
              </a:rPr>
              <a:t>R2,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-</a:t>
            </a:r>
            <a:r>
              <a:rPr dirty="0" sz="2600" spc="-25">
                <a:latin typeface="Times New Roman"/>
                <a:cs typeface="Times New Roman"/>
              </a:rPr>
              <a:t>16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539" y="3788155"/>
            <a:ext cx="6932930" cy="258318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38455" indent="-325755">
              <a:lnSpc>
                <a:spcPct val="100000"/>
              </a:lnSpc>
              <a:spcBef>
                <a:spcPts val="675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338455" algn="l"/>
              </a:tabLst>
            </a:pPr>
            <a:r>
              <a:rPr dirty="0" sz="2400">
                <a:latin typeface="Times New Roman"/>
                <a:cs typeface="Times New Roman"/>
              </a:rPr>
              <a:t>Take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branch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if</a:t>
            </a:r>
            <a:r>
              <a:rPr dirty="0" sz="2400" spc="5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contents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R1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=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=</a:t>
            </a:r>
            <a:r>
              <a:rPr dirty="0" sz="2400" spc="5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contents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R2</a:t>
            </a:r>
            <a:endParaRPr sz="2400">
              <a:latin typeface="Times New Roman"/>
              <a:cs typeface="Times New Roman"/>
            </a:endParaRPr>
          </a:p>
          <a:p>
            <a:pPr marL="338455" marR="24130" indent="-326390">
              <a:lnSpc>
                <a:spcPct val="100000"/>
              </a:lnSpc>
              <a:spcBef>
                <a:spcPts val="575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338455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66FF"/>
                </a:solidFill>
                <a:latin typeface="Times New Roman"/>
                <a:cs typeface="Times New Roman"/>
              </a:rPr>
              <a:t>target</a:t>
            </a:r>
            <a:r>
              <a:rPr dirty="0" sz="2400" spc="-15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66FF"/>
                </a:solidFill>
                <a:latin typeface="Times New Roman"/>
                <a:cs typeface="Times New Roman"/>
              </a:rPr>
              <a:t>address</a:t>
            </a:r>
            <a:r>
              <a:rPr dirty="0" sz="2400" spc="-3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branch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specified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using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35">
                <a:latin typeface="Times New Roman"/>
                <a:cs typeface="Times New Roman"/>
              </a:rPr>
              <a:t>PC </a:t>
            </a:r>
            <a:r>
              <a:rPr dirty="0" sz="2400">
                <a:latin typeface="Times New Roman"/>
                <a:cs typeface="Times New Roman"/>
              </a:rPr>
              <a:t>relative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addressing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mode</a:t>
            </a:r>
            <a:endParaRPr sz="2400">
              <a:latin typeface="Times New Roman"/>
              <a:cs typeface="Times New Roman"/>
            </a:endParaRPr>
          </a:p>
          <a:p>
            <a:pPr marL="338455" indent="-325755">
              <a:lnSpc>
                <a:spcPct val="100000"/>
              </a:lnSpc>
              <a:spcBef>
                <a:spcPts val="575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338455" algn="l"/>
              </a:tabLst>
            </a:pPr>
            <a:r>
              <a:rPr dirty="0" sz="2400">
                <a:latin typeface="Times New Roman"/>
                <a:cs typeface="Times New Roman"/>
              </a:rPr>
              <a:t>PC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+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4</a:t>
            </a:r>
            <a:r>
              <a:rPr dirty="0" sz="2400" spc="-10">
                <a:latin typeface="Times New Roman"/>
                <a:cs typeface="Times New Roman"/>
              </a:rPr>
              <a:t> -</a:t>
            </a:r>
            <a:r>
              <a:rPr dirty="0" sz="2400" spc="-25">
                <a:latin typeface="Times New Roman"/>
                <a:cs typeface="Times New Roman"/>
              </a:rPr>
              <a:t>16</a:t>
            </a:r>
            <a:endParaRPr sz="2400">
              <a:latin typeface="Times New Roman"/>
              <a:cs typeface="Times New Roman"/>
            </a:endParaRPr>
          </a:p>
          <a:p>
            <a:pPr marL="338455" marR="299085" indent="-326390">
              <a:lnSpc>
                <a:spcPts val="3460"/>
              </a:lnSpc>
              <a:spcBef>
                <a:spcPts val="70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582295" algn="l"/>
                <a:tab pos="1417955" algn="l"/>
                <a:tab pos="2156460" algn="l"/>
                <a:tab pos="2894965" algn="l"/>
              </a:tabLst>
            </a:pP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examples,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will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more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readable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notation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BEQ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R1,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5">
                <a:latin typeface="Times New Roman"/>
                <a:cs typeface="Times New Roman"/>
              </a:rPr>
              <a:t>R2,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0">
                <a:latin typeface="Times New Roman"/>
                <a:cs typeface="Times New Roman"/>
              </a:rPr>
              <a:t>label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23900" y="1156716"/>
          <a:ext cx="8726805" cy="1694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2265"/>
                <a:gridCol w="2069464"/>
                <a:gridCol w="2169795"/>
                <a:gridCol w="2770504"/>
              </a:tblGrid>
              <a:tr h="5054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Mnemonics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Example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Meaning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91440" marR="114300">
                        <a:lnSpc>
                          <a:spcPts val="2620"/>
                        </a:lnSpc>
                        <a:spcBef>
                          <a:spcPts val="425"/>
                        </a:spcBef>
                      </a:pPr>
                      <a:r>
                        <a:rPr dirty="0" sz="2200" spc="-10">
                          <a:latin typeface="Arial MT"/>
                          <a:cs typeface="Arial MT"/>
                        </a:rPr>
                        <a:t>Conditional Branch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5397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911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BEQ,</a:t>
                      </a:r>
                      <a:r>
                        <a:rPr dirty="0" sz="2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BNE,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BGEZ,</a:t>
                      </a:r>
                      <a:r>
                        <a:rPr dirty="0" sz="2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BLEZ,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BLTZ,</a:t>
                      </a:r>
                      <a:r>
                        <a:rPr dirty="0" sz="2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BGTZ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BLTZ</a:t>
                      </a:r>
                      <a:r>
                        <a:rPr dirty="0" sz="2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R2,</a:t>
                      </a:r>
                      <a:r>
                        <a:rPr dirty="0" sz="2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2400" spc="-25">
                          <a:latin typeface="Arial MT"/>
                          <a:cs typeface="Arial MT"/>
                        </a:rPr>
                        <a:t>16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R2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 0,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PC</a:t>
                      </a:r>
                      <a:r>
                        <a:rPr dirty="0" sz="2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Wingdings"/>
                          <a:cs typeface="Wingdings"/>
                        </a:rPr>
                        <a:t></a:t>
                      </a:r>
                      <a:r>
                        <a:rPr dirty="0" sz="180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PC</a:t>
                      </a:r>
                      <a:r>
                        <a:rPr dirty="0" sz="2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-</a:t>
                      </a: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16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75"/>
              <a:t>Jump</a:t>
            </a:r>
            <a:r>
              <a:rPr dirty="0" spc="-125"/>
              <a:t> </a:t>
            </a:r>
            <a:r>
              <a:rPr dirty="0" spc="-155"/>
              <a:t>Instructions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92836" y="1226820"/>
          <a:ext cx="8729980" cy="18402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5440"/>
                <a:gridCol w="2069464"/>
                <a:gridCol w="2169795"/>
                <a:gridCol w="2770504"/>
              </a:tblGrid>
              <a:tr h="5086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Mnemonics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Example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Meaning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31595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200" spc="-20">
                          <a:latin typeface="Arial MT"/>
                          <a:cs typeface="Arial MT"/>
                        </a:rPr>
                        <a:t>Jump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J,</a:t>
                      </a:r>
                      <a:r>
                        <a:rPr dirty="0" sz="24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25">
                          <a:latin typeface="Arial MT"/>
                          <a:cs typeface="Arial MT"/>
                        </a:rPr>
                        <a:t>JR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J  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target</a:t>
                      </a:r>
                      <a:r>
                        <a:rPr dirty="0" baseline="-20833" sz="2400" spc="-15">
                          <a:latin typeface="Arial MT"/>
                          <a:cs typeface="Arial MT"/>
                        </a:rPr>
                        <a:t>26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J  </a:t>
                      </a:r>
                      <a:r>
                        <a:rPr dirty="0" sz="2400" spc="-25">
                          <a:latin typeface="Arial MT"/>
                          <a:cs typeface="Arial MT"/>
                        </a:rPr>
                        <a:t>R5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PC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50">
                          <a:latin typeface="Wingdings"/>
                          <a:cs typeface="Wingdings"/>
                        </a:rPr>
                        <a:t></a:t>
                      </a:r>
                      <a:endParaRPr sz="1800">
                        <a:latin typeface="Wingdings"/>
                        <a:cs typeface="Wingdings"/>
                      </a:endParaRPr>
                    </a:p>
                    <a:p>
                      <a:pPr marL="93980" marR="100965">
                        <a:lnSpc>
                          <a:spcPct val="119200"/>
                        </a:lnSpc>
                        <a:spcBef>
                          <a:spcPts val="25"/>
                        </a:spcBef>
                      </a:pP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(PC)</a:t>
                      </a:r>
                      <a:r>
                        <a:rPr dirty="0" baseline="-20833" sz="2400" spc="-15">
                          <a:latin typeface="Times New Roman"/>
                          <a:cs typeface="Times New Roman"/>
                        </a:rPr>
                        <a:t>31-</a:t>
                      </a:r>
                      <a:r>
                        <a:rPr dirty="0" baseline="-20833" sz="2400">
                          <a:latin typeface="Times New Roman"/>
                          <a:cs typeface="Times New Roman"/>
                        </a:rPr>
                        <a:t>28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||</a:t>
                      </a:r>
                      <a:r>
                        <a:rPr dirty="0" sz="2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target</a:t>
                      </a:r>
                      <a:r>
                        <a:rPr dirty="0" baseline="-20833" sz="2400" spc="-15">
                          <a:latin typeface="Times New Roman"/>
                          <a:cs typeface="Times New Roman"/>
                        </a:rPr>
                        <a:t>26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||00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PC</a:t>
                      </a:r>
                      <a:r>
                        <a:rPr dirty="0" sz="24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Wingdings"/>
                          <a:cs typeface="Wingdings"/>
                        </a:rPr>
                        <a:t></a:t>
                      </a:r>
                      <a:r>
                        <a:rPr dirty="0" sz="180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R5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88340" y="3087116"/>
            <a:ext cx="8331834" cy="3302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0"/>
              </a:spcBef>
              <a:buClr>
                <a:srgbClr val="CC9900"/>
              </a:buClr>
              <a:buSzPct val="65384"/>
              <a:buFont typeface="Wingdings"/>
              <a:buChar char=""/>
              <a:tabLst>
                <a:tab pos="356870" algn="l"/>
              </a:tabLst>
            </a:pPr>
            <a:r>
              <a:rPr dirty="0" sz="2600">
                <a:latin typeface="Times New Roman"/>
                <a:cs typeface="Times New Roman"/>
              </a:rPr>
              <a:t>Unconditional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control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transfer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instruction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at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target address</a:t>
            </a:r>
            <a:endParaRPr sz="2600">
              <a:latin typeface="Times New Roman"/>
              <a:cs typeface="Times New Roman"/>
            </a:endParaRPr>
          </a:p>
          <a:p>
            <a:pPr lvl="1" marL="682625" indent="-325755">
              <a:lnSpc>
                <a:spcPct val="100000"/>
              </a:lnSpc>
              <a:spcBef>
                <a:spcPts val="585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Times New Roman"/>
                <a:cs typeface="Times New Roman"/>
              </a:rPr>
              <a:t>Target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address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specified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using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absolute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addressing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mode</a:t>
            </a:r>
            <a:endParaRPr sz="2400">
              <a:latin typeface="Times New Roman"/>
              <a:cs typeface="Times New Roman"/>
            </a:endParaRPr>
          </a:p>
          <a:p>
            <a:pPr lvl="1" marL="682625" indent="-325755">
              <a:lnSpc>
                <a:spcPct val="100000"/>
              </a:lnSpc>
              <a:spcBef>
                <a:spcPts val="575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Times New Roman"/>
                <a:cs typeface="Times New Roman"/>
              </a:rPr>
              <a:t>i.e.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target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address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itself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included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jump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instruction</a:t>
            </a:r>
            <a:endParaRPr sz="2400">
              <a:latin typeface="Times New Roman"/>
              <a:cs typeface="Times New Roman"/>
            </a:endParaRPr>
          </a:p>
          <a:p>
            <a:pPr lvl="1" marL="683260" marR="210820" indent="-326390">
              <a:lnSpc>
                <a:spcPct val="100000"/>
              </a:lnSpc>
              <a:spcBef>
                <a:spcPts val="575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3260" algn="l"/>
              </a:tabLst>
            </a:pPr>
            <a:r>
              <a:rPr dirty="0" sz="2400">
                <a:latin typeface="Times New Roman"/>
                <a:cs typeface="Times New Roman"/>
              </a:rPr>
              <a:t>But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addresses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also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32b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size: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address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won’t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a </a:t>
            </a:r>
            <a:r>
              <a:rPr dirty="0" sz="2400">
                <a:latin typeface="Times New Roman"/>
                <a:cs typeface="Times New Roman"/>
              </a:rPr>
              <a:t>32b </a:t>
            </a:r>
            <a:r>
              <a:rPr dirty="0" sz="2400" spc="-10">
                <a:latin typeface="Times New Roman"/>
                <a:cs typeface="Times New Roman"/>
              </a:rPr>
              <a:t>instruction</a:t>
            </a:r>
            <a:endParaRPr sz="2400">
              <a:latin typeface="Times New Roman"/>
              <a:cs typeface="Times New Roman"/>
            </a:endParaRPr>
          </a:p>
          <a:p>
            <a:pPr lvl="1" marL="683260" marR="840740" indent="-326390">
              <a:lnSpc>
                <a:spcPts val="2860"/>
              </a:lnSpc>
              <a:spcBef>
                <a:spcPts val="690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3260" algn="l"/>
              </a:tabLst>
            </a:pPr>
            <a:r>
              <a:rPr dirty="0" sz="2400">
                <a:latin typeface="Times New Roman"/>
                <a:cs typeface="Times New Roman"/>
              </a:rPr>
              <a:t>MIPS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1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Solution: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Include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26bits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target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address in</a:t>
            </a:r>
            <a:r>
              <a:rPr dirty="0" sz="2400" spc="-25">
                <a:latin typeface="Times New Roman"/>
                <a:cs typeface="Times New Roman"/>
              </a:rPr>
              <a:t> the </a:t>
            </a:r>
            <a:r>
              <a:rPr dirty="0" sz="2400" spc="-10">
                <a:latin typeface="Times New Roman"/>
                <a:cs typeface="Times New Roman"/>
              </a:rPr>
              <a:t>instruction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75"/>
              <a:t>Jump</a:t>
            </a:r>
            <a:r>
              <a:rPr dirty="0" spc="-125"/>
              <a:t> </a:t>
            </a:r>
            <a:r>
              <a:rPr dirty="0" spc="-365"/>
              <a:t>and</a:t>
            </a:r>
            <a:r>
              <a:rPr dirty="0" spc="-114"/>
              <a:t> </a:t>
            </a:r>
            <a:r>
              <a:rPr dirty="0" spc="-45"/>
              <a:t>Link</a:t>
            </a:r>
            <a:r>
              <a:rPr dirty="0" spc="-225"/>
              <a:t> </a:t>
            </a:r>
            <a:r>
              <a:rPr dirty="0" spc="-145"/>
              <a:t>Instructions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23900" y="1214628"/>
          <a:ext cx="8726805" cy="1398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2265"/>
                <a:gridCol w="2069464"/>
                <a:gridCol w="2169795"/>
                <a:gridCol w="2770504"/>
              </a:tblGrid>
              <a:tr h="5054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Mnemonics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Example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solidFill>
                            <a:srgbClr val="0066FF"/>
                          </a:solidFill>
                          <a:latin typeface="Arial MT"/>
                          <a:cs typeface="Arial MT"/>
                        </a:rPr>
                        <a:t>Meaning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92810">
                <a:tc>
                  <a:txBody>
                    <a:bodyPr/>
                    <a:lstStyle/>
                    <a:p>
                      <a:pPr marL="91440" marR="2800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200">
                          <a:latin typeface="Arial MT"/>
                          <a:cs typeface="Arial MT"/>
                        </a:rPr>
                        <a:t>Jump</a:t>
                      </a:r>
                      <a:r>
                        <a:rPr dirty="0" sz="2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25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2200" spc="-20">
                          <a:latin typeface="Arial MT"/>
                          <a:cs typeface="Arial MT"/>
                        </a:rPr>
                        <a:t>Link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JAL,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JALR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JALR</a:t>
                      </a:r>
                      <a:r>
                        <a:rPr dirty="0" sz="24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25">
                          <a:latin typeface="Arial MT"/>
                          <a:cs typeface="Arial MT"/>
                        </a:rPr>
                        <a:t>R2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JAL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target</a:t>
                      </a:r>
                      <a:r>
                        <a:rPr dirty="0" baseline="-20833" sz="2400" spc="-15">
                          <a:latin typeface="Arial MT"/>
                          <a:cs typeface="Arial MT"/>
                        </a:rPr>
                        <a:t>26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R31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Wingdings"/>
                          <a:cs typeface="Wingdings"/>
                        </a:rPr>
                        <a:t></a:t>
                      </a:r>
                      <a:r>
                        <a:rPr dirty="0" sz="18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PC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24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0">
                          <a:latin typeface="Arial MT"/>
                          <a:cs typeface="Arial MT"/>
                        </a:rPr>
                        <a:t>8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PC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Wingdings"/>
                          <a:cs typeface="Wingdings"/>
                        </a:rPr>
                        <a:t></a:t>
                      </a:r>
                      <a:r>
                        <a:rPr dirty="0" sz="1800" spc="1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25">
                          <a:latin typeface="Arial MT"/>
                          <a:cs typeface="Arial MT"/>
                        </a:rPr>
                        <a:t>R2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43788" y="2757931"/>
            <a:ext cx="7859395" cy="1696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0"/>
              </a:spcBef>
              <a:buClr>
                <a:srgbClr val="CC9900"/>
              </a:buClr>
              <a:buSzPct val="65384"/>
              <a:buFont typeface="Wingdings"/>
              <a:buChar char=""/>
              <a:tabLst>
                <a:tab pos="356870" algn="l"/>
              </a:tabLst>
            </a:pPr>
            <a:r>
              <a:rPr dirty="0" sz="2600">
                <a:latin typeface="Times New Roman"/>
                <a:cs typeface="Times New Roman"/>
              </a:rPr>
              <a:t>Unconditional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control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transfer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instruction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at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the </a:t>
            </a:r>
            <a:r>
              <a:rPr dirty="0" sz="2600">
                <a:latin typeface="Times New Roman"/>
                <a:cs typeface="Times New Roman"/>
              </a:rPr>
              <a:t>target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address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along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with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remembering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PC+8</a:t>
            </a:r>
            <a:r>
              <a:rPr dirty="0" sz="2600" spc="59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595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R31</a:t>
            </a:r>
            <a:endParaRPr sz="2600">
              <a:latin typeface="Times New Roman"/>
              <a:cs typeface="Times New Roman"/>
            </a:endParaRPr>
          </a:p>
          <a:p>
            <a:pPr lvl="1" marL="682625" indent="-325755">
              <a:lnSpc>
                <a:spcPct val="100000"/>
              </a:lnSpc>
              <a:spcBef>
                <a:spcPts val="610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Times New Roman"/>
                <a:cs typeface="Times New Roman"/>
              </a:rPr>
              <a:t>Target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address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specified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J,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JR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instructions</a:t>
            </a:r>
            <a:endParaRPr sz="2400">
              <a:latin typeface="Times New Roman"/>
              <a:cs typeface="Times New Roman"/>
            </a:endParaRPr>
          </a:p>
          <a:p>
            <a:pPr lvl="1" marL="682625" indent="-325755">
              <a:lnSpc>
                <a:spcPct val="100000"/>
              </a:lnSpc>
              <a:spcBef>
                <a:spcPts val="550"/>
              </a:spcBef>
              <a:buClr>
                <a:srgbClr val="3A802E"/>
              </a:buClr>
              <a:buSzPct val="58333"/>
              <a:buFont typeface="Wingdings"/>
              <a:buChar char=""/>
              <a:tabLst>
                <a:tab pos="682625" algn="l"/>
              </a:tabLst>
            </a:pPr>
            <a:r>
              <a:rPr dirty="0" sz="2400">
                <a:latin typeface="Times New Roman"/>
                <a:cs typeface="Times New Roman"/>
              </a:rPr>
              <a:t>We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will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how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this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instruction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useful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function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calls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95"/>
              <a:t>C</a:t>
            </a:r>
            <a:r>
              <a:rPr dirty="0" spc="-110"/>
              <a:t> </a:t>
            </a:r>
            <a:r>
              <a:rPr dirty="0" spc="-140"/>
              <a:t>Control</a:t>
            </a:r>
            <a:r>
              <a:rPr dirty="0" spc="-105"/>
              <a:t> </a:t>
            </a:r>
            <a:r>
              <a:rPr dirty="0" spc="-235"/>
              <a:t>Transfer</a:t>
            </a:r>
            <a:r>
              <a:rPr dirty="0" spc="-114"/>
              <a:t> </a:t>
            </a:r>
            <a:r>
              <a:rPr dirty="0" spc="-200"/>
              <a:t>Constructs…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23900" y="1257300"/>
          <a:ext cx="7763509" cy="4567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2090"/>
                <a:gridCol w="4907279"/>
              </a:tblGrid>
              <a:tr h="505459">
                <a:tc>
                  <a:txBody>
                    <a:bodyPr/>
                    <a:lstStyle/>
                    <a:p>
                      <a:pPr marL="7010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5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97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MIPS</a:t>
                      </a:r>
                      <a:r>
                        <a:rPr dirty="0" sz="2400" spc="-3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400" spc="-15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Instructions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goto</a:t>
                      </a:r>
                      <a:r>
                        <a:rPr dirty="0" sz="2400" spc="5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label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7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dirty="0" sz="2400" spc="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label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6625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dirty="0" sz="2400" spc="5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(X</a:t>
                      </a:r>
                      <a:r>
                        <a:rPr dirty="0" sz="2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&gt;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0)</a:t>
                      </a: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solidFill>
                            <a:srgbClr val="A40020"/>
                          </a:solidFill>
                          <a:latin typeface="Times New Roman"/>
                          <a:cs typeface="Times New Roman"/>
                        </a:rPr>
                        <a:t>thenpart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;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else</a:t>
                      </a:r>
                      <a:r>
                        <a:rPr dirty="0" sz="2400" spc="5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solidFill>
                            <a:srgbClr val="A40020"/>
                          </a:solidFill>
                          <a:latin typeface="Times New Roman"/>
                          <a:cs typeface="Times New Roman"/>
                        </a:rPr>
                        <a:t>elsepart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49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LW</a:t>
                      </a:r>
                      <a:r>
                        <a:rPr dirty="0" sz="2400" spc="5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R1,</a:t>
                      </a:r>
                      <a:r>
                        <a:rPr dirty="0" sz="2400" spc="5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54178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BGTZ</a:t>
                      </a:r>
                      <a:r>
                        <a:rPr dirty="0" sz="2400" spc="5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R1,</a:t>
                      </a:r>
                      <a:r>
                        <a:rPr dirty="0" sz="2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thenpart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elsepart: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47498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: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thenpart: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315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repeat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1440" marR="864235" indent="304800">
                        <a:lnSpc>
                          <a:spcPct val="120000"/>
                        </a:lnSpc>
                      </a:pPr>
                      <a:r>
                        <a:rPr dirty="0" sz="2400" spc="-10">
                          <a:solidFill>
                            <a:srgbClr val="A40020"/>
                          </a:solidFill>
                          <a:latin typeface="Times New Roman"/>
                          <a:cs typeface="Times New Roman"/>
                        </a:rPr>
                        <a:t>loopbody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until</a:t>
                      </a:r>
                      <a:r>
                        <a:rPr dirty="0" sz="2400" spc="5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sz="2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!=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0)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49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LW</a:t>
                      </a:r>
                      <a:r>
                        <a:rPr dirty="0" sz="2400" spc="5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R1,</a:t>
                      </a:r>
                      <a:r>
                        <a:rPr dirty="0" sz="2400" spc="5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75"/>
                        </a:spcBef>
                        <a:tabLst>
                          <a:tab pos="1523365" algn="l"/>
                        </a:tabLst>
                      </a:pP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loophead: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 spc="-10">
                          <a:solidFill>
                            <a:srgbClr val="006633"/>
                          </a:solidFill>
                          <a:latin typeface="Times New Roman"/>
                          <a:cs typeface="Times New Roman"/>
                        </a:rPr>
                        <a:t>loopbody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54178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BEQ</a:t>
                      </a:r>
                      <a:r>
                        <a:rPr dirty="0" sz="2400" spc="5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R1,</a:t>
                      </a:r>
                      <a:r>
                        <a:rPr dirty="0" sz="2400" spc="5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R0,</a:t>
                      </a:r>
                      <a:r>
                        <a:rPr dirty="0" sz="2400" spc="5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loophead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10"/>
              <a:t>Interesting</a:t>
            </a:r>
            <a:r>
              <a:rPr dirty="0" spc="-125"/>
              <a:t> </a:t>
            </a:r>
            <a:r>
              <a:rPr dirty="0" spc="-235"/>
              <a:t>Notes</a:t>
            </a:r>
            <a:r>
              <a:rPr dirty="0" spc="-105"/>
              <a:t> </a:t>
            </a:r>
            <a:r>
              <a:rPr dirty="0" spc="-60"/>
              <a:t>from</a:t>
            </a:r>
            <a:r>
              <a:rPr dirty="0" spc="-114"/>
              <a:t> </a:t>
            </a:r>
            <a:r>
              <a:rPr dirty="0" spc="-150"/>
              <a:t>ISA</a:t>
            </a:r>
            <a:r>
              <a:rPr dirty="0" spc="-120"/>
              <a:t> </a:t>
            </a:r>
            <a:r>
              <a:rPr dirty="0" spc="-300"/>
              <a:t>Manual.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>
                <a:solidFill>
                  <a:srgbClr val="000000"/>
                </a:solidFill>
              </a:rPr>
              <a:t>For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load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instructions: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loaded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value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might </a:t>
            </a:r>
            <a:r>
              <a:rPr dirty="0" spc="-10">
                <a:solidFill>
                  <a:srgbClr val="000000"/>
                </a:solidFill>
              </a:rPr>
              <a:t>	</a:t>
            </a:r>
            <a:r>
              <a:rPr dirty="0">
                <a:solidFill>
                  <a:srgbClr val="000000"/>
                </a:solidFill>
              </a:rPr>
              <a:t>not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be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available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destination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register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for </a:t>
            </a:r>
            <a:r>
              <a:rPr dirty="0" spc="-25">
                <a:solidFill>
                  <a:srgbClr val="000000"/>
                </a:solidFill>
              </a:rPr>
              <a:t>	</a:t>
            </a:r>
            <a:r>
              <a:rPr dirty="0">
                <a:solidFill>
                  <a:srgbClr val="000000"/>
                </a:solidFill>
              </a:rPr>
              <a:t>use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by</a:t>
            </a:r>
            <a:r>
              <a:rPr dirty="0" spc="-7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instruction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immediately</a:t>
            </a:r>
            <a:r>
              <a:rPr dirty="0" spc="-7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following </a:t>
            </a:r>
            <a:r>
              <a:rPr dirty="0" spc="-10">
                <a:solidFill>
                  <a:srgbClr val="000000"/>
                </a:solidFill>
              </a:rPr>
              <a:t>	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20">
                <a:solidFill>
                  <a:srgbClr val="000000"/>
                </a:solidFill>
              </a:rPr>
              <a:t> load</a:t>
            </a:r>
          </a:p>
          <a:p>
            <a:pPr lvl="1" marL="682625" indent="-325755">
              <a:lnSpc>
                <a:spcPct val="100000"/>
              </a:lnSpc>
              <a:spcBef>
                <a:spcPts val="66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LOAD</a:t>
            </a:r>
            <a:r>
              <a:rPr dirty="0" sz="2600" spc="-60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DELAY</a:t>
            </a:r>
            <a:r>
              <a:rPr dirty="0" sz="2600" spc="-85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 spc="-20">
                <a:solidFill>
                  <a:srgbClr val="0066FF"/>
                </a:solidFill>
                <a:latin typeface="Arial MT"/>
                <a:cs typeface="Arial MT"/>
              </a:rPr>
              <a:t>SLOT</a:t>
            </a:r>
            <a:endParaRPr sz="2600">
              <a:latin typeface="Arial MT"/>
              <a:cs typeface="Arial MT"/>
            </a:endParaRPr>
          </a:p>
          <a:p>
            <a:pPr marL="355600" marR="183515" indent="-343535">
              <a:lnSpc>
                <a:spcPct val="100000"/>
              </a:lnSpc>
              <a:spcBef>
                <a:spcPts val="705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>
                <a:solidFill>
                  <a:srgbClr val="000000"/>
                </a:solidFill>
              </a:rPr>
              <a:t>For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control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transfer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instructions: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transfer </a:t>
            </a:r>
            <a:r>
              <a:rPr dirty="0" spc="-10">
                <a:solidFill>
                  <a:srgbClr val="000000"/>
                </a:solidFill>
              </a:rPr>
              <a:t>	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control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takes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place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only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following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the </a:t>
            </a:r>
            <a:r>
              <a:rPr dirty="0" spc="-25">
                <a:solidFill>
                  <a:srgbClr val="000000"/>
                </a:solidFill>
              </a:rPr>
              <a:t>	</a:t>
            </a:r>
            <a:r>
              <a:rPr dirty="0">
                <a:solidFill>
                  <a:srgbClr val="000000"/>
                </a:solidFill>
              </a:rPr>
              <a:t>instruction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immediately</a:t>
            </a:r>
            <a:r>
              <a:rPr dirty="0" spc="-8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after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control </a:t>
            </a:r>
            <a:r>
              <a:rPr dirty="0" spc="-10">
                <a:solidFill>
                  <a:srgbClr val="000000"/>
                </a:solidFill>
              </a:rPr>
              <a:t>	</a:t>
            </a:r>
            <a:r>
              <a:rPr dirty="0">
                <a:solidFill>
                  <a:srgbClr val="000000"/>
                </a:solidFill>
              </a:rPr>
              <a:t>transfer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instruction</a:t>
            </a:r>
          </a:p>
          <a:p>
            <a:pPr lvl="1" marL="682625" indent="-325755">
              <a:lnSpc>
                <a:spcPct val="100000"/>
              </a:lnSpc>
              <a:spcBef>
                <a:spcPts val="66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BRANCH</a:t>
            </a:r>
            <a:r>
              <a:rPr dirty="0" sz="2600" spc="-85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DELAY</a:t>
            </a:r>
            <a:r>
              <a:rPr dirty="0" sz="2600" spc="-110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 spc="-20">
                <a:solidFill>
                  <a:srgbClr val="0066FF"/>
                </a:solidFill>
                <a:latin typeface="Arial MT"/>
                <a:cs typeface="Arial MT"/>
              </a:rPr>
              <a:t>SLOT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139" y="1401571"/>
            <a:ext cx="582549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z="3000">
                <a:latin typeface="Arial MT"/>
                <a:cs typeface="Arial MT"/>
              </a:rPr>
              <a:t>Warning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about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Load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instructions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10"/>
              <a:t>Interesting</a:t>
            </a:r>
            <a:r>
              <a:rPr dirty="0" spc="-125"/>
              <a:t> </a:t>
            </a:r>
            <a:r>
              <a:rPr dirty="0" spc="-235"/>
              <a:t>Notes</a:t>
            </a:r>
            <a:r>
              <a:rPr dirty="0" spc="-105"/>
              <a:t> </a:t>
            </a:r>
            <a:r>
              <a:rPr dirty="0" spc="-60"/>
              <a:t>from</a:t>
            </a:r>
            <a:r>
              <a:rPr dirty="0" spc="-114"/>
              <a:t> </a:t>
            </a:r>
            <a:r>
              <a:rPr dirty="0" spc="-150"/>
              <a:t>ISA</a:t>
            </a:r>
            <a:r>
              <a:rPr dirty="0" spc="-120"/>
              <a:t> </a:t>
            </a:r>
            <a:r>
              <a:rPr dirty="0" spc="-300"/>
              <a:t>Manual.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20394" y="2107608"/>
          <a:ext cx="2713355" cy="754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4385"/>
                <a:gridCol w="695325"/>
                <a:gridCol w="1148080"/>
              </a:tblGrid>
              <a:tr h="377190">
                <a:tc>
                  <a:txBody>
                    <a:bodyPr/>
                    <a:lstStyle/>
                    <a:p>
                      <a:pPr marL="31750">
                        <a:lnSpc>
                          <a:spcPts val="2655"/>
                        </a:lnSpc>
                      </a:pPr>
                      <a:r>
                        <a:rPr dirty="0" sz="2400" spc="-25">
                          <a:latin typeface="Arial MT"/>
                          <a:cs typeface="Arial MT"/>
                        </a:rPr>
                        <a:t>LW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ts val="2655"/>
                        </a:lnSpc>
                      </a:pPr>
                      <a:r>
                        <a:rPr dirty="0" sz="2400" spc="-25">
                          <a:latin typeface="Arial MT"/>
                          <a:cs typeface="Arial MT"/>
                        </a:rPr>
                        <a:t>R1,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2655"/>
                        </a:lnSpc>
                      </a:pPr>
                      <a:r>
                        <a:rPr dirty="0" sz="2400" spc="-10">
                          <a:latin typeface="Arial MT"/>
                          <a:cs typeface="Arial MT"/>
                        </a:rPr>
                        <a:t>-8(R2)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377190">
                <a:tc>
                  <a:txBody>
                    <a:bodyPr/>
                    <a:lstStyle/>
                    <a:p>
                      <a:pPr marL="31750">
                        <a:lnSpc>
                          <a:spcPts val="2810"/>
                        </a:lnSpc>
                        <a:spcBef>
                          <a:spcPts val="65"/>
                        </a:spcBef>
                      </a:pPr>
                      <a:r>
                        <a:rPr dirty="0" sz="2400" spc="-25">
                          <a:latin typeface="Arial MT"/>
                          <a:cs typeface="Arial MT"/>
                        </a:rPr>
                        <a:t>ADD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ctr" marL="52069">
                        <a:lnSpc>
                          <a:spcPts val="2810"/>
                        </a:lnSpc>
                        <a:spcBef>
                          <a:spcPts val="65"/>
                        </a:spcBef>
                      </a:pPr>
                      <a:r>
                        <a:rPr dirty="0" sz="2400" spc="-25">
                          <a:latin typeface="Arial MT"/>
                          <a:cs typeface="Arial MT"/>
                        </a:rPr>
                        <a:t>R3,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ctr" marL="52069">
                        <a:lnSpc>
                          <a:spcPts val="2810"/>
                        </a:lnSpc>
                        <a:spcBef>
                          <a:spcPts val="6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R1,</a:t>
                      </a:r>
                      <a:r>
                        <a:rPr dirty="0" sz="2400" spc="-30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2400" spc="-25">
                          <a:latin typeface="Arial MT"/>
                          <a:cs typeface="Arial MT"/>
                        </a:rPr>
                        <a:t>R2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825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10"/>
              <a:t>Interesting</a:t>
            </a:r>
            <a:r>
              <a:rPr dirty="0" spc="-125"/>
              <a:t> </a:t>
            </a:r>
            <a:r>
              <a:rPr dirty="0" spc="-235"/>
              <a:t>Notes</a:t>
            </a:r>
            <a:r>
              <a:rPr dirty="0" spc="-105"/>
              <a:t> </a:t>
            </a:r>
            <a:r>
              <a:rPr dirty="0" spc="-60"/>
              <a:t>from</a:t>
            </a:r>
            <a:r>
              <a:rPr dirty="0" spc="-114"/>
              <a:t> </a:t>
            </a:r>
            <a:r>
              <a:rPr dirty="0" spc="-150"/>
              <a:t>ISA</a:t>
            </a:r>
            <a:r>
              <a:rPr dirty="0" spc="-120"/>
              <a:t> </a:t>
            </a:r>
            <a:r>
              <a:rPr dirty="0" spc="-305"/>
              <a:t>Manual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>
                <a:solidFill>
                  <a:srgbClr val="000000"/>
                </a:solidFill>
              </a:rPr>
              <a:t>For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load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instructions: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loaded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value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might </a:t>
            </a:r>
            <a:r>
              <a:rPr dirty="0" spc="-10">
                <a:solidFill>
                  <a:srgbClr val="000000"/>
                </a:solidFill>
              </a:rPr>
              <a:t>	</a:t>
            </a:r>
            <a:r>
              <a:rPr dirty="0">
                <a:solidFill>
                  <a:srgbClr val="000000"/>
                </a:solidFill>
              </a:rPr>
              <a:t>not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be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available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destination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register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for </a:t>
            </a:r>
            <a:r>
              <a:rPr dirty="0" spc="-25">
                <a:solidFill>
                  <a:srgbClr val="000000"/>
                </a:solidFill>
              </a:rPr>
              <a:t>	</a:t>
            </a:r>
            <a:r>
              <a:rPr dirty="0">
                <a:solidFill>
                  <a:srgbClr val="000000"/>
                </a:solidFill>
              </a:rPr>
              <a:t>use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by</a:t>
            </a:r>
            <a:r>
              <a:rPr dirty="0" spc="-7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instruction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immediately</a:t>
            </a:r>
            <a:r>
              <a:rPr dirty="0" spc="-7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following </a:t>
            </a:r>
            <a:r>
              <a:rPr dirty="0" spc="-10">
                <a:solidFill>
                  <a:srgbClr val="000000"/>
                </a:solidFill>
              </a:rPr>
              <a:t>	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20">
                <a:solidFill>
                  <a:srgbClr val="000000"/>
                </a:solidFill>
              </a:rPr>
              <a:t> load</a:t>
            </a:r>
          </a:p>
          <a:p>
            <a:pPr lvl="1" marL="682625" indent="-325755">
              <a:lnSpc>
                <a:spcPct val="100000"/>
              </a:lnSpc>
              <a:spcBef>
                <a:spcPts val="66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LOAD</a:t>
            </a:r>
            <a:r>
              <a:rPr dirty="0" sz="2600" spc="-60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DELAY</a:t>
            </a:r>
            <a:r>
              <a:rPr dirty="0" sz="2600" spc="-85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 spc="-20">
                <a:solidFill>
                  <a:srgbClr val="0066FF"/>
                </a:solidFill>
                <a:latin typeface="Arial MT"/>
                <a:cs typeface="Arial MT"/>
              </a:rPr>
              <a:t>SLOT</a:t>
            </a:r>
            <a:endParaRPr sz="2600">
              <a:latin typeface="Arial MT"/>
              <a:cs typeface="Arial MT"/>
            </a:endParaRPr>
          </a:p>
          <a:p>
            <a:pPr marL="355600" marR="183515" indent="-343535">
              <a:lnSpc>
                <a:spcPct val="100000"/>
              </a:lnSpc>
              <a:spcBef>
                <a:spcPts val="705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/>
              <a:t>For</a:t>
            </a:r>
            <a:r>
              <a:rPr dirty="0" spc="-55"/>
              <a:t> </a:t>
            </a:r>
            <a:r>
              <a:rPr dirty="0"/>
              <a:t>control</a:t>
            </a:r>
            <a:r>
              <a:rPr dirty="0" spc="-60"/>
              <a:t> </a:t>
            </a:r>
            <a:r>
              <a:rPr dirty="0"/>
              <a:t>transfer</a:t>
            </a:r>
            <a:r>
              <a:rPr dirty="0" spc="-55"/>
              <a:t> </a:t>
            </a:r>
            <a:r>
              <a:rPr dirty="0"/>
              <a:t>instructions: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 spc="-10"/>
              <a:t>transfer </a:t>
            </a:r>
            <a:r>
              <a:rPr dirty="0" spc="-10"/>
              <a:t>	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control</a:t>
            </a:r>
            <a:r>
              <a:rPr dirty="0" spc="-50"/>
              <a:t> </a:t>
            </a:r>
            <a:r>
              <a:rPr dirty="0"/>
              <a:t>takes</a:t>
            </a:r>
            <a:r>
              <a:rPr dirty="0" spc="-45"/>
              <a:t> </a:t>
            </a:r>
            <a:r>
              <a:rPr dirty="0"/>
              <a:t>place</a:t>
            </a:r>
            <a:r>
              <a:rPr dirty="0" spc="-45"/>
              <a:t> </a:t>
            </a:r>
            <a:r>
              <a:rPr dirty="0"/>
              <a:t>only</a:t>
            </a:r>
            <a:r>
              <a:rPr dirty="0" spc="-70"/>
              <a:t> </a:t>
            </a:r>
            <a:r>
              <a:rPr dirty="0"/>
              <a:t>following</a:t>
            </a:r>
            <a:r>
              <a:rPr dirty="0" spc="-50"/>
              <a:t> </a:t>
            </a:r>
            <a:r>
              <a:rPr dirty="0" spc="-25"/>
              <a:t>the </a:t>
            </a:r>
            <a:r>
              <a:rPr dirty="0" spc="-25"/>
              <a:t>	</a:t>
            </a:r>
            <a:r>
              <a:rPr dirty="0"/>
              <a:t>instruction</a:t>
            </a:r>
            <a:r>
              <a:rPr dirty="0" spc="-70"/>
              <a:t> </a:t>
            </a:r>
            <a:r>
              <a:rPr dirty="0"/>
              <a:t>immediately</a:t>
            </a:r>
            <a:r>
              <a:rPr dirty="0" spc="-85"/>
              <a:t> </a:t>
            </a:r>
            <a:r>
              <a:rPr dirty="0"/>
              <a:t>after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 spc="-10"/>
              <a:t>control </a:t>
            </a:r>
            <a:r>
              <a:rPr dirty="0" spc="-10"/>
              <a:t>	</a:t>
            </a:r>
            <a:r>
              <a:rPr dirty="0"/>
              <a:t>transfer</a:t>
            </a:r>
            <a:r>
              <a:rPr dirty="0" spc="-55"/>
              <a:t> </a:t>
            </a:r>
            <a:r>
              <a:rPr dirty="0" spc="-10"/>
              <a:t>instruction</a:t>
            </a:r>
          </a:p>
          <a:p>
            <a:pPr lvl="1" marL="682625" indent="-325755">
              <a:lnSpc>
                <a:spcPct val="100000"/>
              </a:lnSpc>
              <a:spcBef>
                <a:spcPts val="66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solidFill>
                  <a:srgbClr val="BFBFBF"/>
                </a:solidFill>
                <a:latin typeface="Arial MT"/>
                <a:cs typeface="Arial MT"/>
              </a:rPr>
              <a:t>BRANCH</a:t>
            </a:r>
            <a:r>
              <a:rPr dirty="0" sz="2600" spc="-85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BFBFBF"/>
                </a:solidFill>
                <a:latin typeface="Arial MT"/>
                <a:cs typeface="Arial MT"/>
              </a:rPr>
              <a:t>DELAY</a:t>
            </a:r>
            <a:r>
              <a:rPr dirty="0" sz="2600" spc="-110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600" spc="-20">
                <a:solidFill>
                  <a:srgbClr val="BFBFBF"/>
                </a:solidFill>
                <a:latin typeface="Arial MT"/>
                <a:cs typeface="Arial MT"/>
              </a:rPr>
              <a:t>SLOT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554228"/>
            <a:ext cx="752411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10"/>
              <a:t>Interesting</a:t>
            </a:r>
            <a:r>
              <a:rPr dirty="0" spc="-125"/>
              <a:t> </a:t>
            </a:r>
            <a:r>
              <a:rPr dirty="0" spc="-235"/>
              <a:t>Notes</a:t>
            </a:r>
            <a:r>
              <a:rPr dirty="0" spc="-105"/>
              <a:t> </a:t>
            </a:r>
            <a:r>
              <a:rPr dirty="0" spc="-60"/>
              <a:t>from</a:t>
            </a:r>
            <a:r>
              <a:rPr dirty="0" spc="-114"/>
              <a:t> </a:t>
            </a:r>
            <a:r>
              <a:rPr dirty="0" spc="-150"/>
              <a:t>ISA</a:t>
            </a:r>
            <a:r>
              <a:rPr dirty="0" spc="-120"/>
              <a:t> </a:t>
            </a:r>
            <a:r>
              <a:rPr dirty="0" spc="-300"/>
              <a:t>Manual.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993139" y="1142491"/>
            <a:ext cx="8309609" cy="4055110"/>
          </a:xfrm>
          <a:prstGeom prst="rect">
            <a:avLst/>
          </a:prstGeom>
        </p:spPr>
        <p:txBody>
          <a:bodyPr wrap="square" lIns="0" tIns="271780" rIns="0" bIns="0" rtlCol="0" vert="horz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214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z="3000">
                <a:latin typeface="Arial MT"/>
                <a:cs typeface="Arial MT"/>
              </a:rPr>
              <a:t>Warning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about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Load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instructions</a:t>
            </a:r>
            <a:endParaRPr sz="3000">
              <a:latin typeface="Arial MT"/>
              <a:cs typeface="Arial MT"/>
            </a:endParaRPr>
          </a:p>
          <a:p>
            <a:pPr marL="158750">
              <a:lnSpc>
                <a:spcPct val="100000"/>
              </a:lnSpc>
              <a:spcBef>
                <a:spcPts val="1630"/>
              </a:spcBef>
              <a:tabLst>
                <a:tab pos="1039494" algn="l"/>
                <a:tab pos="1767839" algn="l"/>
                <a:tab pos="3569335" algn="l"/>
                <a:tab pos="4450080" algn="l"/>
                <a:tab pos="5178425" algn="l"/>
              </a:tabLst>
            </a:pPr>
            <a:r>
              <a:rPr dirty="0" sz="2400" spc="-25">
                <a:latin typeface="Arial MT"/>
                <a:cs typeface="Arial MT"/>
              </a:rPr>
              <a:t>LW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25">
                <a:latin typeface="Arial MT"/>
                <a:cs typeface="Arial MT"/>
              </a:rPr>
              <a:t>R1,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10">
                <a:latin typeface="Arial MT"/>
                <a:cs typeface="Arial MT"/>
              </a:rPr>
              <a:t>-</a:t>
            </a:r>
            <a:r>
              <a:rPr dirty="0" sz="2400" spc="-20">
                <a:latin typeface="Arial MT"/>
                <a:cs typeface="Arial MT"/>
              </a:rPr>
              <a:t>8(R2)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25">
                <a:latin typeface="Arial MT"/>
                <a:cs typeface="Arial MT"/>
              </a:rPr>
              <a:t>LW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25">
                <a:latin typeface="Arial MT"/>
                <a:cs typeface="Arial MT"/>
              </a:rPr>
              <a:t>R1,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10">
                <a:latin typeface="Arial MT"/>
                <a:cs typeface="Arial MT"/>
              </a:rPr>
              <a:t>-8(R2)</a:t>
            </a:r>
            <a:endParaRPr sz="2400">
              <a:latin typeface="Arial MT"/>
              <a:cs typeface="Arial MT"/>
            </a:endParaRPr>
          </a:p>
          <a:p>
            <a:pPr marL="158750">
              <a:lnSpc>
                <a:spcPct val="100000"/>
              </a:lnSpc>
              <a:spcBef>
                <a:spcPts val="265"/>
              </a:spcBef>
              <a:tabLst>
                <a:tab pos="1057275" algn="l"/>
                <a:tab pos="3554095" algn="l"/>
              </a:tabLst>
            </a:pPr>
            <a:r>
              <a:rPr dirty="0" baseline="-2314" sz="3600" spc="-37">
                <a:latin typeface="Arial MT"/>
                <a:cs typeface="Arial MT"/>
              </a:rPr>
              <a:t>ADD</a:t>
            </a:r>
            <a:r>
              <a:rPr dirty="0" baseline="-2314" sz="3600">
                <a:latin typeface="Arial MT"/>
                <a:cs typeface="Arial MT"/>
              </a:rPr>
              <a:t>	R3,</a:t>
            </a:r>
            <a:r>
              <a:rPr dirty="0" baseline="-2314" sz="3600" spc="-44">
                <a:latin typeface="Arial MT"/>
                <a:cs typeface="Arial MT"/>
              </a:rPr>
              <a:t>  </a:t>
            </a:r>
            <a:r>
              <a:rPr dirty="0" baseline="-2314" sz="3600">
                <a:latin typeface="Arial MT"/>
                <a:cs typeface="Arial MT"/>
              </a:rPr>
              <a:t>R1,</a:t>
            </a:r>
            <a:r>
              <a:rPr dirty="0" baseline="-2314" sz="3600" spc="-44">
                <a:latin typeface="Arial MT"/>
                <a:cs typeface="Arial MT"/>
              </a:rPr>
              <a:t>  </a:t>
            </a:r>
            <a:r>
              <a:rPr dirty="0" baseline="-2314" sz="3600" spc="-37">
                <a:latin typeface="Arial MT"/>
                <a:cs typeface="Arial MT"/>
              </a:rPr>
              <a:t>R2</a:t>
            </a:r>
            <a:r>
              <a:rPr dirty="0" baseline="-2314" sz="360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instruction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does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R1</a:t>
            </a:r>
            <a:endParaRPr sz="2400">
              <a:latin typeface="Arial MT"/>
              <a:cs typeface="Arial MT"/>
            </a:endParaRPr>
          </a:p>
          <a:p>
            <a:pPr marL="3569335">
              <a:lnSpc>
                <a:spcPct val="100000"/>
              </a:lnSpc>
              <a:spcBef>
                <a:spcPts val="290"/>
              </a:spcBef>
              <a:tabLst>
                <a:tab pos="4467860" algn="l"/>
              </a:tabLst>
            </a:pPr>
            <a:r>
              <a:rPr dirty="0" sz="2400" spc="-25">
                <a:latin typeface="Arial MT"/>
                <a:cs typeface="Arial MT"/>
              </a:rPr>
              <a:t>ADD</a:t>
            </a:r>
            <a:r>
              <a:rPr dirty="0" sz="2400">
                <a:latin typeface="Arial MT"/>
                <a:cs typeface="Arial MT"/>
              </a:rPr>
              <a:t>	R3,</a:t>
            </a:r>
            <a:r>
              <a:rPr dirty="0" sz="2400" spc="-30"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R1,</a:t>
            </a:r>
            <a:r>
              <a:rPr dirty="0" sz="2400" spc="-30">
                <a:latin typeface="Arial MT"/>
                <a:cs typeface="Arial MT"/>
              </a:rPr>
              <a:t>  </a:t>
            </a:r>
            <a:r>
              <a:rPr dirty="0" sz="2400" spc="-25">
                <a:latin typeface="Arial MT"/>
                <a:cs typeface="Arial MT"/>
              </a:rPr>
              <a:t>R2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4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5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z="3000">
                <a:latin typeface="Arial MT"/>
                <a:cs typeface="Arial MT"/>
              </a:rPr>
              <a:t>Warning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about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Control</a:t>
            </a:r>
            <a:r>
              <a:rPr dirty="0" sz="3000" spc="-6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Transfer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Instructions</a:t>
            </a:r>
            <a:endParaRPr sz="3000">
              <a:latin typeface="Arial MT"/>
              <a:cs typeface="Arial MT"/>
            </a:endParaRPr>
          </a:p>
          <a:p>
            <a:pPr marL="100965">
              <a:lnSpc>
                <a:spcPct val="100000"/>
              </a:lnSpc>
              <a:spcBef>
                <a:spcPts val="1580"/>
              </a:spcBef>
            </a:pPr>
            <a:r>
              <a:rPr dirty="0" sz="2400">
                <a:latin typeface="Arial MT"/>
                <a:cs typeface="Arial MT"/>
              </a:rPr>
              <a:t>head:</a:t>
            </a:r>
            <a:r>
              <a:rPr dirty="0" sz="2400" spc="-35">
                <a:latin typeface="Arial MT"/>
                <a:cs typeface="Arial MT"/>
              </a:rPr>
              <a:t>  </a:t>
            </a:r>
            <a:r>
              <a:rPr dirty="0" sz="2400" spc="-10">
                <a:latin typeface="Arial MT"/>
                <a:cs typeface="Arial MT"/>
              </a:rPr>
              <a:t>loopbody</a:t>
            </a:r>
            <a:endParaRPr sz="2400">
              <a:latin typeface="Arial MT"/>
              <a:cs typeface="Arial MT"/>
            </a:endParaRPr>
          </a:p>
          <a:p>
            <a:pPr marL="102743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Arial MT"/>
                <a:cs typeface="Arial MT"/>
              </a:rPr>
              <a:t>BEQ</a:t>
            </a:r>
            <a:r>
              <a:rPr dirty="0" sz="2400" spc="-30"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R1,</a:t>
            </a:r>
            <a:r>
              <a:rPr dirty="0" sz="2400" spc="-25"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R0,</a:t>
            </a:r>
            <a:r>
              <a:rPr dirty="0" sz="2400" spc="-25">
                <a:latin typeface="Arial MT"/>
                <a:cs typeface="Arial MT"/>
              </a:rPr>
              <a:t>  </a:t>
            </a:r>
            <a:r>
              <a:rPr dirty="0" sz="2400" spc="-20">
                <a:latin typeface="Arial MT"/>
                <a:cs typeface="Arial MT"/>
              </a:rPr>
              <a:t>head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10"/>
              <a:t>Interesting</a:t>
            </a:r>
            <a:r>
              <a:rPr dirty="0" spc="-125"/>
              <a:t> </a:t>
            </a:r>
            <a:r>
              <a:rPr dirty="0" spc="-235"/>
              <a:t>Notes</a:t>
            </a:r>
            <a:r>
              <a:rPr dirty="0" spc="-105"/>
              <a:t> </a:t>
            </a:r>
            <a:r>
              <a:rPr dirty="0" spc="-60"/>
              <a:t>from</a:t>
            </a:r>
            <a:r>
              <a:rPr dirty="0" spc="-114"/>
              <a:t> </a:t>
            </a:r>
            <a:r>
              <a:rPr dirty="0" spc="-150"/>
              <a:t>ISA</a:t>
            </a:r>
            <a:r>
              <a:rPr dirty="0" spc="-120"/>
              <a:t> </a:t>
            </a:r>
            <a:r>
              <a:rPr dirty="0" spc="-305"/>
              <a:t>Manual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/>
              <a:t>For</a:t>
            </a:r>
            <a:r>
              <a:rPr dirty="0" spc="-45"/>
              <a:t> </a:t>
            </a:r>
            <a:r>
              <a:rPr dirty="0"/>
              <a:t>load</a:t>
            </a:r>
            <a:r>
              <a:rPr dirty="0" spc="-70"/>
              <a:t> </a:t>
            </a:r>
            <a:r>
              <a:rPr dirty="0"/>
              <a:t>instructions: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loaded</a:t>
            </a:r>
            <a:r>
              <a:rPr dirty="0" spc="-45"/>
              <a:t> </a:t>
            </a:r>
            <a:r>
              <a:rPr dirty="0"/>
              <a:t>value</a:t>
            </a:r>
            <a:r>
              <a:rPr dirty="0" spc="-70"/>
              <a:t> </a:t>
            </a:r>
            <a:r>
              <a:rPr dirty="0" spc="-10"/>
              <a:t>might </a:t>
            </a:r>
            <a:r>
              <a:rPr dirty="0" spc="-10"/>
              <a:t>	</a:t>
            </a:r>
            <a:r>
              <a:rPr dirty="0"/>
              <a:t>not</a:t>
            </a:r>
            <a:r>
              <a:rPr dirty="0" spc="-50"/>
              <a:t> </a:t>
            </a:r>
            <a:r>
              <a:rPr dirty="0"/>
              <a:t>be</a:t>
            </a:r>
            <a:r>
              <a:rPr dirty="0" spc="-70"/>
              <a:t> </a:t>
            </a:r>
            <a:r>
              <a:rPr dirty="0"/>
              <a:t>available</a:t>
            </a:r>
            <a:r>
              <a:rPr dirty="0" spc="-45"/>
              <a:t> </a:t>
            </a:r>
            <a:r>
              <a:rPr dirty="0"/>
              <a:t>in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destination</a:t>
            </a:r>
            <a:r>
              <a:rPr dirty="0" spc="-45"/>
              <a:t> </a:t>
            </a:r>
            <a:r>
              <a:rPr dirty="0"/>
              <a:t>register</a:t>
            </a:r>
            <a:r>
              <a:rPr dirty="0" spc="-45"/>
              <a:t> </a:t>
            </a:r>
            <a:r>
              <a:rPr dirty="0" spc="-25"/>
              <a:t>for </a:t>
            </a:r>
            <a:r>
              <a:rPr dirty="0" spc="-25"/>
              <a:t>	</a:t>
            </a:r>
            <a:r>
              <a:rPr dirty="0"/>
              <a:t>use</a:t>
            </a:r>
            <a:r>
              <a:rPr dirty="0" spc="-60"/>
              <a:t> </a:t>
            </a:r>
            <a:r>
              <a:rPr dirty="0"/>
              <a:t>by</a:t>
            </a:r>
            <a:r>
              <a:rPr dirty="0" spc="-75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instruction</a:t>
            </a:r>
            <a:r>
              <a:rPr dirty="0" spc="-35"/>
              <a:t> </a:t>
            </a:r>
            <a:r>
              <a:rPr dirty="0"/>
              <a:t>immediately</a:t>
            </a:r>
            <a:r>
              <a:rPr dirty="0" spc="-75"/>
              <a:t> </a:t>
            </a:r>
            <a:r>
              <a:rPr dirty="0" spc="-10"/>
              <a:t>following </a:t>
            </a:r>
            <a:r>
              <a:rPr dirty="0" spc="-10"/>
              <a:t>	</a:t>
            </a:r>
            <a:r>
              <a:rPr dirty="0"/>
              <a:t>the</a:t>
            </a:r>
            <a:r>
              <a:rPr dirty="0" spc="-20"/>
              <a:t> load</a:t>
            </a:r>
          </a:p>
          <a:p>
            <a:pPr lvl="1" marL="682625" indent="-325755">
              <a:lnSpc>
                <a:spcPct val="100000"/>
              </a:lnSpc>
              <a:spcBef>
                <a:spcPts val="66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solidFill>
                  <a:srgbClr val="BFBFBF"/>
                </a:solidFill>
                <a:latin typeface="Arial MT"/>
                <a:cs typeface="Arial MT"/>
              </a:rPr>
              <a:t>LOAD</a:t>
            </a:r>
            <a:r>
              <a:rPr dirty="0" sz="2600" spc="-60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BFBFBF"/>
                </a:solidFill>
                <a:latin typeface="Arial MT"/>
                <a:cs typeface="Arial MT"/>
              </a:rPr>
              <a:t>DELAY</a:t>
            </a:r>
            <a:r>
              <a:rPr dirty="0" sz="2600" spc="-85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600" spc="-20">
                <a:solidFill>
                  <a:srgbClr val="BFBFBF"/>
                </a:solidFill>
                <a:latin typeface="Arial MT"/>
                <a:cs typeface="Arial MT"/>
              </a:rPr>
              <a:t>SLOT</a:t>
            </a:r>
            <a:endParaRPr sz="2600">
              <a:latin typeface="Arial MT"/>
              <a:cs typeface="Arial MT"/>
            </a:endParaRPr>
          </a:p>
          <a:p>
            <a:pPr marL="355600" marR="183515" indent="-343535">
              <a:lnSpc>
                <a:spcPct val="100000"/>
              </a:lnSpc>
              <a:spcBef>
                <a:spcPts val="705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>
                <a:solidFill>
                  <a:srgbClr val="000000"/>
                </a:solidFill>
              </a:rPr>
              <a:t>For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control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transfer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instructions: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transfer </a:t>
            </a:r>
            <a:r>
              <a:rPr dirty="0" spc="-10">
                <a:solidFill>
                  <a:srgbClr val="000000"/>
                </a:solidFill>
              </a:rPr>
              <a:t>	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control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takes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place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only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following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the </a:t>
            </a:r>
            <a:r>
              <a:rPr dirty="0" spc="-25">
                <a:solidFill>
                  <a:srgbClr val="000000"/>
                </a:solidFill>
              </a:rPr>
              <a:t>	</a:t>
            </a:r>
            <a:r>
              <a:rPr dirty="0">
                <a:solidFill>
                  <a:srgbClr val="000000"/>
                </a:solidFill>
              </a:rPr>
              <a:t>instruction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immediately</a:t>
            </a:r>
            <a:r>
              <a:rPr dirty="0" spc="-8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after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control </a:t>
            </a:r>
            <a:r>
              <a:rPr dirty="0" spc="-10">
                <a:solidFill>
                  <a:srgbClr val="000000"/>
                </a:solidFill>
              </a:rPr>
              <a:t>	</a:t>
            </a:r>
            <a:r>
              <a:rPr dirty="0">
                <a:solidFill>
                  <a:srgbClr val="000000"/>
                </a:solidFill>
              </a:rPr>
              <a:t>transfer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instruction</a:t>
            </a:r>
          </a:p>
          <a:p>
            <a:pPr lvl="1" marL="682625" indent="-325755">
              <a:lnSpc>
                <a:spcPct val="100000"/>
              </a:lnSpc>
              <a:spcBef>
                <a:spcPts val="66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BRANCH</a:t>
            </a:r>
            <a:r>
              <a:rPr dirty="0" sz="2600" spc="-85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0066FF"/>
                </a:solidFill>
                <a:latin typeface="Arial MT"/>
                <a:cs typeface="Arial MT"/>
              </a:rPr>
              <a:t>DELAY</a:t>
            </a:r>
            <a:r>
              <a:rPr dirty="0" sz="2600" spc="-110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dirty="0" sz="2600" spc="-20">
                <a:solidFill>
                  <a:srgbClr val="0066FF"/>
                </a:solidFill>
                <a:latin typeface="Arial MT"/>
                <a:cs typeface="Arial MT"/>
              </a:rPr>
              <a:t>SLOT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554228"/>
            <a:ext cx="752411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10"/>
              <a:t>Interesting</a:t>
            </a:r>
            <a:r>
              <a:rPr dirty="0" spc="-125"/>
              <a:t> </a:t>
            </a:r>
            <a:r>
              <a:rPr dirty="0" spc="-235"/>
              <a:t>Notes</a:t>
            </a:r>
            <a:r>
              <a:rPr dirty="0" spc="-105"/>
              <a:t> </a:t>
            </a:r>
            <a:r>
              <a:rPr dirty="0" spc="-60"/>
              <a:t>from</a:t>
            </a:r>
            <a:r>
              <a:rPr dirty="0" spc="-114"/>
              <a:t> </a:t>
            </a:r>
            <a:r>
              <a:rPr dirty="0" spc="-150"/>
              <a:t>ISA</a:t>
            </a:r>
            <a:r>
              <a:rPr dirty="0" spc="-120"/>
              <a:t> </a:t>
            </a:r>
            <a:r>
              <a:rPr dirty="0" spc="-300"/>
              <a:t>Manual.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993139" y="1142491"/>
            <a:ext cx="8309609" cy="2939415"/>
          </a:xfrm>
          <a:prstGeom prst="rect">
            <a:avLst/>
          </a:prstGeom>
        </p:spPr>
        <p:txBody>
          <a:bodyPr wrap="square" lIns="0" tIns="271780" rIns="0" bIns="0" rtlCol="0" vert="horz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2140"/>
              </a:spcBef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z="3000">
                <a:solidFill>
                  <a:srgbClr val="BFBFBF"/>
                </a:solidFill>
                <a:latin typeface="Arial MT"/>
                <a:cs typeface="Arial MT"/>
              </a:rPr>
              <a:t>Warning</a:t>
            </a:r>
            <a:r>
              <a:rPr dirty="0" sz="3000" spc="-70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BFBFBF"/>
                </a:solidFill>
                <a:latin typeface="Arial MT"/>
                <a:cs typeface="Arial MT"/>
              </a:rPr>
              <a:t>about</a:t>
            </a:r>
            <a:r>
              <a:rPr dirty="0" sz="3000" spc="-45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BFBFBF"/>
                </a:solidFill>
                <a:latin typeface="Arial MT"/>
                <a:cs typeface="Arial MT"/>
              </a:rPr>
              <a:t>Load</a:t>
            </a:r>
            <a:r>
              <a:rPr dirty="0" sz="3000" spc="-70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BFBFBF"/>
                </a:solidFill>
                <a:latin typeface="Arial MT"/>
                <a:cs typeface="Arial MT"/>
              </a:rPr>
              <a:t>instructions</a:t>
            </a:r>
            <a:endParaRPr sz="3000">
              <a:latin typeface="Arial MT"/>
              <a:cs typeface="Arial MT"/>
            </a:endParaRPr>
          </a:p>
          <a:p>
            <a:pPr marL="158750">
              <a:lnSpc>
                <a:spcPct val="100000"/>
              </a:lnSpc>
              <a:spcBef>
                <a:spcPts val="1630"/>
              </a:spcBef>
              <a:tabLst>
                <a:tab pos="1039494" algn="l"/>
                <a:tab pos="1767839" algn="l"/>
                <a:tab pos="3569335" algn="l"/>
                <a:tab pos="4450080" algn="l"/>
                <a:tab pos="5178425" algn="l"/>
              </a:tabLst>
            </a:pPr>
            <a:r>
              <a:rPr dirty="0" sz="2400" spc="-25">
                <a:solidFill>
                  <a:srgbClr val="BFBFBF"/>
                </a:solidFill>
                <a:latin typeface="Arial MT"/>
                <a:cs typeface="Arial MT"/>
              </a:rPr>
              <a:t>LW</a:t>
            </a:r>
            <a:r>
              <a:rPr dirty="0" sz="2400">
                <a:solidFill>
                  <a:srgbClr val="BFBFBF"/>
                </a:solidFill>
                <a:latin typeface="Arial MT"/>
                <a:cs typeface="Arial MT"/>
              </a:rPr>
              <a:t>	</a:t>
            </a:r>
            <a:r>
              <a:rPr dirty="0" sz="2400" spc="-25">
                <a:solidFill>
                  <a:srgbClr val="BFBFBF"/>
                </a:solidFill>
                <a:latin typeface="Arial MT"/>
                <a:cs typeface="Arial MT"/>
              </a:rPr>
              <a:t>R1,</a:t>
            </a:r>
            <a:r>
              <a:rPr dirty="0" sz="2400">
                <a:solidFill>
                  <a:srgbClr val="BFBFBF"/>
                </a:solidFill>
                <a:latin typeface="Arial MT"/>
                <a:cs typeface="Arial MT"/>
              </a:rPr>
              <a:t>	</a:t>
            </a:r>
            <a:r>
              <a:rPr dirty="0" sz="2400" spc="-10">
                <a:solidFill>
                  <a:srgbClr val="BFBFBF"/>
                </a:solidFill>
                <a:latin typeface="Arial MT"/>
                <a:cs typeface="Arial MT"/>
              </a:rPr>
              <a:t>-</a:t>
            </a:r>
            <a:r>
              <a:rPr dirty="0" sz="2400" spc="-20">
                <a:solidFill>
                  <a:srgbClr val="BFBFBF"/>
                </a:solidFill>
                <a:latin typeface="Arial MT"/>
                <a:cs typeface="Arial MT"/>
              </a:rPr>
              <a:t>8(R2)</a:t>
            </a:r>
            <a:r>
              <a:rPr dirty="0" sz="2400">
                <a:solidFill>
                  <a:srgbClr val="BFBFBF"/>
                </a:solidFill>
                <a:latin typeface="Arial MT"/>
                <a:cs typeface="Arial MT"/>
              </a:rPr>
              <a:t>	</a:t>
            </a:r>
            <a:r>
              <a:rPr dirty="0" sz="2400" spc="-25">
                <a:solidFill>
                  <a:srgbClr val="BFBFBF"/>
                </a:solidFill>
                <a:latin typeface="Arial MT"/>
                <a:cs typeface="Arial MT"/>
              </a:rPr>
              <a:t>LW</a:t>
            </a:r>
            <a:r>
              <a:rPr dirty="0" sz="2400">
                <a:solidFill>
                  <a:srgbClr val="BFBFBF"/>
                </a:solidFill>
                <a:latin typeface="Arial MT"/>
                <a:cs typeface="Arial MT"/>
              </a:rPr>
              <a:t>	</a:t>
            </a:r>
            <a:r>
              <a:rPr dirty="0" sz="2400" spc="-25">
                <a:solidFill>
                  <a:srgbClr val="BFBFBF"/>
                </a:solidFill>
                <a:latin typeface="Arial MT"/>
                <a:cs typeface="Arial MT"/>
              </a:rPr>
              <a:t>R1,</a:t>
            </a:r>
            <a:r>
              <a:rPr dirty="0" sz="2400">
                <a:solidFill>
                  <a:srgbClr val="BFBFBF"/>
                </a:solidFill>
                <a:latin typeface="Arial MT"/>
                <a:cs typeface="Arial MT"/>
              </a:rPr>
              <a:t>	</a:t>
            </a:r>
            <a:r>
              <a:rPr dirty="0" sz="2400" spc="-10">
                <a:solidFill>
                  <a:srgbClr val="BFBFBF"/>
                </a:solidFill>
                <a:latin typeface="Arial MT"/>
                <a:cs typeface="Arial MT"/>
              </a:rPr>
              <a:t>-8(R2)</a:t>
            </a:r>
            <a:endParaRPr sz="2400">
              <a:latin typeface="Arial MT"/>
              <a:cs typeface="Arial MT"/>
            </a:endParaRPr>
          </a:p>
          <a:p>
            <a:pPr marL="158750">
              <a:lnSpc>
                <a:spcPct val="100000"/>
              </a:lnSpc>
              <a:spcBef>
                <a:spcPts val="265"/>
              </a:spcBef>
              <a:tabLst>
                <a:tab pos="1057275" algn="l"/>
                <a:tab pos="3554095" algn="l"/>
              </a:tabLst>
            </a:pPr>
            <a:r>
              <a:rPr dirty="0" baseline="-2314" sz="3600" spc="-37">
                <a:solidFill>
                  <a:srgbClr val="BFBFBF"/>
                </a:solidFill>
                <a:latin typeface="Arial MT"/>
                <a:cs typeface="Arial MT"/>
              </a:rPr>
              <a:t>ADD</a:t>
            </a:r>
            <a:r>
              <a:rPr dirty="0" baseline="-2314" sz="3600">
                <a:solidFill>
                  <a:srgbClr val="BFBFBF"/>
                </a:solidFill>
                <a:latin typeface="Arial MT"/>
                <a:cs typeface="Arial MT"/>
              </a:rPr>
              <a:t>	R3,</a:t>
            </a:r>
            <a:r>
              <a:rPr dirty="0" baseline="-2314" sz="3600" spc="-44">
                <a:solidFill>
                  <a:srgbClr val="BFBFBF"/>
                </a:solidFill>
                <a:latin typeface="Arial MT"/>
                <a:cs typeface="Arial MT"/>
              </a:rPr>
              <a:t>  </a:t>
            </a:r>
            <a:r>
              <a:rPr dirty="0" baseline="-2314" sz="3600">
                <a:solidFill>
                  <a:srgbClr val="BFBFBF"/>
                </a:solidFill>
                <a:latin typeface="Arial MT"/>
                <a:cs typeface="Arial MT"/>
              </a:rPr>
              <a:t>R1,</a:t>
            </a:r>
            <a:r>
              <a:rPr dirty="0" baseline="-2314" sz="3600" spc="-44">
                <a:solidFill>
                  <a:srgbClr val="BFBFBF"/>
                </a:solidFill>
                <a:latin typeface="Arial MT"/>
                <a:cs typeface="Arial MT"/>
              </a:rPr>
              <a:t>  </a:t>
            </a:r>
            <a:r>
              <a:rPr dirty="0" baseline="-2314" sz="3600" spc="-37">
                <a:solidFill>
                  <a:srgbClr val="BFBFBF"/>
                </a:solidFill>
                <a:latin typeface="Arial MT"/>
                <a:cs typeface="Arial MT"/>
              </a:rPr>
              <a:t>R2</a:t>
            </a:r>
            <a:r>
              <a:rPr dirty="0" baseline="-2314" sz="3600">
                <a:solidFill>
                  <a:srgbClr val="BFBFBF"/>
                </a:solidFill>
                <a:latin typeface="Arial MT"/>
                <a:cs typeface="Arial MT"/>
              </a:rPr>
              <a:t>	</a:t>
            </a:r>
            <a:r>
              <a:rPr dirty="0" sz="2400">
                <a:solidFill>
                  <a:srgbClr val="BFBFBF"/>
                </a:solidFill>
                <a:latin typeface="Arial MT"/>
                <a:cs typeface="Arial MT"/>
              </a:rPr>
              <a:t>An</a:t>
            </a:r>
            <a:r>
              <a:rPr dirty="0" sz="2400" spc="-45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BFBFBF"/>
                </a:solidFill>
                <a:latin typeface="Arial MT"/>
                <a:cs typeface="Arial MT"/>
              </a:rPr>
              <a:t>instruction</a:t>
            </a:r>
            <a:r>
              <a:rPr dirty="0" sz="2400" spc="-65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BFBFBF"/>
                </a:solidFill>
                <a:latin typeface="Arial MT"/>
                <a:cs typeface="Arial MT"/>
              </a:rPr>
              <a:t>that</a:t>
            </a:r>
            <a:r>
              <a:rPr dirty="0" sz="2400" spc="-60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BFBFBF"/>
                </a:solidFill>
                <a:latin typeface="Arial MT"/>
                <a:cs typeface="Arial MT"/>
              </a:rPr>
              <a:t>does</a:t>
            </a:r>
            <a:r>
              <a:rPr dirty="0" sz="2400" spc="-50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BFBFBF"/>
                </a:solidFill>
                <a:latin typeface="Arial MT"/>
                <a:cs typeface="Arial MT"/>
              </a:rPr>
              <a:t>not</a:t>
            </a:r>
            <a:r>
              <a:rPr dirty="0" sz="2400" spc="-60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BFBFBF"/>
                </a:solidFill>
                <a:latin typeface="Arial MT"/>
                <a:cs typeface="Arial MT"/>
              </a:rPr>
              <a:t>use</a:t>
            </a:r>
            <a:r>
              <a:rPr dirty="0" sz="2400" spc="-60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BFBFBF"/>
                </a:solidFill>
                <a:latin typeface="Arial MT"/>
                <a:cs typeface="Arial MT"/>
              </a:rPr>
              <a:t>R1</a:t>
            </a:r>
            <a:endParaRPr sz="2400">
              <a:latin typeface="Arial MT"/>
              <a:cs typeface="Arial MT"/>
            </a:endParaRPr>
          </a:p>
          <a:p>
            <a:pPr marL="3569335">
              <a:lnSpc>
                <a:spcPct val="100000"/>
              </a:lnSpc>
              <a:spcBef>
                <a:spcPts val="290"/>
              </a:spcBef>
              <a:tabLst>
                <a:tab pos="4467860" algn="l"/>
              </a:tabLst>
            </a:pPr>
            <a:r>
              <a:rPr dirty="0" sz="2400" spc="-25">
                <a:solidFill>
                  <a:srgbClr val="BFBFBF"/>
                </a:solidFill>
                <a:latin typeface="Arial MT"/>
                <a:cs typeface="Arial MT"/>
              </a:rPr>
              <a:t>ADD</a:t>
            </a:r>
            <a:r>
              <a:rPr dirty="0" sz="2400">
                <a:solidFill>
                  <a:srgbClr val="BFBFBF"/>
                </a:solidFill>
                <a:latin typeface="Arial MT"/>
                <a:cs typeface="Arial MT"/>
              </a:rPr>
              <a:t>	R3,</a:t>
            </a:r>
            <a:r>
              <a:rPr dirty="0" sz="2400" spc="-30">
                <a:solidFill>
                  <a:srgbClr val="BFBFBF"/>
                </a:solidFill>
                <a:latin typeface="Arial MT"/>
                <a:cs typeface="Arial MT"/>
              </a:rPr>
              <a:t>  </a:t>
            </a:r>
            <a:r>
              <a:rPr dirty="0" sz="2400">
                <a:solidFill>
                  <a:srgbClr val="BFBFBF"/>
                </a:solidFill>
                <a:latin typeface="Arial MT"/>
                <a:cs typeface="Arial MT"/>
              </a:rPr>
              <a:t>R1,</a:t>
            </a:r>
            <a:r>
              <a:rPr dirty="0" sz="2400" spc="-30">
                <a:solidFill>
                  <a:srgbClr val="BFBFBF"/>
                </a:solidFill>
                <a:latin typeface="Arial MT"/>
                <a:cs typeface="Arial MT"/>
              </a:rPr>
              <a:t>  </a:t>
            </a:r>
            <a:r>
              <a:rPr dirty="0" sz="2400" spc="-25">
                <a:solidFill>
                  <a:srgbClr val="BFBFBF"/>
                </a:solidFill>
                <a:latin typeface="Arial MT"/>
                <a:cs typeface="Arial MT"/>
              </a:rPr>
              <a:t>R2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4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5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z="3000">
                <a:latin typeface="Arial MT"/>
                <a:cs typeface="Arial MT"/>
              </a:rPr>
              <a:t>Warning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about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Control</a:t>
            </a:r>
            <a:r>
              <a:rPr dirty="0" sz="3000" spc="-6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Transfer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Instructions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1532" y="4074667"/>
            <a:ext cx="3729354" cy="112268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400">
                <a:latin typeface="Arial MT"/>
                <a:cs typeface="Arial MT"/>
              </a:rPr>
              <a:t>head:</a:t>
            </a:r>
            <a:r>
              <a:rPr dirty="0" sz="2400" spc="-35">
                <a:latin typeface="Arial MT"/>
                <a:cs typeface="Arial MT"/>
              </a:rPr>
              <a:t>  </a:t>
            </a:r>
            <a:r>
              <a:rPr dirty="0" sz="2400" spc="-10">
                <a:latin typeface="Arial MT"/>
                <a:cs typeface="Arial MT"/>
              </a:rPr>
              <a:t>loopbody</a:t>
            </a:r>
            <a:endParaRPr sz="2400">
              <a:latin typeface="Arial MT"/>
              <a:cs typeface="Arial MT"/>
            </a:endParaRPr>
          </a:p>
          <a:p>
            <a:pPr marL="939165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Arial MT"/>
                <a:cs typeface="Arial MT"/>
              </a:rPr>
              <a:t>BEQ</a:t>
            </a:r>
            <a:r>
              <a:rPr dirty="0" sz="2400" spc="-30"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R1,</a:t>
            </a:r>
            <a:r>
              <a:rPr dirty="0" sz="2400" spc="-25"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R0,</a:t>
            </a:r>
            <a:r>
              <a:rPr dirty="0" sz="2400" spc="-25">
                <a:latin typeface="Arial MT"/>
                <a:cs typeface="Arial MT"/>
              </a:rPr>
              <a:t>  </a:t>
            </a:r>
            <a:r>
              <a:rPr dirty="0" sz="2400" spc="-20">
                <a:latin typeface="Arial MT"/>
                <a:cs typeface="Arial MT"/>
              </a:rPr>
              <a:t>head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80508" y="4074667"/>
            <a:ext cx="3729354" cy="167132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400">
                <a:latin typeface="Arial MT"/>
                <a:cs typeface="Arial MT"/>
              </a:rPr>
              <a:t>head:</a:t>
            </a:r>
            <a:r>
              <a:rPr dirty="0" sz="2400" spc="-35">
                <a:latin typeface="Arial MT"/>
                <a:cs typeface="Arial MT"/>
              </a:rPr>
              <a:t>  </a:t>
            </a:r>
            <a:r>
              <a:rPr dirty="0" sz="2400" spc="-10">
                <a:latin typeface="Arial MT"/>
                <a:cs typeface="Arial MT"/>
              </a:rPr>
              <a:t>loopbody</a:t>
            </a:r>
            <a:endParaRPr sz="2400">
              <a:latin typeface="Arial MT"/>
              <a:cs typeface="Arial MT"/>
            </a:endParaRPr>
          </a:p>
          <a:p>
            <a:pPr marL="939165" marR="5080">
              <a:lnSpc>
                <a:spcPct val="150000"/>
              </a:lnSpc>
            </a:pPr>
            <a:r>
              <a:rPr dirty="0" sz="2400">
                <a:latin typeface="Arial MT"/>
                <a:cs typeface="Arial MT"/>
              </a:rPr>
              <a:t>BEQ</a:t>
            </a:r>
            <a:r>
              <a:rPr dirty="0" sz="2400" spc="-30"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R1,</a:t>
            </a:r>
            <a:r>
              <a:rPr dirty="0" sz="2400" spc="-25"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R0,</a:t>
            </a:r>
            <a:r>
              <a:rPr dirty="0" sz="2400" spc="-25">
                <a:latin typeface="Arial MT"/>
                <a:cs typeface="Arial MT"/>
              </a:rPr>
              <a:t>  </a:t>
            </a:r>
            <a:r>
              <a:rPr dirty="0" sz="2400" spc="-20">
                <a:latin typeface="Arial MT"/>
                <a:cs typeface="Arial MT"/>
              </a:rPr>
              <a:t>head next-</a:t>
            </a:r>
            <a:r>
              <a:rPr dirty="0" sz="2400" spc="-10">
                <a:latin typeface="Arial MT"/>
                <a:cs typeface="Arial MT"/>
              </a:rPr>
              <a:t>instruction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724915"/>
            <a:ext cx="617601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45"/>
              <a:t>MIPS</a:t>
            </a:r>
            <a:r>
              <a:rPr dirty="0" spc="-105"/>
              <a:t> </a:t>
            </a:r>
            <a:r>
              <a:rPr dirty="0" spc="-375"/>
              <a:t>1</a:t>
            </a:r>
            <a:r>
              <a:rPr dirty="0" spc="-105"/>
              <a:t> </a:t>
            </a:r>
            <a:r>
              <a:rPr dirty="0" spc="-130"/>
              <a:t>Instruction</a:t>
            </a:r>
            <a:r>
              <a:rPr dirty="0" spc="-110"/>
              <a:t> </a:t>
            </a:r>
            <a:r>
              <a:rPr dirty="0" spc="-185"/>
              <a:t>Encoding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339" y="3910076"/>
            <a:ext cx="1276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Times New Roman"/>
                <a:cs typeface="Times New Roman"/>
              </a:rPr>
              <a:t>Example: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29400" y="3910076"/>
            <a:ext cx="24022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add</a:t>
            </a:r>
            <a:r>
              <a:rPr dirty="0" sz="2400" spc="5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1,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2,</a:t>
            </a:r>
            <a:r>
              <a:rPr dirty="0" sz="2400" spc="5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50" b="1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90800" y="3026664"/>
            <a:ext cx="5257800" cy="1321435"/>
            <a:chOff x="2590800" y="3026664"/>
            <a:chExt cx="5257800" cy="1321435"/>
          </a:xfrm>
        </p:grpSpPr>
        <p:sp>
          <p:nvSpPr>
            <p:cNvPr id="6" name="object 6"/>
            <p:cNvSpPr/>
            <p:nvPr/>
          </p:nvSpPr>
          <p:spPr>
            <a:xfrm>
              <a:off x="3810000" y="3886200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112775" y="0"/>
                  </a:moveTo>
                  <a:lnTo>
                    <a:pt x="56444" y="31495"/>
                  </a:lnTo>
                  <a:lnTo>
                    <a:pt x="33527" y="67436"/>
                  </a:lnTo>
                  <a:lnTo>
                    <a:pt x="15691" y="113791"/>
                  </a:lnTo>
                  <a:lnTo>
                    <a:pt x="4120" y="168274"/>
                  </a:lnTo>
                  <a:lnTo>
                    <a:pt x="0" y="228600"/>
                  </a:lnTo>
                  <a:lnTo>
                    <a:pt x="4120" y="288925"/>
                  </a:lnTo>
                  <a:lnTo>
                    <a:pt x="15691" y="343408"/>
                  </a:lnTo>
                  <a:lnTo>
                    <a:pt x="33527" y="389763"/>
                  </a:lnTo>
                  <a:lnTo>
                    <a:pt x="56444" y="425703"/>
                  </a:lnTo>
                  <a:lnTo>
                    <a:pt x="112775" y="457200"/>
                  </a:lnTo>
                  <a:lnTo>
                    <a:pt x="143580" y="448945"/>
                  </a:lnTo>
                  <a:lnTo>
                    <a:pt x="194690" y="389763"/>
                  </a:lnTo>
                  <a:lnTo>
                    <a:pt x="212795" y="343408"/>
                  </a:lnTo>
                  <a:lnTo>
                    <a:pt x="224465" y="288925"/>
                  </a:lnTo>
                  <a:lnTo>
                    <a:pt x="228600" y="228600"/>
                  </a:lnTo>
                  <a:lnTo>
                    <a:pt x="224465" y="168275"/>
                  </a:lnTo>
                  <a:lnTo>
                    <a:pt x="212795" y="113791"/>
                  </a:lnTo>
                  <a:lnTo>
                    <a:pt x="194690" y="67437"/>
                  </a:lnTo>
                  <a:lnTo>
                    <a:pt x="171252" y="31496"/>
                  </a:lnTo>
                  <a:lnTo>
                    <a:pt x="112775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959352" y="3044952"/>
              <a:ext cx="1831975" cy="850900"/>
            </a:xfrm>
            <a:custGeom>
              <a:avLst/>
              <a:gdLst/>
              <a:ahLst/>
              <a:cxnLst/>
              <a:rect l="l" t="t" r="r" b="b"/>
              <a:pathLst>
                <a:path w="1831975" h="850900">
                  <a:moveTo>
                    <a:pt x="1758288" y="27104"/>
                  </a:moveTo>
                  <a:lnTo>
                    <a:pt x="0" y="832103"/>
                  </a:lnTo>
                  <a:lnTo>
                    <a:pt x="6096" y="850392"/>
                  </a:lnTo>
                  <a:lnTo>
                    <a:pt x="1764834" y="42159"/>
                  </a:lnTo>
                  <a:lnTo>
                    <a:pt x="1758288" y="27104"/>
                  </a:lnTo>
                  <a:close/>
                </a:path>
                <a:path w="1831975" h="850900">
                  <a:moveTo>
                    <a:pt x="1816885" y="21336"/>
                  </a:moveTo>
                  <a:lnTo>
                    <a:pt x="1770888" y="21336"/>
                  </a:lnTo>
                  <a:lnTo>
                    <a:pt x="1776984" y="36575"/>
                  </a:lnTo>
                  <a:lnTo>
                    <a:pt x="1764834" y="42159"/>
                  </a:lnTo>
                  <a:lnTo>
                    <a:pt x="1776984" y="70103"/>
                  </a:lnTo>
                  <a:lnTo>
                    <a:pt x="1816885" y="21336"/>
                  </a:lnTo>
                  <a:close/>
                </a:path>
                <a:path w="1831975" h="850900">
                  <a:moveTo>
                    <a:pt x="1770888" y="21336"/>
                  </a:moveTo>
                  <a:lnTo>
                    <a:pt x="1758288" y="27104"/>
                  </a:lnTo>
                  <a:lnTo>
                    <a:pt x="1764834" y="42159"/>
                  </a:lnTo>
                  <a:lnTo>
                    <a:pt x="1776984" y="36575"/>
                  </a:lnTo>
                  <a:lnTo>
                    <a:pt x="1770888" y="21336"/>
                  </a:lnTo>
                  <a:close/>
                </a:path>
                <a:path w="1831975" h="850900">
                  <a:moveTo>
                    <a:pt x="1746503" y="0"/>
                  </a:moveTo>
                  <a:lnTo>
                    <a:pt x="1758288" y="27104"/>
                  </a:lnTo>
                  <a:lnTo>
                    <a:pt x="1770888" y="21336"/>
                  </a:lnTo>
                  <a:lnTo>
                    <a:pt x="1816885" y="21336"/>
                  </a:lnTo>
                  <a:lnTo>
                    <a:pt x="1831848" y="3048"/>
                  </a:lnTo>
                  <a:lnTo>
                    <a:pt x="1746503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419600" y="3886200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112775" y="0"/>
                  </a:moveTo>
                  <a:lnTo>
                    <a:pt x="56444" y="31495"/>
                  </a:lnTo>
                  <a:lnTo>
                    <a:pt x="33527" y="67436"/>
                  </a:lnTo>
                  <a:lnTo>
                    <a:pt x="15691" y="113791"/>
                  </a:lnTo>
                  <a:lnTo>
                    <a:pt x="4120" y="168274"/>
                  </a:lnTo>
                  <a:lnTo>
                    <a:pt x="0" y="228600"/>
                  </a:lnTo>
                  <a:lnTo>
                    <a:pt x="4120" y="288925"/>
                  </a:lnTo>
                  <a:lnTo>
                    <a:pt x="15691" y="343408"/>
                  </a:lnTo>
                  <a:lnTo>
                    <a:pt x="33527" y="389763"/>
                  </a:lnTo>
                  <a:lnTo>
                    <a:pt x="56444" y="425703"/>
                  </a:lnTo>
                  <a:lnTo>
                    <a:pt x="112775" y="457200"/>
                  </a:lnTo>
                  <a:lnTo>
                    <a:pt x="143580" y="448945"/>
                  </a:lnTo>
                  <a:lnTo>
                    <a:pt x="194690" y="389763"/>
                  </a:lnTo>
                  <a:lnTo>
                    <a:pt x="212795" y="343408"/>
                  </a:lnTo>
                  <a:lnTo>
                    <a:pt x="224465" y="288925"/>
                  </a:lnTo>
                  <a:lnTo>
                    <a:pt x="228600" y="228600"/>
                  </a:lnTo>
                  <a:lnTo>
                    <a:pt x="224465" y="168275"/>
                  </a:lnTo>
                  <a:lnTo>
                    <a:pt x="212795" y="113791"/>
                  </a:lnTo>
                  <a:lnTo>
                    <a:pt x="194690" y="67437"/>
                  </a:lnTo>
                  <a:lnTo>
                    <a:pt x="171252" y="31496"/>
                  </a:lnTo>
                  <a:lnTo>
                    <a:pt x="112775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038600" y="3048000"/>
              <a:ext cx="466725" cy="841375"/>
            </a:xfrm>
            <a:custGeom>
              <a:avLst/>
              <a:gdLst/>
              <a:ahLst/>
              <a:cxnLst/>
              <a:rect l="l" t="t" r="r" b="b"/>
              <a:pathLst>
                <a:path w="466725" h="841375">
                  <a:moveTo>
                    <a:pt x="45343" y="62273"/>
                  </a:moveTo>
                  <a:lnTo>
                    <a:pt x="27405" y="72058"/>
                  </a:lnTo>
                  <a:lnTo>
                    <a:pt x="448055" y="841248"/>
                  </a:lnTo>
                  <a:lnTo>
                    <a:pt x="466344" y="832103"/>
                  </a:lnTo>
                  <a:lnTo>
                    <a:pt x="45343" y="62273"/>
                  </a:lnTo>
                  <a:close/>
                </a:path>
                <a:path w="466725" h="841375">
                  <a:moveTo>
                    <a:pt x="0" y="0"/>
                  </a:moveTo>
                  <a:lnTo>
                    <a:pt x="3048" y="85344"/>
                  </a:lnTo>
                  <a:lnTo>
                    <a:pt x="27405" y="72058"/>
                  </a:lnTo>
                  <a:lnTo>
                    <a:pt x="21336" y="60960"/>
                  </a:lnTo>
                  <a:lnTo>
                    <a:pt x="39624" y="51815"/>
                  </a:lnTo>
                  <a:lnTo>
                    <a:pt x="64515" y="51815"/>
                  </a:lnTo>
                  <a:lnTo>
                    <a:pt x="70103" y="48767"/>
                  </a:lnTo>
                  <a:lnTo>
                    <a:pt x="0" y="0"/>
                  </a:lnTo>
                  <a:close/>
                </a:path>
                <a:path w="466725" h="841375">
                  <a:moveTo>
                    <a:pt x="39624" y="51815"/>
                  </a:moveTo>
                  <a:lnTo>
                    <a:pt x="21336" y="60960"/>
                  </a:lnTo>
                  <a:lnTo>
                    <a:pt x="27405" y="72058"/>
                  </a:lnTo>
                  <a:lnTo>
                    <a:pt x="45343" y="62273"/>
                  </a:lnTo>
                  <a:lnTo>
                    <a:pt x="39624" y="51815"/>
                  </a:lnTo>
                  <a:close/>
                </a:path>
                <a:path w="466725" h="841375">
                  <a:moveTo>
                    <a:pt x="64515" y="51815"/>
                  </a:moveTo>
                  <a:lnTo>
                    <a:pt x="39624" y="51815"/>
                  </a:lnTo>
                  <a:lnTo>
                    <a:pt x="45343" y="62273"/>
                  </a:lnTo>
                  <a:lnTo>
                    <a:pt x="64515" y="51815"/>
                  </a:lnTo>
                  <a:close/>
                </a:path>
              </a:pathLst>
            </a:custGeom>
            <a:solidFill>
              <a:srgbClr val="CC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105400" y="3886200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112775" y="0"/>
                  </a:moveTo>
                  <a:lnTo>
                    <a:pt x="56444" y="31495"/>
                  </a:lnTo>
                  <a:lnTo>
                    <a:pt x="33527" y="67436"/>
                  </a:lnTo>
                  <a:lnTo>
                    <a:pt x="15691" y="113791"/>
                  </a:lnTo>
                  <a:lnTo>
                    <a:pt x="4120" y="168274"/>
                  </a:lnTo>
                  <a:lnTo>
                    <a:pt x="0" y="228600"/>
                  </a:lnTo>
                  <a:lnTo>
                    <a:pt x="4120" y="288925"/>
                  </a:lnTo>
                  <a:lnTo>
                    <a:pt x="15691" y="343408"/>
                  </a:lnTo>
                  <a:lnTo>
                    <a:pt x="33527" y="389763"/>
                  </a:lnTo>
                  <a:lnTo>
                    <a:pt x="56444" y="425703"/>
                  </a:lnTo>
                  <a:lnTo>
                    <a:pt x="112775" y="457200"/>
                  </a:lnTo>
                  <a:lnTo>
                    <a:pt x="143580" y="448945"/>
                  </a:lnTo>
                  <a:lnTo>
                    <a:pt x="194690" y="389763"/>
                  </a:lnTo>
                  <a:lnTo>
                    <a:pt x="212795" y="343408"/>
                  </a:lnTo>
                  <a:lnTo>
                    <a:pt x="224465" y="288925"/>
                  </a:lnTo>
                  <a:lnTo>
                    <a:pt x="228600" y="228600"/>
                  </a:lnTo>
                  <a:lnTo>
                    <a:pt x="224465" y="168275"/>
                  </a:lnTo>
                  <a:lnTo>
                    <a:pt x="212795" y="113791"/>
                  </a:lnTo>
                  <a:lnTo>
                    <a:pt x="194690" y="67437"/>
                  </a:lnTo>
                  <a:lnTo>
                    <a:pt x="171252" y="31496"/>
                  </a:lnTo>
                  <a:lnTo>
                    <a:pt x="112775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800600" y="3048000"/>
              <a:ext cx="466725" cy="841375"/>
            </a:xfrm>
            <a:custGeom>
              <a:avLst/>
              <a:gdLst/>
              <a:ahLst/>
              <a:cxnLst/>
              <a:rect l="l" t="t" r="r" b="b"/>
              <a:pathLst>
                <a:path w="466725" h="841375">
                  <a:moveTo>
                    <a:pt x="45343" y="62273"/>
                  </a:moveTo>
                  <a:lnTo>
                    <a:pt x="27405" y="72058"/>
                  </a:lnTo>
                  <a:lnTo>
                    <a:pt x="448055" y="841248"/>
                  </a:lnTo>
                  <a:lnTo>
                    <a:pt x="466344" y="832103"/>
                  </a:lnTo>
                  <a:lnTo>
                    <a:pt x="45343" y="62273"/>
                  </a:lnTo>
                  <a:close/>
                </a:path>
                <a:path w="466725" h="841375">
                  <a:moveTo>
                    <a:pt x="0" y="0"/>
                  </a:moveTo>
                  <a:lnTo>
                    <a:pt x="3048" y="85344"/>
                  </a:lnTo>
                  <a:lnTo>
                    <a:pt x="27405" y="72058"/>
                  </a:lnTo>
                  <a:lnTo>
                    <a:pt x="21336" y="60960"/>
                  </a:lnTo>
                  <a:lnTo>
                    <a:pt x="39624" y="51815"/>
                  </a:lnTo>
                  <a:lnTo>
                    <a:pt x="64515" y="51815"/>
                  </a:lnTo>
                  <a:lnTo>
                    <a:pt x="70103" y="48767"/>
                  </a:lnTo>
                  <a:lnTo>
                    <a:pt x="0" y="0"/>
                  </a:lnTo>
                  <a:close/>
                </a:path>
                <a:path w="466725" h="841375">
                  <a:moveTo>
                    <a:pt x="39624" y="51815"/>
                  </a:moveTo>
                  <a:lnTo>
                    <a:pt x="21336" y="60960"/>
                  </a:lnTo>
                  <a:lnTo>
                    <a:pt x="27405" y="72058"/>
                  </a:lnTo>
                  <a:lnTo>
                    <a:pt x="45343" y="62273"/>
                  </a:lnTo>
                  <a:lnTo>
                    <a:pt x="39624" y="51815"/>
                  </a:lnTo>
                  <a:close/>
                </a:path>
                <a:path w="466725" h="841375">
                  <a:moveTo>
                    <a:pt x="64515" y="51815"/>
                  </a:moveTo>
                  <a:lnTo>
                    <a:pt x="39624" y="51815"/>
                  </a:lnTo>
                  <a:lnTo>
                    <a:pt x="45343" y="62273"/>
                  </a:lnTo>
                  <a:lnTo>
                    <a:pt x="64515" y="51815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819400" y="3962400"/>
              <a:ext cx="685800" cy="381000"/>
            </a:xfrm>
            <a:custGeom>
              <a:avLst/>
              <a:gdLst/>
              <a:ahLst/>
              <a:cxnLst/>
              <a:rect l="l" t="t" r="r" b="b"/>
              <a:pathLst>
                <a:path w="685800" h="381000">
                  <a:moveTo>
                    <a:pt x="341375" y="0"/>
                  </a:moveTo>
                  <a:lnTo>
                    <a:pt x="279897" y="3068"/>
                  </a:lnTo>
                  <a:lnTo>
                    <a:pt x="222081" y="11907"/>
                  </a:lnTo>
                  <a:lnTo>
                    <a:pt x="168881" y="25964"/>
                  </a:lnTo>
                  <a:lnTo>
                    <a:pt x="121251" y="44687"/>
                  </a:lnTo>
                  <a:lnTo>
                    <a:pt x="80142" y="67524"/>
                  </a:lnTo>
                  <a:lnTo>
                    <a:pt x="46510" y="93923"/>
                  </a:lnTo>
                  <a:lnTo>
                    <a:pt x="21306" y="123333"/>
                  </a:lnTo>
                  <a:lnTo>
                    <a:pt x="0" y="188975"/>
                  </a:lnTo>
                  <a:lnTo>
                    <a:pt x="5485" y="223657"/>
                  </a:lnTo>
                  <a:lnTo>
                    <a:pt x="46510" y="286173"/>
                  </a:lnTo>
                  <a:lnTo>
                    <a:pt x="80142" y="312953"/>
                  </a:lnTo>
                  <a:lnTo>
                    <a:pt x="121251" y="336045"/>
                  </a:lnTo>
                  <a:lnTo>
                    <a:pt x="168881" y="354922"/>
                  </a:lnTo>
                  <a:lnTo>
                    <a:pt x="222081" y="369058"/>
                  </a:lnTo>
                  <a:lnTo>
                    <a:pt x="279897" y="377926"/>
                  </a:lnTo>
                  <a:lnTo>
                    <a:pt x="341375" y="381000"/>
                  </a:lnTo>
                  <a:lnTo>
                    <a:pt x="403761" y="377926"/>
                  </a:lnTo>
                  <a:lnTo>
                    <a:pt x="462284" y="369058"/>
                  </a:lnTo>
                  <a:lnTo>
                    <a:pt x="516015" y="354922"/>
                  </a:lnTo>
                  <a:lnTo>
                    <a:pt x="564026" y="336045"/>
                  </a:lnTo>
                  <a:lnTo>
                    <a:pt x="605389" y="312953"/>
                  </a:lnTo>
                  <a:lnTo>
                    <a:pt x="639176" y="286173"/>
                  </a:lnTo>
                  <a:lnTo>
                    <a:pt x="664459" y="256232"/>
                  </a:lnTo>
                  <a:lnTo>
                    <a:pt x="685800" y="188975"/>
                  </a:lnTo>
                  <a:lnTo>
                    <a:pt x="680310" y="155201"/>
                  </a:lnTo>
                  <a:lnTo>
                    <a:pt x="639176" y="93923"/>
                  </a:lnTo>
                  <a:lnTo>
                    <a:pt x="605389" y="67524"/>
                  </a:lnTo>
                  <a:lnTo>
                    <a:pt x="564026" y="44687"/>
                  </a:lnTo>
                  <a:lnTo>
                    <a:pt x="516015" y="25964"/>
                  </a:lnTo>
                  <a:lnTo>
                    <a:pt x="462284" y="11907"/>
                  </a:lnTo>
                  <a:lnTo>
                    <a:pt x="403761" y="3068"/>
                  </a:lnTo>
                  <a:lnTo>
                    <a:pt x="341375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590800" y="3026663"/>
              <a:ext cx="5257800" cy="939165"/>
            </a:xfrm>
            <a:custGeom>
              <a:avLst/>
              <a:gdLst/>
              <a:ahLst/>
              <a:cxnLst/>
              <a:rect l="l" t="t" r="r" b="b"/>
              <a:pathLst>
                <a:path w="5257800" h="939164">
                  <a:moveTo>
                    <a:pt x="466344" y="932688"/>
                  </a:moveTo>
                  <a:lnTo>
                    <a:pt x="42672" y="85344"/>
                  </a:lnTo>
                  <a:lnTo>
                    <a:pt x="67056" y="73152"/>
                  </a:lnTo>
                  <a:lnTo>
                    <a:pt x="0" y="21336"/>
                  </a:lnTo>
                  <a:lnTo>
                    <a:pt x="0" y="106680"/>
                  </a:lnTo>
                  <a:lnTo>
                    <a:pt x="24396" y="94488"/>
                  </a:lnTo>
                  <a:lnTo>
                    <a:pt x="448056" y="938784"/>
                  </a:lnTo>
                  <a:lnTo>
                    <a:pt x="466344" y="932688"/>
                  </a:lnTo>
                  <a:close/>
                </a:path>
                <a:path w="5257800" h="939164">
                  <a:moveTo>
                    <a:pt x="5257800" y="21336"/>
                  </a:moveTo>
                  <a:lnTo>
                    <a:pt x="5175504" y="0"/>
                  </a:lnTo>
                  <a:lnTo>
                    <a:pt x="5181536" y="30213"/>
                  </a:lnTo>
                  <a:lnTo>
                    <a:pt x="3578352" y="393192"/>
                  </a:lnTo>
                  <a:lnTo>
                    <a:pt x="3584448" y="411480"/>
                  </a:lnTo>
                  <a:lnTo>
                    <a:pt x="5185168" y="48374"/>
                  </a:lnTo>
                  <a:lnTo>
                    <a:pt x="5190744" y="76200"/>
                  </a:lnTo>
                  <a:lnTo>
                    <a:pt x="5250345" y="27432"/>
                  </a:lnTo>
                  <a:lnTo>
                    <a:pt x="5257800" y="21336"/>
                  </a:lnTo>
                  <a:close/>
                </a:path>
              </a:pathLst>
            </a:custGeom>
            <a:solidFill>
              <a:srgbClr val="3A80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200400" y="3429000"/>
              <a:ext cx="2971800" cy="533400"/>
            </a:xfrm>
            <a:custGeom>
              <a:avLst/>
              <a:gdLst/>
              <a:ahLst/>
              <a:cxnLst/>
              <a:rect l="l" t="t" r="r" b="b"/>
              <a:pathLst>
                <a:path w="2971800" h="533400">
                  <a:moveTo>
                    <a:pt x="2971800" y="0"/>
                  </a:moveTo>
                  <a:lnTo>
                    <a:pt x="533400" y="0"/>
                  </a:lnTo>
                </a:path>
                <a:path w="2971800" h="533400">
                  <a:moveTo>
                    <a:pt x="0" y="533400"/>
                  </a:moveTo>
                  <a:lnTo>
                    <a:pt x="533400" y="0"/>
                  </a:lnTo>
                </a:path>
              </a:pathLst>
            </a:custGeom>
            <a:ln w="18286">
              <a:solidFill>
                <a:srgbClr val="3A802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205228" y="2357628"/>
          <a:ext cx="6791325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1066800"/>
                <a:gridCol w="1066800"/>
                <a:gridCol w="1066800"/>
                <a:gridCol w="1066800"/>
                <a:gridCol w="1219200"/>
              </a:tblGrid>
              <a:tr h="685800">
                <a:tc>
                  <a:txBody>
                    <a:bodyPr/>
                    <a:lstStyle/>
                    <a:p>
                      <a:pPr marL="316865" marR="184150" indent="-1219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Opcode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bits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0665" marR="231775" indent="457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Src1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bits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0665" marR="231775" indent="457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Src2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bits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0665" marR="231775" indent="5143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Dest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bits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0665" marR="45085" indent="-1892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shift</a:t>
                      </a:r>
                      <a:r>
                        <a:rPr dirty="0" sz="2000" spc="-25" b="1">
                          <a:latin typeface="Times New Roman"/>
                          <a:cs typeface="Times New Roman"/>
                        </a:rPr>
                        <a:t> amt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bits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290" marR="116205" indent="-400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Function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dirty="0" sz="20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5" b="1">
                          <a:latin typeface="Times New Roman"/>
                          <a:cs typeface="Times New Roman"/>
                        </a:rPr>
                        <a:t>6b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6" name="object 16"/>
          <p:cNvSpPr txBox="1"/>
          <p:nvPr/>
        </p:nvSpPr>
        <p:spPr>
          <a:xfrm>
            <a:off x="1005332" y="1660652"/>
            <a:ext cx="13011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R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Format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205228" y="2357628"/>
          <a:ext cx="6791325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1066800"/>
                <a:gridCol w="1066800"/>
                <a:gridCol w="3352800"/>
              </a:tblGrid>
              <a:tr h="685800">
                <a:tc>
                  <a:txBody>
                    <a:bodyPr/>
                    <a:lstStyle/>
                    <a:p>
                      <a:pPr marL="316865" marR="184150" indent="-1219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Opcode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bits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0665" marR="231775" indent="457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Src1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bits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0665" marR="231775" indent="5143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Dest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bits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182370" marR="11753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Constant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16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bits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133347" y="1648459"/>
            <a:ext cx="12007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I</a:t>
            </a:r>
            <a:r>
              <a:rPr dirty="0" sz="2400" spc="-10" b="1">
                <a:latin typeface="Times New Roman"/>
                <a:cs typeface="Times New Roman"/>
              </a:rPr>
              <a:t> Format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90800" y="3044951"/>
            <a:ext cx="4392295" cy="1303655"/>
            <a:chOff x="2590800" y="3044951"/>
            <a:chExt cx="4392295" cy="1303655"/>
          </a:xfrm>
        </p:grpSpPr>
        <p:sp>
          <p:nvSpPr>
            <p:cNvPr id="5" name="object 5"/>
            <p:cNvSpPr/>
            <p:nvPr/>
          </p:nvSpPr>
          <p:spPr>
            <a:xfrm>
              <a:off x="3810000" y="3886199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112775" y="0"/>
                  </a:moveTo>
                  <a:lnTo>
                    <a:pt x="56444" y="31495"/>
                  </a:lnTo>
                  <a:lnTo>
                    <a:pt x="33527" y="67436"/>
                  </a:lnTo>
                  <a:lnTo>
                    <a:pt x="15691" y="113791"/>
                  </a:lnTo>
                  <a:lnTo>
                    <a:pt x="4120" y="168274"/>
                  </a:lnTo>
                  <a:lnTo>
                    <a:pt x="0" y="228600"/>
                  </a:lnTo>
                  <a:lnTo>
                    <a:pt x="4120" y="288925"/>
                  </a:lnTo>
                  <a:lnTo>
                    <a:pt x="15691" y="343408"/>
                  </a:lnTo>
                  <a:lnTo>
                    <a:pt x="33527" y="389763"/>
                  </a:lnTo>
                  <a:lnTo>
                    <a:pt x="56444" y="425703"/>
                  </a:lnTo>
                  <a:lnTo>
                    <a:pt x="112775" y="457200"/>
                  </a:lnTo>
                  <a:lnTo>
                    <a:pt x="143580" y="448945"/>
                  </a:lnTo>
                  <a:lnTo>
                    <a:pt x="194690" y="389763"/>
                  </a:lnTo>
                  <a:lnTo>
                    <a:pt x="212795" y="343408"/>
                  </a:lnTo>
                  <a:lnTo>
                    <a:pt x="224465" y="288925"/>
                  </a:lnTo>
                  <a:lnTo>
                    <a:pt x="228600" y="228600"/>
                  </a:lnTo>
                  <a:lnTo>
                    <a:pt x="224465" y="168275"/>
                  </a:lnTo>
                  <a:lnTo>
                    <a:pt x="212795" y="113791"/>
                  </a:lnTo>
                  <a:lnTo>
                    <a:pt x="194690" y="67437"/>
                  </a:lnTo>
                  <a:lnTo>
                    <a:pt x="171252" y="31496"/>
                  </a:lnTo>
                  <a:lnTo>
                    <a:pt x="112775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956303" y="3047999"/>
              <a:ext cx="1073150" cy="844550"/>
            </a:xfrm>
            <a:custGeom>
              <a:avLst/>
              <a:gdLst/>
              <a:ahLst/>
              <a:cxnLst/>
              <a:rect l="l" t="t" r="r" b="b"/>
              <a:pathLst>
                <a:path w="1073150" h="844550">
                  <a:moveTo>
                    <a:pt x="1007051" y="39126"/>
                  </a:moveTo>
                  <a:lnTo>
                    <a:pt x="0" y="832103"/>
                  </a:lnTo>
                  <a:lnTo>
                    <a:pt x="12192" y="844296"/>
                  </a:lnTo>
                  <a:lnTo>
                    <a:pt x="1019128" y="54423"/>
                  </a:lnTo>
                  <a:lnTo>
                    <a:pt x="1007051" y="39126"/>
                  </a:lnTo>
                  <a:close/>
                </a:path>
                <a:path w="1073150" h="844550">
                  <a:moveTo>
                    <a:pt x="1058265" y="30479"/>
                  </a:moveTo>
                  <a:lnTo>
                    <a:pt x="1018032" y="30479"/>
                  </a:lnTo>
                  <a:lnTo>
                    <a:pt x="1030224" y="45720"/>
                  </a:lnTo>
                  <a:lnTo>
                    <a:pt x="1019128" y="54423"/>
                  </a:lnTo>
                  <a:lnTo>
                    <a:pt x="1036320" y="76200"/>
                  </a:lnTo>
                  <a:lnTo>
                    <a:pt x="1058265" y="30479"/>
                  </a:lnTo>
                  <a:close/>
                </a:path>
                <a:path w="1073150" h="844550">
                  <a:moveTo>
                    <a:pt x="1018032" y="30479"/>
                  </a:moveTo>
                  <a:lnTo>
                    <a:pt x="1007051" y="39126"/>
                  </a:lnTo>
                  <a:lnTo>
                    <a:pt x="1019128" y="54423"/>
                  </a:lnTo>
                  <a:lnTo>
                    <a:pt x="1030224" y="45720"/>
                  </a:lnTo>
                  <a:lnTo>
                    <a:pt x="1018032" y="30479"/>
                  </a:lnTo>
                  <a:close/>
                </a:path>
                <a:path w="1073150" h="844550">
                  <a:moveTo>
                    <a:pt x="1072896" y="0"/>
                  </a:moveTo>
                  <a:lnTo>
                    <a:pt x="990600" y="18287"/>
                  </a:lnTo>
                  <a:lnTo>
                    <a:pt x="1007051" y="39126"/>
                  </a:lnTo>
                  <a:lnTo>
                    <a:pt x="1018032" y="30479"/>
                  </a:lnTo>
                  <a:lnTo>
                    <a:pt x="1058265" y="30479"/>
                  </a:lnTo>
                  <a:lnTo>
                    <a:pt x="1072896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419600" y="3886199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112775" y="0"/>
                  </a:moveTo>
                  <a:lnTo>
                    <a:pt x="56444" y="31495"/>
                  </a:lnTo>
                  <a:lnTo>
                    <a:pt x="33527" y="67436"/>
                  </a:lnTo>
                  <a:lnTo>
                    <a:pt x="15691" y="113791"/>
                  </a:lnTo>
                  <a:lnTo>
                    <a:pt x="4120" y="168274"/>
                  </a:lnTo>
                  <a:lnTo>
                    <a:pt x="0" y="228600"/>
                  </a:lnTo>
                  <a:lnTo>
                    <a:pt x="4120" y="288925"/>
                  </a:lnTo>
                  <a:lnTo>
                    <a:pt x="15691" y="343408"/>
                  </a:lnTo>
                  <a:lnTo>
                    <a:pt x="33527" y="389763"/>
                  </a:lnTo>
                  <a:lnTo>
                    <a:pt x="56444" y="425703"/>
                  </a:lnTo>
                  <a:lnTo>
                    <a:pt x="112775" y="457200"/>
                  </a:lnTo>
                  <a:lnTo>
                    <a:pt x="143580" y="448945"/>
                  </a:lnTo>
                  <a:lnTo>
                    <a:pt x="194690" y="389763"/>
                  </a:lnTo>
                  <a:lnTo>
                    <a:pt x="212795" y="343408"/>
                  </a:lnTo>
                  <a:lnTo>
                    <a:pt x="224465" y="288925"/>
                  </a:lnTo>
                  <a:lnTo>
                    <a:pt x="228600" y="228600"/>
                  </a:lnTo>
                  <a:lnTo>
                    <a:pt x="224465" y="168275"/>
                  </a:lnTo>
                  <a:lnTo>
                    <a:pt x="212795" y="113791"/>
                  </a:lnTo>
                  <a:lnTo>
                    <a:pt x="194690" y="67437"/>
                  </a:lnTo>
                  <a:lnTo>
                    <a:pt x="171252" y="31496"/>
                  </a:lnTo>
                  <a:lnTo>
                    <a:pt x="112775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038600" y="3047999"/>
              <a:ext cx="466725" cy="841375"/>
            </a:xfrm>
            <a:custGeom>
              <a:avLst/>
              <a:gdLst/>
              <a:ahLst/>
              <a:cxnLst/>
              <a:rect l="l" t="t" r="r" b="b"/>
              <a:pathLst>
                <a:path w="466725" h="841375">
                  <a:moveTo>
                    <a:pt x="45343" y="62273"/>
                  </a:moveTo>
                  <a:lnTo>
                    <a:pt x="27405" y="72058"/>
                  </a:lnTo>
                  <a:lnTo>
                    <a:pt x="448055" y="841248"/>
                  </a:lnTo>
                  <a:lnTo>
                    <a:pt x="466344" y="832103"/>
                  </a:lnTo>
                  <a:lnTo>
                    <a:pt x="45343" y="62273"/>
                  </a:lnTo>
                  <a:close/>
                </a:path>
                <a:path w="466725" h="841375">
                  <a:moveTo>
                    <a:pt x="0" y="0"/>
                  </a:moveTo>
                  <a:lnTo>
                    <a:pt x="3048" y="85344"/>
                  </a:lnTo>
                  <a:lnTo>
                    <a:pt x="27405" y="72058"/>
                  </a:lnTo>
                  <a:lnTo>
                    <a:pt x="21336" y="60960"/>
                  </a:lnTo>
                  <a:lnTo>
                    <a:pt x="39624" y="51815"/>
                  </a:lnTo>
                  <a:lnTo>
                    <a:pt x="64515" y="51815"/>
                  </a:lnTo>
                  <a:lnTo>
                    <a:pt x="70103" y="48767"/>
                  </a:lnTo>
                  <a:lnTo>
                    <a:pt x="0" y="0"/>
                  </a:lnTo>
                  <a:close/>
                </a:path>
                <a:path w="466725" h="841375">
                  <a:moveTo>
                    <a:pt x="39624" y="51815"/>
                  </a:moveTo>
                  <a:lnTo>
                    <a:pt x="21336" y="60960"/>
                  </a:lnTo>
                  <a:lnTo>
                    <a:pt x="27405" y="72058"/>
                  </a:lnTo>
                  <a:lnTo>
                    <a:pt x="45343" y="62273"/>
                  </a:lnTo>
                  <a:lnTo>
                    <a:pt x="39624" y="51815"/>
                  </a:lnTo>
                  <a:close/>
                </a:path>
                <a:path w="466725" h="841375">
                  <a:moveTo>
                    <a:pt x="64515" y="51815"/>
                  </a:moveTo>
                  <a:lnTo>
                    <a:pt x="39624" y="51815"/>
                  </a:lnTo>
                  <a:lnTo>
                    <a:pt x="45343" y="62273"/>
                  </a:lnTo>
                  <a:lnTo>
                    <a:pt x="64515" y="51815"/>
                  </a:lnTo>
                  <a:close/>
                </a:path>
              </a:pathLst>
            </a:custGeom>
            <a:solidFill>
              <a:srgbClr val="CC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001767" y="3886199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112776" y="0"/>
                  </a:moveTo>
                  <a:lnTo>
                    <a:pt x="55089" y="31495"/>
                  </a:lnTo>
                  <a:lnTo>
                    <a:pt x="32385" y="67436"/>
                  </a:lnTo>
                  <a:lnTo>
                    <a:pt x="15014" y="113791"/>
                  </a:lnTo>
                  <a:lnTo>
                    <a:pt x="3908" y="168274"/>
                  </a:lnTo>
                  <a:lnTo>
                    <a:pt x="0" y="228600"/>
                  </a:lnTo>
                  <a:lnTo>
                    <a:pt x="3908" y="288925"/>
                  </a:lnTo>
                  <a:lnTo>
                    <a:pt x="15014" y="343408"/>
                  </a:lnTo>
                  <a:lnTo>
                    <a:pt x="32385" y="389763"/>
                  </a:lnTo>
                  <a:lnTo>
                    <a:pt x="55089" y="425703"/>
                  </a:lnTo>
                  <a:lnTo>
                    <a:pt x="112776" y="457200"/>
                  </a:lnTo>
                  <a:lnTo>
                    <a:pt x="143580" y="448945"/>
                  </a:lnTo>
                  <a:lnTo>
                    <a:pt x="194691" y="389763"/>
                  </a:lnTo>
                  <a:lnTo>
                    <a:pt x="212795" y="343408"/>
                  </a:lnTo>
                  <a:lnTo>
                    <a:pt x="224465" y="288925"/>
                  </a:lnTo>
                  <a:lnTo>
                    <a:pt x="228600" y="228600"/>
                  </a:lnTo>
                  <a:lnTo>
                    <a:pt x="224465" y="168275"/>
                  </a:lnTo>
                  <a:lnTo>
                    <a:pt x="212795" y="113791"/>
                  </a:lnTo>
                  <a:lnTo>
                    <a:pt x="194690" y="67437"/>
                  </a:lnTo>
                  <a:lnTo>
                    <a:pt x="171252" y="31496"/>
                  </a:lnTo>
                  <a:lnTo>
                    <a:pt x="112776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148072" y="3044951"/>
              <a:ext cx="1835150" cy="850900"/>
            </a:xfrm>
            <a:custGeom>
              <a:avLst/>
              <a:gdLst/>
              <a:ahLst/>
              <a:cxnLst/>
              <a:rect l="l" t="t" r="r" b="b"/>
              <a:pathLst>
                <a:path w="1835150" h="850900">
                  <a:moveTo>
                    <a:pt x="1760830" y="25940"/>
                  </a:moveTo>
                  <a:lnTo>
                    <a:pt x="0" y="832103"/>
                  </a:lnTo>
                  <a:lnTo>
                    <a:pt x="9143" y="850392"/>
                  </a:lnTo>
                  <a:lnTo>
                    <a:pt x="1767882" y="42159"/>
                  </a:lnTo>
                  <a:lnTo>
                    <a:pt x="1760830" y="25940"/>
                  </a:lnTo>
                  <a:close/>
                </a:path>
                <a:path w="1835150" h="850900">
                  <a:moveTo>
                    <a:pt x="1819933" y="21336"/>
                  </a:moveTo>
                  <a:lnTo>
                    <a:pt x="1770887" y="21336"/>
                  </a:lnTo>
                  <a:lnTo>
                    <a:pt x="1780031" y="36575"/>
                  </a:lnTo>
                  <a:lnTo>
                    <a:pt x="1767882" y="42159"/>
                  </a:lnTo>
                  <a:lnTo>
                    <a:pt x="1780031" y="70103"/>
                  </a:lnTo>
                  <a:lnTo>
                    <a:pt x="1819933" y="21336"/>
                  </a:lnTo>
                  <a:close/>
                </a:path>
                <a:path w="1835150" h="850900">
                  <a:moveTo>
                    <a:pt x="1770887" y="21336"/>
                  </a:moveTo>
                  <a:lnTo>
                    <a:pt x="1760830" y="25940"/>
                  </a:lnTo>
                  <a:lnTo>
                    <a:pt x="1767882" y="42159"/>
                  </a:lnTo>
                  <a:lnTo>
                    <a:pt x="1780031" y="36575"/>
                  </a:lnTo>
                  <a:lnTo>
                    <a:pt x="1770887" y="21336"/>
                  </a:lnTo>
                  <a:close/>
                </a:path>
                <a:path w="1835150" h="850900">
                  <a:moveTo>
                    <a:pt x="1749552" y="0"/>
                  </a:moveTo>
                  <a:lnTo>
                    <a:pt x="1760830" y="25940"/>
                  </a:lnTo>
                  <a:lnTo>
                    <a:pt x="1770887" y="21336"/>
                  </a:lnTo>
                  <a:lnTo>
                    <a:pt x="1819933" y="21336"/>
                  </a:lnTo>
                  <a:lnTo>
                    <a:pt x="1834896" y="3048"/>
                  </a:lnTo>
                  <a:lnTo>
                    <a:pt x="1749552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819400" y="3962399"/>
              <a:ext cx="685800" cy="381000"/>
            </a:xfrm>
            <a:custGeom>
              <a:avLst/>
              <a:gdLst/>
              <a:ahLst/>
              <a:cxnLst/>
              <a:rect l="l" t="t" r="r" b="b"/>
              <a:pathLst>
                <a:path w="685800" h="381000">
                  <a:moveTo>
                    <a:pt x="341375" y="0"/>
                  </a:moveTo>
                  <a:lnTo>
                    <a:pt x="279897" y="3068"/>
                  </a:lnTo>
                  <a:lnTo>
                    <a:pt x="222081" y="11907"/>
                  </a:lnTo>
                  <a:lnTo>
                    <a:pt x="168881" y="25964"/>
                  </a:lnTo>
                  <a:lnTo>
                    <a:pt x="121251" y="44687"/>
                  </a:lnTo>
                  <a:lnTo>
                    <a:pt x="80142" y="67524"/>
                  </a:lnTo>
                  <a:lnTo>
                    <a:pt x="46510" y="93923"/>
                  </a:lnTo>
                  <a:lnTo>
                    <a:pt x="21306" y="123333"/>
                  </a:lnTo>
                  <a:lnTo>
                    <a:pt x="0" y="188975"/>
                  </a:lnTo>
                  <a:lnTo>
                    <a:pt x="5485" y="223657"/>
                  </a:lnTo>
                  <a:lnTo>
                    <a:pt x="46510" y="286173"/>
                  </a:lnTo>
                  <a:lnTo>
                    <a:pt x="80142" y="312953"/>
                  </a:lnTo>
                  <a:lnTo>
                    <a:pt x="121251" y="336045"/>
                  </a:lnTo>
                  <a:lnTo>
                    <a:pt x="168881" y="354922"/>
                  </a:lnTo>
                  <a:lnTo>
                    <a:pt x="222081" y="369058"/>
                  </a:lnTo>
                  <a:lnTo>
                    <a:pt x="279897" y="377926"/>
                  </a:lnTo>
                  <a:lnTo>
                    <a:pt x="341375" y="381000"/>
                  </a:lnTo>
                  <a:lnTo>
                    <a:pt x="403761" y="377926"/>
                  </a:lnTo>
                  <a:lnTo>
                    <a:pt x="462284" y="369058"/>
                  </a:lnTo>
                  <a:lnTo>
                    <a:pt x="516015" y="354922"/>
                  </a:lnTo>
                  <a:lnTo>
                    <a:pt x="564026" y="336045"/>
                  </a:lnTo>
                  <a:lnTo>
                    <a:pt x="605389" y="312953"/>
                  </a:lnTo>
                  <a:lnTo>
                    <a:pt x="639176" y="286173"/>
                  </a:lnTo>
                  <a:lnTo>
                    <a:pt x="664459" y="256232"/>
                  </a:lnTo>
                  <a:lnTo>
                    <a:pt x="685800" y="188975"/>
                  </a:lnTo>
                  <a:lnTo>
                    <a:pt x="680310" y="155201"/>
                  </a:lnTo>
                  <a:lnTo>
                    <a:pt x="639176" y="93923"/>
                  </a:lnTo>
                  <a:lnTo>
                    <a:pt x="605389" y="67524"/>
                  </a:lnTo>
                  <a:lnTo>
                    <a:pt x="564026" y="44687"/>
                  </a:lnTo>
                  <a:lnTo>
                    <a:pt x="516015" y="25964"/>
                  </a:lnTo>
                  <a:lnTo>
                    <a:pt x="462284" y="11907"/>
                  </a:lnTo>
                  <a:lnTo>
                    <a:pt x="403761" y="3068"/>
                  </a:lnTo>
                  <a:lnTo>
                    <a:pt x="341375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590800" y="3047999"/>
              <a:ext cx="466725" cy="917575"/>
            </a:xfrm>
            <a:custGeom>
              <a:avLst/>
              <a:gdLst/>
              <a:ahLst/>
              <a:cxnLst/>
              <a:rect l="l" t="t" r="r" b="b"/>
              <a:pathLst>
                <a:path w="466725" h="917575">
                  <a:moveTo>
                    <a:pt x="42672" y="64008"/>
                  </a:moveTo>
                  <a:lnTo>
                    <a:pt x="24401" y="73143"/>
                  </a:lnTo>
                  <a:lnTo>
                    <a:pt x="448056" y="917448"/>
                  </a:lnTo>
                  <a:lnTo>
                    <a:pt x="466344" y="911351"/>
                  </a:lnTo>
                  <a:lnTo>
                    <a:pt x="42672" y="64008"/>
                  </a:lnTo>
                  <a:close/>
                </a:path>
                <a:path w="466725" h="917575">
                  <a:moveTo>
                    <a:pt x="0" y="0"/>
                  </a:moveTo>
                  <a:lnTo>
                    <a:pt x="0" y="85344"/>
                  </a:lnTo>
                  <a:lnTo>
                    <a:pt x="24401" y="73143"/>
                  </a:lnTo>
                  <a:lnTo>
                    <a:pt x="18287" y="60960"/>
                  </a:lnTo>
                  <a:lnTo>
                    <a:pt x="36575" y="51815"/>
                  </a:lnTo>
                  <a:lnTo>
                    <a:pt x="67056" y="51815"/>
                  </a:lnTo>
                  <a:lnTo>
                    <a:pt x="0" y="0"/>
                  </a:lnTo>
                  <a:close/>
                </a:path>
                <a:path w="466725" h="917575">
                  <a:moveTo>
                    <a:pt x="36575" y="51815"/>
                  </a:moveTo>
                  <a:lnTo>
                    <a:pt x="18287" y="60960"/>
                  </a:lnTo>
                  <a:lnTo>
                    <a:pt x="24401" y="73143"/>
                  </a:lnTo>
                  <a:lnTo>
                    <a:pt x="42672" y="64008"/>
                  </a:lnTo>
                  <a:lnTo>
                    <a:pt x="36575" y="51815"/>
                  </a:lnTo>
                  <a:close/>
                </a:path>
                <a:path w="466725" h="917575">
                  <a:moveTo>
                    <a:pt x="67056" y="51815"/>
                  </a:moveTo>
                  <a:lnTo>
                    <a:pt x="36575" y="51815"/>
                  </a:lnTo>
                  <a:lnTo>
                    <a:pt x="42672" y="64008"/>
                  </a:lnTo>
                  <a:lnTo>
                    <a:pt x="67056" y="51815"/>
                  </a:lnTo>
                  <a:close/>
                </a:path>
              </a:pathLst>
            </a:custGeom>
            <a:solidFill>
              <a:srgbClr val="3A80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355852" y="3910076"/>
            <a:ext cx="1276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Times New Roman"/>
                <a:cs typeface="Times New Roman"/>
              </a:rPr>
              <a:t>Example: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738437" y="3048000"/>
            <a:ext cx="3662679" cy="2214880"/>
            <a:chOff x="2738437" y="3048000"/>
            <a:chExt cx="3662679" cy="2214880"/>
          </a:xfrm>
        </p:grpSpPr>
        <p:sp>
          <p:nvSpPr>
            <p:cNvPr id="15" name="object 15"/>
            <p:cNvSpPr/>
            <p:nvPr/>
          </p:nvSpPr>
          <p:spPr>
            <a:xfrm>
              <a:off x="2743200" y="4876800"/>
              <a:ext cx="685800" cy="381000"/>
            </a:xfrm>
            <a:custGeom>
              <a:avLst/>
              <a:gdLst/>
              <a:ahLst/>
              <a:cxnLst/>
              <a:rect l="l" t="t" r="r" b="b"/>
              <a:pathLst>
                <a:path w="685800" h="381000">
                  <a:moveTo>
                    <a:pt x="341375" y="0"/>
                  </a:moveTo>
                  <a:lnTo>
                    <a:pt x="279897" y="3068"/>
                  </a:lnTo>
                  <a:lnTo>
                    <a:pt x="222081" y="11907"/>
                  </a:lnTo>
                  <a:lnTo>
                    <a:pt x="168881" y="25964"/>
                  </a:lnTo>
                  <a:lnTo>
                    <a:pt x="121251" y="44687"/>
                  </a:lnTo>
                  <a:lnTo>
                    <a:pt x="80142" y="67524"/>
                  </a:lnTo>
                  <a:lnTo>
                    <a:pt x="46510" y="93923"/>
                  </a:lnTo>
                  <a:lnTo>
                    <a:pt x="21306" y="123333"/>
                  </a:lnTo>
                  <a:lnTo>
                    <a:pt x="0" y="188975"/>
                  </a:lnTo>
                  <a:lnTo>
                    <a:pt x="5485" y="223657"/>
                  </a:lnTo>
                  <a:lnTo>
                    <a:pt x="46510" y="286173"/>
                  </a:lnTo>
                  <a:lnTo>
                    <a:pt x="80142" y="312953"/>
                  </a:lnTo>
                  <a:lnTo>
                    <a:pt x="121251" y="336045"/>
                  </a:lnTo>
                  <a:lnTo>
                    <a:pt x="168881" y="354922"/>
                  </a:lnTo>
                  <a:lnTo>
                    <a:pt x="222081" y="369058"/>
                  </a:lnTo>
                  <a:lnTo>
                    <a:pt x="279897" y="377926"/>
                  </a:lnTo>
                  <a:lnTo>
                    <a:pt x="341375" y="381000"/>
                  </a:lnTo>
                  <a:lnTo>
                    <a:pt x="403761" y="377926"/>
                  </a:lnTo>
                  <a:lnTo>
                    <a:pt x="462284" y="369058"/>
                  </a:lnTo>
                  <a:lnTo>
                    <a:pt x="516015" y="354922"/>
                  </a:lnTo>
                  <a:lnTo>
                    <a:pt x="564026" y="336045"/>
                  </a:lnTo>
                  <a:lnTo>
                    <a:pt x="605389" y="312953"/>
                  </a:lnTo>
                  <a:lnTo>
                    <a:pt x="639176" y="286173"/>
                  </a:lnTo>
                  <a:lnTo>
                    <a:pt x="664459" y="256232"/>
                  </a:lnTo>
                  <a:lnTo>
                    <a:pt x="685800" y="188975"/>
                  </a:lnTo>
                  <a:lnTo>
                    <a:pt x="680310" y="155201"/>
                  </a:lnTo>
                  <a:lnTo>
                    <a:pt x="639176" y="93923"/>
                  </a:lnTo>
                  <a:lnTo>
                    <a:pt x="605389" y="67524"/>
                  </a:lnTo>
                  <a:lnTo>
                    <a:pt x="564026" y="44687"/>
                  </a:lnTo>
                  <a:lnTo>
                    <a:pt x="516015" y="25964"/>
                  </a:lnTo>
                  <a:lnTo>
                    <a:pt x="462284" y="11907"/>
                  </a:lnTo>
                  <a:lnTo>
                    <a:pt x="403761" y="3068"/>
                  </a:lnTo>
                  <a:lnTo>
                    <a:pt x="341375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788919" y="3048000"/>
              <a:ext cx="192405" cy="1828800"/>
            </a:xfrm>
            <a:custGeom>
              <a:avLst/>
              <a:gdLst/>
              <a:ahLst/>
              <a:cxnLst/>
              <a:rect l="l" t="t" r="r" b="b"/>
              <a:pathLst>
                <a:path w="192405" h="1828800">
                  <a:moveTo>
                    <a:pt x="46922" y="75494"/>
                  </a:moveTo>
                  <a:lnTo>
                    <a:pt x="28506" y="76967"/>
                  </a:lnTo>
                  <a:lnTo>
                    <a:pt x="173736" y="1828800"/>
                  </a:lnTo>
                  <a:lnTo>
                    <a:pt x="192024" y="1828800"/>
                  </a:lnTo>
                  <a:lnTo>
                    <a:pt x="47044" y="76967"/>
                  </a:lnTo>
                  <a:lnTo>
                    <a:pt x="46922" y="75494"/>
                  </a:lnTo>
                  <a:close/>
                </a:path>
                <a:path w="192405" h="1828800">
                  <a:moveTo>
                    <a:pt x="30480" y="0"/>
                  </a:moveTo>
                  <a:lnTo>
                    <a:pt x="0" y="79248"/>
                  </a:lnTo>
                  <a:lnTo>
                    <a:pt x="28506" y="76967"/>
                  </a:lnTo>
                  <a:lnTo>
                    <a:pt x="27431" y="64008"/>
                  </a:lnTo>
                  <a:lnTo>
                    <a:pt x="45719" y="60960"/>
                  </a:lnTo>
                  <a:lnTo>
                    <a:pt x="68580" y="60960"/>
                  </a:lnTo>
                  <a:lnTo>
                    <a:pt x="30480" y="0"/>
                  </a:lnTo>
                  <a:close/>
                </a:path>
                <a:path w="192405" h="1828800">
                  <a:moveTo>
                    <a:pt x="45719" y="60960"/>
                  </a:moveTo>
                  <a:lnTo>
                    <a:pt x="27431" y="64008"/>
                  </a:lnTo>
                  <a:lnTo>
                    <a:pt x="28384" y="75494"/>
                  </a:lnTo>
                  <a:lnTo>
                    <a:pt x="28506" y="76967"/>
                  </a:lnTo>
                  <a:lnTo>
                    <a:pt x="46922" y="75494"/>
                  </a:lnTo>
                  <a:lnTo>
                    <a:pt x="45719" y="60960"/>
                  </a:lnTo>
                  <a:close/>
                </a:path>
                <a:path w="192405" h="1828800">
                  <a:moveTo>
                    <a:pt x="68580" y="60960"/>
                  </a:moveTo>
                  <a:lnTo>
                    <a:pt x="45719" y="60960"/>
                  </a:lnTo>
                  <a:lnTo>
                    <a:pt x="46922" y="75494"/>
                  </a:lnTo>
                  <a:lnTo>
                    <a:pt x="76200" y="73151"/>
                  </a:lnTo>
                  <a:lnTo>
                    <a:pt x="68580" y="60960"/>
                  </a:lnTo>
                  <a:close/>
                </a:path>
              </a:pathLst>
            </a:custGeom>
            <a:solidFill>
              <a:srgbClr val="3A80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657600" y="4800600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112775" y="0"/>
                  </a:moveTo>
                  <a:lnTo>
                    <a:pt x="56444" y="31496"/>
                  </a:lnTo>
                  <a:lnTo>
                    <a:pt x="33527" y="67437"/>
                  </a:lnTo>
                  <a:lnTo>
                    <a:pt x="15691" y="113792"/>
                  </a:lnTo>
                  <a:lnTo>
                    <a:pt x="4120" y="168275"/>
                  </a:lnTo>
                  <a:lnTo>
                    <a:pt x="0" y="228600"/>
                  </a:lnTo>
                  <a:lnTo>
                    <a:pt x="4120" y="288925"/>
                  </a:lnTo>
                  <a:lnTo>
                    <a:pt x="15691" y="343407"/>
                  </a:lnTo>
                  <a:lnTo>
                    <a:pt x="33527" y="389763"/>
                  </a:lnTo>
                  <a:lnTo>
                    <a:pt x="56444" y="425704"/>
                  </a:lnTo>
                  <a:lnTo>
                    <a:pt x="112775" y="457200"/>
                  </a:lnTo>
                  <a:lnTo>
                    <a:pt x="143580" y="448944"/>
                  </a:lnTo>
                  <a:lnTo>
                    <a:pt x="194690" y="389762"/>
                  </a:lnTo>
                  <a:lnTo>
                    <a:pt x="212795" y="343407"/>
                  </a:lnTo>
                  <a:lnTo>
                    <a:pt x="224465" y="288924"/>
                  </a:lnTo>
                  <a:lnTo>
                    <a:pt x="228600" y="228600"/>
                  </a:lnTo>
                  <a:lnTo>
                    <a:pt x="224465" y="168275"/>
                  </a:lnTo>
                  <a:lnTo>
                    <a:pt x="212795" y="113792"/>
                  </a:lnTo>
                  <a:lnTo>
                    <a:pt x="194690" y="67437"/>
                  </a:lnTo>
                  <a:lnTo>
                    <a:pt x="171252" y="31495"/>
                  </a:lnTo>
                  <a:lnTo>
                    <a:pt x="112775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800855" y="3048000"/>
              <a:ext cx="1228725" cy="1758950"/>
            </a:xfrm>
            <a:custGeom>
              <a:avLst/>
              <a:gdLst/>
              <a:ahLst/>
              <a:cxnLst/>
              <a:rect l="l" t="t" r="r" b="b"/>
              <a:pathLst>
                <a:path w="1228725" h="1758950">
                  <a:moveTo>
                    <a:pt x="1177363" y="57637"/>
                  </a:moveTo>
                  <a:lnTo>
                    <a:pt x="0" y="1746504"/>
                  </a:lnTo>
                  <a:lnTo>
                    <a:pt x="18288" y="1758695"/>
                  </a:lnTo>
                  <a:lnTo>
                    <a:pt x="1193224" y="68967"/>
                  </a:lnTo>
                  <a:lnTo>
                    <a:pt x="1177363" y="57637"/>
                  </a:lnTo>
                  <a:close/>
                </a:path>
                <a:path w="1228725" h="1758950">
                  <a:moveTo>
                    <a:pt x="1221812" y="45720"/>
                  </a:moveTo>
                  <a:lnTo>
                    <a:pt x="1185672" y="45720"/>
                  </a:lnTo>
                  <a:lnTo>
                    <a:pt x="1200912" y="57912"/>
                  </a:lnTo>
                  <a:lnTo>
                    <a:pt x="1193224" y="68967"/>
                  </a:lnTo>
                  <a:lnTo>
                    <a:pt x="1216152" y="85344"/>
                  </a:lnTo>
                  <a:lnTo>
                    <a:pt x="1221812" y="45720"/>
                  </a:lnTo>
                  <a:close/>
                </a:path>
                <a:path w="1228725" h="1758950">
                  <a:moveTo>
                    <a:pt x="1185672" y="45720"/>
                  </a:moveTo>
                  <a:lnTo>
                    <a:pt x="1177363" y="57637"/>
                  </a:lnTo>
                  <a:lnTo>
                    <a:pt x="1193224" y="68967"/>
                  </a:lnTo>
                  <a:lnTo>
                    <a:pt x="1200912" y="57912"/>
                  </a:lnTo>
                  <a:lnTo>
                    <a:pt x="1185672" y="45720"/>
                  </a:lnTo>
                  <a:close/>
                </a:path>
                <a:path w="1228725" h="1758950">
                  <a:moveTo>
                    <a:pt x="1228344" y="0"/>
                  </a:moveTo>
                  <a:lnTo>
                    <a:pt x="1152144" y="39624"/>
                  </a:lnTo>
                  <a:lnTo>
                    <a:pt x="1177363" y="57637"/>
                  </a:lnTo>
                  <a:lnTo>
                    <a:pt x="1185672" y="45720"/>
                  </a:lnTo>
                  <a:lnTo>
                    <a:pt x="1221812" y="45720"/>
                  </a:lnTo>
                  <a:lnTo>
                    <a:pt x="1228344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038600" y="4800600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88975" y="0"/>
                  </a:moveTo>
                  <a:lnTo>
                    <a:pt x="145877" y="6104"/>
                  </a:lnTo>
                  <a:lnTo>
                    <a:pt x="106191" y="23459"/>
                  </a:lnTo>
                  <a:lnTo>
                    <a:pt x="71090" y="50625"/>
                  </a:lnTo>
                  <a:lnTo>
                    <a:pt x="41747" y="86161"/>
                  </a:lnTo>
                  <a:lnTo>
                    <a:pt x="19336" y="128629"/>
                  </a:lnTo>
                  <a:lnTo>
                    <a:pt x="5029" y="176588"/>
                  </a:lnTo>
                  <a:lnTo>
                    <a:pt x="0" y="228600"/>
                  </a:lnTo>
                  <a:lnTo>
                    <a:pt x="5029" y="280611"/>
                  </a:lnTo>
                  <a:lnTo>
                    <a:pt x="19336" y="328570"/>
                  </a:lnTo>
                  <a:lnTo>
                    <a:pt x="41747" y="371038"/>
                  </a:lnTo>
                  <a:lnTo>
                    <a:pt x="71090" y="406574"/>
                  </a:lnTo>
                  <a:lnTo>
                    <a:pt x="106191" y="433740"/>
                  </a:lnTo>
                  <a:lnTo>
                    <a:pt x="145877" y="451095"/>
                  </a:lnTo>
                  <a:lnTo>
                    <a:pt x="188975" y="457200"/>
                  </a:lnTo>
                  <a:lnTo>
                    <a:pt x="233203" y="451095"/>
                  </a:lnTo>
                  <a:lnTo>
                    <a:pt x="273697" y="433740"/>
                  </a:lnTo>
                  <a:lnTo>
                    <a:pt x="309340" y="406574"/>
                  </a:lnTo>
                  <a:lnTo>
                    <a:pt x="339012" y="371038"/>
                  </a:lnTo>
                  <a:lnTo>
                    <a:pt x="361592" y="328570"/>
                  </a:lnTo>
                  <a:lnTo>
                    <a:pt x="375961" y="280611"/>
                  </a:lnTo>
                  <a:lnTo>
                    <a:pt x="381000" y="228600"/>
                  </a:lnTo>
                  <a:lnTo>
                    <a:pt x="375961" y="176588"/>
                  </a:lnTo>
                  <a:lnTo>
                    <a:pt x="361592" y="128629"/>
                  </a:lnTo>
                  <a:lnTo>
                    <a:pt x="339012" y="86161"/>
                  </a:lnTo>
                  <a:lnTo>
                    <a:pt x="309340" y="50625"/>
                  </a:lnTo>
                  <a:lnTo>
                    <a:pt x="273697" y="23459"/>
                  </a:lnTo>
                  <a:lnTo>
                    <a:pt x="233203" y="6104"/>
                  </a:lnTo>
                  <a:lnTo>
                    <a:pt x="188975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261103" y="3048000"/>
              <a:ext cx="2139950" cy="1758950"/>
            </a:xfrm>
            <a:custGeom>
              <a:avLst/>
              <a:gdLst/>
              <a:ahLst/>
              <a:cxnLst/>
              <a:rect l="l" t="t" r="r" b="b"/>
              <a:pathLst>
                <a:path w="2139950" h="1758950">
                  <a:moveTo>
                    <a:pt x="2076203" y="40617"/>
                  </a:moveTo>
                  <a:lnTo>
                    <a:pt x="0" y="1746504"/>
                  </a:lnTo>
                  <a:lnTo>
                    <a:pt x="12192" y="1758695"/>
                  </a:lnTo>
                  <a:lnTo>
                    <a:pt x="2088768" y="55538"/>
                  </a:lnTo>
                  <a:lnTo>
                    <a:pt x="2076203" y="40617"/>
                  </a:lnTo>
                  <a:close/>
                </a:path>
                <a:path w="2139950" h="1758950">
                  <a:moveTo>
                    <a:pt x="2124943" y="33527"/>
                  </a:moveTo>
                  <a:lnTo>
                    <a:pt x="2084832" y="33527"/>
                  </a:lnTo>
                  <a:lnTo>
                    <a:pt x="2097024" y="48767"/>
                  </a:lnTo>
                  <a:lnTo>
                    <a:pt x="2088768" y="55538"/>
                  </a:lnTo>
                  <a:lnTo>
                    <a:pt x="2106168" y="76200"/>
                  </a:lnTo>
                  <a:lnTo>
                    <a:pt x="2124943" y="33527"/>
                  </a:lnTo>
                  <a:close/>
                </a:path>
                <a:path w="2139950" h="1758950">
                  <a:moveTo>
                    <a:pt x="2084832" y="33527"/>
                  </a:moveTo>
                  <a:lnTo>
                    <a:pt x="2076203" y="40617"/>
                  </a:lnTo>
                  <a:lnTo>
                    <a:pt x="2088768" y="55538"/>
                  </a:lnTo>
                  <a:lnTo>
                    <a:pt x="2097024" y="48767"/>
                  </a:lnTo>
                  <a:lnTo>
                    <a:pt x="2084832" y="33527"/>
                  </a:lnTo>
                  <a:close/>
                </a:path>
                <a:path w="2139950" h="1758950">
                  <a:moveTo>
                    <a:pt x="2139696" y="0"/>
                  </a:moveTo>
                  <a:lnTo>
                    <a:pt x="2057400" y="18287"/>
                  </a:lnTo>
                  <a:lnTo>
                    <a:pt x="2076203" y="40617"/>
                  </a:lnTo>
                  <a:lnTo>
                    <a:pt x="2084832" y="33527"/>
                  </a:lnTo>
                  <a:lnTo>
                    <a:pt x="2124943" y="33527"/>
                  </a:lnTo>
                  <a:lnTo>
                    <a:pt x="2139696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800600" y="4800600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112775" y="0"/>
                  </a:moveTo>
                  <a:lnTo>
                    <a:pt x="56444" y="31496"/>
                  </a:lnTo>
                  <a:lnTo>
                    <a:pt x="33527" y="67437"/>
                  </a:lnTo>
                  <a:lnTo>
                    <a:pt x="15691" y="113792"/>
                  </a:lnTo>
                  <a:lnTo>
                    <a:pt x="4120" y="168275"/>
                  </a:lnTo>
                  <a:lnTo>
                    <a:pt x="0" y="228600"/>
                  </a:lnTo>
                  <a:lnTo>
                    <a:pt x="4120" y="288925"/>
                  </a:lnTo>
                  <a:lnTo>
                    <a:pt x="15691" y="343407"/>
                  </a:lnTo>
                  <a:lnTo>
                    <a:pt x="33527" y="389763"/>
                  </a:lnTo>
                  <a:lnTo>
                    <a:pt x="56444" y="425704"/>
                  </a:lnTo>
                  <a:lnTo>
                    <a:pt x="112775" y="457200"/>
                  </a:lnTo>
                  <a:lnTo>
                    <a:pt x="143580" y="448944"/>
                  </a:lnTo>
                  <a:lnTo>
                    <a:pt x="194690" y="389762"/>
                  </a:lnTo>
                  <a:lnTo>
                    <a:pt x="212795" y="343407"/>
                  </a:lnTo>
                  <a:lnTo>
                    <a:pt x="224465" y="288924"/>
                  </a:lnTo>
                  <a:lnTo>
                    <a:pt x="228600" y="228600"/>
                  </a:lnTo>
                  <a:lnTo>
                    <a:pt x="224465" y="168275"/>
                  </a:lnTo>
                  <a:lnTo>
                    <a:pt x="212795" y="113792"/>
                  </a:lnTo>
                  <a:lnTo>
                    <a:pt x="194690" y="67437"/>
                  </a:lnTo>
                  <a:lnTo>
                    <a:pt x="171252" y="31495"/>
                  </a:lnTo>
                  <a:lnTo>
                    <a:pt x="112775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/>
          <p:nvPr/>
        </p:nvSpPr>
        <p:spPr>
          <a:xfrm>
            <a:off x="4035552" y="2971800"/>
            <a:ext cx="850900" cy="1831975"/>
          </a:xfrm>
          <a:custGeom>
            <a:avLst/>
            <a:gdLst/>
            <a:ahLst/>
            <a:cxnLst/>
            <a:rect l="l" t="t" r="r" b="b"/>
            <a:pathLst>
              <a:path w="850900" h="1831975">
                <a:moveTo>
                  <a:pt x="41468" y="65511"/>
                </a:moveTo>
                <a:lnTo>
                  <a:pt x="26661" y="72592"/>
                </a:lnTo>
                <a:lnTo>
                  <a:pt x="832103" y="1831848"/>
                </a:lnTo>
                <a:lnTo>
                  <a:pt x="850392" y="1825752"/>
                </a:lnTo>
                <a:lnTo>
                  <a:pt x="41468" y="65511"/>
                </a:lnTo>
                <a:close/>
              </a:path>
              <a:path w="850900" h="1831975">
                <a:moveTo>
                  <a:pt x="3048" y="0"/>
                </a:moveTo>
                <a:lnTo>
                  <a:pt x="0" y="85344"/>
                </a:lnTo>
                <a:lnTo>
                  <a:pt x="26661" y="72592"/>
                </a:lnTo>
                <a:lnTo>
                  <a:pt x="21336" y="60960"/>
                </a:lnTo>
                <a:lnTo>
                  <a:pt x="36575" y="54863"/>
                </a:lnTo>
                <a:lnTo>
                  <a:pt x="63730" y="54863"/>
                </a:lnTo>
                <a:lnTo>
                  <a:pt x="70103" y="51815"/>
                </a:lnTo>
                <a:lnTo>
                  <a:pt x="3048" y="0"/>
                </a:lnTo>
                <a:close/>
              </a:path>
              <a:path w="850900" h="1831975">
                <a:moveTo>
                  <a:pt x="36575" y="54863"/>
                </a:moveTo>
                <a:lnTo>
                  <a:pt x="21336" y="60960"/>
                </a:lnTo>
                <a:lnTo>
                  <a:pt x="26661" y="72592"/>
                </a:lnTo>
                <a:lnTo>
                  <a:pt x="41468" y="65511"/>
                </a:lnTo>
                <a:lnTo>
                  <a:pt x="36575" y="54863"/>
                </a:lnTo>
                <a:close/>
              </a:path>
              <a:path w="850900" h="1831975">
                <a:moveTo>
                  <a:pt x="63730" y="54863"/>
                </a:moveTo>
                <a:lnTo>
                  <a:pt x="36575" y="54863"/>
                </a:lnTo>
                <a:lnTo>
                  <a:pt x="41468" y="65511"/>
                </a:lnTo>
                <a:lnTo>
                  <a:pt x="63730" y="54863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834132" y="3910076"/>
            <a:ext cx="2352040" cy="221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2700">
              <a:lnSpc>
                <a:spcPct val="100000"/>
              </a:lnSpc>
              <a:spcBef>
                <a:spcPts val="100"/>
              </a:spcBef>
              <a:tabLst>
                <a:tab pos="2165350" algn="l"/>
              </a:tabLst>
            </a:pPr>
            <a:r>
              <a:rPr dirty="0" sz="2400" b="1">
                <a:latin typeface="Times New Roman"/>
                <a:cs typeface="Times New Roman"/>
              </a:rPr>
              <a:t>addi</a:t>
            </a:r>
            <a:r>
              <a:rPr dirty="0" sz="2400" spc="5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1,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2,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50" b="1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2400">
              <a:latin typeface="Times New Roman"/>
              <a:cs typeface="Times New Roman"/>
            </a:endParaRPr>
          </a:p>
          <a:p>
            <a:pPr algn="r" marR="20320">
              <a:lnSpc>
                <a:spcPct val="100000"/>
              </a:lnSpc>
              <a:tabLst>
                <a:tab pos="535940" algn="l"/>
              </a:tabLst>
            </a:pPr>
            <a:r>
              <a:rPr dirty="0" sz="2400" spc="-25" b="1">
                <a:latin typeface="Times New Roman"/>
                <a:cs typeface="Times New Roman"/>
              </a:rPr>
              <a:t>lw</a:t>
            </a:r>
            <a:r>
              <a:rPr dirty="0" sz="2400" b="1">
                <a:latin typeface="Times New Roman"/>
                <a:cs typeface="Times New Roman"/>
              </a:rPr>
              <a:t>	R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1,</a:t>
            </a:r>
            <a:r>
              <a:rPr dirty="0" sz="2400" spc="58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24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(R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2)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24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tabLst>
                <a:tab pos="795020" algn="l"/>
                <a:tab pos="1549400" algn="l"/>
              </a:tabLst>
            </a:pPr>
            <a:r>
              <a:rPr dirty="0" sz="2400" spc="-20" b="1">
                <a:latin typeface="Times New Roman"/>
                <a:cs typeface="Times New Roman"/>
              </a:rPr>
              <a:t>bltz</a:t>
            </a:r>
            <a:r>
              <a:rPr dirty="0" sz="2400" b="1">
                <a:latin typeface="Times New Roman"/>
                <a:cs typeface="Times New Roman"/>
              </a:rPr>
              <a:t>	R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1,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20" b="1">
                <a:latin typeface="Times New Roman"/>
                <a:cs typeface="Times New Roman"/>
              </a:rPr>
              <a:t>loop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891028" y="3048000"/>
            <a:ext cx="2447925" cy="3129280"/>
            <a:chOff x="2891028" y="3048000"/>
            <a:chExt cx="2447925" cy="3129280"/>
          </a:xfrm>
        </p:grpSpPr>
        <p:sp>
          <p:nvSpPr>
            <p:cNvPr id="25" name="object 25"/>
            <p:cNvSpPr/>
            <p:nvPr/>
          </p:nvSpPr>
          <p:spPr>
            <a:xfrm>
              <a:off x="2895599" y="5791200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381000" y="0"/>
                  </a:moveTo>
                  <a:lnTo>
                    <a:pt x="319226" y="2493"/>
                  </a:lnTo>
                  <a:lnTo>
                    <a:pt x="260616" y="9704"/>
                  </a:lnTo>
                  <a:lnTo>
                    <a:pt x="205956" y="21232"/>
                  </a:lnTo>
                  <a:lnTo>
                    <a:pt x="156033" y="36673"/>
                  </a:lnTo>
                  <a:lnTo>
                    <a:pt x="111632" y="55625"/>
                  </a:lnTo>
                  <a:lnTo>
                    <a:pt x="73542" y="77687"/>
                  </a:lnTo>
                  <a:lnTo>
                    <a:pt x="42547" y="102455"/>
                  </a:lnTo>
                  <a:lnTo>
                    <a:pt x="4989" y="158502"/>
                  </a:lnTo>
                  <a:lnTo>
                    <a:pt x="0" y="188975"/>
                  </a:lnTo>
                  <a:lnTo>
                    <a:pt x="4989" y="220275"/>
                  </a:lnTo>
                  <a:lnTo>
                    <a:pt x="42547" y="277499"/>
                  </a:lnTo>
                  <a:lnTo>
                    <a:pt x="73542" y="302654"/>
                  </a:lnTo>
                  <a:lnTo>
                    <a:pt x="111632" y="324992"/>
                  </a:lnTo>
                  <a:lnTo>
                    <a:pt x="156033" y="344131"/>
                  </a:lnTo>
                  <a:lnTo>
                    <a:pt x="205956" y="359685"/>
                  </a:lnTo>
                  <a:lnTo>
                    <a:pt x="260616" y="371270"/>
                  </a:lnTo>
                  <a:lnTo>
                    <a:pt x="319226" y="378503"/>
                  </a:lnTo>
                  <a:lnTo>
                    <a:pt x="381000" y="381000"/>
                  </a:lnTo>
                  <a:lnTo>
                    <a:pt x="442773" y="378503"/>
                  </a:lnTo>
                  <a:lnTo>
                    <a:pt x="501383" y="371270"/>
                  </a:lnTo>
                  <a:lnTo>
                    <a:pt x="556043" y="359685"/>
                  </a:lnTo>
                  <a:lnTo>
                    <a:pt x="605966" y="344131"/>
                  </a:lnTo>
                  <a:lnTo>
                    <a:pt x="650367" y="324993"/>
                  </a:lnTo>
                  <a:lnTo>
                    <a:pt x="688457" y="302654"/>
                  </a:lnTo>
                  <a:lnTo>
                    <a:pt x="719452" y="277499"/>
                  </a:lnTo>
                  <a:lnTo>
                    <a:pt x="757010" y="220275"/>
                  </a:lnTo>
                  <a:lnTo>
                    <a:pt x="762000" y="188975"/>
                  </a:lnTo>
                  <a:lnTo>
                    <a:pt x="757010" y="158502"/>
                  </a:lnTo>
                  <a:lnTo>
                    <a:pt x="719452" y="102455"/>
                  </a:lnTo>
                  <a:lnTo>
                    <a:pt x="688457" y="77687"/>
                  </a:lnTo>
                  <a:lnTo>
                    <a:pt x="650366" y="55625"/>
                  </a:lnTo>
                  <a:lnTo>
                    <a:pt x="605966" y="36673"/>
                  </a:lnTo>
                  <a:lnTo>
                    <a:pt x="556043" y="21232"/>
                  </a:lnTo>
                  <a:lnTo>
                    <a:pt x="501383" y="9704"/>
                  </a:lnTo>
                  <a:lnTo>
                    <a:pt x="442773" y="2493"/>
                  </a:lnTo>
                  <a:lnTo>
                    <a:pt x="381000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938271" y="3048000"/>
              <a:ext cx="195580" cy="2743200"/>
            </a:xfrm>
            <a:custGeom>
              <a:avLst/>
              <a:gdLst/>
              <a:ahLst/>
              <a:cxnLst/>
              <a:rect l="l" t="t" r="r" b="b"/>
              <a:pathLst>
                <a:path w="195580" h="2743200">
                  <a:moveTo>
                    <a:pt x="46362" y="75538"/>
                  </a:moveTo>
                  <a:lnTo>
                    <a:pt x="28155" y="76995"/>
                  </a:lnTo>
                  <a:lnTo>
                    <a:pt x="176783" y="2743200"/>
                  </a:lnTo>
                  <a:lnTo>
                    <a:pt x="195071" y="2743200"/>
                  </a:lnTo>
                  <a:lnTo>
                    <a:pt x="46569" y="79248"/>
                  </a:lnTo>
                  <a:lnTo>
                    <a:pt x="46443" y="76995"/>
                  </a:lnTo>
                  <a:lnTo>
                    <a:pt x="46362" y="75538"/>
                  </a:lnTo>
                  <a:close/>
                </a:path>
                <a:path w="195580" h="2743200">
                  <a:moveTo>
                    <a:pt x="33527" y="0"/>
                  </a:moveTo>
                  <a:lnTo>
                    <a:pt x="0" y="79248"/>
                  </a:lnTo>
                  <a:lnTo>
                    <a:pt x="28155" y="76995"/>
                  </a:lnTo>
                  <a:lnTo>
                    <a:pt x="27431" y="64008"/>
                  </a:lnTo>
                  <a:lnTo>
                    <a:pt x="70866" y="64008"/>
                  </a:lnTo>
                  <a:lnTo>
                    <a:pt x="33527" y="0"/>
                  </a:lnTo>
                  <a:close/>
                </a:path>
                <a:path w="195580" h="2743200">
                  <a:moveTo>
                    <a:pt x="45719" y="64008"/>
                  </a:moveTo>
                  <a:lnTo>
                    <a:pt x="27431" y="64008"/>
                  </a:lnTo>
                  <a:lnTo>
                    <a:pt x="28074" y="75538"/>
                  </a:lnTo>
                  <a:lnTo>
                    <a:pt x="28155" y="76995"/>
                  </a:lnTo>
                  <a:lnTo>
                    <a:pt x="46362" y="75538"/>
                  </a:lnTo>
                  <a:lnTo>
                    <a:pt x="45719" y="64008"/>
                  </a:lnTo>
                  <a:close/>
                </a:path>
                <a:path w="195580" h="2743200">
                  <a:moveTo>
                    <a:pt x="70866" y="64008"/>
                  </a:moveTo>
                  <a:lnTo>
                    <a:pt x="45719" y="64008"/>
                  </a:lnTo>
                  <a:lnTo>
                    <a:pt x="46362" y="75538"/>
                  </a:lnTo>
                  <a:lnTo>
                    <a:pt x="76200" y="73151"/>
                  </a:lnTo>
                  <a:lnTo>
                    <a:pt x="70866" y="64008"/>
                  </a:lnTo>
                  <a:close/>
                </a:path>
              </a:pathLst>
            </a:custGeom>
            <a:solidFill>
              <a:srgbClr val="3A80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114799" y="5638800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112775" y="0"/>
                  </a:moveTo>
                  <a:lnTo>
                    <a:pt x="56444" y="31496"/>
                  </a:lnTo>
                  <a:lnTo>
                    <a:pt x="33527" y="67437"/>
                  </a:lnTo>
                  <a:lnTo>
                    <a:pt x="15691" y="113792"/>
                  </a:lnTo>
                  <a:lnTo>
                    <a:pt x="4120" y="168275"/>
                  </a:lnTo>
                  <a:lnTo>
                    <a:pt x="0" y="228600"/>
                  </a:lnTo>
                  <a:lnTo>
                    <a:pt x="4120" y="288925"/>
                  </a:lnTo>
                  <a:lnTo>
                    <a:pt x="15691" y="343407"/>
                  </a:lnTo>
                  <a:lnTo>
                    <a:pt x="33527" y="389763"/>
                  </a:lnTo>
                  <a:lnTo>
                    <a:pt x="56444" y="425704"/>
                  </a:lnTo>
                  <a:lnTo>
                    <a:pt x="112775" y="457200"/>
                  </a:lnTo>
                  <a:lnTo>
                    <a:pt x="143580" y="448944"/>
                  </a:lnTo>
                  <a:lnTo>
                    <a:pt x="194690" y="389762"/>
                  </a:lnTo>
                  <a:lnTo>
                    <a:pt x="212795" y="343407"/>
                  </a:lnTo>
                  <a:lnTo>
                    <a:pt x="224465" y="288924"/>
                  </a:lnTo>
                  <a:lnTo>
                    <a:pt x="228600" y="228600"/>
                  </a:lnTo>
                  <a:lnTo>
                    <a:pt x="224465" y="168275"/>
                  </a:lnTo>
                  <a:lnTo>
                    <a:pt x="212795" y="113792"/>
                  </a:lnTo>
                  <a:lnTo>
                    <a:pt x="194690" y="67437"/>
                  </a:lnTo>
                  <a:lnTo>
                    <a:pt x="171252" y="31495"/>
                  </a:lnTo>
                  <a:lnTo>
                    <a:pt x="112775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858767" y="3048000"/>
              <a:ext cx="417830" cy="2590800"/>
            </a:xfrm>
            <a:custGeom>
              <a:avLst/>
              <a:gdLst/>
              <a:ahLst/>
              <a:cxnLst/>
              <a:rect l="l" t="t" r="r" b="b"/>
              <a:pathLst>
                <a:path w="417829" h="2590800">
                  <a:moveTo>
                    <a:pt x="47733" y="74658"/>
                  </a:moveTo>
                  <a:lnTo>
                    <a:pt x="29430" y="77587"/>
                  </a:lnTo>
                  <a:lnTo>
                    <a:pt x="399288" y="2590800"/>
                  </a:lnTo>
                  <a:lnTo>
                    <a:pt x="417576" y="2590800"/>
                  </a:lnTo>
                  <a:lnTo>
                    <a:pt x="47733" y="74658"/>
                  </a:lnTo>
                  <a:close/>
                </a:path>
                <a:path w="417829" h="2590800">
                  <a:moveTo>
                    <a:pt x="27432" y="0"/>
                  </a:moveTo>
                  <a:lnTo>
                    <a:pt x="0" y="82296"/>
                  </a:lnTo>
                  <a:lnTo>
                    <a:pt x="29430" y="77587"/>
                  </a:lnTo>
                  <a:lnTo>
                    <a:pt x="27432" y="64008"/>
                  </a:lnTo>
                  <a:lnTo>
                    <a:pt x="45720" y="60960"/>
                  </a:lnTo>
                  <a:lnTo>
                    <a:pt x="69838" y="60960"/>
                  </a:lnTo>
                  <a:lnTo>
                    <a:pt x="27432" y="0"/>
                  </a:lnTo>
                  <a:close/>
                </a:path>
                <a:path w="417829" h="2590800">
                  <a:moveTo>
                    <a:pt x="45720" y="60960"/>
                  </a:moveTo>
                  <a:lnTo>
                    <a:pt x="27432" y="64008"/>
                  </a:lnTo>
                  <a:lnTo>
                    <a:pt x="29430" y="77587"/>
                  </a:lnTo>
                  <a:lnTo>
                    <a:pt x="47733" y="74658"/>
                  </a:lnTo>
                  <a:lnTo>
                    <a:pt x="45720" y="60960"/>
                  </a:lnTo>
                  <a:close/>
                </a:path>
                <a:path w="417829" h="2590800">
                  <a:moveTo>
                    <a:pt x="69838" y="60960"/>
                  </a:moveTo>
                  <a:lnTo>
                    <a:pt x="45720" y="60960"/>
                  </a:lnTo>
                  <a:lnTo>
                    <a:pt x="47733" y="74658"/>
                  </a:lnTo>
                  <a:lnTo>
                    <a:pt x="76200" y="70103"/>
                  </a:lnTo>
                  <a:lnTo>
                    <a:pt x="69838" y="6096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495799" y="5715000"/>
              <a:ext cx="838200" cy="457200"/>
            </a:xfrm>
            <a:custGeom>
              <a:avLst/>
              <a:gdLst/>
              <a:ahLst/>
              <a:cxnLst/>
              <a:rect l="l" t="t" r="r" b="b"/>
              <a:pathLst>
                <a:path w="838200" h="457200">
                  <a:moveTo>
                    <a:pt x="417575" y="0"/>
                  </a:moveTo>
                  <a:lnTo>
                    <a:pt x="356325" y="2507"/>
                  </a:lnTo>
                  <a:lnTo>
                    <a:pt x="297712" y="9782"/>
                  </a:lnTo>
                  <a:lnTo>
                    <a:pt x="242411" y="21455"/>
                  </a:lnTo>
                  <a:lnTo>
                    <a:pt x="191094" y="37153"/>
                  </a:lnTo>
                  <a:lnTo>
                    <a:pt x="144435" y="56505"/>
                  </a:lnTo>
                  <a:lnTo>
                    <a:pt x="103107" y="79142"/>
                  </a:lnTo>
                  <a:lnTo>
                    <a:pt x="67784" y="104692"/>
                  </a:lnTo>
                  <a:lnTo>
                    <a:pt x="39138" y="132783"/>
                  </a:lnTo>
                  <a:lnTo>
                    <a:pt x="4573" y="195108"/>
                  </a:lnTo>
                  <a:lnTo>
                    <a:pt x="0" y="228600"/>
                  </a:lnTo>
                  <a:lnTo>
                    <a:pt x="4573" y="262091"/>
                  </a:lnTo>
                  <a:lnTo>
                    <a:pt x="39138" y="324416"/>
                  </a:lnTo>
                  <a:lnTo>
                    <a:pt x="67784" y="352507"/>
                  </a:lnTo>
                  <a:lnTo>
                    <a:pt x="103107" y="378057"/>
                  </a:lnTo>
                  <a:lnTo>
                    <a:pt x="144435" y="400694"/>
                  </a:lnTo>
                  <a:lnTo>
                    <a:pt x="191094" y="420046"/>
                  </a:lnTo>
                  <a:lnTo>
                    <a:pt x="242411" y="435744"/>
                  </a:lnTo>
                  <a:lnTo>
                    <a:pt x="297712" y="447417"/>
                  </a:lnTo>
                  <a:lnTo>
                    <a:pt x="356325" y="454692"/>
                  </a:lnTo>
                  <a:lnTo>
                    <a:pt x="417575" y="457200"/>
                  </a:lnTo>
                  <a:lnTo>
                    <a:pt x="479584" y="454692"/>
                  </a:lnTo>
                  <a:lnTo>
                    <a:pt x="538818" y="447417"/>
                  </a:lnTo>
                  <a:lnTo>
                    <a:pt x="594616" y="435744"/>
                  </a:lnTo>
                  <a:lnTo>
                    <a:pt x="646320" y="420046"/>
                  </a:lnTo>
                  <a:lnTo>
                    <a:pt x="693270" y="400694"/>
                  </a:lnTo>
                  <a:lnTo>
                    <a:pt x="734806" y="378057"/>
                  </a:lnTo>
                  <a:lnTo>
                    <a:pt x="770269" y="352507"/>
                  </a:lnTo>
                  <a:lnTo>
                    <a:pt x="798999" y="324416"/>
                  </a:lnTo>
                  <a:lnTo>
                    <a:pt x="833624" y="262091"/>
                  </a:lnTo>
                  <a:lnTo>
                    <a:pt x="838200" y="228600"/>
                  </a:lnTo>
                  <a:lnTo>
                    <a:pt x="833624" y="195108"/>
                  </a:lnTo>
                  <a:lnTo>
                    <a:pt x="798999" y="132783"/>
                  </a:lnTo>
                  <a:lnTo>
                    <a:pt x="770269" y="104692"/>
                  </a:lnTo>
                  <a:lnTo>
                    <a:pt x="734806" y="79142"/>
                  </a:lnTo>
                  <a:lnTo>
                    <a:pt x="693270" y="56505"/>
                  </a:lnTo>
                  <a:lnTo>
                    <a:pt x="646320" y="37153"/>
                  </a:lnTo>
                  <a:lnTo>
                    <a:pt x="594616" y="21455"/>
                  </a:lnTo>
                  <a:lnTo>
                    <a:pt x="538818" y="9782"/>
                  </a:lnTo>
                  <a:lnTo>
                    <a:pt x="479584" y="2507"/>
                  </a:lnTo>
                  <a:lnTo>
                    <a:pt x="417575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/>
          <p:nvPr/>
        </p:nvSpPr>
        <p:spPr>
          <a:xfrm>
            <a:off x="4794503" y="2971800"/>
            <a:ext cx="2520950" cy="2749550"/>
          </a:xfrm>
          <a:custGeom>
            <a:avLst/>
            <a:gdLst/>
            <a:ahLst/>
            <a:cxnLst/>
            <a:rect l="l" t="t" r="r" b="b"/>
            <a:pathLst>
              <a:path w="2520950" h="2749550">
                <a:moveTo>
                  <a:pt x="2462278" y="50153"/>
                </a:moveTo>
                <a:lnTo>
                  <a:pt x="0" y="2737104"/>
                </a:lnTo>
                <a:lnTo>
                  <a:pt x="12192" y="2749296"/>
                </a:lnTo>
                <a:lnTo>
                  <a:pt x="2474803" y="61982"/>
                </a:lnTo>
                <a:lnTo>
                  <a:pt x="2462278" y="50153"/>
                </a:lnTo>
                <a:close/>
              </a:path>
              <a:path w="2520950" h="2749550">
                <a:moveTo>
                  <a:pt x="2508955" y="39624"/>
                </a:moveTo>
                <a:lnTo>
                  <a:pt x="2471928" y="39624"/>
                </a:lnTo>
                <a:lnTo>
                  <a:pt x="2484120" y="51815"/>
                </a:lnTo>
                <a:lnTo>
                  <a:pt x="2474803" y="61982"/>
                </a:lnTo>
                <a:lnTo>
                  <a:pt x="2496312" y="82296"/>
                </a:lnTo>
                <a:lnTo>
                  <a:pt x="2508955" y="39624"/>
                </a:lnTo>
                <a:close/>
              </a:path>
              <a:path w="2520950" h="2749550">
                <a:moveTo>
                  <a:pt x="2471928" y="39624"/>
                </a:moveTo>
                <a:lnTo>
                  <a:pt x="2462278" y="50153"/>
                </a:lnTo>
                <a:lnTo>
                  <a:pt x="2474803" y="61982"/>
                </a:lnTo>
                <a:lnTo>
                  <a:pt x="2484120" y="51815"/>
                </a:lnTo>
                <a:lnTo>
                  <a:pt x="2471928" y="39624"/>
                </a:lnTo>
                <a:close/>
              </a:path>
              <a:path w="2520950" h="2749550">
                <a:moveTo>
                  <a:pt x="2520696" y="0"/>
                </a:moveTo>
                <a:lnTo>
                  <a:pt x="2441448" y="30479"/>
                </a:lnTo>
                <a:lnTo>
                  <a:pt x="2462278" y="50153"/>
                </a:lnTo>
                <a:lnTo>
                  <a:pt x="2471928" y="39624"/>
                </a:lnTo>
                <a:lnTo>
                  <a:pt x="2508955" y="39624"/>
                </a:lnTo>
                <a:lnTo>
                  <a:pt x="2520696" y="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xfrm>
            <a:off x="993139" y="724915"/>
            <a:ext cx="617601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45"/>
              <a:t>MIPS</a:t>
            </a:r>
            <a:r>
              <a:rPr dirty="0" spc="-105"/>
              <a:t> </a:t>
            </a:r>
            <a:r>
              <a:rPr dirty="0" spc="-375"/>
              <a:t>1</a:t>
            </a:r>
            <a:r>
              <a:rPr dirty="0" spc="-105"/>
              <a:t> </a:t>
            </a:r>
            <a:r>
              <a:rPr dirty="0" spc="-130"/>
              <a:t>Instruction</a:t>
            </a:r>
            <a:r>
              <a:rPr dirty="0" spc="-110"/>
              <a:t> </a:t>
            </a:r>
            <a:r>
              <a:rPr dirty="0" spc="-185"/>
              <a:t>Encoding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205228" y="2357628"/>
          <a:ext cx="6791325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5486400"/>
              </a:tblGrid>
              <a:tr h="685800">
                <a:tc>
                  <a:txBody>
                    <a:bodyPr/>
                    <a:lstStyle/>
                    <a:p>
                      <a:pPr marL="316865" marR="184150" indent="-1219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Opcode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bits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83739" marR="19812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Jump</a:t>
                      </a:r>
                      <a:r>
                        <a:rPr dirty="0" sz="20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address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26</a:t>
                      </a: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bits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209547" y="1660652"/>
            <a:ext cx="12350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J</a:t>
            </a:r>
            <a:r>
              <a:rPr dirty="0" sz="2400" spc="-10" b="1">
                <a:latin typeface="Times New Roman"/>
                <a:cs typeface="Times New Roman"/>
              </a:rPr>
              <a:t> Format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0339" y="3910076"/>
            <a:ext cx="27152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66545" algn="l"/>
                <a:tab pos="2209800" algn="l"/>
              </a:tabLst>
            </a:pPr>
            <a:r>
              <a:rPr dirty="0" sz="2400" spc="-10" b="1">
                <a:latin typeface="Times New Roman"/>
                <a:cs typeface="Times New Roman"/>
              </a:rPr>
              <a:t>Example: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25" b="1">
                <a:latin typeface="Times New Roman"/>
                <a:cs typeface="Times New Roman"/>
              </a:rPr>
              <a:t>jal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20" b="1">
                <a:latin typeface="Times New Roman"/>
                <a:cs typeface="Times New Roman"/>
              </a:rPr>
              <a:t>fact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576828" y="3044951"/>
            <a:ext cx="2214880" cy="1303020"/>
            <a:chOff x="3576828" y="3044951"/>
            <a:chExt cx="2214880" cy="1303020"/>
          </a:xfrm>
        </p:grpSpPr>
        <p:sp>
          <p:nvSpPr>
            <p:cNvPr id="6" name="object 6"/>
            <p:cNvSpPr/>
            <p:nvPr/>
          </p:nvSpPr>
          <p:spPr>
            <a:xfrm>
              <a:off x="3581399" y="3886199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341375" y="0"/>
                  </a:moveTo>
                  <a:lnTo>
                    <a:pt x="285896" y="3026"/>
                  </a:lnTo>
                  <a:lnTo>
                    <a:pt x="233306" y="11777"/>
                  </a:lnTo>
                  <a:lnTo>
                    <a:pt x="184300" y="25758"/>
                  </a:lnTo>
                  <a:lnTo>
                    <a:pt x="139574" y="44476"/>
                  </a:lnTo>
                  <a:lnTo>
                    <a:pt x="99822" y="67437"/>
                  </a:lnTo>
                  <a:lnTo>
                    <a:pt x="65739" y="94146"/>
                  </a:lnTo>
                  <a:lnTo>
                    <a:pt x="38020" y="124111"/>
                  </a:lnTo>
                  <a:lnTo>
                    <a:pt x="17361" y="156837"/>
                  </a:lnTo>
                  <a:lnTo>
                    <a:pt x="0" y="228600"/>
                  </a:lnTo>
                  <a:lnTo>
                    <a:pt x="4456" y="265368"/>
                  </a:lnTo>
                  <a:lnTo>
                    <a:pt x="38020" y="333088"/>
                  </a:lnTo>
                  <a:lnTo>
                    <a:pt x="65739" y="363053"/>
                  </a:lnTo>
                  <a:lnTo>
                    <a:pt x="99822" y="389763"/>
                  </a:lnTo>
                  <a:lnTo>
                    <a:pt x="139574" y="412723"/>
                  </a:lnTo>
                  <a:lnTo>
                    <a:pt x="184300" y="431441"/>
                  </a:lnTo>
                  <a:lnTo>
                    <a:pt x="233306" y="445422"/>
                  </a:lnTo>
                  <a:lnTo>
                    <a:pt x="285896" y="454173"/>
                  </a:lnTo>
                  <a:lnTo>
                    <a:pt x="341375" y="457200"/>
                  </a:lnTo>
                  <a:lnTo>
                    <a:pt x="397681" y="454173"/>
                  </a:lnTo>
                  <a:lnTo>
                    <a:pt x="450933" y="445422"/>
                  </a:lnTo>
                  <a:lnTo>
                    <a:pt x="500454" y="431441"/>
                  </a:lnTo>
                  <a:lnTo>
                    <a:pt x="545567" y="412723"/>
                  </a:lnTo>
                  <a:lnTo>
                    <a:pt x="585596" y="389763"/>
                  </a:lnTo>
                  <a:lnTo>
                    <a:pt x="619865" y="363053"/>
                  </a:lnTo>
                  <a:lnTo>
                    <a:pt x="647696" y="333088"/>
                  </a:lnTo>
                  <a:lnTo>
                    <a:pt x="668414" y="300362"/>
                  </a:lnTo>
                  <a:lnTo>
                    <a:pt x="685800" y="228600"/>
                  </a:lnTo>
                  <a:lnTo>
                    <a:pt x="681340" y="191831"/>
                  </a:lnTo>
                  <a:lnTo>
                    <a:pt x="647696" y="124111"/>
                  </a:lnTo>
                  <a:lnTo>
                    <a:pt x="619865" y="94146"/>
                  </a:lnTo>
                  <a:lnTo>
                    <a:pt x="585597" y="67436"/>
                  </a:lnTo>
                  <a:lnTo>
                    <a:pt x="545567" y="44476"/>
                  </a:lnTo>
                  <a:lnTo>
                    <a:pt x="500454" y="25758"/>
                  </a:lnTo>
                  <a:lnTo>
                    <a:pt x="450933" y="11777"/>
                  </a:lnTo>
                  <a:lnTo>
                    <a:pt x="397681" y="3026"/>
                  </a:lnTo>
                  <a:lnTo>
                    <a:pt x="341375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959351" y="3044951"/>
              <a:ext cx="1831975" cy="850900"/>
            </a:xfrm>
            <a:custGeom>
              <a:avLst/>
              <a:gdLst/>
              <a:ahLst/>
              <a:cxnLst/>
              <a:rect l="l" t="t" r="r" b="b"/>
              <a:pathLst>
                <a:path w="1831975" h="850900">
                  <a:moveTo>
                    <a:pt x="1758288" y="27104"/>
                  </a:moveTo>
                  <a:lnTo>
                    <a:pt x="0" y="832103"/>
                  </a:lnTo>
                  <a:lnTo>
                    <a:pt x="6096" y="850392"/>
                  </a:lnTo>
                  <a:lnTo>
                    <a:pt x="1764834" y="42159"/>
                  </a:lnTo>
                  <a:lnTo>
                    <a:pt x="1758288" y="27104"/>
                  </a:lnTo>
                  <a:close/>
                </a:path>
                <a:path w="1831975" h="850900">
                  <a:moveTo>
                    <a:pt x="1816885" y="21336"/>
                  </a:moveTo>
                  <a:lnTo>
                    <a:pt x="1770888" y="21336"/>
                  </a:lnTo>
                  <a:lnTo>
                    <a:pt x="1776984" y="36575"/>
                  </a:lnTo>
                  <a:lnTo>
                    <a:pt x="1764834" y="42159"/>
                  </a:lnTo>
                  <a:lnTo>
                    <a:pt x="1776984" y="70103"/>
                  </a:lnTo>
                  <a:lnTo>
                    <a:pt x="1816885" y="21336"/>
                  </a:lnTo>
                  <a:close/>
                </a:path>
                <a:path w="1831975" h="850900">
                  <a:moveTo>
                    <a:pt x="1770888" y="21336"/>
                  </a:moveTo>
                  <a:lnTo>
                    <a:pt x="1758288" y="27104"/>
                  </a:lnTo>
                  <a:lnTo>
                    <a:pt x="1764834" y="42159"/>
                  </a:lnTo>
                  <a:lnTo>
                    <a:pt x="1776984" y="36575"/>
                  </a:lnTo>
                  <a:lnTo>
                    <a:pt x="1770888" y="21336"/>
                  </a:lnTo>
                  <a:close/>
                </a:path>
                <a:path w="1831975" h="850900">
                  <a:moveTo>
                    <a:pt x="1746503" y="0"/>
                  </a:moveTo>
                  <a:lnTo>
                    <a:pt x="1758288" y="27104"/>
                  </a:lnTo>
                  <a:lnTo>
                    <a:pt x="1770888" y="21336"/>
                  </a:lnTo>
                  <a:lnTo>
                    <a:pt x="1816885" y="21336"/>
                  </a:lnTo>
                  <a:lnTo>
                    <a:pt x="1831848" y="3048"/>
                  </a:lnTo>
                  <a:lnTo>
                    <a:pt x="1746503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2590800" y="3048000"/>
            <a:ext cx="919480" cy="1300480"/>
            <a:chOff x="2590800" y="3048000"/>
            <a:chExt cx="919480" cy="1300480"/>
          </a:xfrm>
        </p:grpSpPr>
        <p:sp>
          <p:nvSpPr>
            <p:cNvPr id="9" name="object 9"/>
            <p:cNvSpPr/>
            <p:nvPr/>
          </p:nvSpPr>
          <p:spPr>
            <a:xfrm>
              <a:off x="2819400" y="3962400"/>
              <a:ext cx="685800" cy="381000"/>
            </a:xfrm>
            <a:custGeom>
              <a:avLst/>
              <a:gdLst/>
              <a:ahLst/>
              <a:cxnLst/>
              <a:rect l="l" t="t" r="r" b="b"/>
              <a:pathLst>
                <a:path w="685800" h="381000">
                  <a:moveTo>
                    <a:pt x="341375" y="0"/>
                  </a:moveTo>
                  <a:lnTo>
                    <a:pt x="279897" y="3068"/>
                  </a:lnTo>
                  <a:lnTo>
                    <a:pt x="222081" y="11907"/>
                  </a:lnTo>
                  <a:lnTo>
                    <a:pt x="168881" y="25964"/>
                  </a:lnTo>
                  <a:lnTo>
                    <a:pt x="121251" y="44687"/>
                  </a:lnTo>
                  <a:lnTo>
                    <a:pt x="80142" y="67524"/>
                  </a:lnTo>
                  <a:lnTo>
                    <a:pt x="46510" y="93923"/>
                  </a:lnTo>
                  <a:lnTo>
                    <a:pt x="21306" y="123333"/>
                  </a:lnTo>
                  <a:lnTo>
                    <a:pt x="0" y="188975"/>
                  </a:lnTo>
                  <a:lnTo>
                    <a:pt x="5485" y="223657"/>
                  </a:lnTo>
                  <a:lnTo>
                    <a:pt x="46510" y="286173"/>
                  </a:lnTo>
                  <a:lnTo>
                    <a:pt x="80142" y="312953"/>
                  </a:lnTo>
                  <a:lnTo>
                    <a:pt x="121251" y="336045"/>
                  </a:lnTo>
                  <a:lnTo>
                    <a:pt x="168881" y="354922"/>
                  </a:lnTo>
                  <a:lnTo>
                    <a:pt x="222081" y="369058"/>
                  </a:lnTo>
                  <a:lnTo>
                    <a:pt x="279897" y="377926"/>
                  </a:lnTo>
                  <a:lnTo>
                    <a:pt x="341375" y="381000"/>
                  </a:lnTo>
                  <a:lnTo>
                    <a:pt x="403761" y="377926"/>
                  </a:lnTo>
                  <a:lnTo>
                    <a:pt x="462284" y="369058"/>
                  </a:lnTo>
                  <a:lnTo>
                    <a:pt x="516015" y="354922"/>
                  </a:lnTo>
                  <a:lnTo>
                    <a:pt x="564026" y="336045"/>
                  </a:lnTo>
                  <a:lnTo>
                    <a:pt x="605389" y="312953"/>
                  </a:lnTo>
                  <a:lnTo>
                    <a:pt x="639176" y="286173"/>
                  </a:lnTo>
                  <a:lnTo>
                    <a:pt x="664459" y="256232"/>
                  </a:lnTo>
                  <a:lnTo>
                    <a:pt x="685800" y="188975"/>
                  </a:lnTo>
                  <a:lnTo>
                    <a:pt x="680310" y="155201"/>
                  </a:lnTo>
                  <a:lnTo>
                    <a:pt x="639176" y="93923"/>
                  </a:lnTo>
                  <a:lnTo>
                    <a:pt x="605389" y="67524"/>
                  </a:lnTo>
                  <a:lnTo>
                    <a:pt x="564026" y="44687"/>
                  </a:lnTo>
                  <a:lnTo>
                    <a:pt x="516015" y="25964"/>
                  </a:lnTo>
                  <a:lnTo>
                    <a:pt x="462284" y="11907"/>
                  </a:lnTo>
                  <a:lnTo>
                    <a:pt x="403761" y="3068"/>
                  </a:lnTo>
                  <a:lnTo>
                    <a:pt x="341375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590800" y="3048000"/>
              <a:ext cx="466725" cy="917575"/>
            </a:xfrm>
            <a:custGeom>
              <a:avLst/>
              <a:gdLst/>
              <a:ahLst/>
              <a:cxnLst/>
              <a:rect l="l" t="t" r="r" b="b"/>
              <a:pathLst>
                <a:path w="466725" h="917575">
                  <a:moveTo>
                    <a:pt x="42672" y="64008"/>
                  </a:moveTo>
                  <a:lnTo>
                    <a:pt x="24401" y="73143"/>
                  </a:lnTo>
                  <a:lnTo>
                    <a:pt x="448056" y="917448"/>
                  </a:lnTo>
                  <a:lnTo>
                    <a:pt x="466344" y="911351"/>
                  </a:lnTo>
                  <a:lnTo>
                    <a:pt x="42672" y="64008"/>
                  </a:lnTo>
                  <a:close/>
                </a:path>
                <a:path w="466725" h="917575">
                  <a:moveTo>
                    <a:pt x="0" y="0"/>
                  </a:moveTo>
                  <a:lnTo>
                    <a:pt x="0" y="85344"/>
                  </a:lnTo>
                  <a:lnTo>
                    <a:pt x="24401" y="73143"/>
                  </a:lnTo>
                  <a:lnTo>
                    <a:pt x="18287" y="60960"/>
                  </a:lnTo>
                  <a:lnTo>
                    <a:pt x="36575" y="51815"/>
                  </a:lnTo>
                  <a:lnTo>
                    <a:pt x="67056" y="51815"/>
                  </a:lnTo>
                  <a:lnTo>
                    <a:pt x="0" y="0"/>
                  </a:lnTo>
                  <a:close/>
                </a:path>
                <a:path w="466725" h="917575">
                  <a:moveTo>
                    <a:pt x="36575" y="51815"/>
                  </a:moveTo>
                  <a:lnTo>
                    <a:pt x="18287" y="60960"/>
                  </a:lnTo>
                  <a:lnTo>
                    <a:pt x="24401" y="73143"/>
                  </a:lnTo>
                  <a:lnTo>
                    <a:pt x="42672" y="64008"/>
                  </a:lnTo>
                  <a:lnTo>
                    <a:pt x="36575" y="51815"/>
                  </a:lnTo>
                  <a:close/>
                </a:path>
                <a:path w="466725" h="917575">
                  <a:moveTo>
                    <a:pt x="67056" y="51815"/>
                  </a:moveTo>
                  <a:lnTo>
                    <a:pt x="36575" y="51815"/>
                  </a:lnTo>
                  <a:lnTo>
                    <a:pt x="42672" y="64008"/>
                  </a:lnTo>
                  <a:lnTo>
                    <a:pt x="67056" y="51815"/>
                  </a:lnTo>
                  <a:close/>
                </a:path>
              </a:pathLst>
            </a:custGeom>
            <a:solidFill>
              <a:srgbClr val="3A80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993139" y="724915"/>
            <a:ext cx="617601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45"/>
              <a:t>MIPS</a:t>
            </a:r>
            <a:r>
              <a:rPr dirty="0" spc="-105"/>
              <a:t> </a:t>
            </a:r>
            <a:r>
              <a:rPr dirty="0" spc="-375"/>
              <a:t>1</a:t>
            </a:r>
            <a:r>
              <a:rPr dirty="0" spc="-105"/>
              <a:t> </a:t>
            </a:r>
            <a:r>
              <a:rPr dirty="0" spc="-130"/>
              <a:t>Instruction</a:t>
            </a:r>
            <a:r>
              <a:rPr dirty="0" spc="-110"/>
              <a:t> </a:t>
            </a:r>
            <a:r>
              <a:rPr dirty="0" spc="-185"/>
              <a:t>Encoding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724915"/>
            <a:ext cx="549719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20"/>
              <a:t>Recall:</a:t>
            </a:r>
            <a:r>
              <a:rPr dirty="0" spc="-125"/>
              <a:t> </a:t>
            </a:r>
            <a:r>
              <a:rPr dirty="0" spc="-395"/>
              <a:t>C</a:t>
            </a:r>
            <a:r>
              <a:rPr dirty="0" spc="-120"/>
              <a:t> </a:t>
            </a:r>
            <a:r>
              <a:rPr dirty="0" spc="-300"/>
              <a:t>Program</a:t>
            </a:r>
            <a:r>
              <a:rPr dirty="0" spc="-120"/>
              <a:t> </a:t>
            </a:r>
            <a:r>
              <a:rPr dirty="0"/>
              <a:t>to</a:t>
            </a:r>
            <a:r>
              <a:rPr dirty="0" spc="-235"/>
              <a:t> </a:t>
            </a:r>
            <a:r>
              <a:rPr dirty="0" spc="-280"/>
              <a:t>a.out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993139" y="1569212"/>
            <a:ext cx="7894955" cy="258572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3000">
                <a:latin typeface="Arial MT"/>
                <a:cs typeface="Arial MT"/>
              </a:rPr>
              <a:t>%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gcc</a:t>
            </a:r>
            <a:r>
              <a:rPr dirty="0" sz="3000" spc="-1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program.c</a:t>
            </a:r>
            <a:endParaRPr sz="3000">
              <a:latin typeface="Arial MT"/>
              <a:cs typeface="Arial MT"/>
            </a:endParaRPr>
          </a:p>
          <a:p>
            <a:pPr marL="355600" marR="5080" indent="-343535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latin typeface="Arial MT"/>
                <a:cs typeface="Arial MT"/>
              </a:rPr>
              <a:t>program.c: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File</a:t>
            </a:r>
            <a:r>
              <a:rPr dirty="0" sz="3000" spc="-7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containing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program</a:t>
            </a:r>
            <a:r>
              <a:rPr dirty="0" sz="3000" spc="-8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written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 spc="-25">
                <a:latin typeface="Arial MT"/>
                <a:cs typeface="Arial MT"/>
              </a:rPr>
              <a:t>in </a:t>
            </a:r>
            <a:r>
              <a:rPr dirty="0" sz="3000" spc="-25">
                <a:latin typeface="Arial MT"/>
                <a:cs typeface="Arial MT"/>
              </a:rPr>
              <a:t>	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programming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language</a:t>
            </a:r>
            <a:endParaRPr sz="3000">
              <a:latin typeface="Arial MT"/>
              <a:cs typeface="Arial MT"/>
            </a:endParaRPr>
          </a:p>
          <a:p>
            <a:pPr marL="355600" marR="130175" indent="-343535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latin typeface="Arial MT"/>
                <a:cs typeface="Arial MT"/>
              </a:rPr>
              <a:t>a.out:</a:t>
            </a:r>
            <a:r>
              <a:rPr dirty="0" sz="3000" spc="71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File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containing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executable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equivalent </a:t>
            </a:r>
            <a:r>
              <a:rPr dirty="0" sz="3000" spc="-10">
                <a:latin typeface="Arial MT"/>
                <a:cs typeface="Arial MT"/>
              </a:rPr>
              <a:t>	</a:t>
            </a:r>
            <a:r>
              <a:rPr dirty="0" sz="3000">
                <a:latin typeface="Arial MT"/>
                <a:cs typeface="Arial MT"/>
              </a:rPr>
              <a:t>program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machine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language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496316"/>
            <a:ext cx="247078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30"/>
              <a:t>Steps</a:t>
            </a:r>
            <a:r>
              <a:rPr dirty="0" spc="-114"/>
              <a:t> </a:t>
            </a:r>
            <a:r>
              <a:rPr dirty="0" spc="-30"/>
              <a:t>in</a:t>
            </a:r>
            <a:r>
              <a:rPr dirty="0" spc="-240"/>
              <a:t> </a:t>
            </a:r>
            <a:r>
              <a:rPr dirty="0" spc="-425"/>
              <a:t>gcc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76855" y="2101405"/>
            <a:ext cx="1928495" cy="540385"/>
            <a:chOff x="2276855" y="2101405"/>
            <a:chExt cx="1928495" cy="540385"/>
          </a:xfrm>
        </p:grpSpPr>
        <p:sp>
          <p:nvSpPr>
            <p:cNvPr id="4" name="object 4"/>
            <p:cNvSpPr/>
            <p:nvPr/>
          </p:nvSpPr>
          <p:spPr>
            <a:xfrm>
              <a:off x="2276855" y="2325623"/>
              <a:ext cx="789940" cy="76200"/>
            </a:xfrm>
            <a:custGeom>
              <a:avLst/>
              <a:gdLst/>
              <a:ahLst/>
              <a:cxnLst/>
              <a:rect l="l" t="t" r="r" b="b"/>
              <a:pathLst>
                <a:path w="789939" h="76200">
                  <a:moveTo>
                    <a:pt x="713232" y="0"/>
                  </a:moveTo>
                  <a:lnTo>
                    <a:pt x="713232" y="76200"/>
                  </a:lnTo>
                  <a:lnTo>
                    <a:pt x="777708" y="42672"/>
                  </a:lnTo>
                  <a:lnTo>
                    <a:pt x="728471" y="42672"/>
                  </a:lnTo>
                  <a:lnTo>
                    <a:pt x="731519" y="39624"/>
                  </a:lnTo>
                  <a:lnTo>
                    <a:pt x="731519" y="36575"/>
                  </a:lnTo>
                  <a:lnTo>
                    <a:pt x="728471" y="33527"/>
                  </a:lnTo>
                  <a:lnTo>
                    <a:pt x="783081" y="33527"/>
                  </a:lnTo>
                  <a:lnTo>
                    <a:pt x="713232" y="0"/>
                  </a:lnTo>
                  <a:close/>
                </a:path>
                <a:path w="789939" h="76200">
                  <a:moveTo>
                    <a:pt x="713232" y="33527"/>
                  </a:moveTo>
                  <a:lnTo>
                    <a:pt x="3048" y="33527"/>
                  </a:lnTo>
                  <a:lnTo>
                    <a:pt x="0" y="36575"/>
                  </a:lnTo>
                  <a:lnTo>
                    <a:pt x="0" y="39624"/>
                  </a:lnTo>
                  <a:lnTo>
                    <a:pt x="3048" y="42672"/>
                  </a:lnTo>
                  <a:lnTo>
                    <a:pt x="713232" y="42672"/>
                  </a:lnTo>
                  <a:lnTo>
                    <a:pt x="713232" y="33527"/>
                  </a:lnTo>
                  <a:close/>
                </a:path>
                <a:path w="789939" h="76200">
                  <a:moveTo>
                    <a:pt x="783081" y="33527"/>
                  </a:moveTo>
                  <a:lnTo>
                    <a:pt x="728471" y="33527"/>
                  </a:lnTo>
                  <a:lnTo>
                    <a:pt x="731519" y="36575"/>
                  </a:lnTo>
                  <a:lnTo>
                    <a:pt x="731519" y="39624"/>
                  </a:lnTo>
                  <a:lnTo>
                    <a:pt x="728471" y="42672"/>
                  </a:lnTo>
                  <a:lnTo>
                    <a:pt x="777708" y="42672"/>
                  </a:lnTo>
                  <a:lnTo>
                    <a:pt x="789432" y="36575"/>
                  </a:lnTo>
                  <a:lnTo>
                    <a:pt x="783081" y="335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066287" y="2106167"/>
              <a:ext cx="1134110" cy="530860"/>
            </a:xfrm>
            <a:custGeom>
              <a:avLst/>
              <a:gdLst/>
              <a:ahLst/>
              <a:cxnLst/>
              <a:rect l="l" t="t" r="r" b="b"/>
              <a:pathLst>
                <a:path w="1134110" h="530860">
                  <a:moveTo>
                    <a:pt x="1133856" y="0"/>
                  </a:moveTo>
                  <a:lnTo>
                    <a:pt x="0" y="0"/>
                  </a:lnTo>
                  <a:lnTo>
                    <a:pt x="0" y="530351"/>
                  </a:lnTo>
                  <a:lnTo>
                    <a:pt x="1133856" y="530351"/>
                  </a:lnTo>
                  <a:lnTo>
                    <a:pt x="1133856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066287" y="2106167"/>
              <a:ext cx="1134110" cy="530860"/>
            </a:xfrm>
            <a:custGeom>
              <a:avLst/>
              <a:gdLst/>
              <a:ahLst/>
              <a:cxnLst/>
              <a:rect l="l" t="t" r="r" b="b"/>
              <a:pathLst>
                <a:path w="1134110" h="530860">
                  <a:moveTo>
                    <a:pt x="0" y="0"/>
                  </a:moveTo>
                  <a:lnTo>
                    <a:pt x="0" y="530352"/>
                  </a:lnTo>
                  <a:lnTo>
                    <a:pt x="1133856" y="530352"/>
                  </a:lnTo>
                  <a:lnTo>
                    <a:pt x="1133856" y="0"/>
                  </a:lnTo>
                  <a:lnTo>
                    <a:pt x="0" y="0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3349244" y="2166620"/>
            <a:ext cx="5683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Arial"/>
                <a:cs typeface="Arial"/>
              </a:rPr>
              <a:t>cpp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00144" y="2101405"/>
            <a:ext cx="2590800" cy="3022600"/>
            <a:chOff x="4200144" y="2101405"/>
            <a:chExt cx="2590800" cy="3022600"/>
          </a:xfrm>
        </p:grpSpPr>
        <p:sp>
          <p:nvSpPr>
            <p:cNvPr id="9" name="object 9"/>
            <p:cNvSpPr/>
            <p:nvPr/>
          </p:nvSpPr>
          <p:spPr>
            <a:xfrm>
              <a:off x="4200144" y="2325623"/>
              <a:ext cx="2590800" cy="2798445"/>
            </a:xfrm>
            <a:custGeom>
              <a:avLst/>
              <a:gdLst/>
              <a:ahLst/>
              <a:cxnLst/>
              <a:rect l="l" t="t" r="r" b="b"/>
              <a:pathLst>
                <a:path w="2590800" h="2798445">
                  <a:moveTo>
                    <a:pt x="786384" y="36576"/>
                  </a:moveTo>
                  <a:lnTo>
                    <a:pt x="780034" y="33528"/>
                  </a:lnTo>
                  <a:lnTo>
                    <a:pt x="710184" y="0"/>
                  </a:lnTo>
                  <a:lnTo>
                    <a:pt x="710184" y="33528"/>
                  </a:lnTo>
                  <a:lnTo>
                    <a:pt x="0" y="33528"/>
                  </a:lnTo>
                  <a:lnTo>
                    <a:pt x="0" y="42672"/>
                  </a:lnTo>
                  <a:lnTo>
                    <a:pt x="710184" y="42672"/>
                  </a:lnTo>
                  <a:lnTo>
                    <a:pt x="710184" y="76200"/>
                  </a:lnTo>
                  <a:lnTo>
                    <a:pt x="774649" y="42672"/>
                  </a:lnTo>
                  <a:lnTo>
                    <a:pt x="786384" y="36576"/>
                  </a:lnTo>
                  <a:close/>
                </a:path>
                <a:path w="2590800" h="2798445">
                  <a:moveTo>
                    <a:pt x="2590800" y="2755392"/>
                  </a:moveTo>
                  <a:lnTo>
                    <a:pt x="1996440" y="2755392"/>
                  </a:lnTo>
                  <a:lnTo>
                    <a:pt x="1996440" y="2721864"/>
                  </a:lnTo>
                  <a:lnTo>
                    <a:pt x="1920240" y="2758440"/>
                  </a:lnTo>
                  <a:lnTo>
                    <a:pt x="1996440" y="2798064"/>
                  </a:lnTo>
                  <a:lnTo>
                    <a:pt x="1996440" y="2764536"/>
                  </a:lnTo>
                  <a:lnTo>
                    <a:pt x="2587752" y="2764536"/>
                  </a:lnTo>
                  <a:lnTo>
                    <a:pt x="2590800" y="2761488"/>
                  </a:lnTo>
                  <a:lnTo>
                    <a:pt x="2590800" y="27553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986527" y="2106167"/>
              <a:ext cx="1134110" cy="530860"/>
            </a:xfrm>
            <a:custGeom>
              <a:avLst/>
              <a:gdLst/>
              <a:ahLst/>
              <a:cxnLst/>
              <a:rect l="l" t="t" r="r" b="b"/>
              <a:pathLst>
                <a:path w="1134110" h="530860">
                  <a:moveTo>
                    <a:pt x="1133855" y="0"/>
                  </a:moveTo>
                  <a:lnTo>
                    <a:pt x="0" y="0"/>
                  </a:lnTo>
                  <a:lnTo>
                    <a:pt x="0" y="530351"/>
                  </a:lnTo>
                  <a:lnTo>
                    <a:pt x="1133855" y="530351"/>
                  </a:lnTo>
                  <a:lnTo>
                    <a:pt x="1133855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986527" y="2106167"/>
              <a:ext cx="1134110" cy="530860"/>
            </a:xfrm>
            <a:custGeom>
              <a:avLst/>
              <a:gdLst/>
              <a:ahLst/>
              <a:cxnLst/>
              <a:rect l="l" t="t" r="r" b="b"/>
              <a:pathLst>
                <a:path w="1134110" h="530860">
                  <a:moveTo>
                    <a:pt x="0" y="0"/>
                  </a:moveTo>
                  <a:lnTo>
                    <a:pt x="0" y="530352"/>
                  </a:lnTo>
                  <a:lnTo>
                    <a:pt x="1133856" y="530352"/>
                  </a:lnTo>
                  <a:lnTo>
                    <a:pt x="1133856" y="0"/>
                  </a:lnTo>
                  <a:lnTo>
                    <a:pt x="0" y="0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19403" y="2114803"/>
            <a:ext cx="13995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3A802E"/>
                </a:solidFill>
                <a:latin typeface="Arial MT"/>
                <a:cs typeface="Arial MT"/>
              </a:rPr>
              <a:t>program.c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87771" y="2166620"/>
            <a:ext cx="535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Arial"/>
                <a:cs typeface="Arial"/>
              </a:rPr>
              <a:t>cc1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064573" y="3777805"/>
            <a:ext cx="1143635" cy="540385"/>
            <a:chOff x="3064573" y="3777805"/>
            <a:chExt cx="1143635" cy="540385"/>
          </a:xfrm>
        </p:grpSpPr>
        <p:sp>
          <p:nvSpPr>
            <p:cNvPr id="15" name="object 15"/>
            <p:cNvSpPr/>
            <p:nvPr/>
          </p:nvSpPr>
          <p:spPr>
            <a:xfrm>
              <a:off x="3069335" y="3782567"/>
              <a:ext cx="1134110" cy="530860"/>
            </a:xfrm>
            <a:custGeom>
              <a:avLst/>
              <a:gdLst/>
              <a:ahLst/>
              <a:cxnLst/>
              <a:rect l="l" t="t" r="r" b="b"/>
              <a:pathLst>
                <a:path w="1134110" h="530860">
                  <a:moveTo>
                    <a:pt x="1133856" y="0"/>
                  </a:moveTo>
                  <a:lnTo>
                    <a:pt x="0" y="0"/>
                  </a:lnTo>
                  <a:lnTo>
                    <a:pt x="0" y="530351"/>
                  </a:lnTo>
                  <a:lnTo>
                    <a:pt x="1133856" y="530351"/>
                  </a:lnTo>
                  <a:lnTo>
                    <a:pt x="1133856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069335" y="3782567"/>
              <a:ext cx="1134110" cy="530860"/>
            </a:xfrm>
            <a:custGeom>
              <a:avLst/>
              <a:gdLst/>
              <a:ahLst/>
              <a:cxnLst/>
              <a:rect l="l" t="t" r="r" b="b"/>
              <a:pathLst>
                <a:path w="1134110" h="530860">
                  <a:moveTo>
                    <a:pt x="0" y="0"/>
                  </a:moveTo>
                  <a:lnTo>
                    <a:pt x="0" y="530352"/>
                  </a:lnTo>
                  <a:lnTo>
                    <a:pt x="1133855" y="530352"/>
                  </a:lnTo>
                  <a:lnTo>
                    <a:pt x="1133855" y="0"/>
                  </a:lnTo>
                  <a:lnTo>
                    <a:pt x="0" y="0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455923" y="3843020"/>
            <a:ext cx="3657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Arial"/>
                <a:cs typeface="Arial"/>
              </a:rPr>
              <a:t>as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837688" y="2368295"/>
            <a:ext cx="3517900" cy="2998470"/>
            <a:chOff x="2837688" y="2368295"/>
            <a:chExt cx="3517900" cy="2998470"/>
          </a:xfrm>
        </p:grpSpPr>
        <p:sp>
          <p:nvSpPr>
            <p:cNvPr id="19" name="object 19"/>
            <p:cNvSpPr/>
            <p:nvPr/>
          </p:nvSpPr>
          <p:spPr>
            <a:xfrm>
              <a:off x="2837688" y="2368295"/>
              <a:ext cx="3517900" cy="1719580"/>
            </a:xfrm>
            <a:custGeom>
              <a:avLst/>
              <a:gdLst/>
              <a:ahLst/>
              <a:cxnLst/>
              <a:rect l="l" t="t" r="r" b="b"/>
              <a:pathLst>
                <a:path w="3517900" h="1719579">
                  <a:moveTo>
                    <a:pt x="155448" y="1642871"/>
                  </a:moveTo>
                  <a:lnTo>
                    <a:pt x="155448" y="1719071"/>
                  </a:lnTo>
                  <a:lnTo>
                    <a:pt x="219924" y="1685543"/>
                  </a:lnTo>
                  <a:lnTo>
                    <a:pt x="170687" y="1685543"/>
                  </a:lnTo>
                  <a:lnTo>
                    <a:pt x="173736" y="1682495"/>
                  </a:lnTo>
                  <a:lnTo>
                    <a:pt x="173736" y="1676400"/>
                  </a:lnTo>
                  <a:lnTo>
                    <a:pt x="225298" y="1676400"/>
                  </a:lnTo>
                  <a:lnTo>
                    <a:pt x="155448" y="1642871"/>
                  </a:lnTo>
                  <a:close/>
                </a:path>
                <a:path w="3517900" h="1719579">
                  <a:moveTo>
                    <a:pt x="3508248" y="835151"/>
                  </a:moveTo>
                  <a:lnTo>
                    <a:pt x="0" y="835151"/>
                  </a:lnTo>
                  <a:lnTo>
                    <a:pt x="0" y="1685543"/>
                  </a:lnTo>
                  <a:lnTo>
                    <a:pt x="155448" y="1685543"/>
                  </a:lnTo>
                  <a:lnTo>
                    <a:pt x="155448" y="1679448"/>
                  </a:lnTo>
                  <a:lnTo>
                    <a:pt x="9143" y="1679448"/>
                  </a:lnTo>
                  <a:lnTo>
                    <a:pt x="3048" y="1676400"/>
                  </a:lnTo>
                  <a:lnTo>
                    <a:pt x="9143" y="1676400"/>
                  </a:lnTo>
                  <a:lnTo>
                    <a:pt x="9143" y="844295"/>
                  </a:lnTo>
                  <a:lnTo>
                    <a:pt x="3048" y="844295"/>
                  </a:lnTo>
                  <a:lnTo>
                    <a:pt x="9143" y="841248"/>
                  </a:lnTo>
                  <a:lnTo>
                    <a:pt x="3508248" y="841248"/>
                  </a:lnTo>
                  <a:lnTo>
                    <a:pt x="3508248" y="835151"/>
                  </a:lnTo>
                  <a:close/>
                </a:path>
                <a:path w="3517900" h="1719579">
                  <a:moveTo>
                    <a:pt x="225298" y="1676400"/>
                  </a:moveTo>
                  <a:lnTo>
                    <a:pt x="173736" y="1676400"/>
                  </a:lnTo>
                  <a:lnTo>
                    <a:pt x="173736" y="1682495"/>
                  </a:lnTo>
                  <a:lnTo>
                    <a:pt x="170687" y="1685543"/>
                  </a:lnTo>
                  <a:lnTo>
                    <a:pt x="219924" y="1685543"/>
                  </a:lnTo>
                  <a:lnTo>
                    <a:pt x="231648" y="1679448"/>
                  </a:lnTo>
                  <a:lnTo>
                    <a:pt x="225298" y="1676400"/>
                  </a:lnTo>
                  <a:close/>
                </a:path>
                <a:path w="3517900" h="1719579">
                  <a:moveTo>
                    <a:pt x="9143" y="1676400"/>
                  </a:moveTo>
                  <a:lnTo>
                    <a:pt x="3048" y="1676400"/>
                  </a:lnTo>
                  <a:lnTo>
                    <a:pt x="9143" y="1679448"/>
                  </a:lnTo>
                  <a:lnTo>
                    <a:pt x="9143" y="1676400"/>
                  </a:lnTo>
                  <a:close/>
                </a:path>
                <a:path w="3517900" h="1719579">
                  <a:moveTo>
                    <a:pt x="155448" y="1676400"/>
                  </a:moveTo>
                  <a:lnTo>
                    <a:pt x="9143" y="1676400"/>
                  </a:lnTo>
                  <a:lnTo>
                    <a:pt x="9143" y="1679448"/>
                  </a:lnTo>
                  <a:lnTo>
                    <a:pt x="155448" y="1679448"/>
                  </a:lnTo>
                  <a:lnTo>
                    <a:pt x="155448" y="1676400"/>
                  </a:lnTo>
                  <a:close/>
                </a:path>
                <a:path w="3517900" h="1719579">
                  <a:moveTo>
                    <a:pt x="9143" y="841248"/>
                  </a:moveTo>
                  <a:lnTo>
                    <a:pt x="3048" y="844295"/>
                  </a:lnTo>
                  <a:lnTo>
                    <a:pt x="9143" y="844295"/>
                  </a:lnTo>
                  <a:lnTo>
                    <a:pt x="9143" y="841248"/>
                  </a:lnTo>
                  <a:close/>
                </a:path>
                <a:path w="3517900" h="1719579">
                  <a:moveTo>
                    <a:pt x="3517391" y="835151"/>
                  </a:moveTo>
                  <a:lnTo>
                    <a:pt x="3511296" y="835151"/>
                  </a:lnTo>
                  <a:lnTo>
                    <a:pt x="3508248" y="841248"/>
                  </a:lnTo>
                  <a:lnTo>
                    <a:pt x="9143" y="841248"/>
                  </a:lnTo>
                  <a:lnTo>
                    <a:pt x="9143" y="844295"/>
                  </a:lnTo>
                  <a:lnTo>
                    <a:pt x="3514344" y="844295"/>
                  </a:lnTo>
                  <a:lnTo>
                    <a:pt x="3517391" y="841248"/>
                  </a:lnTo>
                  <a:lnTo>
                    <a:pt x="3517391" y="835151"/>
                  </a:lnTo>
                  <a:close/>
                </a:path>
                <a:path w="3517900" h="1719579">
                  <a:moveTo>
                    <a:pt x="3508248" y="3048"/>
                  </a:moveTo>
                  <a:lnTo>
                    <a:pt x="3508248" y="841248"/>
                  </a:lnTo>
                  <a:lnTo>
                    <a:pt x="3511296" y="835151"/>
                  </a:lnTo>
                  <a:lnTo>
                    <a:pt x="3517391" y="835151"/>
                  </a:lnTo>
                  <a:lnTo>
                    <a:pt x="3517391" y="9143"/>
                  </a:lnTo>
                  <a:lnTo>
                    <a:pt x="3511296" y="9143"/>
                  </a:lnTo>
                  <a:lnTo>
                    <a:pt x="3508248" y="3048"/>
                  </a:lnTo>
                  <a:close/>
                </a:path>
                <a:path w="3517900" h="1719579">
                  <a:moveTo>
                    <a:pt x="3517391" y="0"/>
                  </a:moveTo>
                  <a:lnTo>
                    <a:pt x="3279648" y="0"/>
                  </a:lnTo>
                  <a:lnTo>
                    <a:pt x="3279648" y="9143"/>
                  </a:lnTo>
                  <a:lnTo>
                    <a:pt x="3508248" y="9143"/>
                  </a:lnTo>
                  <a:lnTo>
                    <a:pt x="3508248" y="3048"/>
                  </a:lnTo>
                  <a:lnTo>
                    <a:pt x="3517391" y="3048"/>
                  </a:lnTo>
                  <a:lnTo>
                    <a:pt x="3517391" y="0"/>
                  </a:lnTo>
                  <a:close/>
                </a:path>
                <a:path w="3517900" h="1719579">
                  <a:moveTo>
                    <a:pt x="3517391" y="3048"/>
                  </a:moveTo>
                  <a:lnTo>
                    <a:pt x="3508248" y="3048"/>
                  </a:lnTo>
                  <a:lnTo>
                    <a:pt x="3511296" y="9143"/>
                  </a:lnTo>
                  <a:lnTo>
                    <a:pt x="3517391" y="9143"/>
                  </a:lnTo>
                  <a:lnTo>
                    <a:pt x="3517391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986527" y="4828031"/>
              <a:ext cx="1134110" cy="533400"/>
            </a:xfrm>
            <a:custGeom>
              <a:avLst/>
              <a:gdLst/>
              <a:ahLst/>
              <a:cxnLst/>
              <a:rect l="l" t="t" r="r" b="b"/>
              <a:pathLst>
                <a:path w="1134110" h="533400">
                  <a:moveTo>
                    <a:pt x="1133855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133855" y="533400"/>
                  </a:lnTo>
                  <a:lnTo>
                    <a:pt x="1133855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986527" y="4828031"/>
              <a:ext cx="1134110" cy="533400"/>
            </a:xfrm>
            <a:custGeom>
              <a:avLst/>
              <a:gdLst/>
              <a:ahLst/>
              <a:cxnLst/>
              <a:rect l="l" t="t" r="r" b="b"/>
              <a:pathLst>
                <a:path w="1134110" h="533400">
                  <a:moveTo>
                    <a:pt x="0" y="0"/>
                  </a:moveTo>
                  <a:lnTo>
                    <a:pt x="0" y="533400"/>
                  </a:lnTo>
                  <a:lnTo>
                    <a:pt x="1133856" y="533400"/>
                  </a:lnTo>
                  <a:lnTo>
                    <a:pt x="1133856" y="0"/>
                  </a:lnTo>
                  <a:lnTo>
                    <a:pt x="0" y="0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406644" y="4888483"/>
            <a:ext cx="2971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Arial"/>
                <a:cs typeface="Arial"/>
              </a:rPr>
              <a:t>ld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89268" y="2044700"/>
            <a:ext cx="90931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3A802E"/>
                </a:solidFill>
                <a:latin typeface="Arial MT"/>
                <a:cs typeface="Arial MT"/>
              </a:rPr>
              <a:t>hello.s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61635" y="3614420"/>
            <a:ext cx="14166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program.o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200144" y="4044695"/>
            <a:ext cx="1396365" cy="1706880"/>
          </a:xfrm>
          <a:custGeom>
            <a:avLst/>
            <a:gdLst/>
            <a:ahLst/>
            <a:cxnLst/>
            <a:rect l="l" t="t" r="r" b="b"/>
            <a:pathLst>
              <a:path w="1396364" h="1706879">
                <a:moveTo>
                  <a:pt x="1392936" y="707136"/>
                </a:moveTo>
                <a:lnTo>
                  <a:pt x="1359408" y="707136"/>
                </a:lnTo>
                <a:lnTo>
                  <a:pt x="1359408" y="9144"/>
                </a:lnTo>
                <a:lnTo>
                  <a:pt x="1359408" y="3048"/>
                </a:lnTo>
                <a:lnTo>
                  <a:pt x="1359408" y="0"/>
                </a:lnTo>
                <a:lnTo>
                  <a:pt x="0" y="0"/>
                </a:lnTo>
                <a:lnTo>
                  <a:pt x="0" y="9144"/>
                </a:lnTo>
                <a:lnTo>
                  <a:pt x="1350264" y="9144"/>
                </a:lnTo>
                <a:lnTo>
                  <a:pt x="1350264" y="707136"/>
                </a:lnTo>
                <a:lnTo>
                  <a:pt x="1316736" y="707136"/>
                </a:lnTo>
                <a:lnTo>
                  <a:pt x="1353312" y="783336"/>
                </a:lnTo>
                <a:lnTo>
                  <a:pt x="1383423" y="725424"/>
                </a:lnTo>
                <a:lnTo>
                  <a:pt x="1392936" y="707136"/>
                </a:lnTo>
                <a:close/>
              </a:path>
              <a:path w="1396364" h="1706879">
                <a:moveTo>
                  <a:pt x="1395984" y="1630680"/>
                </a:moveTo>
                <a:lnTo>
                  <a:pt x="1362456" y="1630680"/>
                </a:lnTo>
                <a:lnTo>
                  <a:pt x="1362456" y="1310640"/>
                </a:lnTo>
                <a:lnTo>
                  <a:pt x="1356360" y="1310640"/>
                </a:lnTo>
                <a:lnTo>
                  <a:pt x="1353312" y="1313688"/>
                </a:lnTo>
                <a:lnTo>
                  <a:pt x="1353312" y="1630680"/>
                </a:lnTo>
                <a:lnTo>
                  <a:pt x="1319784" y="1630680"/>
                </a:lnTo>
                <a:lnTo>
                  <a:pt x="1359408" y="1706880"/>
                </a:lnTo>
                <a:lnTo>
                  <a:pt x="1387195" y="1648968"/>
                </a:lnTo>
                <a:lnTo>
                  <a:pt x="1395984" y="16306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199379" y="5775452"/>
            <a:ext cx="7042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a.out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10019" y="4851907"/>
            <a:ext cx="293687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576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Library</a:t>
            </a:r>
            <a:r>
              <a:rPr dirty="0" sz="2400" spc="-10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FF0000"/>
                </a:solidFill>
                <a:latin typeface="Arial MT"/>
                <a:cs typeface="Arial MT"/>
              </a:rPr>
              <a:t>files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Arial MT"/>
                <a:cs typeface="Arial MT"/>
              </a:rPr>
              <a:t>e.g.,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math.o,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math </a:t>
            </a:r>
            <a:r>
              <a:rPr dirty="0" sz="1800" spc="-10">
                <a:latin typeface="Arial MT"/>
                <a:cs typeface="Arial MT"/>
              </a:rPr>
              <a:t>library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57547" y="895604"/>
            <a:ext cx="470535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These</a:t>
            </a:r>
            <a:r>
              <a:rPr dirty="0" sz="2400" spc="-5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are</a:t>
            </a:r>
            <a:r>
              <a:rPr dirty="0" sz="2400" spc="-3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text</a:t>
            </a:r>
            <a:r>
              <a:rPr dirty="0" sz="2400" spc="-4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files</a:t>
            </a:r>
            <a:r>
              <a:rPr dirty="0" sz="2400" spc="-2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–</a:t>
            </a:r>
            <a:r>
              <a:rPr dirty="0" sz="2400" spc="-2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you</a:t>
            </a:r>
            <a:r>
              <a:rPr dirty="0" sz="2400" spc="-3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can</a:t>
            </a:r>
            <a:r>
              <a:rPr dirty="0" sz="2400" spc="-4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3A802E"/>
                </a:solidFill>
                <a:latin typeface="Arial MT"/>
                <a:cs typeface="Arial MT"/>
              </a:rPr>
              <a:t>read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or</a:t>
            </a:r>
            <a:r>
              <a:rPr dirty="0" sz="2400" spc="-5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write</a:t>
            </a:r>
            <a:r>
              <a:rPr dirty="0" sz="2400" spc="-4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them</a:t>
            </a:r>
            <a:r>
              <a:rPr dirty="0" sz="2400" spc="-3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with</a:t>
            </a:r>
            <a:r>
              <a:rPr dirty="0" sz="2400" spc="-4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a</a:t>
            </a:r>
            <a:r>
              <a:rPr dirty="0" sz="2400" spc="-6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3A802E"/>
                </a:solidFill>
                <a:latin typeface="Arial MT"/>
                <a:cs typeface="Arial MT"/>
              </a:rPr>
              <a:t>text</a:t>
            </a:r>
            <a:r>
              <a:rPr dirty="0" sz="2400" spc="-40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3A802E"/>
                </a:solidFill>
                <a:latin typeface="Arial MT"/>
                <a:cs typeface="Arial MT"/>
              </a:rPr>
              <a:t>editor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276856" y="1432559"/>
            <a:ext cx="4520565" cy="688975"/>
          </a:xfrm>
          <a:custGeom>
            <a:avLst/>
            <a:gdLst/>
            <a:ahLst/>
            <a:cxnLst/>
            <a:rect l="l" t="t" r="r" b="b"/>
            <a:pathLst>
              <a:path w="4520565" h="688975">
                <a:moveTo>
                  <a:pt x="1901952" y="15240"/>
                </a:moveTo>
                <a:lnTo>
                  <a:pt x="1773936" y="0"/>
                </a:lnTo>
                <a:lnTo>
                  <a:pt x="1786445" y="33693"/>
                </a:lnTo>
                <a:lnTo>
                  <a:pt x="0" y="655320"/>
                </a:lnTo>
                <a:lnTo>
                  <a:pt x="12192" y="688848"/>
                </a:lnTo>
                <a:lnTo>
                  <a:pt x="1799856" y="69811"/>
                </a:lnTo>
                <a:lnTo>
                  <a:pt x="1813560" y="106680"/>
                </a:lnTo>
                <a:lnTo>
                  <a:pt x="1890166" y="27432"/>
                </a:lnTo>
                <a:lnTo>
                  <a:pt x="1901952" y="15240"/>
                </a:lnTo>
                <a:close/>
              </a:path>
              <a:path w="4520565" h="688975">
                <a:moveTo>
                  <a:pt x="4520184" y="649224"/>
                </a:moveTo>
                <a:lnTo>
                  <a:pt x="4048595" y="263131"/>
                </a:lnTo>
                <a:lnTo>
                  <a:pt x="4059504" y="249936"/>
                </a:lnTo>
                <a:lnTo>
                  <a:pt x="4072128" y="234696"/>
                </a:lnTo>
                <a:lnTo>
                  <a:pt x="3947160" y="204216"/>
                </a:lnTo>
                <a:lnTo>
                  <a:pt x="3998976" y="323088"/>
                </a:lnTo>
                <a:lnTo>
                  <a:pt x="4023715" y="293192"/>
                </a:lnTo>
                <a:lnTo>
                  <a:pt x="4495800" y="679704"/>
                </a:lnTo>
                <a:lnTo>
                  <a:pt x="4520184" y="649224"/>
                </a:lnTo>
                <a:close/>
              </a:path>
            </a:pathLst>
          </a:custGeom>
          <a:solidFill>
            <a:srgbClr val="3A80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993139" y="5580379"/>
            <a:ext cx="3194050" cy="11201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600"/>
              </a:lnSpc>
              <a:spcBef>
                <a:spcPts val="110"/>
              </a:spcBef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These</a:t>
            </a:r>
            <a:r>
              <a:rPr dirty="0" sz="2400" spc="-7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dirty="0" sz="24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object</a:t>
            </a:r>
            <a:r>
              <a:rPr dirty="0" sz="2400" spc="-6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FF0000"/>
                </a:solidFill>
                <a:latin typeface="Arial MT"/>
                <a:cs typeface="Arial MT"/>
              </a:rPr>
              <a:t>files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(binary)</a:t>
            </a:r>
            <a:r>
              <a:rPr dirty="0" sz="24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dirty="0" sz="24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you</a:t>
            </a:r>
            <a:r>
              <a:rPr dirty="0" sz="240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can</a:t>
            </a:r>
            <a:r>
              <a:rPr dirty="0" sz="240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FF0000"/>
                </a:solidFill>
                <a:latin typeface="Arial MT"/>
                <a:cs typeface="Arial MT"/>
              </a:rPr>
              <a:t>write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programs</a:t>
            </a:r>
            <a:r>
              <a:rPr dirty="0" sz="2400" spc="-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dirty="0" sz="2400" spc="-6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read</a:t>
            </a:r>
            <a:r>
              <a:rPr dirty="0" sz="2400" spc="-6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FF0000"/>
                </a:solidFill>
                <a:latin typeface="Arial MT"/>
                <a:cs typeface="Arial MT"/>
              </a:rPr>
              <a:t>them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178808" y="5946647"/>
            <a:ext cx="810895" cy="113030"/>
          </a:xfrm>
          <a:custGeom>
            <a:avLst/>
            <a:gdLst/>
            <a:ahLst/>
            <a:cxnLst/>
            <a:rect l="l" t="t" r="r" b="b"/>
            <a:pathLst>
              <a:path w="810895" h="113029">
                <a:moveTo>
                  <a:pt x="112775" y="0"/>
                </a:moveTo>
                <a:lnTo>
                  <a:pt x="0" y="60959"/>
                </a:lnTo>
                <a:lnTo>
                  <a:pt x="115824" y="112775"/>
                </a:lnTo>
                <a:lnTo>
                  <a:pt x="114835" y="76200"/>
                </a:lnTo>
                <a:lnTo>
                  <a:pt x="94487" y="76200"/>
                </a:lnTo>
                <a:lnTo>
                  <a:pt x="94487" y="39624"/>
                </a:lnTo>
                <a:lnTo>
                  <a:pt x="113829" y="38962"/>
                </a:lnTo>
                <a:lnTo>
                  <a:pt x="112775" y="0"/>
                </a:lnTo>
                <a:close/>
              </a:path>
              <a:path w="810895" h="113029">
                <a:moveTo>
                  <a:pt x="113829" y="38962"/>
                </a:moveTo>
                <a:lnTo>
                  <a:pt x="94487" y="39624"/>
                </a:lnTo>
                <a:lnTo>
                  <a:pt x="94487" y="76200"/>
                </a:lnTo>
                <a:lnTo>
                  <a:pt x="114819" y="75594"/>
                </a:lnTo>
                <a:lnTo>
                  <a:pt x="113846" y="39624"/>
                </a:lnTo>
                <a:lnTo>
                  <a:pt x="113829" y="38962"/>
                </a:lnTo>
                <a:close/>
              </a:path>
              <a:path w="810895" h="113029">
                <a:moveTo>
                  <a:pt x="114819" y="75594"/>
                </a:moveTo>
                <a:lnTo>
                  <a:pt x="94487" y="76200"/>
                </a:lnTo>
                <a:lnTo>
                  <a:pt x="114835" y="76200"/>
                </a:lnTo>
                <a:lnTo>
                  <a:pt x="114819" y="75594"/>
                </a:lnTo>
                <a:close/>
              </a:path>
              <a:path w="810895" h="113029">
                <a:moveTo>
                  <a:pt x="807719" y="15239"/>
                </a:moveTo>
                <a:lnTo>
                  <a:pt x="113829" y="38962"/>
                </a:lnTo>
                <a:lnTo>
                  <a:pt x="114819" y="75594"/>
                </a:lnTo>
                <a:lnTo>
                  <a:pt x="810767" y="54863"/>
                </a:lnTo>
                <a:lnTo>
                  <a:pt x="807719" y="152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886200" y="4035551"/>
            <a:ext cx="2905125" cy="1743710"/>
          </a:xfrm>
          <a:custGeom>
            <a:avLst/>
            <a:gdLst/>
            <a:ahLst/>
            <a:cxnLst/>
            <a:rect l="l" t="t" r="r" b="b"/>
            <a:pathLst>
              <a:path w="2905125" h="1743710">
                <a:moveTo>
                  <a:pt x="1115568" y="24384"/>
                </a:moveTo>
                <a:lnTo>
                  <a:pt x="1085088" y="0"/>
                </a:lnTo>
                <a:lnTo>
                  <a:pt x="50634" y="1417472"/>
                </a:lnTo>
                <a:lnTo>
                  <a:pt x="21336" y="1395984"/>
                </a:lnTo>
                <a:lnTo>
                  <a:pt x="0" y="1520952"/>
                </a:lnTo>
                <a:lnTo>
                  <a:pt x="112776" y="1463040"/>
                </a:lnTo>
                <a:lnTo>
                  <a:pt x="100304" y="1453896"/>
                </a:lnTo>
                <a:lnTo>
                  <a:pt x="80645" y="1439481"/>
                </a:lnTo>
                <a:lnTo>
                  <a:pt x="1115568" y="24384"/>
                </a:lnTo>
                <a:close/>
              </a:path>
              <a:path w="2905125" h="1743710">
                <a:moveTo>
                  <a:pt x="2904744" y="1066800"/>
                </a:moveTo>
                <a:lnTo>
                  <a:pt x="2892552" y="1030224"/>
                </a:lnTo>
                <a:lnTo>
                  <a:pt x="397484" y="1669135"/>
                </a:lnTo>
                <a:lnTo>
                  <a:pt x="387096" y="1630680"/>
                </a:lnTo>
                <a:lnTo>
                  <a:pt x="292608" y="1716024"/>
                </a:lnTo>
                <a:lnTo>
                  <a:pt x="417576" y="1743456"/>
                </a:lnTo>
                <a:lnTo>
                  <a:pt x="408508" y="1709928"/>
                </a:lnTo>
                <a:lnTo>
                  <a:pt x="407314" y="1705533"/>
                </a:lnTo>
                <a:lnTo>
                  <a:pt x="2904744" y="10668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2026-08-13T03:53:17Z</dcterms:created>
  <dcterms:modified xsi:type="dcterms:W3CDTF">2026-08-13T03:53:17Z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2011-08-29T00:00:00Z</vt:filetime>
  </property>
  <property fmtid="{D5CDD505-2E9C-101B-9397-08002B2CF9AE}" pid="4" name="Producer">
    <vt:lpwstr>doPDF Ver 7.2 Build 370 (Windows XP Professional Edition  (SP 2) - Version: 5.1.2600 (x86))</vt:lpwstr>
  </property>
  <property fmtid="{D5CDD505-2E9C-101B-9397-08002B2CF9AE}" pid="5" name="LastSaved">
    <vt:filetime>2011-08-29T00:00:00Z</vt:filetime>
  </property>
</Properties>
</file>